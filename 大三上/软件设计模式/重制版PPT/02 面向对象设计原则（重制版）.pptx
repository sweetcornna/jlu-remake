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0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0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a8f4f3316b954a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e9ff5f0c9413d68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b63f6d0188d35b1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设计原则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面向对象设计原则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七条类设计原则：违反什么、怎么改、边界在哪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开闭原则是目标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另外六条是手段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每条都给坏例子与改造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原则之间会打架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七条原则的分组与彼此关系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304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 OCP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switch 分派图形，改成多态分派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259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 LSP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正方形继承长方形为什么会崩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259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 SRP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1743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Modem 接口藏着两个职责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1203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 ISP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门与报警器的四种设计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203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 DIP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熔炉调节器被硬件绑死了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2685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 LoD 与合成复用 CARP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朋友圈的五个条件；角色不是种类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写出七条原则各自的缩写和一句话定义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43173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375535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看到一段代码或一张类图，指出它违反了哪条原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则、后果是什么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299180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2935605"/>
              <a:ext cx="37513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判断一处复用该用继承还是组合，并给出 Coad 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件作为依据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七条原则的全景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先看清它们分别管什么、怎么互相支撑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三条说目标，四条说做法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开闭原则是其余六条的落脚点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共同底色是分离稳定与变化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七条原则的全景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七条类设计原则：三条说目标，四条说做法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33400" y="1524000"/>
            <a:ext cx="11125200" cy="3246120"/>
            <a:chOff x="533400" y="1524000"/>
            <a:chExt cx="11125200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84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67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0184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英文与缩写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692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7641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设计目标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66888" y="1939290"/>
              <a:ext cx="187261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5737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8088" y="2054066"/>
              <a:ext cx="23318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Open-Closed Principle, OCP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19975" y="205406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对扩展开放，对修改关闭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641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设计目标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57375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里氏替换原则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8088" y="2459831"/>
              <a:ext cx="2519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Liskov Substitution Principle, LSP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19975" y="24598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引用基类的地方都能换成派生类对象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641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设计目标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7375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8088" y="2865596"/>
              <a:ext cx="155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Law of Demeter, LoD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19975" y="286559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只和直接朋友通信，对别人知道得越少越好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641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57375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单一职责原则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48088" y="3271361"/>
              <a:ext cx="2571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Responsibility Principle, SRP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9975" y="327136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一个类只有一个引起它变化的理由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641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7375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接口隔离原则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48088" y="3677126"/>
              <a:ext cx="26856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Segregation Principle, ISP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9975" y="36771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不能强迫用户依赖他们不使用的接口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641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57375" y="40828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依赖倒置原则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48088" y="4082891"/>
              <a:ext cx="260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Dependency Inversion Principle, DIP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19975" y="408289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高层与低层都依赖抽象，抽象不依赖细节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641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57375" y="44886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合成复用原则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48088" y="4488656"/>
              <a:ext cx="3217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Composite/Aggregate Reuse Principle, CARP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19975" y="44886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优先用组合聚合复用，其次才考虑继承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11125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75260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64331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1520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allout-2"/>
          <p:cNvGrpSpPr/>
          <p:nvPr/>
        </p:nvGrpSpPr>
        <p:grpSpPr>
          <a:xfrm>
            <a:off x="533400" y="4945380"/>
            <a:ext cx="11125200" cy="729615"/>
            <a:chOff x="533400" y="4945380"/>
            <a:chExt cx="11125200" cy="729615"/>
          </a:xfrm>
        </p:grpSpPr>
        <p:sp>
          <p:nvSpPr>
            <p:cNvPr id="55" name="Rectangle 55"/>
            <p:cNvSpPr/>
            <p:nvPr/>
          </p:nvSpPr>
          <p:spPr>
            <a:xfrm>
              <a:off x="533400" y="4945380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210175"/>
              <a:ext cx="200026" cy="200026"/>
              <a:chOff x="738188" y="5210175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2101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5276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53101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5091112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设计原则分成类的设计原则和包的设计原则两组，本讲只讲前者这七条。七条彼此关联，违反其中一条往往同时违反了别的几条，开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闭原则是其余六条的落脚点。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判断一个设计好不好，第一问是"加一个新功能，要改多少已经写好、已经被别人调用的代码"。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七条原则的全景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七条原则的共同底色：把稳定的抽出来，把易变的关进实现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341245"/>
            <a:chOff x="533400" y="1524000"/>
            <a:chExt cx="5626418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分离稳定与变化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把系统中不变的部分抽象成接口，让接口去应对未来的扩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2761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模块之间只通过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抽象接口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调用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实现层换掉时，调用方的代码一行不用改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2138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原有接口不够用时，新增接口，而不是往老接口里塞方法</a:t>
              </a:r>
            </a:p>
          </p:txBody>
        </p:sp>
      </p:grpSp>
      <p:grpSp>
        <p:nvGrpSpPr>
          <p:cNvPr id="24" name="c1-bullets-2"/>
          <p:cNvGrpSpPr/>
          <p:nvPr/>
        </p:nvGrpSpPr>
        <p:grpSpPr>
          <a:xfrm>
            <a:off x="533400" y="4080510"/>
            <a:ext cx="4506278" cy="638175"/>
            <a:chOff x="533400" y="4080510"/>
            <a:chExt cx="4506278" cy="638175"/>
          </a:xfrm>
        </p:grpSpPr>
        <p:sp>
          <p:nvSpPr>
            <p:cNvPr id="20" name="Freeform 20"/>
            <p:cNvSpPr/>
            <p:nvPr/>
          </p:nvSpPr>
          <p:spPr>
            <a:xfrm>
              <a:off x="533400" y="411194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3908" y="408051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接口可以被复用，接口的实现不一定能被复用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3400" y="445674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3908" y="442531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接口是稳定的、关闭的，实现是可变的、开放的</a:t>
              </a:r>
            </a:p>
          </p:txBody>
        </p:sp>
      </p:grpSp>
      <p:grpSp>
        <p:nvGrpSpPr>
          <p:cNvPr id="56" name="c2-uml-1"/>
          <p:cNvGrpSpPr/>
          <p:nvPr/>
        </p:nvGrpSpPr>
        <p:grpSpPr>
          <a:xfrm>
            <a:off x="7113270" y="1832610"/>
            <a:ext cx="3900876" cy="2160270"/>
            <a:chOff x="7113270" y="1832610"/>
            <a:chExt cx="3900876" cy="2160270"/>
          </a:xfrm>
        </p:grpSpPr>
        <p:sp>
          <p:nvSpPr>
            <p:cNvPr id="25" name="Freeform 25"/>
            <p:cNvSpPr/>
            <p:nvPr/>
          </p:nvSpPr>
          <p:spPr>
            <a:xfrm>
              <a:off x="8369618" y="2238375"/>
              <a:ext cx="1341120" cy="9525"/>
            </a:xfrm>
            <a:custGeom>
              <a:avLst/>
              <a:gdLst/>
              <a:ahLst/>
              <a:cxnLst/>
              <a:rect l="l" t="t" r="r" b="b"/>
              <a:pathLst>
                <a:path w="1341120" h="9525">
                  <a:moveTo>
                    <a:pt x="0" y="0"/>
                  </a:moveTo>
                  <a:lnTo>
                    <a:pt x="134112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9605962" y="2180272"/>
              <a:ext cx="104775" cy="116205"/>
            </a:xfrm>
            <a:custGeom>
              <a:avLst/>
              <a:gdLst/>
              <a:ahLst/>
              <a:cxnLst/>
              <a:rect l="l" t="t" r="r" b="b"/>
              <a:pathLst>
                <a:path w="104775" h="116205">
                  <a:moveTo>
                    <a:pt x="0" y="116205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762875" y="2769870"/>
              <a:ext cx="2597468" cy="571500"/>
            </a:xfrm>
            <a:custGeom>
              <a:avLst/>
              <a:gdLst/>
              <a:ahLst/>
              <a:cxnLst/>
              <a:rect l="l" t="t" r="r" b="b"/>
              <a:pathLst>
                <a:path w="2597468" h="571500">
                  <a:moveTo>
                    <a:pt x="0" y="571500"/>
                  </a:moveTo>
                  <a:lnTo>
                    <a:pt x="0" y="222885"/>
                  </a:lnTo>
                  <a:lnTo>
                    <a:pt x="2597468" y="222885"/>
                  </a:lnTo>
                  <a:lnTo>
                    <a:pt x="259746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10287000" y="26441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60342" y="276987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10287000" y="26441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57085" y="1912620"/>
              <a:ext cx="1212532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63752" y="1920240"/>
              <a:ext cx="1198245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57085" y="2179320"/>
              <a:ext cx="12125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57085" y="2274570"/>
              <a:ext cx="12125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710738" y="1832610"/>
              <a:ext cx="1299210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17405" y="1840230"/>
              <a:ext cx="1284922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10738" y="2259330"/>
              <a:ext cx="1299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710738" y="2354580"/>
              <a:ext cx="1299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13270" y="3341370"/>
              <a:ext cx="129921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0890" y="3348990"/>
              <a:ext cx="128492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13270" y="3608070"/>
              <a:ext cx="1299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3270" y="3703320"/>
              <a:ext cx="1299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710738" y="3341370"/>
              <a:ext cx="129921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717405" y="3348990"/>
              <a:ext cx="128492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710738" y="3608070"/>
              <a:ext cx="1299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10738" y="3703320"/>
              <a:ext cx="1299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33431" y="1976914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27951" y="2346960"/>
              <a:ext cx="114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doSomething()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72799" y="189404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57874" y="2056924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AbsServer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81604" y="2426970"/>
              <a:ext cx="123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serve(): Result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47479" y="3405664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ServerA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84136" y="3775710"/>
              <a:ext cx="123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serve(): Result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44946" y="3405664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ServerB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81604" y="3775710"/>
              <a:ext cx="123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serve(): Result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464618" y="4572000"/>
            <a:ext cx="5193982" cy="782955"/>
            <a:chOff x="6464618" y="4572000"/>
            <a:chExt cx="5193982" cy="782955"/>
          </a:xfrm>
        </p:grpSpPr>
        <p:sp>
          <p:nvSpPr>
            <p:cNvPr id="57" name="Rectangle 57"/>
            <p:cNvSpPr/>
            <p:nvPr/>
          </p:nvSpPr>
          <p:spPr>
            <a:xfrm>
              <a:off x="6464618" y="457200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4863465"/>
              <a:ext cx="200026" cy="200025"/>
              <a:chOff x="6669405" y="486346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48634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09144" y="49079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43859" y="50190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1348" y="4720590"/>
              <a:ext cx="4139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Client 对 AbsServer 提供的接口是修改关闭的，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 AbsServer 的新实现是扩展开放的。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991225"/>
              <a:ext cx="8314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现在多把开闭原则等同于面向接口的软件设计，后面六条原则都可以看成"怎么把接口抽对"。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253168" cy="2997517"/>
            <a:chOff x="667512" y="1835468"/>
            <a:chExt cx="32531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1310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 OCP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对扩展开放，对修改关闭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先看一个用 switch 分派的坏例子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再改成多态分派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最后谈开闭原则的相对性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0693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3" y="407194"/>
              <a:ext cx="1980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开闭原则 OCP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开闭原则：软件实体应该对扩展开放，对修改关闭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84998"/>
            <a:chOff x="533400" y="1524000"/>
            <a:chExt cx="5410200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537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开闭原则（OCP）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软件实体（模块、类、方法）应该对扩展开放，对修改关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设计一个软件模块时，应该做到不修改原有模块就能扩展它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的功能。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6161" y="3618071"/>
            <a:ext cx="5417439" cy="1503617"/>
            <a:chOff x="526161" y="3618071"/>
            <a:chExt cx="5417439" cy="1503617"/>
          </a:xfrm>
        </p:grpSpPr>
        <p:sp>
          <p:nvSpPr>
            <p:cNvPr id="15" name="TextBox 15"/>
            <p:cNvSpPr txBox="1"/>
            <p:nvPr/>
          </p:nvSpPr>
          <p:spPr>
            <a:xfrm>
              <a:off x="526161" y="36180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扩展开放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25334" y="3618071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某模块的功能是可扩展的，则该模块是扩展开放的。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功能上的可扩展性要求模块扩展开放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1910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43076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修改关闭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5334" y="4307681"/>
              <a:ext cx="416229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某模块被其他模块调用，如果它的源代码不允许修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改，则该模块是修改关闭的。功能上的稳定性、持续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性要求修改关闭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165985"/>
            <a:chOff x="6248400" y="1524000"/>
            <a:chExt cx="5410200" cy="216598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2165985"/>
            </a:xfrm>
            <a:prstGeom prst="roundRect">
              <a:avLst>
                <a:gd name="adj" fmla="val 615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22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84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95566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遵循开闭原则能得到什么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52235" y="21069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105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3129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稳定性：扩展功能不动原来的代码，系统在变化中保持稳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52235" y="26984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05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3129" y="271129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扩展性：通过扩展提供新功能或改变原有功能，扩展方式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灵活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6139" y="3298507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结果是系统可复用，并且易于维护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3875722"/>
            <a:ext cx="5410200" cy="1643062"/>
            <a:chOff x="6248400" y="3875722"/>
            <a:chExt cx="5410200" cy="1643062"/>
          </a:xfrm>
        </p:grpSpPr>
        <p:sp>
          <p:nvSpPr>
            <p:cNvPr id="33" name="Rectangle 33"/>
            <p:cNvSpPr/>
            <p:nvPr/>
          </p:nvSpPr>
          <p:spPr>
            <a:xfrm>
              <a:off x="6248400" y="3875722"/>
              <a:ext cx="5410200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009072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0335" y="407955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644" y="41152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实现手段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7955" y="45119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4546" y="445246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把不变的部分抽象成不变的接口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7955" y="483203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4546" y="477250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接口遵循最小功能设计，不够用时新增接口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7955" y="515207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4546" y="509254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模块之间通过抽象接口调用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开闭原则是判断面向对象设计是否正确的最基本原理之一。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6117" cy="909257"/>
            <a:chOff x="520446" y="342900"/>
            <a:chExt cx="69061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0693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3" y="407194"/>
              <a:ext cx="1980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开闭原则 OCP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61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坏例子：用 switch 判断图形类型来分派绘制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19584" cy="264033"/>
            <a:chOff x="526542" y="1545907"/>
            <a:chExt cx="741958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19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源课件用 C 结构体写这个例子，这里按同样的结构改写成 Java，便于和后面的改造版对照。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28812"/>
            <a:ext cx="5842635" cy="3670935"/>
            <a:chOff x="533400" y="1928812"/>
            <a:chExt cx="584263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过程化风格的图形绘制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23767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413885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459009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340769"/>
              <a:ext cx="4048633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enum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ShapeType { CIRCLE, SQUARE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 { ShapeType type;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radius;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side;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drawCircle(Circle c)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画圆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drawSquare(Square s)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画方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drawShapes(Shape[] list)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(Shape s : list)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(s.type)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CIRCLE: drawCircle((Circle) s);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SQUARE: drawSquare((Square) s);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8" name="c2-uml-1"/>
          <p:cNvGrpSpPr/>
          <p:nvPr/>
        </p:nvGrpSpPr>
        <p:grpSpPr>
          <a:xfrm>
            <a:off x="6777038" y="2140268"/>
            <a:ext cx="4623434" cy="1600199"/>
            <a:chOff x="6777038" y="2140268"/>
            <a:chExt cx="4623434" cy="1600199"/>
          </a:xfrm>
        </p:grpSpPr>
        <p:sp>
          <p:nvSpPr>
            <p:cNvPr id="16" name="Freeform 16"/>
            <p:cNvSpPr/>
            <p:nvPr/>
          </p:nvSpPr>
          <p:spPr>
            <a:xfrm>
              <a:off x="9169718" y="2854642"/>
              <a:ext cx="1659255" cy="298133"/>
            </a:xfrm>
            <a:custGeom>
              <a:avLst/>
              <a:gdLst/>
              <a:ahLst/>
              <a:cxnLst/>
              <a:rect l="l" t="t" r="r" b="b"/>
              <a:pathLst>
                <a:path w="1659255" h="298133">
                  <a:moveTo>
                    <a:pt x="0" y="298133"/>
                  </a:moveTo>
                  <a:lnTo>
                    <a:pt x="0" y="85725"/>
                  </a:lnTo>
                  <a:lnTo>
                    <a:pt x="1659255" y="85725"/>
                  </a:lnTo>
                  <a:lnTo>
                    <a:pt x="165925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755630" y="27289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828972" y="2854642"/>
              <a:ext cx="9525" cy="298133"/>
            </a:xfrm>
            <a:custGeom>
              <a:avLst/>
              <a:gdLst/>
              <a:ahLst/>
              <a:cxnLst/>
              <a:rect l="l" t="t" r="r" b="b"/>
              <a:pathLst>
                <a:path w="9525" h="298133">
                  <a:moveTo>
                    <a:pt x="0" y="29813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755630" y="27289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510462" y="2728912"/>
              <a:ext cx="1659255" cy="423862"/>
            </a:xfrm>
            <a:custGeom>
              <a:avLst/>
              <a:gdLst/>
              <a:ahLst/>
              <a:cxnLst/>
              <a:rect l="l" t="t" r="r" b="b"/>
              <a:pathLst>
                <a:path w="1659255" h="423862">
                  <a:moveTo>
                    <a:pt x="0" y="0"/>
                  </a:moveTo>
                  <a:lnTo>
                    <a:pt x="0" y="211455"/>
                  </a:lnTo>
                  <a:lnTo>
                    <a:pt x="1659255" y="211455"/>
                  </a:lnTo>
                  <a:lnTo>
                    <a:pt x="1659255" y="423862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9112568" y="3048000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7150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510462" y="2728912"/>
              <a:ext cx="3318510" cy="423862"/>
            </a:xfrm>
            <a:custGeom>
              <a:avLst/>
              <a:gdLst/>
              <a:ahLst/>
              <a:cxnLst/>
              <a:rect l="l" t="t" r="r" b="b"/>
              <a:pathLst>
                <a:path w="3318510" h="423862">
                  <a:moveTo>
                    <a:pt x="0" y="0"/>
                  </a:moveTo>
                  <a:lnTo>
                    <a:pt x="0" y="211455"/>
                  </a:lnTo>
                  <a:lnTo>
                    <a:pt x="3318510" y="211455"/>
                  </a:lnTo>
                  <a:lnTo>
                    <a:pt x="3318510" y="423862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10771822" y="3048000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7150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77038" y="2140268"/>
              <a:ext cx="146685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84658" y="2147888"/>
              <a:ext cx="145256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77038" y="2370772"/>
              <a:ext cx="14668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77038" y="2466022"/>
              <a:ext cx="14668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257472" y="214026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265092" y="214788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257472" y="23707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257472" y="26289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598218" y="315277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605838" y="315944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598218" y="33832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598218" y="36404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57472" y="315277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65092" y="315944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257472" y="33832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57472" y="36404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54150" y="2195989"/>
              <a:ext cx="512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Painter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48475" y="2535555"/>
              <a:ext cx="14133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drawShapes(Shape[])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31393" y="219598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28910" y="2440305"/>
              <a:ext cx="9872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type: ShapeType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69001" y="3208496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Circle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69655" y="3452812"/>
              <a:ext cx="851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radius: double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93299" y="3208496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Square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28910" y="3452812"/>
              <a:ext cx="71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side: double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680835" y="4117658"/>
            <a:ext cx="4977765" cy="1487805"/>
            <a:chOff x="6680835" y="4117658"/>
            <a:chExt cx="4977765" cy="1487805"/>
          </a:xfrm>
        </p:grpSpPr>
        <p:sp>
          <p:nvSpPr>
            <p:cNvPr id="49" name="Rectangle 49"/>
            <p:cNvSpPr/>
            <p:nvPr/>
          </p:nvSpPr>
          <p:spPr>
            <a:xfrm>
              <a:off x="6680835" y="4117658"/>
              <a:ext cx="497776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4251008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9910" y="42986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582" y="43314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66838" y="433816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增加一个三角形要动多少地方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09435" y="47072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64883" y="4654391"/>
              <a:ext cx="35598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drawShapes 不是封闭的，必须改它的 switch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09435" y="499205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64883" y="4940141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 switch 可能散落在多个地方，改一处漏一处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909435" y="527685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4883" y="5224939"/>
              <a:ext cx="4082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扩展枚举 ShapeType 会让所有依赖它的程序重新编译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1" name="Rectangle 6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这是一个僵化、脆弱、牢固性很高的设计：想动的地方动不了，不想动的地方被迫跟着动。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0693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3" y="407194"/>
              <a:ext cx="1980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开闭原则 OCP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改造：让每个图形自己知道怎么画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4198620"/>
            <a:chOff x="533400" y="1524000"/>
            <a:chExt cx="5842635" cy="4198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多态分派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06444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2816479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radius;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Circle(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.radius = r;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画圆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side;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Square(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.side = s;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画方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drawShapes(Shape[] list)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(Shape s : list) s.draw();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c2-uml-1"/>
          <p:cNvGrpSpPr/>
          <p:nvPr/>
        </p:nvGrpSpPr>
        <p:grpSpPr>
          <a:xfrm>
            <a:off x="6777038" y="1736408"/>
            <a:ext cx="4623434" cy="1599246"/>
            <a:chOff x="6777038" y="1736408"/>
            <a:chExt cx="4623434" cy="1599246"/>
          </a:xfrm>
        </p:grpSpPr>
        <p:sp>
          <p:nvSpPr>
            <p:cNvPr id="12" name="Freeform 12"/>
            <p:cNvSpPr/>
            <p:nvPr/>
          </p:nvSpPr>
          <p:spPr>
            <a:xfrm>
              <a:off x="9169718" y="2449830"/>
              <a:ext cx="1659255" cy="298133"/>
            </a:xfrm>
            <a:custGeom>
              <a:avLst/>
              <a:gdLst/>
              <a:ahLst/>
              <a:cxnLst/>
              <a:rect l="l" t="t" r="r" b="b"/>
              <a:pathLst>
                <a:path w="1659255" h="298133">
                  <a:moveTo>
                    <a:pt x="0" y="298133"/>
                  </a:moveTo>
                  <a:lnTo>
                    <a:pt x="0" y="85725"/>
                  </a:lnTo>
                  <a:lnTo>
                    <a:pt x="1659255" y="85725"/>
                  </a:lnTo>
                  <a:lnTo>
                    <a:pt x="165925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755630" y="23241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828972" y="2449830"/>
              <a:ext cx="9525" cy="298133"/>
            </a:xfrm>
            <a:custGeom>
              <a:avLst/>
              <a:gdLst/>
              <a:ahLst/>
              <a:cxnLst/>
              <a:rect l="l" t="t" r="r" b="b"/>
              <a:pathLst>
                <a:path w="9525" h="298133">
                  <a:moveTo>
                    <a:pt x="0" y="29813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755630" y="23241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243888" y="2029778"/>
              <a:ext cx="2013585" cy="9525"/>
            </a:xfrm>
            <a:custGeom>
              <a:avLst/>
              <a:gdLst/>
              <a:ahLst/>
              <a:cxnLst/>
              <a:rect l="l" t="t" r="r" b="b"/>
              <a:pathLst>
                <a:path w="2013585" h="9525">
                  <a:moveTo>
                    <a:pt x="0" y="0"/>
                  </a:moveTo>
                  <a:lnTo>
                    <a:pt x="201358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0152698" y="197262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77038" y="1736408"/>
              <a:ext cx="146685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84658" y="1743075"/>
              <a:ext cx="145256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77038" y="1966912"/>
              <a:ext cx="14668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77038" y="2062162"/>
              <a:ext cx="14668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257472" y="173640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265092" y="1743075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257472" y="19669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257472" y="20621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598218" y="274796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05838" y="27555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98218" y="29784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98218" y="30737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257472" y="274796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265092" y="27555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257472" y="29784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257472" y="30737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54150" y="1792129"/>
              <a:ext cx="512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Painter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48475" y="2131695"/>
              <a:ext cx="14133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drawShapes(Shape[])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31393" y="179212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28910" y="2131695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69001" y="280368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Circle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69655" y="3143250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3299" y="2803684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Square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28910" y="3143250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</p:grpSp>
      <p:grpSp>
        <p:nvGrpSpPr>
          <p:cNvPr id="49" name="c2-bullets-2"/>
          <p:cNvGrpSpPr/>
          <p:nvPr/>
        </p:nvGrpSpPr>
        <p:grpSpPr>
          <a:xfrm>
            <a:off x="6680835" y="3734276"/>
            <a:ext cx="4476671" cy="835152"/>
            <a:chOff x="6680835" y="3734276"/>
            <a:chExt cx="4476671" cy="835152"/>
          </a:xfrm>
        </p:grpSpPr>
        <p:sp>
          <p:nvSpPr>
            <p:cNvPr id="43" name="Freeform 43"/>
            <p:cNvSpPr/>
            <p:nvPr/>
          </p:nvSpPr>
          <p:spPr>
            <a:xfrm>
              <a:off x="6680835" y="376047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11530" y="3734276"/>
              <a:ext cx="4245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 Triangle 只要写一个新类，drawShapes 一行不改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680835" y="405384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11530" y="4026694"/>
              <a:ext cx="3978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Painter 只认识抽象的 Shape，不认识任何具体图形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680835" y="434721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11530" y="4320064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类型字段 type 和所有强制类型转换一起消失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5389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判据：扩展点落在"增加新类"上，而不是落在"改已有方法的分支"上。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4887" cy="909257"/>
            <a:chOff x="520446" y="342900"/>
            <a:chExt cx="68348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0693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3" y="407194"/>
              <a:ext cx="1980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开闭原则 OCP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4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判别依据与边界：100% 满足开闭原则做不到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933575"/>
            <a:chOff x="533400" y="1524000"/>
            <a:chExt cx="5410200" cy="1933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4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86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三个可操作的问题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7235" y="21069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5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8128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新增一种情况，需要改动已有的哪些文件？只增不改才算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" y="26984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55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8128" y="271129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已有代码里有没有对具体类型做判断的 switch 或 if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7235" y="301847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5580" y="30588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8128" y="303133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高层模块的成员和参数写的是接口，还是具体实现类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642360"/>
            <a:ext cx="5410200" cy="1817370"/>
            <a:chOff x="533400" y="3642360"/>
            <a:chExt cx="5410200" cy="1817370"/>
          </a:xfrm>
        </p:grpSpPr>
        <p:sp>
          <p:nvSpPr>
            <p:cNvPr id="21" name="Rectangle 21"/>
            <p:cNvSpPr/>
            <p:nvPr/>
          </p:nvSpPr>
          <p:spPr>
            <a:xfrm>
              <a:off x="533400" y="3642360"/>
              <a:ext cx="5410200" cy="1817370"/>
            </a:xfrm>
            <a:prstGeom prst="roundRect">
              <a:avLst>
                <a:gd name="adj" fmla="val 628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451985"/>
              <a:ext cx="200026" cy="200025"/>
              <a:chOff x="738188" y="4451985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451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4496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4607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32101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一个软件系统有没有良好的接口设计，是判断它是否满足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开闭原则的重要基准。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2476500"/>
            <a:chOff x="6248400" y="1524000"/>
            <a:chExt cx="5410200" cy="24765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1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开闭原则的相对性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3096" y="211978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软件系统的构建是一个不断重构的过程。模块的功能抽象、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模块之间的关系，都不会从一开始就清晰，所以构建 100%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满足开闭原则的系统相当困难。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7955" y="304228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546" y="298275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设计初期抽象点常常找错，早期的重构无法避免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7955" y="33623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4546" y="330279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能做的是通过功能抽象、关系抽象、抽象与实现分离，尽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量逼近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185285"/>
            <a:ext cx="5410200" cy="1274445"/>
            <a:chOff x="6248400" y="4185285"/>
            <a:chExt cx="5410200" cy="1274445"/>
          </a:xfrm>
        </p:grpSpPr>
        <p:sp>
          <p:nvSpPr>
            <p:cNvPr id="39" name="Rectangle 39"/>
            <p:cNvSpPr/>
            <p:nvPr/>
          </p:nvSpPr>
          <p:spPr>
            <a:xfrm>
              <a:off x="6248400" y="4185285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2235" y="4389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2443" y="4424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4996" y="4762976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Martin, Robert C. (1996 January). The Open-Closed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Principle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103371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常见误用：为每一个还看不出会变的地方都先插一层接口，结果抽象层比业务代码还多。变化点没出现之前，先写简单的。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里氏替换原则 LSP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所有引用基类的地方，必须能透明地使用其派生类的对象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正方形继承长方形为什么会崩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两条重构路线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继承该往哪里长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里氏替换原则 LSP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里氏替换原则：派生类必须能顶替基类出现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1982152"/>
            <a:chOff x="533400" y="1524000"/>
            <a:chExt cx="5626418" cy="1982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82152"/>
            </a:xfrm>
            <a:prstGeom prst="roundRect">
              <a:avLst>
                <a:gd name="adj" fmla="val 6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1545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8936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里氏替换原则（LSP）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所有引用基类的地方必须能透明地使用其派生类的对象。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439829"/>
              <a:ext cx="3466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满足下面两个条件的设计才算满足 LSP。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5335" y="274701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680" y="2787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228" y="2759869"/>
              <a:ext cx="49750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代码中不应出现 if/else 之类对派生类类型进行判断的条件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5335" y="306705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31073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307990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把使用基类对象的地方换成派生类对象，代码还能正常工作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690938"/>
            <a:ext cx="5626418" cy="1719262"/>
            <a:chOff x="533400" y="3690938"/>
            <a:chExt cx="5626418" cy="1719262"/>
          </a:xfrm>
        </p:grpSpPr>
        <p:sp>
          <p:nvSpPr>
            <p:cNvPr id="21" name="Rectangle 21"/>
            <p:cNvSpPr/>
            <p:nvPr/>
          </p:nvSpPr>
          <p:spPr>
            <a:xfrm>
              <a:off x="533400" y="3690938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842861"/>
              <a:ext cx="12627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违反 LSP 的典型写法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105751"/>
              <a:ext cx="259308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drawShape(Shape 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drawSquare((Square) 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drawCircle((Circle) 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2156460"/>
            <a:chOff x="6464618" y="1524000"/>
            <a:chExt cx="5193982" cy="2156460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2156460"/>
            </a:xfrm>
            <a:prstGeom prst="roundRect">
              <a:avLst>
                <a:gd name="adj" fmla="val 618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84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96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9861" y="1767364"/>
              <a:ext cx="15749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LSP 体现了两件事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76072" y="217932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32664" y="211978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类的继承原则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：如果派生类对象在替换基类对象的地方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可能出运行错误，那它就不该从这个基类继承，应该重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新设计两者的关系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76072" y="304228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32664" y="2982754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动作正确性保证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：符合 LSP 的类扩展，不会给已有系统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引入新的错误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464618" y="3865245"/>
            <a:ext cx="5193982" cy="1544955"/>
            <a:chOff x="6464618" y="3865245"/>
            <a:chExt cx="5193982" cy="1544955"/>
          </a:xfrm>
        </p:grpSpPr>
        <p:sp>
          <p:nvSpPr>
            <p:cNvPr id="34" name="Rectangle 34"/>
            <p:cNvSpPr/>
            <p:nvPr/>
          </p:nvSpPr>
          <p:spPr>
            <a:xfrm>
              <a:off x="6464618" y="3865245"/>
              <a:ext cx="5193982" cy="1544955"/>
            </a:xfrm>
            <a:prstGeom prst="roundRect">
              <a:avLst>
                <a:gd name="adj" fmla="val 739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69405" y="4537710"/>
              <a:ext cx="200026" cy="200026"/>
              <a:chOff x="6669405" y="453771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669405" y="45377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69418" y="46043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58305" y="46377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971729" y="4276249"/>
              <a:ext cx="415328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LSP 是使代码符合开闭原则的重要保证。分派靠多态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而不是靠类型判断，前提就是子类可以放心替换父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1" name="Rectangle 4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6004084"/>
              <a:ext cx="8628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设计初期类之间的关系常常不明确，LSP 给出的是判断基准：要不要继承，以及继承关系该怎么设计。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1808" cy="909257"/>
            <a:chOff x="520446" y="342900"/>
            <a:chExt cx="86418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里氏替换原则 LSP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18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坏例子：Square 继承 Rectangle，既有业务逻辑就断了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3836670"/>
            <a:chOff x="533400" y="1524000"/>
            <a:chExt cx="6059805" cy="38366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36670"/>
            </a:xfrm>
            <a:prstGeom prst="roundRect">
              <a:avLst>
                <a:gd name="adj" fmla="val 24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465195"/>
              <a:ext cx="6021705" cy="1962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661410"/>
              <a:ext cx="6021705" cy="1962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226" y="1938099"/>
              <a:ext cx="5492877" cy="3352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45"/>
                </a:lnSpc>
              </a:pP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Rectangle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width, height;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setWidth(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w) 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.width = w;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setHeight(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h)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.height = h;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getWidth() 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width;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getHeight()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height;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Rectangle {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setWidth(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w)  { width = w; height = w; }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setHeight(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h) { width = h; height = h;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系统里早就写好的业务逻辑 */</a:t>
              </a:r>
              <a:br/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g(Rectangle r) {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r.setWidth(5);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r.setHeight(4);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assert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r.getWidth() * r.getHeight() == 20;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uml-1"/>
          <p:cNvGrpSpPr/>
          <p:nvPr/>
        </p:nvGrpSpPr>
        <p:grpSpPr>
          <a:xfrm>
            <a:off x="8555355" y="1598295"/>
            <a:ext cx="1445895" cy="1828801"/>
            <a:chOff x="8555355" y="1598295"/>
            <a:chExt cx="1445895" cy="1828801"/>
          </a:xfrm>
        </p:grpSpPr>
        <p:sp>
          <p:nvSpPr>
            <p:cNvPr id="13" name="Freeform 13"/>
            <p:cNvSpPr/>
            <p:nvPr/>
          </p:nvSpPr>
          <p:spPr>
            <a:xfrm>
              <a:off x="9278302" y="2564130"/>
              <a:ext cx="9525" cy="21908"/>
            </a:xfrm>
            <a:custGeom>
              <a:avLst/>
              <a:gdLst/>
              <a:ahLst/>
              <a:cxnLst/>
              <a:rect l="l" t="t" r="r" b="b"/>
              <a:pathLst>
                <a:path w="9525" h="21908">
                  <a:moveTo>
                    <a:pt x="0" y="2190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204960" y="24384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555355" y="1598295"/>
              <a:ext cx="1445895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62022" y="1604962"/>
              <a:ext cx="143160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555355" y="1864995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555355" y="1960245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55355" y="2586038"/>
              <a:ext cx="1445895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62022" y="2593658"/>
              <a:ext cx="143160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55355" y="2852738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55355" y="2947988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98212" y="1662589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Rectangle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6221" y="2032635"/>
              <a:ext cx="130416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setHeight(double)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setWidth(double)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8907" y="2650331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Square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26221" y="3020378"/>
              <a:ext cx="130416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setHeight(double)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setWidth(double)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892290" y="3686175"/>
            <a:ext cx="4766310" cy="2016919"/>
            <a:chOff x="6892290" y="3686175"/>
            <a:chExt cx="4766310" cy="2016919"/>
          </a:xfrm>
        </p:grpSpPr>
        <p:sp>
          <p:nvSpPr>
            <p:cNvPr id="28" name="Rectangle 28"/>
            <p:cNvSpPr/>
            <p:nvPr/>
          </p:nvSpPr>
          <p:spPr>
            <a:xfrm>
              <a:off x="6898005" y="3686175"/>
              <a:ext cx="476059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06450" y="38176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执行到哪一句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52780" y="3817620"/>
              <a:ext cx="470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width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03269" y="381762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height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3352" y="4248150"/>
              <a:ext cx="1224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r.setWidth(5)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37344" y="42481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32885" y="424815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5（被一起改）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898005" y="454152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98005" y="4546282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3352" y="4677728"/>
              <a:ext cx="12830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r.setHeight(4)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52712" y="4677728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4（被一起改）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17517" y="46777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49720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03352" y="5108258"/>
              <a:ext cx="1293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 = 4 × 4 = 16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906828" y="4986338"/>
              <a:ext cx="136207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45600" y="5108258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断言期望 20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00397" y="51082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3686175"/>
              <a:ext cx="476059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892540" y="368617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272712" y="368617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2290" y="5483066"/>
              <a:ext cx="2054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g(new Square()) 的执行过程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95085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数学上正方形是长方形的特例，代码里却不是：Rectangle 承诺宽和高可以独立设置，Square 破坏了这个承诺。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里氏替换原则 LSP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改造路线一：抽出只读的四边形基类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43091" cy="264033"/>
            <a:chOff x="526542" y="1545907"/>
            <a:chExt cx="644309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4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两个具体类之间的继承违反 LSP 时，有两条通用的重构路线，这一页走第一条。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626418" cy="1868805"/>
            <a:chOff x="533400" y="1928812"/>
            <a:chExt cx="5626418" cy="18688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868805"/>
            </a:xfrm>
            <a:prstGeom prst="roundRect">
              <a:avLst>
                <a:gd name="adj" fmla="val 713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89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两条路线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14375" y="243840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6282" y="24740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123" y="2449354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新建一个抽象类 C 作为两个具体类的共同基类，把 A、B 的共同行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为移到 C 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14375" y="296608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6282" y="30017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123" y="2977991"/>
              <a:ext cx="28440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把从 B 到 A 的继承关系改成关联关系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041" y="3258502"/>
              <a:ext cx="503129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取 width、height 是两者的共同行为，赋值行为却不同，所以抽出的四边形类 </a:t>
              </a:r>
              <a:r>
                <a:rPr lang="zh-CN" sz="10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只有取</a:t>
              </a:r>
              <a:br/>
              <a:r>
                <a:rPr lang="zh-CN" sz="10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值方法，没有赋值方法</a:t>
              </a:r>
            </a:p>
          </p:txBody>
        </p:sp>
      </p:grpSp>
      <p:grpSp>
        <p:nvGrpSpPr>
          <p:cNvPr id="42" name="c1-uml-2"/>
          <p:cNvGrpSpPr/>
          <p:nvPr/>
        </p:nvGrpSpPr>
        <p:grpSpPr>
          <a:xfrm>
            <a:off x="1309688" y="4027170"/>
            <a:ext cx="4014787" cy="1629728"/>
            <a:chOff x="1309688" y="4027170"/>
            <a:chExt cx="4014787" cy="1629728"/>
          </a:xfrm>
        </p:grpSpPr>
        <p:sp>
          <p:nvSpPr>
            <p:cNvPr id="20" name="Freeform 20"/>
            <p:cNvSpPr/>
            <p:nvPr/>
          </p:nvSpPr>
          <p:spPr>
            <a:xfrm>
              <a:off x="1940242" y="4841558"/>
              <a:ext cx="1406842" cy="64770"/>
            </a:xfrm>
            <a:custGeom>
              <a:avLst/>
              <a:gdLst/>
              <a:ahLst/>
              <a:cxnLst/>
              <a:rect l="l" t="t" r="r" b="b"/>
              <a:pathLst>
                <a:path w="1406842" h="64770">
                  <a:moveTo>
                    <a:pt x="0" y="64770"/>
                  </a:moveTo>
                  <a:lnTo>
                    <a:pt x="0" y="0"/>
                  </a:lnTo>
                  <a:lnTo>
                    <a:pt x="1406842" y="0"/>
                  </a:lnTo>
                  <a:lnTo>
                    <a:pt x="1406842" y="6096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73742" y="47767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347085" y="4882515"/>
              <a:ext cx="1405890" cy="105728"/>
            </a:xfrm>
            <a:custGeom>
              <a:avLst/>
              <a:gdLst/>
              <a:ahLst/>
              <a:cxnLst/>
              <a:rect l="l" t="t" r="r" b="b"/>
              <a:pathLst>
                <a:path w="1405890" h="105728">
                  <a:moveTo>
                    <a:pt x="1405890" y="105728"/>
                  </a:moveTo>
                  <a:lnTo>
                    <a:pt x="1405890" y="0"/>
                  </a:lnTo>
                  <a:lnTo>
                    <a:pt x="0" y="0"/>
                  </a:lnTo>
                  <a:lnTo>
                    <a:pt x="0" y="2000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273742" y="47767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67952" y="4027170"/>
              <a:ext cx="135826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74620" y="4033838"/>
              <a:ext cx="134397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67952" y="4257675"/>
              <a:ext cx="13582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67952" y="4352925"/>
              <a:ext cx="13582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09688" y="4906328"/>
              <a:ext cx="126111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16355" y="4913948"/>
              <a:ext cx="124682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09688" y="5136832"/>
              <a:ext cx="12611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309688" y="5232082"/>
              <a:ext cx="12611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181475" y="498824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89095" y="499491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81475" y="52187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81475" y="53139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62517" y="4082891"/>
              <a:ext cx="7691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Quadrangle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39390" y="4422458"/>
              <a:ext cx="121539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getWidth(): double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getHeight(): double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07711" y="4962049"/>
              <a:ext cx="665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Rectangle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81125" y="5301615"/>
              <a:ext cx="11182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setWidth(double)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setHeight(double)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7301" y="5043964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Square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52912" y="5383530"/>
              <a:ext cx="10560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setSide(double)</a:t>
              </a:r>
            </a:p>
          </p:txBody>
        </p:sp>
      </p:grpSp>
      <p:grpSp>
        <p:nvGrpSpPr>
          <p:cNvPr id="46" name="c2-code-1"/>
          <p:cNvGrpSpPr/>
          <p:nvPr/>
        </p:nvGrpSpPr>
        <p:grpSpPr>
          <a:xfrm>
            <a:off x="6464618" y="1928812"/>
            <a:ext cx="5193982" cy="3495675"/>
            <a:chOff x="6464618" y="1928812"/>
            <a:chExt cx="5193982" cy="3495675"/>
          </a:xfrm>
        </p:grpSpPr>
        <p:sp>
          <p:nvSpPr>
            <p:cNvPr id="43" name="Rectangle 43"/>
            <p:cNvSpPr/>
            <p:nvPr/>
          </p:nvSpPr>
          <p:spPr>
            <a:xfrm>
              <a:off x="6464618" y="1928812"/>
              <a:ext cx="5193982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93015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93015" y="2340769"/>
              <a:ext cx="3843274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Quadrangle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getWidth();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getHeight();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Rectangle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Quadrangle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width, height;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setWidth(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.width = w;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setHeight(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.height = h;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getWidth()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width;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getHeight()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height;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Quadrangle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side;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setSide(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.side = s;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getWidth()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side;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getHeight()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side;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7039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改造后 g(Rectangle r) 根本收不到 Square 对象，编译期就挡住了，问题不再留到运行期。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里氏替换原则 LSP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改造路线二：把继承改成关联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51910" cy="264033"/>
            <a:chOff x="526542" y="1545907"/>
            <a:chExt cx="70519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51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运动员和自行车是 has-a 关系，源课件却用继承来表达，这是最常见的一类 LSP 违反。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264092"/>
            <a:chOff x="533400" y="1928812"/>
            <a:chExt cx="5410200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坏例子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513455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Bike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  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stop()  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repair()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Bike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运动员不是一种自行车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startRace()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endRace()  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363402"/>
            <a:ext cx="5410200" cy="1185862"/>
            <a:chOff x="533400" y="4363402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436340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49675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45500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45829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4893945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源课件写的是 C++ 的私有继承 `class Player : private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Bike`，Java 没有这种语法，这里按公有继承写。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928812"/>
            <a:ext cx="5410200" cy="2088832"/>
            <a:chOff x="6248400" y="1928812"/>
            <a:chExt cx="5410200" cy="2088832"/>
          </a:xfrm>
        </p:grpSpPr>
        <p:sp>
          <p:nvSpPr>
            <p:cNvPr id="19" name="Rectangle 19"/>
            <p:cNvSpPr/>
            <p:nvPr/>
          </p:nvSpPr>
          <p:spPr>
            <a:xfrm>
              <a:off x="6248400" y="1928812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797" y="2340769"/>
              <a:ext cx="3457448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maxStrength;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Bike bike;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关联：有一辆自行车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Player(Bike bike)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.bike = bike;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startRace() { bike.move();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endRace()   { bike.stop();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bullets-2"/>
          <p:cNvGrpSpPr/>
          <p:nvPr/>
        </p:nvGrpSpPr>
        <p:grpSpPr>
          <a:xfrm>
            <a:off x="6248400" y="4209098"/>
            <a:ext cx="3803656" cy="572643"/>
            <a:chOff x="6248400" y="4209098"/>
            <a:chExt cx="3803656" cy="572643"/>
          </a:xfrm>
        </p:grpSpPr>
        <p:sp>
          <p:nvSpPr>
            <p:cNvPr id="23" name="Freeform 23"/>
            <p:cNvSpPr/>
            <p:nvPr/>
          </p:nvSpPr>
          <p:spPr>
            <a:xfrm>
              <a:off x="6248400" y="423767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85382" y="4209098"/>
              <a:ext cx="3279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Player 不会被当作 Bike 传给修车的方法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248400" y="45462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5382" y="451770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换一辆车只要换 bike 引用，运动员本身不变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8" name="Rectangle 2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6028373"/>
              <a:ext cx="7683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判断口诀：能说通"运动员是一辆自行车"才用继承，只能说通"运动员有一辆自行车"就用关联。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里氏替换原则 LSP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判别依据与边界：继承该往哪里长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487805"/>
            <a:chOff x="533400" y="1524000"/>
            <a:chExt cx="5410200" cy="1487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7805"/>
            </a:xfrm>
            <a:prstGeom prst="roundRect">
              <a:avLst>
                <a:gd name="adj" fmla="val 896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0350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三个检查动作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14375" y="2049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62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20616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找基类对每个方法许下的承诺，看派生类有没有毁约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4375" y="23355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62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123" y="234648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在调用基类的既有代码里换上派生类对象，跑一遍看会不会出错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14375" y="2620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6282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4123" y="2631281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搜一遍代码里的 instanceof 和类型判断，它们往往就是违反点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176588"/>
            <a:ext cx="5410200" cy="1849755"/>
            <a:chOff x="533400" y="3176588"/>
            <a:chExt cx="5410200" cy="1849755"/>
          </a:xfrm>
        </p:grpSpPr>
        <p:sp>
          <p:nvSpPr>
            <p:cNvPr id="21" name="Rectangle 21"/>
            <p:cNvSpPr/>
            <p:nvPr/>
          </p:nvSpPr>
          <p:spPr>
            <a:xfrm>
              <a:off x="533400" y="3176588"/>
              <a:ext cx="5410200" cy="1849755"/>
            </a:xfrm>
            <a:prstGeom prst="roundRect">
              <a:avLst>
                <a:gd name="adj" fmla="val 72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309938"/>
              <a:ext cx="47625" cy="15830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33575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33904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契约角度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2000" y="374999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448" y="369712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派生类重写方法时，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不能加强前置条件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（不能要求更苛刻的入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2000" y="427767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7448" y="4224814"/>
              <a:ext cx="38555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也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不能削弱后置条件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（不能少做基类承诺过的事）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141" y="4506278"/>
              <a:ext cx="3082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Square 正是加了一条“宽高必须相等”的前置条件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1406842"/>
            <a:chOff x="6248400" y="1524000"/>
            <a:chExt cx="5410200" cy="140684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指导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3451" y="174450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尽量从抽象类继承，不从具体类继承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0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从继承等级树来看，所有叶子节点应当是具体类，所有树枝节点应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当是抽象类或接口。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141" y="2585085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这只是一般性的指导原则，使用时还要具体情况具体分析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3095625"/>
            <a:ext cx="5410200" cy="1930718"/>
            <a:chOff x="6248400" y="3095625"/>
            <a:chExt cx="5410200" cy="1930718"/>
          </a:xfrm>
        </p:grpSpPr>
        <p:sp>
          <p:nvSpPr>
            <p:cNvPr id="39" name="Rectangle 39"/>
            <p:cNvSpPr/>
            <p:nvPr/>
          </p:nvSpPr>
          <p:spPr>
            <a:xfrm>
              <a:off x="6248400" y="3095625"/>
              <a:ext cx="5410200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228975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7475" y="32766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0147" y="33094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3451" y="33161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鲸鱼和鱼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0998" y="3632359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从生物学看鲸鱼属于哺乳动物，不是鱼类。让鲸鱼类继承鱼类就违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背了 LSP，因为鱼的很多特性鲸鱼不具备，例如用鳃呼吸、卵生繁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殖。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0998" y="4402931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二者的共性是都能在水中游泳，所以应该让它们共同实现一个"游泳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"接口。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47" name="Rectangle 47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5805011"/>
              <a:ext cx="996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更正：源课件的断言写成 assert(r.GetWidth() * r.GetHeight()) == 20); 括号不配对，应为 assert(r.GetWidth() * r.GetHeight()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== 20);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92819" cy="2997517"/>
            <a:chOff x="667512" y="1835468"/>
            <a:chExt cx="399281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单一职责原则 SRP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永远不要让一个类存在多个改变的理由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职责就是变化的理由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35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Modem 接口藏着两个职责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按理由切，不按功能切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单一职责原则 SRP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单一职责原则：一个类只能有一个引起它变化的理由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66900"/>
            <a:chOff x="533400" y="1524000"/>
            <a:chExt cx="54102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000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单一职责原则（SRP）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永远不要让一个类存在多个改变的理由。如果一个类需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要改变，改变它的理由永远只有一个。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Robert C. Martin：所谓一个类的一个职责，是指引起该类变化的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一个原因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581400"/>
            <a:ext cx="5410200" cy="1956435"/>
            <a:chOff x="533400" y="3581400"/>
            <a:chExt cx="5410200" cy="1956435"/>
          </a:xfrm>
        </p:grpSpPr>
        <p:sp>
          <p:nvSpPr>
            <p:cNvPr id="15" name="Rectangle 15"/>
            <p:cNvSpPr/>
            <p:nvPr/>
          </p:nvSpPr>
          <p:spPr>
            <a:xfrm>
              <a:off x="533400" y="35814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147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7909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8266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8261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一个类扛两个职责会怎样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41738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42161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41871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一个职责用了外部类库，只用另一个职责的用户也不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得不把这个库带上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47948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48371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480822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有人为了某个理由改了其中一个职责，另一个职责的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用户也得重新编译和配置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248400" y="1524000"/>
            <a:ext cx="5410200" cy="1719262"/>
            <a:chOff x="6248400" y="1524000"/>
            <a:chExt cx="5410200" cy="1719262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1675924"/>
              <a:ext cx="691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SRP 违反例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67450" y="209835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67450" y="230124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035" y="1937861"/>
              <a:ext cx="308381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Modem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dial(String pno);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拨号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hangup();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挂断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发送数据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recv();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接收数据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433762"/>
            <a:ext cx="5410200" cy="2104072"/>
            <a:chOff x="6248400" y="3433762"/>
            <a:chExt cx="5410200" cy="2104072"/>
          </a:xfrm>
        </p:grpSpPr>
        <p:sp>
          <p:nvSpPr>
            <p:cNvPr id="33" name="Rectangle 33"/>
            <p:cNvSpPr/>
            <p:nvPr/>
          </p:nvSpPr>
          <p:spPr>
            <a:xfrm>
              <a:off x="6248400" y="3433762"/>
              <a:ext cx="5410200" cy="2104072"/>
            </a:xfrm>
            <a:prstGeom prst="roundRect">
              <a:avLst>
                <a:gd name="adj" fmla="val 6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567112"/>
              <a:ext cx="47625" cy="18373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36433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6258" y="36790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402050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乍看没问题，实际上这个接口包含两个职责：连接管理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（dial、hangup）和数据通信（send、recv）。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464153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很多情况下这两个职责没有共通的部分，它们因为不同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的理由而改变，被不同部分的程序调用。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9324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判断职责数量的办法：把"这个类为什么会被改"一条条写下来，能写出两条以上，就有两个以上的职责。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单一职责原则 SRP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改造：先按职责拆接口，实现类可以暂时合在一起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723322"/>
            <a:chOff x="533400" y="1524000"/>
            <a:chExt cx="5410200" cy="3723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604451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dial(String pno);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hangup();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DataChannel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ModemImplementation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Connection, DataChannel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dial(String pno)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hangup()        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   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recv()          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'\0'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uml-1"/>
          <p:cNvGrpSpPr/>
          <p:nvPr/>
        </p:nvGrpSpPr>
        <p:grpSpPr>
          <a:xfrm>
            <a:off x="7029450" y="1593532"/>
            <a:ext cx="3848100" cy="1777365"/>
            <a:chOff x="7029450" y="1593532"/>
            <a:chExt cx="3848100" cy="1777365"/>
          </a:xfrm>
        </p:grpSpPr>
        <p:sp>
          <p:nvSpPr>
            <p:cNvPr id="11" name="Freeform 11"/>
            <p:cNvSpPr/>
            <p:nvPr/>
          </p:nvSpPr>
          <p:spPr>
            <a:xfrm>
              <a:off x="7600950" y="2663190"/>
              <a:ext cx="1352550" cy="263842"/>
            </a:xfrm>
            <a:custGeom>
              <a:avLst/>
              <a:gdLst/>
              <a:ahLst/>
              <a:cxnLst/>
              <a:rect l="l" t="t" r="r" b="b"/>
              <a:pathLst>
                <a:path w="1352550" h="263842">
                  <a:moveTo>
                    <a:pt x="1352550" y="263842"/>
                  </a:moveTo>
                  <a:lnTo>
                    <a:pt x="1352550" y="69532"/>
                  </a:lnTo>
                  <a:lnTo>
                    <a:pt x="0" y="6953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7527608" y="25374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953500" y="2663190"/>
              <a:ext cx="1352550" cy="263842"/>
            </a:xfrm>
            <a:custGeom>
              <a:avLst/>
              <a:gdLst/>
              <a:ahLst/>
              <a:cxnLst/>
              <a:rect l="l" t="t" r="r" b="b"/>
              <a:pathLst>
                <a:path w="1352550" h="263842">
                  <a:moveTo>
                    <a:pt x="0" y="263842"/>
                  </a:moveTo>
                  <a:lnTo>
                    <a:pt x="0" y="69532"/>
                  </a:lnTo>
                  <a:lnTo>
                    <a:pt x="1352550" y="69532"/>
                  </a:lnTo>
                  <a:lnTo>
                    <a:pt x="13525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32708" y="25374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29450" y="1593532"/>
              <a:ext cx="1143000" cy="9439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37070" y="1601152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29450" y="19907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29450" y="20859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734550" y="1593532"/>
              <a:ext cx="1143000" cy="9439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42170" y="1601152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734550" y="19907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734550" y="20859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22920" y="2927032"/>
              <a:ext cx="166116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30540" y="2934652"/>
              <a:ext cx="164687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22920" y="3175635"/>
              <a:ext cx="16611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22920" y="3270885"/>
              <a:ext cx="16611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44829" y="165068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3812" y="1802130"/>
              <a:ext cx="794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Connection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00697" y="2156936"/>
              <a:ext cx="84378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dial(String)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hangup()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49929" y="165068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5873" y="1802130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DataChannel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05797" y="2156936"/>
              <a:ext cx="90601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send(char)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recv(): char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64326" y="2987040"/>
              <a:ext cx="1578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ModemImplementation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3866198"/>
            <a:ext cx="5410200" cy="1724025"/>
            <a:chOff x="6248400" y="3866198"/>
            <a:chExt cx="5410200" cy="1724025"/>
          </a:xfrm>
        </p:grpSpPr>
        <p:sp>
          <p:nvSpPr>
            <p:cNvPr id="35" name="Rectangle 35"/>
            <p:cNvSpPr/>
            <p:nvPr/>
          </p:nvSpPr>
          <p:spPr>
            <a:xfrm>
              <a:off x="6248400" y="3866198"/>
              <a:ext cx="541020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999548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4058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0345" y="4092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4414838"/>
              <a:ext cx="47800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ModemImplementation 仍然组合了两个职责，这不是我们希望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的，但有时是必须的。通常由于某些原因不得不把多个职责绑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到一个类里，此时至少可以通过接口的分割，分离应用程序关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心的概念。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1" name="Rectangle 4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3610"/>
              <a:ext cx="7255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客户端只 import 自己要用的那个接口，连接管理改了也不会惊动只做数据通信的调用方。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8526" cy="909257"/>
            <a:chOff x="520446" y="342900"/>
            <a:chExt cx="80185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单一职责原则 SRP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85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第二个例子：Rectangle 同时管几何计算和屏幕绘制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722948" y="1574482"/>
            <a:ext cx="5031105" cy="2089785"/>
            <a:chOff x="722948" y="1574482"/>
            <a:chExt cx="5031105" cy="2089785"/>
          </a:xfrm>
        </p:grpSpPr>
        <p:sp>
          <p:nvSpPr>
            <p:cNvPr id="7" name="Freeform 7"/>
            <p:cNvSpPr/>
            <p:nvPr/>
          </p:nvSpPr>
          <p:spPr>
            <a:xfrm>
              <a:off x="1885950" y="2200275"/>
              <a:ext cx="1352550" cy="54292"/>
            </a:xfrm>
            <a:custGeom>
              <a:avLst/>
              <a:gdLst/>
              <a:ahLst/>
              <a:cxnLst/>
              <a:rect l="l" t="t" r="r" b="b"/>
              <a:pathLst>
                <a:path w="1352550" h="54292">
                  <a:moveTo>
                    <a:pt x="0" y="3810"/>
                  </a:moveTo>
                  <a:lnTo>
                    <a:pt x="0" y="54292"/>
                  </a:lnTo>
                  <a:lnTo>
                    <a:pt x="1352550" y="54292"/>
                  </a:lnTo>
                  <a:lnTo>
                    <a:pt x="135255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200275"/>
              <a:ext cx="1352550" cy="54292"/>
            </a:xfrm>
            <a:custGeom>
              <a:avLst/>
              <a:gdLst/>
              <a:ahLst/>
              <a:cxnLst/>
              <a:rect l="l" t="t" r="r" b="b"/>
              <a:pathLst>
                <a:path w="1352550" h="54292">
                  <a:moveTo>
                    <a:pt x="1352550" y="3810"/>
                  </a:moveTo>
                  <a:lnTo>
                    <a:pt x="1352550" y="54292"/>
                  </a:lnTo>
                  <a:lnTo>
                    <a:pt x="0" y="5429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92989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38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6112" y="29298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2948" y="157448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8048" y="157448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2495" y="2305050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2495" y="3034665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91793" y="169116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计算矩形面积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3789" y="1691164"/>
              <a:ext cx="8745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绘制矩形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5527" y="2420779"/>
              <a:ext cx="13459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Rectangle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+draw() +area()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5575" y="3151346"/>
              <a:ext cx="108585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DisplayObject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核心显示对象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05250"/>
            <a:ext cx="5410200" cy="1651635"/>
            <a:chOff x="533400" y="3905250"/>
            <a:chExt cx="5410200" cy="1651635"/>
          </a:xfrm>
        </p:grpSpPr>
        <p:sp>
          <p:nvSpPr>
            <p:cNvPr id="22" name="Rectangle 22"/>
            <p:cNvSpPr/>
            <p:nvPr/>
          </p:nvSpPr>
          <p:spPr>
            <a:xfrm>
              <a:off x="533400" y="390525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03860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1148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1258" y="41505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55485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49199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计算几何的应用被迫把核心显示模块一起链接进来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8901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8272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绘制方式一改，算面积的应用也要重新编译，还可能出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不可预测的失败</a:t>
              </a:r>
            </a:p>
          </p:txBody>
        </p:sp>
      </p:grpSp>
      <p:grpSp>
        <p:nvGrpSpPr>
          <p:cNvPr id="49" name="c2-flow-1"/>
          <p:cNvGrpSpPr/>
          <p:nvPr/>
        </p:nvGrpSpPr>
        <p:grpSpPr>
          <a:xfrm>
            <a:off x="6437948" y="1574482"/>
            <a:ext cx="5031105" cy="2089785"/>
            <a:chOff x="6437948" y="1574482"/>
            <a:chExt cx="5031105" cy="2089785"/>
          </a:xfrm>
        </p:grpSpPr>
        <p:sp>
          <p:nvSpPr>
            <p:cNvPr id="31" name="Freeform 31"/>
            <p:cNvSpPr/>
            <p:nvPr/>
          </p:nvSpPr>
          <p:spPr>
            <a:xfrm>
              <a:off x="7600950" y="22002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38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48562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306050" y="22002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38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253662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868728" y="261937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63952" y="2566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306050" y="292989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38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253662" y="29298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37948" y="157448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143048" y="157448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37948" y="230505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43048" y="230505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43048" y="3034665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06793" y="169116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计算矩形面积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68789" y="1691164"/>
              <a:ext cx="8745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绘制矩形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38569" y="2420779"/>
              <a:ext cx="152476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GeometryRectangle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+area(): int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17557" y="2420779"/>
              <a:ext cx="7769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Rectangle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+draw()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63125" y="3151346"/>
              <a:ext cx="108585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DisplayObject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核心显示对象</a:t>
              </a:r>
            </a:p>
          </p:txBody>
        </p:sp>
      </p:grpSp>
      <p:grpSp>
        <p:nvGrpSpPr>
          <p:cNvPr id="54" name="c2-bullets-2"/>
          <p:cNvGrpSpPr/>
          <p:nvPr/>
        </p:nvGrpSpPr>
        <p:grpSpPr>
          <a:xfrm>
            <a:off x="6248400" y="3930015"/>
            <a:ext cx="4304348" cy="638175"/>
            <a:chOff x="6248400" y="3930015"/>
            <a:chExt cx="4304348" cy="638175"/>
          </a:xfrm>
        </p:grpSpPr>
        <p:sp>
          <p:nvSpPr>
            <p:cNvPr id="50" name="Freeform 50"/>
            <p:cNvSpPr/>
            <p:nvPr/>
          </p:nvSpPr>
          <p:spPr>
            <a:xfrm>
              <a:off x="6248400" y="396144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98908" y="39300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两个职责分到两个完全不同的类里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6248400" y="430625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98908" y="42748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矩形绘制方式的改变不再影响计算面积的应用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104346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更正：源课件这一段写作"把 Rectangle 类中进行计算的部分一道 GeometryRectangle 类中"，"一道"应为"移到"。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124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19" y="407194"/>
              <a:ext cx="224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单一职责原则 SRP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判别依据与边界：按变化理由切，不按功能名称切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56435"/>
            <a:chOff x="533400" y="1524000"/>
            <a:chExt cx="5410200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7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394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列出这个类所有会被修改的场景，写清每个场景背后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的需求方是谁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7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3940" y="275082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需求方不同、变化节奏不同的那些方法，属于不同职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责，应该分开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670935"/>
            <a:ext cx="5410200" cy="1651635"/>
            <a:chOff x="533400" y="3670935"/>
            <a:chExt cx="5410200" cy="1651635"/>
          </a:xfrm>
        </p:grpSpPr>
        <p:sp>
          <p:nvSpPr>
            <p:cNvPr id="18" name="Rectangle 18"/>
            <p:cNvSpPr/>
            <p:nvPr/>
          </p:nvSpPr>
          <p:spPr>
            <a:xfrm>
              <a:off x="533400" y="3670935"/>
              <a:ext cx="5410200" cy="1651635"/>
            </a:xfrm>
            <a:prstGeom prst="roundRect">
              <a:avLst>
                <a:gd name="adj" fmla="val 692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396740"/>
              <a:ext cx="200026" cy="200025"/>
              <a:chOff x="738188" y="439674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3967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4411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5523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25386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单一职责原则从职责这个侧面，为类和接口的抽象颗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粒度建立了判断基准。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291715"/>
            <a:chOff x="6248400" y="1524000"/>
            <a:chExt cx="5410200" cy="229171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7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切得太细也有代价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12979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职责划分依赖对需求的理解，早期切错比不切更麻烦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2465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每切一刀就多一个类和一层委托，类数量和调用链都会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变长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308610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判断依据是"这两部分会不会因为不同的理由被改"，不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是"这两个方法名看起来像不像一类"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4006215"/>
            <a:ext cx="5410200" cy="1316355"/>
            <a:chOff x="6248400" y="4006215"/>
            <a:chExt cx="5410200" cy="1316355"/>
          </a:xfrm>
        </p:grpSpPr>
        <p:sp>
          <p:nvSpPr>
            <p:cNvPr id="37" name="Rectangle 37"/>
            <p:cNvSpPr/>
            <p:nvPr/>
          </p:nvSpPr>
          <p:spPr>
            <a:xfrm>
              <a:off x="6248400" y="400621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79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81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330" y="4592955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Robert C. Martin. The Single Responsibility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Principle (SRP)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一个类有两个职责但从来只被同一批人、同一个理由改动，先放着；真正会分头变化时再拆。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85840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接口隔离原则 ISP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不能强迫用户去依赖那些他们不使用的接口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门与报警器的四种设计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两种违反，两种遵循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和单一职责的差别在着眼点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接口隔离原则 ISP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接口隔离原则：多个专门的接口好过一个总接口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702242"/>
            <a:chOff x="533400" y="1524000"/>
            <a:chExt cx="5410200" cy="27022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02242"/>
            </a:xfrm>
            <a:prstGeom prst="roundRect">
              <a:avLst>
                <a:gd name="adj" fmla="val 4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3554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659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接口隔离原则（ISP）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不能强迫用户去依赖那些他们不使用的接口。换句话说，使用多个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专门的接口比使用单一的总接口要好。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接口的设计原则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：遵循最小接口原则，不把用户不使用的方法塞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进同一个接口。接口里有方法没被用到，说明这个接口过胖，应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该分割成几个功能专一的接口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41280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359944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接口的依赖（继承）原则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：接口 a 继承接口 b，就相当于继承了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的方法，继承后的 a 同样不应包含用户不使用的方法，否则说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 a 被 b 污染了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391025"/>
            <a:ext cx="5410200" cy="1305878"/>
            <a:chOff x="533400" y="4391025"/>
            <a:chExt cx="5410200" cy="1305878"/>
          </a:xfrm>
        </p:grpSpPr>
        <p:sp>
          <p:nvSpPr>
            <p:cNvPr id="18" name="Rectangle 18"/>
            <p:cNvSpPr/>
            <p:nvPr/>
          </p:nvSpPr>
          <p:spPr>
            <a:xfrm>
              <a:off x="533400" y="4391025"/>
              <a:ext cx="5410200" cy="1305878"/>
            </a:xfrm>
            <a:prstGeom prst="roundRect">
              <a:avLst>
                <a:gd name="adj" fmla="val 875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4939783"/>
              <a:ext cx="224134" cy="192560"/>
              <a:chOff x="726129" y="493978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0101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49397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087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4837271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一个用户依赖了自己不用、却被别人使用的接口，别人改接口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时所有依赖者都跟着受影响，这同时违反了开闭原则。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1649730"/>
            <a:chOff x="6248400" y="1524000"/>
            <a:chExt cx="5410200" cy="164973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3451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门与报警器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0998" y="2061686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 Door，具备 lock、unlock 功能。另外可以在 Door 上安装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Alarm 使其具有报警功能。用户可以选普通门，也可以选带报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警功能的门。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2141" y="2827973"/>
              <a:ext cx="3374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下面用四种设计来对比，前两种违反 ISP，后两种遵循</a:t>
              </a:r>
            </a:p>
          </p:txBody>
        </p:sp>
      </p:grpSp>
      <p:grpSp>
        <p:nvGrpSpPr>
          <p:cNvPr id="56" name="c2-uml-2"/>
          <p:cNvGrpSpPr/>
          <p:nvPr/>
        </p:nvGrpSpPr>
        <p:grpSpPr>
          <a:xfrm>
            <a:off x="7029450" y="3403282"/>
            <a:ext cx="3848100" cy="2160271"/>
            <a:chOff x="7029450" y="3403282"/>
            <a:chExt cx="3848100" cy="2160271"/>
          </a:xfrm>
        </p:grpSpPr>
        <p:sp>
          <p:nvSpPr>
            <p:cNvPr id="33" name="Freeform 33"/>
            <p:cNvSpPr/>
            <p:nvPr/>
          </p:nvSpPr>
          <p:spPr>
            <a:xfrm>
              <a:off x="7600950" y="4551998"/>
              <a:ext cx="1352550" cy="99060"/>
            </a:xfrm>
            <a:custGeom>
              <a:avLst/>
              <a:gdLst/>
              <a:ahLst/>
              <a:cxnLst/>
              <a:rect l="l" t="t" r="r" b="b"/>
              <a:pathLst>
                <a:path w="1352550" h="99060">
                  <a:moveTo>
                    <a:pt x="0" y="99060"/>
                  </a:moveTo>
                  <a:lnTo>
                    <a:pt x="0" y="0"/>
                  </a:lnTo>
                  <a:lnTo>
                    <a:pt x="1352550" y="0"/>
                  </a:lnTo>
                  <a:lnTo>
                    <a:pt x="1352550" y="2667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8880158" y="44529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53500" y="4551998"/>
              <a:ext cx="1352550" cy="99060"/>
            </a:xfrm>
            <a:custGeom>
              <a:avLst/>
              <a:gdLst/>
              <a:ahLst/>
              <a:cxnLst/>
              <a:rect l="l" t="t" r="r" b="b"/>
              <a:pathLst>
                <a:path w="1352550" h="99060">
                  <a:moveTo>
                    <a:pt x="1352550" y="99060"/>
                  </a:moveTo>
                  <a:lnTo>
                    <a:pt x="1352550" y="0"/>
                  </a:lnTo>
                  <a:lnTo>
                    <a:pt x="0" y="0"/>
                  </a:lnTo>
                  <a:lnTo>
                    <a:pt x="0" y="2667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8880158" y="44529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382000" y="3403282"/>
              <a:ext cx="1143000" cy="10496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89620" y="3409950"/>
              <a:ext cx="112871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82000" y="3770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82000" y="3866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29450" y="4651058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37070" y="465772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29450" y="48815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029450" y="49768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734550" y="4651058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42170" y="465772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34550" y="48815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34550" y="49768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28611" y="345614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94014" y="359616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Door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53438" y="3935730"/>
              <a:ext cx="58102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82725" y="4706779"/>
              <a:ext cx="83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CommonDoor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00888" y="5046345"/>
              <a:ext cx="58102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57444" y="4706779"/>
              <a:ext cx="6972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AlarmDoor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05988" y="5046345"/>
              <a:ext cx="58102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75957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方法一：所有方法都塞进 Door 接口。CommonDoor 不得不实现自己用不到的 alarm()，违反 ISP。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1585" cy="909257"/>
            <a:chOff x="520446" y="342900"/>
            <a:chExt cx="74015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接口隔离原则 ISP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15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方法二也不行：让 Door 接口去继承 Alarm 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uml-1"/>
          <p:cNvGrpSpPr/>
          <p:nvPr/>
        </p:nvGrpSpPr>
        <p:grpSpPr>
          <a:xfrm>
            <a:off x="1260158" y="1764982"/>
            <a:ext cx="3740467" cy="3507105"/>
            <a:chOff x="1260158" y="1764982"/>
            <a:chExt cx="3740467" cy="3507105"/>
          </a:xfrm>
        </p:grpSpPr>
        <p:sp>
          <p:nvSpPr>
            <p:cNvPr id="7" name="Freeform 7"/>
            <p:cNvSpPr/>
            <p:nvPr/>
          </p:nvSpPr>
          <p:spPr>
            <a:xfrm>
              <a:off x="3129915" y="2702242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2619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56572" y="25765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31658" y="4090035"/>
              <a:ext cx="1298258" cy="152400"/>
            </a:xfrm>
            <a:custGeom>
              <a:avLst/>
              <a:gdLst/>
              <a:ahLst/>
              <a:cxnLst/>
              <a:rect l="l" t="t" r="r" b="b"/>
              <a:pathLst>
                <a:path w="1298258" h="152400">
                  <a:moveTo>
                    <a:pt x="0" y="152400"/>
                  </a:moveTo>
                  <a:lnTo>
                    <a:pt x="0" y="13335"/>
                  </a:lnTo>
                  <a:lnTo>
                    <a:pt x="1298258" y="13335"/>
                  </a:lnTo>
                  <a:lnTo>
                    <a:pt x="129825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056572" y="39643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29915" y="4090035"/>
              <a:ext cx="1299210" cy="152400"/>
            </a:xfrm>
            <a:custGeom>
              <a:avLst/>
              <a:gdLst/>
              <a:ahLst/>
              <a:cxnLst/>
              <a:rect l="l" t="t" r="r" b="b"/>
              <a:pathLst>
                <a:path w="1299210" h="152400">
                  <a:moveTo>
                    <a:pt x="1299210" y="152400"/>
                  </a:moveTo>
                  <a:lnTo>
                    <a:pt x="1299210" y="13335"/>
                  </a:lnTo>
                  <a:lnTo>
                    <a:pt x="0" y="1333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056572" y="39643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58415" y="1764982"/>
              <a:ext cx="1143000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566035" y="1772602"/>
              <a:ext cx="1128712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558415" y="21917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58415" y="22869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558415" y="2964180"/>
              <a:ext cx="1143000" cy="1001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66035" y="2970848"/>
              <a:ext cx="1128712" cy="423862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58415" y="33909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58415" y="34861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60158" y="4242435"/>
              <a:ext cx="1143000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67778" y="4250055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60158" y="4509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60158" y="4604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57625" y="4242435"/>
              <a:ext cx="1143000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64292" y="4250055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57625" y="4509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57625" y="4604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42372" y="1826419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8058" y="1989296"/>
              <a:ext cx="44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Alarm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29281" y="2359342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42372" y="302561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47591" y="318849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29281" y="3558540"/>
              <a:ext cx="67741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53632" y="4306729"/>
              <a:ext cx="956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CommonDoor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31024" y="4676775"/>
              <a:ext cx="67741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30664" y="4306729"/>
              <a:ext cx="79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AlarmDoor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28491" y="4676775"/>
              <a:ext cx="67741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032182" y="1524000"/>
            <a:ext cx="5626418" cy="1865948"/>
            <a:chOff x="6032182" y="1524000"/>
            <a:chExt cx="5626418" cy="1865948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74118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4326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66879" y="2100739"/>
              <a:ext cx="46401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Alarm 接口定义 alarm 方法，在 Door 接口定义 lock、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unlock，Door 接口继承 Alarm 接口。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66879" y="2692241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跟方法一一样，依赖 Door 接口的 CommonDoor 还是不得不实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现未使用的 alarm() 方法，违反 ISP。</a:t>
              </a:r>
            </a:p>
          </p:txBody>
        </p:sp>
      </p:grpSp>
      <p:grpSp>
        <p:nvGrpSpPr>
          <p:cNvPr id="51" name="c2-code-2"/>
          <p:cNvGrpSpPr/>
          <p:nvPr/>
        </p:nvGrpSpPr>
        <p:grpSpPr>
          <a:xfrm>
            <a:off x="6032182" y="3575685"/>
            <a:ext cx="5626418" cy="1516380"/>
            <a:chOff x="6032182" y="3575685"/>
            <a:chExt cx="5626418" cy="1516380"/>
          </a:xfrm>
        </p:grpSpPr>
        <p:sp>
          <p:nvSpPr>
            <p:cNvPr id="47" name="Rectangle 47"/>
            <p:cNvSpPr/>
            <p:nvPr/>
          </p:nvSpPr>
          <p:spPr>
            <a:xfrm>
              <a:off x="6032182" y="3575685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60580" y="372760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两种违反写法的共同症状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51232" y="4555808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59817" y="3990499"/>
              <a:ext cx="4093718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CommonDoor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Door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lock()   {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真实现 */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unlock() {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真实现 */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alarm() 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空实现，只为编译通过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032182" y="5277802"/>
            <a:ext cx="5626418" cy="1018222"/>
            <a:chOff x="6032182" y="5277802"/>
            <a:chExt cx="5626418" cy="1018222"/>
          </a:xfrm>
        </p:grpSpPr>
        <p:sp>
          <p:nvSpPr>
            <p:cNvPr id="52" name="Rectangle 52"/>
            <p:cNvSpPr/>
            <p:nvPr/>
          </p:nvSpPr>
          <p:spPr>
            <a:xfrm>
              <a:off x="6032182" y="5277802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236970" y="5686427"/>
              <a:ext cx="200023" cy="200023"/>
              <a:chOff x="6236970" y="568642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236970" y="56864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370320" y="5753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539294" y="5424964"/>
              <a:ext cx="461314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出现"为了让编译通过而写的空方法"或"抛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UnsupportedOperationException 的方法"，基本可以判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定接口过胖。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6818" cy="909257"/>
            <a:chOff x="520446" y="342900"/>
            <a:chExt cx="59368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接口隔离原则 ISP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68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两种遵循 ISP 的设计：多重实现与委托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uml-1"/>
          <p:cNvGrpSpPr/>
          <p:nvPr/>
        </p:nvGrpSpPr>
        <p:grpSpPr>
          <a:xfrm>
            <a:off x="1314450" y="1590675"/>
            <a:ext cx="3848100" cy="1841183"/>
            <a:chOff x="1314450" y="1590675"/>
            <a:chExt cx="3848100" cy="1841183"/>
          </a:xfrm>
        </p:grpSpPr>
        <p:sp>
          <p:nvSpPr>
            <p:cNvPr id="7" name="Freeform 7"/>
            <p:cNvSpPr/>
            <p:nvPr/>
          </p:nvSpPr>
          <p:spPr>
            <a:xfrm>
              <a:off x="1885950" y="2604135"/>
              <a:ext cx="9525" cy="77153"/>
            </a:xfrm>
            <a:custGeom>
              <a:avLst/>
              <a:gdLst/>
              <a:ahLst/>
              <a:cxnLst/>
              <a:rect l="l" t="t" r="r" b="b"/>
              <a:pathLst>
                <a:path w="9525" h="77153">
                  <a:moveTo>
                    <a:pt x="0" y="7715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812608" y="24784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583180" y="3056572"/>
              <a:ext cx="1436370" cy="9525"/>
            </a:xfrm>
            <a:custGeom>
              <a:avLst/>
              <a:gdLst/>
              <a:ahLst/>
              <a:cxnLst/>
              <a:rect l="l" t="t" r="r" b="b"/>
              <a:pathLst>
                <a:path w="1436370" h="9525">
                  <a:moveTo>
                    <a:pt x="143637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57450" y="2983230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0" y="73342"/>
                  </a:moveTo>
                  <a:lnTo>
                    <a:pt x="125730" y="0"/>
                  </a:lnTo>
                  <a:lnTo>
                    <a:pt x="125730" y="14668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591050" y="2523172"/>
              <a:ext cx="9525" cy="239078"/>
            </a:xfrm>
            <a:custGeom>
              <a:avLst/>
              <a:gdLst/>
              <a:ahLst/>
              <a:cxnLst/>
              <a:rect l="l" t="t" r="r" b="b"/>
              <a:pathLst>
                <a:path w="9525" h="239078">
                  <a:moveTo>
                    <a:pt x="0" y="2390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517708" y="239744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314450" y="1590675"/>
              <a:ext cx="1143000" cy="8877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322070" y="1598295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14450" y="19583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14450" y="20535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19550" y="167259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27170" y="1679258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19550" y="20402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19550" y="21355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314450" y="268128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322070" y="268795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14450" y="29117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14450" y="30070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19550" y="2762250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27170" y="2769870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19550" y="29927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019550" y="30880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61061" y="164353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26464" y="178355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5888" y="2123122"/>
              <a:ext cx="58102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66161" y="172545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6973" y="1865471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Alarm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0988" y="2205038"/>
              <a:ext cx="572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67725" y="2737009"/>
              <a:ext cx="83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CommonDoor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85888" y="3076575"/>
              <a:ext cx="58102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42444" y="2817971"/>
              <a:ext cx="6972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AlarmDoor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90988" y="3157538"/>
              <a:ext cx="572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</p:grpSp>
      <p:grpSp>
        <p:nvGrpSpPr>
          <p:cNvPr id="43" name="c1-code-2"/>
          <p:cNvGrpSpPr/>
          <p:nvPr/>
        </p:nvGrpSpPr>
        <p:grpSpPr>
          <a:xfrm>
            <a:off x="533400" y="3737610"/>
            <a:ext cx="5410200" cy="1912620"/>
            <a:chOff x="533400" y="3737610"/>
            <a:chExt cx="5410200" cy="1912620"/>
          </a:xfrm>
        </p:grpSpPr>
        <p:sp>
          <p:nvSpPr>
            <p:cNvPr id="40" name="Rectangle 40"/>
            <p:cNvSpPr/>
            <p:nvPr/>
          </p:nvSpPr>
          <p:spPr>
            <a:xfrm>
              <a:off x="533400" y="373761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797" y="3889534"/>
              <a:ext cx="2528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方法三，继承 CommonDoor 并实现 Alarm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97" y="4149566"/>
              <a:ext cx="4117086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Door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lock();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unlock();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alarm();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CommonDoor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lock() { }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unlock()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AlarmDoor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CommonDoor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7" name="c2-uml-1"/>
          <p:cNvGrpSpPr/>
          <p:nvPr/>
        </p:nvGrpSpPr>
        <p:grpSpPr>
          <a:xfrm>
            <a:off x="7029450" y="1590675"/>
            <a:ext cx="3918243" cy="1841183"/>
            <a:chOff x="7029450" y="1590675"/>
            <a:chExt cx="3918243" cy="1841183"/>
          </a:xfrm>
        </p:grpSpPr>
        <p:sp>
          <p:nvSpPr>
            <p:cNvPr id="44" name="Freeform 44"/>
            <p:cNvSpPr/>
            <p:nvPr/>
          </p:nvSpPr>
          <p:spPr>
            <a:xfrm>
              <a:off x="7600950" y="2604135"/>
              <a:ext cx="9525" cy="77153"/>
            </a:xfrm>
            <a:custGeom>
              <a:avLst/>
              <a:gdLst/>
              <a:ahLst/>
              <a:cxnLst/>
              <a:rect l="l" t="t" r="r" b="b"/>
              <a:pathLst>
                <a:path w="9525" h="77153">
                  <a:moveTo>
                    <a:pt x="0" y="7715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7527608" y="24784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306050" y="2523172"/>
              <a:ext cx="9525" cy="158115"/>
            </a:xfrm>
            <a:custGeom>
              <a:avLst/>
              <a:gdLst/>
              <a:ahLst/>
              <a:cxnLst/>
              <a:rect l="l" t="t" r="r" b="b"/>
              <a:pathLst>
                <a:path w="9525" h="158115">
                  <a:moveTo>
                    <a:pt x="0" y="15811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10232708" y="239744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172450" y="3056572"/>
              <a:ext cx="1287780" cy="9525"/>
            </a:xfrm>
            <a:custGeom>
              <a:avLst/>
              <a:gdLst/>
              <a:ahLst/>
              <a:cxnLst/>
              <a:rect l="l" t="t" r="r" b="b"/>
              <a:pathLst>
                <a:path w="1287780" h="9525">
                  <a:moveTo>
                    <a:pt x="0" y="0"/>
                  </a:moveTo>
                  <a:lnTo>
                    <a:pt x="128778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460230" y="299847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209550" y="58102"/>
                  </a:moveTo>
                  <a:lnTo>
                    <a:pt x="104775" y="115252"/>
                  </a:lnTo>
                  <a:lnTo>
                    <a:pt x="0" y="5810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29450" y="1590675"/>
              <a:ext cx="1143000" cy="8877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37070" y="1598295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29450" y="19583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29450" y="20535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34550" y="167259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42170" y="1679258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34550" y="20402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34550" y="21355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29450" y="268128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37070" y="268795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29450" y="29117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29450" y="30070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69780" y="2681288"/>
              <a:ext cx="127254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677400" y="2687955"/>
              <a:ext cx="125825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669780" y="2911792"/>
              <a:ext cx="12725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69780" y="3168968"/>
              <a:ext cx="12725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6061" y="164353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41464" y="178355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Door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00888" y="2123122"/>
              <a:ext cx="58102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81161" y="172545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11973" y="1865471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Alarm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05988" y="2205038"/>
              <a:ext cx="572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82725" y="2737009"/>
              <a:ext cx="83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CommonDoor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00888" y="3076575"/>
              <a:ext cx="58102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lock()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unlock()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57444" y="2737009"/>
              <a:ext cx="6972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AlarmDoor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41218" y="2981325"/>
              <a:ext cx="1206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door: CommonDoor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41218" y="3238500"/>
              <a:ext cx="572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alarm()</a:t>
              </a:r>
            </a:p>
          </p:txBody>
        </p:sp>
      </p:grpSp>
      <p:grpSp>
        <p:nvGrpSpPr>
          <p:cNvPr id="81" name="c2-code-2"/>
          <p:cNvGrpSpPr/>
          <p:nvPr/>
        </p:nvGrpSpPr>
        <p:grpSpPr>
          <a:xfrm>
            <a:off x="6248400" y="3737610"/>
            <a:ext cx="5410200" cy="1561148"/>
            <a:chOff x="6248400" y="3737610"/>
            <a:chExt cx="5410200" cy="1561148"/>
          </a:xfrm>
        </p:grpSpPr>
        <p:sp>
          <p:nvSpPr>
            <p:cNvPr id="78" name="Rectangle 78"/>
            <p:cNvSpPr/>
            <p:nvPr/>
          </p:nvSpPr>
          <p:spPr>
            <a:xfrm>
              <a:off x="6248400" y="373761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76797" y="3889534"/>
              <a:ext cx="27858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方法四，把 lock/unlock 委托给 CommonDoor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76797" y="4149566"/>
              <a:ext cx="3227197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AlarmDoor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CommonDoor door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CommonDoor();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lock()   { door.lock();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unlock() { door.unlock();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alarm() 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2" name="Rectangle 8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8373"/>
              <a:ext cx="10404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源课件评价：方法三的两个方案里，AlarmDoor 继承 CommonDoor 再实现 Alarm 更有实用性；方法四本质上就是适配器的做法。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接口隔离原则 ISP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判别依据与边界：和单一职责原则比着看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11125200" cy="2028825"/>
            <a:chOff x="533400" y="1524000"/>
            <a:chExt cx="1112520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115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28974" y="1648301"/>
              <a:ext cx="1242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单一职责原则 SRP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21896" y="1648301"/>
              <a:ext cx="1200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接口隔离原则 ISP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5771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3635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模块、类、接口的设计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85648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更侧重于接口的设计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5771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思考角度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3635" y="24598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从软件实体本身的职责是否单一出发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85648" y="24598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从用户怎么使用接口出发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5771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判断办法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3635" y="286559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列出引起该实体变化的理由有几条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5648" y="286559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看调用者是不是只用到接口的一部分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4997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同一个胖接口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3635" y="3271361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靠文档约定"不使用的方法不要访问"，是允许的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995160" y="3156585"/>
              <a:ext cx="465391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85648" y="327136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不允许，要求拆成多个专门的接口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0886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8087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ompare-2"/>
          <p:cNvGrpSpPr/>
          <p:nvPr/>
        </p:nvGrpSpPr>
        <p:grpSpPr>
          <a:xfrm>
            <a:off x="533400" y="3728085"/>
            <a:ext cx="11125200" cy="1543050"/>
            <a:chOff x="533400" y="3728085"/>
            <a:chExt cx="11125200" cy="1543050"/>
          </a:xfrm>
        </p:grpSpPr>
        <p:sp>
          <p:nvSpPr>
            <p:cNvPr id="33" name="Rectangle 33"/>
            <p:cNvSpPr/>
            <p:nvPr/>
          </p:nvSpPr>
          <p:spPr>
            <a:xfrm>
              <a:off x="533400" y="3728085"/>
              <a:ext cx="526161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3861435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7047" y="39423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两者相同的地方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431863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42624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都是为了提高内聚性、降低耦合性，体现封装的思想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46215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456533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最终表现出来的都是把接口约束到最小功能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96990" y="3728085"/>
              <a:ext cx="526161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06515" y="3861435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20637" y="394239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边界与代价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36067" y="431863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2087" y="426243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接口拆得过碎时，一个实现类要 implements 一长串接口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36067" y="46215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2087" y="456533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客户端要同时用到两组功能时，反而要持有多个引用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36067" y="492347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92087" y="4867275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接口的粒度以"某一类调用者需要的全部方法"为准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842635" y="4246245"/>
              <a:ext cx="506730" cy="50673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93156" y="44391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9464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专门的接口指的是提供给每个模块的都恰好是它需要调用的接口，而不是建一个庞大臃肿的接口容纳所有客户端访问。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85840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依赖倒置原则 DIP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高层模块不依赖低层模块，二者都依赖抽象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倒置的是依赖方向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熔炉调节器被硬件绑死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三条启发与一个例外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依赖倒置原则 DIP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依赖倒置：倒过来的是依赖的方向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202055"/>
            <a:chOff x="533400" y="1524000"/>
            <a:chExt cx="5410200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659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依赖倒置原则（DIP）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11359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06168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高层模块不应依赖低层模块，二者都应依赖抽象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34648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抽象不应依赖细节，细节应该依赖抽象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923" y="2912269"/>
            <a:ext cx="5416677" cy="997076"/>
            <a:chOff x="526923" y="2912269"/>
            <a:chExt cx="5416677" cy="997076"/>
          </a:xfrm>
        </p:grpSpPr>
        <p:sp>
          <p:nvSpPr>
            <p:cNvPr id="17" name="TextBox 17"/>
            <p:cNvSpPr txBox="1"/>
            <p:nvPr/>
          </p:nvSpPr>
          <p:spPr>
            <a:xfrm>
              <a:off x="526923" y="29122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1800" y="291226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 a 调用了模块 b，就说 a 依赖 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84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923" y="3286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低层模块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1800" y="328660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实现基本操作的类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585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923" y="36599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高层模块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36599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封装复杂逻辑、要用到低层类的类</a:t>
              </a:r>
            </a:p>
          </p:txBody>
        </p:sp>
      </p:grpSp>
      <p:grpSp>
        <p:nvGrpSpPr>
          <p:cNvPr id="28" name="c1-image-3"/>
          <p:cNvGrpSpPr/>
          <p:nvPr/>
        </p:nvGrpSpPr>
        <p:grpSpPr>
          <a:xfrm>
            <a:off x="533400" y="4024312"/>
            <a:ext cx="5410200" cy="1618964"/>
            <a:chOff x="533400" y="4024312"/>
            <a:chExt cx="5410200" cy="1618964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33544" r="0" b="33545"/>
            <a:stretch>
              <a:fillRect/>
            </a:stretch>
          </p:blipFill>
          <p:spPr>
            <a:xfrm>
              <a:off x="533400" y="4024312"/>
              <a:ext cx="5410200" cy="1335405"/>
            </a:xfrm>
            <a:prstGeom prst="roundRect">
              <a:avLst>
                <a:gd name="adj" fmla="val 9985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2178126" y="5452586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机身只认卡口尺寸，不认具体的镜头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723698" y="1550670"/>
            <a:ext cx="4027170" cy="2224088"/>
            <a:chOff x="6723698" y="1550670"/>
            <a:chExt cx="4027170" cy="2224088"/>
          </a:xfrm>
        </p:grpSpPr>
        <p:sp>
          <p:nvSpPr>
            <p:cNvPr id="29" name="Freeform 29"/>
            <p:cNvSpPr/>
            <p:nvPr/>
          </p:nvSpPr>
          <p:spPr>
            <a:xfrm>
              <a:off x="7330440" y="2252662"/>
              <a:ext cx="9525" cy="924878"/>
            </a:xfrm>
            <a:custGeom>
              <a:avLst/>
              <a:gdLst/>
              <a:ahLst/>
              <a:cxnLst/>
              <a:rect l="l" t="t" r="r" b="b"/>
              <a:pathLst>
                <a:path w="9525" h="924878">
                  <a:moveTo>
                    <a:pt x="0" y="0"/>
                  </a:moveTo>
                  <a:lnTo>
                    <a:pt x="0" y="9248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282815" y="3177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44125" y="2074545"/>
              <a:ext cx="9525" cy="381952"/>
            </a:xfrm>
            <a:custGeom>
              <a:avLst/>
              <a:gdLst/>
              <a:ahLst/>
              <a:cxnLst/>
              <a:rect l="l" t="t" r="r" b="b"/>
              <a:pathLst>
                <a:path w="9525" h="381952">
                  <a:moveTo>
                    <a:pt x="0" y="0"/>
                  </a:moveTo>
                  <a:lnTo>
                    <a:pt x="0" y="3819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096500" y="24564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144125" y="3020378"/>
              <a:ext cx="9525" cy="381952"/>
            </a:xfrm>
            <a:custGeom>
              <a:avLst/>
              <a:gdLst/>
              <a:ahLst/>
              <a:cxnLst/>
              <a:rect l="l" t="t" r="r" b="b"/>
              <a:pathLst>
                <a:path w="9525" h="381952">
                  <a:moveTo>
                    <a:pt x="0" y="38195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10096500" y="29251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23698" y="1864042"/>
              <a:ext cx="1214438" cy="388620"/>
            </a:xfrm>
            <a:prstGeom prst="roundRect">
              <a:avLst>
                <a:gd name="adj" fmla="val 245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23698" y="3272790"/>
              <a:ext cx="1214438" cy="388620"/>
            </a:xfrm>
            <a:prstGeom prst="roundRect">
              <a:avLst>
                <a:gd name="adj" fmla="val 245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536430" y="1702118"/>
              <a:ext cx="121443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36430" y="2551748"/>
              <a:ext cx="1214438" cy="372428"/>
            </a:xfrm>
            <a:prstGeom prst="roundRect">
              <a:avLst>
                <a:gd name="adj" fmla="val 2557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536430" y="3402330"/>
              <a:ext cx="121443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42404" y="19926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高层模块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2404" y="3401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低层模块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56089" y="18230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高层模块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85414" y="26727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抽象接口层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56089" y="35232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低层模块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083742" y="268414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4901" y="271319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直接依赖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001250" y="223456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028974" y="226456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001250" y="308514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028974" y="311419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30378" y="15506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结构化程序设计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14738" y="15506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依赖倒置之后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4117658"/>
            <a:ext cx="5410200" cy="1505902"/>
            <a:chOff x="6248400" y="4117658"/>
            <a:chExt cx="5410200" cy="1505902"/>
          </a:xfrm>
        </p:grpSpPr>
        <p:sp>
          <p:nvSpPr>
            <p:cNvPr id="54" name="Rectangle 54"/>
            <p:cNvSpPr/>
            <p:nvPr/>
          </p:nvSpPr>
          <p:spPr>
            <a:xfrm>
              <a:off x="6248400" y="4117658"/>
              <a:ext cx="5410200" cy="1505902"/>
            </a:xfrm>
            <a:prstGeom prst="roundRect">
              <a:avLst>
                <a:gd name="adj" fmla="val 759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4771075"/>
              <a:ext cx="200023" cy="200023"/>
              <a:chOff x="6453188" y="47710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47710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86538" y="48377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6273" y="4663916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抽象接口是对低层模块的抽象，低层模块继承或实现它。类与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类之间都通过抽象接口层建立关系。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8347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Bad Design 的三个症状：改一处牵动很多处；改完之后看似无关的部分不工作了；想复用一部分却拆不出来。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6646" cy="909257"/>
            <a:chOff x="520446" y="342900"/>
            <a:chExt cx="71766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依赖倒置原则 DIP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66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坏例子：熔炉调节器把 IO 通道号写死在算法里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5842635" cy="3319462"/>
            <a:chOff x="533400" y="1524000"/>
            <a:chExt cx="5842635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温度调节器的简单算法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48138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83381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00907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1935956"/>
              <a:ext cx="4216654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Regulator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THERMOMETER = 0x86;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IO 通道号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FURNACE     = 0x87;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ENGAGE    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DISENGAGE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regulate(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minTemp,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maxTemp)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(;;)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(Io.in(THERMOMETER) &gt; minTemp) Io.delay(1);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Io.out(FURNACE, ENGAGE);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(Io.in(THERMOMETER) &lt; maxTemp) Io.delay(1);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Io.out(FURNACE, DISENGAGE);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680835" y="1524000"/>
            <a:ext cx="4977765" cy="1143952"/>
            <a:chOff x="6680835" y="1524000"/>
            <a:chExt cx="4977765" cy="1143952"/>
          </a:xfrm>
        </p:grpSpPr>
        <p:sp>
          <p:nvSpPr>
            <p:cNvPr id="15" name="Rectangle 15"/>
            <p:cNvSpPr/>
            <p:nvPr/>
          </p:nvSpPr>
          <p:spPr>
            <a:xfrm>
              <a:off x="6680835" y="1524000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9036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93433" y="2045494"/>
              <a:ext cx="4288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软件从一个 IO 通道读取当前温度，再向另一个 IO 通道发命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令，指示熔炉开或关。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680835" y="2832735"/>
            <a:ext cx="4977765" cy="1185862"/>
            <a:chOff x="6680835" y="2832735"/>
            <a:chExt cx="4977765" cy="1185862"/>
          </a:xfrm>
        </p:grpSpPr>
        <p:sp>
          <p:nvSpPr>
            <p:cNvPr id="21" name="Rectangle 21"/>
            <p:cNvSpPr/>
            <p:nvPr/>
          </p:nvSpPr>
          <p:spPr>
            <a:xfrm>
              <a:off x="6680835" y="2832735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90360" y="296608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99910" y="30137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2582" y="30465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909435" y="340614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64883" y="33542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算法的高层意图清楚，实现里却夹着大量低层细节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09435" y="369189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64883" y="363902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换一块采集卡，通道号和读写函数全要改，算法被迫跟着改</a:t>
              </a:r>
            </a:p>
          </p:txBody>
        </p:sp>
      </p:grpSp>
      <p:grpSp>
        <p:nvGrpSpPr>
          <p:cNvPr id="35" name="c2-card-3"/>
          <p:cNvGrpSpPr/>
          <p:nvPr/>
        </p:nvGrpSpPr>
        <p:grpSpPr>
          <a:xfrm>
            <a:off x="6680835" y="4184332"/>
            <a:ext cx="4977765" cy="1143952"/>
            <a:chOff x="6680835" y="4184332"/>
            <a:chExt cx="4977765" cy="1143952"/>
          </a:xfrm>
        </p:grpSpPr>
        <p:sp>
          <p:nvSpPr>
            <p:cNvPr id="30" name="Rectangle 30"/>
            <p:cNvSpPr/>
            <p:nvPr/>
          </p:nvSpPr>
          <p:spPr>
            <a:xfrm>
              <a:off x="6680835" y="4184332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0360" y="431768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99910" y="43653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2582" y="43981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3433" y="4704874"/>
              <a:ext cx="3077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源课件常量名写作 `THERMONETER`，应为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`THERMOMETER`。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6" name="Rectangle 3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6039326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代码很少时这样写损害不大，但让一段清楚的算法失去重用性仍然可惜。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依赖倒置原则 DIP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改造：让调节算法只认温度计接口和加热器接口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842635" cy="4022408"/>
            <a:chOff x="533400" y="1524000"/>
            <a:chExt cx="5842635" cy="4022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通用的调节器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48138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501009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Thermometer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Heater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engage();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disengage();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Regulator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regulate(Thermometer t, Heater h,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minTemp,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maxTemp)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(;;)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(t.read() &gt; minTemp) delay(1);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h.engage();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(t.read() &lt; maxTemp) delay(1);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h.disengage();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delay(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second)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1" name="c2-uml-1"/>
          <p:cNvGrpSpPr/>
          <p:nvPr/>
        </p:nvGrpSpPr>
        <p:grpSpPr>
          <a:xfrm>
            <a:off x="7173278" y="1741170"/>
            <a:ext cx="3812857" cy="2549843"/>
            <a:chOff x="7173278" y="1741170"/>
            <a:chExt cx="3812857" cy="2549843"/>
          </a:xfrm>
        </p:grpSpPr>
        <p:sp>
          <p:nvSpPr>
            <p:cNvPr id="13" name="Freeform 13"/>
            <p:cNvSpPr/>
            <p:nvPr/>
          </p:nvSpPr>
          <p:spPr>
            <a:xfrm>
              <a:off x="7925752" y="2328862"/>
              <a:ext cx="1243965" cy="364808"/>
            </a:xfrm>
            <a:custGeom>
              <a:avLst/>
              <a:gdLst/>
              <a:ahLst/>
              <a:cxnLst/>
              <a:rect l="l" t="t" r="r" b="b"/>
              <a:pathLst>
                <a:path w="1243965" h="364808">
                  <a:moveTo>
                    <a:pt x="1243965" y="0"/>
                  </a:moveTo>
                  <a:lnTo>
                    <a:pt x="1243965" y="182880"/>
                  </a:lnTo>
                  <a:lnTo>
                    <a:pt x="0" y="182880"/>
                  </a:lnTo>
                  <a:lnTo>
                    <a:pt x="0" y="364808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7867650" y="258889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8103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169718" y="2328862"/>
              <a:ext cx="1244918" cy="283845"/>
            </a:xfrm>
            <a:custGeom>
              <a:avLst/>
              <a:gdLst/>
              <a:ahLst/>
              <a:cxnLst/>
              <a:rect l="l" t="t" r="r" b="b"/>
              <a:pathLst>
                <a:path w="1244918" h="283845">
                  <a:moveTo>
                    <a:pt x="0" y="0"/>
                  </a:moveTo>
                  <a:lnTo>
                    <a:pt x="0" y="141922"/>
                  </a:lnTo>
                  <a:lnTo>
                    <a:pt x="1244918" y="141922"/>
                  </a:lnTo>
                  <a:lnTo>
                    <a:pt x="1244918" y="283845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0356532" y="2507932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8103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925752" y="3545205"/>
              <a:ext cx="9525" cy="320040"/>
            </a:xfrm>
            <a:custGeom>
              <a:avLst/>
              <a:gdLst/>
              <a:ahLst/>
              <a:cxnLst/>
              <a:rect l="l" t="t" r="r" b="b"/>
              <a:pathLst>
                <a:path w="9525" h="320040">
                  <a:moveTo>
                    <a:pt x="0" y="3200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7852410" y="341947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414635" y="3626168"/>
              <a:ext cx="9525" cy="239078"/>
            </a:xfrm>
            <a:custGeom>
              <a:avLst/>
              <a:gdLst/>
              <a:ahLst/>
              <a:cxnLst/>
              <a:rect l="l" t="t" r="r" b="b"/>
              <a:pathLst>
                <a:path w="9525" h="239078">
                  <a:moveTo>
                    <a:pt x="0" y="2390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0341292" y="35004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3342" y="1741170"/>
              <a:ext cx="295275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00962" y="1747838"/>
              <a:ext cx="293846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3342" y="1971675"/>
              <a:ext cx="29527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93342" y="2066925"/>
              <a:ext cx="29527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54252" y="269367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60920" y="2701290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54252" y="30613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54252" y="31565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843135" y="2612708"/>
              <a:ext cx="1143000" cy="8877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849802" y="2620328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843135" y="29803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843135" y="30756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73278" y="3865245"/>
              <a:ext cx="1503998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80898" y="3871912"/>
              <a:ext cx="148971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73278" y="4095750"/>
              <a:ext cx="15039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73278" y="4191000"/>
              <a:ext cx="15039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843135" y="386524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49802" y="387191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843135" y="40957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843135" y="41910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37186" y="1796891"/>
              <a:ext cx="665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Regulator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64780" y="2136458"/>
              <a:ext cx="29869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regulate(Thermometer, Heater, double, double)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00864" y="274653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71761" y="2886551"/>
              <a:ext cx="907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Thermometer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25690" y="3226118"/>
              <a:ext cx="984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read(): double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89746" y="266557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78961" y="2805589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Heater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14572" y="3145155"/>
              <a:ext cx="76962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engage()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disengage()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20339" y="3920966"/>
              <a:ext cx="1410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ChannelThermometer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27613" y="3920966"/>
              <a:ext cx="974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ChannelHeater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680835" y="4758690"/>
            <a:ext cx="4977765" cy="928688"/>
            <a:chOff x="6680835" y="4758690"/>
            <a:chExt cx="4977765" cy="928688"/>
          </a:xfrm>
        </p:grpSpPr>
        <p:sp>
          <p:nvSpPr>
            <p:cNvPr id="52" name="Rectangle 52"/>
            <p:cNvSpPr/>
            <p:nvPr/>
          </p:nvSpPr>
          <p:spPr>
            <a:xfrm>
              <a:off x="6680835" y="4758690"/>
              <a:ext cx="4977765" cy="928688"/>
            </a:xfrm>
            <a:prstGeom prst="roundRect">
              <a:avLst>
                <a:gd name="adj" fmla="val 143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4892040"/>
              <a:ext cx="47625" cy="6619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5625" y="49453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98297" y="49782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8767" y="5290185"/>
              <a:ext cx="4359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源课件写的是 `h.Engate()`，应为 `h.Engage()`。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8373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依赖关系倒过来了：高层的调节策略不再依赖任何温度计或熔炉的特定细节，算法可以直接搬到另一套硬件上。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41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831" y="407194"/>
              <a:ext cx="2207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依赖倒置原则 DIP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三条启发与一个例外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202055"/>
            <a:chOff x="533400" y="1524000"/>
            <a:chExt cx="5626418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4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启发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1793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依赖于抽象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9348" y="20616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任何对象都不应该持有一个指向具体类的指针或引用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3900" y="23983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9348" y="234648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任何类都不应该从具体类派生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2890838"/>
            <a:ext cx="5626418" cy="1487805"/>
            <a:chOff x="533400" y="2890838"/>
            <a:chExt cx="5626418" cy="1487805"/>
          </a:xfrm>
        </p:grpSpPr>
        <p:sp>
          <p:nvSpPr>
            <p:cNvPr id="16" name="Rectangle 16"/>
            <p:cNvSpPr/>
            <p:nvPr/>
          </p:nvSpPr>
          <p:spPr>
            <a:xfrm>
              <a:off x="533400" y="2890838"/>
              <a:ext cx="5626418" cy="1487805"/>
            </a:xfrm>
            <a:prstGeom prst="roundRect">
              <a:avLst>
                <a:gd name="adj" fmla="val 896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4375" y="3071812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3419" y="3104674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启发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1793" y="311229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设计接口而非设计实现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348138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9348" y="342852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用继承或实现来避免对具体类的直接绑定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3900" y="37661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9348" y="371332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抽象类和接口倾向于较少的变化，易于修改和扩展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3900" y="40509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9348" y="399811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不要强制修改那些抽象接口和抽象类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543425"/>
            <a:ext cx="5626418" cy="1143952"/>
            <a:chOff x="533400" y="4543425"/>
            <a:chExt cx="5626418" cy="1143952"/>
          </a:xfrm>
        </p:grpSpPr>
        <p:sp>
          <p:nvSpPr>
            <p:cNvPr id="27" name="Rectangle 27"/>
            <p:cNvSpPr/>
            <p:nvPr/>
          </p:nvSpPr>
          <p:spPr>
            <a:xfrm>
              <a:off x="533400" y="4543425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67677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7244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147" y="47572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506491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有些类不可能变化，在可以直接使用具体类的情况下不需要插入抽象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层，例如字符串类。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464618" y="1524000"/>
            <a:ext cx="5193982" cy="1160145"/>
            <a:chOff x="6464618" y="1524000"/>
            <a:chExt cx="5193982" cy="116014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45592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34637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启发 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3011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避免传递依赖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39116" y="206168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避免高层依赖于低层，用抽象类、接口和继承实现来消除传递依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赖。</a:t>
              </a:r>
            </a:p>
          </p:txBody>
        </p:sp>
      </p:grpSp>
      <p:grpSp>
        <p:nvGrpSpPr>
          <p:cNvPr id="69" name="c2-graph-2"/>
          <p:cNvGrpSpPr/>
          <p:nvPr/>
        </p:nvGrpSpPr>
        <p:grpSpPr>
          <a:xfrm>
            <a:off x="6757988" y="2875598"/>
            <a:ext cx="4700526" cy="1957387"/>
            <a:chOff x="6757988" y="2875598"/>
            <a:chExt cx="4700526" cy="1957387"/>
          </a:xfrm>
        </p:grpSpPr>
        <p:sp>
          <p:nvSpPr>
            <p:cNvPr id="39" name="Freeform 39"/>
            <p:cNvSpPr/>
            <p:nvPr/>
          </p:nvSpPr>
          <p:spPr>
            <a:xfrm>
              <a:off x="7243762" y="3322320"/>
              <a:ext cx="9525" cy="273367"/>
            </a:xfrm>
            <a:custGeom>
              <a:avLst/>
              <a:gdLst/>
              <a:ahLst/>
              <a:cxnLst/>
              <a:rect l="l" t="t" r="r" b="b"/>
              <a:pathLst>
                <a:path w="9525" h="273367">
                  <a:moveTo>
                    <a:pt x="0" y="0"/>
                  </a:moveTo>
                  <a:lnTo>
                    <a:pt x="0" y="2733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196138" y="35956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243762" y="4030980"/>
              <a:ext cx="9525" cy="273367"/>
            </a:xfrm>
            <a:custGeom>
              <a:avLst/>
              <a:gdLst/>
              <a:ahLst/>
              <a:cxnLst/>
              <a:rect l="l" t="t" r="r" b="b"/>
              <a:pathLst>
                <a:path w="9525" h="273367">
                  <a:moveTo>
                    <a:pt x="0" y="0"/>
                  </a:moveTo>
                  <a:lnTo>
                    <a:pt x="0" y="2733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196138" y="43043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793605" y="3253740"/>
              <a:ext cx="218122" cy="75247"/>
            </a:xfrm>
            <a:custGeom>
              <a:avLst/>
              <a:gdLst/>
              <a:ahLst/>
              <a:cxnLst/>
              <a:rect l="l" t="t" r="r" b="b"/>
              <a:pathLst>
                <a:path w="218122" h="75247">
                  <a:moveTo>
                    <a:pt x="0" y="0"/>
                  </a:moveTo>
                  <a:lnTo>
                    <a:pt x="218122" y="752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996488" y="328326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6200"/>
                  </a:moveTo>
                  <a:lnTo>
                    <a:pt x="0" y="9048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799320" y="3717608"/>
              <a:ext cx="211455" cy="62865"/>
            </a:xfrm>
            <a:custGeom>
              <a:avLst/>
              <a:gdLst/>
              <a:ahLst/>
              <a:cxnLst/>
              <a:rect l="l" t="t" r="r" b="b"/>
              <a:pathLst>
                <a:path w="211455" h="62865">
                  <a:moveTo>
                    <a:pt x="0" y="62865"/>
                  </a:moveTo>
                  <a:lnTo>
                    <a:pt x="2114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9996488" y="367188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9050"/>
                  </a:moveTo>
                  <a:lnTo>
                    <a:pt x="27623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799320" y="4063365"/>
              <a:ext cx="211455" cy="62865"/>
            </a:xfrm>
            <a:custGeom>
              <a:avLst/>
              <a:gdLst/>
              <a:ahLst/>
              <a:cxnLst/>
              <a:rect l="l" t="t" r="r" b="b"/>
              <a:pathLst>
                <a:path w="211455" h="62865">
                  <a:moveTo>
                    <a:pt x="0" y="0"/>
                  </a:moveTo>
                  <a:lnTo>
                    <a:pt x="211455" y="628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996488" y="408051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2390"/>
                  </a:moveTo>
                  <a:lnTo>
                    <a:pt x="0" y="91440"/>
                  </a:lnTo>
                  <a:lnTo>
                    <a:pt x="276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799320" y="4477702"/>
              <a:ext cx="210503" cy="59055"/>
            </a:xfrm>
            <a:custGeom>
              <a:avLst/>
              <a:gdLst/>
              <a:ahLst/>
              <a:cxnLst/>
              <a:rect l="l" t="t" r="r" b="b"/>
              <a:pathLst>
                <a:path w="210503" h="59055">
                  <a:moveTo>
                    <a:pt x="0" y="59055"/>
                  </a:moveTo>
                  <a:lnTo>
                    <a:pt x="2105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9997440" y="4431982"/>
              <a:ext cx="103823" cy="91440"/>
            </a:xfrm>
            <a:custGeom>
              <a:avLst/>
              <a:gdLst/>
              <a:ahLst/>
              <a:cxnLst/>
              <a:rect l="l" t="t" r="r" b="b"/>
              <a:pathLst>
                <a:path w="103823" h="91440">
                  <a:moveTo>
                    <a:pt x="103823" y="20002"/>
                  </a:moveTo>
                  <a:lnTo>
                    <a:pt x="25718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57988" y="2982278"/>
              <a:ext cx="971550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57988" y="3690938"/>
              <a:ext cx="971550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57988" y="4399598"/>
              <a:ext cx="971550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843962" y="2929890"/>
              <a:ext cx="955358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01262" y="3350895"/>
              <a:ext cx="1036320" cy="372428"/>
            </a:xfrm>
            <a:prstGeom prst="roundRect">
              <a:avLst>
                <a:gd name="adj" fmla="val 2557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843962" y="3759518"/>
              <a:ext cx="955358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01262" y="4120515"/>
              <a:ext cx="1036320" cy="372428"/>
            </a:xfrm>
            <a:prstGeom prst="roundRect">
              <a:avLst>
                <a:gd name="adj" fmla="val 2557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843962" y="4509135"/>
              <a:ext cx="955358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28682" y="3087052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57581" y="3795712"/>
              <a:ext cx="772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Mechanism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06520" y="4504372"/>
              <a:ext cx="474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Utility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06085" y="3027045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Policy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80331" y="3471862"/>
              <a:ext cx="1678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«interface» Mechanism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34983" y="3856673"/>
              <a:ext cx="772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Mechanism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28948" y="4241482"/>
              <a:ext cx="138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«interface» Utility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83922" y="4605338"/>
              <a:ext cx="474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Utility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55727" y="28755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传递依赖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70923" y="287559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消除传递依赖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9941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 模块的例子同理：直接写死 Keyboard 和 Print，换成写磁盘时就没法复用；改成依赖 Reader、Writer 两个接口就能复用。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8946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 LoD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只和你直接的朋友通信，不要跟陌生人说话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朋友圈的五个条件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两个知道得太多的例子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中介类会膨胀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932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833" y="407194"/>
              <a:ext cx="2092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迪米特法则 LoD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迪米特法则：每个类对别的类知道得越少越好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1884998"/>
            <a:chOff x="533400" y="1524000"/>
            <a:chExt cx="5626418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079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迪米特法则（LoD），又叫最少知道原则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049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06168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一个软件实体应当尽可能少地与其他软件实体发生相互作用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23355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234648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每一个软件实体对其他软件实体都只有最少的知识，而且局限于那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些与本实体密切相关的实体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141" y="2870835"/>
              <a:ext cx="489794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1987 年秋由美国 Northeastern University 的 Ian Holland 提出，发表于 OOPSLA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'88，后因《程序员修炼之道》而广为人知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573780"/>
            <a:ext cx="5626418" cy="2057400"/>
            <a:chOff x="533400" y="3573780"/>
            <a:chExt cx="5626418" cy="2057400"/>
          </a:xfrm>
        </p:grpSpPr>
        <p:sp>
          <p:nvSpPr>
            <p:cNvPr id="20" name="Rectangle 20"/>
            <p:cNvSpPr/>
            <p:nvPr/>
          </p:nvSpPr>
          <p:spPr>
            <a:xfrm>
              <a:off x="533400" y="3573780"/>
              <a:ext cx="5626418" cy="2057400"/>
            </a:xfrm>
            <a:prstGeom prst="roundRect">
              <a:avLst>
                <a:gd name="adj" fmla="val 64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375" y="375475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2996" y="378761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朋友圈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5128" y="3794284"/>
              <a:ext cx="2995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满足其一就是"朋友"，否则是"陌生人"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4375" y="409956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6282" y="41351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123" y="4110514"/>
              <a:ext cx="1727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当前对象本身（this）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4375" y="438435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6282" y="44199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4123" y="43962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以参数形式传入当前对象方法中的对象（依赖）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14375" y="46701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6282" y="47047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4123" y="468106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当前对象的实例变量直接引用的对象（关联）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14375" y="49549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6282" y="49905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4123" y="49658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实例变量是聚集时，聚集中的元素（聚集）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4375" y="523970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6282" y="52753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123" y="525065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当前对象所创建的对象（组合）</a:t>
              </a:r>
            </a:p>
          </p:txBody>
        </p:sp>
      </p:grpSp>
      <p:grpSp>
        <p:nvGrpSpPr>
          <p:cNvPr id="62" name="c2-graph-1"/>
          <p:cNvGrpSpPr/>
          <p:nvPr/>
        </p:nvGrpSpPr>
        <p:grpSpPr>
          <a:xfrm>
            <a:off x="6695122" y="1669732"/>
            <a:ext cx="4692968" cy="1813560"/>
            <a:chOff x="6695122" y="1669732"/>
            <a:chExt cx="4692968" cy="1813560"/>
          </a:xfrm>
        </p:grpSpPr>
        <p:sp>
          <p:nvSpPr>
            <p:cNvPr id="40" name="Freeform 40"/>
            <p:cNvSpPr/>
            <p:nvPr/>
          </p:nvSpPr>
          <p:spPr>
            <a:xfrm>
              <a:off x="7585710" y="2172652"/>
              <a:ext cx="939165" cy="257175"/>
            </a:xfrm>
            <a:custGeom>
              <a:avLst/>
              <a:gdLst/>
              <a:ahLst/>
              <a:cxnLst/>
              <a:rect l="l" t="t" r="r" b="b"/>
              <a:pathLst>
                <a:path w="939165" h="257175">
                  <a:moveTo>
                    <a:pt x="0" y="0"/>
                  </a:moveTo>
                  <a:lnTo>
                    <a:pt x="939165" y="257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511540" y="2383155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71438"/>
                  </a:moveTo>
                  <a:lnTo>
                    <a:pt x="0" y="92392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585710" y="2741295"/>
              <a:ext cx="939165" cy="287655"/>
            </a:xfrm>
            <a:custGeom>
              <a:avLst/>
              <a:gdLst/>
              <a:ahLst/>
              <a:cxnLst/>
              <a:rect l="l" t="t" r="r" b="b"/>
              <a:pathLst>
                <a:path w="939165" h="287655">
                  <a:moveTo>
                    <a:pt x="0" y="287655"/>
                  </a:moveTo>
                  <a:lnTo>
                    <a:pt x="939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511540" y="269557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7145"/>
                  </a:moveTo>
                  <a:lnTo>
                    <a:pt x="27622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506902" y="2028825"/>
              <a:ext cx="982980" cy="377190"/>
            </a:xfrm>
            <a:custGeom>
              <a:avLst/>
              <a:gdLst/>
              <a:ahLst/>
              <a:cxnLst/>
              <a:rect l="l" t="t" r="r" b="b"/>
              <a:pathLst>
                <a:path w="982980" h="377190">
                  <a:moveTo>
                    <a:pt x="0" y="377190"/>
                  </a:moveTo>
                  <a:lnTo>
                    <a:pt x="9829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472738" y="1985010"/>
              <a:ext cx="105727" cy="88582"/>
            </a:xfrm>
            <a:custGeom>
              <a:avLst/>
              <a:gdLst/>
              <a:ahLst/>
              <a:cxnLst/>
              <a:rect l="l" t="t" r="r" b="b"/>
              <a:pathLst>
                <a:path w="105727" h="88582">
                  <a:moveTo>
                    <a:pt x="105727" y="9525"/>
                  </a:moveTo>
                  <a:lnTo>
                    <a:pt x="34290" y="88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506902" y="2576512"/>
              <a:ext cx="976312" cy="9525"/>
            </a:xfrm>
            <a:custGeom>
              <a:avLst/>
              <a:gdLst/>
              <a:ahLst/>
              <a:cxnLst/>
              <a:rect l="l" t="t" r="r" b="b"/>
              <a:pathLst>
                <a:path w="976312" h="9525">
                  <a:moveTo>
                    <a:pt x="0" y="0"/>
                  </a:moveTo>
                  <a:lnTo>
                    <a:pt x="9763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83215" y="25288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506902" y="2747010"/>
              <a:ext cx="982980" cy="377190"/>
            </a:xfrm>
            <a:custGeom>
              <a:avLst/>
              <a:gdLst/>
              <a:ahLst/>
              <a:cxnLst/>
              <a:rect l="l" t="t" r="r" b="b"/>
              <a:pathLst>
                <a:path w="982980" h="377190">
                  <a:moveTo>
                    <a:pt x="0" y="0"/>
                  </a:moveTo>
                  <a:lnTo>
                    <a:pt x="982980" y="3771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472738" y="3079432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79058"/>
                  </a:moveTo>
                  <a:lnTo>
                    <a:pt x="0" y="88583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5122" y="1872615"/>
              <a:ext cx="890588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5122" y="2987992"/>
              <a:ext cx="890588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616315" y="2389822"/>
              <a:ext cx="890588" cy="372428"/>
            </a:xfrm>
            <a:prstGeom prst="roundRect">
              <a:avLst>
                <a:gd name="adj" fmla="val 2557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578465" y="1669732"/>
              <a:ext cx="80962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578465" y="2406968"/>
              <a:ext cx="80962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578465" y="3143250"/>
              <a:ext cx="809625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79454" y="1985010"/>
              <a:ext cx="520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购房者A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9454" y="3100388"/>
              <a:ext cx="520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购房者B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44724" y="25107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售楼处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93467" y="1774507"/>
              <a:ext cx="3796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楼盘A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93467" y="2510790"/>
              <a:ext cx="3796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楼盘B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93467" y="3248025"/>
              <a:ext cx="3796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楼盘C</a:t>
              </a:r>
            </a:p>
          </p:txBody>
        </p:sp>
      </p:grpSp>
      <p:grpSp>
        <p:nvGrpSpPr>
          <p:cNvPr id="64" name="c2-text-2"/>
          <p:cNvGrpSpPr/>
          <p:nvPr/>
        </p:nvGrpSpPr>
        <p:grpSpPr>
          <a:xfrm>
            <a:off x="6459284" y="3810952"/>
            <a:ext cx="4957953" cy="205359"/>
            <a:chOff x="6459284" y="3810952"/>
            <a:chExt cx="4957953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6459284" y="3810952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购房者不必直接找每个楼盘，通过售楼处了解情况，与楼盘之间的耦合就少了。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105240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两条解析：出现在成员变量、方法参数、方法返回值中的类是朋友，只出现在局部变量里的类不是；尽量不暴露独属于自己的方法和属性。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932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833" y="407194"/>
              <a:ext cx="2092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迪米特法则 LoD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坏例子一：方法体内部凭空造出一个陌生类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1912620"/>
            <a:chOff x="533400" y="1524000"/>
            <a:chExt cx="5410200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540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违反 LoD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5075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60223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501009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Teacher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command(GroupLeader leader)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List&lt;Student&gt; students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20;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students.add(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leader.countStudents(students);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01402"/>
            <a:ext cx="5410200" cy="1920240"/>
            <a:chOff x="533400" y="3601402"/>
            <a:chExt cx="5410200" cy="1920240"/>
          </a:xfrm>
        </p:grpSpPr>
        <p:sp>
          <p:nvSpPr>
            <p:cNvPr id="13" name="Rectangle 13"/>
            <p:cNvSpPr/>
            <p:nvPr/>
          </p:nvSpPr>
          <p:spPr>
            <a:xfrm>
              <a:off x="533400" y="3601402"/>
              <a:ext cx="5410200" cy="192024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34752"/>
              <a:ext cx="47625" cy="16535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37823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7" y="38152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122896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 只出现在 command 的局部变量里，不属于 Teacher 的朋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友。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65058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方法是类的一个行为，类竟然不知道自己的行为与其他类产生了依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赖关系，这是不允许的。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524000"/>
            <a:ext cx="5410200" cy="3319462"/>
            <a:chOff x="6248400" y="1524000"/>
            <a:chExt cx="5410200" cy="3319462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调整后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797" y="1935956"/>
              <a:ext cx="4110863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Teacher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command(GroupLeader leader)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leader.countStudents();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GroupLeader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List&lt;Student&gt; students;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GroupLeader(List&lt;Student&gt; students)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.students = students;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countStudents()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"学生数量是："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students.size());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bullets-2"/>
          <p:cNvGrpSpPr/>
          <p:nvPr/>
        </p:nvGrpSpPr>
        <p:grpSpPr>
          <a:xfrm>
            <a:off x="6248400" y="5029676"/>
            <a:ext cx="3156094" cy="541782"/>
            <a:chOff x="6248400" y="5029676"/>
            <a:chExt cx="3156094" cy="541782"/>
          </a:xfrm>
        </p:grpSpPr>
        <p:sp>
          <p:nvSpPr>
            <p:cNvPr id="24" name="Freeform 24"/>
            <p:cNvSpPr/>
            <p:nvPr/>
          </p:nvSpPr>
          <p:spPr>
            <a:xfrm>
              <a:off x="6248400" y="505587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79096" y="5029676"/>
              <a:ext cx="2925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Teacher 只认识 GroupLeader 一个类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248400" y="534924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9096" y="53220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学生名单归谁管，就由谁去数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9" name="Rectangle 2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6039326"/>
              <a:ext cx="10208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更正：源课件调整后的代码里打印的是"女生数量是"，与方法名 countStudents 和造出的 20 个 Student 不符，应为"学生数量是"。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932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833" y="407194"/>
              <a:ext cx="2092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迪米特法则 LoD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坏例子二：对朋友知道得太多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410200" cy="2791778"/>
            <a:chOff x="533400" y="1524000"/>
            <a:chExt cx="5410200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540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违反 LoD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48138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65760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1935956"/>
              <a:ext cx="3295650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WashingMachine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receiveClothes()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wash()  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drying()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washClothes(WashingMachine wm)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wm.receiveClothes();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wm.wash();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wm.drying();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480560"/>
            <a:ext cx="5410200" cy="1185862"/>
            <a:chOff x="533400" y="4480560"/>
            <a:chExt cx="5410200" cy="1185862"/>
          </a:xfrm>
        </p:grpSpPr>
        <p:sp>
          <p:nvSpPr>
            <p:cNvPr id="14" name="Rectangle 14"/>
            <p:cNvSpPr/>
            <p:nvPr/>
          </p:nvSpPr>
          <p:spPr>
            <a:xfrm>
              <a:off x="533400" y="448056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61391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46615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46943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5002054"/>
              <a:ext cx="46621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Person 要洗衣服，具体洗衣机怎么洗不需要知道。washClothes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一连调用洗衣机的三个方法，这三件事都该是洗衣机自己的事。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2791778"/>
            <a:chOff x="6248400" y="1524000"/>
            <a:chExt cx="5410200" cy="2791778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调整后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207549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67450" y="260223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67450" y="277844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295465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935956"/>
              <a:ext cx="3295650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WashingMachine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automatic()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receiveClothes(); wash(); drying();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receiveClothes()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wash()  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drying()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washClothes(WashingMachine wm)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wm.automatic();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248400" y="4480560"/>
            <a:ext cx="5410200" cy="1185862"/>
            <a:chOff x="6248400" y="4480560"/>
            <a:chExt cx="5410200" cy="1185862"/>
          </a:xfrm>
        </p:grpSpPr>
        <p:sp>
          <p:nvSpPr>
            <p:cNvPr id="28" name="Rectangle 28"/>
            <p:cNvSpPr/>
            <p:nvPr/>
          </p:nvSpPr>
          <p:spPr>
            <a:xfrm>
              <a:off x="6248400" y="448056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29375" y="46615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3944" y="46943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两条总结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38900" y="505396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94348" y="5002054"/>
              <a:ext cx="4338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朋友间也是有距离的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：public 成员越多，变更波及面越大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38900" y="533876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94348" y="528685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是自己的就是自己的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：方法放在本类没有副作用，就放在本类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6" name="Rectangle 3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6039326"/>
              <a:ext cx="76142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判据：一个方法里出现连续两级以上的调用（a.getB().getC().do()），基本就是知道得太多了。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932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833" y="407194"/>
              <a:ext cx="2092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迪米特法则 LoD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判别依据与边界：中介类不是越多越好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291715"/>
            <a:chOff x="533400" y="1524000"/>
            <a:chExt cx="541020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三个检查点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7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3940" y="212979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这个方法调用的对象，是不是都来自 this、参数、成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员变量或本方法创建的对象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7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3940" y="27508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有没有连续穿过两个对象去拿第三个对象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2950" y="30727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7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3940" y="308610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这个类的 public 成员里，有没有本可以改成 private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006215"/>
            <a:ext cx="5410200" cy="1602105"/>
            <a:chOff x="533400" y="4006215"/>
            <a:chExt cx="5410200" cy="1602105"/>
          </a:xfrm>
        </p:grpSpPr>
        <p:sp>
          <p:nvSpPr>
            <p:cNvPr id="21" name="Rectangle 21"/>
            <p:cNvSpPr/>
            <p:nvPr/>
          </p:nvSpPr>
          <p:spPr>
            <a:xfrm>
              <a:off x="533400" y="4006215"/>
              <a:ext cx="5410200" cy="1602105"/>
            </a:xfrm>
            <a:prstGeom prst="roundRect">
              <a:avLst>
                <a:gd name="adj" fmla="val 71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707255"/>
              <a:ext cx="200026" cy="200025"/>
              <a:chOff x="738188" y="4707255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7072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47517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48628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426268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迪米特法则要求类"羞涩"一点，尽量不对外公布太多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public 方法和非静态的 public 变量，多使用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private、protected。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2291715"/>
            <a:chOff x="6248400" y="1524000"/>
            <a:chExt cx="5410200" cy="229171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7078" y="1768792"/>
              <a:ext cx="1519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 LoD 的代价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迪米特法则不希望类之间建立直接的接触。真的需要建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立联系时，希望联系尽量少，或者通过中介类来转达。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2750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后果是系统中会出现大量中介类，它们存在的唯一理由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就是传递调用关系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3371850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这在一定程度上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增加了系统的复杂度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006215"/>
            <a:ext cx="5410200" cy="1602105"/>
            <a:chOff x="6248400" y="4006215"/>
            <a:chExt cx="5410200" cy="1602105"/>
          </a:xfrm>
        </p:grpSpPr>
        <p:sp>
          <p:nvSpPr>
            <p:cNvPr id="39" name="Rectangle 39"/>
            <p:cNvSpPr/>
            <p:nvPr/>
          </p:nvSpPr>
          <p:spPr>
            <a:xfrm>
              <a:off x="6248400" y="400621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79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81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0330" y="459295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耦合降低的收益要大于多出来的中介类的维护成本，这条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原则才值得用。跨越两三个对象的一次性调用，未必值得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专门建一个中介类。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后面的外观模式、中介者模式就是把迪米特法则固化下来的两个结构，学到那里可以回头对照这一页。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第八部分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2885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合成复用原则 CARP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尽量使用组合聚合，而不是继承，来达到复用目的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角色不是种类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工资算法不该靠继承分叉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132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Coad 四条件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28" y="407194"/>
              <a:ext cx="2341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合成复用原则 CARP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合成复用原则：先想组合，再想继承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40192"/>
            <a:chOff x="533400" y="1524000"/>
            <a:chExt cx="5626418" cy="1540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9973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合成复用原则（CARP，又称 CRP）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尽量使用组合聚合而非继承来达到复用目的。也就是在一个新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对象中使用一些已有的对象，使之成为新对象的一部分，新对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象通过向这些对象委托功能来复用它们。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161" y="3268504"/>
            <a:ext cx="5633657" cy="1230249"/>
            <a:chOff x="526161" y="3268504"/>
            <a:chExt cx="5633657" cy="1230249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2685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9096" y="3268504"/>
              <a:ext cx="399999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整体与部分的关系，表示拥有，是引用的聚合（by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Reference）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395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39523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9096" y="3952399"/>
              <a:ext cx="47033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更强的拥有，新对象支配组成部分的创建和湮灭，成员对象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不能与另一个组合共享，是值的聚合（by Value）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622482"/>
            <a:ext cx="5626418" cy="1018222"/>
            <a:chOff x="533400" y="4622482"/>
            <a:chExt cx="5626418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4622482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032058"/>
              <a:ext cx="200026" cy="200026"/>
              <a:chOff x="738188" y="503205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0320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0987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1320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770596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面向对象设计中实现复用有两种基本办法，一是组合聚合，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二是继承。要正确选择，必须透彻理解里氏替换原则和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Coad 法则。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464618" y="1524000"/>
            <a:ext cx="5193982" cy="2537079"/>
            <a:chOff x="6464618" y="1524000"/>
            <a:chExt cx="5193982" cy="2537079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21270" r="0" b="21269"/>
            <a:stretch>
              <a:fillRect/>
            </a:stretch>
          </p:blipFill>
          <p:spPr>
            <a:xfrm>
              <a:off x="6464618" y="1524000"/>
              <a:ext cx="5193982" cy="2238375"/>
            </a:xfrm>
            <a:prstGeom prst="roundRect">
              <a:avLst>
                <a:gd name="adj" fmla="val 5957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431215" y="385572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缝死的补丁只能有一个，别上去的可以同时有好几个</a:t>
              </a:r>
            </a:p>
          </p:txBody>
        </p:sp>
      </p:grpSp>
      <p:grpSp>
        <p:nvGrpSpPr>
          <p:cNvPr id="34" name="c2-bullets-2"/>
          <p:cNvGrpSpPr/>
          <p:nvPr/>
        </p:nvGrpSpPr>
        <p:grpSpPr>
          <a:xfrm>
            <a:off x="6464618" y="4242911"/>
            <a:ext cx="4846548" cy="605410"/>
            <a:chOff x="6464618" y="4242911"/>
            <a:chExt cx="4846548" cy="605410"/>
          </a:xfrm>
        </p:grpSpPr>
        <p:sp>
          <p:nvSpPr>
            <p:cNvPr id="30" name="Freeform 30"/>
            <p:cNvSpPr/>
            <p:nvPr/>
          </p:nvSpPr>
          <p:spPr>
            <a:xfrm>
              <a:off x="6464618" y="427291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8838" y="424291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组合关系可以在运行期更换，继承关系编译期就定死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464618" y="459962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8838" y="456961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一个对象可以同时组合多个部分，却只能继承一条主线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5" name="Rectangle 3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6011704"/>
              <a:ext cx="99357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只有两个类满足里氏替换原则时，它们之间才可能是 is-a 关系；是 has-a 关系却设计成继承，一定会违反里氏替换。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28" y="407194"/>
              <a:ext cx="2341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合成复用原则 CARP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坏例子：把角色当成了种类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09698" cy="264033"/>
            <a:chOff x="526542" y="1545907"/>
            <a:chExt cx="900969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096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把"人"当成一个类，把"雇员""经理""学生"当成"人"的派生类，错在把角色的等级结构和人的等级结构混淆了。</a:t>
              </a:r>
            </a:p>
          </p:txBody>
        </p:sp>
      </p:grpSp>
      <p:grpSp>
        <p:nvGrpSpPr>
          <p:cNvPr id="37" name="c1-uml-1"/>
          <p:cNvGrpSpPr/>
          <p:nvPr/>
        </p:nvGrpSpPr>
        <p:grpSpPr>
          <a:xfrm>
            <a:off x="1314450" y="1999298"/>
            <a:ext cx="3848100" cy="1559242"/>
            <a:chOff x="1314450" y="1999298"/>
            <a:chExt cx="3848100" cy="1559242"/>
          </a:xfrm>
        </p:grpSpPr>
        <p:sp>
          <p:nvSpPr>
            <p:cNvPr id="9" name="Freeform 9"/>
            <p:cNvSpPr/>
            <p:nvPr/>
          </p:nvSpPr>
          <p:spPr>
            <a:xfrm>
              <a:off x="1885950" y="2495550"/>
              <a:ext cx="1352550" cy="70485"/>
            </a:xfrm>
            <a:custGeom>
              <a:avLst/>
              <a:gdLst/>
              <a:ahLst/>
              <a:cxnLst/>
              <a:rect l="l" t="t" r="r" b="b"/>
              <a:pathLst>
                <a:path w="1352550" h="70485">
                  <a:moveTo>
                    <a:pt x="0" y="70485"/>
                  </a:moveTo>
                  <a:lnTo>
                    <a:pt x="0" y="0"/>
                  </a:lnTo>
                  <a:lnTo>
                    <a:pt x="1352550" y="0"/>
                  </a:lnTo>
                  <a:lnTo>
                    <a:pt x="1352550" y="5524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5158" y="24250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495550"/>
              <a:ext cx="1352550" cy="70485"/>
            </a:xfrm>
            <a:custGeom>
              <a:avLst/>
              <a:gdLst/>
              <a:ahLst/>
              <a:cxnLst/>
              <a:rect l="l" t="t" r="r" b="b"/>
              <a:pathLst>
                <a:path w="1352550" h="70485">
                  <a:moveTo>
                    <a:pt x="1352550" y="70485"/>
                  </a:moveTo>
                  <a:lnTo>
                    <a:pt x="1352550" y="0"/>
                  </a:lnTo>
                  <a:lnTo>
                    <a:pt x="0" y="0"/>
                  </a:ln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65158" y="24250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3062288"/>
              <a:ext cx="1352550" cy="70485"/>
            </a:xfrm>
            <a:custGeom>
              <a:avLst/>
              <a:gdLst/>
              <a:ahLst/>
              <a:cxnLst/>
              <a:rect l="l" t="t" r="r" b="b"/>
              <a:pathLst>
                <a:path w="1352550" h="70485">
                  <a:moveTo>
                    <a:pt x="1352550" y="70485"/>
                  </a:moveTo>
                  <a:lnTo>
                    <a:pt x="1352550" y="0"/>
                  </a:lnTo>
                  <a:lnTo>
                    <a:pt x="0" y="0"/>
                  </a:ln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12608" y="29918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3062288"/>
              <a:ext cx="1352550" cy="70485"/>
            </a:xfrm>
            <a:custGeom>
              <a:avLst/>
              <a:gdLst/>
              <a:ahLst/>
              <a:cxnLst/>
              <a:rect l="l" t="t" r="r" b="b"/>
              <a:pathLst>
                <a:path w="1352550" h="70485">
                  <a:moveTo>
                    <a:pt x="0" y="70485"/>
                  </a:moveTo>
                  <a:lnTo>
                    <a:pt x="0" y="0"/>
                  </a:lnTo>
                  <a:lnTo>
                    <a:pt x="1352550" y="0"/>
                  </a:lnTo>
                  <a:lnTo>
                    <a:pt x="1352550" y="5524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17708" y="29918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1999298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74620" y="2005965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67000" y="2229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67000" y="23250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314450" y="256603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322070" y="257270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14450" y="27965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14450" y="28917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19550" y="256603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27170" y="257270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19550" y="27965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019550" y="28917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06992" y="3132772"/>
              <a:ext cx="1262062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614612" y="3139440"/>
              <a:ext cx="1247775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06992" y="3363278"/>
              <a:ext cx="126206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606992" y="3458528"/>
              <a:ext cx="126206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02826" y="2055019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77576" y="2621756"/>
              <a:ext cx="616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17282" y="2621756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61312" y="3188494"/>
              <a:ext cx="11543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EmployeeStudent</a:t>
              </a:r>
            </a:p>
          </p:txBody>
        </p:sp>
      </p:grpSp>
      <p:grpSp>
        <p:nvGrpSpPr>
          <p:cNvPr id="47" name="c1-card-2"/>
          <p:cNvGrpSpPr/>
          <p:nvPr/>
        </p:nvGrpSpPr>
        <p:grpSpPr>
          <a:xfrm>
            <a:off x="533400" y="3793808"/>
            <a:ext cx="5410200" cy="1926908"/>
            <a:chOff x="533400" y="3793808"/>
            <a:chExt cx="5410200" cy="1926908"/>
          </a:xfrm>
        </p:grpSpPr>
        <p:sp>
          <p:nvSpPr>
            <p:cNvPr id="38" name="Rectangle 38"/>
            <p:cNvSpPr/>
            <p:nvPr/>
          </p:nvSpPr>
          <p:spPr>
            <a:xfrm>
              <a:off x="533400" y="3793808"/>
              <a:ext cx="5410200" cy="1926908"/>
            </a:xfrm>
            <a:prstGeom prst="roundRect">
              <a:avLst>
                <a:gd name="adj" fmla="val 6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3927158"/>
              <a:ext cx="47625" cy="16602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2475" y="39747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147" y="40076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998" y="4314349"/>
              <a:ext cx="49870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一个人是雇员就不可能是学生，只能再造 EmployeeStudent 类。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62000" y="465201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7448" y="460009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角色每多一种，组合出的类成倍增长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2000" y="493680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7448" y="4884896"/>
              <a:ext cx="2862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不支持多继承，这个类写不出来</a:t>
              </a:r>
            </a:p>
          </p:txBody>
        </p:sp>
      </p:grpSp>
      <p:grpSp>
        <p:nvGrpSpPr>
          <p:cNvPr id="82" name="c2-uml-1"/>
          <p:cNvGrpSpPr/>
          <p:nvPr/>
        </p:nvGrpSpPr>
        <p:grpSpPr>
          <a:xfrm>
            <a:off x="6548438" y="2019300"/>
            <a:ext cx="4779644" cy="1276350"/>
            <a:chOff x="6548438" y="2019300"/>
            <a:chExt cx="4779644" cy="1276350"/>
          </a:xfrm>
        </p:grpSpPr>
        <p:sp>
          <p:nvSpPr>
            <p:cNvPr id="48" name="Freeform 48"/>
            <p:cNvSpPr/>
            <p:nvPr/>
          </p:nvSpPr>
          <p:spPr>
            <a:xfrm>
              <a:off x="7961948" y="2313622"/>
              <a:ext cx="420053" cy="9525"/>
            </a:xfrm>
            <a:custGeom>
              <a:avLst/>
              <a:gdLst/>
              <a:ahLst/>
              <a:cxnLst/>
              <a:rect l="l" t="t" r="r" b="b"/>
              <a:pathLst>
                <a:path w="420053" h="9525">
                  <a:moveTo>
                    <a:pt x="42005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752398" y="225552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150418" y="2651760"/>
              <a:ext cx="1803082" cy="218123"/>
            </a:xfrm>
            <a:custGeom>
              <a:avLst/>
              <a:gdLst/>
              <a:ahLst/>
              <a:cxnLst/>
              <a:rect l="l" t="t" r="r" b="b"/>
              <a:pathLst>
                <a:path w="1803082" h="218123">
                  <a:moveTo>
                    <a:pt x="0" y="218123"/>
                  </a:moveTo>
                  <a:lnTo>
                    <a:pt x="0" y="45720"/>
                  </a:lnTo>
                  <a:lnTo>
                    <a:pt x="1803082" y="45720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880158" y="252603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953500" y="2651760"/>
              <a:ext cx="9525" cy="218123"/>
            </a:xfrm>
            <a:custGeom>
              <a:avLst/>
              <a:gdLst/>
              <a:ahLst/>
              <a:cxnLst/>
              <a:rect l="l" t="t" r="r" b="b"/>
              <a:pathLst>
                <a:path w="9525" h="218123">
                  <a:moveTo>
                    <a:pt x="0" y="21812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880158" y="252603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953500" y="2651760"/>
              <a:ext cx="1803082" cy="218123"/>
            </a:xfrm>
            <a:custGeom>
              <a:avLst/>
              <a:gdLst/>
              <a:ahLst/>
              <a:cxnLst/>
              <a:rect l="l" t="t" r="r" b="b"/>
              <a:pathLst>
                <a:path w="1803082" h="218123">
                  <a:moveTo>
                    <a:pt x="1803082" y="218123"/>
                  </a:moveTo>
                  <a:lnTo>
                    <a:pt x="1803082" y="45720"/>
                  </a:lnTo>
                  <a:lnTo>
                    <a:pt x="0" y="4572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880158" y="252603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548438" y="2019300"/>
              <a:ext cx="120396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55105" y="2025968"/>
              <a:ext cx="118967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48438" y="2249805"/>
              <a:ext cx="12039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48438" y="2506980"/>
              <a:ext cx="12039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382000" y="210026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89620" y="2107882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382000" y="23307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382000" y="24260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578918" y="286988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585585" y="287655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578918" y="31003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578918" y="31956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382000" y="286988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9620" y="287655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1003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382000" y="31956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185082" y="286988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192702" y="287655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185082" y="31003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185082" y="31956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14744" y="2075021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19875" y="2319338"/>
              <a:ext cx="11338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roles: List&lt;Role&gt;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11575" y="2155984"/>
              <a:ext cx="28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842043" y="2925604"/>
              <a:ext cx="616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65768" y="2925604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482815" y="2925604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</p:grpSp>
      <p:grpSp>
        <p:nvGrpSpPr>
          <p:cNvPr id="86" name="c2-code-2"/>
          <p:cNvGrpSpPr/>
          <p:nvPr/>
        </p:nvGrpSpPr>
        <p:grpSpPr>
          <a:xfrm>
            <a:off x="6248400" y="3631882"/>
            <a:ext cx="5410200" cy="2088832"/>
            <a:chOff x="6248400" y="3631882"/>
            <a:chExt cx="5410200" cy="2088832"/>
          </a:xfrm>
        </p:grpSpPr>
        <p:sp>
          <p:nvSpPr>
            <p:cNvPr id="83" name="Rectangle 83"/>
            <p:cNvSpPr/>
            <p:nvPr/>
          </p:nvSpPr>
          <p:spPr>
            <a:xfrm>
              <a:off x="6248400" y="3631882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76797" y="378380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76797" y="4043839"/>
              <a:ext cx="3364103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Role {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Role {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Manager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Role {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Role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List&lt;Role&gt; roles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addRole(Role r) { roles.add(r);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7" name="Rectangle 8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273" y="6039326"/>
              <a:ext cx="9817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is-a 代表一个类是另一个类的一种，has-a 代表一个类是另一个类的一个角色。把 has-a 当成 is-a，是错用继承最常见的原因。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28" y="407194"/>
              <a:ext cx="2341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合成复用原则 CARP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第二个例子：工资算法不该靠派生子类来分叉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uml-1"/>
          <p:cNvGrpSpPr/>
          <p:nvPr/>
        </p:nvGrpSpPr>
        <p:grpSpPr>
          <a:xfrm>
            <a:off x="1314450" y="1648778"/>
            <a:ext cx="3848100" cy="1344930"/>
            <a:chOff x="1314450" y="1648778"/>
            <a:chExt cx="3848100" cy="1344930"/>
          </a:xfrm>
        </p:grpSpPr>
        <p:sp>
          <p:nvSpPr>
            <p:cNvPr id="7" name="Freeform 7"/>
            <p:cNvSpPr/>
            <p:nvPr/>
          </p:nvSpPr>
          <p:spPr>
            <a:xfrm>
              <a:off x="1885950" y="2363152"/>
              <a:ext cx="1352550" cy="204788"/>
            </a:xfrm>
            <a:custGeom>
              <a:avLst/>
              <a:gdLst/>
              <a:ahLst/>
              <a:cxnLst/>
              <a:rect l="l" t="t" r="r" b="b"/>
              <a:pathLst>
                <a:path w="1352550" h="204788">
                  <a:moveTo>
                    <a:pt x="0" y="204788"/>
                  </a:moveTo>
                  <a:lnTo>
                    <a:pt x="0" y="40005"/>
                  </a:lnTo>
                  <a:lnTo>
                    <a:pt x="1352550" y="40005"/>
                  </a:lnTo>
                  <a:lnTo>
                    <a:pt x="13525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65158" y="22374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363152"/>
              <a:ext cx="1352550" cy="204788"/>
            </a:xfrm>
            <a:custGeom>
              <a:avLst/>
              <a:gdLst/>
              <a:ahLst/>
              <a:cxnLst/>
              <a:rect l="l" t="t" r="r" b="b"/>
              <a:pathLst>
                <a:path w="1352550" h="204788">
                  <a:moveTo>
                    <a:pt x="1352550" y="204788"/>
                  </a:moveTo>
                  <a:lnTo>
                    <a:pt x="1352550" y="40005"/>
                  </a:lnTo>
                  <a:lnTo>
                    <a:pt x="0" y="4000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5158" y="22374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653665" y="1648778"/>
              <a:ext cx="116967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661285" y="1656398"/>
              <a:ext cx="11553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53665" y="1879282"/>
              <a:ext cx="11696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53665" y="1974532"/>
              <a:ext cx="11696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14450" y="256794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22070" y="257556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2798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14450" y="2893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19550" y="256794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27170" y="257556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19550" y="2798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19550" y="2893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30126" y="1704499"/>
              <a:ext cx="616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25102" y="2044065"/>
              <a:ext cx="10929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getSalary(): int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5882" y="2623661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Sales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03318" y="2623661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369945"/>
            <a:ext cx="5410200" cy="2181225"/>
            <a:chOff x="533400" y="3369945"/>
            <a:chExt cx="5410200" cy="2181225"/>
          </a:xfrm>
        </p:grpSpPr>
        <p:sp>
          <p:nvSpPr>
            <p:cNvPr id="28" name="Rectangle 28"/>
            <p:cNvSpPr/>
            <p:nvPr/>
          </p:nvSpPr>
          <p:spPr>
            <a:xfrm>
              <a:off x="533400" y="3369945"/>
              <a:ext cx="5410200" cy="2181225"/>
            </a:xfrm>
            <a:prstGeom prst="roundRect">
              <a:avLst>
                <a:gd name="adj" fmla="val 61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503295"/>
              <a:ext cx="47625" cy="19145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3556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0862" y="3589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6762" y="39576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390144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销售转岗做经理，对象类型换不了，只能销毁重建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42576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420147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再加一种计薪方式就要再派生一个子类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475" y="4498181"/>
              <a:ext cx="46200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更正：源课件把 getSalary 写作 getSaraly，getSalary() 的返回值写作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void，应为 int</a:t>
              </a:r>
            </a:p>
          </p:txBody>
        </p:sp>
      </p:grpSp>
      <p:grpSp>
        <p:nvGrpSpPr>
          <p:cNvPr id="70" name="c2-uml-1"/>
          <p:cNvGrpSpPr/>
          <p:nvPr/>
        </p:nvGrpSpPr>
        <p:grpSpPr>
          <a:xfrm>
            <a:off x="6576060" y="1590675"/>
            <a:ext cx="4376738" cy="1553527"/>
            <a:chOff x="6576060" y="1590675"/>
            <a:chExt cx="4376738" cy="1553527"/>
          </a:xfrm>
        </p:grpSpPr>
        <p:sp>
          <p:nvSpPr>
            <p:cNvPr id="38" name="Freeform 38"/>
            <p:cNvSpPr/>
            <p:nvPr/>
          </p:nvSpPr>
          <p:spPr>
            <a:xfrm>
              <a:off x="8835390" y="1965960"/>
              <a:ext cx="885825" cy="9525"/>
            </a:xfrm>
            <a:custGeom>
              <a:avLst/>
              <a:gdLst/>
              <a:ahLst/>
              <a:cxnLst/>
              <a:rect l="l" t="t" r="r" b="b"/>
              <a:pathLst>
                <a:path w="885825" h="9525">
                  <a:moveTo>
                    <a:pt x="8858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25840" y="190881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600950" y="2443162"/>
              <a:ext cx="2705100" cy="113347"/>
            </a:xfrm>
            <a:custGeom>
              <a:avLst/>
              <a:gdLst/>
              <a:ahLst/>
              <a:cxnLst/>
              <a:rect l="l" t="t" r="r" b="b"/>
              <a:pathLst>
                <a:path w="2705100" h="113347">
                  <a:moveTo>
                    <a:pt x="0" y="113347"/>
                  </a:moveTo>
                  <a:lnTo>
                    <a:pt x="0" y="0"/>
                  </a:lnTo>
                  <a:lnTo>
                    <a:pt x="2705100" y="0"/>
                  </a:lnTo>
                  <a:lnTo>
                    <a:pt x="2705100" y="1143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10232708" y="232886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06050" y="2454592"/>
              <a:ext cx="9525" cy="101917"/>
            </a:xfrm>
            <a:custGeom>
              <a:avLst/>
              <a:gdLst/>
              <a:ahLst/>
              <a:cxnLst/>
              <a:rect l="l" t="t" r="r" b="b"/>
              <a:pathLst>
                <a:path w="9525" h="101917">
                  <a:moveTo>
                    <a:pt x="0" y="10191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10232708" y="232886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76060" y="1590675"/>
              <a:ext cx="204978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582728" y="1598295"/>
              <a:ext cx="203549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576060" y="1821180"/>
              <a:ext cx="2049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576060" y="2079308"/>
              <a:ext cx="2049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21215" y="1604010"/>
              <a:ext cx="116967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728835" y="1610678"/>
              <a:ext cx="115538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721215" y="1971675"/>
              <a:ext cx="11696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721215" y="2066925"/>
              <a:ext cx="11696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16115" y="2556510"/>
              <a:ext cx="116967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23735" y="2564130"/>
              <a:ext cx="11553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16115" y="2787015"/>
              <a:ext cx="11696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016115" y="2882265"/>
              <a:ext cx="11696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658350" y="2556510"/>
              <a:ext cx="129444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65970" y="2564130"/>
              <a:ext cx="128016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58350" y="2787015"/>
              <a:ext cx="12944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58350" y="2882265"/>
              <a:ext cx="12944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92576" y="1646396"/>
              <a:ext cx="616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47498" y="1890712"/>
              <a:ext cx="20329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salaryStrategy: SalaryStrategy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47498" y="2148840"/>
              <a:ext cx="10929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getSalary(): int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81161" y="165687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80923" y="1796891"/>
              <a:ext cx="1050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SalaryStrategy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92652" y="2136458"/>
              <a:ext cx="10929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getSalary(): int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13928" y="2612231"/>
              <a:ext cx="974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SalesStrategy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87552" y="2951798"/>
              <a:ext cx="10929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getSalary(): int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11416" y="2612231"/>
              <a:ext cx="11892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ManagerStrategy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29788" y="2951798"/>
              <a:ext cx="10929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getSalary(): int</a:t>
              </a:r>
            </a:p>
          </p:txBody>
        </p:sp>
      </p:grpSp>
      <p:grpSp>
        <p:nvGrpSpPr>
          <p:cNvPr id="74" name="c2-code-2"/>
          <p:cNvGrpSpPr/>
          <p:nvPr/>
        </p:nvGrpSpPr>
        <p:grpSpPr>
          <a:xfrm>
            <a:off x="6248400" y="3463290"/>
            <a:ext cx="5410200" cy="2088832"/>
            <a:chOff x="6248400" y="3463290"/>
            <a:chExt cx="5410200" cy="2088832"/>
          </a:xfrm>
        </p:grpSpPr>
        <p:sp>
          <p:nvSpPr>
            <p:cNvPr id="71" name="Rectangle 71"/>
            <p:cNvSpPr/>
            <p:nvPr/>
          </p:nvSpPr>
          <p:spPr>
            <a:xfrm>
              <a:off x="6248400" y="346329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76797" y="361521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76797" y="3875246"/>
              <a:ext cx="4322445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SalaryStrategy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getSalary();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SalesStrategy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SalaryStrategy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getSalary()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3000 + 500;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SalaryStrategy strategy;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setStrategy(SalaryStrategy s) { strategy = s;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getSalary()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strategy.getSalary();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5" name="Rectangle 7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8373"/>
              <a:ext cx="9181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换一次计薪方式只要调一次 setSalaryStrategy，同一个 Employee 对象一直活着。这就是后面要学的策略模式。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2111" cy="909257"/>
            <a:chOff x="520446" y="342900"/>
            <a:chExt cx="74621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431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28" y="407194"/>
              <a:ext cx="2341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合成复用原则 CARP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21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判别依据：Coad 法则的四个条件全满足才用继承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410200" cy="2648902"/>
            <a:chOff x="533400" y="1524000"/>
            <a:chExt cx="5410200" cy="26489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8902"/>
            </a:xfrm>
            <a:prstGeom prst="roundRect">
              <a:avLst>
                <a:gd name="adj" fmla="val 503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82677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4356" y="1750695"/>
              <a:ext cx="669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Coad 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59064" y="175641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四条全部满足时，才应当使用继承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5805" y="207835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14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6602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派生类是基类的一个特殊种类，而不是基类的一个角色，也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就是区分 has-a 和 is-a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5805" y="263747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1483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6602" y="264985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永远不会出现需要把派生类换成另一个类的派生类的情况。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不能肯定将来会不会换，就不要用继承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25805" y="31975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1483" y="32359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6602" y="320992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派生类具有扩展基类的责任，而不是置换掉或注销掉基类的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责任。需要大量置换基类行为，就不该继承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5805" y="375761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1483" y="37959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6602" y="376904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只有在分类学角度上有意义时，才可以使用继承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348162"/>
            <a:ext cx="5410200" cy="1016318"/>
            <a:chOff x="533400" y="4348162"/>
            <a:chExt cx="5410200" cy="1016318"/>
          </a:xfrm>
        </p:grpSpPr>
        <p:sp>
          <p:nvSpPr>
            <p:cNvPr id="24" name="Rectangle 24"/>
            <p:cNvSpPr/>
            <p:nvPr/>
          </p:nvSpPr>
          <p:spPr>
            <a:xfrm>
              <a:off x="533400" y="4348162"/>
              <a:ext cx="5410200" cy="1016318"/>
            </a:xfrm>
            <a:prstGeom prst="roundRect">
              <a:avLst>
                <a:gd name="adj" fmla="val 1124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755833"/>
              <a:ext cx="200026" cy="200025"/>
              <a:chOff x="738188" y="475583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7558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48002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49114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4637722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语义上存在明确且稳定不变的 is-a 关系，考虑继承；没有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is-a 关系，或这种关系是可变的，用组合聚合。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248400" y="1524000"/>
            <a:ext cx="5410200" cy="3840480"/>
            <a:chOff x="6248400" y="1524000"/>
            <a:chExt cx="5410200" cy="384048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872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5404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组合聚合复用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9596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继承复用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6449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复用方式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448550" y="1939290"/>
              <a:ext cx="2090738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39038" y="205406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黑箱复用，看不到成员对象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48825" y="205406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白箱复用，基类细节暴露给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派生类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5355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1836" y="2659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9038" y="26598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更好地支持封装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58338" y="2545080"/>
              <a:ext cx="209073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48825" y="2659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破坏封装性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36449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依赖程度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9038" y="316563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实现上的相互依赖比较小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48825" y="306562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基类一改，派生类实现也得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5423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54711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36449" y="37714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绑定时机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39038" y="367141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运行期可以动态更换成员对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8825" y="367141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编译期静态确定，运行期不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41481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61061" y="43772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新实现难度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39038" y="437721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要自己写委托代码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48825" y="427720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较容易，基类功能自动进入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7539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75869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87223" y="49830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9038" y="488299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系统中会有较多的对象需要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48825" y="498300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子类数量容易按乘法增长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1524000"/>
              <a:ext cx="5410200" cy="3840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434262" y="1524000"/>
              <a:ext cx="9525" cy="3840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544050" y="1524000"/>
              <a:ext cx="9525" cy="3840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779770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组合复用的另外几条好处：每个新类可以把焦点集中在一个任务上；新对象可以在运行期动态引用与成员对象类型相同的对象；这种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手段几乎在任何环境都能用。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第九部分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原则之间的关系与取舍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七条原则会互相支撑，也会互相拉扯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谁为谁服务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常见的三处冲突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拿到设计先问哪三句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原则之间的关系与取舍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七条原则怎样互相支撑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663892" y="1815465"/>
            <a:ext cx="5581650" cy="3278505"/>
            <a:chOff x="663892" y="1815465"/>
            <a:chExt cx="5581650" cy="3278505"/>
          </a:xfrm>
        </p:grpSpPr>
        <p:sp>
          <p:nvSpPr>
            <p:cNvPr id="7" name="Freeform 7"/>
            <p:cNvSpPr/>
            <p:nvPr/>
          </p:nvSpPr>
          <p:spPr>
            <a:xfrm>
              <a:off x="2090738" y="2332672"/>
              <a:ext cx="1006792" cy="812482"/>
            </a:xfrm>
            <a:custGeom>
              <a:avLst/>
              <a:gdLst/>
              <a:ahLst/>
              <a:cxnLst/>
              <a:rect l="l" t="t" r="r" b="b"/>
              <a:pathLst>
                <a:path w="1006792" h="812482">
                  <a:moveTo>
                    <a:pt x="0" y="812482"/>
                  </a:moveTo>
                  <a:lnTo>
                    <a:pt x="10067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68002" y="2272665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59055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767138" y="2338388"/>
              <a:ext cx="857250" cy="806767"/>
            </a:xfrm>
            <a:custGeom>
              <a:avLst/>
              <a:gdLst/>
              <a:ahLst/>
              <a:cxnLst/>
              <a:rect l="l" t="t" r="r" b="b"/>
              <a:pathLst>
                <a:path w="857250" h="806767">
                  <a:moveTo>
                    <a:pt x="857250" y="80676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97605" y="2272665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0"/>
                  </a:moveTo>
                  <a:lnTo>
                    <a:pt x="101917" y="30480"/>
                  </a:lnTo>
                  <a:lnTo>
                    <a:pt x="37148" y="1000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65885" y="3673792"/>
              <a:ext cx="345757" cy="1001078"/>
            </a:xfrm>
            <a:custGeom>
              <a:avLst/>
              <a:gdLst/>
              <a:ahLst/>
              <a:cxnLst/>
              <a:rect l="l" t="t" r="r" b="b"/>
              <a:pathLst>
                <a:path w="345757" h="1001078">
                  <a:moveTo>
                    <a:pt x="0" y="1001078"/>
                  </a:moveTo>
                  <a:lnTo>
                    <a:pt x="3457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66875" y="3583305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76200" y="0"/>
                  </a:moveTo>
                  <a:lnTo>
                    <a:pt x="90488" y="105728"/>
                  </a:lnTo>
                  <a:lnTo>
                    <a:pt x="0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751772" y="2365058"/>
              <a:ext cx="617220" cy="2309812"/>
            </a:xfrm>
            <a:custGeom>
              <a:avLst/>
              <a:gdLst/>
              <a:ahLst/>
              <a:cxnLst/>
              <a:rect l="l" t="t" r="r" b="b"/>
              <a:pathLst>
                <a:path w="617220" h="2309812">
                  <a:moveTo>
                    <a:pt x="0" y="2309812"/>
                  </a:moveTo>
                  <a:lnTo>
                    <a:pt x="6172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23272" y="2272665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0485" y="0"/>
                  </a:moveTo>
                  <a:lnTo>
                    <a:pt x="91440" y="104775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784408" y="4884420"/>
              <a:ext cx="108585" cy="9525"/>
            </a:xfrm>
            <a:custGeom>
              <a:avLst/>
              <a:gdLst/>
              <a:ahLst/>
              <a:cxnLst/>
              <a:rect l="l" t="t" r="r" b="b"/>
              <a:pathLst>
                <a:path w="108585" h="9525">
                  <a:moveTo>
                    <a:pt x="0" y="0"/>
                  </a:moveTo>
                  <a:lnTo>
                    <a:pt x="1085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92992" y="48367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009198" y="3668078"/>
              <a:ext cx="502920" cy="1006792"/>
            </a:xfrm>
            <a:custGeom>
              <a:avLst/>
              <a:gdLst/>
              <a:ahLst/>
              <a:cxnLst/>
              <a:rect l="l" t="t" r="r" b="b"/>
              <a:pathLst>
                <a:path w="502920" h="1006792">
                  <a:moveTo>
                    <a:pt x="502920" y="100679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66335" y="358330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0"/>
                  </a:moveTo>
                  <a:lnTo>
                    <a:pt x="85725" y="63817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54618" y="1815465"/>
              <a:ext cx="1600200" cy="457200"/>
            </a:xfrm>
            <a:prstGeom prst="roundRect">
              <a:avLst>
                <a:gd name="adj" fmla="val 2083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04900" y="314515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42422" y="314515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3892" y="4674870"/>
              <a:ext cx="12573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133600" y="4674870"/>
              <a:ext cx="11239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27108" y="4674870"/>
              <a:ext cx="12573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988242" y="4674870"/>
              <a:ext cx="12573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32869" y="1969770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 OCP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15349" y="3289935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 LSP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75274" y="3289935"/>
              <a:ext cx="963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 DIP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9330" y="4810125"/>
              <a:ext cx="1106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合成复用 CARP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75542" y="4810125"/>
              <a:ext cx="840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 LoD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51832" y="4810125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 SRP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35369" y="4810125"/>
              <a:ext cx="963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 ISP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32635" y="2615565"/>
              <a:ext cx="11963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32178" y="265033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继承用对了才敢替换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63302" y="2615565"/>
              <a:ext cx="11963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62845" y="265033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面向接口，实现可换</a:t>
              </a:r>
            </a:p>
          </p:txBody>
        </p:sp>
      </p:grpSp>
      <p:grpSp>
        <p:nvGrpSpPr>
          <p:cNvPr id="58" name="c2-kv-1"/>
          <p:cNvGrpSpPr/>
          <p:nvPr/>
        </p:nvGrpSpPr>
        <p:grpSpPr>
          <a:xfrm>
            <a:off x="6673215" y="1548765"/>
            <a:ext cx="4985385" cy="2933700"/>
            <a:chOff x="6673215" y="1548765"/>
            <a:chExt cx="4985385" cy="2933700"/>
          </a:xfrm>
        </p:grpSpPr>
        <p:sp>
          <p:nvSpPr>
            <p:cNvPr id="38" name="TextBox 38"/>
            <p:cNvSpPr txBox="1"/>
            <p:nvPr/>
          </p:nvSpPr>
          <p:spPr>
            <a:xfrm>
              <a:off x="6673215" y="1548765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OCP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9970" y="15487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目标。其余六条都是为它服务的手段和工具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18688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73215" y="198882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LSP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79970" y="1988820"/>
              <a:ext cx="2961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多态分派是实现 OCP 的主要途径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23088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73215" y="2428875"/>
              <a:ext cx="3288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DIP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79970" y="24288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把依赖指向抽象，扩展时只换实现，不动调用方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2748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3215" y="2868930"/>
              <a:ext cx="3288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ISP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9970" y="2868930"/>
              <a:ext cx="3608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先把接口切小，DIP 依赖的抽象才有意义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31889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73215" y="330898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SRP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9970" y="33089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职责单一的类才切得出职责单一的接口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362902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73215" y="374904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CARP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79970" y="3749040"/>
              <a:ext cx="4045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分不清 is-a 还是 has-a 时选组合，绕开 LSP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40690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3215" y="4189095"/>
              <a:ext cx="378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LoD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79970" y="418909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降低类之间的耦合，改动波及的范围才小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违反其中一条，往往同时违反了其余几条。反过来，修一条也常常把别的几条一起修好。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 · 原则之间的关系与取舍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三处常见的冲突与取舍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11125200" cy="2146935"/>
            <a:chOff x="533400" y="1524000"/>
            <a:chExt cx="11125200" cy="2146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897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56798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两边各自的主张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77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 vs 简单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86672" y="2085022"/>
              <a:ext cx="44546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OCP 要求为可能的变化预留抽象；实际工程要求先写能跑的最简实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1569" y="2085022"/>
              <a:ext cx="3364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变化点没真正出现之前先写简单的，出现第二次时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再抽象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835592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 vs 类数量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6672" y="2835592"/>
              <a:ext cx="4222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SRP 要求按变化理由把类切开；切得越细，类和委托链越长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1569" y="2728912"/>
              <a:ext cx="3364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只在两部分确实会因不同理由、被不同人改动时才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65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372802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 vs 中介类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6672" y="3372802"/>
              <a:ext cx="437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LoD 要求不直接接触，改用中介转达；中介类多了系统更复杂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81569" y="337280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耦合降低的收益要能抵掉中介类的维护成本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11125200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976562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71460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ompare-2"/>
          <p:cNvGrpSpPr/>
          <p:nvPr/>
        </p:nvGrpSpPr>
        <p:grpSpPr>
          <a:xfrm>
            <a:off x="533400" y="3856672"/>
            <a:ext cx="11125200" cy="1632585"/>
            <a:chOff x="533400" y="3856672"/>
            <a:chExt cx="11125200" cy="1632585"/>
          </a:xfrm>
        </p:grpSpPr>
        <p:sp>
          <p:nvSpPr>
            <p:cNvPr id="27" name="Rectangle 27"/>
            <p:cNvSpPr/>
            <p:nvPr/>
          </p:nvSpPr>
          <p:spPr>
            <a:xfrm>
              <a:off x="533400" y="3856672"/>
              <a:ext cx="5181600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990022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8096" y="408384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过度设计的症状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2955" y="448246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546" y="442293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每个类都配一个只有一个实现类的接口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2955" y="480250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9546" y="474297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为还看不出会变的地方先插抽象层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2955" y="512254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546" y="506301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把一个类拆成五个只有一个方法的类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3856672"/>
              <a:ext cx="5181600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86525" y="3990022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1696" y="408384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设计不足的症状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26555" y="448246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3146" y="4422934"/>
              <a:ext cx="31781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新增一种业务类型要改七八个 switch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26555" y="480250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3146" y="474297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一个类里同时有数据库语句、计算逻辑和界面输出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26555" y="512254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3146" y="506301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方法里连续穿过三个对象才拿到要用的数据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762625" y="4339590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07964" y="46072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常见误用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这些原则给的是判断基准，不是必须逐条打勾的检查表。判断一处设计时，先说清它要应对的变化是什么。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自测（一）：开闭、里氏替换、单一职责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499563" cy="278702"/>
            <a:chOff x="526161" y="1547336"/>
            <a:chExt cx="249956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先遮住答案自己写，再对照。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254442"/>
            <a:chOff x="533400" y="1941195"/>
            <a:chExt cx="5410200" cy="125444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2977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开闭原则里的"开"和"闭"各指什么？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增加新代码提供新功能是开，已写好的源代码不改是闭。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71850"/>
            <a:ext cx="5410200" cy="1254442"/>
            <a:chOff x="533400" y="3371850"/>
            <a:chExt cx="5410200" cy="1254442"/>
          </a:xfrm>
        </p:grpSpPr>
        <p:sp>
          <p:nvSpPr>
            <p:cNvPr id="15" name="Rectangle 15"/>
            <p:cNvSpPr/>
            <p:nvPr/>
          </p:nvSpPr>
          <p:spPr>
            <a:xfrm>
              <a:off x="533400" y="337185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56425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359854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3920490"/>
              <a:ext cx="3856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Square 继承 Rectangle，g() 里面积是多少？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223385"/>
              <a:ext cx="4566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16。两个 set 都同时改宽和高，期望的 20 不成立。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801552"/>
            <a:ext cx="5410200" cy="1254442"/>
            <a:chOff x="533400" y="4801552"/>
            <a:chExt cx="5410200" cy="1254442"/>
          </a:xfrm>
        </p:grpSpPr>
        <p:sp>
          <p:nvSpPr>
            <p:cNvPr id="21" name="Rectangle 21"/>
            <p:cNvSpPr/>
            <p:nvPr/>
          </p:nvSpPr>
          <p:spPr>
            <a:xfrm>
              <a:off x="533400" y="480155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5805" y="49939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753" y="50282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947" y="53501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怎么判断一个类承担了多个职责？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947" y="565308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列出引起它被修改的理由，多于一条就多于一个职责。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41195"/>
            <a:ext cx="5410200" cy="1254442"/>
            <a:chOff x="6248400" y="1941195"/>
            <a:chExt cx="5410200" cy="1254442"/>
          </a:xfrm>
        </p:grpSpPr>
        <p:sp>
          <p:nvSpPr>
            <p:cNvPr id="27" name="Rectangle 27"/>
            <p:cNvSpPr/>
            <p:nvPr/>
          </p:nvSpPr>
          <p:spPr>
            <a:xfrm>
              <a:off x="6248400" y="194119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2490788"/>
              <a:ext cx="3598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switch 判断图形类型再分派，违反哪两条？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279273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开闭原则，以及对派生类类型做判断的里氏替换原则。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371850"/>
            <a:ext cx="5410200" cy="1254442"/>
            <a:chOff x="6248400" y="3371850"/>
            <a:chExt cx="5410200" cy="1254442"/>
          </a:xfrm>
        </p:grpSpPr>
        <p:sp>
          <p:nvSpPr>
            <p:cNvPr id="33" name="Rectangle 33"/>
            <p:cNvSpPr/>
            <p:nvPr/>
          </p:nvSpPr>
          <p:spPr>
            <a:xfrm>
              <a:off x="6248400" y="337185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40805" y="356425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9753" y="359854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3947" y="3920490"/>
              <a:ext cx="3496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两个具体类之间的继承违反 LSP，怎么改？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3947" y="422338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抽出只含共同行为的基类，或把继承改成关联。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801552"/>
            <a:ext cx="5410200" cy="1254442"/>
            <a:chOff x="6248400" y="4801552"/>
            <a:chExt cx="5410200" cy="1254442"/>
          </a:xfrm>
        </p:grpSpPr>
        <p:sp>
          <p:nvSpPr>
            <p:cNvPr id="39" name="Rectangle 39"/>
            <p:cNvSpPr/>
            <p:nvPr/>
          </p:nvSpPr>
          <p:spPr>
            <a:xfrm>
              <a:off x="6248400" y="480155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40805" y="49939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9753" y="50282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3947" y="53501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开闭原则能百分之百做到吗？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3947" y="565308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做不到。只能把最可能变化的地方先抽象出来。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自测（二）：接口隔离、依赖倒置、迪米特、合成复用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单一职责原则与接口隔离原则的区别？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48130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SRP 问实体有几条变化理由，ISP 问调用者用到几个方法。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874645"/>
            <a:ext cx="5410200" cy="1185862"/>
            <a:chOff x="533400" y="2874645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28746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396139"/>
              <a:ext cx="26243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依赖倒置原则里"倒置"的是什么？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68093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依赖方向。高层与低层都依赖抽象，低层反过来实现抽象。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226242"/>
            <a:ext cx="5410200" cy="1428750"/>
            <a:chOff x="533400" y="4226242"/>
            <a:chExt cx="54102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533400" y="422624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4072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4400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74678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什么时候才该用继承而不是组合？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032534"/>
              <a:ext cx="5102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Coad 四条全满足：是种类、不会换、只扩展、分类学有意义。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3750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Door 里同时放 lock 和 alarm 为什么违反 ISP？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330291"/>
              <a:ext cx="45568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CommonDoor 用不到报警，却被迫实现空的 alarm()。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874645"/>
            <a:ext cx="5410200" cy="1428750"/>
            <a:chOff x="6248400" y="2874645"/>
            <a:chExt cx="54102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6248400" y="2874645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396139"/>
              <a:ext cx="26243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迪米特法则中哪些对象算"朋友"？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3680936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this、参数对象、成员变量及其聚集中的元素、本对象创建的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469130"/>
            <a:ext cx="5410200" cy="1185862"/>
            <a:chOff x="6248400" y="4469130"/>
            <a:chExt cx="5410200" cy="1185862"/>
          </a:xfrm>
        </p:grpSpPr>
        <p:sp>
          <p:nvSpPr>
            <p:cNvPr id="37" name="Rectangle 37"/>
            <p:cNvSpPr/>
            <p:nvPr/>
          </p:nvSpPr>
          <p:spPr>
            <a:xfrm>
              <a:off x="6248400" y="446913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498967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组合为什么叫黑箱复用、继承叫白箱复用？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27542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组合只能走成员对象的接口，继承把基类细节暴露给派生类。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10013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七条原则各对应一个坏例子：switch 分派图形、正方形继承长方形、Modem 接口、门与报警器、熔炉调节器、洗衣机、人与角色。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 设计原则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33400" y="1533525"/>
            <a:ext cx="8036814" cy="847058"/>
            <a:chOff x="533400" y="1533525"/>
            <a:chExt cx="8036814" cy="847058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开闭原则是目标：能不能不改旧代码就加新功能，是判断一个面向对象设计好坏的第一个问题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里氏替换管继承用得对不对，迪米特管类之间知道得多不多，这两条和开闭一起构成设计目标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7767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单一职责切类、接口隔离切接口、依赖倒置换依赖方向、合成复用换复用手段，四条是达成目标的做法</a:t>
              </a:r>
            </a:p>
          </p:txBody>
        </p:sp>
      </p:grpSp>
      <p:grpSp>
        <p:nvGrpSpPr>
          <p:cNvPr id="54" name="c1-table-2"/>
          <p:cNvGrpSpPr/>
          <p:nvPr/>
        </p:nvGrpSpPr>
        <p:grpSpPr>
          <a:xfrm>
            <a:off x="533400" y="2495550"/>
            <a:ext cx="11125200" cy="3050858"/>
            <a:chOff x="533400" y="2495550"/>
            <a:chExt cx="11125200" cy="3050858"/>
          </a:xfrm>
        </p:grpSpPr>
        <p:sp>
          <p:nvSpPr>
            <p:cNvPr id="17" name="Rectangle 17"/>
            <p:cNvSpPr/>
            <p:nvPr/>
          </p:nvSpPr>
          <p:spPr>
            <a:xfrm>
              <a:off x="533400" y="2495550"/>
              <a:ext cx="11125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06168" y="261270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看到什么症状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73052" y="261270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大概违反了哪条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4173" y="261270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第一步怎么改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078" y="2993708"/>
              <a:ext cx="1809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加一种类型要改多处 switch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0538" y="2993708"/>
              <a:ext cx="705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OCP / LSP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03198" y="299370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抽出抽象类型，把分支改成多态方法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52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25755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37566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子类重写后父类的承诺不成立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44566" y="3375660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03198" y="337566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抽出只含共同行为的抽象基类，或改成关联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347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375666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一个类被两拨人为两种理由修改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4566" y="3756660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3198" y="375666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按变化理由拆成两个类或两个接口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0157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02050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413766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实现类里有为编译而写的空方法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63235" y="4137660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3198" y="413766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把接口按调用者的使用场景拆开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976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451961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高层类里写死了具体实现类的名字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63235" y="4519612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3198" y="451961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抽出接口，具体类由外部注入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786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78345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8078" y="490061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方法里连续穿过两三个对象取数据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46766" y="4900612"/>
              <a:ext cx="252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3198" y="490061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把这段逻辑推给真正拥有数据的那个类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1596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528256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子类数量随维度组合成倍增长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03494" y="5282565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3198" y="528256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把一个维度抽成接口，改由组合持有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2495550"/>
              <a:ext cx="11125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533900" y="249555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03758" y="249555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1045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抽象层和中介类都不是越多越好。拿到一个设计先问：加新功能要改哪些旧代码，这个类变的理由有几条，这处继承是 is-a 还是 has-a。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面向对象设计原则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02">
  <a:themeElements>
    <a:clrScheme name="sdp_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0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2026-09-19T07:50:05Z</dcterms:created>
  <dcterms:modified xsi:type="dcterms:W3CDTF">2026-09-19T07:50:05Z</dcterms:modified>
  <cp:category/>
  <cp:contentStatus/>
</cp:coreProperties>
</file>