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dp_0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dp_0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a8f4f3316b954a1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e9ff5f0c9413d68.png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b63f6d0188d35b1.png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116830" cy="3437763"/>
            <a:chOff x="666750" y="1619250"/>
            <a:chExt cx="5116830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050732" cy="3429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0294" y="1718310"/>
              <a:ext cx="1822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软件设计模式 · 设计原则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4561332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面向对象设计原则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5106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七条类设计原则：违反什么、怎么改、边界在哪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开闭原则是目标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另外六条是手段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每条都给坏例子与改造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原则之间会打架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685911" cy="205359"/>
            <a:chOff x="680466" y="6192202"/>
            <a:chExt cx="5685911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6859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自学复习版｜据吉林大学《软件设计模式》张欣佳、陈伟两位老师课件合并整理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4" name="c1-agenda-1"/>
          <p:cNvGrpSpPr/>
          <p:nvPr/>
        </p:nvGrpSpPr>
        <p:grpSpPr>
          <a:xfrm>
            <a:off x="523113" y="1520666"/>
            <a:ext cx="6286310" cy="4735831"/>
            <a:chOff x="523113" y="1520666"/>
            <a:chExt cx="6286310" cy="4735831"/>
          </a:xfrm>
        </p:grpSpPr>
        <p:sp>
          <p:nvSpPr>
            <p:cNvPr id="7" name="TextBox 7"/>
            <p:cNvSpPr txBox="1"/>
            <p:nvPr/>
          </p:nvSpPr>
          <p:spPr>
            <a:xfrm>
              <a:off x="523113" y="1520666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31558" y="15487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全景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33462" y="1839754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七条原则的分组与彼此关系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39178" y="2119312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3113" y="2219801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31558" y="2247900"/>
              <a:ext cx="13046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 OCP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33462" y="2538889"/>
              <a:ext cx="2205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switch 分派图形，改成多态分派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39178" y="2819400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3113" y="2919889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31558" y="2947988"/>
              <a:ext cx="12598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里氏替换 LSP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3462" y="323897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正方形继承长方形为什么会崩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39178" y="3518535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3113" y="3619024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1558" y="3647122"/>
              <a:ext cx="12598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单一职责 SRP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33462" y="3938111"/>
              <a:ext cx="1743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Modem 接口藏着两个职责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39178" y="4217670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3113" y="4319111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31558" y="4347210"/>
              <a:ext cx="12038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接口隔离 ISP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3462" y="463819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门与报警器的四种设计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39178" y="4917758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3113" y="5018246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1558" y="5046345"/>
              <a:ext cx="12038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依赖倒置 DIP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33462" y="533733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熔炉调节器被硬件绑死了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39178" y="5616892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3113" y="5717381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31558" y="5745480"/>
              <a:ext cx="26858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 LoD 与合成复用 CARP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3462" y="6036469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朋友圈的五个条件；角色不是种类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688205"/>
            <a:chOff x="7114222" y="1524000"/>
            <a:chExt cx="4544378" cy="4688205"/>
          </a:xfrm>
        </p:grpSpPr>
        <p:sp>
          <p:nvSpPr>
            <p:cNvPr id="35" name="Rectangle 35"/>
            <p:cNvSpPr/>
            <p:nvPr/>
          </p:nvSpPr>
          <p:spPr>
            <a:xfrm>
              <a:off x="7114222" y="1524000"/>
              <a:ext cx="4544378" cy="4688205"/>
            </a:xfrm>
            <a:prstGeom prst="roundRect">
              <a:avLst>
                <a:gd name="adj" fmla="val 29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123748" y="1657350"/>
              <a:ext cx="47625" cy="442150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344728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428167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53300" y="212883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09320" y="207264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写出七条原则各自的缩写和一句话定义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53300" y="243173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09320" y="2375535"/>
              <a:ext cx="36141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看到一段代码或一张类图，指出它违反了哪条原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则、后果是什么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53300" y="299180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09320" y="2935605"/>
              <a:ext cx="37513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判断一处复用该用继承还是组合，并给出 Coad 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件作为依据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802761" cy="2997517"/>
            <a:chOff x="667512" y="1835468"/>
            <a:chExt cx="3802761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七条原则的全景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先看清它们分别管什么、怎么互相支撑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三条说目标，四条说做法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开闭原则是其余六条的落脚点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共同底色是分离稳定与变化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七条原则的全景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七条类设计原则：三条说目标，四条说做法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4" name="c1-table-1"/>
          <p:cNvGrpSpPr/>
          <p:nvPr/>
        </p:nvGrpSpPr>
        <p:grpSpPr>
          <a:xfrm>
            <a:off x="533400" y="1524000"/>
            <a:ext cx="11125200" cy="3246120"/>
            <a:chOff x="533400" y="1524000"/>
            <a:chExt cx="11125200" cy="32461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841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4670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01844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英文与缩写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56928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7641" y="20540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设计目标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766888" y="1939290"/>
              <a:ext cx="1872615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857375" y="20540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48088" y="2054066"/>
              <a:ext cx="23318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The Open-Closed Principle, OCP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19975" y="205406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对扩展开放，对修改关闭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330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233553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7641" y="24598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设计目标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857375" y="245983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里氏替换原则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48088" y="2459831"/>
              <a:ext cx="25197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Liskov Substitution Principle, LSP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19975" y="2459831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引用基类的地方都能换成派生类对象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27365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7641" y="28655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设计目标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57375" y="28655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迪米特法则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48088" y="2865596"/>
              <a:ext cx="1557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Law of Demeter, LoD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19975" y="286559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只和直接朋友通信，对别人知道得越少越好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142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314706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7641" y="327136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设计方法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57375" y="327136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单一职责原则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48088" y="3271361"/>
              <a:ext cx="25713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Single Responsibility Principle, SRP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419975" y="327136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一个类只有一个引起它变化的理由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35480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7641" y="367712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设计方法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857375" y="367712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接口隔离原则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748088" y="3677126"/>
              <a:ext cx="26856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Interface Segregation Principle, ISP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19975" y="367712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不能强迫用户依赖他们不使用的接口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39538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33400" y="395859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7641" y="408289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设计方法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857375" y="408289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依赖倒置原则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748088" y="4082891"/>
              <a:ext cx="26026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Dependency Inversion Principle, DIP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419975" y="4082891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高层与低层都依赖抽象，抽象不依赖细节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43595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37641" y="44886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设计方法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857375" y="44886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合成复用原则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748088" y="4488656"/>
              <a:ext cx="32175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Composite/Aggregate Reuse Principle, CARP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419975" y="448865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优先用组合聚合复用，其次才考虑继承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1524000"/>
              <a:ext cx="11125200" cy="32461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752600" y="1524000"/>
              <a:ext cx="9525" cy="32461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3643312" y="1524000"/>
              <a:ext cx="9525" cy="32461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315200" y="1524000"/>
              <a:ext cx="9525" cy="32461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1-callout-2"/>
          <p:cNvGrpSpPr/>
          <p:nvPr/>
        </p:nvGrpSpPr>
        <p:grpSpPr>
          <a:xfrm>
            <a:off x="533400" y="4945380"/>
            <a:ext cx="11125200" cy="757238"/>
            <a:chOff x="533400" y="4945380"/>
            <a:chExt cx="11125200" cy="757238"/>
          </a:xfrm>
        </p:grpSpPr>
        <p:sp>
          <p:nvSpPr>
            <p:cNvPr id="55" name="Rectangle 55"/>
            <p:cNvSpPr/>
            <p:nvPr/>
          </p:nvSpPr>
          <p:spPr>
            <a:xfrm>
              <a:off x="533400" y="4945380"/>
              <a:ext cx="11125200" cy="757238"/>
            </a:xfrm>
            <a:prstGeom prst="roundRect">
              <a:avLst>
                <a:gd name="adj" fmla="val 1509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5223510"/>
              <a:ext cx="200026" cy="200026"/>
              <a:chOff x="738188" y="5223510"/>
              <a:chExt cx="200026" cy="200026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52235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38200" y="52901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27088" y="53235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892" y="5105400"/>
              <a:ext cx="99578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设计原则分成类的设计原则和包的设计原则两组，本讲只讲前者这七条。七条彼此关联，违反其中一条往往同时违反了别的几条，开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闭原则是其余六条的落脚点。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2" name="Rectangle 6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892" y="6023610"/>
              <a:ext cx="76648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判断一个设计好不好，第一问是"加一个新功能，要改多少已经写好、已经被别人调用的代码"。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七条原则的全景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七条原则的共同底色：把稳定的抽出来，把易变的关进实现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626418" cy="1982152"/>
            <a:chOff x="533400" y="1524000"/>
            <a:chExt cx="5626418" cy="19821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982152"/>
            </a:xfrm>
            <a:prstGeom prst="roundRect">
              <a:avLst>
                <a:gd name="adj" fmla="val 672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1545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分离稳定与变化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51758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把系统中不变的部分抽象成接口，让接口去应对未来的扩展。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2955" y="249936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9546" y="2439829"/>
              <a:ext cx="26142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模块之间只通过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抽象接口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调用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2955" y="281940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9546" y="2759869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实现层换掉时，调用方的代码一行不用改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2955" y="313944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39546" y="3079909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原有接口不够用时，新增接口，而不是往老接口里塞方法</a:t>
              </a:r>
            </a:p>
          </p:txBody>
        </p:sp>
      </p:grpSp>
      <p:grpSp>
        <p:nvGrpSpPr>
          <p:cNvPr id="24" name="c1-bullets-2"/>
          <p:cNvGrpSpPr/>
          <p:nvPr/>
        </p:nvGrpSpPr>
        <p:grpSpPr>
          <a:xfrm>
            <a:off x="533400" y="3715226"/>
            <a:ext cx="4273067" cy="607315"/>
            <a:chOff x="533400" y="3715226"/>
            <a:chExt cx="4273067" cy="607315"/>
          </a:xfrm>
        </p:grpSpPr>
        <p:sp>
          <p:nvSpPr>
            <p:cNvPr id="20" name="Freeform 20"/>
            <p:cNvSpPr/>
            <p:nvPr/>
          </p:nvSpPr>
          <p:spPr>
            <a:xfrm>
              <a:off x="533400" y="374523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77621" y="3715226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接口可以被复用，接口的实现不一定能被复用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533400" y="4073842"/>
              <a:ext cx="137160" cy="111442"/>
            </a:xfrm>
            <a:custGeom>
              <a:avLst/>
              <a:gdLst/>
              <a:ahLst/>
              <a:cxnLst/>
              <a:rect l="l" t="t" r="r" b="b"/>
              <a:pathLst>
                <a:path w="137160" h="111442">
                  <a:moveTo>
                    <a:pt x="0" y="59055"/>
                  </a:moveTo>
                  <a:lnTo>
                    <a:pt x="52388" y="111442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77621" y="4043839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接口是稳定的、关闭的，实现是可变的、开放的</a:t>
              </a:r>
            </a:p>
          </p:txBody>
        </p:sp>
      </p:grpSp>
      <p:grpSp>
        <p:nvGrpSpPr>
          <p:cNvPr id="30" name="c1-callout-3"/>
          <p:cNvGrpSpPr/>
          <p:nvPr/>
        </p:nvGrpSpPr>
        <p:grpSpPr>
          <a:xfrm>
            <a:off x="533400" y="4451985"/>
            <a:ext cx="5626418" cy="1018222"/>
            <a:chOff x="533400" y="4451985"/>
            <a:chExt cx="5626418" cy="1018222"/>
          </a:xfrm>
        </p:grpSpPr>
        <p:sp>
          <p:nvSpPr>
            <p:cNvPr id="25" name="Rectangle 25"/>
            <p:cNvSpPr/>
            <p:nvPr/>
          </p:nvSpPr>
          <p:spPr>
            <a:xfrm>
              <a:off x="533400" y="4451985"/>
              <a:ext cx="5626418" cy="1018222"/>
            </a:xfrm>
            <a:prstGeom prst="roundRect">
              <a:avLst>
                <a:gd name="adj" fmla="val 11225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4861562"/>
              <a:ext cx="200023" cy="200023"/>
              <a:chOff x="738188" y="4861562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48615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71538" y="49282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511" y="4599146"/>
              <a:ext cx="4721352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扩展有两条路：给接口写新的实现类（比如再加一个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ServerC），或者通过类的继承增加、改变原有功能。两条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路都不用改 Client，源课件把这叫作软件系统的柔性扩展。</a:t>
              </a:r>
            </a:p>
          </p:txBody>
        </p:sp>
      </p:grpSp>
      <p:grpSp>
        <p:nvGrpSpPr>
          <p:cNvPr id="63" name="c2-uml-1"/>
          <p:cNvGrpSpPr/>
          <p:nvPr/>
        </p:nvGrpSpPr>
        <p:grpSpPr>
          <a:xfrm>
            <a:off x="6937058" y="1796415"/>
            <a:ext cx="4077088" cy="2132647"/>
            <a:chOff x="6937058" y="1796415"/>
            <a:chExt cx="4077088" cy="2132647"/>
          </a:xfrm>
        </p:grpSpPr>
        <p:sp>
          <p:nvSpPr>
            <p:cNvPr id="31" name="Freeform 31"/>
            <p:cNvSpPr/>
            <p:nvPr/>
          </p:nvSpPr>
          <p:spPr>
            <a:xfrm>
              <a:off x="8589645" y="2217420"/>
              <a:ext cx="1121093" cy="9525"/>
            </a:xfrm>
            <a:custGeom>
              <a:avLst/>
              <a:gdLst/>
              <a:ahLst/>
              <a:cxnLst/>
              <a:rect l="l" t="t" r="r" b="b"/>
              <a:pathLst>
                <a:path w="1121093" h="9525">
                  <a:moveTo>
                    <a:pt x="0" y="0"/>
                  </a:moveTo>
                  <a:lnTo>
                    <a:pt x="1121093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605962" y="2159318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81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7762875" y="2747962"/>
              <a:ext cx="2502218" cy="529590"/>
            </a:xfrm>
            <a:custGeom>
              <a:avLst/>
              <a:gdLst/>
              <a:ahLst/>
              <a:cxnLst/>
              <a:rect l="l" t="t" r="r" b="b"/>
              <a:pathLst>
                <a:path w="2502218" h="529590">
                  <a:moveTo>
                    <a:pt x="0" y="529590"/>
                  </a:moveTo>
                  <a:lnTo>
                    <a:pt x="0" y="201930"/>
                  </a:lnTo>
                  <a:lnTo>
                    <a:pt x="2502218" y="201930"/>
                  </a:lnTo>
                  <a:lnTo>
                    <a:pt x="250221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34" name="Freeform 34"/>
            <p:cNvSpPr/>
            <p:nvPr/>
          </p:nvSpPr>
          <p:spPr>
            <a:xfrm>
              <a:off x="10191750" y="262223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0360342" y="2747962"/>
              <a:ext cx="95250" cy="529590"/>
            </a:xfrm>
            <a:custGeom>
              <a:avLst/>
              <a:gdLst/>
              <a:ahLst/>
              <a:cxnLst/>
              <a:rect l="l" t="t" r="r" b="b"/>
              <a:pathLst>
                <a:path w="95250" h="529590">
                  <a:moveTo>
                    <a:pt x="0" y="529590"/>
                  </a:moveTo>
                  <a:lnTo>
                    <a:pt x="0" y="201930"/>
                  </a:lnTo>
                  <a:lnTo>
                    <a:pt x="95250" y="201930"/>
                  </a:lnTo>
                  <a:lnTo>
                    <a:pt x="9525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36" name="Freeform 36"/>
            <p:cNvSpPr/>
            <p:nvPr/>
          </p:nvSpPr>
          <p:spPr>
            <a:xfrm>
              <a:off x="10382250" y="262223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937058" y="1796415"/>
              <a:ext cx="1652588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943725" y="1804035"/>
              <a:ext cx="1638300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937058" y="2063115"/>
              <a:ext cx="165258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937058" y="2347912"/>
              <a:ext cx="165258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710738" y="1811655"/>
              <a:ext cx="1299210" cy="81153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9717405" y="1818322"/>
              <a:ext cx="1284922" cy="423862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710738" y="2238375"/>
              <a:ext cx="129921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9710738" y="2333625"/>
              <a:ext cx="129921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7113270" y="3277552"/>
              <a:ext cx="1299210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120890" y="3284220"/>
              <a:ext cx="128492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113270" y="3544252"/>
              <a:ext cx="129921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113270" y="3639502"/>
              <a:ext cx="129921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710738" y="3277552"/>
              <a:ext cx="1299210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9717405" y="3284220"/>
              <a:ext cx="128492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710738" y="3544252"/>
              <a:ext cx="129921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710738" y="3639502"/>
              <a:ext cx="129921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533431" y="1860709"/>
              <a:ext cx="4588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Client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007924" y="2135505"/>
              <a:ext cx="16167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myServer: AbsServer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07924" y="2420302"/>
              <a:ext cx="11401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doSomething()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972799" y="1873091"/>
              <a:ext cx="7750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957874" y="2035969"/>
              <a:ext cx="8049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AbsServer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781604" y="2406015"/>
              <a:ext cx="12325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serve(): Result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447479" y="3341846"/>
              <a:ext cx="6307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ServerA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184136" y="3711893"/>
              <a:ext cx="12325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serve(): Result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044946" y="3341846"/>
              <a:ext cx="6307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ServerB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781604" y="3711893"/>
              <a:ext cx="12325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serve(): Result</a:t>
              </a:r>
            </a:p>
          </p:txBody>
        </p:sp>
      </p:grpSp>
      <p:grpSp>
        <p:nvGrpSpPr>
          <p:cNvPr id="70" name="c2-callout-2"/>
          <p:cNvGrpSpPr/>
          <p:nvPr/>
        </p:nvGrpSpPr>
        <p:grpSpPr>
          <a:xfrm>
            <a:off x="6464618" y="4481512"/>
            <a:ext cx="5193982" cy="989648"/>
            <a:chOff x="6464618" y="4481512"/>
            <a:chExt cx="5193982" cy="989648"/>
          </a:xfrm>
        </p:grpSpPr>
        <p:sp>
          <p:nvSpPr>
            <p:cNvPr id="64" name="Rectangle 64"/>
            <p:cNvSpPr/>
            <p:nvPr/>
          </p:nvSpPr>
          <p:spPr>
            <a:xfrm>
              <a:off x="6464618" y="4481512"/>
              <a:ext cx="5193982" cy="989648"/>
            </a:xfrm>
            <a:prstGeom prst="roundRect">
              <a:avLst>
                <a:gd name="adj" fmla="val 1155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6669405" y="4875848"/>
              <a:ext cx="200026" cy="200025"/>
              <a:chOff x="6669405" y="4875848"/>
              <a:chExt cx="200026" cy="200025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6669405" y="487584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6709144" y="492029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6743859" y="503142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6971729" y="4744879"/>
              <a:ext cx="409917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Client 对 AbsServer 提供的接口是修改关闭的，对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AbsServer 的新实现是扩展开放的。</a:t>
              </a:r>
            </a:p>
          </p:txBody>
        </p:sp>
      </p:grpSp>
      <p:grpSp>
        <p:nvGrpSpPr>
          <p:cNvPr id="77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71" name="Rectangle 71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1040511" y="6004084"/>
              <a:ext cx="78711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现在多把开闭原则等同于面向接口的软件设计，后面六条原则都可以看成"怎么把接口抽对"。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253168" cy="2997517"/>
            <a:chOff x="667512" y="1835468"/>
            <a:chExt cx="325316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13108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 OCP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对扩展开放，对修改关闭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0139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先看一个用 switch 分派的坏例子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再改成多态分派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最后谈开闭原则的相对性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0693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3" y="407194"/>
              <a:ext cx="19809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开闭原则 OCP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开闭原则：软件实体应该对扩展开放，对修改关闭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1884998"/>
            <a:chOff x="533400" y="1524000"/>
            <a:chExt cx="5410200" cy="188499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15537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开闭原则（OCP）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软件实体（模块、类、方法）应该对扩展开放，对修改关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闭。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8096" y="2711291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设计一个软件模块时，应该做到不修改原有模块就能扩展它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的功能。</a:t>
              </a:r>
            </a:p>
          </p:txBody>
        </p:sp>
      </p:grpSp>
      <p:grpSp>
        <p:nvGrpSpPr>
          <p:cNvPr id="20" name="c1-kv-2"/>
          <p:cNvGrpSpPr/>
          <p:nvPr/>
        </p:nvGrpSpPr>
        <p:grpSpPr>
          <a:xfrm>
            <a:off x="526161" y="3618071"/>
            <a:ext cx="5417439" cy="1503617"/>
            <a:chOff x="526161" y="3618071"/>
            <a:chExt cx="5417439" cy="1503617"/>
          </a:xfrm>
        </p:grpSpPr>
        <p:sp>
          <p:nvSpPr>
            <p:cNvPr id="15" name="TextBox 15"/>
            <p:cNvSpPr txBox="1"/>
            <p:nvPr/>
          </p:nvSpPr>
          <p:spPr>
            <a:xfrm>
              <a:off x="526161" y="36180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扩展开放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25334" y="3618071"/>
              <a:ext cx="416229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某模块的功能是可扩展的，则该模块是扩展开放的。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功能上的可扩展性要求模块扩展开放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41910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6161" y="430768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修改关闭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25334" y="4307681"/>
              <a:ext cx="4162298" cy="8140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某模块被其他模块调用，如果它的源代码不允许修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改，则该模块是修改关闭的。功能上的稳定性、持续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性要求修改关闭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524000"/>
            <a:ext cx="5410200" cy="2165985"/>
            <a:chOff x="6248400" y="1524000"/>
            <a:chExt cx="5410200" cy="2165985"/>
          </a:xfrm>
        </p:grpSpPr>
        <p:sp>
          <p:nvSpPr>
            <p:cNvPr id="21" name="Rectangle 21"/>
            <p:cNvSpPr/>
            <p:nvPr/>
          </p:nvSpPr>
          <p:spPr>
            <a:xfrm>
              <a:off x="6248400" y="1524000"/>
              <a:ext cx="5410200" cy="2165985"/>
            </a:xfrm>
            <a:prstGeom prst="roundRect">
              <a:avLst>
                <a:gd name="adj" fmla="val 6157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52235" y="172783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38493" y="176355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95566" y="176736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遵循开闭原则能得到什么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452235" y="210693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10580" y="214726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43129" y="211978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稳定性：扩展功能不动原来的代码，系统在变化中保持稳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452235" y="2698432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10580" y="273877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43129" y="271129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扩展性：通过扩展提供新功能或改变原有功能，扩展方式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灵活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46139" y="3298507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结果是系统可复用，并且易于维护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248400" y="3875722"/>
            <a:ext cx="5410200" cy="1643062"/>
            <a:chOff x="6248400" y="3875722"/>
            <a:chExt cx="5410200" cy="1643062"/>
          </a:xfrm>
        </p:grpSpPr>
        <p:sp>
          <p:nvSpPr>
            <p:cNvPr id="33" name="Rectangle 33"/>
            <p:cNvSpPr/>
            <p:nvPr/>
          </p:nvSpPr>
          <p:spPr>
            <a:xfrm>
              <a:off x="6248400" y="3875722"/>
              <a:ext cx="5410200" cy="1643062"/>
            </a:xfrm>
            <a:prstGeom prst="roundRect">
              <a:avLst>
                <a:gd name="adj" fmla="val 81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57925" y="4009072"/>
              <a:ext cx="47625" cy="137636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90335" y="4079558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72644" y="411527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实现手段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497955" y="451199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654546" y="4452461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把不变的部分抽象成不变的接口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497955" y="483203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54546" y="4772501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接口遵循最小功能设计，不够用时新增接口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497955" y="515207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54546" y="509254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模块之间通过抽象接口调用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4" name="Rectangle 44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511" y="6004084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开闭原则是判断面向对象设计是否正确的最基本原理之一。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06117" cy="909257"/>
            <a:chOff x="520446" y="342900"/>
            <a:chExt cx="69061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0693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3" y="407194"/>
              <a:ext cx="19809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开闭原则 OCP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061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坏例子：用 switch 判断图形类型来分派绘制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419584" cy="264033"/>
            <a:chOff x="526542" y="1545907"/>
            <a:chExt cx="741958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4195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源课件用 C 结构体写这个例子，这里按同样的结构改写成 Java，便于和后面的改造版对照。</a:t>
              </a:r>
            </a:p>
          </p:txBody>
        </p:sp>
      </p:grpSp>
      <p:grpSp>
        <p:nvGrpSpPr>
          <p:cNvPr id="15" name="c1-code-1"/>
          <p:cNvGrpSpPr/>
          <p:nvPr/>
        </p:nvGrpSpPr>
        <p:grpSpPr>
          <a:xfrm>
            <a:off x="533400" y="1928812"/>
            <a:ext cx="5842635" cy="3670935"/>
            <a:chOff x="533400" y="1928812"/>
            <a:chExt cx="5842635" cy="367093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842635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过程化风格的图形绘制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237672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413885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52450" y="4590098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2340769"/>
              <a:ext cx="4048633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enum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ShapeType { CIRCLE, SQUARE 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 { ShapeType type; 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Circle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radius; 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Square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side;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Painter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drawCircle(Circle c) {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画圆 */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drawSquare(Square s) {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画方 */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drawShapes(Shape[] list)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(Shape s : list)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switch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(s.type)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case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CIRCLE: drawCircle((Circle) s);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break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case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SQUARE: drawSquare((Square) s);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break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8" name="c2-uml-1"/>
          <p:cNvGrpSpPr/>
          <p:nvPr/>
        </p:nvGrpSpPr>
        <p:grpSpPr>
          <a:xfrm>
            <a:off x="6777038" y="2140268"/>
            <a:ext cx="4623434" cy="1600199"/>
            <a:chOff x="6777038" y="2140268"/>
            <a:chExt cx="4623434" cy="1600199"/>
          </a:xfrm>
        </p:grpSpPr>
        <p:sp>
          <p:nvSpPr>
            <p:cNvPr id="16" name="Freeform 16"/>
            <p:cNvSpPr/>
            <p:nvPr/>
          </p:nvSpPr>
          <p:spPr>
            <a:xfrm>
              <a:off x="9264968" y="2854642"/>
              <a:ext cx="1468755" cy="298133"/>
            </a:xfrm>
            <a:custGeom>
              <a:avLst/>
              <a:gdLst/>
              <a:ahLst/>
              <a:cxnLst/>
              <a:rect l="l" t="t" r="r" b="b"/>
              <a:pathLst>
                <a:path w="1468755" h="298133">
                  <a:moveTo>
                    <a:pt x="0" y="298133"/>
                  </a:moveTo>
                  <a:lnTo>
                    <a:pt x="0" y="85725"/>
                  </a:lnTo>
                  <a:lnTo>
                    <a:pt x="1468755" y="85725"/>
                  </a:lnTo>
                  <a:lnTo>
                    <a:pt x="1468755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0660380" y="272891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0924222" y="2854642"/>
              <a:ext cx="9525" cy="298133"/>
            </a:xfrm>
            <a:custGeom>
              <a:avLst/>
              <a:gdLst/>
              <a:ahLst/>
              <a:cxnLst/>
              <a:rect l="l" t="t" r="r" b="b"/>
              <a:pathLst>
                <a:path w="9525" h="298133">
                  <a:moveTo>
                    <a:pt x="0" y="298133"/>
                  </a:moveTo>
                  <a:lnTo>
                    <a:pt x="0" y="85725"/>
                  </a:lnTo>
                  <a:lnTo>
                    <a:pt x="0" y="8572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0850880" y="272891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7415212" y="2728912"/>
              <a:ext cx="1659255" cy="423862"/>
            </a:xfrm>
            <a:custGeom>
              <a:avLst/>
              <a:gdLst/>
              <a:ahLst/>
              <a:cxnLst/>
              <a:rect l="l" t="t" r="r" b="b"/>
              <a:pathLst>
                <a:path w="1659255" h="423862">
                  <a:moveTo>
                    <a:pt x="0" y="0"/>
                  </a:moveTo>
                  <a:lnTo>
                    <a:pt x="0" y="211455"/>
                  </a:lnTo>
                  <a:lnTo>
                    <a:pt x="1659255" y="211455"/>
                  </a:lnTo>
                  <a:lnTo>
                    <a:pt x="1659255" y="423862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1" name="Freeform 21"/>
            <p:cNvSpPr/>
            <p:nvPr/>
          </p:nvSpPr>
          <p:spPr>
            <a:xfrm>
              <a:off x="9017318" y="3048000"/>
              <a:ext cx="115252" cy="104775"/>
            </a:xfrm>
            <a:custGeom>
              <a:avLst/>
              <a:gdLst/>
              <a:ahLst/>
              <a:cxnLst/>
              <a:rect l="l" t="t" r="r" b="b"/>
              <a:pathLst>
                <a:path w="115252" h="104775">
                  <a:moveTo>
                    <a:pt x="0" y="0"/>
                  </a:moveTo>
                  <a:lnTo>
                    <a:pt x="57150" y="104775"/>
                  </a:lnTo>
                  <a:lnTo>
                    <a:pt x="11525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7605712" y="2728912"/>
              <a:ext cx="3128010" cy="423862"/>
            </a:xfrm>
            <a:custGeom>
              <a:avLst/>
              <a:gdLst/>
              <a:ahLst/>
              <a:cxnLst/>
              <a:rect l="l" t="t" r="r" b="b"/>
              <a:pathLst>
                <a:path w="3128010" h="423862">
                  <a:moveTo>
                    <a:pt x="0" y="0"/>
                  </a:moveTo>
                  <a:lnTo>
                    <a:pt x="0" y="211455"/>
                  </a:lnTo>
                  <a:lnTo>
                    <a:pt x="3128010" y="211455"/>
                  </a:lnTo>
                  <a:lnTo>
                    <a:pt x="3128010" y="423862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3" name="Freeform 23"/>
            <p:cNvSpPr/>
            <p:nvPr/>
          </p:nvSpPr>
          <p:spPr>
            <a:xfrm>
              <a:off x="10676572" y="3048000"/>
              <a:ext cx="115252" cy="104775"/>
            </a:xfrm>
            <a:custGeom>
              <a:avLst/>
              <a:gdLst/>
              <a:ahLst/>
              <a:cxnLst/>
              <a:rect l="l" t="t" r="r" b="b"/>
              <a:pathLst>
                <a:path w="115252" h="104775">
                  <a:moveTo>
                    <a:pt x="0" y="0"/>
                  </a:moveTo>
                  <a:lnTo>
                    <a:pt x="57150" y="104775"/>
                  </a:lnTo>
                  <a:lnTo>
                    <a:pt x="11525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777038" y="2140268"/>
              <a:ext cx="146685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784658" y="2147888"/>
              <a:ext cx="145256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777038" y="2370772"/>
              <a:ext cx="146685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777038" y="2466022"/>
              <a:ext cx="146685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10257472" y="2140268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0265092" y="2147888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10257472" y="237077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10257472" y="262890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598218" y="3152775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605838" y="315944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598218" y="33832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8598218" y="364045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10257472" y="3152775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10265092" y="315944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10257472" y="33832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257472" y="364045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254150" y="2195989"/>
              <a:ext cx="5126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Painter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48475" y="2535555"/>
              <a:ext cx="141335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drawShapes(Shape[])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631393" y="2195989"/>
              <a:ext cx="3951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Shape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328910" y="2440305"/>
              <a:ext cx="98723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type: ShapeType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969001" y="3208496"/>
              <a:ext cx="4014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Circle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669655" y="3452812"/>
              <a:ext cx="851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radius: double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593299" y="3208496"/>
              <a:ext cx="47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Square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328910" y="3452812"/>
              <a:ext cx="7182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side: double</a:t>
              </a:r>
            </a:p>
          </p:txBody>
        </p:sp>
      </p:grpSp>
      <p:grpSp>
        <p:nvGrpSpPr>
          <p:cNvPr id="60" name="c2-card-2"/>
          <p:cNvGrpSpPr/>
          <p:nvPr/>
        </p:nvGrpSpPr>
        <p:grpSpPr>
          <a:xfrm>
            <a:off x="6680835" y="4117658"/>
            <a:ext cx="4977765" cy="1487805"/>
            <a:chOff x="6680835" y="4117658"/>
            <a:chExt cx="4977765" cy="1487805"/>
          </a:xfrm>
        </p:grpSpPr>
        <p:sp>
          <p:nvSpPr>
            <p:cNvPr id="49" name="Rectangle 49"/>
            <p:cNvSpPr/>
            <p:nvPr/>
          </p:nvSpPr>
          <p:spPr>
            <a:xfrm>
              <a:off x="6680835" y="4117658"/>
              <a:ext cx="4977765" cy="1487805"/>
            </a:xfrm>
            <a:prstGeom prst="roundRect">
              <a:avLst>
                <a:gd name="adj" fmla="val 89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690360" y="4251008"/>
              <a:ext cx="47625" cy="12211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99910" y="429863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992582" y="433149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后果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466838" y="433816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增加一个三角形要动多少地方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909435" y="4707255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064883" y="4654391"/>
              <a:ext cx="35598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drawShapes 不是封闭的，必须改它的 switch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909435" y="499205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064883" y="4940141"/>
              <a:ext cx="39503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同样的 switch 可能散落在多个地方，改一处漏一处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909435" y="527685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064883" y="5224939"/>
              <a:ext cx="40829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扩展枚举 ShapeType 会让所有依赖它的程序重新编译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1" name="Rectangle 61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1273" y="6039326"/>
              <a:ext cx="69054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这是一个僵化、脆弱、牢固性很高的设计：想动的地方动不了，不想动的地方被迫跟着动。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0693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3" y="407194"/>
              <a:ext cx="19809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开闭原则 OCP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改造：让每个图形自己知道怎么画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5842635" cy="4198620"/>
            <a:chOff x="533400" y="1524000"/>
            <a:chExt cx="5842635" cy="41986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198620"/>
            </a:xfrm>
            <a:prstGeom prst="roundRect">
              <a:avLst>
                <a:gd name="adj" fmla="val 226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多态分派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5064442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1935956"/>
              <a:ext cx="2816479" cy="3714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Circle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radius;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Circle(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.radius = r;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draw() {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画圆 */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Square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side;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Square(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.side = s;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draw() {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画方 */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Painter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drawShapes(Shape[] list)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(Shape s : list) s.draw();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2" name="c2-uml-1"/>
          <p:cNvGrpSpPr/>
          <p:nvPr/>
        </p:nvGrpSpPr>
        <p:grpSpPr>
          <a:xfrm>
            <a:off x="6777038" y="1736408"/>
            <a:ext cx="4623434" cy="1599246"/>
            <a:chOff x="6777038" y="1736408"/>
            <a:chExt cx="4623434" cy="1599246"/>
          </a:xfrm>
        </p:grpSpPr>
        <p:sp>
          <p:nvSpPr>
            <p:cNvPr id="12" name="Freeform 12"/>
            <p:cNvSpPr/>
            <p:nvPr/>
          </p:nvSpPr>
          <p:spPr>
            <a:xfrm>
              <a:off x="9169718" y="2449830"/>
              <a:ext cx="1564005" cy="298133"/>
            </a:xfrm>
            <a:custGeom>
              <a:avLst/>
              <a:gdLst/>
              <a:ahLst/>
              <a:cxnLst/>
              <a:rect l="l" t="t" r="r" b="b"/>
              <a:pathLst>
                <a:path w="1564005" h="298133">
                  <a:moveTo>
                    <a:pt x="0" y="298133"/>
                  </a:moveTo>
                  <a:lnTo>
                    <a:pt x="0" y="85725"/>
                  </a:lnTo>
                  <a:lnTo>
                    <a:pt x="1564005" y="85725"/>
                  </a:lnTo>
                  <a:lnTo>
                    <a:pt x="1564005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0660380" y="232410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0828972" y="2449830"/>
              <a:ext cx="95250" cy="298133"/>
            </a:xfrm>
            <a:custGeom>
              <a:avLst/>
              <a:gdLst/>
              <a:ahLst/>
              <a:cxnLst/>
              <a:rect l="l" t="t" r="r" b="b"/>
              <a:pathLst>
                <a:path w="95250" h="298133">
                  <a:moveTo>
                    <a:pt x="0" y="298133"/>
                  </a:moveTo>
                  <a:lnTo>
                    <a:pt x="0" y="85725"/>
                  </a:lnTo>
                  <a:lnTo>
                    <a:pt x="95250" y="85725"/>
                  </a:lnTo>
                  <a:lnTo>
                    <a:pt x="9525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0850880" y="232410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8243888" y="2029778"/>
              <a:ext cx="2013585" cy="9525"/>
            </a:xfrm>
            <a:custGeom>
              <a:avLst/>
              <a:gdLst/>
              <a:ahLst/>
              <a:cxnLst/>
              <a:rect l="l" t="t" r="r" b="b"/>
              <a:pathLst>
                <a:path w="2013585" h="9525">
                  <a:moveTo>
                    <a:pt x="0" y="0"/>
                  </a:moveTo>
                  <a:lnTo>
                    <a:pt x="2013585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10152698" y="1972628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777038" y="1736408"/>
              <a:ext cx="146685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784658" y="1743075"/>
              <a:ext cx="145256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777038" y="1966912"/>
              <a:ext cx="146685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777038" y="2062162"/>
              <a:ext cx="146685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10257472" y="1736408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10265092" y="1743075"/>
              <a:ext cx="112871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10257472" y="196691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10257472" y="206216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8598218" y="2747962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8605838" y="275558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598218" y="297846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8598218" y="307371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10257472" y="2747962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0265092" y="275558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10257472" y="297846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10257472" y="307371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254150" y="1792129"/>
              <a:ext cx="5126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Painter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48475" y="2131695"/>
              <a:ext cx="141335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drawShapes(Shape[])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631393" y="1792129"/>
              <a:ext cx="3951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i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Shape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328910" y="21316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969001" y="2803684"/>
              <a:ext cx="4014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Circle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669655" y="3143250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593299" y="2803684"/>
              <a:ext cx="47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Square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328910" y="3143250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</a:p>
          </p:txBody>
        </p:sp>
      </p:grpSp>
      <p:grpSp>
        <p:nvGrpSpPr>
          <p:cNvPr id="49" name="c2-bullets-2"/>
          <p:cNvGrpSpPr/>
          <p:nvPr/>
        </p:nvGrpSpPr>
        <p:grpSpPr>
          <a:xfrm>
            <a:off x="6680835" y="3734276"/>
            <a:ext cx="4476671" cy="835152"/>
            <a:chOff x="6680835" y="3734276"/>
            <a:chExt cx="4476671" cy="835152"/>
          </a:xfrm>
        </p:grpSpPr>
        <p:sp>
          <p:nvSpPr>
            <p:cNvPr id="43" name="Freeform 43"/>
            <p:cNvSpPr/>
            <p:nvPr/>
          </p:nvSpPr>
          <p:spPr>
            <a:xfrm>
              <a:off x="6680835" y="3760470"/>
              <a:ext cx="122872" cy="99060"/>
            </a:xfrm>
            <a:custGeom>
              <a:avLst/>
              <a:gdLst/>
              <a:ahLst/>
              <a:cxnLst/>
              <a:rect l="l" t="t" r="r" b="b"/>
              <a:pathLst>
                <a:path w="122872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911530" y="3734276"/>
              <a:ext cx="4245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 Triangle 只要写一个新类，drawShapes 一行不改</a:t>
              </a:r>
            </a:p>
          </p:txBody>
        </p:sp>
        <p:sp>
          <p:nvSpPr>
            <p:cNvPr id="45" name="Freeform 45"/>
            <p:cNvSpPr/>
            <p:nvPr/>
          </p:nvSpPr>
          <p:spPr>
            <a:xfrm>
              <a:off x="6680835" y="4053840"/>
              <a:ext cx="122872" cy="99060"/>
            </a:xfrm>
            <a:custGeom>
              <a:avLst/>
              <a:gdLst/>
              <a:ahLst/>
              <a:cxnLst/>
              <a:rect l="l" t="t" r="r" b="b"/>
              <a:pathLst>
                <a:path w="122872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911530" y="4026694"/>
              <a:ext cx="39789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Painter 只认识抽象的 Shape，不认识任何具体图形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6680835" y="4347210"/>
              <a:ext cx="122872" cy="99060"/>
            </a:xfrm>
            <a:custGeom>
              <a:avLst/>
              <a:gdLst/>
              <a:ahLst/>
              <a:cxnLst/>
              <a:rect l="l" t="t" r="r" b="b"/>
              <a:pathLst>
                <a:path w="122872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11530" y="4320064"/>
              <a:ext cx="34247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类型字段 type 和所有强制类型转换一起消失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0" name="Rectangle 50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1273" y="6039326"/>
              <a:ext cx="53891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判据：扩展点落在"增加新类"上，而不是落在"改已有方法的分支"上。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34887" cy="909257"/>
            <a:chOff x="520446" y="342900"/>
            <a:chExt cx="683488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0693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3" y="407194"/>
              <a:ext cx="19809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开闭原则 OCP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348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判别依据与边界：100% 满足开闭原则做不到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410200" cy="1933575"/>
            <a:chOff x="533400" y="1524000"/>
            <a:chExt cx="5410200" cy="19335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33575"/>
            </a:xfrm>
            <a:prstGeom prst="roundRect">
              <a:avLst>
                <a:gd name="adj" fmla="val 6897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72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74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38644" y="1767364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三个可操作的问题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37235" y="210693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5580" y="214726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28128" y="211978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新增一种情况，需要改动已有的哪些文件？只增不改才算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封闭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37235" y="2698432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95580" y="273877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28128" y="2711291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已有代码里有没有对具体类型做判断的 switch 或 if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37235" y="3018472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95580" y="305881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28128" y="3031331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高层模块的成员和参数写的是接口，还是具体实现类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3642360"/>
            <a:ext cx="5410200" cy="1817370"/>
            <a:chOff x="533400" y="3642360"/>
            <a:chExt cx="5410200" cy="1817370"/>
          </a:xfrm>
        </p:grpSpPr>
        <p:sp>
          <p:nvSpPr>
            <p:cNvPr id="21" name="Rectangle 21"/>
            <p:cNvSpPr/>
            <p:nvPr/>
          </p:nvSpPr>
          <p:spPr>
            <a:xfrm>
              <a:off x="533400" y="3642360"/>
              <a:ext cx="5410200" cy="1817370"/>
            </a:xfrm>
            <a:prstGeom prst="roundRect">
              <a:avLst>
                <a:gd name="adj" fmla="val 628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4451985"/>
              <a:ext cx="200026" cy="200025"/>
              <a:chOff x="738188" y="4451985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44519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77926" y="44964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2642" y="46075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511" y="4321016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一个软件系统有没有良好的接口设计，是判断它是否满足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开闭原则的重要基准。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6248400" y="1524000"/>
            <a:ext cx="5410200" cy="2476500"/>
            <a:chOff x="6248400" y="1524000"/>
            <a:chExt cx="5410200" cy="2476500"/>
          </a:xfrm>
        </p:grpSpPr>
        <p:sp>
          <p:nvSpPr>
            <p:cNvPr id="28" name="Rectangle 28"/>
            <p:cNvSpPr/>
            <p:nvPr/>
          </p:nvSpPr>
          <p:spPr>
            <a:xfrm>
              <a:off x="6248400" y="1524000"/>
              <a:ext cx="5410200" cy="2476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57925" y="1657350"/>
              <a:ext cx="47625" cy="22098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90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80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边界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91744" y="1767364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开闭原则的相对性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83096" y="2119789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软件系统的构建是一个不断重构的过程。模块的功能抽象、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模块之间的关系，都不会从一开始就清晰，所以构建 100%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满足开闭原则的系统相当困难。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97955" y="304228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54546" y="2982754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设计初期抽象点常常找错，早期的重构无法避免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497955" y="336232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4546" y="3302794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能做的是通过功能抽象、关系抽象、抽象与实现分离，尽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量逼近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248400" y="4185285"/>
            <a:ext cx="5410200" cy="1274445"/>
            <a:chOff x="6248400" y="4185285"/>
            <a:chExt cx="5410200" cy="1274445"/>
          </a:xfrm>
        </p:grpSpPr>
        <p:sp>
          <p:nvSpPr>
            <p:cNvPr id="39" name="Rectangle 39"/>
            <p:cNvSpPr/>
            <p:nvPr/>
          </p:nvSpPr>
          <p:spPr>
            <a:xfrm>
              <a:off x="6248400" y="4185285"/>
              <a:ext cx="5410200" cy="1274445"/>
            </a:xfrm>
            <a:prstGeom prst="roundRect">
              <a:avLst>
                <a:gd name="adj" fmla="val 1046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52235" y="438912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42443" y="44248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出处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44996" y="4762976"/>
              <a:ext cx="458609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Martin, Robert C. (1996 January). The Open-Closed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Principle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4" name="Rectangle 44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511" y="6004084"/>
              <a:ext cx="103371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常见误用：为每一个还看不出会变的地方都先插一层接口，结果抽象层比业务代码还多。变化点没出现之前，先写简单的。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579745" cy="2997517"/>
            <a:chOff x="667512" y="1835468"/>
            <a:chExt cx="5579745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9281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里氏替换原则 LSP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所有引用基类的地方，必须能透明地使用其派生类的对象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正方形继承长方形为什么会崩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两条重构路线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继承该往哪里长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6124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019" y="407194"/>
              <a:ext cx="2249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里氏替换原则 LSP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里氏替换原则：派生类必须能顶替基类出现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626418" cy="1982152"/>
            <a:chOff x="533400" y="1524000"/>
            <a:chExt cx="5626418" cy="19821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982152"/>
            </a:xfrm>
            <a:prstGeom prst="roundRect">
              <a:avLst>
                <a:gd name="adj" fmla="val 672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1545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18936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里氏替换原则（LSP）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所有引用基类的地方必须能透明地使用其派生类的对象。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8096" y="2439829"/>
              <a:ext cx="34669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满足下面两个条件的设计才算满足 LSP。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5335" y="274701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3680" y="278734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6228" y="2759869"/>
              <a:ext cx="49750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代码中不应出现 if/else 之类对派生类类型进行判断的条件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5335" y="306705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3680" y="310738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6228" y="3079909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把使用基类对象的地方换成派生类对象，代码还能正常工作</a:t>
              </a:r>
            </a:p>
          </p:txBody>
        </p:sp>
      </p:grpSp>
      <p:grpSp>
        <p:nvGrpSpPr>
          <p:cNvPr id="24" name="c1-code-2"/>
          <p:cNvGrpSpPr/>
          <p:nvPr/>
        </p:nvGrpSpPr>
        <p:grpSpPr>
          <a:xfrm>
            <a:off x="533400" y="3690938"/>
            <a:ext cx="5626418" cy="1719262"/>
            <a:chOff x="533400" y="3690938"/>
            <a:chExt cx="5626418" cy="1719262"/>
          </a:xfrm>
        </p:grpSpPr>
        <p:sp>
          <p:nvSpPr>
            <p:cNvPr id="21" name="Rectangle 21"/>
            <p:cNvSpPr/>
            <p:nvPr/>
          </p:nvSpPr>
          <p:spPr>
            <a:xfrm>
              <a:off x="533400" y="3690938"/>
              <a:ext cx="5626418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61797" y="3842861"/>
              <a:ext cx="12627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违反 LSP 的典型写法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1035" y="4105751"/>
              <a:ext cx="2593086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drawShape(Shape s)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instanceof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Square)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drawSquare((Square) s);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instanceof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Circle)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drawCircle((Circle) s);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6464618" y="1524000"/>
            <a:ext cx="5193982" cy="2156460"/>
            <a:chOff x="6464618" y="1524000"/>
            <a:chExt cx="5193982" cy="2156460"/>
          </a:xfrm>
        </p:grpSpPr>
        <p:sp>
          <p:nvSpPr>
            <p:cNvPr id="25" name="Rectangle 25"/>
            <p:cNvSpPr/>
            <p:nvPr/>
          </p:nvSpPr>
          <p:spPr>
            <a:xfrm>
              <a:off x="6464618" y="1524000"/>
              <a:ext cx="5193982" cy="2156460"/>
            </a:xfrm>
            <a:prstGeom prst="roundRect">
              <a:avLst>
                <a:gd name="adj" fmla="val 618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68452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5961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69861" y="1767364"/>
              <a:ext cx="15749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LSP 体现了两件事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676072" y="2179320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32664" y="2119789"/>
              <a:ext cx="434263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类的继承原则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：如果派生类对象在替换基类对象的地方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可能出运行错误，那它就不该从这个基类继承，应该重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新设计两者的关系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676072" y="304228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32664" y="2982754"/>
              <a:ext cx="438772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动作正确性保证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：符合 LSP 的类扩展，不会给已有系统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引入新的错误</a:t>
              </a:r>
            </a:p>
          </p:txBody>
        </p:sp>
      </p:grpSp>
      <p:grpSp>
        <p:nvGrpSpPr>
          <p:cNvPr id="40" name="c2-callout-2"/>
          <p:cNvGrpSpPr/>
          <p:nvPr/>
        </p:nvGrpSpPr>
        <p:grpSpPr>
          <a:xfrm>
            <a:off x="6464618" y="3865245"/>
            <a:ext cx="5193982" cy="1544955"/>
            <a:chOff x="6464618" y="3865245"/>
            <a:chExt cx="5193982" cy="1544955"/>
          </a:xfrm>
        </p:grpSpPr>
        <p:sp>
          <p:nvSpPr>
            <p:cNvPr id="34" name="Rectangle 34"/>
            <p:cNvSpPr/>
            <p:nvPr/>
          </p:nvSpPr>
          <p:spPr>
            <a:xfrm>
              <a:off x="6464618" y="3865245"/>
              <a:ext cx="5193982" cy="1544955"/>
            </a:xfrm>
            <a:prstGeom prst="roundRect">
              <a:avLst>
                <a:gd name="adj" fmla="val 739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669405" y="4537710"/>
              <a:ext cx="200026" cy="200026"/>
              <a:chOff x="6669405" y="4537710"/>
              <a:chExt cx="200026" cy="20002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6669405" y="45377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769418" y="46043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758305" y="46377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971729" y="4276249"/>
              <a:ext cx="4153281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LSP 是使代码符合开闭原则的重要保证。分派靠多态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而不是靠类型判断，前提就是子类可以放心替换父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类。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1" name="Rectangle 41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511" y="6004084"/>
              <a:ext cx="86282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设计初期类之间的关系常常不明确，LSP 给出的是判断基准：要不要继承，以及继承关系该怎么设计。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41808" cy="909257"/>
            <a:chOff x="520446" y="342900"/>
            <a:chExt cx="86418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6124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019" y="407194"/>
              <a:ext cx="2249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里氏替换原则 LSP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418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坏例子：Square 继承 Rectangle，既有业务逻辑就断了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6059805" cy="3836670"/>
            <a:chOff x="533400" y="1524000"/>
            <a:chExt cx="6059805" cy="38366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3836670"/>
            </a:xfrm>
            <a:prstGeom prst="roundRect">
              <a:avLst>
                <a:gd name="adj" fmla="val 248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465195"/>
              <a:ext cx="6021705" cy="1962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661410"/>
              <a:ext cx="6021705" cy="1962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226" y="1938099"/>
              <a:ext cx="5492877" cy="33521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45"/>
                </a:lnSpc>
              </a:pP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Rectangle {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width, height;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setWidth(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w)  {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.width = w;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setHeight(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h) {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.height = h;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getWidth()  {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width;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getHeight() {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height;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Square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Rectangle {</a:t>
              </a:r>
              <a:br/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setWidth(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w)  { width = w; height = w; }</a:t>
              </a:r>
              <a:br/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setHeight(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h) { width = h; height = h; }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系统里早就写好的业务逻辑 */</a:t>
              </a:r>
              <a:br/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g(Rectangle r) {</a:t>
              </a:r>
              <a:br/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r.setWidth(5);</a:t>
              </a:r>
              <a:br/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r.setHeight(4);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9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assert</a:t>
              </a:r>
              <a:r>
                <a:rPr lang="en-US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r.getWidth() * r.getHeight() == 20;</a:t>
              </a:r>
              <a:br/>
              <a:r>
                <a:rPr lang="zh-CN" sz="10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7" name="c2-uml-1"/>
          <p:cNvGrpSpPr/>
          <p:nvPr/>
        </p:nvGrpSpPr>
        <p:grpSpPr>
          <a:xfrm>
            <a:off x="8555355" y="1598295"/>
            <a:ext cx="1445895" cy="1828801"/>
            <a:chOff x="8555355" y="1598295"/>
            <a:chExt cx="1445895" cy="1828801"/>
          </a:xfrm>
        </p:grpSpPr>
        <p:sp>
          <p:nvSpPr>
            <p:cNvPr id="13" name="Freeform 13"/>
            <p:cNvSpPr/>
            <p:nvPr/>
          </p:nvSpPr>
          <p:spPr>
            <a:xfrm>
              <a:off x="9278302" y="2564130"/>
              <a:ext cx="9525" cy="21908"/>
            </a:xfrm>
            <a:custGeom>
              <a:avLst/>
              <a:gdLst/>
              <a:ahLst/>
              <a:cxnLst/>
              <a:rect l="l" t="t" r="r" b="b"/>
              <a:pathLst>
                <a:path w="9525" h="21908">
                  <a:moveTo>
                    <a:pt x="0" y="21908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9204960" y="243840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8555355" y="1598295"/>
              <a:ext cx="1445895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8562022" y="1604962"/>
              <a:ext cx="1431608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8555355" y="1864995"/>
              <a:ext cx="144589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8555355" y="1960245"/>
              <a:ext cx="144589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555355" y="2586038"/>
              <a:ext cx="1445895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562022" y="2593658"/>
              <a:ext cx="1431608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555355" y="2852738"/>
              <a:ext cx="144589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8555355" y="2947988"/>
              <a:ext cx="144589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898212" y="1662589"/>
              <a:ext cx="7601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Rectangle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626221" y="2032635"/>
              <a:ext cx="1304163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setHeight(double)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setWidth(double)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08907" y="2650331"/>
              <a:ext cx="5387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Square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26221" y="3020378"/>
              <a:ext cx="1304163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setHeight(double)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setWidth(double)</a:t>
              </a:r>
            </a:p>
          </p:txBody>
        </p:sp>
      </p:grpSp>
      <p:grpSp>
        <p:nvGrpSpPr>
          <p:cNvPr id="49" name="c2-table-2"/>
          <p:cNvGrpSpPr/>
          <p:nvPr/>
        </p:nvGrpSpPr>
        <p:grpSpPr>
          <a:xfrm>
            <a:off x="6892290" y="3686175"/>
            <a:ext cx="4766310" cy="2016919"/>
            <a:chOff x="6892290" y="3686175"/>
            <a:chExt cx="4766310" cy="2016919"/>
          </a:xfrm>
        </p:grpSpPr>
        <p:sp>
          <p:nvSpPr>
            <p:cNvPr id="28" name="Rectangle 28"/>
            <p:cNvSpPr/>
            <p:nvPr/>
          </p:nvSpPr>
          <p:spPr>
            <a:xfrm>
              <a:off x="6898005" y="3686175"/>
              <a:ext cx="4760595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406450" y="381762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执行到哪一句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352780" y="3817620"/>
              <a:ext cx="470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width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703269" y="3817620"/>
              <a:ext cx="5295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height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03352" y="4248150"/>
              <a:ext cx="12240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r.setWidth(5)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537344" y="42481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432885" y="4248150"/>
              <a:ext cx="10703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5（被一起改）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898005" y="454152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898005" y="4546282"/>
              <a:ext cx="476059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03352" y="4677728"/>
              <a:ext cx="12830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r.setHeight(4)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52712" y="4677728"/>
              <a:ext cx="10703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4（被一起改）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917517" y="467772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898005" y="497205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003352" y="5108258"/>
              <a:ext cx="12936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面积 = 4 × 4 = 16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906828" y="4986338"/>
              <a:ext cx="1362075" cy="41148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145600" y="5108258"/>
              <a:ext cx="8845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断言期望 20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0397" y="510825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898005" y="3686175"/>
              <a:ext cx="4760595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892540" y="3686175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272712" y="3686175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92290" y="5483066"/>
              <a:ext cx="20541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g(new Square()) 的执行过程</a:t>
              </a:r>
            </a:p>
          </p:txBody>
        </p:sp>
      </p:grpSp>
      <p:grpSp>
        <p:nvGrpSpPr>
          <p:cNvPr id="56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0" name="Rectangle 50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0511" y="6004084"/>
              <a:ext cx="95085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数学上正方形是长方形的特例，代码里却不是：Rectangle 承诺宽和高可以独立设置，Square 破坏了这个承诺。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6124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019" y="407194"/>
              <a:ext cx="2249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里氏替换原则 LSP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改造路线一：抽出只读的四边形基类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443091" cy="264033"/>
            <a:chOff x="526542" y="1545907"/>
            <a:chExt cx="6443091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4430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两个具体类之间的继承违反 LSP 时，有两条通用的重构路线，这一页走第一条。</a:t>
              </a:r>
            </a:p>
          </p:txBody>
        </p:sp>
      </p:grpSp>
      <p:grpSp>
        <p:nvGrpSpPr>
          <p:cNvPr id="19" name="c1-card-1"/>
          <p:cNvGrpSpPr/>
          <p:nvPr/>
        </p:nvGrpSpPr>
        <p:grpSpPr>
          <a:xfrm>
            <a:off x="533400" y="1928812"/>
            <a:ext cx="5626418" cy="1868805"/>
            <a:chOff x="533400" y="1928812"/>
            <a:chExt cx="5626418" cy="186880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626418" cy="1868805"/>
            </a:xfrm>
            <a:prstGeom prst="roundRect">
              <a:avLst>
                <a:gd name="adj" fmla="val 713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14375" y="210978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98944" y="2142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两条路线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14375" y="243840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6282" y="247402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84123" y="2449354"/>
              <a:ext cx="470281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新建一个抽象类 C 作为两个具体类的共同基类，把 A、B 的共同行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为移到 C 中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14375" y="296608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6282" y="300170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84123" y="2977991"/>
              <a:ext cx="28440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把从 B 到 A 的继承关系改成关联关系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9041" y="3258502"/>
              <a:ext cx="5031296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取 width、height 是两者的共同行为，赋值行为却不同，所以抽出的四边形类 </a:t>
              </a:r>
              <a:r>
                <a:rPr lang="zh-CN" sz="10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只有取</a:t>
              </a:r>
              <a:br/>
              <a:r>
                <a:rPr lang="zh-CN" sz="10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值方法，没有赋值方法</a:t>
              </a:r>
            </a:p>
          </p:txBody>
        </p:sp>
      </p:grpSp>
      <p:grpSp>
        <p:nvGrpSpPr>
          <p:cNvPr id="42" name="c1-uml-2"/>
          <p:cNvGrpSpPr/>
          <p:nvPr/>
        </p:nvGrpSpPr>
        <p:grpSpPr>
          <a:xfrm>
            <a:off x="1309688" y="4027170"/>
            <a:ext cx="4014787" cy="1629728"/>
            <a:chOff x="1309688" y="4027170"/>
            <a:chExt cx="4014787" cy="1629728"/>
          </a:xfrm>
        </p:grpSpPr>
        <p:sp>
          <p:nvSpPr>
            <p:cNvPr id="20" name="Freeform 20"/>
            <p:cNvSpPr/>
            <p:nvPr/>
          </p:nvSpPr>
          <p:spPr>
            <a:xfrm>
              <a:off x="1940242" y="4841558"/>
              <a:ext cx="1311592" cy="64770"/>
            </a:xfrm>
            <a:custGeom>
              <a:avLst/>
              <a:gdLst/>
              <a:ahLst/>
              <a:cxnLst/>
              <a:rect l="l" t="t" r="r" b="b"/>
              <a:pathLst>
                <a:path w="1311592" h="64770">
                  <a:moveTo>
                    <a:pt x="0" y="64770"/>
                  </a:moveTo>
                  <a:lnTo>
                    <a:pt x="0" y="0"/>
                  </a:lnTo>
                  <a:lnTo>
                    <a:pt x="1311592" y="0"/>
                  </a:lnTo>
                  <a:lnTo>
                    <a:pt x="1311592" y="6096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178492" y="477678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442335" y="4882515"/>
              <a:ext cx="1310640" cy="105728"/>
            </a:xfrm>
            <a:custGeom>
              <a:avLst/>
              <a:gdLst/>
              <a:ahLst/>
              <a:cxnLst/>
              <a:rect l="l" t="t" r="r" b="b"/>
              <a:pathLst>
                <a:path w="1310640" h="105728">
                  <a:moveTo>
                    <a:pt x="1310640" y="105728"/>
                  </a:moveTo>
                  <a:lnTo>
                    <a:pt x="1310640" y="0"/>
                  </a:lnTo>
                  <a:lnTo>
                    <a:pt x="0" y="0"/>
                  </a:lnTo>
                  <a:lnTo>
                    <a:pt x="0" y="20003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3368992" y="477678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667952" y="4027170"/>
              <a:ext cx="1358265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674620" y="4033838"/>
              <a:ext cx="1343978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667952" y="4257675"/>
              <a:ext cx="135826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2667952" y="4352925"/>
              <a:ext cx="135826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1309688" y="4906328"/>
              <a:ext cx="126111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316355" y="4913948"/>
              <a:ext cx="124682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1309688" y="5136832"/>
              <a:ext cx="126111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1309688" y="5232082"/>
              <a:ext cx="126111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181475" y="4988242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4189095" y="499491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181475" y="521874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181475" y="531399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2962517" y="4082891"/>
              <a:ext cx="7691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i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Quadrangle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739390" y="4422458"/>
              <a:ext cx="1215390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getWidth(): double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getHeight(): double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607711" y="4962049"/>
              <a:ext cx="6650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Rectangle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81125" y="5301615"/>
              <a:ext cx="111823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setWidth(double)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setHeight(double)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17301" y="5043964"/>
              <a:ext cx="47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Square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252912" y="5383530"/>
              <a:ext cx="10560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setSide(double)</a:t>
              </a:r>
            </a:p>
          </p:txBody>
        </p:sp>
      </p:grpSp>
      <p:grpSp>
        <p:nvGrpSpPr>
          <p:cNvPr id="46" name="c2-code-1"/>
          <p:cNvGrpSpPr/>
          <p:nvPr/>
        </p:nvGrpSpPr>
        <p:grpSpPr>
          <a:xfrm>
            <a:off x="6464618" y="1928812"/>
            <a:ext cx="5193982" cy="3495675"/>
            <a:chOff x="6464618" y="1928812"/>
            <a:chExt cx="5193982" cy="3495675"/>
          </a:xfrm>
        </p:grpSpPr>
        <p:sp>
          <p:nvSpPr>
            <p:cNvPr id="43" name="Rectangle 43"/>
            <p:cNvSpPr/>
            <p:nvPr/>
          </p:nvSpPr>
          <p:spPr>
            <a:xfrm>
              <a:off x="6464618" y="1928812"/>
              <a:ext cx="5193982" cy="3495675"/>
            </a:xfrm>
            <a:prstGeom prst="roundRect">
              <a:avLst>
                <a:gd name="adj" fmla="val 272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93015" y="208073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93015" y="2340769"/>
              <a:ext cx="3843274" cy="30100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Quadrangle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getWidth();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getHeight();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Rectangle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Quadrangle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width, height;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setWidth(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w) 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.width = w;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setHeight(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.height = h;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getWidth() 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width;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getHeight()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height;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Square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Quadrangle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side;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setSide(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.side = s;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getWidth() 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side;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getHeight()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side;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7" name="Rectangle 47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1273" y="6039326"/>
              <a:ext cx="70393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改造后 g(Rectangle r) 根本收不到 Square 对象，编译期就挡住了，问题不再留到运行期。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6124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019" y="407194"/>
              <a:ext cx="2249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里氏替换原则 LSP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改造路线二：把继承改成关联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051910" cy="264033"/>
            <a:chOff x="526542" y="1545907"/>
            <a:chExt cx="705191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0519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运动员和自行车是 has-a 关系，源课件却用继承来表达，这是最常见的一类 LSP 违反。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5410200" cy="2264092"/>
            <a:chOff x="533400" y="1928812"/>
            <a:chExt cx="5410200" cy="226409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2264092"/>
            </a:xfrm>
            <a:prstGeom prst="roundRect">
              <a:avLst>
                <a:gd name="adj" fmla="val 420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坏例子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3513455" cy="17766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Bike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move()  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stop()  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repair()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Player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Bike {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运动员不是一种自行车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startRace()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endRace()  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4363402"/>
            <a:ext cx="5410200" cy="1230630"/>
            <a:chOff x="533400" y="4363402"/>
            <a:chExt cx="5410200" cy="1230630"/>
          </a:xfrm>
        </p:grpSpPr>
        <p:sp>
          <p:nvSpPr>
            <p:cNvPr id="13" name="Rectangle 13"/>
            <p:cNvSpPr/>
            <p:nvPr/>
          </p:nvSpPr>
          <p:spPr>
            <a:xfrm>
              <a:off x="533400" y="4363402"/>
              <a:ext cx="5410200" cy="1230630"/>
            </a:xfrm>
            <a:prstGeom prst="roundRect">
              <a:avLst>
                <a:gd name="adj" fmla="val 1083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4496752"/>
              <a:ext cx="47625" cy="9639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8190" y="455009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0862" y="458295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1332" y="4893945"/>
              <a:ext cx="47114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源课件写的是 C++ 的私有继承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class Player : private Bike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没有这种语法，这里按公有继承写。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6248400" y="1928812"/>
            <a:ext cx="5410200" cy="1737360"/>
            <a:chOff x="6248400" y="1928812"/>
            <a:chExt cx="5410200" cy="1737360"/>
          </a:xfrm>
        </p:grpSpPr>
        <p:sp>
          <p:nvSpPr>
            <p:cNvPr id="19" name="Rectangle 19"/>
            <p:cNvSpPr/>
            <p:nvPr/>
          </p:nvSpPr>
          <p:spPr>
            <a:xfrm>
              <a:off x="6248400" y="1928812"/>
              <a:ext cx="5410200" cy="1737360"/>
            </a:xfrm>
            <a:prstGeom prst="roundRect">
              <a:avLst>
                <a:gd name="adj" fmla="val 5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76797" y="208073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改造后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76797" y="2340769"/>
              <a:ext cx="3432556" cy="12479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maxStrength, age;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Bike bike;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关联：有一辆自行车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Player(Bike bike)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.bike = bike;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startRace() { bike.move();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endRace()   { bike.stop();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7" name="c2-bullets-2"/>
          <p:cNvGrpSpPr/>
          <p:nvPr/>
        </p:nvGrpSpPr>
        <p:grpSpPr>
          <a:xfrm>
            <a:off x="6248400" y="3857625"/>
            <a:ext cx="3803656" cy="572643"/>
            <a:chOff x="6248400" y="3857625"/>
            <a:chExt cx="3803656" cy="572643"/>
          </a:xfrm>
        </p:grpSpPr>
        <p:sp>
          <p:nvSpPr>
            <p:cNvPr id="23" name="Freeform 23"/>
            <p:cNvSpPr/>
            <p:nvPr/>
          </p:nvSpPr>
          <p:spPr>
            <a:xfrm>
              <a:off x="6248400" y="3886200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5382" y="3857625"/>
              <a:ext cx="3279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Player 不会被当作 Bike 传给修车的方法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6248400" y="4194810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85382" y="4166235"/>
              <a:ext cx="35666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换一辆车只要换 bike 引用，运动员本身不变</a:t>
              </a:r>
            </a:p>
          </p:txBody>
        </p:sp>
      </p:grpSp>
      <p:grpSp>
        <p:nvGrpSpPr>
          <p:cNvPr id="44" name="c2-uml-3"/>
          <p:cNvGrpSpPr/>
          <p:nvPr/>
        </p:nvGrpSpPr>
        <p:grpSpPr>
          <a:xfrm>
            <a:off x="7029450" y="4613910"/>
            <a:ext cx="3848100" cy="912495"/>
            <a:chOff x="7029450" y="4613910"/>
            <a:chExt cx="3848100" cy="912495"/>
          </a:xfrm>
        </p:grpSpPr>
        <p:sp>
          <p:nvSpPr>
            <p:cNvPr id="28" name="Freeform 28"/>
            <p:cNvSpPr/>
            <p:nvPr/>
          </p:nvSpPr>
          <p:spPr>
            <a:xfrm>
              <a:off x="8172450" y="5071110"/>
              <a:ext cx="1562100" cy="9525"/>
            </a:xfrm>
            <a:custGeom>
              <a:avLst/>
              <a:gdLst/>
              <a:ahLst/>
              <a:cxnLst/>
              <a:rect l="l" t="t" r="r" b="b"/>
              <a:pathLst>
                <a:path w="1562100" h="9525">
                  <a:moveTo>
                    <a:pt x="0" y="0"/>
                  </a:moveTo>
                  <a:lnTo>
                    <a:pt x="15621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629775" y="5013008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81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029450" y="4695825"/>
              <a:ext cx="114300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037070" y="4702492"/>
              <a:ext cx="112871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029450" y="492633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029450" y="50215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9734550" y="4613910"/>
              <a:ext cx="1143000" cy="91249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742170" y="462153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734550" y="484441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734550" y="493966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382755" y="4751546"/>
              <a:ext cx="4363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Player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100888" y="5091112"/>
              <a:ext cx="79819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startRace()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endRace()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164125" y="4669631"/>
              <a:ext cx="2838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Bike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805988" y="5009198"/>
              <a:ext cx="581025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move()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stop()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repair()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794432" y="4874895"/>
              <a:ext cx="31813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830608" y="4897755"/>
              <a:ext cx="2457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bike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5" name="Rectangle 45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892" y="6028373"/>
              <a:ext cx="76830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判断口诀：能说通"运动员是一辆自行车"才用继承，只能说通"运动员有一辆自行车"就用关联。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6124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019" y="407194"/>
              <a:ext cx="2249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里氏替换原则 LSP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判别依据与边界：继承该往哪里长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410200" cy="1487805"/>
            <a:chOff x="533400" y="1524000"/>
            <a:chExt cx="5410200" cy="14878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87805"/>
            </a:xfrm>
            <a:prstGeom prst="roundRect">
              <a:avLst>
                <a:gd name="adj" fmla="val 8963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143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70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80350" y="174450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三个检查动作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14375" y="204978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6282" y="208540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84123" y="2061686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找基类对每个方法许下的承诺，看派生类有没有毁约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14375" y="233553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6282" y="237020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4123" y="2346484"/>
              <a:ext cx="48377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在调用基类的既有代码里换上派生类对象，跑一遍看会不会出错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14375" y="262032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6282" y="265595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84123" y="2631281"/>
              <a:ext cx="48118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搜一遍代码里的 instanceof 和类型判断，它们往往就是违反点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3176588"/>
            <a:ext cx="5410200" cy="1849755"/>
            <a:chOff x="533400" y="3176588"/>
            <a:chExt cx="5410200" cy="1849755"/>
          </a:xfrm>
        </p:grpSpPr>
        <p:sp>
          <p:nvSpPr>
            <p:cNvPr id="21" name="Rectangle 21"/>
            <p:cNvSpPr/>
            <p:nvPr/>
          </p:nvSpPr>
          <p:spPr>
            <a:xfrm>
              <a:off x="533400" y="3176588"/>
              <a:ext cx="5410200" cy="1849755"/>
            </a:xfrm>
            <a:prstGeom prst="roundRect">
              <a:avLst>
                <a:gd name="adj" fmla="val 72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3309938"/>
              <a:ext cx="47625" cy="15830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52475" y="335756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7044" y="33904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契约角度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62000" y="374999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17448" y="3697129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派生类重写方法时，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不能加强前置条件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（不能要求更苛刻的入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参）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62000" y="427767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17448" y="4224814"/>
              <a:ext cx="38555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也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不能削弱后置条件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（不能少做基类承诺过的事）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47141" y="4506278"/>
              <a:ext cx="30827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Square 正是加了一条“宽高必须相等”的前置条件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6248400" y="1524000"/>
            <a:ext cx="5410200" cy="1406842"/>
            <a:chOff x="6248400" y="1524000"/>
            <a:chExt cx="5410200" cy="1406842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1406842"/>
            </a:xfrm>
            <a:prstGeom prst="roundRect">
              <a:avLst>
                <a:gd name="adj" fmla="val 94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1657350"/>
              <a:ext cx="47625" cy="114014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67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60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指导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33451" y="1744504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尽量从抽象类继承，不从具体类继承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60998" y="2061686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从继承等级树来看，所有叶子节点应当是具体类，所有树枝节点应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当是抽象类或接口。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62141" y="2585085"/>
              <a:ext cx="35444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这只是一般性的指导原则，使用时还要具体情况具体分析</a:t>
              </a:r>
            </a:p>
          </p:txBody>
        </p:sp>
      </p:grpSp>
      <p:grpSp>
        <p:nvGrpSpPr>
          <p:cNvPr id="46" name="c2-card-2"/>
          <p:cNvGrpSpPr/>
          <p:nvPr/>
        </p:nvGrpSpPr>
        <p:grpSpPr>
          <a:xfrm>
            <a:off x="6248400" y="3095625"/>
            <a:ext cx="5410200" cy="1930718"/>
            <a:chOff x="6248400" y="3095625"/>
            <a:chExt cx="5410200" cy="1930718"/>
          </a:xfrm>
        </p:grpSpPr>
        <p:sp>
          <p:nvSpPr>
            <p:cNvPr id="39" name="Rectangle 39"/>
            <p:cNvSpPr/>
            <p:nvPr/>
          </p:nvSpPr>
          <p:spPr>
            <a:xfrm>
              <a:off x="6248400" y="3095625"/>
              <a:ext cx="5410200" cy="1930718"/>
            </a:xfrm>
            <a:prstGeom prst="roundRect">
              <a:avLst>
                <a:gd name="adj" fmla="val 69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57925" y="3228975"/>
              <a:ext cx="47625" cy="166401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67475" y="327660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60147" y="330946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33451" y="33161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鲸鱼和鱼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60998" y="3632359"/>
              <a:ext cx="472719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从生物学看鲸鱼属于哺乳动物，不是鱼类。让鲸鱼类继承鱼类就违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背了 LSP，因为鱼的很多特性鲸鱼不具备，例如用鳃呼吸、卵生繁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殖。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60998" y="4402931"/>
              <a:ext cx="481660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二者的共性是都能在水中游泳，所以应该让它们共同实现一个"游泳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"接口。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659755"/>
            <a:ext cx="11125200" cy="702945"/>
            <a:chOff x="533400" y="5659755"/>
            <a:chExt cx="11125200" cy="702945"/>
          </a:xfrm>
        </p:grpSpPr>
        <p:sp>
          <p:nvSpPr>
            <p:cNvPr id="47" name="Rectangle 47"/>
            <p:cNvSpPr/>
            <p:nvPr/>
          </p:nvSpPr>
          <p:spPr>
            <a:xfrm>
              <a:off x="533400" y="5659755"/>
              <a:ext cx="11125200" cy="702945"/>
            </a:xfrm>
            <a:prstGeom prst="roundRect">
              <a:avLst>
                <a:gd name="adj" fmla="val 1626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5911215"/>
              <a:ext cx="200026" cy="200026"/>
              <a:chOff x="738188" y="5911215"/>
              <a:chExt cx="200026" cy="200026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59112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38200" y="59778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27088" y="601122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1273" y="5805011"/>
              <a:ext cx="996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更正：源课件的断言写成 assert(r.GetWidth() * r.GetHeight()) == 20); 括号不配对，应为 assert(r.GetWidth() * r.GetHeight()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== 20);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992819" cy="2997517"/>
            <a:chOff x="667512" y="1835468"/>
            <a:chExt cx="3992819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9281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单一职责原则 SRP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永远不要让一个类存在多个改变的理由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职责就是变化的理由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3352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Modem 接口藏着两个职责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按理由切，不按功能切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6124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019" y="407194"/>
              <a:ext cx="2249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单一职责原则 SRP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单一职责原则：一个类只能有一个引起它变化的理由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1866900"/>
            <a:chOff x="533400" y="1524000"/>
            <a:chExt cx="5410200" cy="1866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669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0020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20003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单一职责原则（SRP）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永远不要让一个类存在多个改变的理由。如果一个类需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要改变，改变它的理由永远只有一个。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2747486"/>
              <a:ext cx="47678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Robert C. Martin：所谓一个类的一个职责，是指引起该类变化的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一个原因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3581400"/>
            <a:ext cx="5410200" cy="1956435"/>
            <a:chOff x="533400" y="3581400"/>
            <a:chExt cx="5410200" cy="1956435"/>
          </a:xfrm>
        </p:grpSpPr>
        <p:sp>
          <p:nvSpPr>
            <p:cNvPr id="15" name="Rectangle 15"/>
            <p:cNvSpPr/>
            <p:nvPr/>
          </p:nvSpPr>
          <p:spPr>
            <a:xfrm>
              <a:off x="533400" y="3581400"/>
              <a:ext cx="5410200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71475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37909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1258" y="38266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后果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82078" y="382619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一个类扛两个职责会怎样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1050" y="417385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42899" y="42161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82040" y="418719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一个职责用了外部类库，只用另一个职责的用户也不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得不把这个库带上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81050" y="47948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42899" y="48371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82040" y="480822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有人为了某个理由改了其中一个职责，另一个职责的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用户也得重新编译和配置</a:t>
              </a:r>
            </a:p>
          </p:txBody>
        </p:sp>
      </p:grpSp>
      <p:grpSp>
        <p:nvGrpSpPr>
          <p:cNvPr id="32" name="c2-code-1"/>
          <p:cNvGrpSpPr/>
          <p:nvPr/>
        </p:nvGrpSpPr>
        <p:grpSpPr>
          <a:xfrm>
            <a:off x="6248400" y="1524000"/>
            <a:ext cx="5410200" cy="1719262"/>
            <a:chOff x="6248400" y="1524000"/>
            <a:chExt cx="5410200" cy="1719262"/>
          </a:xfrm>
        </p:grpSpPr>
        <p:sp>
          <p:nvSpPr>
            <p:cNvPr id="27" name="Rectangle 27"/>
            <p:cNvSpPr/>
            <p:nvPr/>
          </p:nvSpPr>
          <p:spPr>
            <a:xfrm>
              <a:off x="6248400" y="1524000"/>
              <a:ext cx="5410200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76797" y="1675924"/>
              <a:ext cx="6911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SRP 违反例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67450" y="2098358"/>
              <a:ext cx="537210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67450" y="2301240"/>
              <a:ext cx="537210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76035" y="1937861"/>
              <a:ext cx="3083814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Modem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dial(String pno);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拨号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hangup();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挂断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send(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c);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发送数据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recv();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接收数据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248400" y="3433762"/>
            <a:ext cx="5410200" cy="2104072"/>
            <a:chOff x="6248400" y="3433762"/>
            <a:chExt cx="5410200" cy="2104072"/>
          </a:xfrm>
        </p:grpSpPr>
        <p:sp>
          <p:nvSpPr>
            <p:cNvPr id="33" name="Rectangle 33"/>
            <p:cNvSpPr/>
            <p:nvPr/>
          </p:nvSpPr>
          <p:spPr>
            <a:xfrm>
              <a:off x="6248400" y="3433762"/>
              <a:ext cx="5410200" cy="2104072"/>
            </a:xfrm>
            <a:prstGeom prst="roundRect">
              <a:avLst>
                <a:gd name="adj" fmla="val 63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57925" y="3567112"/>
              <a:ext cx="47625" cy="183737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96050" y="364331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86258" y="36790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分析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88430" y="4020502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乍看没问题，实际上这个接口包含两个职责：连接管理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（dial、hangup）和数据通信（send、recv）。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88430" y="4641532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很多情况下这两个职责没有共通的部分，它们因为不同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的理由而改变，被不同部分的程序调用。</a:t>
              </a:r>
            </a:p>
          </p:txBody>
        </p:sp>
      </p:grpSp>
      <p:grpSp>
        <p:nvGrpSpPr>
          <p:cNvPr id="4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0" name="Rectangle 4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130" y="5991225"/>
              <a:ext cx="93242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判断职责数量的办法：把"这个类为什么会被改"一条条写下来，能写出两条以上，就有两个以上的职责。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6124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019" y="407194"/>
              <a:ext cx="2249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单一职责原则 SRP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改造：先按职责拆接口，实现类可以暂时合在一起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723322"/>
            <a:chOff x="533400" y="1524000"/>
            <a:chExt cx="5410200" cy="372332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723322"/>
            </a:xfrm>
            <a:prstGeom prst="roundRect">
              <a:avLst>
                <a:gd name="adj" fmla="val 255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3604451" cy="32381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Connection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dial(String pno);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hangup();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DataChannel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send(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recv();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ModemImplementation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Connection, DataChannel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dial(String pno) {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hangup()         {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send(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c)     {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recv()          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zh-CN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'\0'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4" name="c2-uml-1"/>
          <p:cNvGrpSpPr/>
          <p:nvPr/>
        </p:nvGrpSpPr>
        <p:grpSpPr>
          <a:xfrm>
            <a:off x="7029450" y="1593532"/>
            <a:ext cx="3848100" cy="1777365"/>
            <a:chOff x="7029450" y="1593532"/>
            <a:chExt cx="3848100" cy="1777365"/>
          </a:xfrm>
        </p:grpSpPr>
        <p:sp>
          <p:nvSpPr>
            <p:cNvPr id="11" name="Freeform 11"/>
            <p:cNvSpPr/>
            <p:nvPr/>
          </p:nvSpPr>
          <p:spPr>
            <a:xfrm>
              <a:off x="7600950" y="2663190"/>
              <a:ext cx="1257300" cy="263842"/>
            </a:xfrm>
            <a:custGeom>
              <a:avLst/>
              <a:gdLst/>
              <a:ahLst/>
              <a:cxnLst/>
              <a:rect l="l" t="t" r="r" b="b"/>
              <a:pathLst>
                <a:path w="1257300" h="263842">
                  <a:moveTo>
                    <a:pt x="1257300" y="263842"/>
                  </a:moveTo>
                  <a:lnTo>
                    <a:pt x="1257300" y="69532"/>
                  </a:lnTo>
                  <a:lnTo>
                    <a:pt x="0" y="6953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7527608" y="253746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9048750" y="2663190"/>
              <a:ext cx="1257300" cy="263842"/>
            </a:xfrm>
            <a:custGeom>
              <a:avLst/>
              <a:gdLst/>
              <a:ahLst/>
              <a:cxnLst/>
              <a:rect l="l" t="t" r="r" b="b"/>
              <a:pathLst>
                <a:path w="1257300" h="263842">
                  <a:moveTo>
                    <a:pt x="0" y="263842"/>
                  </a:moveTo>
                  <a:lnTo>
                    <a:pt x="0" y="69532"/>
                  </a:lnTo>
                  <a:lnTo>
                    <a:pt x="1257300" y="69532"/>
                  </a:lnTo>
                  <a:lnTo>
                    <a:pt x="12573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10232708" y="253746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7029450" y="1593532"/>
              <a:ext cx="1143000" cy="9439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037070" y="1601152"/>
              <a:ext cx="1128712" cy="39433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029450" y="199072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029450" y="208597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9734550" y="1593532"/>
              <a:ext cx="1143000" cy="9439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9742170" y="1601152"/>
              <a:ext cx="1128712" cy="39433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9734550" y="199072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9734550" y="208597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8122920" y="2927032"/>
              <a:ext cx="166116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130540" y="2934652"/>
              <a:ext cx="164687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8122920" y="3175635"/>
              <a:ext cx="166116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8122920" y="3270885"/>
              <a:ext cx="166116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244829" y="1650682"/>
              <a:ext cx="712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03812" y="1802130"/>
              <a:ext cx="7942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Connection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00697" y="2156936"/>
              <a:ext cx="843788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dial(String)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hangup()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49929" y="1650682"/>
              <a:ext cx="712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65873" y="1802130"/>
              <a:ext cx="8803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DataChannel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05797" y="2156936"/>
              <a:ext cx="906018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send(char)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recv(): char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64326" y="2987040"/>
              <a:ext cx="15783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ModemImplementation</a:t>
              </a:r>
            </a:p>
          </p:txBody>
        </p:sp>
      </p:grpSp>
      <p:grpSp>
        <p:nvGrpSpPr>
          <p:cNvPr id="40" name="c2-card-2"/>
          <p:cNvGrpSpPr/>
          <p:nvPr/>
        </p:nvGrpSpPr>
        <p:grpSpPr>
          <a:xfrm>
            <a:off x="6248400" y="3866198"/>
            <a:ext cx="5410200" cy="1724025"/>
            <a:chOff x="6248400" y="3866198"/>
            <a:chExt cx="5410200" cy="1724025"/>
          </a:xfrm>
        </p:grpSpPr>
        <p:sp>
          <p:nvSpPr>
            <p:cNvPr id="35" name="Rectangle 35"/>
            <p:cNvSpPr/>
            <p:nvPr/>
          </p:nvSpPr>
          <p:spPr>
            <a:xfrm>
              <a:off x="6248400" y="3866198"/>
              <a:ext cx="5410200" cy="1724025"/>
            </a:xfrm>
            <a:prstGeom prst="roundRect">
              <a:avLst>
                <a:gd name="adj" fmla="val 77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3999548"/>
              <a:ext cx="47625" cy="145732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78905" y="405860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70345" y="409289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权衡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72047" y="4414838"/>
              <a:ext cx="478002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ModemImplementation 仍然组合了两个职责，这不是我们希望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的，但有时是必须的。通常由于某些原因不得不把多个职责绑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到一个类里，此时至少可以通过接口的分割，分离应用程序关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心的概念。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1" name="Rectangle 41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892" y="6023610"/>
              <a:ext cx="72559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客户端只 import 自己要用的那个接口，连接管理改了也不会惊动只做数据通信的调用方。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18526" cy="909257"/>
            <a:chOff x="520446" y="342900"/>
            <a:chExt cx="801852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6124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019" y="407194"/>
              <a:ext cx="2249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单一职责原则 SRP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185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第二个例子：Rectangle 同时管几何计算和屏幕绘制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flow-1"/>
          <p:cNvGrpSpPr/>
          <p:nvPr/>
        </p:nvGrpSpPr>
        <p:grpSpPr>
          <a:xfrm>
            <a:off x="666750" y="1654492"/>
            <a:ext cx="5143500" cy="1416368"/>
            <a:chOff x="666750" y="1654492"/>
            <a:chExt cx="5143500" cy="1416368"/>
          </a:xfrm>
        </p:grpSpPr>
        <p:sp>
          <p:nvSpPr>
            <p:cNvPr id="7" name="Freeform 7"/>
            <p:cNvSpPr/>
            <p:nvPr/>
          </p:nvSpPr>
          <p:spPr>
            <a:xfrm>
              <a:off x="2203132" y="194310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365058" y="18907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4111942" y="194310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007168" y="18907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238500" y="2231708"/>
              <a:ext cx="9525" cy="156210"/>
            </a:xfrm>
            <a:custGeom>
              <a:avLst/>
              <a:gdLst/>
              <a:ahLst/>
              <a:cxnLst/>
              <a:rect l="l" t="t" r="r" b="b"/>
              <a:pathLst>
                <a:path w="9525" h="156210">
                  <a:moveTo>
                    <a:pt x="0" y="0"/>
                  </a:moveTo>
                  <a:lnTo>
                    <a:pt x="0" y="1562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186112" y="23879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111942" y="2231708"/>
              <a:ext cx="929640" cy="549592"/>
            </a:xfrm>
            <a:custGeom>
              <a:avLst/>
              <a:gdLst/>
              <a:ahLst/>
              <a:cxnLst/>
              <a:rect l="l" t="t" r="r" b="b"/>
              <a:pathLst>
                <a:path w="929640" h="549592">
                  <a:moveTo>
                    <a:pt x="929640" y="0"/>
                  </a:moveTo>
                  <a:lnTo>
                    <a:pt x="929640" y="209550"/>
                  </a:lnTo>
                  <a:lnTo>
                    <a:pt x="929640" y="549592"/>
                  </a:lnTo>
                  <a:lnTo>
                    <a:pt x="104775" y="549592"/>
                  </a:lnTo>
                  <a:lnTo>
                    <a:pt x="0" y="54959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007168" y="2728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66750" y="1654492"/>
              <a:ext cx="1536382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469832" y="1654492"/>
              <a:ext cx="1536382" cy="578168"/>
            </a:xfrm>
            <a:prstGeom prst="roundRect">
              <a:avLst>
                <a:gd name="adj" fmla="val 16474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273868" y="1654492"/>
              <a:ext cx="1536382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469832" y="2492692"/>
              <a:ext cx="1536382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02982" y="1768316"/>
              <a:ext cx="86487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计算矩形面积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Application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649601" y="1768316"/>
              <a:ext cx="1177798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Rectangle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+draw() +area()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58931" y="1768316"/>
              <a:ext cx="765302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绘制矩形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Application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763393" y="2606516"/>
              <a:ext cx="950214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DisplayObject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核心显示对象</a:t>
              </a:r>
            </a:p>
          </p:txBody>
        </p:sp>
      </p:grpSp>
      <p:grpSp>
        <p:nvGrpSpPr>
          <p:cNvPr id="33" name="c1-card-2"/>
          <p:cNvGrpSpPr/>
          <p:nvPr/>
        </p:nvGrpSpPr>
        <p:grpSpPr>
          <a:xfrm>
            <a:off x="533400" y="3369945"/>
            <a:ext cx="5410200" cy="2300288"/>
            <a:chOff x="533400" y="3369945"/>
            <a:chExt cx="5410200" cy="2300288"/>
          </a:xfrm>
        </p:grpSpPr>
        <p:sp>
          <p:nvSpPr>
            <p:cNvPr id="24" name="Rectangle 24"/>
            <p:cNvSpPr/>
            <p:nvPr/>
          </p:nvSpPr>
          <p:spPr>
            <a:xfrm>
              <a:off x="533400" y="3369945"/>
              <a:ext cx="5410200" cy="2300288"/>
            </a:xfrm>
            <a:prstGeom prst="roundRect">
              <a:avLst>
                <a:gd name="adj" fmla="val 57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3503295"/>
              <a:ext cx="47625" cy="203358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58190" y="355663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50862" y="35894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后果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1332" y="390144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Rectangle 有两个职责：提供矩形形状的几何数据模型，把矩形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显示在屏幕上。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66762" y="451485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22782" y="4458652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计算几何的应用被迫把核心显示模块一起链接进来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66762" y="481488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2782" y="4758690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绘制方式一改，算面积的应用也要重新编译，还可能出不可预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测的失败</a:t>
              </a:r>
            </a:p>
          </p:txBody>
        </p:sp>
      </p:grpSp>
      <p:grpSp>
        <p:nvGrpSpPr>
          <p:cNvPr id="54" name="c2-flow-1"/>
          <p:cNvGrpSpPr/>
          <p:nvPr/>
        </p:nvGrpSpPr>
        <p:grpSpPr>
          <a:xfrm>
            <a:off x="6381750" y="1654492"/>
            <a:ext cx="5143500" cy="1512570"/>
            <a:chOff x="6381750" y="1654492"/>
            <a:chExt cx="5143500" cy="1512570"/>
          </a:xfrm>
        </p:grpSpPr>
        <p:sp>
          <p:nvSpPr>
            <p:cNvPr id="34" name="Freeform 34"/>
            <p:cNvSpPr/>
            <p:nvPr/>
          </p:nvSpPr>
          <p:spPr>
            <a:xfrm>
              <a:off x="7150418" y="2231708"/>
              <a:ext cx="9525" cy="60007"/>
            </a:xfrm>
            <a:custGeom>
              <a:avLst/>
              <a:gdLst/>
              <a:ahLst/>
              <a:cxnLst/>
              <a:rect l="l" t="t" r="r" b="b"/>
              <a:pathLst>
                <a:path w="9525" h="60007">
                  <a:moveTo>
                    <a:pt x="0" y="0"/>
                  </a:moveTo>
                  <a:lnTo>
                    <a:pt x="0" y="6000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7098030" y="22917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8953500" y="2231708"/>
              <a:ext cx="9525" cy="156210"/>
            </a:xfrm>
            <a:custGeom>
              <a:avLst/>
              <a:gdLst/>
              <a:ahLst/>
              <a:cxnLst/>
              <a:rect l="l" t="t" r="r" b="b"/>
              <a:pathLst>
                <a:path w="9525" h="156210">
                  <a:moveTo>
                    <a:pt x="0" y="0"/>
                  </a:moveTo>
                  <a:lnTo>
                    <a:pt x="0" y="1562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8901112" y="23879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8022908" y="278130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918132" y="2728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9722168" y="278130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884092" y="2728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9722168" y="1943100"/>
              <a:ext cx="1034415" cy="444817"/>
            </a:xfrm>
            <a:custGeom>
              <a:avLst/>
              <a:gdLst/>
              <a:ahLst/>
              <a:cxnLst/>
              <a:rect l="l" t="t" r="r" b="b"/>
              <a:pathLst>
                <a:path w="1034415" h="444817">
                  <a:moveTo>
                    <a:pt x="0" y="0"/>
                  </a:moveTo>
                  <a:lnTo>
                    <a:pt x="209550" y="0"/>
                  </a:lnTo>
                  <a:lnTo>
                    <a:pt x="1034415" y="0"/>
                  </a:lnTo>
                  <a:lnTo>
                    <a:pt x="1034415" y="340042"/>
                  </a:lnTo>
                  <a:lnTo>
                    <a:pt x="1034415" y="4448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10704195" y="23879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381750" y="1654492"/>
              <a:ext cx="1536382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184832" y="1654492"/>
              <a:ext cx="1536382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381750" y="2396490"/>
              <a:ext cx="1536382" cy="770572"/>
            </a:xfrm>
            <a:prstGeom prst="roundRect">
              <a:avLst>
                <a:gd name="adj" fmla="val 12361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184832" y="2492692"/>
              <a:ext cx="1536382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9988868" y="2492692"/>
              <a:ext cx="1536382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17983" y="1768316"/>
              <a:ext cx="86487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计算矩形面积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Application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570849" y="1768316"/>
              <a:ext cx="765302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绘制矩形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Application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10871" y="2509361"/>
              <a:ext cx="879094" cy="6048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Geometry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Rectangle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+area(): int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613521" y="2606516"/>
              <a:ext cx="679958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Rectangle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+draw()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281476" y="2606516"/>
              <a:ext cx="950214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DisplayObject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核心显示对象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6248400" y="3369945"/>
            <a:ext cx="5410200" cy="2300288"/>
            <a:chOff x="6248400" y="3369945"/>
            <a:chExt cx="5410200" cy="2300288"/>
          </a:xfrm>
        </p:grpSpPr>
        <p:sp>
          <p:nvSpPr>
            <p:cNvPr id="55" name="Rectangle 55"/>
            <p:cNvSpPr/>
            <p:nvPr/>
          </p:nvSpPr>
          <p:spPr>
            <a:xfrm>
              <a:off x="6248400" y="3369945"/>
              <a:ext cx="5410200" cy="2300288"/>
            </a:xfrm>
            <a:prstGeom prst="roundRect">
              <a:avLst>
                <a:gd name="adj" fmla="val 57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257925" y="3503295"/>
              <a:ext cx="47625" cy="203358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73190" y="3556635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561811" y="358949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拆分后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481762" y="395763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637782" y="3901440"/>
              <a:ext cx="40599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计算部分移进 GeometryRectangle，Rectangle 只剩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draw()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481762" y="451485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637782" y="4458652"/>
              <a:ext cx="44028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计算面积的应用只依赖 GeometryRectangle，不必再链接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DisplayObject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6481762" y="507206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637782" y="5015865"/>
              <a:ext cx="442855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依赖只有 Rectangle → GeometryRectangle 这一个方向，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矩形绘制方式的改变影响不到计算面积的应用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6" name="Rectangle 6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892" y="6028373"/>
              <a:ext cx="9391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更正：源课件这一段写作"把 Rectangle 类中进行计算的部分一道 GeometryRectangle 类中"，"一道"应为"移到"。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6124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019" y="407194"/>
              <a:ext cx="2249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单一职责原则 SRP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判别依据与边界：按变化理由切，不按功能名称切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1956435"/>
            <a:chOff x="533400" y="1524000"/>
            <a:chExt cx="5410200" cy="19564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56435"/>
            </a:xfrm>
            <a:prstGeom prst="roundRect">
              <a:avLst>
                <a:gd name="adj" fmla="val 681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31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978" y="176879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两步法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42950" y="211645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04799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3940" y="212979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列出这个类所有会被修改的场景，写清每个场景背后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的需求方是谁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42950" y="27374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4799" y="27797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43940" y="275082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需求方不同、变化节奏不同的那些方法，属于不同职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责，应该分开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3670935"/>
            <a:ext cx="5410200" cy="1651635"/>
            <a:chOff x="533400" y="3670935"/>
            <a:chExt cx="5410200" cy="1651635"/>
          </a:xfrm>
        </p:grpSpPr>
        <p:sp>
          <p:nvSpPr>
            <p:cNvPr id="18" name="Rectangle 18"/>
            <p:cNvSpPr/>
            <p:nvPr/>
          </p:nvSpPr>
          <p:spPr>
            <a:xfrm>
              <a:off x="533400" y="3670935"/>
              <a:ext cx="5410200" cy="1651635"/>
            </a:xfrm>
            <a:prstGeom prst="roundRect">
              <a:avLst>
                <a:gd name="adj" fmla="val 692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396740"/>
              <a:ext cx="200026" cy="200025"/>
              <a:chOff x="738188" y="4396740"/>
              <a:chExt cx="200026" cy="2000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3967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77926" y="44411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12642" y="45523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130" y="425386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单一职责原则从职责这个侧面，为类和接口的抽象颗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粒度建立了判断基准。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248400" y="1524000"/>
            <a:ext cx="5410200" cy="2291715"/>
            <a:chOff x="6248400" y="1524000"/>
            <a:chExt cx="5410200" cy="2291715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2291715"/>
            </a:xfrm>
            <a:prstGeom prst="roundRect">
              <a:avLst>
                <a:gd name="adj" fmla="val 5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57925" y="1657350"/>
              <a:ext cx="47625" cy="202501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边界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97078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切得太细也有代价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501765" y="219265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59880" y="212979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职责划分依赖对需求的理解，早期切错比不切更麻烦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501765" y="25279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59880" y="246507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每切一刀就多一个类和一层委托，类数量和调用链都会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变长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501765" y="31489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59880" y="3086100"/>
              <a:ext cx="4606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判断依据是"这两部分会不会因为不同的理由被改"，不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是"这两个方法名看起来像不像一类"</a:t>
              </a:r>
            </a:p>
          </p:txBody>
        </p:sp>
      </p:grpSp>
      <p:grpSp>
        <p:nvGrpSpPr>
          <p:cNvPr id="41" name="c2-card-2"/>
          <p:cNvGrpSpPr/>
          <p:nvPr/>
        </p:nvGrpSpPr>
        <p:grpSpPr>
          <a:xfrm>
            <a:off x="6248400" y="4006215"/>
            <a:ext cx="5410200" cy="1316355"/>
            <a:chOff x="6248400" y="4006215"/>
            <a:chExt cx="5410200" cy="1316355"/>
          </a:xfrm>
        </p:grpSpPr>
        <p:sp>
          <p:nvSpPr>
            <p:cNvPr id="37" name="Rectangle 37"/>
            <p:cNvSpPr/>
            <p:nvPr/>
          </p:nvSpPr>
          <p:spPr>
            <a:xfrm>
              <a:off x="6248400" y="4006215"/>
              <a:ext cx="5410200" cy="1316355"/>
            </a:xfrm>
            <a:prstGeom prst="roundRect">
              <a:avLst>
                <a:gd name="adj" fmla="val 101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57950" y="42157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48158" y="42514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出处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50330" y="4592955"/>
              <a:ext cx="3987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Robert C. Martin. The Single Responsibility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Principle (SRP)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2" name="Rectangle 4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130" y="5991225"/>
              <a:ext cx="8294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一个类有两个职责但从来只被同一批人、同一个理由改动，先放着；真正会分头变化时再拆。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247007" cy="2997517"/>
            <a:chOff x="667512" y="1835468"/>
            <a:chExt cx="424700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85840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接口隔离原则 ISP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不能强迫用户去依赖那些他们不使用的接口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门与报警器的四种设计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两种违反，两种遵循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和单一职责的差别在着眼点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410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831" y="407194"/>
              <a:ext cx="22072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接口隔离原则 ISP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接口隔离原则：多个专门的接口好过一个总接口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2702242"/>
            <a:chOff x="533400" y="1524000"/>
            <a:chExt cx="5410200" cy="27022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702242"/>
            </a:xfrm>
            <a:prstGeom prst="roundRect">
              <a:avLst>
                <a:gd name="adj" fmla="val 49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43554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1659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接口隔离原则（ISP）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不能强迫用户去依赖那些他们不使用的接口。换句话说，使用多个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专门的接口比使用单一的总接口要好。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2000" y="264128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17448" y="2589371"/>
              <a:ext cx="456463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接口的设计原则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：遵循最小接口原则，不把用户不使用的方法塞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进同一个接口。接口里有方法没被用到，说明这个接口过胖，应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该分割成几个功能专一的接口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2000" y="341280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7448" y="3359944"/>
              <a:ext cx="456463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接口的依赖（继承）原则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：接口 a 继承接口 b，就相当于继承了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的方法，继承后的 a 同样不应包含用户不使用的方法，否则说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 a 被 b 污染了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391025"/>
            <a:ext cx="5410200" cy="1305878"/>
            <a:chOff x="533400" y="4391025"/>
            <a:chExt cx="5410200" cy="1305878"/>
          </a:xfrm>
        </p:grpSpPr>
        <p:sp>
          <p:nvSpPr>
            <p:cNvPr id="18" name="Rectangle 18"/>
            <p:cNvSpPr/>
            <p:nvPr/>
          </p:nvSpPr>
          <p:spPr>
            <a:xfrm>
              <a:off x="533400" y="4391025"/>
              <a:ext cx="5410200" cy="1305878"/>
            </a:xfrm>
            <a:prstGeom prst="roundRect">
              <a:avLst>
                <a:gd name="adj" fmla="val 875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26129" y="4939783"/>
              <a:ext cx="224134" cy="192560"/>
              <a:chOff x="726129" y="4939783"/>
              <a:chExt cx="224134" cy="19256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38200" y="50101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26129" y="493978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38200" y="50879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1273" y="4837271"/>
              <a:ext cx="44020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一个用户依赖了自己不用、却被别人使用的接口，别人改接口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时所有依赖者都跟着受影响，这同时违反了开闭原则。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524000"/>
            <a:ext cx="5410200" cy="1649730"/>
            <a:chOff x="6248400" y="1524000"/>
            <a:chExt cx="5410200" cy="1649730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649730"/>
            </a:xfrm>
            <a:prstGeom prst="roundRect">
              <a:avLst>
                <a:gd name="adj" fmla="val 80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57925" y="1657350"/>
              <a:ext cx="47625" cy="13830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67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60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场景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33451" y="174450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门与报警器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60998" y="2061686"/>
              <a:ext cx="4775962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有一个 Door，具备 lock、unlock 功能。另外可以在 Door 上安装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 Alarm 使其具有报警功能。用户可以选普通门，也可以选带报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警功能的门。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62141" y="2827973"/>
              <a:ext cx="33742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下面用四种设计来对比，前两种违反 ISP，后两种遵循</a:t>
              </a:r>
            </a:p>
          </p:txBody>
        </p:sp>
      </p:grpSp>
      <p:grpSp>
        <p:nvGrpSpPr>
          <p:cNvPr id="56" name="c2-uml-2"/>
          <p:cNvGrpSpPr/>
          <p:nvPr/>
        </p:nvGrpSpPr>
        <p:grpSpPr>
          <a:xfrm>
            <a:off x="7029450" y="3403282"/>
            <a:ext cx="3848100" cy="2160271"/>
            <a:chOff x="7029450" y="3403282"/>
            <a:chExt cx="3848100" cy="2160271"/>
          </a:xfrm>
        </p:grpSpPr>
        <p:sp>
          <p:nvSpPr>
            <p:cNvPr id="33" name="Freeform 33"/>
            <p:cNvSpPr/>
            <p:nvPr/>
          </p:nvSpPr>
          <p:spPr>
            <a:xfrm>
              <a:off x="7600950" y="4551998"/>
              <a:ext cx="1257300" cy="99060"/>
            </a:xfrm>
            <a:custGeom>
              <a:avLst/>
              <a:gdLst/>
              <a:ahLst/>
              <a:cxnLst/>
              <a:rect l="l" t="t" r="r" b="b"/>
              <a:pathLst>
                <a:path w="1257300" h="99060">
                  <a:moveTo>
                    <a:pt x="0" y="99060"/>
                  </a:moveTo>
                  <a:lnTo>
                    <a:pt x="0" y="0"/>
                  </a:lnTo>
                  <a:lnTo>
                    <a:pt x="1257300" y="0"/>
                  </a:lnTo>
                  <a:lnTo>
                    <a:pt x="1257300" y="2667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34" name="Freeform 34"/>
            <p:cNvSpPr/>
            <p:nvPr/>
          </p:nvSpPr>
          <p:spPr>
            <a:xfrm>
              <a:off x="8784908" y="445293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048750" y="4551998"/>
              <a:ext cx="1257300" cy="99060"/>
            </a:xfrm>
            <a:custGeom>
              <a:avLst/>
              <a:gdLst/>
              <a:ahLst/>
              <a:cxnLst/>
              <a:rect l="l" t="t" r="r" b="b"/>
              <a:pathLst>
                <a:path w="1257300" h="99060">
                  <a:moveTo>
                    <a:pt x="1257300" y="99060"/>
                  </a:moveTo>
                  <a:lnTo>
                    <a:pt x="1257300" y="0"/>
                  </a:lnTo>
                  <a:lnTo>
                    <a:pt x="0" y="0"/>
                  </a:lnTo>
                  <a:lnTo>
                    <a:pt x="0" y="2667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36" name="Freeform 36"/>
            <p:cNvSpPr/>
            <p:nvPr/>
          </p:nvSpPr>
          <p:spPr>
            <a:xfrm>
              <a:off x="8975408" y="445293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382000" y="3403282"/>
              <a:ext cx="1143000" cy="104965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89620" y="3409950"/>
              <a:ext cx="1128712" cy="36480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8382000" y="377094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8382000" y="386619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029450" y="4651058"/>
              <a:ext cx="1143000" cy="91249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037070" y="4657725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029450" y="488156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029450" y="497681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9734550" y="4651058"/>
              <a:ext cx="1143000" cy="91249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9742170" y="4657725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734550" y="488156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734550" y="497681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628611" y="3456146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794014" y="359616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Door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453438" y="3935730"/>
              <a:ext cx="581025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lock()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unlock()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alarm()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82725" y="4706779"/>
              <a:ext cx="8364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CommonDoor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100888" y="5046345"/>
              <a:ext cx="581025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lock()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unlock()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alarm()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957444" y="4706779"/>
              <a:ext cx="6972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AlarmDoor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805988" y="5046345"/>
              <a:ext cx="581025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lock()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unlock()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alarm()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7" name="Rectangle 57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1273" y="6039326"/>
              <a:ext cx="75957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方法一：所有方法都塞进 Door 接口。CommonDoor 不得不实现自己用不到的 alarm()，违反 ISP。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01585" cy="909257"/>
            <a:chOff x="520446" y="342900"/>
            <a:chExt cx="74015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410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831" y="407194"/>
              <a:ext cx="22072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接口隔离原则 ISP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015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方法二也不行：让 Door 接口去继承 Alarm 接口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uml-1"/>
          <p:cNvGrpSpPr/>
          <p:nvPr/>
        </p:nvGrpSpPr>
        <p:grpSpPr>
          <a:xfrm>
            <a:off x="1260158" y="1913572"/>
            <a:ext cx="3740467" cy="4101465"/>
            <a:chOff x="1260158" y="1913572"/>
            <a:chExt cx="3740467" cy="4101465"/>
          </a:xfrm>
        </p:grpSpPr>
        <p:sp>
          <p:nvSpPr>
            <p:cNvPr id="7" name="Freeform 7"/>
            <p:cNvSpPr/>
            <p:nvPr/>
          </p:nvSpPr>
          <p:spPr>
            <a:xfrm>
              <a:off x="3129915" y="2850832"/>
              <a:ext cx="9525" cy="559117"/>
            </a:xfrm>
            <a:custGeom>
              <a:avLst/>
              <a:gdLst/>
              <a:ahLst/>
              <a:cxnLst/>
              <a:rect l="l" t="t" r="r" b="b"/>
              <a:pathLst>
                <a:path w="9525" h="559117">
                  <a:moveTo>
                    <a:pt x="0" y="55911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056572" y="272510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831658" y="4535805"/>
              <a:ext cx="1203008" cy="449580"/>
            </a:xfrm>
            <a:custGeom>
              <a:avLst/>
              <a:gdLst/>
              <a:ahLst/>
              <a:cxnLst/>
              <a:rect l="l" t="t" r="r" b="b"/>
              <a:pathLst>
                <a:path w="1203008" h="449580">
                  <a:moveTo>
                    <a:pt x="0" y="449580"/>
                  </a:moveTo>
                  <a:lnTo>
                    <a:pt x="0" y="161925"/>
                  </a:lnTo>
                  <a:lnTo>
                    <a:pt x="1203008" y="161925"/>
                  </a:lnTo>
                  <a:lnTo>
                    <a:pt x="120300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2961322" y="441007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225165" y="4535805"/>
              <a:ext cx="1203960" cy="449580"/>
            </a:xfrm>
            <a:custGeom>
              <a:avLst/>
              <a:gdLst/>
              <a:ahLst/>
              <a:cxnLst/>
              <a:rect l="l" t="t" r="r" b="b"/>
              <a:pathLst>
                <a:path w="1203960" h="449580">
                  <a:moveTo>
                    <a:pt x="1203960" y="449580"/>
                  </a:moveTo>
                  <a:lnTo>
                    <a:pt x="1203960" y="161925"/>
                  </a:lnTo>
                  <a:lnTo>
                    <a:pt x="0" y="16192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3151822" y="441007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2558415" y="1913572"/>
              <a:ext cx="1143000" cy="81153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566035" y="1921192"/>
              <a:ext cx="1128712" cy="423862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558415" y="234029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558415" y="243554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558415" y="3409950"/>
              <a:ext cx="1143000" cy="100107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566035" y="3416618"/>
              <a:ext cx="1128712" cy="423862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558415" y="383667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558415" y="393192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260158" y="4985385"/>
              <a:ext cx="1143000" cy="10296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1267778" y="4993005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260158" y="525208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1260158" y="534733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3857625" y="4985385"/>
              <a:ext cx="1143000" cy="10296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864292" y="4993005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3857625" y="525208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3857625" y="534733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742372" y="1975009"/>
              <a:ext cx="7750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08058" y="2137886"/>
              <a:ext cx="4437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Alarm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629281" y="2507932"/>
              <a:ext cx="6679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alarm()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742372" y="3471386"/>
              <a:ext cx="7750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947591" y="3634264"/>
              <a:ext cx="364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Door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629281" y="4004310"/>
              <a:ext cx="677418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lock()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unlock()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353632" y="5049679"/>
              <a:ext cx="9560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CommonDoor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331024" y="5419725"/>
              <a:ext cx="677418" cy="5844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lock()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unlock()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alarm()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30664" y="5049679"/>
              <a:ext cx="7969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AlarmDoor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28491" y="5419725"/>
              <a:ext cx="677418" cy="5844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lock()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unlock()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alarm()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032182" y="1524000"/>
            <a:ext cx="5626418" cy="1865948"/>
            <a:chOff x="6032182" y="1524000"/>
            <a:chExt cx="5626418" cy="1865948"/>
          </a:xfrm>
        </p:grpSpPr>
        <p:sp>
          <p:nvSpPr>
            <p:cNvPr id="40" name="Rectangle 40"/>
            <p:cNvSpPr/>
            <p:nvPr/>
          </p:nvSpPr>
          <p:spPr>
            <a:xfrm>
              <a:off x="6032182" y="1524000"/>
              <a:ext cx="5626418" cy="1865948"/>
            </a:xfrm>
            <a:prstGeom prst="roundRect">
              <a:avLst>
                <a:gd name="adj" fmla="val 71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041708" y="1657350"/>
              <a:ext cx="47625" cy="159924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74118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64326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66879" y="2100739"/>
              <a:ext cx="464019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Alarm 接口定义 alarm 方法，在 Door 接口定义 lock、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unlock，Door 接口继承 Alarm 接口。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66879" y="2692241"/>
              <a:ext cx="493776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跟方法一一样，依赖 Door 接口的 CommonDoor 还是不得不实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现未使用的 alarm() 方法，违反 ISP。</a:t>
              </a:r>
            </a:p>
          </p:txBody>
        </p:sp>
      </p:grpSp>
      <p:grpSp>
        <p:nvGrpSpPr>
          <p:cNvPr id="51" name="c2-code-2"/>
          <p:cNvGrpSpPr/>
          <p:nvPr/>
        </p:nvGrpSpPr>
        <p:grpSpPr>
          <a:xfrm>
            <a:off x="6032182" y="3575685"/>
            <a:ext cx="5626418" cy="1516380"/>
            <a:chOff x="6032182" y="3575685"/>
            <a:chExt cx="5626418" cy="1516380"/>
          </a:xfrm>
        </p:grpSpPr>
        <p:sp>
          <p:nvSpPr>
            <p:cNvPr id="47" name="Rectangle 47"/>
            <p:cNvSpPr/>
            <p:nvPr/>
          </p:nvSpPr>
          <p:spPr>
            <a:xfrm>
              <a:off x="6032182" y="3575685"/>
              <a:ext cx="5626418" cy="1516380"/>
            </a:xfrm>
            <a:prstGeom prst="roundRect">
              <a:avLst>
                <a:gd name="adj" fmla="val 62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160580" y="3727609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两种违反写法的共同症状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051232" y="4555808"/>
              <a:ext cx="5588318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59817" y="3990499"/>
              <a:ext cx="4093718" cy="1031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CommonDoor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Door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lock()   {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真实现 */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unlock() {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真实现 */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alarm()  {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空实现，只为编译通过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57" name="c2-callout-3"/>
          <p:cNvGrpSpPr/>
          <p:nvPr/>
        </p:nvGrpSpPr>
        <p:grpSpPr>
          <a:xfrm>
            <a:off x="6032182" y="5277802"/>
            <a:ext cx="5626418" cy="1018222"/>
            <a:chOff x="6032182" y="5277802"/>
            <a:chExt cx="5626418" cy="1018222"/>
          </a:xfrm>
        </p:grpSpPr>
        <p:sp>
          <p:nvSpPr>
            <p:cNvPr id="52" name="Rectangle 52"/>
            <p:cNvSpPr/>
            <p:nvPr/>
          </p:nvSpPr>
          <p:spPr>
            <a:xfrm>
              <a:off x="6032182" y="5277802"/>
              <a:ext cx="5626418" cy="1018222"/>
            </a:xfrm>
            <a:prstGeom prst="roundRect">
              <a:avLst>
                <a:gd name="adj" fmla="val 11225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6236970" y="5686427"/>
              <a:ext cx="200023" cy="200023"/>
              <a:chOff x="6236970" y="5686427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236970" y="568642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370320" y="5753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6539294" y="5424964"/>
              <a:ext cx="461314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出现"为了让编译通过而写的空方法"或"抛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UnsupportedOperationException 的方法"，基本可以判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定接口过胖。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36818" cy="909257"/>
            <a:chOff x="520446" y="342900"/>
            <a:chExt cx="59368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410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831" y="407194"/>
              <a:ext cx="22072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接口隔离原则 ISP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368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两种遵循 ISP 的设计：多重实现与委托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uml-1"/>
          <p:cNvGrpSpPr/>
          <p:nvPr/>
        </p:nvGrpSpPr>
        <p:grpSpPr>
          <a:xfrm>
            <a:off x="1314450" y="1590675"/>
            <a:ext cx="3848100" cy="1841183"/>
            <a:chOff x="1314450" y="1590675"/>
            <a:chExt cx="3848100" cy="1841183"/>
          </a:xfrm>
        </p:grpSpPr>
        <p:sp>
          <p:nvSpPr>
            <p:cNvPr id="7" name="Freeform 7"/>
            <p:cNvSpPr/>
            <p:nvPr/>
          </p:nvSpPr>
          <p:spPr>
            <a:xfrm>
              <a:off x="1885950" y="2604135"/>
              <a:ext cx="9525" cy="77153"/>
            </a:xfrm>
            <a:custGeom>
              <a:avLst/>
              <a:gdLst/>
              <a:ahLst/>
              <a:cxnLst/>
              <a:rect l="l" t="t" r="r" b="b"/>
              <a:pathLst>
                <a:path w="9525" h="77153">
                  <a:moveTo>
                    <a:pt x="0" y="77153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8" name="Freeform 8"/>
            <p:cNvSpPr/>
            <p:nvPr/>
          </p:nvSpPr>
          <p:spPr>
            <a:xfrm>
              <a:off x="1812608" y="247840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583180" y="3056572"/>
              <a:ext cx="1436370" cy="9525"/>
            </a:xfrm>
            <a:custGeom>
              <a:avLst/>
              <a:gdLst/>
              <a:ahLst/>
              <a:cxnLst/>
              <a:rect l="l" t="t" r="r" b="b"/>
              <a:pathLst>
                <a:path w="1436370" h="9525">
                  <a:moveTo>
                    <a:pt x="143637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457450" y="2983230"/>
              <a:ext cx="125730" cy="146685"/>
            </a:xfrm>
            <a:custGeom>
              <a:avLst/>
              <a:gdLst/>
              <a:ahLst/>
              <a:cxnLst/>
              <a:rect l="l" t="t" r="r" b="b"/>
              <a:pathLst>
                <a:path w="125730" h="146685">
                  <a:moveTo>
                    <a:pt x="0" y="73342"/>
                  </a:moveTo>
                  <a:lnTo>
                    <a:pt x="125730" y="0"/>
                  </a:lnTo>
                  <a:lnTo>
                    <a:pt x="125730" y="146685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591050" y="2523172"/>
              <a:ext cx="9525" cy="239078"/>
            </a:xfrm>
            <a:custGeom>
              <a:avLst/>
              <a:gdLst/>
              <a:ahLst/>
              <a:cxnLst/>
              <a:rect l="l" t="t" r="r" b="b"/>
              <a:pathLst>
                <a:path w="9525" h="239078">
                  <a:moveTo>
                    <a:pt x="0" y="239078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4517708" y="239744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314450" y="1590675"/>
              <a:ext cx="1143000" cy="88773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1322070" y="1598295"/>
              <a:ext cx="1128712" cy="36480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314450" y="19583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314450" y="205359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019550" y="1672590"/>
              <a:ext cx="1143000" cy="7248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027170" y="1679258"/>
              <a:ext cx="1128712" cy="36480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019550" y="204025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019550" y="213550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314450" y="2681288"/>
              <a:ext cx="114300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1322070" y="2687955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314450" y="291179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1314450" y="300704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019550" y="2762250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027170" y="2769870"/>
              <a:ext cx="112871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019550" y="299275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019550" y="308800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561061" y="1643539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26464" y="178355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Door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85888" y="2123122"/>
              <a:ext cx="58102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lock()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unlock()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266161" y="1725454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396973" y="1865471"/>
              <a:ext cx="3881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Alarm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90988" y="2205038"/>
              <a:ext cx="5729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alarm()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467725" y="2737009"/>
              <a:ext cx="8364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CommonDoor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385888" y="3076575"/>
              <a:ext cx="58102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lock()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unlock()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242444" y="2817971"/>
              <a:ext cx="6972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AlarmDoor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090988" y="3157538"/>
              <a:ext cx="5729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alarm()</a:t>
              </a:r>
            </a:p>
          </p:txBody>
        </p:sp>
      </p:grpSp>
      <p:grpSp>
        <p:nvGrpSpPr>
          <p:cNvPr id="43" name="c1-code-2"/>
          <p:cNvGrpSpPr/>
          <p:nvPr/>
        </p:nvGrpSpPr>
        <p:grpSpPr>
          <a:xfrm>
            <a:off x="533400" y="3737610"/>
            <a:ext cx="5410200" cy="1912620"/>
            <a:chOff x="533400" y="3737610"/>
            <a:chExt cx="5410200" cy="1912620"/>
          </a:xfrm>
        </p:grpSpPr>
        <p:sp>
          <p:nvSpPr>
            <p:cNvPr id="40" name="Rectangle 40"/>
            <p:cNvSpPr/>
            <p:nvPr/>
          </p:nvSpPr>
          <p:spPr>
            <a:xfrm>
              <a:off x="533400" y="3737610"/>
              <a:ext cx="5410200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1797" y="3889534"/>
              <a:ext cx="25281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方法三，继承 CommonDoor 并实现 Alarm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1797" y="4149566"/>
              <a:ext cx="4117086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Door 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lock();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unlock(); 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Alarm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alarm(); 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CommonDoor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Door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lock() { }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unlock()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AlarmDoor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CommonDoor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Alarm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alarm()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77" name="c2-uml-1"/>
          <p:cNvGrpSpPr/>
          <p:nvPr/>
        </p:nvGrpSpPr>
        <p:grpSpPr>
          <a:xfrm>
            <a:off x="7029450" y="1590675"/>
            <a:ext cx="3918243" cy="1841183"/>
            <a:chOff x="7029450" y="1590675"/>
            <a:chExt cx="3918243" cy="1841183"/>
          </a:xfrm>
        </p:grpSpPr>
        <p:sp>
          <p:nvSpPr>
            <p:cNvPr id="44" name="Freeform 44"/>
            <p:cNvSpPr/>
            <p:nvPr/>
          </p:nvSpPr>
          <p:spPr>
            <a:xfrm>
              <a:off x="7600950" y="2604135"/>
              <a:ext cx="9525" cy="77153"/>
            </a:xfrm>
            <a:custGeom>
              <a:avLst/>
              <a:gdLst/>
              <a:ahLst/>
              <a:cxnLst/>
              <a:rect l="l" t="t" r="r" b="b"/>
              <a:pathLst>
                <a:path w="9525" h="77153">
                  <a:moveTo>
                    <a:pt x="0" y="77153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45" name="Freeform 45"/>
            <p:cNvSpPr/>
            <p:nvPr/>
          </p:nvSpPr>
          <p:spPr>
            <a:xfrm>
              <a:off x="7527608" y="247840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0306050" y="2523172"/>
              <a:ext cx="9525" cy="158115"/>
            </a:xfrm>
            <a:custGeom>
              <a:avLst/>
              <a:gdLst/>
              <a:ahLst/>
              <a:cxnLst/>
              <a:rect l="l" t="t" r="r" b="b"/>
              <a:pathLst>
                <a:path w="9525" h="158115">
                  <a:moveTo>
                    <a:pt x="0" y="15811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47" name="Freeform 47"/>
            <p:cNvSpPr/>
            <p:nvPr/>
          </p:nvSpPr>
          <p:spPr>
            <a:xfrm>
              <a:off x="10232708" y="239744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8172450" y="3056572"/>
              <a:ext cx="1287780" cy="9525"/>
            </a:xfrm>
            <a:custGeom>
              <a:avLst/>
              <a:gdLst/>
              <a:ahLst/>
              <a:cxnLst/>
              <a:rect l="l" t="t" r="r" b="b"/>
              <a:pathLst>
                <a:path w="1287780" h="9525">
                  <a:moveTo>
                    <a:pt x="0" y="0"/>
                  </a:moveTo>
                  <a:lnTo>
                    <a:pt x="128778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9460230" y="2998470"/>
              <a:ext cx="209550" cy="115252"/>
            </a:xfrm>
            <a:custGeom>
              <a:avLst/>
              <a:gdLst/>
              <a:ahLst/>
              <a:cxnLst/>
              <a:rect l="l" t="t" r="r" b="b"/>
              <a:pathLst>
                <a:path w="209550" h="115252">
                  <a:moveTo>
                    <a:pt x="209550" y="58102"/>
                  </a:moveTo>
                  <a:lnTo>
                    <a:pt x="104775" y="115252"/>
                  </a:lnTo>
                  <a:lnTo>
                    <a:pt x="0" y="58102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029450" y="1590675"/>
              <a:ext cx="1143000" cy="88773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037070" y="1598295"/>
              <a:ext cx="1128712" cy="36480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029450" y="19583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029450" y="205359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734550" y="1672590"/>
              <a:ext cx="1143000" cy="7248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9742170" y="1679258"/>
              <a:ext cx="1128712" cy="36480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734550" y="204025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734550" y="213550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7029450" y="2681288"/>
              <a:ext cx="114300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037070" y="2687955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029450" y="291179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7029450" y="300704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9669780" y="2681288"/>
              <a:ext cx="127254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9677400" y="2687955"/>
              <a:ext cx="125825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9669780" y="2911792"/>
              <a:ext cx="12725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9669780" y="3168968"/>
              <a:ext cx="12725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276061" y="1643539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441464" y="178355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Door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100888" y="2123122"/>
              <a:ext cx="58102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lock()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unlock()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981161" y="1725454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111973" y="1865471"/>
              <a:ext cx="3881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Alarm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805988" y="2205038"/>
              <a:ext cx="5729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alarm()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182725" y="2737009"/>
              <a:ext cx="8364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CommonDoor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100888" y="3076575"/>
              <a:ext cx="58102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lock()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unlock()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957444" y="2737009"/>
              <a:ext cx="6972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AlarmDoor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741218" y="2981325"/>
              <a:ext cx="12064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door: CommonDoor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741218" y="3238500"/>
              <a:ext cx="5729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alarm()</a:t>
              </a:r>
            </a:p>
          </p:txBody>
        </p:sp>
      </p:grpSp>
      <p:grpSp>
        <p:nvGrpSpPr>
          <p:cNvPr id="81" name="c2-code-2"/>
          <p:cNvGrpSpPr/>
          <p:nvPr/>
        </p:nvGrpSpPr>
        <p:grpSpPr>
          <a:xfrm>
            <a:off x="6248400" y="3737610"/>
            <a:ext cx="5410200" cy="1561148"/>
            <a:chOff x="6248400" y="3737610"/>
            <a:chExt cx="5410200" cy="1561148"/>
          </a:xfrm>
        </p:grpSpPr>
        <p:sp>
          <p:nvSpPr>
            <p:cNvPr id="78" name="Rectangle 78"/>
            <p:cNvSpPr/>
            <p:nvPr/>
          </p:nvSpPr>
          <p:spPr>
            <a:xfrm>
              <a:off x="6248400" y="3737610"/>
              <a:ext cx="5410200" cy="1561148"/>
            </a:xfrm>
            <a:prstGeom prst="roundRect">
              <a:avLst>
                <a:gd name="adj" fmla="val 610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376797" y="3889534"/>
              <a:ext cx="27858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方法四，把 lock/unlock 委托给 CommonDoor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376797" y="4149566"/>
              <a:ext cx="3227197" cy="1071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AlarmDoor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Alarm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CommonDoor door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CommonDoor();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lock()   { door.lock();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unlock() { door.unlock();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alarm() 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8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82" name="Rectangle 82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1040892" y="6028373"/>
              <a:ext cx="104047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源课件评价：方法三的两个方案里，AlarmDoor 继承 CommonDoor 再实现 Alarm 更有实用性；方法四本质上就是适配器的做法。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410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831" y="407194"/>
              <a:ext cx="22072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接口隔离原则 ISP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判别依据与边界：和单一职责原则比着看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33400" y="1524000"/>
            <a:ext cx="11125200" cy="2028825"/>
            <a:chOff x="533400" y="1524000"/>
            <a:chExt cx="11125200" cy="20288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91158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028974" y="1648301"/>
              <a:ext cx="12422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单一职责原则 SRP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21896" y="1648301"/>
              <a:ext cx="1200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接口隔离原则 ISP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15771" y="20540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针对内容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13635" y="205406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模块、类、接口的设计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85648" y="205406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更侧重于接口的设计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30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3553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15771" y="24598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思考角度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13635" y="2459831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从软件实体本身的职责是否单一出发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85648" y="245983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从用户怎么使用接口出发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365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15771" y="28655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判断办法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13635" y="286559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列出引起该实体变化的理由有几条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85648" y="286559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看调用者是不是只用到接口的一部分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42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14706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997" y="327136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同一个胖接口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413635" y="3271361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靠文档约定"不使用的方法不要访问"，是允许的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995160" y="3156585"/>
              <a:ext cx="4653915" cy="38671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085648" y="327136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不允许，要求拆成多个专门的接口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1524000"/>
              <a:ext cx="11125200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2308860" y="152400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980872" y="152400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c1-compare-2"/>
          <p:cNvGrpSpPr/>
          <p:nvPr/>
        </p:nvGrpSpPr>
        <p:grpSpPr>
          <a:xfrm>
            <a:off x="533400" y="3728085"/>
            <a:ext cx="11125200" cy="1974532"/>
            <a:chOff x="533400" y="3728085"/>
            <a:chExt cx="11125200" cy="1974532"/>
          </a:xfrm>
        </p:grpSpPr>
        <p:sp>
          <p:nvSpPr>
            <p:cNvPr id="33" name="Rectangle 33"/>
            <p:cNvSpPr/>
            <p:nvPr/>
          </p:nvSpPr>
          <p:spPr>
            <a:xfrm>
              <a:off x="533400" y="3728085"/>
              <a:ext cx="5261610" cy="1974532"/>
            </a:xfrm>
            <a:prstGeom prst="roundRect">
              <a:avLst>
                <a:gd name="adj" fmla="val 67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42925" y="3861435"/>
              <a:ext cx="47625" cy="17078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57047" y="394239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两者相同的地方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72478" y="431863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28497" y="426243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都是为了提高内聚性、降低耦合性，体现封装的思想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72478" y="462153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28497" y="4565332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最终表现出来的都是把接口约束到最小功能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6990" y="3728085"/>
              <a:ext cx="5261610" cy="1974532"/>
            </a:xfrm>
            <a:prstGeom prst="roundRect">
              <a:avLst>
                <a:gd name="adj" fmla="val 67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06515" y="3861435"/>
              <a:ext cx="47625" cy="17078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20637" y="394239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边界与代价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636067" y="431863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92087" y="4262438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接口拆得过碎时，一个实现类要 implements 一长串接口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636067" y="462153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92087" y="4565332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客户端要同时用到两组功能时，反而要持有多个引用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636067" y="492347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792087" y="4867275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接口的粒度以"某一类调用者需要的全部方法"为准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5842635" y="4461510"/>
              <a:ext cx="506730" cy="50673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893156" y="465439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共同点</a:t>
              </a:r>
            </a:p>
          </p:txBody>
        </p:sp>
      </p:grpSp>
      <p:grpSp>
        <p:nvGrpSpPr>
          <p:cNvPr id="5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2" name="Rectangle 5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0892" y="6023610"/>
              <a:ext cx="94640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专门的接口指的是提供给每个模块的都恰好是它需要调用的接口，而不是建一个庞大臃肿的接口容纳所有客户端访问。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247007" cy="2997517"/>
            <a:chOff x="667512" y="1835468"/>
            <a:chExt cx="424700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85840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依赖倒置原则 DIP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高层模块不依赖低层模块，二者都依赖抽象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倒置的是依赖方向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熔炉调节器被硬件绑死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三条启发与一个例外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410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831" y="407194"/>
              <a:ext cx="22072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依赖倒置原则 DIP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依赖倒置：倒过来的是依赖的方向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410200" cy="1202055"/>
            <a:chOff x="533400" y="1524000"/>
            <a:chExt cx="5410200" cy="12020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1659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依赖倒置原则（DIP）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2000" y="211359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17448" y="2061686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高层模块不应依赖低层模块，二者都应依赖抽象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2000" y="2398395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17448" y="234648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抽象不应依赖细节，细节应该依赖抽象</a:t>
              </a:r>
            </a:p>
          </p:txBody>
        </p:sp>
      </p:grpSp>
      <p:grpSp>
        <p:nvGrpSpPr>
          <p:cNvPr id="25" name="c1-kv-2"/>
          <p:cNvGrpSpPr/>
          <p:nvPr/>
        </p:nvGrpSpPr>
        <p:grpSpPr>
          <a:xfrm>
            <a:off x="526923" y="2912269"/>
            <a:ext cx="5416677" cy="997076"/>
            <a:chOff x="526923" y="2912269"/>
            <a:chExt cx="5416677" cy="997076"/>
          </a:xfrm>
        </p:grpSpPr>
        <p:sp>
          <p:nvSpPr>
            <p:cNvPr id="17" name="TextBox 17"/>
            <p:cNvSpPr txBox="1"/>
            <p:nvPr/>
          </p:nvSpPr>
          <p:spPr>
            <a:xfrm>
              <a:off x="526923" y="291226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51800" y="291226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 a 调用了模块 b，就说 a 依赖 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842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923" y="328660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低层模块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1800" y="328660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实现基本操作的类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5585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923" y="36599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高层模块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51800" y="365998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封装复杂逻辑、要用到低层类的类</a:t>
              </a:r>
            </a:p>
          </p:txBody>
        </p:sp>
      </p:grpSp>
      <p:grpSp>
        <p:nvGrpSpPr>
          <p:cNvPr id="28" name="c1-image-3"/>
          <p:cNvGrpSpPr/>
          <p:nvPr/>
        </p:nvGrpSpPr>
        <p:grpSpPr>
          <a:xfrm>
            <a:off x="533400" y="4024312"/>
            <a:ext cx="5410200" cy="1618964"/>
            <a:chOff x="533400" y="4024312"/>
            <a:chExt cx="5410200" cy="1618964"/>
          </a:xfrm>
        </p:grpSpPr>
        <p:pic>
          <p:nvPicPr>
            <p:cNvPr id="26" name="Image 26"/>
            <p:cNvPicPr>
              <a:picLocks noChangeAspect="1"/>
            </p:cNvPicPr>
            <p:nvPr/>
          </p:nvPicPr>
          <p:blipFill>
            <a:blip r:embed="rId2"/>
            <a:srcRect l="0" t="33544" r="0" b="33545"/>
            <a:stretch>
              <a:fillRect/>
            </a:stretch>
          </p:blipFill>
          <p:spPr>
            <a:xfrm>
              <a:off x="533400" y="4024312"/>
              <a:ext cx="5410200" cy="1335405"/>
            </a:xfrm>
            <a:prstGeom prst="roundRect">
              <a:avLst>
                <a:gd name="adj" fmla="val 9985"/>
              </a:avLst>
            </a:prstGeom>
          </p:spPr>
        </p:pic>
        <p:sp>
          <p:nvSpPr>
            <p:cNvPr id="27" name="TextBox 27"/>
            <p:cNvSpPr txBox="1"/>
            <p:nvPr/>
          </p:nvSpPr>
          <p:spPr>
            <a:xfrm>
              <a:off x="2178126" y="5452586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机身只认卡口尺寸，不认具体的镜头</a:t>
              </a:r>
            </a:p>
          </p:txBody>
        </p:sp>
      </p:grpSp>
      <p:grpSp>
        <p:nvGrpSpPr>
          <p:cNvPr id="53" name="c2-graph-1"/>
          <p:cNvGrpSpPr/>
          <p:nvPr/>
        </p:nvGrpSpPr>
        <p:grpSpPr>
          <a:xfrm>
            <a:off x="6723698" y="1550670"/>
            <a:ext cx="4027170" cy="2224088"/>
            <a:chOff x="6723698" y="1550670"/>
            <a:chExt cx="4027170" cy="2224088"/>
          </a:xfrm>
        </p:grpSpPr>
        <p:sp>
          <p:nvSpPr>
            <p:cNvPr id="29" name="Freeform 29"/>
            <p:cNvSpPr/>
            <p:nvPr/>
          </p:nvSpPr>
          <p:spPr>
            <a:xfrm>
              <a:off x="7330440" y="2252662"/>
              <a:ext cx="9525" cy="924878"/>
            </a:xfrm>
            <a:custGeom>
              <a:avLst/>
              <a:gdLst/>
              <a:ahLst/>
              <a:cxnLst/>
              <a:rect l="l" t="t" r="r" b="b"/>
              <a:pathLst>
                <a:path w="9525" h="924878">
                  <a:moveTo>
                    <a:pt x="0" y="0"/>
                  </a:moveTo>
                  <a:lnTo>
                    <a:pt x="0" y="92487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282815" y="31775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10144125" y="2074545"/>
              <a:ext cx="9525" cy="381952"/>
            </a:xfrm>
            <a:custGeom>
              <a:avLst/>
              <a:gdLst/>
              <a:ahLst/>
              <a:cxnLst/>
              <a:rect l="l" t="t" r="r" b="b"/>
              <a:pathLst>
                <a:path w="9525" h="381952">
                  <a:moveTo>
                    <a:pt x="0" y="0"/>
                  </a:moveTo>
                  <a:lnTo>
                    <a:pt x="0" y="38195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10096500" y="245649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10144125" y="3020378"/>
              <a:ext cx="9525" cy="381952"/>
            </a:xfrm>
            <a:custGeom>
              <a:avLst/>
              <a:gdLst/>
              <a:ahLst/>
              <a:cxnLst/>
              <a:rect l="l" t="t" r="r" b="b"/>
              <a:pathLst>
                <a:path w="9525" h="381952">
                  <a:moveTo>
                    <a:pt x="0" y="38195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4" name="Freeform 34"/>
            <p:cNvSpPr/>
            <p:nvPr/>
          </p:nvSpPr>
          <p:spPr>
            <a:xfrm>
              <a:off x="10096500" y="292512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723698" y="1864042"/>
              <a:ext cx="1214438" cy="388620"/>
            </a:xfrm>
            <a:prstGeom prst="roundRect">
              <a:avLst>
                <a:gd name="adj" fmla="val 24510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723698" y="3272790"/>
              <a:ext cx="1214438" cy="388620"/>
            </a:xfrm>
            <a:prstGeom prst="roundRect">
              <a:avLst>
                <a:gd name="adj" fmla="val 24510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536430" y="1702118"/>
              <a:ext cx="121443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9536430" y="2551748"/>
              <a:ext cx="1214438" cy="372428"/>
            </a:xfrm>
            <a:prstGeom prst="roundRect">
              <a:avLst>
                <a:gd name="adj" fmla="val 25575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9536430" y="3402330"/>
              <a:ext cx="121443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042404" y="199263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高层模块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042404" y="34013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低层模块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56089" y="182308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高层模块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785414" y="267271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抽象接口层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856089" y="352329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低层模块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083742" y="2684145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104901" y="2713196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直接依赖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0001250" y="2234565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028974" y="2264569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0001250" y="3085148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028974" y="3114199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30378" y="155067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结构化程序设计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714738" y="155067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依赖倒置之后</a:t>
              </a:r>
            </a:p>
          </p:txBody>
        </p:sp>
      </p:grpSp>
      <p:grpSp>
        <p:nvGrpSpPr>
          <p:cNvPr id="59" name="c2-callout-2"/>
          <p:cNvGrpSpPr/>
          <p:nvPr/>
        </p:nvGrpSpPr>
        <p:grpSpPr>
          <a:xfrm>
            <a:off x="6248400" y="4117658"/>
            <a:ext cx="5410200" cy="1505902"/>
            <a:chOff x="6248400" y="4117658"/>
            <a:chExt cx="5410200" cy="1505902"/>
          </a:xfrm>
        </p:grpSpPr>
        <p:sp>
          <p:nvSpPr>
            <p:cNvPr id="54" name="Rectangle 54"/>
            <p:cNvSpPr/>
            <p:nvPr/>
          </p:nvSpPr>
          <p:spPr>
            <a:xfrm>
              <a:off x="6248400" y="4117658"/>
              <a:ext cx="5410200" cy="1505902"/>
            </a:xfrm>
            <a:prstGeom prst="roundRect">
              <a:avLst>
                <a:gd name="adj" fmla="val 759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453188" y="4771075"/>
              <a:ext cx="200023" cy="200023"/>
              <a:chOff x="6453188" y="4771075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453188" y="47710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586538" y="48377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756273" y="4663916"/>
              <a:ext cx="44020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抽象接口是对低层模块的抽象，低层模块继承或实现它。类与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类之间都通过抽象接口层建立关系。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0" name="Rectangle 60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1273" y="6039326"/>
              <a:ext cx="83471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Bad Design 的三个症状：改一处牵动很多处；改完之后看似无关的部分不工作了；想复用一部分却拆不出来。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76646" cy="909257"/>
            <a:chOff x="520446" y="342900"/>
            <a:chExt cx="71766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410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831" y="407194"/>
              <a:ext cx="22072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依赖倒置原则 DIP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7664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坏例子：熔炉调节器把 IO 通道号写死在算法里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ode-1"/>
          <p:cNvGrpSpPr/>
          <p:nvPr/>
        </p:nvGrpSpPr>
        <p:grpSpPr>
          <a:xfrm>
            <a:off x="533400" y="1524000"/>
            <a:ext cx="5842635" cy="3319462"/>
            <a:chOff x="533400" y="1524000"/>
            <a:chExt cx="5842635" cy="33194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319462"/>
            </a:xfrm>
            <a:prstGeom prst="roundRect">
              <a:avLst>
                <a:gd name="adj" fmla="val 286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温度调节器的简单算法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306128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481388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52450" y="3833812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009072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97" y="1935956"/>
              <a:ext cx="4216654" cy="28338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Regulator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THERMOMETER = 0x86;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IO 通道号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FURNACE     = 0x87;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ENGAGE    = 1;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DISENGAGE = 0;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regulate(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minTemp,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maxTemp)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(;;)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(Io.in(THERMOMETER) &gt; minTemp) Io.delay(1);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Io.out(FURNACE, ENGAGE);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(Io.in(THERMOMETER) &lt; maxTemp) Io.delay(1);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Io.out(FURNACE, DISENGAGE);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0" name="c2-card-1"/>
          <p:cNvGrpSpPr/>
          <p:nvPr/>
        </p:nvGrpSpPr>
        <p:grpSpPr>
          <a:xfrm>
            <a:off x="6680835" y="1524000"/>
            <a:ext cx="4977765" cy="1143952"/>
            <a:chOff x="6680835" y="1524000"/>
            <a:chExt cx="4977765" cy="1143952"/>
          </a:xfrm>
        </p:grpSpPr>
        <p:sp>
          <p:nvSpPr>
            <p:cNvPr id="15" name="Rectangle 15"/>
            <p:cNvSpPr/>
            <p:nvPr/>
          </p:nvSpPr>
          <p:spPr>
            <a:xfrm>
              <a:off x="6680835" y="1524000"/>
              <a:ext cx="4977765" cy="1143952"/>
            </a:xfrm>
            <a:prstGeom prst="roundRect">
              <a:avLst>
                <a:gd name="adj" fmla="val 116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90360" y="1657350"/>
              <a:ext cx="47625" cy="8772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899910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92582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场景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893433" y="2045494"/>
              <a:ext cx="428828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软件从一个 IO 通道读取当前温度，再向另一个 IO 通道发命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令，指示熔炉开或关。</a:t>
              </a:r>
            </a:p>
          </p:txBody>
        </p:sp>
      </p:grpSp>
      <p:grpSp>
        <p:nvGrpSpPr>
          <p:cNvPr id="29" name="c2-card-2"/>
          <p:cNvGrpSpPr/>
          <p:nvPr/>
        </p:nvGrpSpPr>
        <p:grpSpPr>
          <a:xfrm>
            <a:off x="6680835" y="2832735"/>
            <a:ext cx="4977765" cy="1185862"/>
            <a:chOff x="6680835" y="2832735"/>
            <a:chExt cx="4977765" cy="1185862"/>
          </a:xfrm>
        </p:grpSpPr>
        <p:sp>
          <p:nvSpPr>
            <p:cNvPr id="21" name="Rectangle 21"/>
            <p:cNvSpPr/>
            <p:nvPr/>
          </p:nvSpPr>
          <p:spPr>
            <a:xfrm>
              <a:off x="6680835" y="2832735"/>
              <a:ext cx="4977765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690360" y="2966085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899910" y="301371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92582" y="304657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后果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909435" y="340614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064883" y="3354229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算法的高层意图清楚，实现里却夹着大量低层细节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909435" y="369189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064883" y="3639026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换一块采集卡，通道号和读写函数全要改，算法被迫跟着改</a:t>
              </a:r>
            </a:p>
          </p:txBody>
        </p:sp>
      </p:grpSp>
      <p:grpSp>
        <p:nvGrpSpPr>
          <p:cNvPr id="35" name="c2-card-3"/>
          <p:cNvGrpSpPr/>
          <p:nvPr/>
        </p:nvGrpSpPr>
        <p:grpSpPr>
          <a:xfrm>
            <a:off x="6680835" y="4184332"/>
            <a:ext cx="4977765" cy="1143952"/>
            <a:chOff x="6680835" y="4184332"/>
            <a:chExt cx="4977765" cy="1143952"/>
          </a:xfrm>
        </p:grpSpPr>
        <p:sp>
          <p:nvSpPr>
            <p:cNvPr id="30" name="Rectangle 30"/>
            <p:cNvSpPr/>
            <p:nvPr/>
          </p:nvSpPr>
          <p:spPr>
            <a:xfrm>
              <a:off x="6680835" y="4184332"/>
              <a:ext cx="4977765" cy="1143952"/>
            </a:xfrm>
            <a:prstGeom prst="roundRect">
              <a:avLst>
                <a:gd name="adj" fmla="val 116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90360" y="4317682"/>
              <a:ext cx="47625" cy="87725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899910" y="436530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992582" y="439816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93433" y="4704874"/>
              <a:ext cx="307721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源课件常量名写作 `THERMONETER`，应为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`THERMOMETER`。</a:t>
              </a:r>
            </a:p>
          </p:txBody>
        </p:sp>
      </p:grpSp>
      <p:grpSp>
        <p:nvGrpSpPr>
          <p:cNvPr id="4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36" name="Rectangle 36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1273" y="6039326"/>
              <a:ext cx="5526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代码很少时这样写损害不大，但让一段清楚的算法失去重用性仍然可惜。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410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831" y="407194"/>
              <a:ext cx="22072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依赖倒置原则 DIP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改造：让调节算法只认温度计接口和加热器接口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5842635" cy="4022408"/>
            <a:chOff x="533400" y="1524000"/>
            <a:chExt cx="5842635" cy="402240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022408"/>
            </a:xfrm>
            <a:prstGeom prst="roundRect">
              <a:avLst>
                <a:gd name="adj" fmla="val 236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通用的调节器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306128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481388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797" y="1935956"/>
              <a:ext cx="3501009" cy="35387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Thermometer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read();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Heater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engage();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disengage();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Regulator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regulate(Thermometer t, Heater h,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minTemp,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maxTemp)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(;;)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(t.read() &gt; minTemp) delay(1);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h.engage();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(t.read() &lt; maxTemp) delay(1);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h.disengage();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delay(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second)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51" name="c2-uml-1"/>
          <p:cNvGrpSpPr/>
          <p:nvPr/>
        </p:nvGrpSpPr>
        <p:grpSpPr>
          <a:xfrm>
            <a:off x="7173278" y="1741170"/>
            <a:ext cx="3812857" cy="2549843"/>
            <a:chOff x="7173278" y="1741170"/>
            <a:chExt cx="3812857" cy="2549843"/>
          </a:xfrm>
        </p:grpSpPr>
        <p:sp>
          <p:nvSpPr>
            <p:cNvPr id="13" name="Freeform 13"/>
            <p:cNvSpPr/>
            <p:nvPr/>
          </p:nvSpPr>
          <p:spPr>
            <a:xfrm>
              <a:off x="7925752" y="2328862"/>
              <a:ext cx="1148715" cy="364808"/>
            </a:xfrm>
            <a:custGeom>
              <a:avLst/>
              <a:gdLst/>
              <a:ahLst/>
              <a:cxnLst/>
              <a:rect l="l" t="t" r="r" b="b"/>
              <a:pathLst>
                <a:path w="1148715" h="364808">
                  <a:moveTo>
                    <a:pt x="1148715" y="0"/>
                  </a:moveTo>
                  <a:lnTo>
                    <a:pt x="1148715" y="182880"/>
                  </a:lnTo>
                  <a:lnTo>
                    <a:pt x="0" y="182880"/>
                  </a:lnTo>
                  <a:lnTo>
                    <a:pt x="0" y="364808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7867650" y="2588895"/>
              <a:ext cx="115253" cy="104775"/>
            </a:xfrm>
            <a:custGeom>
              <a:avLst/>
              <a:gdLst/>
              <a:ahLst/>
              <a:cxnLst/>
              <a:rect l="l" t="t" r="r" b="b"/>
              <a:pathLst>
                <a:path w="115253" h="104775">
                  <a:moveTo>
                    <a:pt x="0" y="0"/>
                  </a:moveTo>
                  <a:lnTo>
                    <a:pt x="58103" y="104775"/>
                  </a:lnTo>
                  <a:lnTo>
                    <a:pt x="115253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9264968" y="2328862"/>
              <a:ext cx="1149668" cy="283845"/>
            </a:xfrm>
            <a:custGeom>
              <a:avLst/>
              <a:gdLst/>
              <a:ahLst/>
              <a:cxnLst/>
              <a:rect l="l" t="t" r="r" b="b"/>
              <a:pathLst>
                <a:path w="1149668" h="283845">
                  <a:moveTo>
                    <a:pt x="0" y="0"/>
                  </a:moveTo>
                  <a:lnTo>
                    <a:pt x="0" y="141922"/>
                  </a:lnTo>
                  <a:lnTo>
                    <a:pt x="1149668" y="141922"/>
                  </a:lnTo>
                  <a:lnTo>
                    <a:pt x="1149668" y="283845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10356532" y="2507932"/>
              <a:ext cx="115253" cy="104775"/>
            </a:xfrm>
            <a:custGeom>
              <a:avLst/>
              <a:gdLst/>
              <a:ahLst/>
              <a:cxnLst/>
              <a:rect l="l" t="t" r="r" b="b"/>
              <a:pathLst>
                <a:path w="115253" h="104775">
                  <a:moveTo>
                    <a:pt x="0" y="0"/>
                  </a:moveTo>
                  <a:lnTo>
                    <a:pt x="58103" y="104775"/>
                  </a:lnTo>
                  <a:lnTo>
                    <a:pt x="115253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925752" y="3545205"/>
              <a:ext cx="9525" cy="320040"/>
            </a:xfrm>
            <a:custGeom>
              <a:avLst/>
              <a:gdLst/>
              <a:ahLst/>
              <a:cxnLst/>
              <a:rect l="l" t="t" r="r" b="b"/>
              <a:pathLst>
                <a:path w="9525" h="320040">
                  <a:moveTo>
                    <a:pt x="0" y="32004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8" name="Freeform 18"/>
            <p:cNvSpPr/>
            <p:nvPr/>
          </p:nvSpPr>
          <p:spPr>
            <a:xfrm>
              <a:off x="7852410" y="341947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0414635" y="3626168"/>
              <a:ext cx="9525" cy="239078"/>
            </a:xfrm>
            <a:custGeom>
              <a:avLst/>
              <a:gdLst/>
              <a:ahLst/>
              <a:cxnLst/>
              <a:rect l="l" t="t" r="r" b="b"/>
              <a:pathLst>
                <a:path w="9525" h="239078">
                  <a:moveTo>
                    <a:pt x="0" y="239078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0" name="Freeform 20"/>
            <p:cNvSpPr/>
            <p:nvPr/>
          </p:nvSpPr>
          <p:spPr>
            <a:xfrm>
              <a:off x="10341292" y="350043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93342" y="1741170"/>
              <a:ext cx="295275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700962" y="1747838"/>
              <a:ext cx="293846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93342" y="1971675"/>
              <a:ext cx="295275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93342" y="2066925"/>
              <a:ext cx="295275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354252" y="2693670"/>
              <a:ext cx="1143000" cy="7248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360920" y="2701290"/>
              <a:ext cx="1128712" cy="36480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354252" y="306133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354252" y="315658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843135" y="2612708"/>
              <a:ext cx="1143000" cy="88773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9849802" y="2620328"/>
              <a:ext cx="1128712" cy="36480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9843135" y="298037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9843135" y="307562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173278" y="3865245"/>
              <a:ext cx="1503998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7180898" y="3871912"/>
              <a:ext cx="1489710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173278" y="4095750"/>
              <a:ext cx="150399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173278" y="4191000"/>
              <a:ext cx="150399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843135" y="3865245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9849802" y="387191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843135" y="409575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9843135" y="419100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837186" y="1796891"/>
              <a:ext cx="6650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Regulator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764780" y="2136458"/>
              <a:ext cx="29869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regulate(Thermometer, Heater, double, double)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600864" y="2746534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471761" y="2886551"/>
              <a:ext cx="9079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Thermometer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425690" y="3226118"/>
              <a:ext cx="9848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read(): double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089746" y="2665571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178961" y="2805589"/>
              <a:ext cx="47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Heater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914572" y="3145155"/>
              <a:ext cx="769620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engage()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disengage()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220339" y="3920966"/>
              <a:ext cx="14108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ChannelThermometer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927613" y="3920966"/>
              <a:ext cx="9740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ChannelHeater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6680835" y="4758690"/>
            <a:ext cx="4977765" cy="928688"/>
            <a:chOff x="6680835" y="4758690"/>
            <a:chExt cx="4977765" cy="928688"/>
          </a:xfrm>
        </p:grpSpPr>
        <p:sp>
          <p:nvSpPr>
            <p:cNvPr id="52" name="Rectangle 52"/>
            <p:cNvSpPr/>
            <p:nvPr/>
          </p:nvSpPr>
          <p:spPr>
            <a:xfrm>
              <a:off x="6680835" y="4758690"/>
              <a:ext cx="4977765" cy="928688"/>
            </a:xfrm>
            <a:prstGeom prst="roundRect">
              <a:avLst>
                <a:gd name="adj" fmla="val 143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690360" y="4892040"/>
              <a:ext cx="47625" cy="66198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905625" y="494538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998297" y="497824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898767" y="5290185"/>
              <a:ext cx="43593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源课件写的是 `h.Engate()`，应为 `h.Engage()`。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8" name="Rectangle 5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892" y="6028373"/>
              <a:ext cx="89188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依赖关系倒过来了：高层的调节策略不再依赖任何温度计或熔炉的特定细节，算法可以直接搬到另一套硬件上。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410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831" y="407194"/>
              <a:ext cx="22072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依赖倒置原则 DIP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三条启发与一个例外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626418" cy="1202055"/>
            <a:chOff x="533400" y="1524000"/>
            <a:chExt cx="5626418" cy="12020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202055"/>
            </a:xfrm>
            <a:prstGeom prst="roundRect">
              <a:avLst>
                <a:gd name="adj" fmla="val 1109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14375" y="1704975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3419" y="1737836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启发 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91793" y="174450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依赖于抽象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23900" y="2113598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9348" y="2061686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任何对象都不应该持有一个指向具体类的指针或引用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23900" y="2398395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79348" y="234648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任何类都不应该从具体类派生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2890838"/>
            <a:ext cx="5626418" cy="1487805"/>
            <a:chOff x="533400" y="2890838"/>
            <a:chExt cx="5626418" cy="1487805"/>
          </a:xfrm>
        </p:grpSpPr>
        <p:sp>
          <p:nvSpPr>
            <p:cNvPr id="16" name="Rectangle 16"/>
            <p:cNvSpPr/>
            <p:nvPr/>
          </p:nvSpPr>
          <p:spPr>
            <a:xfrm>
              <a:off x="533400" y="2890838"/>
              <a:ext cx="5626418" cy="1487805"/>
            </a:xfrm>
            <a:prstGeom prst="roundRect">
              <a:avLst>
                <a:gd name="adj" fmla="val 8963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14375" y="3071812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3419" y="3104674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启发 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91793" y="311229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设计接口而非设计实现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23900" y="3481388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79348" y="3428524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用继承或实现来避免对具体类的直接绑定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23900" y="3766185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79348" y="3713321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抽象类和接口倾向于较少的变化，易于修改和扩展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23900" y="4050982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79348" y="399811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不要强制修改那些抽象接口和抽象类</a:t>
              </a:r>
            </a:p>
          </p:txBody>
        </p:sp>
      </p:grpSp>
      <p:grpSp>
        <p:nvGrpSpPr>
          <p:cNvPr id="32" name="c1-card-3"/>
          <p:cNvGrpSpPr/>
          <p:nvPr/>
        </p:nvGrpSpPr>
        <p:grpSpPr>
          <a:xfrm>
            <a:off x="533400" y="4543425"/>
            <a:ext cx="5626418" cy="1143952"/>
            <a:chOff x="533400" y="4543425"/>
            <a:chExt cx="5626418" cy="1143952"/>
          </a:xfrm>
        </p:grpSpPr>
        <p:sp>
          <p:nvSpPr>
            <p:cNvPr id="27" name="Rectangle 27"/>
            <p:cNvSpPr/>
            <p:nvPr/>
          </p:nvSpPr>
          <p:spPr>
            <a:xfrm>
              <a:off x="533400" y="4543425"/>
              <a:ext cx="5626418" cy="1143952"/>
            </a:xfrm>
            <a:prstGeom prst="roundRect">
              <a:avLst>
                <a:gd name="adj" fmla="val 116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676775"/>
              <a:ext cx="47625" cy="87725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52475" y="472440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45147" y="475726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5998" y="5064919"/>
              <a:ext cx="48897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有些类不可能变化，在可以直接使用具体类的情况下不需要插入抽象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层，例如字符串类。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6464618" y="1524000"/>
            <a:ext cx="5193982" cy="1160145"/>
            <a:chOff x="6464618" y="1524000"/>
            <a:chExt cx="5193982" cy="1160145"/>
          </a:xfrm>
        </p:grpSpPr>
        <p:sp>
          <p:nvSpPr>
            <p:cNvPr id="33" name="Rectangle 33"/>
            <p:cNvSpPr/>
            <p:nvPr/>
          </p:nvSpPr>
          <p:spPr>
            <a:xfrm>
              <a:off x="6464618" y="1524000"/>
              <a:ext cx="5193982" cy="1160145"/>
            </a:xfrm>
            <a:prstGeom prst="roundRect">
              <a:avLst>
                <a:gd name="adj" fmla="val 1149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645592" y="1704975"/>
              <a:ext cx="569595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34637" y="1737836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启发 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323011" y="174450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避免传递依赖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39116" y="2061686"/>
              <a:ext cx="45646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避免高层依赖于低层，用抽象类、接口和继承实现来消除传递依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赖。</a:t>
              </a:r>
            </a:p>
          </p:txBody>
        </p:sp>
      </p:grpSp>
      <p:grpSp>
        <p:nvGrpSpPr>
          <p:cNvPr id="71" name="c2-graph-2"/>
          <p:cNvGrpSpPr/>
          <p:nvPr/>
        </p:nvGrpSpPr>
        <p:grpSpPr>
          <a:xfrm>
            <a:off x="6757988" y="2875598"/>
            <a:ext cx="4379594" cy="2594610"/>
            <a:chOff x="6757988" y="2875598"/>
            <a:chExt cx="4379594" cy="2594610"/>
          </a:xfrm>
        </p:grpSpPr>
        <p:sp>
          <p:nvSpPr>
            <p:cNvPr id="39" name="Freeform 39"/>
            <p:cNvSpPr/>
            <p:nvPr/>
          </p:nvSpPr>
          <p:spPr>
            <a:xfrm>
              <a:off x="7243762" y="3429000"/>
              <a:ext cx="9525" cy="521017"/>
            </a:xfrm>
            <a:custGeom>
              <a:avLst/>
              <a:gdLst/>
              <a:ahLst/>
              <a:cxnLst/>
              <a:rect l="l" t="t" r="r" b="b"/>
              <a:pathLst>
                <a:path w="9525" h="521017">
                  <a:moveTo>
                    <a:pt x="0" y="0"/>
                  </a:moveTo>
                  <a:lnTo>
                    <a:pt x="0" y="52101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196138" y="39500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7243762" y="4385310"/>
              <a:ext cx="9525" cy="521018"/>
            </a:xfrm>
            <a:custGeom>
              <a:avLst/>
              <a:gdLst/>
              <a:ahLst/>
              <a:cxnLst/>
              <a:rect l="l" t="t" r="r" b="b"/>
              <a:pathLst>
                <a:path w="9525" h="521018">
                  <a:moveTo>
                    <a:pt x="0" y="0"/>
                  </a:moveTo>
                  <a:lnTo>
                    <a:pt x="0" y="52101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196138" y="490632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9670732" y="3338512"/>
              <a:ext cx="460057" cy="213360"/>
            </a:xfrm>
            <a:custGeom>
              <a:avLst/>
              <a:gdLst/>
              <a:ahLst/>
              <a:cxnLst/>
              <a:rect l="l" t="t" r="r" b="b"/>
              <a:pathLst>
                <a:path w="460057" h="213360">
                  <a:moveTo>
                    <a:pt x="0" y="0"/>
                  </a:moveTo>
                  <a:lnTo>
                    <a:pt x="460057" y="2133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110788" y="3509010"/>
              <a:ext cx="106680" cy="85725"/>
            </a:xfrm>
            <a:custGeom>
              <a:avLst/>
              <a:gdLst/>
              <a:ahLst/>
              <a:cxnLst/>
              <a:rect l="l" t="t" r="r" b="b"/>
              <a:pathLst>
                <a:path w="106680" h="85725">
                  <a:moveTo>
                    <a:pt x="106680" y="82868"/>
                  </a:moveTo>
                  <a:lnTo>
                    <a:pt x="0" y="85725"/>
                  </a:lnTo>
                  <a:lnTo>
                    <a:pt x="4000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9725978" y="3999548"/>
              <a:ext cx="340042" cy="136208"/>
            </a:xfrm>
            <a:custGeom>
              <a:avLst/>
              <a:gdLst/>
              <a:ahLst/>
              <a:cxnLst/>
              <a:rect l="l" t="t" r="r" b="b"/>
              <a:pathLst>
                <a:path w="340042" h="136208">
                  <a:moveTo>
                    <a:pt x="0" y="136208"/>
                  </a:moveTo>
                  <a:lnTo>
                    <a:pt x="34004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6" name="Freeform 46"/>
            <p:cNvSpPr/>
            <p:nvPr/>
          </p:nvSpPr>
          <p:spPr>
            <a:xfrm>
              <a:off x="10047922" y="3955732"/>
              <a:ext cx="105727" cy="88583"/>
            </a:xfrm>
            <a:custGeom>
              <a:avLst/>
              <a:gdLst/>
              <a:ahLst/>
              <a:cxnLst/>
              <a:rect l="l" t="t" r="r" b="b"/>
              <a:pathLst>
                <a:path w="105727" h="88583">
                  <a:moveTo>
                    <a:pt x="105727" y="8572"/>
                  </a:moveTo>
                  <a:lnTo>
                    <a:pt x="35242" y="88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9725978" y="4459605"/>
              <a:ext cx="340042" cy="135255"/>
            </a:xfrm>
            <a:custGeom>
              <a:avLst/>
              <a:gdLst/>
              <a:ahLst/>
              <a:cxnLst/>
              <a:rect l="l" t="t" r="r" b="b"/>
              <a:pathLst>
                <a:path w="340042" h="135255">
                  <a:moveTo>
                    <a:pt x="0" y="0"/>
                  </a:moveTo>
                  <a:lnTo>
                    <a:pt x="340042" y="13525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0047922" y="4551045"/>
              <a:ext cx="105727" cy="88583"/>
            </a:xfrm>
            <a:custGeom>
              <a:avLst/>
              <a:gdLst/>
              <a:ahLst/>
              <a:cxnLst/>
              <a:rect l="l" t="t" r="r" b="b"/>
              <a:pathLst>
                <a:path w="105727" h="88583">
                  <a:moveTo>
                    <a:pt x="105727" y="79058"/>
                  </a:moveTo>
                  <a:lnTo>
                    <a:pt x="0" y="88583"/>
                  </a:lnTo>
                  <a:lnTo>
                    <a:pt x="3524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9748838" y="5036820"/>
              <a:ext cx="290512" cy="109538"/>
            </a:xfrm>
            <a:custGeom>
              <a:avLst/>
              <a:gdLst/>
              <a:ahLst/>
              <a:cxnLst/>
              <a:rect l="l" t="t" r="r" b="b"/>
              <a:pathLst>
                <a:path w="290512" h="109538">
                  <a:moveTo>
                    <a:pt x="0" y="109538"/>
                  </a:moveTo>
                  <a:lnTo>
                    <a:pt x="29051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50" name="Freeform 50"/>
            <p:cNvSpPr/>
            <p:nvPr/>
          </p:nvSpPr>
          <p:spPr>
            <a:xfrm>
              <a:off x="10022205" y="4992052"/>
              <a:ext cx="105727" cy="88582"/>
            </a:xfrm>
            <a:custGeom>
              <a:avLst/>
              <a:gdLst/>
              <a:ahLst/>
              <a:cxnLst/>
              <a:rect l="l" t="t" r="r" b="b"/>
              <a:pathLst>
                <a:path w="105727" h="88582">
                  <a:moveTo>
                    <a:pt x="105727" y="10478"/>
                  </a:moveTo>
                  <a:lnTo>
                    <a:pt x="34290" y="885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757988" y="3088958"/>
              <a:ext cx="971550" cy="340042"/>
            </a:xfrm>
            <a:prstGeom prst="roundRect">
              <a:avLst>
                <a:gd name="adj" fmla="val 28011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757988" y="4045268"/>
              <a:ext cx="971550" cy="340042"/>
            </a:xfrm>
            <a:prstGeom prst="roundRect">
              <a:avLst>
                <a:gd name="adj" fmla="val 28011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757988" y="5001578"/>
              <a:ext cx="971550" cy="340042"/>
            </a:xfrm>
            <a:prstGeom prst="roundRect">
              <a:avLst>
                <a:gd name="adj" fmla="val 28011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843962" y="3014662"/>
              <a:ext cx="955358" cy="323850"/>
            </a:xfrm>
            <a:prstGeom prst="roundRect">
              <a:avLst>
                <a:gd name="adj" fmla="val 29412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101262" y="3591878"/>
              <a:ext cx="1036320" cy="372428"/>
            </a:xfrm>
            <a:prstGeom prst="roundRect">
              <a:avLst>
                <a:gd name="adj" fmla="val 25575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8843962" y="4135755"/>
              <a:ext cx="955358" cy="323850"/>
            </a:xfrm>
            <a:prstGeom prst="roundRect">
              <a:avLst>
                <a:gd name="adj" fmla="val 29412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101262" y="4630102"/>
              <a:ext cx="1036320" cy="372428"/>
            </a:xfrm>
            <a:prstGeom prst="roundRect">
              <a:avLst>
                <a:gd name="adj" fmla="val 25575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8843962" y="5146358"/>
              <a:ext cx="955358" cy="323850"/>
            </a:xfrm>
            <a:prstGeom prst="roundRect">
              <a:avLst>
                <a:gd name="adj" fmla="val 29412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028682" y="3193732"/>
              <a:ext cx="4301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Policy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857581" y="4150043"/>
              <a:ext cx="7723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Mechanism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006520" y="5106352"/>
              <a:ext cx="4744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Utility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106085" y="3111818"/>
              <a:ext cx="4301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Policy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183675" y="3629025"/>
              <a:ext cx="871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233241" y="3795712"/>
              <a:ext cx="7723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Mechanism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934983" y="4231958"/>
              <a:ext cx="7723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Mechanism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183675" y="4668202"/>
              <a:ext cx="871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382180" y="4834890"/>
              <a:ext cx="4744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Utility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083922" y="5242560"/>
              <a:ext cx="4744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Utility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955727" y="287559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传递依赖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670923" y="287559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消除传递依赖</a:t>
              </a:r>
            </a:p>
          </p:txBody>
        </p:sp>
      </p:grpSp>
      <p:grpSp>
        <p:nvGrpSpPr>
          <p:cNvPr id="7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72" name="Rectangle 72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041273" y="6039326"/>
              <a:ext cx="99416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Copy 模块的例子同理：直接写死 Keyboard 和 Print，换成写磁盘时就没法复用；改成依赖 Reader、Writer 两个接口就能复用。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247007" cy="2997517"/>
            <a:chOff x="667512" y="1835468"/>
            <a:chExt cx="424700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第七部分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8946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迪米特法则 LoD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只和你直接的朋友通信，不要跟陌生人说话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朋友圈的五个条件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两个知道得太多的例子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中介类会膨胀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932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833" y="407194"/>
              <a:ext cx="20924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迪米特法则 LoD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迪米特法则：每个类对别的类知道得越少越好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626418" cy="1884998"/>
            <a:chOff x="533400" y="1524000"/>
            <a:chExt cx="5626418" cy="188499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30797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迪米特法则（LoD），又叫最少知道原则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52475" y="204978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04382" y="208540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22223" y="2061686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一个软件实体应当尽可能少地与其他软件实体发生相互作用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52475" y="233553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4382" y="237020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2223" y="2346484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每一个软件实体对其他软件实体都只有最少的知识，而且局限于那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些与本实体密切相关的实体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7141" y="2870835"/>
              <a:ext cx="4897946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1987 年秋由美国 Northeastern University 的 Ian Holland 提出，发表于 OOPSLA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'88，后因《程序员修炼之道》而广为人知</a:t>
              </a:r>
            </a:p>
          </p:txBody>
        </p:sp>
      </p:grpSp>
      <p:grpSp>
        <p:nvGrpSpPr>
          <p:cNvPr id="39" name="c1-card-2"/>
          <p:cNvGrpSpPr/>
          <p:nvPr/>
        </p:nvGrpSpPr>
        <p:grpSpPr>
          <a:xfrm>
            <a:off x="533400" y="3573780"/>
            <a:ext cx="5626418" cy="2057400"/>
            <a:chOff x="533400" y="3573780"/>
            <a:chExt cx="5626418" cy="2057400"/>
          </a:xfrm>
        </p:grpSpPr>
        <p:sp>
          <p:nvSpPr>
            <p:cNvPr id="20" name="Rectangle 20"/>
            <p:cNvSpPr/>
            <p:nvPr/>
          </p:nvSpPr>
          <p:spPr>
            <a:xfrm>
              <a:off x="533400" y="3573780"/>
              <a:ext cx="5626418" cy="2057400"/>
            </a:xfrm>
            <a:prstGeom prst="roundRect">
              <a:avLst>
                <a:gd name="adj" fmla="val 6481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14375" y="3754755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2996" y="378761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朋友圈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05128" y="3794284"/>
              <a:ext cx="29957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满足其一就是"朋友"，否则是"陌生人"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14375" y="409956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6282" y="413518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4123" y="4110514"/>
              <a:ext cx="17274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当前对象本身（this）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14375" y="438435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6282" y="441998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4123" y="439626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以参数形式传入当前对象方法中的对象（依赖）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14375" y="467010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6282" y="470477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4123" y="468106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当前对象的实例变量直接引用的对象（关联）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14375" y="495490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6282" y="499052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84123" y="4965859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实例变量是聚集时，聚集中的元素（聚集）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14375" y="523970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66282" y="527532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84123" y="5250656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当前对象所创建的对象（组合）</a:t>
              </a:r>
            </a:p>
          </p:txBody>
        </p:sp>
      </p:grpSp>
      <p:grpSp>
        <p:nvGrpSpPr>
          <p:cNvPr id="62" name="c2-graph-1"/>
          <p:cNvGrpSpPr/>
          <p:nvPr/>
        </p:nvGrpSpPr>
        <p:grpSpPr>
          <a:xfrm>
            <a:off x="6695122" y="1633538"/>
            <a:ext cx="4692968" cy="1643062"/>
            <a:chOff x="6695122" y="1633538"/>
            <a:chExt cx="4692968" cy="1643062"/>
          </a:xfrm>
        </p:grpSpPr>
        <p:sp>
          <p:nvSpPr>
            <p:cNvPr id="40" name="Freeform 40"/>
            <p:cNvSpPr/>
            <p:nvPr/>
          </p:nvSpPr>
          <p:spPr>
            <a:xfrm>
              <a:off x="7585710" y="2097405"/>
              <a:ext cx="938212" cy="227648"/>
            </a:xfrm>
            <a:custGeom>
              <a:avLst/>
              <a:gdLst/>
              <a:ahLst/>
              <a:cxnLst/>
              <a:rect l="l" t="t" r="r" b="b"/>
              <a:pathLst>
                <a:path w="938212" h="227648">
                  <a:moveTo>
                    <a:pt x="0" y="0"/>
                  </a:moveTo>
                  <a:lnTo>
                    <a:pt x="938212" y="227648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1" name="Freeform 41"/>
            <p:cNvSpPr/>
            <p:nvPr/>
          </p:nvSpPr>
          <p:spPr>
            <a:xfrm>
              <a:off x="8512492" y="2278380"/>
              <a:ext cx="103822" cy="92393"/>
            </a:xfrm>
            <a:custGeom>
              <a:avLst/>
              <a:gdLst/>
              <a:ahLst/>
              <a:cxnLst/>
              <a:rect l="l" t="t" r="r" b="b"/>
              <a:pathLst>
                <a:path w="103822" h="92393">
                  <a:moveTo>
                    <a:pt x="103822" y="68580"/>
                  </a:moveTo>
                  <a:lnTo>
                    <a:pt x="0" y="92393"/>
                  </a:lnTo>
                  <a:lnTo>
                    <a:pt x="2286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7585710" y="2601278"/>
              <a:ext cx="939165" cy="254317"/>
            </a:xfrm>
            <a:custGeom>
              <a:avLst/>
              <a:gdLst/>
              <a:ahLst/>
              <a:cxnLst/>
              <a:rect l="l" t="t" r="r" b="b"/>
              <a:pathLst>
                <a:path w="939165" h="254317">
                  <a:moveTo>
                    <a:pt x="0" y="254317"/>
                  </a:moveTo>
                  <a:lnTo>
                    <a:pt x="93916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3" name="Freeform 43"/>
            <p:cNvSpPr/>
            <p:nvPr/>
          </p:nvSpPr>
          <p:spPr>
            <a:xfrm>
              <a:off x="8511540" y="2554605"/>
              <a:ext cx="104775" cy="92392"/>
            </a:xfrm>
            <a:custGeom>
              <a:avLst/>
              <a:gdLst/>
              <a:ahLst/>
              <a:cxnLst/>
              <a:rect l="l" t="t" r="r" b="b"/>
              <a:pathLst>
                <a:path w="104775" h="92392">
                  <a:moveTo>
                    <a:pt x="104775" y="20955"/>
                  </a:moveTo>
                  <a:lnTo>
                    <a:pt x="25717" y="92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9506902" y="1971675"/>
              <a:ext cx="981075" cy="332423"/>
            </a:xfrm>
            <a:custGeom>
              <a:avLst/>
              <a:gdLst/>
              <a:ahLst/>
              <a:cxnLst/>
              <a:rect l="l" t="t" r="r" b="b"/>
              <a:pathLst>
                <a:path w="981075" h="332423">
                  <a:moveTo>
                    <a:pt x="0" y="332423"/>
                  </a:moveTo>
                  <a:lnTo>
                    <a:pt x="98107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5" name="Freeform 45"/>
            <p:cNvSpPr/>
            <p:nvPr/>
          </p:nvSpPr>
          <p:spPr>
            <a:xfrm>
              <a:off x="10472738" y="1925955"/>
              <a:ext cx="105727" cy="90488"/>
            </a:xfrm>
            <a:custGeom>
              <a:avLst/>
              <a:gdLst/>
              <a:ahLst/>
              <a:cxnLst/>
              <a:rect l="l" t="t" r="r" b="b"/>
              <a:pathLst>
                <a:path w="105727" h="90488">
                  <a:moveTo>
                    <a:pt x="105727" y="14288"/>
                  </a:moveTo>
                  <a:lnTo>
                    <a:pt x="30480" y="904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9506902" y="2455545"/>
              <a:ext cx="976312" cy="9525"/>
            </a:xfrm>
            <a:custGeom>
              <a:avLst/>
              <a:gdLst/>
              <a:ahLst/>
              <a:cxnLst/>
              <a:rect l="l" t="t" r="r" b="b"/>
              <a:pathLst>
                <a:path w="976312" h="9525">
                  <a:moveTo>
                    <a:pt x="0" y="0"/>
                  </a:moveTo>
                  <a:lnTo>
                    <a:pt x="97631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7" name="Freeform 47"/>
            <p:cNvSpPr/>
            <p:nvPr/>
          </p:nvSpPr>
          <p:spPr>
            <a:xfrm>
              <a:off x="10483215" y="240792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9506902" y="2606040"/>
              <a:ext cx="981075" cy="332422"/>
            </a:xfrm>
            <a:custGeom>
              <a:avLst/>
              <a:gdLst/>
              <a:ahLst/>
              <a:cxnLst/>
              <a:rect l="l" t="t" r="r" b="b"/>
              <a:pathLst>
                <a:path w="981075" h="332422">
                  <a:moveTo>
                    <a:pt x="0" y="0"/>
                  </a:moveTo>
                  <a:lnTo>
                    <a:pt x="981075" y="332422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9" name="Freeform 49"/>
            <p:cNvSpPr/>
            <p:nvPr/>
          </p:nvSpPr>
          <p:spPr>
            <a:xfrm>
              <a:off x="10472738" y="2893695"/>
              <a:ext cx="105727" cy="90488"/>
            </a:xfrm>
            <a:custGeom>
              <a:avLst/>
              <a:gdLst/>
              <a:ahLst/>
              <a:cxnLst/>
              <a:rect l="l" t="t" r="r" b="b"/>
              <a:pathLst>
                <a:path w="105727" h="90488">
                  <a:moveTo>
                    <a:pt x="105727" y="76200"/>
                  </a:moveTo>
                  <a:lnTo>
                    <a:pt x="0" y="90488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695122" y="1811655"/>
              <a:ext cx="890588" cy="356235"/>
            </a:xfrm>
            <a:prstGeom prst="roundRect">
              <a:avLst>
                <a:gd name="adj" fmla="val 26738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695122" y="2798445"/>
              <a:ext cx="890588" cy="356235"/>
            </a:xfrm>
            <a:prstGeom prst="roundRect">
              <a:avLst>
                <a:gd name="adj" fmla="val 26738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8616315" y="2268855"/>
              <a:ext cx="890588" cy="372428"/>
            </a:xfrm>
            <a:prstGeom prst="roundRect">
              <a:avLst>
                <a:gd name="adj" fmla="val 25575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578465" y="1633538"/>
              <a:ext cx="809625" cy="340042"/>
            </a:xfrm>
            <a:prstGeom prst="roundRect">
              <a:avLst>
                <a:gd name="adj" fmla="val 28011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578465" y="2285048"/>
              <a:ext cx="809625" cy="340042"/>
            </a:xfrm>
            <a:prstGeom prst="roundRect">
              <a:avLst>
                <a:gd name="adj" fmla="val 28011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578465" y="2936558"/>
              <a:ext cx="809625" cy="340042"/>
            </a:xfrm>
            <a:prstGeom prst="roundRect">
              <a:avLst>
                <a:gd name="adj" fmla="val 28011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79454" y="1924050"/>
              <a:ext cx="5209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购房者A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879454" y="2910840"/>
              <a:ext cx="5209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购房者B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44724" y="238982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售楼处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793467" y="1738312"/>
              <a:ext cx="3796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楼盘A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793467" y="2389822"/>
              <a:ext cx="3796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楼盘B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793467" y="3041332"/>
              <a:ext cx="3796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楼盘C</a:t>
              </a:r>
            </a:p>
          </p:txBody>
        </p:sp>
      </p:grpSp>
      <p:grpSp>
        <p:nvGrpSpPr>
          <p:cNvPr id="64" name="c2-text-2"/>
          <p:cNvGrpSpPr/>
          <p:nvPr/>
        </p:nvGrpSpPr>
        <p:grpSpPr>
          <a:xfrm>
            <a:off x="6459284" y="3568065"/>
            <a:ext cx="4957953" cy="205359"/>
            <a:chOff x="6459284" y="3568065"/>
            <a:chExt cx="4957953" cy="205359"/>
          </a:xfrm>
        </p:grpSpPr>
        <p:sp>
          <p:nvSpPr>
            <p:cNvPr id="63" name="TextBox 63"/>
            <p:cNvSpPr txBox="1"/>
            <p:nvPr/>
          </p:nvSpPr>
          <p:spPr>
            <a:xfrm>
              <a:off x="6459284" y="3568065"/>
              <a:ext cx="49579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购房者不必直接找每个楼盘，通过售楼处了解情况，与楼盘之间的耦合就少了。</a:t>
              </a:r>
            </a:p>
          </p:txBody>
        </p:sp>
      </p:grpSp>
      <p:grpSp>
        <p:nvGrpSpPr>
          <p:cNvPr id="72" name="c2-card-3"/>
          <p:cNvGrpSpPr/>
          <p:nvPr/>
        </p:nvGrpSpPr>
        <p:grpSpPr>
          <a:xfrm>
            <a:off x="6464618" y="3896678"/>
            <a:ext cx="5193982" cy="1733550"/>
            <a:chOff x="6464618" y="3896678"/>
            <a:chExt cx="5193982" cy="1733550"/>
          </a:xfrm>
        </p:grpSpPr>
        <p:sp>
          <p:nvSpPr>
            <p:cNvPr id="65" name="Rectangle 65"/>
            <p:cNvSpPr/>
            <p:nvPr/>
          </p:nvSpPr>
          <p:spPr>
            <a:xfrm>
              <a:off x="6464618" y="3896678"/>
              <a:ext cx="5193982" cy="1733550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474142" y="4030028"/>
              <a:ext cx="47625" cy="14668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683692" y="407765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776364" y="41105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初衷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250620" y="411813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降低类之间的耦合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677216" y="4434364"/>
              <a:ext cx="45646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每个类都尽量少依赖别的类，系统的功能模块就容易做到功能独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立，相互之间不存在或很少有依赖关系。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678359" y="4958715"/>
              <a:ext cx="4604576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英文的简短说法是 talk only to your immediate friends：只与直接的朋友通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信，不跟陌生人说话</a:t>
              </a:r>
            </a:p>
          </p:txBody>
        </p:sp>
      </p:grpSp>
      <p:grpSp>
        <p:nvGrpSpPr>
          <p:cNvPr id="79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73" name="Rectangle 73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1041273" y="6039326"/>
              <a:ext cx="105240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两条解析：出现在成员变量、方法参数、方法返回值中的类是朋友，只出现在局部变量里的类不是；尽量不暴露独属于自己的方法和属性。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932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833" y="407194"/>
              <a:ext cx="20924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迪米特法则 LoD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坏例子一：方法体内部凭空造出一个陌生类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5410200" cy="1912620"/>
            <a:chOff x="533400" y="1524000"/>
            <a:chExt cx="5410200" cy="19126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5540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违反 LoD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250758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602230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797" y="1935956"/>
              <a:ext cx="3501009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Teacher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command(GroupLeader leader)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List&lt;Student&gt; students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ArrayList&lt;&gt;();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0; i &lt; 20; i++)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students.add(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Student());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leader.countStudents(students);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601402"/>
            <a:ext cx="5410200" cy="1920240"/>
            <a:chOff x="533400" y="3601402"/>
            <a:chExt cx="5410200" cy="1920240"/>
          </a:xfrm>
        </p:grpSpPr>
        <p:sp>
          <p:nvSpPr>
            <p:cNvPr id="13" name="Rectangle 13"/>
            <p:cNvSpPr/>
            <p:nvPr/>
          </p:nvSpPr>
          <p:spPr>
            <a:xfrm>
              <a:off x="533400" y="3601402"/>
              <a:ext cx="5410200" cy="1920240"/>
            </a:xfrm>
            <a:prstGeom prst="roundRect">
              <a:avLst>
                <a:gd name="adj" fmla="val 694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734752"/>
              <a:ext cx="47625" cy="165354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2475" y="378237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5147" y="38152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45998" y="4122896"/>
              <a:ext cx="480034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 只出现在 command 的局部变量里，不属于 Teacher 的朋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友。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5998" y="4650581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方法是类的一个行为，类竟然不知道自己的行为与其他类产生了依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赖关系，这是不允许的。</a:t>
              </a:r>
            </a:p>
          </p:txBody>
        </p:sp>
      </p:grpSp>
      <p:grpSp>
        <p:nvGrpSpPr>
          <p:cNvPr id="23" name="c2-code-1"/>
          <p:cNvGrpSpPr/>
          <p:nvPr/>
        </p:nvGrpSpPr>
        <p:grpSpPr>
          <a:xfrm>
            <a:off x="6248400" y="1524000"/>
            <a:ext cx="5410200" cy="3319462"/>
            <a:chOff x="6248400" y="1524000"/>
            <a:chExt cx="5410200" cy="3319462"/>
          </a:xfrm>
        </p:grpSpPr>
        <p:sp>
          <p:nvSpPr>
            <p:cNvPr id="20" name="Rectangle 20"/>
            <p:cNvSpPr/>
            <p:nvPr/>
          </p:nvSpPr>
          <p:spPr>
            <a:xfrm>
              <a:off x="6248400" y="1524000"/>
              <a:ext cx="5410200" cy="3319462"/>
            </a:xfrm>
            <a:prstGeom prst="roundRect">
              <a:avLst>
                <a:gd name="adj" fmla="val 286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76797" y="167592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调整后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76797" y="1935956"/>
              <a:ext cx="4110863" cy="28338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Teacher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command(GroupLeader leader)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leader.countStudents();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GroupLeader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List&lt;Student&gt; students;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GroupLeader(List&lt;Student&gt; students)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.students = students;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countStudents()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"学生数量是："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students.size());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8" name="c2-bullets-2"/>
          <p:cNvGrpSpPr/>
          <p:nvPr/>
        </p:nvGrpSpPr>
        <p:grpSpPr>
          <a:xfrm>
            <a:off x="6248400" y="5029676"/>
            <a:ext cx="3156094" cy="541782"/>
            <a:chOff x="6248400" y="5029676"/>
            <a:chExt cx="3156094" cy="541782"/>
          </a:xfrm>
        </p:grpSpPr>
        <p:sp>
          <p:nvSpPr>
            <p:cNvPr id="24" name="Freeform 24"/>
            <p:cNvSpPr/>
            <p:nvPr/>
          </p:nvSpPr>
          <p:spPr>
            <a:xfrm>
              <a:off x="6248400" y="5055870"/>
              <a:ext cx="122872" cy="99060"/>
            </a:xfrm>
            <a:custGeom>
              <a:avLst/>
              <a:gdLst/>
              <a:ahLst/>
              <a:cxnLst/>
              <a:rect l="l" t="t" r="r" b="b"/>
              <a:pathLst>
                <a:path w="122872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79096" y="5029676"/>
              <a:ext cx="29253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Teacher 只认识 GroupLeader 一个类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6248400" y="5349240"/>
              <a:ext cx="122872" cy="99060"/>
            </a:xfrm>
            <a:custGeom>
              <a:avLst/>
              <a:gdLst/>
              <a:ahLst/>
              <a:cxnLst/>
              <a:rect l="l" t="t" r="r" b="b"/>
              <a:pathLst>
                <a:path w="122872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2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79096" y="532209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学生名单归谁管，就由谁去数</a:t>
              </a:r>
            </a:p>
          </p:txBody>
        </p:sp>
      </p:grpSp>
      <p:grpSp>
        <p:nvGrpSpPr>
          <p:cNvPr id="35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29" name="Rectangle 29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1273" y="6039326"/>
              <a:ext cx="102087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更正：源课件调整后的代码里打印的是"女生数量是"，与方法名 countStudents 和造出的 20 个 Student 不符，应为"学生数量是"。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932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833" y="407194"/>
              <a:ext cx="20924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迪米特法则 LoD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坏例子二：对朋友知道得太多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ode-1"/>
          <p:cNvGrpSpPr/>
          <p:nvPr/>
        </p:nvGrpSpPr>
        <p:grpSpPr>
          <a:xfrm>
            <a:off x="533400" y="1524000"/>
            <a:ext cx="5410200" cy="2791778"/>
            <a:chOff x="533400" y="1524000"/>
            <a:chExt cx="5410200" cy="279177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791778"/>
            </a:xfrm>
            <a:prstGeom prst="roundRect">
              <a:avLst>
                <a:gd name="adj" fmla="val 341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5540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违反 LoD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306128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481388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52450" y="3657600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1935956"/>
              <a:ext cx="3295650" cy="2305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WashingMachine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receiveClothes()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wash()  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drying()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Person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washClothes(WashingMachine wm)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wm.receiveClothes();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wm.wash();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wm.drying();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4480560"/>
            <a:ext cx="5410200" cy="1185862"/>
            <a:chOff x="533400" y="4480560"/>
            <a:chExt cx="5410200" cy="1185862"/>
          </a:xfrm>
        </p:grpSpPr>
        <p:sp>
          <p:nvSpPr>
            <p:cNvPr id="14" name="Rectangle 14"/>
            <p:cNvSpPr/>
            <p:nvPr/>
          </p:nvSpPr>
          <p:spPr>
            <a:xfrm>
              <a:off x="533400" y="448056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4613910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52475" y="466153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45147" y="46943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5998" y="5002054"/>
              <a:ext cx="466217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Person 要洗衣服，具体洗衣机怎么洗不需要知道。washClothes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一连调用洗衣机的三个方法，这三件事都该是洗衣机自己的事。</a:t>
              </a:r>
            </a:p>
          </p:txBody>
        </p:sp>
      </p:grpSp>
      <p:grpSp>
        <p:nvGrpSpPr>
          <p:cNvPr id="27" name="c2-code-1"/>
          <p:cNvGrpSpPr/>
          <p:nvPr/>
        </p:nvGrpSpPr>
        <p:grpSpPr>
          <a:xfrm>
            <a:off x="6248400" y="1524000"/>
            <a:ext cx="5410200" cy="2791778"/>
            <a:chOff x="6248400" y="1524000"/>
            <a:chExt cx="5410200" cy="2791778"/>
          </a:xfrm>
        </p:grpSpPr>
        <p:sp>
          <p:nvSpPr>
            <p:cNvPr id="20" name="Rectangle 20"/>
            <p:cNvSpPr/>
            <p:nvPr/>
          </p:nvSpPr>
          <p:spPr>
            <a:xfrm>
              <a:off x="6248400" y="1524000"/>
              <a:ext cx="5410200" cy="2791778"/>
            </a:xfrm>
            <a:prstGeom prst="roundRect">
              <a:avLst>
                <a:gd name="adj" fmla="val 341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76797" y="167592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调整后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67450" y="2075498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67450" y="2602230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67450" y="2778442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67450" y="2954655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76797" y="1935956"/>
              <a:ext cx="3295650" cy="2305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WashingMachine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automatic()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receiveClothes(); wash(); drying();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receiveClothes()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wash()  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drying()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Person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washClothes(WashingMachine wm)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wm.automatic();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5" name="c2-card-2"/>
          <p:cNvGrpSpPr/>
          <p:nvPr/>
        </p:nvGrpSpPr>
        <p:grpSpPr>
          <a:xfrm>
            <a:off x="6248400" y="4480560"/>
            <a:ext cx="5410200" cy="1185862"/>
            <a:chOff x="6248400" y="4480560"/>
            <a:chExt cx="5410200" cy="1185862"/>
          </a:xfrm>
        </p:grpSpPr>
        <p:sp>
          <p:nvSpPr>
            <p:cNvPr id="28" name="Rectangle 28"/>
            <p:cNvSpPr/>
            <p:nvPr/>
          </p:nvSpPr>
          <p:spPr>
            <a:xfrm>
              <a:off x="6248400" y="448056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29375" y="466153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13944" y="469439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两条总结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438900" y="5053965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94348" y="5002054"/>
              <a:ext cx="43380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朋友间也是有距离的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：public 成员越多，变更波及面越大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438900" y="5338762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94348" y="5286851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是自己的就是自己的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：方法放在本类没有副作用，就放在本类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36" name="Rectangle 36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1273" y="6039326"/>
              <a:ext cx="76142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判据：一个方法里出现连续两级以上的调用（a.getB().getC().do()），基本就是知道得太多了。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932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833" y="407194"/>
              <a:ext cx="20924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迪米特法则 LoD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判别依据与边界：中介类不是越多越好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410200" cy="2291715"/>
            <a:chOff x="533400" y="1524000"/>
            <a:chExt cx="5410200" cy="22917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91715"/>
            </a:xfrm>
            <a:prstGeom prst="roundRect">
              <a:avLst>
                <a:gd name="adj" fmla="val 5819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31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978" y="176879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三个检查点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42950" y="211645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04799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3940" y="2129790"/>
              <a:ext cx="4444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这个方法调用的对象，是不是都来自 this、参数、成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员变量或本方法创建的对象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42950" y="27374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4799" y="27797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43940" y="275082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有没有连续穿过两个对象去拿第三个对象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42950" y="307276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4799" y="31150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43940" y="3086100"/>
              <a:ext cx="4453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这个类的 public 成员里，有没有本可以改成 private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4006215"/>
            <a:ext cx="5410200" cy="1602105"/>
            <a:chOff x="533400" y="4006215"/>
            <a:chExt cx="5410200" cy="1602105"/>
          </a:xfrm>
        </p:grpSpPr>
        <p:sp>
          <p:nvSpPr>
            <p:cNvPr id="21" name="Rectangle 21"/>
            <p:cNvSpPr/>
            <p:nvPr/>
          </p:nvSpPr>
          <p:spPr>
            <a:xfrm>
              <a:off x="533400" y="4006215"/>
              <a:ext cx="5410200" cy="1602105"/>
            </a:xfrm>
            <a:prstGeom prst="roundRect">
              <a:avLst>
                <a:gd name="adj" fmla="val 713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4707255"/>
              <a:ext cx="200026" cy="200025"/>
              <a:chOff x="738188" y="4707255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470725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77926" y="475170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2642" y="486283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130" y="4426268"/>
              <a:ext cx="44157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迪米特法则要求类"羞涩"一点，尽量不对外公布太多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public 方法和非静态的 public 变量，多使用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private、protected。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6248400" y="1524000"/>
            <a:ext cx="5410200" cy="2291715"/>
            <a:chOff x="6248400" y="1524000"/>
            <a:chExt cx="5410200" cy="2291715"/>
          </a:xfrm>
        </p:grpSpPr>
        <p:sp>
          <p:nvSpPr>
            <p:cNvPr id="28" name="Rectangle 28"/>
            <p:cNvSpPr/>
            <p:nvPr/>
          </p:nvSpPr>
          <p:spPr>
            <a:xfrm>
              <a:off x="6248400" y="1524000"/>
              <a:ext cx="5410200" cy="2291715"/>
            </a:xfrm>
            <a:prstGeom prst="roundRect">
              <a:avLst>
                <a:gd name="adj" fmla="val 5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57925" y="1657350"/>
              <a:ext cx="47625" cy="202501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边界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97078" y="1768792"/>
              <a:ext cx="15199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 LoD 的代价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88430" y="212979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迪米特法则不希望类之间建立直接的接触。真的需要建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立联系时，希望联系尽量少，或者通过中介类来转达。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501765" y="281368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59880" y="275082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后果是系统中会出现大量中介类，它们存在的唯一理由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就是传递调用关系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01765" y="343471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9880" y="3371850"/>
              <a:ext cx="33066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这在一定程度上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增加了系统的复杂度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248400" y="4006215"/>
            <a:ext cx="5410200" cy="1602105"/>
            <a:chOff x="6248400" y="4006215"/>
            <a:chExt cx="5410200" cy="1602105"/>
          </a:xfrm>
        </p:grpSpPr>
        <p:sp>
          <p:nvSpPr>
            <p:cNvPr id="39" name="Rectangle 39"/>
            <p:cNvSpPr/>
            <p:nvPr/>
          </p:nvSpPr>
          <p:spPr>
            <a:xfrm>
              <a:off x="6248400" y="4006215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57950" y="42157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48158" y="42514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权衡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50330" y="459295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耦合降低的收益要大于多出来的中介类的维护成本，这条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原则才值得用。跨越两三个对象的一次性调用，未必值得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专门建一个中介类。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4" name="Rectangle 4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91020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后面的外观模式、中介者模式就是把迪米特法则固化下来的两个结构，学到那里可以回头对照这一页。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08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913376" cy="2997517"/>
            <a:chOff x="667512" y="1835468"/>
            <a:chExt cx="491337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第八部分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2885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合成复用原则 CARP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尽量使用组合聚合，而不是继承，来达到复用目的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角色不是种类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工资算法不该靠继承分叉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1329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Coad 四条件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4316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28" y="407194"/>
              <a:ext cx="2341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合成复用原则 CARP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合成复用原则：先想组合，再想继承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1540192"/>
            <a:chOff x="533400" y="1524000"/>
            <a:chExt cx="5626418" cy="15401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540192"/>
            </a:xfrm>
            <a:prstGeom prst="roundRect">
              <a:avLst>
                <a:gd name="adj" fmla="val 86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7349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52931" y="1756886"/>
              <a:ext cx="29973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合成复用原则（CARP，又称 CRP）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100739"/>
              <a:ext cx="48836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尽量使用组合聚合而非继承来达到复用目的。也就是在一个新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对象中使用一些已有的对象，使之成为新对象的一部分，新对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象通过向这些对象委托功能来复用它们。</a:t>
              </a:r>
            </a:p>
          </p:txBody>
        </p:sp>
      </p:grpSp>
      <p:grpSp>
        <p:nvGrpSpPr>
          <p:cNvPr id="19" name="c1-kv-2"/>
          <p:cNvGrpSpPr/>
          <p:nvPr/>
        </p:nvGrpSpPr>
        <p:grpSpPr>
          <a:xfrm>
            <a:off x="526161" y="3268504"/>
            <a:ext cx="5633657" cy="1230249"/>
            <a:chOff x="526161" y="3268504"/>
            <a:chExt cx="5633657" cy="1230249"/>
          </a:xfrm>
        </p:grpSpPr>
        <p:sp>
          <p:nvSpPr>
            <p:cNvPr id="14" name="TextBox 14"/>
            <p:cNvSpPr txBox="1"/>
            <p:nvPr/>
          </p:nvSpPr>
          <p:spPr>
            <a:xfrm>
              <a:off x="526161" y="326850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聚合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49096" y="3268504"/>
              <a:ext cx="3999992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整体与部分的关系，表示拥有，是引用的聚合（by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Reference）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83952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26161" y="395239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49096" y="3952399"/>
              <a:ext cx="470331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更强的拥有，新对象支配组成部分的创建和湮灭，成员对象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不能与另一个组合共享，是值的聚合（by Value）</a:t>
              </a:r>
            </a:p>
          </p:txBody>
        </p:sp>
      </p:grpSp>
      <p:grpSp>
        <p:nvGrpSpPr>
          <p:cNvPr id="26" name="c1-callout-3"/>
          <p:cNvGrpSpPr/>
          <p:nvPr/>
        </p:nvGrpSpPr>
        <p:grpSpPr>
          <a:xfrm>
            <a:off x="533400" y="4622482"/>
            <a:ext cx="5626418" cy="1018222"/>
            <a:chOff x="533400" y="4622482"/>
            <a:chExt cx="5626418" cy="1018222"/>
          </a:xfrm>
        </p:grpSpPr>
        <p:sp>
          <p:nvSpPr>
            <p:cNvPr id="20" name="Rectangle 20"/>
            <p:cNvSpPr/>
            <p:nvPr/>
          </p:nvSpPr>
          <p:spPr>
            <a:xfrm>
              <a:off x="533400" y="4622482"/>
              <a:ext cx="5626418" cy="1018222"/>
            </a:xfrm>
            <a:prstGeom prst="roundRect">
              <a:avLst>
                <a:gd name="adj" fmla="val 112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5032058"/>
              <a:ext cx="200026" cy="200026"/>
              <a:chOff x="738188" y="5032058"/>
              <a:chExt cx="200026" cy="20002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50320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8200" y="50987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27088" y="51320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511" y="4770596"/>
              <a:ext cx="470331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面向对象设计中实现复用有两种基本办法，一是组合聚合，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二是继承。要正确选择，必须透彻理解里氏替换原则和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Coad 法则。</a:t>
              </a:r>
            </a:p>
          </p:txBody>
        </p:sp>
      </p:grpSp>
      <p:grpSp>
        <p:nvGrpSpPr>
          <p:cNvPr id="29" name="c2-image-1"/>
          <p:cNvGrpSpPr/>
          <p:nvPr/>
        </p:nvGrpSpPr>
        <p:grpSpPr>
          <a:xfrm>
            <a:off x="6464618" y="1524000"/>
            <a:ext cx="5193982" cy="2537079"/>
            <a:chOff x="6464618" y="1524000"/>
            <a:chExt cx="5193982" cy="2537079"/>
          </a:xfrm>
        </p:grpSpPr>
        <p:pic>
          <p:nvPicPr>
            <p:cNvPr id="27" name="Image 27"/>
            <p:cNvPicPr>
              <a:picLocks noChangeAspect="1"/>
            </p:cNvPicPr>
            <p:nvPr/>
          </p:nvPicPr>
          <p:blipFill>
            <a:blip r:embed="rId2"/>
            <a:srcRect l="0" t="21270" r="0" b="21269"/>
            <a:stretch>
              <a:fillRect/>
            </a:stretch>
          </p:blipFill>
          <p:spPr>
            <a:xfrm>
              <a:off x="6464618" y="1524000"/>
              <a:ext cx="5193982" cy="2238375"/>
            </a:xfrm>
            <a:prstGeom prst="roundRect">
              <a:avLst>
                <a:gd name="adj" fmla="val 5957"/>
              </a:avLst>
            </a:prstGeom>
          </p:spPr>
        </p:pic>
        <p:sp>
          <p:nvSpPr>
            <p:cNvPr id="28" name="TextBox 28"/>
            <p:cNvSpPr txBox="1"/>
            <p:nvPr/>
          </p:nvSpPr>
          <p:spPr>
            <a:xfrm>
              <a:off x="7431215" y="3855720"/>
              <a:ext cx="32617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缝死的补丁只能有一个，别上去的可以同时有好几个</a:t>
              </a:r>
            </a:p>
          </p:txBody>
        </p:sp>
      </p:grpSp>
      <p:grpSp>
        <p:nvGrpSpPr>
          <p:cNvPr id="34" name="c2-bullets-2"/>
          <p:cNvGrpSpPr/>
          <p:nvPr/>
        </p:nvGrpSpPr>
        <p:grpSpPr>
          <a:xfrm>
            <a:off x="6464618" y="4242911"/>
            <a:ext cx="4846548" cy="605410"/>
            <a:chOff x="6464618" y="4242911"/>
            <a:chExt cx="4846548" cy="605410"/>
          </a:xfrm>
        </p:grpSpPr>
        <p:sp>
          <p:nvSpPr>
            <p:cNvPr id="30" name="Freeform 30"/>
            <p:cNvSpPr/>
            <p:nvPr/>
          </p:nvSpPr>
          <p:spPr>
            <a:xfrm>
              <a:off x="6464618" y="4272915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08838" y="4242911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组合关系可以在运行期更换，继承关系编译期就定死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6464618" y="459962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08838" y="4569619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一个对象可以同时组合多个部分，却只能继承一条主线</a:t>
              </a:r>
            </a:p>
          </p:txBody>
        </p:sp>
      </p:grpSp>
      <p:grpSp>
        <p:nvGrpSpPr>
          <p:cNvPr id="40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5" name="Rectangle 35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511" y="6011704"/>
              <a:ext cx="99357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只有两个类满足里氏替换原则时，它们之间才可能是 is-a 关系；是 has-a 关系却设计成继承，一定会违反里氏替换。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4316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28" y="407194"/>
              <a:ext cx="2341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合成复用原则 CARP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坏例子：把角色当成了种类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9009698" cy="264033"/>
            <a:chOff x="526542" y="1545907"/>
            <a:chExt cx="900969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90096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把"人"当成一个类，把"雇员""经理""学生"当成"人"的派生类，错在把角色的等级结构和人的等级结构混淆了。</a:t>
              </a:r>
            </a:p>
          </p:txBody>
        </p:sp>
      </p:grpSp>
      <p:grpSp>
        <p:nvGrpSpPr>
          <p:cNvPr id="37" name="c1-uml-1"/>
          <p:cNvGrpSpPr/>
          <p:nvPr/>
        </p:nvGrpSpPr>
        <p:grpSpPr>
          <a:xfrm>
            <a:off x="1314450" y="1999298"/>
            <a:ext cx="3848100" cy="1559242"/>
            <a:chOff x="1314450" y="1999298"/>
            <a:chExt cx="3848100" cy="1559242"/>
          </a:xfrm>
        </p:grpSpPr>
        <p:sp>
          <p:nvSpPr>
            <p:cNvPr id="9" name="Freeform 9"/>
            <p:cNvSpPr/>
            <p:nvPr/>
          </p:nvSpPr>
          <p:spPr>
            <a:xfrm>
              <a:off x="1885950" y="2495550"/>
              <a:ext cx="1257300" cy="70485"/>
            </a:xfrm>
            <a:custGeom>
              <a:avLst/>
              <a:gdLst/>
              <a:ahLst/>
              <a:cxnLst/>
              <a:rect l="l" t="t" r="r" b="b"/>
              <a:pathLst>
                <a:path w="1257300" h="70485">
                  <a:moveTo>
                    <a:pt x="0" y="70485"/>
                  </a:moveTo>
                  <a:lnTo>
                    <a:pt x="0" y="0"/>
                  </a:lnTo>
                  <a:lnTo>
                    <a:pt x="1257300" y="0"/>
                  </a:lnTo>
                  <a:lnTo>
                    <a:pt x="1257300" y="55245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069908" y="242506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333750" y="2495550"/>
              <a:ext cx="1257300" cy="70485"/>
            </a:xfrm>
            <a:custGeom>
              <a:avLst/>
              <a:gdLst/>
              <a:ahLst/>
              <a:cxnLst/>
              <a:rect l="l" t="t" r="r" b="b"/>
              <a:pathLst>
                <a:path w="1257300" h="70485">
                  <a:moveTo>
                    <a:pt x="1257300" y="70485"/>
                  </a:moveTo>
                  <a:lnTo>
                    <a:pt x="1257300" y="0"/>
                  </a:lnTo>
                  <a:lnTo>
                    <a:pt x="0" y="0"/>
                  </a:lnTo>
                  <a:lnTo>
                    <a:pt x="0" y="55245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260408" y="242506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885950" y="3062288"/>
              <a:ext cx="1257300" cy="70485"/>
            </a:xfrm>
            <a:custGeom>
              <a:avLst/>
              <a:gdLst/>
              <a:ahLst/>
              <a:cxnLst/>
              <a:rect l="l" t="t" r="r" b="b"/>
              <a:pathLst>
                <a:path w="1257300" h="70485">
                  <a:moveTo>
                    <a:pt x="1257300" y="70485"/>
                  </a:moveTo>
                  <a:lnTo>
                    <a:pt x="1257300" y="0"/>
                  </a:lnTo>
                  <a:lnTo>
                    <a:pt x="0" y="0"/>
                  </a:lnTo>
                  <a:lnTo>
                    <a:pt x="0" y="55245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812608" y="299180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333750" y="3062288"/>
              <a:ext cx="1257300" cy="70485"/>
            </a:xfrm>
            <a:custGeom>
              <a:avLst/>
              <a:gdLst/>
              <a:ahLst/>
              <a:cxnLst/>
              <a:rect l="l" t="t" r="r" b="b"/>
              <a:pathLst>
                <a:path w="1257300" h="70485">
                  <a:moveTo>
                    <a:pt x="0" y="70485"/>
                  </a:moveTo>
                  <a:lnTo>
                    <a:pt x="0" y="0"/>
                  </a:lnTo>
                  <a:lnTo>
                    <a:pt x="1257300" y="0"/>
                  </a:lnTo>
                  <a:lnTo>
                    <a:pt x="1257300" y="55245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517708" y="299180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667000" y="1999298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674620" y="2005965"/>
              <a:ext cx="112871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667000" y="22298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667000" y="23250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314450" y="2566035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1322070" y="257270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314450" y="27965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1314450" y="289179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019550" y="2566035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027170" y="257270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019550" y="27965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019550" y="289179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2606992" y="3132772"/>
              <a:ext cx="1262062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2614612" y="3139440"/>
              <a:ext cx="1247775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2606992" y="3363278"/>
              <a:ext cx="126206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2606992" y="3458528"/>
              <a:ext cx="126206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002826" y="2055019"/>
              <a:ext cx="47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Person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77576" y="2621756"/>
              <a:ext cx="6167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Employee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317282" y="2621756"/>
              <a:ext cx="5475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661312" y="3188494"/>
              <a:ext cx="11543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EmployeeStudent</a:t>
              </a:r>
            </a:p>
          </p:txBody>
        </p:sp>
      </p:grpSp>
      <p:grpSp>
        <p:nvGrpSpPr>
          <p:cNvPr id="47" name="c1-card-2"/>
          <p:cNvGrpSpPr/>
          <p:nvPr/>
        </p:nvGrpSpPr>
        <p:grpSpPr>
          <a:xfrm>
            <a:off x="533400" y="3793808"/>
            <a:ext cx="5410200" cy="1926908"/>
            <a:chOff x="533400" y="3793808"/>
            <a:chExt cx="5410200" cy="1926908"/>
          </a:xfrm>
        </p:grpSpPr>
        <p:sp>
          <p:nvSpPr>
            <p:cNvPr id="38" name="Rectangle 38"/>
            <p:cNvSpPr/>
            <p:nvPr/>
          </p:nvSpPr>
          <p:spPr>
            <a:xfrm>
              <a:off x="533400" y="3793808"/>
              <a:ext cx="5410200" cy="1926908"/>
            </a:xfrm>
            <a:prstGeom prst="roundRect">
              <a:avLst>
                <a:gd name="adj" fmla="val 692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542925" y="3927158"/>
              <a:ext cx="47625" cy="166020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52475" y="397478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45147" y="400764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后果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5998" y="4314349"/>
              <a:ext cx="49870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一个人是雇员就不可能是学生，只能再造 EmployeeStudent 类。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62000" y="465201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17448" y="460009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角色每多一种，组合出的类成倍增长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62000" y="493680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17448" y="4884896"/>
              <a:ext cx="28622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不支持多继承，这个类写不出来</a:t>
              </a:r>
            </a:p>
          </p:txBody>
        </p:sp>
      </p:grpSp>
      <p:grpSp>
        <p:nvGrpSpPr>
          <p:cNvPr id="82" name="c2-uml-1"/>
          <p:cNvGrpSpPr/>
          <p:nvPr/>
        </p:nvGrpSpPr>
        <p:grpSpPr>
          <a:xfrm>
            <a:off x="6548438" y="2019300"/>
            <a:ext cx="4779644" cy="1276350"/>
            <a:chOff x="6548438" y="2019300"/>
            <a:chExt cx="4779644" cy="1276350"/>
          </a:xfrm>
        </p:grpSpPr>
        <p:sp>
          <p:nvSpPr>
            <p:cNvPr id="48" name="Freeform 48"/>
            <p:cNvSpPr/>
            <p:nvPr/>
          </p:nvSpPr>
          <p:spPr>
            <a:xfrm>
              <a:off x="7961948" y="2313622"/>
              <a:ext cx="420053" cy="9525"/>
            </a:xfrm>
            <a:custGeom>
              <a:avLst/>
              <a:gdLst/>
              <a:ahLst/>
              <a:cxnLst/>
              <a:rect l="l" t="t" r="r" b="b"/>
              <a:pathLst>
                <a:path w="420053" h="9525">
                  <a:moveTo>
                    <a:pt x="420053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7752398" y="2255520"/>
              <a:ext cx="209550" cy="115252"/>
            </a:xfrm>
            <a:custGeom>
              <a:avLst/>
              <a:gdLst/>
              <a:ahLst/>
              <a:cxnLst/>
              <a:rect l="l" t="t" r="r" b="b"/>
              <a:pathLst>
                <a:path w="209550" h="115252">
                  <a:moveTo>
                    <a:pt x="0" y="58102"/>
                  </a:moveTo>
                  <a:lnTo>
                    <a:pt x="104775" y="0"/>
                  </a:lnTo>
                  <a:lnTo>
                    <a:pt x="209550" y="58102"/>
                  </a:lnTo>
                  <a:lnTo>
                    <a:pt x="104775" y="115252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7150418" y="2651760"/>
              <a:ext cx="1612582" cy="218123"/>
            </a:xfrm>
            <a:custGeom>
              <a:avLst/>
              <a:gdLst/>
              <a:ahLst/>
              <a:cxnLst/>
              <a:rect l="l" t="t" r="r" b="b"/>
              <a:pathLst>
                <a:path w="1612582" h="218123">
                  <a:moveTo>
                    <a:pt x="0" y="218123"/>
                  </a:moveTo>
                  <a:lnTo>
                    <a:pt x="0" y="45720"/>
                  </a:lnTo>
                  <a:lnTo>
                    <a:pt x="1612582" y="45720"/>
                  </a:lnTo>
                  <a:lnTo>
                    <a:pt x="161258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8689658" y="252603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8953500" y="2651760"/>
              <a:ext cx="9525" cy="218123"/>
            </a:xfrm>
            <a:custGeom>
              <a:avLst/>
              <a:gdLst/>
              <a:ahLst/>
              <a:cxnLst/>
              <a:rect l="l" t="t" r="r" b="b"/>
              <a:pathLst>
                <a:path w="9525" h="218123">
                  <a:moveTo>
                    <a:pt x="0" y="218123"/>
                  </a:moveTo>
                  <a:lnTo>
                    <a:pt x="0" y="45720"/>
                  </a:lnTo>
                  <a:lnTo>
                    <a:pt x="0" y="4572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8880158" y="252603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9144000" y="2651760"/>
              <a:ext cx="1612582" cy="218123"/>
            </a:xfrm>
            <a:custGeom>
              <a:avLst/>
              <a:gdLst/>
              <a:ahLst/>
              <a:cxnLst/>
              <a:rect l="l" t="t" r="r" b="b"/>
              <a:pathLst>
                <a:path w="1612582" h="218123">
                  <a:moveTo>
                    <a:pt x="1612582" y="218123"/>
                  </a:moveTo>
                  <a:lnTo>
                    <a:pt x="1612582" y="45720"/>
                  </a:lnTo>
                  <a:lnTo>
                    <a:pt x="0" y="4572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9070658" y="252603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548438" y="2019300"/>
              <a:ext cx="120396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555105" y="2025968"/>
              <a:ext cx="118967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548438" y="2249805"/>
              <a:ext cx="120396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548438" y="2506980"/>
              <a:ext cx="120396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8382000" y="2100262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8389620" y="2107882"/>
              <a:ext cx="112871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8382000" y="233076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8382000" y="242601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578918" y="2869882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6585585" y="287655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6578918" y="31003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578918" y="31956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8382000" y="2869882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8389620" y="287655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8382000" y="31003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8382000" y="31956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10185082" y="2869882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10192702" y="287655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10185082" y="31003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10185082" y="31956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914744" y="2075021"/>
              <a:ext cx="47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Person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619875" y="2319338"/>
              <a:ext cx="113388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roles: List&lt;Role&gt;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811575" y="2155984"/>
              <a:ext cx="2838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i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Role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842043" y="2925604"/>
              <a:ext cx="6167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Employee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665768" y="2925604"/>
              <a:ext cx="5754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Manager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0482815" y="2925604"/>
              <a:ext cx="5475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</p:grpSp>
      <p:grpSp>
        <p:nvGrpSpPr>
          <p:cNvPr id="86" name="c2-code-2"/>
          <p:cNvGrpSpPr/>
          <p:nvPr/>
        </p:nvGrpSpPr>
        <p:grpSpPr>
          <a:xfrm>
            <a:off x="6248400" y="3631882"/>
            <a:ext cx="5410200" cy="2088832"/>
            <a:chOff x="6248400" y="3631882"/>
            <a:chExt cx="5410200" cy="2088832"/>
          </a:xfrm>
        </p:grpSpPr>
        <p:sp>
          <p:nvSpPr>
            <p:cNvPr id="83" name="Rectangle 83"/>
            <p:cNvSpPr/>
            <p:nvPr/>
          </p:nvSpPr>
          <p:spPr>
            <a:xfrm>
              <a:off x="6248400" y="3631882"/>
              <a:ext cx="5410200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376797" y="378380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6376797" y="4043839"/>
              <a:ext cx="3364103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Role { 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Employee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Role { 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Manager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Role { 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Student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Role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Person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List&lt;Role&gt; roles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ArrayList&lt;&gt;();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addRole(Role r) { roles.add(r);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9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87" name="Rectangle 87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90" name="Group 90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91" name="TextBox 91"/>
            <p:cNvSpPr txBox="1"/>
            <p:nvPr/>
          </p:nvSpPr>
          <p:spPr>
            <a:xfrm>
              <a:off x="1041273" y="6039326"/>
              <a:ext cx="98175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is-a 代表一个类是另一个类的一种，has-a 代表一个类是另一个类的一个角色。把 has-a 当成 is-a，是错用继承最常见的原因。</a:t>
              </a:r>
            </a:p>
          </p:txBody>
        </p:sp>
      </p:grpSp>
      <p:grpSp>
        <p:nvGrpSpPr>
          <p:cNvPr id="9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3" name="TextBox 93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4316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28" y="407194"/>
              <a:ext cx="2341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合成复用原则 CARP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第二个例子：工资算法不该靠派生子类来分叉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uml-1"/>
          <p:cNvGrpSpPr/>
          <p:nvPr/>
        </p:nvGrpSpPr>
        <p:grpSpPr>
          <a:xfrm>
            <a:off x="1314450" y="1648778"/>
            <a:ext cx="3848100" cy="1344930"/>
            <a:chOff x="1314450" y="1648778"/>
            <a:chExt cx="3848100" cy="1344930"/>
          </a:xfrm>
        </p:grpSpPr>
        <p:sp>
          <p:nvSpPr>
            <p:cNvPr id="7" name="Freeform 7"/>
            <p:cNvSpPr/>
            <p:nvPr/>
          </p:nvSpPr>
          <p:spPr>
            <a:xfrm>
              <a:off x="1885950" y="2363152"/>
              <a:ext cx="1257300" cy="204788"/>
            </a:xfrm>
            <a:custGeom>
              <a:avLst/>
              <a:gdLst/>
              <a:ahLst/>
              <a:cxnLst/>
              <a:rect l="l" t="t" r="r" b="b"/>
              <a:pathLst>
                <a:path w="1257300" h="204788">
                  <a:moveTo>
                    <a:pt x="0" y="204788"/>
                  </a:moveTo>
                  <a:lnTo>
                    <a:pt x="0" y="40005"/>
                  </a:lnTo>
                  <a:lnTo>
                    <a:pt x="1257300" y="40005"/>
                  </a:lnTo>
                  <a:lnTo>
                    <a:pt x="12573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069908" y="223742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3333750" y="2363152"/>
              <a:ext cx="1257300" cy="204788"/>
            </a:xfrm>
            <a:custGeom>
              <a:avLst/>
              <a:gdLst/>
              <a:ahLst/>
              <a:cxnLst/>
              <a:rect l="l" t="t" r="r" b="b"/>
              <a:pathLst>
                <a:path w="1257300" h="204788">
                  <a:moveTo>
                    <a:pt x="1257300" y="204788"/>
                  </a:moveTo>
                  <a:lnTo>
                    <a:pt x="1257300" y="40005"/>
                  </a:lnTo>
                  <a:lnTo>
                    <a:pt x="0" y="4000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60408" y="223742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2653665" y="1648778"/>
              <a:ext cx="116967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2661285" y="1656398"/>
              <a:ext cx="115538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653665" y="1879282"/>
              <a:ext cx="11696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653665" y="1974532"/>
              <a:ext cx="11696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314450" y="2567940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322070" y="257556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314450" y="279844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1314450" y="289369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019550" y="2567940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027170" y="257556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019550" y="279844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019550" y="289369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930126" y="1704499"/>
              <a:ext cx="6167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Employee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25102" y="2044065"/>
              <a:ext cx="10929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getSalary(): int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05882" y="2623661"/>
              <a:ext cx="3601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Sales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303318" y="2623661"/>
              <a:ext cx="5754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Manager</a:t>
              </a:r>
            </a:p>
          </p:txBody>
        </p:sp>
      </p:grpSp>
      <p:grpSp>
        <p:nvGrpSpPr>
          <p:cNvPr id="37" name="c1-card-2"/>
          <p:cNvGrpSpPr/>
          <p:nvPr/>
        </p:nvGrpSpPr>
        <p:grpSpPr>
          <a:xfrm>
            <a:off x="533400" y="3369945"/>
            <a:ext cx="5410200" cy="2181225"/>
            <a:chOff x="533400" y="3369945"/>
            <a:chExt cx="5410200" cy="2181225"/>
          </a:xfrm>
        </p:grpSpPr>
        <p:sp>
          <p:nvSpPr>
            <p:cNvPr id="28" name="Rectangle 28"/>
            <p:cNvSpPr/>
            <p:nvPr/>
          </p:nvSpPr>
          <p:spPr>
            <a:xfrm>
              <a:off x="533400" y="3369945"/>
              <a:ext cx="5410200" cy="2181225"/>
            </a:xfrm>
            <a:prstGeom prst="roundRect">
              <a:avLst>
                <a:gd name="adj" fmla="val 611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3503295"/>
              <a:ext cx="47625" cy="191452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58190" y="355663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50862" y="35894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66762" y="395763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2782" y="390144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销售转岗做经理，对象类型换不了，只能销毁重建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66762" y="425767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2782" y="420147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再加一种计薪方式就要再派生一个子类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2475" y="4498181"/>
              <a:ext cx="462000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更正：源课件把 getSalary 写作 getSaraly，getSalary() 的返回值写作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void，应为 int</a:t>
              </a:r>
            </a:p>
          </p:txBody>
        </p:sp>
      </p:grpSp>
      <p:grpSp>
        <p:nvGrpSpPr>
          <p:cNvPr id="70" name="c2-uml-1"/>
          <p:cNvGrpSpPr/>
          <p:nvPr/>
        </p:nvGrpSpPr>
        <p:grpSpPr>
          <a:xfrm>
            <a:off x="6576060" y="1590675"/>
            <a:ext cx="4376738" cy="1553527"/>
            <a:chOff x="6576060" y="1590675"/>
            <a:chExt cx="4376738" cy="1553527"/>
          </a:xfrm>
        </p:grpSpPr>
        <p:sp>
          <p:nvSpPr>
            <p:cNvPr id="38" name="Freeform 38"/>
            <p:cNvSpPr/>
            <p:nvPr/>
          </p:nvSpPr>
          <p:spPr>
            <a:xfrm>
              <a:off x="8835390" y="1965960"/>
              <a:ext cx="885825" cy="9525"/>
            </a:xfrm>
            <a:custGeom>
              <a:avLst/>
              <a:gdLst/>
              <a:ahLst/>
              <a:cxnLst/>
              <a:rect l="l" t="t" r="r" b="b"/>
              <a:pathLst>
                <a:path w="885825" h="9525">
                  <a:moveTo>
                    <a:pt x="8858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8625840" y="1908810"/>
              <a:ext cx="209550" cy="115252"/>
            </a:xfrm>
            <a:custGeom>
              <a:avLst/>
              <a:gdLst/>
              <a:ahLst/>
              <a:cxnLst/>
              <a:rect l="l" t="t" r="r" b="b"/>
              <a:pathLst>
                <a:path w="209550" h="115252">
                  <a:moveTo>
                    <a:pt x="0" y="57150"/>
                  </a:moveTo>
                  <a:lnTo>
                    <a:pt x="104775" y="0"/>
                  </a:lnTo>
                  <a:lnTo>
                    <a:pt x="209550" y="57150"/>
                  </a:lnTo>
                  <a:lnTo>
                    <a:pt x="104775" y="115252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600950" y="2443162"/>
              <a:ext cx="2609850" cy="113347"/>
            </a:xfrm>
            <a:custGeom>
              <a:avLst/>
              <a:gdLst/>
              <a:ahLst/>
              <a:cxnLst/>
              <a:rect l="l" t="t" r="r" b="b"/>
              <a:pathLst>
                <a:path w="2609850" h="113347">
                  <a:moveTo>
                    <a:pt x="0" y="113347"/>
                  </a:moveTo>
                  <a:lnTo>
                    <a:pt x="0" y="0"/>
                  </a:lnTo>
                  <a:lnTo>
                    <a:pt x="2609850" y="0"/>
                  </a:lnTo>
                  <a:lnTo>
                    <a:pt x="2609850" y="1143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41" name="Freeform 41"/>
            <p:cNvSpPr/>
            <p:nvPr/>
          </p:nvSpPr>
          <p:spPr>
            <a:xfrm>
              <a:off x="10137458" y="232886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10306050" y="2443162"/>
              <a:ext cx="95250" cy="113347"/>
            </a:xfrm>
            <a:custGeom>
              <a:avLst/>
              <a:gdLst/>
              <a:ahLst/>
              <a:cxnLst/>
              <a:rect l="l" t="t" r="r" b="b"/>
              <a:pathLst>
                <a:path w="95250" h="113347">
                  <a:moveTo>
                    <a:pt x="0" y="113347"/>
                  </a:moveTo>
                  <a:lnTo>
                    <a:pt x="0" y="0"/>
                  </a:lnTo>
                  <a:lnTo>
                    <a:pt x="95250" y="0"/>
                  </a:lnTo>
                  <a:lnTo>
                    <a:pt x="95250" y="1143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43" name="Freeform 43"/>
            <p:cNvSpPr/>
            <p:nvPr/>
          </p:nvSpPr>
          <p:spPr>
            <a:xfrm>
              <a:off x="10327958" y="232886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576060" y="1590675"/>
              <a:ext cx="204978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582728" y="1598295"/>
              <a:ext cx="203549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576060" y="1821180"/>
              <a:ext cx="204978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576060" y="2079308"/>
              <a:ext cx="204978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721215" y="1604010"/>
              <a:ext cx="1169670" cy="7248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728835" y="1610678"/>
              <a:ext cx="1155382" cy="36480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721215" y="1971675"/>
              <a:ext cx="11696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721215" y="2066925"/>
              <a:ext cx="11696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016115" y="2556510"/>
              <a:ext cx="116967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023735" y="2564130"/>
              <a:ext cx="115538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016115" y="2787015"/>
              <a:ext cx="11696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016115" y="2882265"/>
              <a:ext cx="11696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658350" y="2556510"/>
              <a:ext cx="1294448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9665970" y="2564130"/>
              <a:ext cx="1280160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658350" y="2787015"/>
              <a:ext cx="129444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9658350" y="2882265"/>
              <a:ext cx="129444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292576" y="1646396"/>
              <a:ext cx="6167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Employee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647498" y="1890712"/>
              <a:ext cx="203294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salaryStrategy: SalaryStrategy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647498" y="2148840"/>
              <a:ext cx="10929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getSalary(): int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981161" y="1656874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780923" y="1796891"/>
              <a:ext cx="10502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SalaryStrategy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792652" y="2136458"/>
              <a:ext cx="10929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getSalary(): int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113928" y="2612231"/>
              <a:ext cx="9740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SalesStrategy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087552" y="2951798"/>
              <a:ext cx="10929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getSalary(): int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711416" y="2612231"/>
              <a:ext cx="11892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ManagerStrategy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729788" y="2951798"/>
              <a:ext cx="10929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getSalary(): int</a:t>
              </a:r>
            </a:p>
          </p:txBody>
        </p:sp>
      </p:grpSp>
      <p:grpSp>
        <p:nvGrpSpPr>
          <p:cNvPr id="74" name="c2-code-2"/>
          <p:cNvGrpSpPr/>
          <p:nvPr/>
        </p:nvGrpSpPr>
        <p:grpSpPr>
          <a:xfrm>
            <a:off x="6248400" y="3463290"/>
            <a:ext cx="5410200" cy="2088832"/>
            <a:chOff x="6248400" y="3463290"/>
            <a:chExt cx="5410200" cy="2088832"/>
          </a:xfrm>
        </p:grpSpPr>
        <p:sp>
          <p:nvSpPr>
            <p:cNvPr id="71" name="Rectangle 71"/>
            <p:cNvSpPr/>
            <p:nvPr/>
          </p:nvSpPr>
          <p:spPr>
            <a:xfrm>
              <a:off x="6248400" y="3463290"/>
              <a:ext cx="5410200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376797" y="361521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376797" y="3875246"/>
              <a:ext cx="4322445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SalaryStrategy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getSalary(); 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SalesStrategy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SalaryStrategy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getSalary()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3000 + 500;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Employee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SalaryStrategy strategy;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setStrategy(SalaryStrategy s) { strategy = s;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getSalary()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strategy.getSalary();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8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75" name="Rectangle 75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1040892" y="6028373"/>
              <a:ext cx="91819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换一次计薪方式只要调一次 setSalaryStrategy，同一个 Employee 对象一直活着。这就是后面要学的策略模式。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62111" cy="909257"/>
            <a:chOff x="520446" y="342900"/>
            <a:chExt cx="746211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4316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28" y="407194"/>
              <a:ext cx="2341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合成复用原则 CARP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621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判别依据：Coad 法则的四个条件全满足才用继承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ard-1"/>
          <p:cNvGrpSpPr/>
          <p:nvPr/>
        </p:nvGrpSpPr>
        <p:grpSpPr>
          <a:xfrm>
            <a:off x="533400" y="1524000"/>
            <a:ext cx="5410200" cy="2648902"/>
            <a:chOff x="533400" y="1524000"/>
            <a:chExt cx="5410200" cy="26489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648902"/>
            </a:xfrm>
            <a:prstGeom prst="roundRect">
              <a:avLst>
                <a:gd name="adj" fmla="val 503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82677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4356" y="1750695"/>
              <a:ext cx="669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Coad 条件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59064" y="175641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四条全部满足时，才应当使用继承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25805" y="2078355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81483" y="21167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06602" y="2090738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派生类是基类的一个特殊种类，而不是基类的一个角色，也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就是区分 has-a 和 is-a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5805" y="263747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81483" y="267681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06602" y="2649855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永远不会出现需要把派生类换成另一个类的派生类的情况。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不能肯定将来会不会换，就不要用继承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25805" y="319754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1483" y="323592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06602" y="3209925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派生类具有扩展基类的责任，而不是置换掉或注销掉基类的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责任。需要大量置换基类行为，就不该继承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25805" y="375761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81483" y="379599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6602" y="3769042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只有在分类学角度上有意义时，才可以使用继承</a:t>
              </a:r>
            </a:p>
          </p:txBody>
        </p:sp>
      </p:grpSp>
      <p:grpSp>
        <p:nvGrpSpPr>
          <p:cNvPr id="30" name="c1-callout-2"/>
          <p:cNvGrpSpPr/>
          <p:nvPr/>
        </p:nvGrpSpPr>
        <p:grpSpPr>
          <a:xfrm>
            <a:off x="533400" y="4348162"/>
            <a:ext cx="5410200" cy="1016318"/>
            <a:chOff x="533400" y="4348162"/>
            <a:chExt cx="5410200" cy="1016318"/>
          </a:xfrm>
        </p:grpSpPr>
        <p:sp>
          <p:nvSpPr>
            <p:cNvPr id="24" name="Rectangle 24"/>
            <p:cNvSpPr/>
            <p:nvPr/>
          </p:nvSpPr>
          <p:spPr>
            <a:xfrm>
              <a:off x="533400" y="4348162"/>
              <a:ext cx="5410200" cy="1016318"/>
            </a:xfrm>
            <a:prstGeom prst="roundRect">
              <a:avLst>
                <a:gd name="adj" fmla="val 1124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4755833"/>
              <a:ext cx="200026" cy="200025"/>
              <a:chOff x="738188" y="4755833"/>
              <a:chExt cx="200026" cy="2000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475583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77926" y="480028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12642" y="491140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892" y="4637722"/>
              <a:ext cx="439426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语义上存在明确且稳定不变的 is-a 关系，考虑继承；没有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is-a 关系，或这种关系是可变的，用组合聚合。</a:t>
              </a:r>
            </a:p>
          </p:txBody>
        </p:sp>
      </p:grpSp>
      <p:grpSp>
        <p:nvGrpSpPr>
          <p:cNvPr id="66" name="c2-table-1"/>
          <p:cNvGrpSpPr/>
          <p:nvPr/>
        </p:nvGrpSpPr>
        <p:grpSpPr>
          <a:xfrm>
            <a:off x="6248400" y="1524000"/>
            <a:ext cx="5410200" cy="3840480"/>
            <a:chOff x="6248400" y="1524000"/>
            <a:chExt cx="5410200" cy="3840480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68722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035404" y="164830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组合聚合复用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295966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继承复用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36449" y="21540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复用方式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448550" y="1939290"/>
              <a:ext cx="2090738" cy="58674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39038" y="2054066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黑箱复用，看不到成员对象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648825" y="2054066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白箱复用，基类细节暴露给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派生类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48400" y="25307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48400" y="2535555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11836" y="26598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封装性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39038" y="26598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更好地支持封装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558338" y="2545080"/>
              <a:ext cx="2090738" cy="38671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648825" y="265985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破坏封装性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29365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36449" y="31656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依赖程度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39038" y="316563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实现上的相互依赖比较小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648825" y="3065621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基类一改，派生类实现也得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354234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48400" y="3547110"/>
              <a:ext cx="541020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36449" y="37714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绑定时机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39038" y="3671411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运行期可以动态更换成员对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648825" y="3671411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编译期静态确定，运行期不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能变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41481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461061" y="437721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新实现难度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539038" y="437721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要自己写委托代码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48825" y="4277201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较容易，基类功能自动进入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派生类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248400" y="475392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248400" y="4758690"/>
              <a:ext cx="541020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687223" y="49830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539038" y="4882991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系统中会有较多的对象需要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648825" y="498300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子类数量容易按乘法增长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248400" y="1524000"/>
              <a:ext cx="5410200" cy="38404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7434262" y="1524000"/>
              <a:ext cx="9525" cy="3840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9544050" y="1524000"/>
              <a:ext cx="9525" cy="3840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67" name="Rectangle 67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738188" y="5897880"/>
              <a:ext cx="200026" cy="200026"/>
              <a:chOff x="738188" y="5897880"/>
              <a:chExt cx="200026" cy="200026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38188" y="58978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38200" y="5964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827088" y="59978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1040892" y="5779770"/>
              <a:ext cx="99578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组合复用的另外几条好处：每个新类可以把焦点集中在一个任务上；新对象可以在运行期动态引用与成员对象类型相同的对象；这种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手段几乎在任何环境都能用。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09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882896" cy="2997517"/>
            <a:chOff x="667512" y="1835468"/>
            <a:chExt cx="488289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第九部分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原则之间的关系与取舍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七条原则会互相支撑，也会互相拉扯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谁为谁服务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常见的三处冲突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拿到设计先问哪三句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原则之间的关系与取舍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七条原则怎样互相支撑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graph-1"/>
          <p:cNvGrpSpPr/>
          <p:nvPr/>
        </p:nvGrpSpPr>
        <p:grpSpPr>
          <a:xfrm>
            <a:off x="663892" y="1815465"/>
            <a:ext cx="5581650" cy="3278505"/>
            <a:chOff x="663892" y="1815465"/>
            <a:chExt cx="5581650" cy="3278505"/>
          </a:xfrm>
        </p:grpSpPr>
        <p:sp>
          <p:nvSpPr>
            <p:cNvPr id="7" name="Freeform 7"/>
            <p:cNvSpPr/>
            <p:nvPr/>
          </p:nvSpPr>
          <p:spPr>
            <a:xfrm>
              <a:off x="2090738" y="2332672"/>
              <a:ext cx="1006792" cy="812482"/>
            </a:xfrm>
            <a:custGeom>
              <a:avLst/>
              <a:gdLst/>
              <a:ahLst/>
              <a:cxnLst/>
              <a:rect l="l" t="t" r="r" b="b"/>
              <a:pathLst>
                <a:path w="1006792" h="812482">
                  <a:moveTo>
                    <a:pt x="0" y="812482"/>
                  </a:moveTo>
                  <a:lnTo>
                    <a:pt x="100679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068002" y="2272665"/>
              <a:ext cx="103822" cy="97155"/>
            </a:xfrm>
            <a:custGeom>
              <a:avLst/>
              <a:gdLst/>
              <a:ahLst/>
              <a:cxnLst/>
              <a:rect l="l" t="t" r="r" b="b"/>
              <a:pathLst>
                <a:path w="103822" h="97155">
                  <a:moveTo>
                    <a:pt x="103822" y="0"/>
                  </a:moveTo>
                  <a:lnTo>
                    <a:pt x="59055" y="97155"/>
                  </a:lnTo>
                  <a:lnTo>
                    <a:pt x="0" y="2286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767138" y="2338388"/>
              <a:ext cx="857250" cy="806767"/>
            </a:xfrm>
            <a:custGeom>
              <a:avLst/>
              <a:gdLst/>
              <a:ahLst/>
              <a:cxnLst/>
              <a:rect l="l" t="t" r="r" b="b"/>
              <a:pathLst>
                <a:path w="857250" h="806767">
                  <a:moveTo>
                    <a:pt x="857250" y="806767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697605" y="2272665"/>
              <a:ext cx="101917" cy="100012"/>
            </a:xfrm>
            <a:custGeom>
              <a:avLst/>
              <a:gdLst/>
              <a:ahLst/>
              <a:cxnLst/>
              <a:rect l="l" t="t" r="r" b="b"/>
              <a:pathLst>
                <a:path w="101917" h="100012">
                  <a:moveTo>
                    <a:pt x="0" y="0"/>
                  </a:moveTo>
                  <a:lnTo>
                    <a:pt x="101917" y="30480"/>
                  </a:lnTo>
                  <a:lnTo>
                    <a:pt x="37148" y="10001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365885" y="3673792"/>
              <a:ext cx="345757" cy="1001078"/>
            </a:xfrm>
            <a:custGeom>
              <a:avLst/>
              <a:gdLst/>
              <a:ahLst/>
              <a:cxnLst/>
              <a:rect l="l" t="t" r="r" b="b"/>
              <a:pathLst>
                <a:path w="345757" h="1001078">
                  <a:moveTo>
                    <a:pt x="0" y="1001078"/>
                  </a:moveTo>
                  <a:lnTo>
                    <a:pt x="34575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666875" y="3583305"/>
              <a:ext cx="90488" cy="105728"/>
            </a:xfrm>
            <a:custGeom>
              <a:avLst/>
              <a:gdLst/>
              <a:ahLst/>
              <a:cxnLst/>
              <a:rect l="l" t="t" r="r" b="b"/>
              <a:pathLst>
                <a:path w="90488" h="105728">
                  <a:moveTo>
                    <a:pt x="76200" y="0"/>
                  </a:moveTo>
                  <a:lnTo>
                    <a:pt x="90488" y="105728"/>
                  </a:lnTo>
                  <a:lnTo>
                    <a:pt x="0" y="7429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751772" y="2365058"/>
              <a:ext cx="617220" cy="2309812"/>
            </a:xfrm>
            <a:custGeom>
              <a:avLst/>
              <a:gdLst/>
              <a:ahLst/>
              <a:cxnLst/>
              <a:rect l="l" t="t" r="r" b="b"/>
              <a:pathLst>
                <a:path w="617220" h="2309812">
                  <a:moveTo>
                    <a:pt x="0" y="2309812"/>
                  </a:moveTo>
                  <a:lnTo>
                    <a:pt x="61722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323272" y="2272665"/>
              <a:ext cx="91440" cy="104775"/>
            </a:xfrm>
            <a:custGeom>
              <a:avLst/>
              <a:gdLst/>
              <a:ahLst/>
              <a:cxnLst/>
              <a:rect l="l" t="t" r="r" b="b"/>
              <a:pathLst>
                <a:path w="91440" h="104775">
                  <a:moveTo>
                    <a:pt x="70485" y="0"/>
                  </a:moveTo>
                  <a:lnTo>
                    <a:pt x="91440" y="104775"/>
                  </a:lnTo>
                  <a:lnTo>
                    <a:pt x="0" y="8001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784408" y="4884420"/>
              <a:ext cx="108585" cy="9525"/>
            </a:xfrm>
            <a:custGeom>
              <a:avLst/>
              <a:gdLst/>
              <a:ahLst/>
              <a:cxnLst/>
              <a:rect l="l" t="t" r="r" b="b"/>
              <a:pathLst>
                <a:path w="108585" h="9525">
                  <a:moveTo>
                    <a:pt x="0" y="0"/>
                  </a:moveTo>
                  <a:lnTo>
                    <a:pt x="10858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892992" y="483679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5009198" y="3668078"/>
              <a:ext cx="502920" cy="1006792"/>
            </a:xfrm>
            <a:custGeom>
              <a:avLst/>
              <a:gdLst/>
              <a:ahLst/>
              <a:cxnLst/>
              <a:rect l="l" t="t" r="r" b="b"/>
              <a:pathLst>
                <a:path w="502920" h="1006792">
                  <a:moveTo>
                    <a:pt x="502920" y="100679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966335" y="3583305"/>
              <a:ext cx="85725" cy="106680"/>
            </a:xfrm>
            <a:custGeom>
              <a:avLst/>
              <a:gdLst/>
              <a:ahLst/>
              <a:cxnLst/>
              <a:rect l="l" t="t" r="r" b="b"/>
              <a:pathLst>
                <a:path w="85725" h="106680">
                  <a:moveTo>
                    <a:pt x="0" y="0"/>
                  </a:moveTo>
                  <a:lnTo>
                    <a:pt x="85725" y="63817"/>
                  </a:lnTo>
                  <a:lnTo>
                    <a:pt x="0" y="10668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654618" y="1815465"/>
              <a:ext cx="1600200" cy="457200"/>
            </a:xfrm>
            <a:prstGeom prst="roundRect">
              <a:avLst>
                <a:gd name="adj" fmla="val 20833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104900" y="314515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142422" y="3145155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63892" y="4674870"/>
              <a:ext cx="125730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133600" y="4674870"/>
              <a:ext cx="112395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527108" y="4674870"/>
              <a:ext cx="125730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988242" y="4674870"/>
              <a:ext cx="125730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932869" y="1969770"/>
              <a:ext cx="1043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 OCP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15349" y="3289935"/>
              <a:ext cx="10078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里氏替换 LSP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375274" y="3289935"/>
              <a:ext cx="9630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依赖倒置 DIP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39330" y="4810125"/>
              <a:ext cx="11064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合成复用 CARP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75542" y="4810125"/>
              <a:ext cx="840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 LoD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51832" y="4810125"/>
              <a:ext cx="10078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单一职责 SRP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135369" y="4810125"/>
              <a:ext cx="9630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接口隔离 ISP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032635" y="2615565"/>
              <a:ext cx="119634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2032178" y="2650331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继承用对了才敢替换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563302" y="2615565"/>
              <a:ext cx="119634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562845" y="2650331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面向接口，实现可换</a:t>
              </a:r>
            </a:p>
          </p:txBody>
        </p:sp>
      </p:grpSp>
      <p:grpSp>
        <p:nvGrpSpPr>
          <p:cNvPr id="58" name="c2-kv-1"/>
          <p:cNvGrpSpPr/>
          <p:nvPr/>
        </p:nvGrpSpPr>
        <p:grpSpPr>
          <a:xfrm>
            <a:off x="6673215" y="1548765"/>
            <a:ext cx="4985385" cy="2933700"/>
            <a:chOff x="6673215" y="1548765"/>
            <a:chExt cx="4985385" cy="2933700"/>
          </a:xfrm>
        </p:grpSpPr>
        <p:sp>
          <p:nvSpPr>
            <p:cNvPr id="38" name="TextBox 38"/>
            <p:cNvSpPr txBox="1"/>
            <p:nvPr/>
          </p:nvSpPr>
          <p:spPr>
            <a:xfrm>
              <a:off x="6673215" y="1548765"/>
              <a:ext cx="429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OCP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79970" y="154876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目标。其余六条都是为它服务的手段和工具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680835" y="186880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73215" y="1988820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LSP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79970" y="1988820"/>
              <a:ext cx="29611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多态分派是实现 OCP 的主要途径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680835" y="230886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73215" y="2428875"/>
              <a:ext cx="3288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DIP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79970" y="242887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把依赖指向抽象，扩展时只换实现，不动调用方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680835" y="274891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673215" y="2868930"/>
              <a:ext cx="3288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ISP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379970" y="2868930"/>
              <a:ext cx="36088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先把接口切小，DIP 依赖的抽象才有意义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680835" y="318897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673215" y="330898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SRP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379970" y="330898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职责单一的类才切得出职责单一的接口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680835" y="362902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673215" y="3749040"/>
              <a:ext cx="508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CARP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379970" y="3749040"/>
              <a:ext cx="40458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分不清 is-a 还是 has-a 时选组合，绕开 LSP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680835" y="406908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673215" y="4189095"/>
              <a:ext cx="3782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LoD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379970" y="418909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降低类之间的耦合，改动波及的范围才小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9" name="Rectangle 5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130" y="5991225"/>
              <a:ext cx="7890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违反其中一条，往往同时违反了其余几条。反过来，修一条也常常把别的几条一起修好。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 · 原则之间的关系与取舍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三处常见的冲突与取舍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11125200" cy="2146935"/>
            <a:chOff x="533400" y="1524000"/>
            <a:chExt cx="11125200" cy="21469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89722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冲突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856798" y="165544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两边各自的主张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37751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取舍依据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8746" y="2191702"/>
              <a:ext cx="9467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 vs 简单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86672" y="2085022"/>
              <a:ext cx="44546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OCP 要求为可能的变化预留抽象；实际工程要求先写能跑的最简实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81569" y="2085022"/>
              <a:ext cx="3364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变化点没真正出现之前先写简单的，出现第二次时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再抽象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59270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597468"/>
              <a:ext cx="1112520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8746" y="2835592"/>
              <a:ext cx="1431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单一职责 vs 类数量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6672" y="2835592"/>
              <a:ext cx="42220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SRP 要求按变化理由把类切开；切得越细，类和委托链越长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981569" y="2728912"/>
              <a:ext cx="3364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只在两部分确实会因不同理由、被不同人改动时才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2365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8746" y="3372802"/>
              <a:ext cx="12698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 vs 中介类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6672" y="3372802"/>
              <a:ext cx="43776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LoD 要求不直接接触，改用中介转达；中介类多了系统更复杂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981569" y="3372802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耦合降低的收益要能抵掉中介类的维护成本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11125200" cy="21469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976562" y="1524000"/>
              <a:ext cx="9525" cy="2146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71460" y="1524000"/>
              <a:ext cx="9525" cy="2146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1-compare-2"/>
          <p:cNvGrpSpPr/>
          <p:nvPr/>
        </p:nvGrpSpPr>
        <p:grpSpPr>
          <a:xfrm>
            <a:off x="533400" y="3856672"/>
            <a:ext cx="11125200" cy="1816418"/>
            <a:chOff x="533400" y="3856672"/>
            <a:chExt cx="11125200" cy="1816418"/>
          </a:xfrm>
        </p:grpSpPr>
        <p:sp>
          <p:nvSpPr>
            <p:cNvPr id="27" name="Rectangle 27"/>
            <p:cNvSpPr/>
            <p:nvPr/>
          </p:nvSpPr>
          <p:spPr>
            <a:xfrm>
              <a:off x="533400" y="3856672"/>
              <a:ext cx="5181600" cy="1816418"/>
            </a:xfrm>
            <a:prstGeom prst="roundRect">
              <a:avLst>
                <a:gd name="adj" fmla="val 73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3990022"/>
              <a:ext cx="47625" cy="154971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68096" y="408384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过度设计的症状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82955" y="448246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39546" y="4422934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每个类都配一个只有一个实现类的接口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82955" y="480250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9546" y="4742974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为还看不出会变的地方先插抽象层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82955" y="512254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39546" y="5063014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把一个类拆成五个只有一个方法的类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477000" y="3856672"/>
              <a:ext cx="5181600" cy="1816418"/>
            </a:xfrm>
            <a:prstGeom prst="roundRect">
              <a:avLst>
                <a:gd name="adj" fmla="val 73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86525" y="3990022"/>
              <a:ext cx="47625" cy="154971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11696" y="408384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设计不足的症状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726555" y="448246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83146" y="4422934"/>
              <a:ext cx="31781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新增一种业务类型要改七八个 switch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726555" y="480250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83146" y="4742974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一个类里同时有数据库语句、计算逻辑和界面输出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726555" y="512254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883146" y="5063014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方法里连续穿过三个对象才拿到要用的数据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5762625" y="4431030"/>
              <a:ext cx="666750" cy="6667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807964" y="469963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常见误用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8" name="Rectangle 48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511" y="6004084"/>
              <a:ext cx="89990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这些原则给的是判断基准，不是必须逐条打勾的检查表。判断一处设计时，先说清它要应对的变化是什么。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自测（一）：开闭、里氏替换、单一职责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2499563" cy="278702"/>
            <a:chOff x="526161" y="1547336"/>
            <a:chExt cx="2499563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先遮住答案自己写，再对照。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41195"/>
            <a:ext cx="5410200" cy="1254442"/>
            <a:chOff x="533400" y="1941195"/>
            <a:chExt cx="5410200" cy="125444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5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4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8947" y="2490788"/>
              <a:ext cx="29778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开闭原则里的"开"和"闭"各指什么？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8947" y="279273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增加新代码提供新功能是开，已写好的源代码不改是闭。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371850"/>
            <a:ext cx="5410200" cy="1254442"/>
            <a:chOff x="533400" y="3371850"/>
            <a:chExt cx="5410200" cy="1254442"/>
          </a:xfrm>
        </p:grpSpPr>
        <p:sp>
          <p:nvSpPr>
            <p:cNvPr id="15" name="Rectangle 15"/>
            <p:cNvSpPr/>
            <p:nvPr/>
          </p:nvSpPr>
          <p:spPr>
            <a:xfrm>
              <a:off x="533400" y="337185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5805" y="356425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753" y="359854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8947" y="3920490"/>
              <a:ext cx="38567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Square 继承 Rectangle，g() 里面积是多少？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947" y="4223385"/>
              <a:ext cx="45662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16。两个 set 都同时改宽和高，期望的 20 不成立。</a:t>
              </a:r>
            </a:p>
          </p:txBody>
        </p:sp>
      </p:grpSp>
      <p:grpSp>
        <p:nvGrpSpPr>
          <p:cNvPr id="26" name="c1-card-3"/>
          <p:cNvGrpSpPr/>
          <p:nvPr/>
        </p:nvGrpSpPr>
        <p:grpSpPr>
          <a:xfrm>
            <a:off x="533400" y="4801552"/>
            <a:ext cx="5410200" cy="1254442"/>
            <a:chOff x="533400" y="4801552"/>
            <a:chExt cx="5410200" cy="1254442"/>
          </a:xfrm>
        </p:grpSpPr>
        <p:sp>
          <p:nvSpPr>
            <p:cNvPr id="21" name="Rectangle 21"/>
            <p:cNvSpPr/>
            <p:nvPr/>
          </p:nvSpPr>
          <p:spPr>
            <a:xfrm>
              <a:off x="533400" y="480155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25805" y="499395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4753" y="502824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8947" y="5350192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怎么判断一个类承担了多个职责？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8947" y="5653088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列出引起它被修改的理由，多于一条就多于一个职责。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941195"/>
            <a:ext cx="5410200" cy="1254442"/>
            <a:chOff x="6248400" y="1941195"/>
            <a:chExt cx="5410200" cy="1254442"/>
          </a:xfrm>
        </p:grpSpPr>
        <p:sp>
          <p:nvSpPr>
            <p:cNvPr id="27" name="Rectangle 27"/>
            <p:cNvSpPr/>
            <p:nvPr/>
          </p:nvSpPr>
          <p:spPr>
            <a:xfrm>
              <a:off x="6248400" y="194119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40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29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3947" y="2490788"/>
              <a:ext cx="35989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switch 判断图形类型再分派，违反哪两条？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33947" y="279273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开闭原则，以及对派生类类型做判断的里氏替换原则。</a:t>
              </a:r>
            </a:p>
          </p:txBody>
        </p:sp>
      </p:grpSp>
      <p:grpSp>
        <p:nvGrpSpPr>
          <p:cNvPr id="38" name="c2-card-2"/>
          <p:cNvGrpSpPr/>
          <p:nvPr/>
        </p:nvGrpSpPr>
        <p:grpSpPr>
          <a:xfrm>
            <a:off x="6248400" y="3371850"/>
            <a:ext cx="5410200" cy="1254442"/>
            <a:chOff x="6248400" y="3371850"/>
            <a:chExt cx="5410200" cy="1254442"/>
          </a:xfrm>
        </p:grpSpPr>
        <p:sp>
          <p:nvSpPr>
            <p:cNvPr id="33" name="Rectangle 33"/>
            <p:cNvSpPr/>
            <p:nvPr/>
          </p:nvSpPr>
          <p:spPr>
            <a:xfrm>
              <a:off x="6248400" y="337185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40805" y="356425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29753" y="359854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33947" y="3920490"/>
              <a:ext cx="34964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两个具体类之间的继承违反 LSP，怎么改？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33947" y="422338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抽出只含共同行为的基类，或把继承改成关联。</a:t>
              </a:r>
            </a:p>
          </p:txBody>
        </p:sp>
      </p:grpSp>
      <p:grpSp>
        <p:nvGrpSpPr>
          <p:cNvPr id="44" name="c2-card-3"/>
          <p:cNvGrpSpPr/>
          <p:nvPr/>
        </p:nvGrpSpPr>
        <p:grpSpPr>
          <a:xfrm>
            <a:off x="6248400" y="4801552"/>
            <a:ext cx="5410200" cy="1254442"/>
            <a:chOff x="6248400" y="4801552"/>
            <a:chExt cx="5410200" cy="1254442"/>
          </a:xfrm>
        </p:grpSpPr>
        <p:sp>
          <p:nvSpPr>
            <p:cNvPr id="39" name="Rectangle 39"/>
            <p:cNvSpPr/>
            <p:nvPr/>
          </p:nvSpPr>
          <p:spPr>
            <a:xfrm>
              <a:off x="6248400" y="480155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40805" y="499395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29753" y="502824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33947" y="5350192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开闭原则能百分之百做到吗？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33947" y="56530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做不到。只能把最可能变化的地方先抽象出来。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自测（二）：接口隔离、依赖倒置、迪米特、合成复用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185862"/>
            <a:chOff x="533400" y="1524000"/>
            <a:chExt cx="5410200" cy="11858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14375" y="170497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3832" y="173783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07898" y="204549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单一职责原则与接口隔离原则的区别？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07898" y="2330291"/>
              <a:ext cx="48130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SRP 问实体有几条变化理由，ISP 问调用者用到几个方法。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874645"/>
            <a:ext cx="5410200" cy="1185862"/>
            <a:chOff x="533400" y="2874645"/>
            <a:chExt cx="5410200" cy="1185862"/>
          </a:xfrm>
        </p:grpSpPr>
        <p:sp>
          <p:nvSpPr>
            <p:cNvPr id="13" name="Rectangle 13"/>
            <p:cNvSpPr/>
            <p:nvPr/>
          </p:nvSpPr>
          <p:spPr>
            <a:xfrm>
              <a:off x="533400" y="2874645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14375" y="305562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3832" y="308848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07898" y="3396139"/>
              <a:ext cx="26243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依赖倒置原则里"倒置"的是什么？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07898" y="3680936"/>
              <a:ext cx="48377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依赖方向。高层与低层都依赖抽象，低层反过来实现抽象。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226242"/>
            <a:ext cx="5410200" cy="1428750"/>
            <a:chOff x="533400" y="4226242"/>
            <a:chExt cx="5410200" cy="1428750"/>
          </a:xfrm>
        </p:grpSpPr>
        <p:sp>
          <p:nvSpPr>
            <p:cNvPr id="19" name="Rectangle 19"/>
            <p:cNvSpPr/>
            <p:nvPr/>
          </p:nvSpPr>
          <p:spPr>
            <a:xfrm>
              <a:off x="533400" y="4226242"/>
              <a:ext cx="5410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14375" y="440721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3832" y="444007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7898" y="474678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什么时候才该用继承而不是组合？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7898" y="5032534"/>
              <a:ext cx="51023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Coad 四条全满足：是种类、不会换、只扩展、分类学有意义。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185862"/>
            <a:chOff x="6248400" y="1524000"/>
            <a:chExt cx="5410200" cy="118586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29375" y="170497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18832" y="173783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2898" y="2045494"/>
              <a:ext cx="37505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Door 里同时放 lock 和 alarm 为什么违反 ISP？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2898" y="2330291"/>
              <a:ext cx="45568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CommonDoor 用不到报警，却被迫实现空的 alarm()。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874645"/>
            <a:ext cx="5410200" cy="1428750"/>
            <a:chOff x="6248400" y="2874645"/>
            <a:chExt cx="5410200" cy="1428750"/>
          </a:xfrm>
        </p:grpSpPr>
        <p:sp>
          <p:nvSpPr>
            <p:cNvPr id="31" name="Rectangle 31"/>
            <p:cNvSpPr/>
            <p:nvPr/>
          </p:nvSpPr>
          <p:spPr>
            <a:xfrm>
              <a:off x="6248400" y="2874645"/>
              <a:ext cx="5410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29375" y="305562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18832" y="308848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2898" y="3396139"/>
              <a:ext cx="26243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迪米特法则中哪些对象算"朋友"？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2898" y="3680936"/>
              <a:ext cx="471906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this、参数对象、成员变量及其聚集中的元素、本对象创建的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469130"/>
            <a:ext cx="5410200" cy="1185862"/>
            <a:chOff x="6248400" y="4469130"/>
            <a:chExt cx="5410200" cy="1185862"/>
          </a:xfrm>
        </p:grpSpPr>
        <p:sp>
          <p:nvSpPr>
            <p:cNvPr id="37" name="Rectangle 37"/>
            <p:cNvSpPr/>
            <p:nvPr/>
          </p:nvSpPr>
          <p:spPr>
            <a:xfrm>
              <a:off x="6248400" y="446913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29375" y="465010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18832" y="468296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2898" y="498967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组合为什么叫黑箱复用、继承叫白箱复用？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2898" y="5275421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组合只能走成员对象的接口，继承把基类细节暴露给派生类。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3" name="Rectangle 43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1273" y="6039326"/>
              <a:ext cx="100138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七条原则各对应一个坏例子：switch 分派图形、正方形继承长方形、Modem 接口、门与报警器、熔炉调节器、洗衣机、人与角色。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 设计原则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bullets-1"/>
          <p:cNvGrpSpPr/>
          <p:nvPr/>
        </p:nvGrpSpPr>
        <p:grpSpPr>
          <a:xfrm>
            <a:off x="533400" y="1533525"/>
            <a:ext cx="8036814" cy="847058"/>
            <a:chOff x="533400" y="1533525"/>
            <a:chExt cx="8036814" cy="847058"/>
          </a:xfrm>
        </p:grpSpPr>
        <p:sp>
          <p:nvSpPr>
            <p:cNvPr id="7" name="Ellipse 7"/>
            <p:cNvSpPr/>
            <p:nvPr/>
          </p:nvSpPr>
          <p:spPr>
            <a:xfrm>
              <a:off x="533400" y="153352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85307" y="156914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03148" y="1545431"/>
              <a:ext cx="70778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开闭原则是目标：能不能不改旧代码就加新功能，是判断一个面向对象设计好坏的第一个问题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2689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5307" y="1862519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3148" y="1837849"/>
              <a:ext cx="70778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里氏替换管继承用得对不对，迪米特管类之间知道得多不多，这两条和开闭一起构成设计目标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12026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5307" y="215588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3148" y="2131219"/>
              <a:ext cx="77670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单一职责切类、接口隔离切接口、依赖倒置换依赖方向、合成复用换复用手段，四条是达成目标的做法</a:t>
              </a:r>
            </a:p>
          </p:txBody>
        </p:sp>
      </p:grpSp>
      <p:grpSp>
        <p:nvGrpSpPr>
          <p:cNvPr id="54" name="c1-table-2"/>
          <p:cNvGrpSpPr/>
          <p:nvPr/>
        </p:nvGrpSpPr>
        <p:grpSpPr>
          <a:xfrm>
            <a:off x="533400" y="2495550"/>
            <a:ext cx="11125200" cy="3050858"/>
            <a:chOff x="533400" y="2495550"/>
            <a:chExt cx="11125200" cy="3050858"/>
          </a:xfrm>
        </p:grpSpPr>
        <p:sp>
          <p:nvSpPr>
            <p:cNvPr id="17" name="Rectangle 17"/>
            <p:cNvSpPr/>
            <p:nvPr/>
          </p:nvSpPr>
          <p:spPr>
            <a:xfrm>
              <a:off x="533400" y="2495550"/>
              <a:ext cx="11125200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106168" y="261270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看到什么症状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373052" y="261270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大概违反了哪条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04173" y="261270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第一步怎么改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8078" y="2993708"/>
              <a:ext cx="18097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加一种类型要改多处 switch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520538" y="2993708"/>
              <a:ext cx="7051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OCP / LSP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03198" y="2993708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抽出抽象类型，把分支改成多态方法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2527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257550"/>
              <a:ext cx="11125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8078" y="3375660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子类重写后父类的承诺不成立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744566" y="3375660"/>
              <a:ext cx="2570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LSP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03198" y="3375660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抽出只含共同行为的抽象基类，或改成关联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63474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28078" y="3756660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一个类被两拨人为两种理由修改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744566" y="3756660"/>
              <a:ext cx="2570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SRP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03198" y="3756660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按变化理由拆成两个类或两个接口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01574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4020502"/>
              <a:ext cx="11125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8078" y="4137660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实现类里有为编译而写的空方法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763235" y="4137660"/>
              <a:ext cx="2197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ISP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03198" y="4137660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把接口按调用者的使用场景拆开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43976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8078" y="4519612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高层类里写死了具体实现类的名字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763235" y="4519612"/>
              <a:ext cx="2197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DIP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03198" y="4519612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抽出接口，具体类由外部注入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47786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3400" y="4783455"/>
              <a:ext cx="11125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28078" y="4900612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方法里连续穿过两三个对象取数据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746766" y="4900612"/>
              <a:ext cx="2526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LoD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03198" y="4900612"/>
              <a:ext cx="24136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把这段逻辑推给真正拥有数据的那个类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51596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8078" y="5282565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子类数量随维度组合成倍增长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703494" y="5282565"/>
              <a:ext cx="3392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CARP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303198" y="5282565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把一个维度抽成接口，改由组合持有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2495550"/>
              <a:ext cx="11125200" cy="30508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4533900" y="2495550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203758" y="2495550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5" name="Rectangle 55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1273" y="6039326"/>
              <a:ext cx="104551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抽象层和中介类都不是越多越好。拿到一个设计先问：加新功能要改哪些旧代码，这个类变的理由有几条，这处继承是 is-a 还是 has-a。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面向对象设计原则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dp_02">
  <a:themeElements>
    <a:clrScheme name="sdp_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dp_0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dp_0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2026-09-23T01:03:14Z</dcterms:created>
  <dcterms:modified xsi:type="dcterms:W3CDTF">2026-09-23T01:03:14Z</dcterms:modified>
  <cp:category/>
  <cp:contentStatus/>
</cp:coreProperties>
</file>