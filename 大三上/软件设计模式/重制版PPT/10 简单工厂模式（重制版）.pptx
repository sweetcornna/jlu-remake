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1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1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f04b54ee8fc28e4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b5847b35c94b084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83708530a1cbd20.png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256608" cy="3437763"/>
            <a:chOff x="666750" y="1619250"/>
            <a:chExt cx="425660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第五讲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2467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传一个参数，工厂替你决定 new 哪个类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创建型模式与动机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三个角色与类图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7466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实现与两个实例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优缺点与模式对比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85911" cy="205359"/>
            <a:chOff x="680466" y="6192202"/>
            <a:chExt cx="5685911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85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自学复习版｜据吉林大学《软件设计模式》张欣佳、陈伟两位老师课件合并整理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把对象的创建和使用分开，六个创建型模式各管什么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3644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客户端满屏 new 具体类，带来哪些具体麻烦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定义与结构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三个角色、类图，工厂方法为什么写成静态的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6229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把一段 if-else 支付代码重构成抽象产品加工厂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课件实例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115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电视机工厂与 OA 权限管理两个完整例子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扩展与对比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优缺点、适用环境、与工厂方法和抽象工厂的差别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说出简单工厂的三个角色，并把类图默画出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9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把一段 if-else 创建代码重构成简单工厂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06705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说清楚简单工厂为什么违反开闭原则，配置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文件又怎样缓解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68808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指出简单工厂与工厂方法、抽象工厂的关键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差别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37197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30911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判断一个场景该不该用简单工厂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创建型模式与本讲动机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814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先看清"对象从哪来"这件事本身值得单独设计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创建型模式关注什么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六个创建型模式总览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3273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一个满屏 new 的按钮系统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11383" cy="909257"/>
            <a:chOff x="520446" y="342900"/>
            <a:chExt cx="63113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创建型模式与本讲动机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113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创建型模式：把"怎么造"和"怎么用"分开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184290" cy="308039"/>
            <a:chOff x="525399" y="1550194"/>
            <a:chExt cx="61842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1842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客户程序只负责使用对象，不再关心这个对象是怎么被造出来的。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67865"/>
            <a:ext cx="6059805" cy="2005965"/>
            <a:chOff x="533400" y="1967865"/>
            <a:chExt cx="6059805" cy="200596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33817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创建型模式（Creational Pattern）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创建型模式关注对象的创建，把实例化的过程抽象并封装起来，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使对象的创建与对象的使用相互分离。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25755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19468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类创建型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：用继承改变被实例化的类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59283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5299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对象创建型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：把实例化委托给另一个对象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5780" y="4189095"/>
            <a:ext cx="4968240" cy="992505"/>
            <a:chOff x="525780" y="4189095"/>
            <a:chExt cx="4968240" cy="992505"/>
          </a:xfrm>
        </p:grpSpPr>
        <p:sp>
          <p:nvSpPr>
            <p:cNvPr id="20" name="TextBox 20"/>
            <p:cNvSpPr txBox="1"/>
            <p:nvPr/>
          </p:nvSpPr>
          <p:spPr>
            <a:xfrm>
              <a:off x="525780" y="418909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两个共同特点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53009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5249" y="45723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4390" y="454342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客户不知道对象的具体类是什么（除非去看源代码）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8748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5249" y="49171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390" y="488823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隐藏了对象实例是如何被创建和组织的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5313045"/>
            <a:ext cx="6059805" cy="782955"/>
            <a:chOff x="533400" y="5313045"/>
            <a:chExt cx="6059805" cy="782955"/>
          </a:xfrm>
        </p:grpSpPr>
        <p:sp>
          <p:nvSpPr>
            <p:cNvPr id="28" name="Rectangle 28"/>
            <p:cNvSpPr/>
            <p:nvPr/>
          </p:nvSpPr>
          <p:spPr>
            <a:xfrm>
              <a:off x="533400" y="531304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604510"/>
              <a:ext cx="200026" cy="200025"/>
              <a:chOff x="738188" y="5604510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6045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6489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7600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5461635"/>
              <a:ext cx="4996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写代码时只要动手敲 new，就该停下来想一想要不要用创建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型模式。</a:t>
              </a:r>
            </a:p>
          </p:txBody>
        </p:sp>
      </p:grpSp>
      <p:grpSp>
        <p:nvGrpSpPr>
          <p:cNvPr id="37" name="c2-image-1"/>
          <p:cNvGrpSpPr/>
          <p:nvPr/>
        </p:nvGrpSpPr>
        <p:grpSpPr>
          <a:xfrm>
            <a:off x="6898005" y="1967865"/>
            <a:ext cx="4760595" cy="2696052"/>
            <a:chOff x="6898005" y="1967865"/>
            <a:chExt cx="4760595" cy="2696052"/>
          </a:xfrm>
        </p:grpSpPr>
        <p:pic>
          <p:nvPicPr>
            <p:cNvPr id="35" name="Image 35"/>
            <p:cNvPicPr>
              <a:picLocks noChangeAspect="1"/>
            </p:cNvPicPr>
            <p:nvPr/>
          </p:nvPicPr>
          <p:blipFill>
            <a:blip r:embed="rId2"/>
            <a:srcRect l="0" t="16654" r="0" b="16653"/>
            <a:stretch>
              <a:fillRect/>
            </a:stretch>
          </p:blipFill>
          <p:spPr>
            <a:xfrm>
              <a:off x="6898005" y="1967865"/>
              <a:ext cx="4760595" cy="2381250"/>
            </a:xfrm>
            <a:prstGeom prst="roundRect">
              <a:avLst>
                <a:gd name="adj" fmla="val 5600"/>
              </a:avLst>
            </a:prstGeom>
          </p:spPr>
        </p:pic>
        <p:sp>
          <p:nvSpPr>
            <p:cNvPr id="36" name="TextBox 36"/>
            <p:cNvSpPr txBox="1"/>
            <p:nvPr/>
          </p:nvSpPr>
          <p:spPr>
            <a:xfrm>
              <a:off x="7010972" y="4443889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想吃苹果有两种办法：自己种一棵树，或者到摊位上说出名字直接拿</a:t>
              </a:r>
            </a:p>
          </p:txBody>
        </p:sp>
      </p:grpSp>
      <p:grpSp>
        <p:nvGrpSpPr>
          <p:cNvPr id="39" name="c2-text-2"/>
          <p:cNvGrpSpPr/>
          <p:nvPr/>
        </p:nvGrpSpPr>
        <p:grpSpPr>
          <a:xfrm>
            <a:off x="6891528" y="4849654"/>
            <a:ext cx="4426458" cy="500824"/>
            <a:chOff x="6891528" y="4849654"/>
            <a:chExt cx="4426458" cy="500824"/>
          </a:xfrm>
        </p:grpSpPr>
        <p:sp>
          <p:nvSpPr>
            <p:cNvPr id="38" name="TextBox 38"/>
            <p:cNvSpPr txBox="1"/>
            <p:nvPr/>
          </p:nvSpPr>
          <p:spPr>
            <a:xfrm>
              <a:off x="6891528" y="4849654"/>
              <a:ext cx="442645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自己种树对应亲手 new，从选种到浇水全程自理；到摊位上买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对应交给工厂，只说出名字，怎么种、谁种的都不用管。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创建型模式与本讲动机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六个创建型模式，本讲讲最简单的那一个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4602328" cy="278702"/>
            <a:chOff x="526161" y="1547336"/>
            <a:chExt cx="460232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它们都在回答同一个问题：对象该由谁来造、怎么造。</a:t>
              </a:r>
            </a:p>
          </p:txBody>
        </p:sp>
      </p:grpSp>
      <p:grpSp>
        <p:nvGrpSpPr>
          <p:cNvPr id="44" name="c1-table-1"/>
          <p:cNvGrpSpPr/>
          <p:nvPr/>
        </p:nvGrpSpPr>
        <p:grpSpPr>
          <a:xfrm>
            <a:off x="533400" y="1941195"/>
            <a:ext cx="11125200" cy="2840355"/>
            <a:chOff x="533400" y="1941195"/>
            <a:chExt cx="11125200" cy="284035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0087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713349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一句话概括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202761" y="20654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本课程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42925" y="2356485"/>
              <a:ext cx="242887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412" y="2471261"/>
              <a:ext cx="18042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 Simple Factory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81338" y="2471261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传一个参数给静态方法，由它决定 new 哪个类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220200" y="2356485"/>
              <a:ext cx="242887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10688" y="2471261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10 讲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479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5272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77026"/>
              <a:ext cx="18840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 Factory Method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1338" y="2877026"/>
              <a:ext cx="21901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new 推迟到工厂的子类里去做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310688" y="2877026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11 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53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3412" y="3282791"/>
              <a:ext cx="20261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 Abstract Factory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1338" y="328279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一个工厂负责造出一整族配套产品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10688" y="3282791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12 讲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559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56425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88556"/>
              <a:ext cx="1046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 Builder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1338" y="36885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分步骤装配一个复杂对象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310688" y="3688556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13 讲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65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3412" y="4094321"/>
              <a:ext cx="1149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原型 Prototype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81338" y="409432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复制一个已有对象来得到新对象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10688" y="4094321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14 讲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371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37578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412" y="4500086"/>
              <a:ext cx="1069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 Singleton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1338" y="450008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保证一个类在系统里只有一个实例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310688" y="4500086"/>
              <a:ext cx="569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15 讲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941195"/>
              <a:ext cx="11125200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76562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205912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1-card-2"/>
          <p:cNvGrpSpPr/>
          <p:nvPr/>
        </p:nvGrpSpPr>
        <p:grpSpPr>
          <a:xfrm>
            <a:off x="533400" y="4956810"/>
            <a:ext cx="11125200" cy="1272540"/>
            <a:chOff x="533400" y="4956810"/>
            <a:chExt cx="11125200" cy="1272540"/>
          </a:xfrm>
        </p:grpSpPr>
        <p:sp>
          <p:nvSpPr>
            <p:cNvPr id="45" name="Rectangle 45"/>
            <p:cNvSpPr/>
            <p:nvPr/>
          </p:nvSpPr>
          <p:spPr>
            <a:xfrm>
              <a:off x="533400" y="4956810"/>
              <a:ext cx="11125200" cy="1272540"/>
            </a:xfrm>
            <a:prstGeom prst="roundRect">
              <a:avLst>
                <a:gd name="adj" fmla="val 10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42925" y="5090160"/>
              <a:ext cx="47625" cy="10058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63905" y="514921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55345" y="518350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347597" y="5189220"/>
              <a:ext cx="29645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简单工厂不在 GoF 的 23 个模式之列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047" y="5523548"/>
              <a:ext cx="10286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的《设计模式》没有收录简单工厂，它通常被看成工厂方法的一种简化写法。考试答"23 个模式有哪些"时不要把它算进去。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72478" y="588168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28497" y="5825490"/>
              <a:ext cx="55539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张欣佳老师课件按 GoF 的类/对象二分口径，把它归为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类创建型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模式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50080" cy="909257"/>
            <a:chOff x="520446" y="342900"/>
            <a:chExt cx="59500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创建型模式与本讲动机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500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动机：换一种按钮，要在几十处改 new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311286" cy="308039"/>
            <a:chOff x="525399" y="1550194"/>
            <a:chExt cx="83112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3112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一个界面系统要提供圆形、矩形、菱形三种按钮，它们继承同一个基类，只是外观不同。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626418" cy="2733675"/>
            <a:chOff x="533400" y="1967865"/>
            <a:chExt cx="5626418" cy="273367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客户端现在的写法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2984246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showButton(String shape)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Button b;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"circle"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.equals(shape))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CircleButton();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"rect"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.equals(shape))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RectButton();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DiamondButton();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b.display();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bullets-1"/>
          <p:cNvGrpSpPr/>
          <p:nvPr/>
        </p:nvGrpSpPr>
        <p:grpSpPr>
          <a:xfrm>
            <a:off x="6456998" y="1992630"/>
            <a:ext cx="4907280" cy="1337310"/>
            <a:chOff x="6456998" y="1992630"/>
            <a:chExt cx="4907280" cy="1337310"/>
          </a:xfrm>
        </p:grpSpPr>
        <p:sp>
          <p:nvSpPr>
            <p:cNvPr id="13" name="TextBox 13"/>
            <p:cNvSpPr txBox="1"/>
            <p:nvPr/>
          </p:nvSpPr>
          <p:spPr>
            <a:xfrm>
              <a:off x="6456998" y="199263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这样写的三处麻烦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464618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704648" y="234696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客户端必须记住每一个具体按钮类的类名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464618" y="272796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04648" y="2691765"/>
              <a:ext cx="40437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同一段 if-else 会在几十个界面类里重复出现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464618" y="307276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04648" y="303657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新增一种按钮，要把所有重复的地方都找出来改一遍</a:t>
              </a:r>
            </a:p>
          </p:txBody>
        </p:sp>
      </p:grpSp>
      <p:grpSp>
        <p:nvGrpSpPr>
          <p:cNvPr id="26" name="c2-card-2"/>
          <p:cNvGrpSpPr/>
          <p:nvPr/>
        </p:nvGrpSpPr>
        <p:grpSpPr>
          <a:xfrm>
            <a:off x="6464618" y="3461385"/>
            <a:ext cx="5193982" cy="1621155"/>
            <a:chOff x="6464618" y="3461385"/>
            <a:chExt cx="5193982" cy="1621155"/>
          </a:xfrm>
        </p:grpSpPr>
        <p:sp>
          <p:nvSpPr>
            <p:cNvPr id="21" name="Rectangle 21"/>
            <p:cNvSpPr/>
            <p:nvPr/>
          </p:nvSpPr>
          <p:spPr>
            <a:xfrm>
              <a:off x="6464618" y="3461385"/>
              <a:ext cx="5193982" cy="1621155"/>
            </a:xfrm>
            <a:prstGeom prst="roundRect">
              <a:avLst>
                <a:gd name="adj" fmla="val 822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74168" y="36709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65328" y="3706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期望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75195" y="370617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客户端只说出参数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66548" y="406717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希望写成 Button b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ButtonFactory.create("circle")，客户端只记住表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示按钮类型的那个参数，具体 new 谁交给别人负责。</a:t>
              </a:r>
            </a:p>
          </p:txBody>
        </p:sp>
      </p:grpSp>
      <p:grpSp>
        <p:nvGrpSpPr>
          <p:cNvPr id="3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7" name="Rectangle 2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991225"/>
              <a:ext cx="84054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判断信号：同一段"根据类型 new 不同子类"的代码在多处重复时，就该把它收进一个工厂里。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13632" cy="3351847"/>
            <a:chOff x="667512" y="1835468"/>
            <a:chExt cx="391363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定义、结构与角色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三个角色各管一件事，类图一画就清楚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模式定义与别名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结构类图怎么读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三个角色的职责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一次调用走了哪几步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定义、结构与角色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定义：一个类专门负责创建其他类的实例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842635" cy="2015490"/>
            <a:chOff x="533400" y="1524000"/>
            <a:chExt cx="5842635" cy="20154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015490"/>
            </a:xfrm>
            <a:prstGeom prst="roundRect">
              <a:avLst>
                <a:gd name="adj" fmla="val 6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4879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34533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简单工厂模式（Simple Factory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专门定义一个类来负责创建其他类的实例，根据传入参数的不同返回不同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类的实例，被创建的实例通常都具有共同的父类。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40448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又称 </a:t>
              </a: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静态工厂方法模式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（Static Factory Method）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92703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874169"/>
              <a:ext cx="36918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工厂方法通常声明成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，通过类名直接调用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2000" y="321183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17448" y="3158966"/>
              <a:ext cx="42001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返回类型写成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抽象产品类型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，客户端拿到的是父类引用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6923" y="3724751"/>
            <a:ext cx="2834831" cy="1137094"/>
            <a:chOff x="526923" y="3724751"/>
            <a:chExt cx="2834831" cy="1137094"/>
          </a:xfrm>
        </p:grpSpPr>
        <p:sp>
          <p:nvSpPr>
            <p:cNvPr id="20" name="TextBox 20"/>
            <p:cNvSpPr txBox="1"/>
            <p:nvPr/>
          </p:nvSpPr>
          <p:spPr>
            <a:xfrm>
              <a:off x="526923" y="372475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定义里藏着三个动作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533400" y="4052888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4096" y="402669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集中：由一个类统一负责创建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533400" y="4346258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4096" y="431911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判断：按参数决定创建哪一个子类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33400" y="4639628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4096" y="461248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上溯：以共同父类型把对象交出去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4976812"/>
            <a:ext cx="5842635" cy="702945"/>
            <a:chOff x="533400" y="4976812"/>
            <a:chExt cx="5842635" cy="702945"/>
          </a:xfrm>
        </p:grpSpPr>
        <p:sp>
          <p:nvSpPr>
            <p:cNvPr id="28" name="Rectangle 28"/>
            <p:cNvSpPr/>
            <p:nvPr/>
          </p:nvSpPr>
          <p:spPr>
            <a:xfrm>
              <a:off x="533400" y="4976812"/>
              <a:ext cx="5842635" cy="702945"/>
            </a:xfrm>
            <a:prstGeom prst="roundRect">
              <a:avLst>
                <a:gd name="adj" fmla="val 1626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227322"/>
              <a:ext cx="200023" cy="200023"/>
              <a:chOff x="738188" y="5227322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2273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52939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1273" y="5121116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要点只有一句：传入一个正确的参数，就能拿到需要的对象，而不必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知道它是怎么创建的。</a:t>
              </a:r>
            </a:p>
          </p:txBody>
        </p:sp>
      </p:grpSp>
      <p:grpSp>
        <p:nvGrpSpPr>
          <p:cNvPr id="48" name="c2-kv-1"/>
          <p:cNvGrpSpPr/>
          <p:nvPr/>
        </p:nvGrpSpPr>
        <p:grpSpPr>
          <a:xfrm>
            <a:off x="6674358" y="1545431"/>
            <a:ext cx="4984242" cy="1744789"/>
            <a:chOff x="6674358" y="1545431"/>
            <a:chExt cx="4984242" cy="1744789"/>
          </a:xfrm>
        </p:grpSpPr>
        <p:sp>
          <p:nvSpPr>
            <p:cNvPr id="34" name="TextBox 34"/>
            <p:cNvSpPr txBox="1"/>
            <p:nvPr/>
          </p:nvSpPr>
          <p:spPr>
            <a:xfrm>
              <a:off x="6674358" y="15454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别名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00188" y="15454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静态工厂方法模式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80835" y="18173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74358" y="19188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参数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00188" y="191881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表示产品类型的简单值，如字符串或整数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80835" y="219075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74358" y="22931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返回值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00188" y="229314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抽象产品类型，具体是哪个子类由工厂决定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680835" y="25650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74358" y="26674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调用方式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00188" y="266747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类名直接调用，不需要先创建工厂对象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680835" y="29394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74358" y="30408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典型信号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00188" y="3040856"/>
              <a:ext cx="30198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代码里反复出现按类型 new 子类的分支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6680835" y="3405188"/>
            <a:ext cx="4977765" cy="2273618"/>
            <a:chOff x="6680835" y="3405188"/>
            <a:chExt cx="4977765" cy="2273618"/>
          </a:xfrm>
        </p:grpSpPr>
        <p:sp>
          <p:nvSpPr>
            <p:cNvPr id="49" name="Rectangle 49"/>
            <p:cNvSpPr/>
            <p:nvPr/>
          </p:nvSpPr>
          <p:spPr>
            <a:xfrm>
              <a:off x="6680835" y="3405188"/>
              <a:ext cx="4977765" cy="2273618"/>
            </a:xfrm>
            <a:prstGeom prst="roundRect">
              <a:avLst>
                <a:gd name="adj" fmla="val 58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90360" y="3538538"/>
              <a:ext cx="47625" cy="20069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99910" y="358616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92582" y="36190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66838" y="362569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归类口径要说清楚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93433" y="3942874"/>
              <a:ext cx="428015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9 页和小结都写"它属于类创建型模式"。这是沿用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的二分口径，但简单工厂本身并不在 GoF 的 23 个模式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里，答题时两句话要分开说。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6" name="Rectangle 5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1273" y="6039326"/>
              <a:ext cx="78876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静态工厂方法是简单工厂的别名，工厂方法模式是第 11 讲的另一个模式，两个名字很像，不要混着用。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定义、结构与角色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结构：三个角色，两类关系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5780" y="1548765"/>
            <a:ext cx="4272915" cy="2194560"/>
            <a:chOff x="525780" y="1548765"/>
            <a:chExt cx="4272915" cy="219456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这张图该怎么读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9115" y="196596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97230" y="190309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空心三角从子类指向父类，两个具体产品都继承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9115" y="25965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230" y="2533650"/>
              <a:ext cx="4101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虚线箭头表示依赖，工厂在方法体里 new 出具体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9115" y="32270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230" y="3164205"/>
              <a:ext cx="3853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工厂方法的返回类型是 Product，客户端只和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 打交道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874770"/>
            <a:ext cx="4544378" cy="2468880"/>
            <a:chOff x="533400" y="3874770"/>
            <a:chExt cx="4544378" cy="2468880"/>
          </a:xfrm>
        </p:grpSpPr>
        <p:sp>
          <p:nvSpPr>
            <p:cNvPr id="15" name="Rectangle 15"/>
            <p:cNvSpPr/>
            <p:nvPr/>
          </p:nvSpPr>
          <p:spPr>
            <a:xfrm>
              <a:off x="533400" y="3874770"/>
              <a:ext cx="4544378" cy="2468880"/>
            </a:xfrm>
            <a:prstGeom prst="roundRect">
              <a:avLst>
                <a:gd name="adj" fmla="val 540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42950" y="40843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3158" y="41200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43978" y="411956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上父下子，工厂在旁边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4480560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抽象产品画在上面，具体产品画在下面，空心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三角一律朝上；工厂站在同一行的旁边，虚线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指向它负责创建的那几个具体产品。</a:t>
              </a:r>
            </a:p>
          </p:txBody>
        </p:sp>
      </p:grpSp>
      <p:grpSp>
        <p:nvGrpSpPr>
          <p:cNvPr id="57" name="c2-uml-1"/>
          <p:cNvGrpSpPr/>
          <p:nvPr/>
        </p:nvGrpSpPr>
        <p:grpSpPr>
          <a:xfrm>
            <a:off x="5758815" y="1848802"/>
            <a:ext cx="5523548" cy="1825942"/>
            <a:chOff x="5758815" y="1848802"/>
            <a:chExt cx="5523548" cy="1825942"/>
          </a:xfrm>
        </p:grpSpPr>
        <p:sp>
          <p:nvSpPr>
            <p:cNvPr id="21" name="Freeform 21"/>
            <p:cNvSpPr/>
            <p:nvPr/>
          </p:nvSpPr>
          <p:spPr>
            <a:xfrm>
              <a:off x="6428422" y="2563178"/>
              <a:ext cx="2092643" cy="523875"/>
            </a:xfrm>
            <a:custGeom>
              <a:avLst/>
              <a:gdLst/>
              <a:ahLst/>
              <a:cxnLst/>
              <a:rect l="l" t="t" r="r" b="b"/>
              <a:pathLst>
                <a:path w="2092643" h="523875">
                  <a:moveTo>
                    <a:pt x="0" y="523875"/>
                  </a:moveTo>
                  <a:lnTo>
                    <a:pt x="0" y="199072"/>
                  </a:lnTo>
                  <a:lnTo>
                    <a:pt x="2092643" y="199072"/>
                  </a:lnTo>
                  <a:lnTo>
                    <a:pt x="209264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447722" y="24374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521065" y="2563178"/>
              <a:ext cx="2091690" cy="523875"/>
            </a:xfrm>
            <a:custGeom>
              <a:avLst/>
              <a:gdLst/>
              <a:ahLst/>
              <a:cxnLst/>
              <a:rect l="l" t="t" r="r" b="b"/>
              <a:pathLst>
                <a:path w="2091690" h="523875">
                  <a:moveTo>
                    <a:pt x="2091690" y="523875"/>
                  </a:moveTo>
                  <a:lnTo>
                    <a:pt x="2091690" y="199072"/>
                  </a:lnTo>
                  <a:lnTo>
                    <a:pt x="0" y="19907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447722" y="24374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098982" y="3381375"/>
              <a:ext cx="640080" cy="9525"/>
            </a:xfrm>
            <a:custGeom>
              <a:avLst/>
              <a:gdLst/>
              <a:ahLst/>
              <a:cxnLst/>
              <a:rect l="l" t="t" r="r" b="b"/>
              <a:pathLst>
                <a:path w="640080" h="9525">
                  <a:moveTo>
                    <a:pt x="64008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6" name="Freeform 26"/>
            <p:cNvSpPr/>
            <p:nvPr/>
          </p:nvSpPr>
          <p:spPr>
            <a:xfrm>
              <a:off x="7098982" y="3323272"/>
              <a:ext cx="104775" cy="116205"/>
            </a:xfrm>
            <a:custGeom>
              <a:avLst/>
              <a:gdLst/>
              <a:ahLst/>
              <a:cxnLst/>
              <a:rect l="l" t="t" r="r" b="b"/>
              <a:pathLst>
                <a:path w="104775" h="116205">
                  <a:moveTo>
                    <a:pt x="104775" y="0"/>
                  </a:moveTo>
                  <a:lnTo>
                    <a:pt x="0" y="58103"/>
                  </a:lnTo>
                  <a:lnTo>
                    <a:pt x="104775" y="11620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303068" y="3381375"/>
              <a:ext cx="639127" cy="9525"/>
            </a:xfrm>
            <a:custGeom>
              <a:avLst/>
              <a:gdLst/>
              <a:ahLst/>
              <a:cxnLst/>
              <a:rect l="l" t="t" r="r" b="b"/>
              <a:pathLst>
                <a:path w="639127" h="9525">
                  <a:moveTo>
                    <a:pt x="0" y="0"/>
                  </a:moveTo>
                  <a:lnTo>
                    <a:pt x="639127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9837420" y="3323272"/>
              <a:ext cx="104775" cy="116205"/>
            </a:xfrm>
            <a:custGeom>
              <a:avLst/>
              <a:gdLst/>
              <a:ahLst/>
              <a:cxnLst/>
              <a:rect l="l" t="t" r="r" b="b"/>
              <a:pathLst>
                <a:path w="104775" h="116205">
                  <a:moveTo>
                    <a:pt x="0" y="116205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949565" y="1848802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956232" y="185642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49565" y="207930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49565" y="217455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58815" y="3087052"/>
              <a:ext cx="1340168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65482" y="3094672"/>
              <a:ext cx="1325880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758815" y="3317558"/>
              <a:ext cx="134016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758815" y="3412808"/>
              <a:ext cx="134016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739062" y="3087052"/>
              <a:ext cx="1564005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745730" y="3094672"/>
              <a:ext cx="1549718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739062" y="3317558"/>
              <a:ext cx="15640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739062" y="3412808"/>
              <a:ext cx="15640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942195" y="3087052"/>
              <a:ext cx="1340168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949815" y="3094672"/>
              <a:ext cx="1325880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42195" y="3317558"/>
              <a:ext cx="134016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942195" y="3412808"/>
              <a:ext cx="134016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247297" y="1904524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21002" y="2244090"/>
              <a:ext cx="815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07495" y="3142774"/>
              <a:ext cx="12418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ConcreteProductA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30252" y="3482340"/>
              <a:ext cx="815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47297" y="3142774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Factory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10500" y="3482340"/>
              <a:ext cx="15147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factoryMethod(String)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991828" y="3142774"/>
              <a:ext cx="12418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ConcreteProductB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013632" y="3482340"/>
              <a:ext cx="815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238048" y="316515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272338" y="319182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441180" y="316515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475470" y="319182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5382578" y="4191000"/>
            <a:ext cx="6276022" cy="2152650"/>
            <a:chOff x="5382578" y="4191000"/>
            <a:chExt cx="6276022" cy="2152650"/>
          </a:xfrm>
        </p:grpSpPr>
        <p:sp>
          <p:nvSpPr>
            <p:cNvPr id="58" name="Rectangle 58"/>
            <p:cNvSpPr/>
            <p:nvPr/>
          </p:nvSpPr>
          <p:spPr>
            <a:xfrm>
              <a:off x="5382578" y="4191000"/>
              <a:ext cx="6276022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92102" y="4324350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630228" y="4400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721388" y="4436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31255" y="4435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原图的线型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622608" y="4796790"/>
              <a:ext cx="5596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17、20 页的实例图里，工厂到产品之间画的是实线箭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头。工厂只是在方法里创建并返回产品，二者是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依赖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，规范画法用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虚线箭头。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623751" y="5700236"/>
              <a:ext cx="55562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factoryMethod 的完整签名是 factoryMethod(String arg): Product，图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里为省宽度略去了返回类型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定义、结构与角色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三个角色的职责与一次调用的全过程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842635" cy="2750820"/>
            <a:chOff x="533400" y="1524000"/>
            <a:chExt cx="5842635" cy="27508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8768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773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85060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英文名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2508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2840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工厂角色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08797" y="2284095"/>
              <a:ext cx="7989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Factory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95712" y="215074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实现创建所有实例的内部逻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辑，对外提供工厂方法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584263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3038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抽象产品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08797" y="3038475"/>
              <a:ext cx="7989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95712" y="290512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所创建的全部对象的父类，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描述它们共有的公共接口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156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7928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具体产品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08797" y="3792855"/>
              <a:ext cx="1693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ConcreteProduct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95712" y="365950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创建目标，每一个都是抽象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产品的一个子类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842635" cy="27508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697355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684270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4465320"/>
            <a:ext cx="5842635" cy="782955"/>
            <a:chOff x="533400" y="4465320"/>
            <a:chExt cx="584263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46532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756785"/>
              <a:ext cx="200026" cy="200025"/>
              <a:chOff x="738188" y="4756785"/>
              <a:chExt cx="200026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7567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77926" y="48012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2642" y="49123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613910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抽象产品可以是抽象类，也可以是接口；用接口时具体产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品写 implements。</a:t>
              </a:r>
            </a:p>
          </p:txBody>
        </p:sp>
      </p:grpSp>
      <p:grpSp>
        <p:nvGrpSpPr>
          <p:cNvPr id="51" name="c2-steps-1"/>
          <p:cNvGrpSpPr/>
          <p:nvPr/>
        </p:nvGrpSpPr>
        <p:grpSpPr>
          <a:xfrm>
            <a:off x="6680835" y="1533525"/>
            <a:ext cx="4127904" cy="2529173"/>
            <a:chOff x="6680835" y="1533525"/>
            <a:chExt cx="4127904" cy="2529173"/>
          </a:xfrm>
        </p:grpSpPr>
        <p:sp>
          <p:nvSpPr>
            <p:cNvPr id="34" name="Rectangle 34"/>
            <p:cNvSpPr/>
            <p:nvPr/>
          </p:nvSpPr>
          <p:spPr>
            <a:xfrm>
              <a:off x="681418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680835" y="218408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7445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80835" y="283464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7445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680835" y="348615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7445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92315" y="15678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客户端交出参数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93458" y="1861661"/>
              <a:ext cx="29284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 Factory.factoryMethod("A")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92315" y="221837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工厂判断参数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93458" y="2512219"/>
              <a:ext cx="36309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if-else 或 switch 选中 ConcreteProductA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92315" y="28689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工厂创建实例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93458" y="3162776"/>
              <a:ext cx="30518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 出具体产品，按 Product 类型返回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92315" y="35204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客户端使用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93458" y="3813334"/>
              <a:ext cx="3715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拿到的是 Product 引用，代码里不出现具体类名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2" name="Rectangle 5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991225"/>
              <a:ext cx="100309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工厂方法里 new 的是具体产品，声明的返回类型必须是抽象产品；两者写反，这个模式就退化成了普通的 new。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4013778" cy="3706177"/>
            <a:chOff x="667512" y="1835468"/>
            <a:chExt cx="4013778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26526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代码实现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03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从一个塞满 if-else 的支付方法开始重构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重构前的问题代码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抽象产品与具体产品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工厂类与客户端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用配置文件替换参数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工厂方法的三种写法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931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9941" y="407194"/>
              <a:ext cx="202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Java 代码实现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重构前：所有支付方式挤在一个方法里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392685" cy="264033"/>
            <a:chOff x="526542" y="1545907"/>
            <a:chExt cx="639268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3926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这是张欣佳老师课件里的"模式分析"例子，问题出在一个方法同时管了三件事。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842635" cy="2791778"/>
            <a:chOff x="533400" y="1928812"/>
            <a:chExt cx="5842635" cy="279177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重构前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3911727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PayService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pay(String type,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"cash"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现金支付处理代码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"creditcard"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信用卡支付处理代码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"voucher"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代金券支付处理代码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其他支付方式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890135"/>
            <a:ext cx="5842635" cy="1459230"/>
            <a:chOff x="533400" y="4890135"/>
            <a:chExt cx="5842635" cy="1459230"/>
          </a:xfrm>
        </p:grpSpPr>
        <p:sp>
          <p:nvSpPr>
            <p:cNvPr id="13" name="Rectangle 13"/>
            <p:cNvSpPr/>
            <p:nvPr/>
          </p:nvSpPr>
          <p:spPr>
            <a:xfrm>
              <a:off x="533400" y="4890135"/>
              <a:ext cx="584263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5023485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507682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0862" y="510968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23784" y="51120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判断写法调了个顺序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1332" y="5437823"/>
              <a:ext cx="52086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type.equalsIgnoreCase("cash")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，当 type 为 null 时会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 NullPointerException。把字符串常量写在前面就没有这个问题，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后面几页的工厂代码同样这样写。</a:t>
              </a:r>
            </a:p>
          </p:txBody>
        </p:sp>
      </p:grpSp>
      <p:grpSp>
        <p:nvGrpSpPr>
          <p:cNvPr id="27" name="c2-bullets-1"/>
          <p:cNvGrpSpPr/>
          <p:nvPr/>
        </p:nvGrpSpPr>
        <p:grpSpPr>
          <a:xfrm>
            <a:off x="6673977" y="1950720"/>
            <a:ext cx="2975991" cy="1198435"/>
            <a:chOff x="6673977" y="1950720"/>
            <a:chExt cx="2975991" cy="1198435"/>
          </a:xfrm>
        </p:grpSpPr>
        <p:sp>
          <p:nvSpPr>
            <p:cNvPr id="20" name="TextBox 20"/>
            <p:cNvSpPr txBox="1"/>
            <p:nvPr/>
          </p:nvSpPr>
          <p:spPr>
            <a:xfrm>
              <a:off x="6673977" y="195072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一个方法管了三件事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6680835" y="2300288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10197" y="226790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判断用哪种支付方式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6680835" y="2608898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10197" y="257651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实现每一种支付方式的业务逻辑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6680835" y="2917508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10197" y="288512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加一种支付方式就要再加一段分支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680835" y="3266122"/>
            <a:ext cx="4977765" cy="3084195"/>
            <a:chOff x="6680835" y="3266122"/>
            <a:chExt cx="4977765" cy="3084195"/>
          </a:xfrm>
        </p:grpSpPr>
        <p:sp>
          <p:nvSpPr>
            <p:cNvPr id="28" name="Rectangle 28"/>
            <p:cNvSpPr/>
            <p:nvPr/>
          </p:nvSpPr>
          <p:spPr>
            <a:xfrm>
              <a:off x="6680835" y="3266122"/>
              <a:ext cx="4977765" cy="3084195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90360" y="3399472"/>
              <a:ext cx="47625" cy="28174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05625" y="345281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98297" y="348567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72172" y="34880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代码复杂，难以维护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98767" y="3813810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方法会随支付方式的增加不断变长，任何一种支付逻辑出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错都要回到这个方法里改，测试时也无法单独测其中一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914198" y="468439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70217" y="4628198"/>
              <a:ext cx="33395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要改支付方式的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判断规则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，得动这个方法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914198" y="498443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70217" y="4928235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要改某一种支付的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业务逻辑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，还是动这个方法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931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9941" y="407194"/>
              <a:ext cx="202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Java 代码实现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第一步：抽出抽象产品与具体产品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30960" cy="308039"/>
            <a:chOff x="525399" y="1550194"/>
            <a:chExt cx="663096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3096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先把"每一种支付怎么做"从判断逻辑里分出来，一种支付方式一个类。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6276022" cy="3950970"/>
            <a:chOff x="533400" y="1967865"/>
            <a:chExt cx="6276022" cy="395097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276022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26895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AbstractPay / CashPay / CreditCardPay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4570222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抽象产品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具体产品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"现金支付 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amount +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元"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CreditCardPay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"信用卡支付 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amount +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元"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bullets-1"/>
          <p:cNvGrpSpPr/>
          <p:nvPr/>
        </p:nvGrpSpPr>
        <p:grpSpPr>
          <a:xfrm>
            <a:off x="7106602" y="1992630"/>
            <a:ext cx="4548036" cy="1908810"/>
            <a:chOff x="7106602" y="1992630"/>
            <a:chExt cx="4548036" cy="1908810"/>
          </a:xfrm>
        </p:grpSpPr>
        <p:sp>
          <p:nvSpPr>
            <p:cNvPr id="13" name="TextBox 13"/>
            <p:cNvSpPr txBox="1"/>
            <p:nvPr/>
          </p:nvSpPr>
          <p:spPr>
            <a:xfrm>
              <a:off x="7106602" y="199263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这一步换来了什么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7114222" y="237839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64730" y="234696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每种支付方式独立成类，可以单独修改和单独测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7114222" y="300894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64730" y="2977515"/>
              <a:ext cx="42899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新增代金券支付只要再写一个 VoucherPay 子类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7114222" y="335375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364730" y="3322320"/>
              <a:ext cx="3996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客户端持有 AbstractPay 引用，调用 pay 时自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动走到子类的实现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7114222" y="4032885"/>
            <a:ext cx="4544378" cy="1885950"/>
            <a:chOff x="7114222" y="4032885"/>
            <a:chExt cx="4544378" cy="1885950"/>
          </a:xfrm>
        </p:grpSpPr>
        <p:sp>
          <p:nvSpPr>
            <p:cNvPr id="21" name="Rectangle 21"/>
            <p:cNvSpPr/>
            <p:nvPr/>
          </p:nvSpPr>
          <p:spPr>
            <a:xfrm>
              <a:off x="7114222" y="4032885"/>
              <a:ext cx="4544378" cy="1885950"/>
            </a:xfrm>
            <a:prstGeom prst="roundRect">
              <a:avLst>
                <a:gd name="adj" fmla="val 606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19010" y="4875848"/>
              <a:ext cx="200026" cy="200026"/>
              <a:chOff x="7319010" y="4875848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19010" y="48758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419023" y="49425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407910" y="49758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620952" y="4732972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到这一步还差一件事：客户端仍然要自己决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 new 哪个子类。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931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9941" y="407194"/>
              <a:ext cx="202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Java 代码实现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第二步：把判断逻辑收进工厂类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6276022" cy="4356735"/>
            <a:chOff x="533400" y="1524000"/>
            <a:chExt cx="6276022" cy="43567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356735"/>
            </a:xfrm>
            <a:prstGeom prst="roundRect">
              <a:avLst>
                <a:gd name="adj" fmla="val 218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395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PayMethodFactory 与客户端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01240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707005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112770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1937861"/>
              <a:ext cx="5018278" cy="38719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工厂角色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getPayMethod(String type)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"cash"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"creditcard"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CreditCardPay();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"voucher"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.equalsIgnoreCase(type))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VoucherPay();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"未知支付方式"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AbstractPay pay = PayMethodFactory.getPayMethod(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"cash"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pay.pay(100.0);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2-card-1"/>
          <p:cNvGrpSpPr/>
          <p:nvPr/>
        </p:nvGrpSpPr>
        <p:grpSpPr>
          <a:xfrm>
            <a:off x="7114222" y="1524000"/>
            <a:ext cx="4544378" cy="1621155"/>
            <a:chOff x="7114222" y="1524000"/>
            <a:chExt cx="4544378" cy="1621155"/>
          </a:xfrm>
        </p:grpSpPr>
        <p:sp>
          <p:nvSpPr>
            <p:cNvPr id="14" name="Rectangle 14"/>
            <p:cNvSpPr/>
            <p:nvPr/>
          </p:nvSpPr>
          <p:spPr>
            <a:xfrm>
              <a:off x="7114222" y="1524000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3237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4139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923848" y="1768792"/>
              <a:ext cx="23851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返回类型是 AbstractPay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16152" y="2129790"/>
              <a:ext cx="3910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客户端变量声明成父类型，整段代码里再也看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不到 CashPay 这个名字。想换成刷卡，只改传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进去的那个字符串。</a:t>
              </a:r>
            </a:p>
          </p:txBody>
        </p:sp>
      </p:grpSp>
      <p:grpSp>
        <p:nvGrpSpPr>
          <p:cNvPr id="26" name="c2-card-2"/>
          <p:cNvGrpSpPr/>
          <p:nvPr/>
        </p:nvGrpSpPr>
        <p:grpSpPr>
          <a:xfrm>
            <a:off x="7114222" y="3335655"/>
            <a:ext cx="4544378" cy="2545080"/>
            <a:chOff x="7114222" y="3335655"/>
            <a:chExt cx="4544378" cy="2545080"/>
          </a:xfrm>
        </p:grpSpPr>
        <p:sp>
          <p:nvSpPr>
            <p:cNvPr id="20" name="Rectangle 20"/>
            <p:cNvSpPr/>
            <p:nvPr/>
          </p:nvSpPr>
          <p:spPr>
            <a:xfrm>
              <a:off x="7114222" y="3335655"/>
              <a:ext cx="4544378" cy="2545080"/>
            </a:xfrm>
            <a:prstGeom prst="roundRect">
              <a:avLst>
                <a:gd name="adj" fmla="val 52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123748" y="3469005"/>
              <a:ext cx="47625" cy="22783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361872" y="35452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452081" y="35809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61948" y="358044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原课件的分支没有收尾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54252" y="3941445"/>
              <a:ext cx="3891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14 页工厂方法的最后一个分支写成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省略号，照抄到 Java 里会因为"缺少返回语句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"编译不过。这里补上抛异常的收尾。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7" name="TextBox 2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931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9941" y="407194"/>
              <a:ext cx="202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Java 代码实现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第三步：把参数搬进配置文件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064475" cy="308039"/>
            <a:chOff x="525399" y="1550194"/>
            <a:chExt cx="806447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06447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工厂方法的参数不一定写死在代码里，放进配置文件就能不改一行 Java 代码换产品。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6276022" cy="2733675"/>
            <a:chOff x="533400" y="1967865"/>
            <a:chExt cx="6276022" cy="273367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276022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配置文件加反射的工厂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4940046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config.properties 内容: pay.impl = demo.CreditCardPay */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getPayMethod()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Exception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Properties p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Properties();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p.load(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FileInputStream(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"config.properties"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String cls = p.getProperty(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"pay.impl"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Class&lt;?&gt; c = Class.forName(cls);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Constructor&lt;?&gt; ctor = c.getDeclaredConstructor();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(AbstractPay) ctor.newInstance();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892040"/>
            <a:ext cx="6276022" cy="1335405"/>
            <a:chOff x="533400" y="4892040"/>
            <a:chExt cx="6276022" cy="1335405"/>
          </a:xfrm>
        </p:grpSpPr>
        <p:sp>
          <p:nvSpPr>
            <p:cNvPr id="13" name="Rectangle 13"/>
            <p:cNvSpPr/>
            <p:nvPr/>
          </p:nvSpPr>
          <p:spPr>
            <a:xfrm>
              <a:off x="533400" y="4892040"/>
              <a:ext cx="627602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502539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51015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71258" y="51373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2078" y="513683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反射换来的灵活不是白给的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5497830"/>
              <a:ext cx="553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类名写错要等到运行时才报错，编译器帮不上忙；反射创建也比直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 new 慢一些。产品很少的小项目里，直接 new 反而更省事。</a:t>
              </a:r>
            </a:p>
          </p:txBody>
        </p:sp>
      </p:grpSp>
      <p:grpSp>
        <p:nvGrpSpPr>
          <p:cNvPr id="27" name="c2-bullets-1"/>
          <p:cNvGrpSpPr/>
          <p:nvPr/>
        </p:nvGrpSpPr>
        <p:grpSpPr>
          <a:xfrm>
            <a:off x="7106602" y="1992630"/>
            <a:ext cx="4427220" cy="1337310"/>
            <a:chOff x="7106602" y="1992630"/>
            <a:chExt cx="4427220" cy="1337310"/>
          </a:xfrm>
        </p:grpSpPr>
        <p:sp>
          <p:nvSpPr>
            <p:cNvPr id="20" name="TextBox 20"/>
            <p:cNvSpPr txBox="1"/>
            <p:nvPr/>
          </p:nvSpPr>
          <p:spPr>
            <a:xfrm>
              <a:off x="7106602" y="199263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读这段代码要注意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119938" y="24098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78052" y="234696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配置文件里存的是完整类名，运行时才读出来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119938" y="275463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278052" y="269176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反射创建要求产品类有公开的无参构造函数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119938" y="30994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278052" y="30365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换支付方式只改配置文件，客户端和工厂都不动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7114222" y="3461385"/>
            <a:ext cx="4544378" cy="2766060"/>
            <a:chOff x="7114222" y="3461385"/>
            <a:chExt cx="4544378" cy="2766060"/>
          </a:xfrm>
        </p:grpSpPr>
        <p:sp>
          <p:nvSpPr>
            <p:cNvPr id="28" name="Rectangle 28"/>
            <p:cNvSpPr/>
            <p:nvPr/>
          </p:nvSpPr>
          <p:spPr>
            <a:xfrm>
              <a:off x="7114222" y="3461385"/>
              <a:ext cx="4544378" cy="2766060"/>
            </a:xfrm>
            <a:prstGeom prst="roundRect">
              <a:avLst>
                <a:gd name="adj" fmla="val 48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123748" y="3594735"/>
              <a:ext cx="47625" cy="24993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361872" y="36709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452081" y="3706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61948" y="370617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源课件只提了一句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54252" y="4067175"/>
              <a:ext cx="39300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原课件说"可以把参数保存在 XML 等格式的配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置文件中"，但没有给代码。这里补一个能直接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跑的 properties 版本，XML 的思路完全一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931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9941" y="407194"/>
              <a:ext cx="202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Java 代码实现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工厂方法的三种常见写法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30960" cy="308039"/>
            <a:chOff x="525399" y="1550194"/>
            <a:chExt cx="663096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3096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陈伟老师课件把这三种写法并排列了出来，区别只在"谁来区分产品"。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626418" cy="3342322"/>
            <a:chOff x="533400" y="1967865"/>
            <a:chExt cx="5626418" cy="334232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3342322"/>
            </a:xfrm>
            <a:prstGeom prst="roundRect">
              <a:avLst>
                <a:gd name="adj" fmla="val 28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写法一与写法二（二选一）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4783582" cy="2857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写法一: 每种产品一个工厂方法 */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createApple()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createGrape()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Grape();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写法二: 一个带参数的工厂方法 */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createFruit(String id)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"apple"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.equals(id))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"grape"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.equals(id))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Grape();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IllegalArgumentException(id);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c2-table-1"/>
          <p:cNvGrpSpPr/>
          <p:nvPr/>
        </p:nvGrpSpPr>
        <p:grpSpPr>
          <a:xfrm>
            <a:off x="6464618" y="1967865"/>
            <a:ext cx="5193982" cy="2022158"/>
            <a:chOff x="6464618" y="1967865"/>
            <a:chExt cx="5193982" cy="2022158"/>
          </a:xfrm>
        </p:grpSpPr>
        <p:sp>
          <p:nvSpPr>
            <p:cNvPr id="13" name="Rectangle 13"/>
            <p:cNvSpPr/>
            <p:nvPr/>
          </p:nvSpPr>
          <p:spPr>
            <a:xfrm>
              <a:off x="6464618" y="1967865"/>
              <a:ext cx="5193982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06497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16226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区分产品靠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9301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72441" y="255127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多个工厂方法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30730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92843" y="255127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产品一多方法就多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464618" y="286035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464618" y="286512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72441" y="3000851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一个带参数的方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30730" y="311419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传入的参数值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792843" y="311419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方法内部要写判断分支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64618" y="35356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72441" y="367617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工厂并进产品类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30730" y="367617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方法名或参数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792843" y="367617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父类要知道全部子类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64618" y="1967865"/>
              <a:ext cx="5193982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018145" y="19678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680258" y="19678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2-callout-2"/>
          <p:cNvGrpSpPr/>
          <p:nvPr/>
        </p:nvGrpSpPr>
        <p:grpSpPr>
          <a:xfrm>
            <a:off x="6464618" y="4179570"/>
            <a:ext cx="5193982" cy="1129665"/>
            <a:chOff x="6464618" y="4179570"/>
            <a:chExt cx="5193982" cy="1129665"/>
          </a:xfrm>
        </p:grpSpPr>
        <p:sp>
          <p:nvSpPr>
            <p:cNvPr id="33" name="Rectangle 33"/>
            <p:cNvSpPr/>
            <p:nvPr/>
          </p:nvSpPr>
          <p:spPr>
            <a:xfrm>
              <a:off x="6464618" y="4179570"/>
              <a:ext cx="5193982" cy="1129665"/>
            </a:xfrm>
            <a:prstGeom prst="roundRect">
              <a:avLst>
                <a:gd name="adj" fmla="val 1011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669405" y="4644390"/>
              <a:ext cx="200026" cy="200025"/>
              <a:chOff x="6669405" y="4644390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69405" y="46443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709144" y="46888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743859" y="47999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971348" y="450151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工厂类里可以同时存在多个工厂方法，用参数只是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为了把方法数量压下来。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97482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陈伟老师课件用 C++ 写这三段，本讲统一改写成 Java：C++ 的 Fruit* 返回指针，Java 直接返回对象引用。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13632" cy="2997517"/>
            <a:chOff x="667512" y="1835468"/>
            <a:chExt cx="391363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课件中的两个实例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一个讲字符串参数，一个讲整数参数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简单电视机工厂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7701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OA 系统的权限管理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加一种产品各要改什么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课件中的两个实例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实例一：简单电视机工厂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922603" cy="278702"/>
            <a:chOff x="526161" y="1547336"/>
            <a:chExt cx="792260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9226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某电视机厂为各品牌代工，传入 Haier 就生产海尔电视机，传入 Hisense 就生产海信电视机。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41195"/>
            <a:ext cx="4328160" cy="1483995"/>
            <a:chOff x="533400" y="1941195"/>
            <a:chExt cx="4328160" cy="148399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32816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需求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按品牌名返回电视机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36141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工厂根据调用时传入的品牌参数，返回对应品牌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的电视机对象。客户端只知道品牌名字，不知道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HaierTV 这个类。</a:t>
              </a:r>
            </a:p>
          </p:txBody>
        </p:sp>
      </p:grpSp>
      <p:grpSp>
        <p:nvGrpSpPr>
          <p:cNvPr id="24" name="c1-kv-2"/>
          <p:cNvGrpSpPr/>
          <p:nvPr/>
        </p:nvGrpSpPr>
        <p:grpSpPr>
          <a:xfrm>
            <a:off x="526542" y="3623310"/>
            <a:ext cx="4335018" cy="1059371"/>
            <a:chOff x="526542" y="3623310"/>
            <a:chExt cx="4335018" cy="1059371"/>
          </a:xfrm>
        </p:grpSpPr>
        <p:sp>
          <p:nvSpPr>
            <p:cNvPr id="16" name="TextBox 16"/>
            <p:cNvSpPr txBox="1"/>
            <p:nvPr/>
          </p:nvSpPr>
          <p:spPr>
            <a:xfrm>
              <a:off x="526542" y="36233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抽象产品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8567" y="3623310"/>
              <a:ext cx="13789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TV，声明 play()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911918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542" y="402050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具体产品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88567" y="4020502"/>
              <a:ext cx="18472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HaierTV 与 HisenseTV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31006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6542" y="441864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工厂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8567" y="4418648"/>
              <a:ext cx="28050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TVFactory，静态方法 produceTV</a:t>
              </a:r>
            </a:p>
          </p:txBody>
        </p:sp>
      </p:grpSp>
      <p:grpSp>
        <p:nvGrpSpPr>
          <p:cNvPr id="57" name="c2-uml-1"/>
          <p:cNvGrpSpPr/>
          <p:nvPr/>
        </p:nvGrpSpPr>
        <p:grpSpPr>
          <a:xfrm>
            <a:off x="5676900" y="2237422"/>
            <a:ext cx="5619836" cy="1704976"/>
            <a:chOff x="5676900" y="2237422"/>
            <a:chExt cx="5619836" cy="1704976"/>
          </a:xfrm>
        </p:grpSpPr>
        <p:sp>
          <p:nvSpPr>
            <p:cNvPr id="25" name="Freeform 25"/>
            <p:cNvSpPr/>
            <p:nvPr/>
          </p:nvSpPr>
          <p:spPr>
            <a:xfrm>
              <a:off x="6248400" y="2919412"/>
              <a:ext cx="2164080" cy="466725"/>
            </a:xfrm>
            <a:custGeom>
              <a:avLst/>
              <a:gdLst/>
              <a:ahLst/>
              <a:cxnLst/>
              <a:rect l="l" t="t" r="r" b="b"/>
              <a:pathLst>
                <a:path w="2164080" h="466725">
                  <a:moveTo>
                    <a:pt x="0" y="466725"/>
                  </a:moveTo>
                  <a:lnTo>
                    <a:pt x="0" y="170497"/>
                  </a:lnTo>
                  <a:lnTo>
                    <a:pt x="2164080" y="170497"/>
                  </a:lnTo>
                  <a:lnTo>
                    <a:pt x="21640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339138" y="279368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412480" y="2919412"/>
              <a:ext cx="2164080" cy="466725"/>
            </a:xfrm>
            <a:custGeom>
              <a:avLst/>
              <a:gdLst/>
              <a:ahLst/>
              <a:cxnLst/>
              <a:rect l="l" t="t" r="r" b="b"/>
              <a:pathLst>
                <a:path w="2164080" h="466725">
                  <a:moveTo>
                    <a:pt x="2164080" y="466725"/>
                  </a:moveTo>
                  <a:lnTo>
                    <a:pt x="2164080" y="170497"/>
                  </a:lnTo>
                  <a:lnTo>
                    <a:pt x="0" y="170497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339138" y="279368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983980" y="2515552"/>
              <a:ext cx="896302" cy="9525"/>
            </a:xfrm>
            <a:custGeom>
              <a:avLst/>
              <a:gdLst/>
              <a:ahLst/>
              <a:cxnLst/>
              <a:rect l="l" t="t" r="r" b="b"/>
              <a:pathLst>
                <a:path w="896302" h="9525">
                  <a:moveTo>
                    <a:pt x="89630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8983980" y="245840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104775" y="0"/>
                  </a:moveTo>
                  <a:lnTo>
                    <a:pt x="0" y="57150"/>
                  </a:lnTo>
                  <a:lnTo>
                    <a:pt x="104775" y="11525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840980" y="2237422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848600" y="2245042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840980" y="24498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840980" y="25450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880282" y="2237422"/>
              <a:ext cx="139160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887902" y="2245042"/>
              <a:ext cx="137731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880282" y="2449830"/>
              <a:ext cx="139160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880282" y="2545080"/>
              <a:ext cx="139160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676900" y="3386138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684520" y="3392805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676900" y="35985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676900" y="36937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005060" y="3386138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011728" y="3392805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005060" y="35985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005060" y="36937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33788" y="2288858"/>
              <a:ext cx="157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TV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912418" y="2613184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50997" y="2288858"/>
              <a:ext cx="6511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TVFactory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951720" y="2613184"/>
              <a:ext cx="134501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produceTV(String): TV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09094" y="3437573"/>
              <a:ext cx="4786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HaierTV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48338" y="3761899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267199" y="3437573"/>
              <a:ext cx="6187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HisenseTV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076498" y="3761899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260205" y="2309812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295727" y="23341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返回</a:t>
              </a:r>
            </a:p>
          </p:txBody>
        </p:sp>
      </p:grpSp>
      <p:grpSp>
        <p:nvGrpSpPr>
          <p:cNvPr id="72" name="c2-card-2"/>
          <p:cNvGrpSpPr/>
          <p:nvPr/>
        </p:nvGrpSpPr>
        <p:grpSpPr>
          <a:xfrm>
            <a:off x="5166360" y="4413885"/>
            <a:ext cx="6492240" cy="1838325"/>
            <a:chOff x="5166360" y="4413885"/>
            <a:chExt cx="6492240" cy="1838325"/>
          </a:xfrm>
        </p:grpSpPr>
        <p:sp>
          <p:nvSpPr>
            <p:cNvPr id="58" name="Rectangle 58"/>
            <p:cNvSpPr/>
            <p:nvPr/>
          </p:nvSpPr>
          <p:spPr>
            <a:xfrm>
              <a:off x="5166360" y="4413885"/>
              <a:ext cx="6492240" cy="1838325"/>
            </a:xfrm>
            <a:prstGeom prst="roundRect">
              <a:avLst>
                <a:gd name="adj" fmla="val 725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58765" y="460629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446205" y="464058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试一下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075807" y="464629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再代工一个创维牌电视机，要动哪里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5358765" y="496728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414443" y="500662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639562" y="4979670"/>
              <a:ext cx="40366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写一个 SkyworthTV 类继承 TV，实现自己的 play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5358765" y="527018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414443" y="530856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639562" y="5282565"/>
              <a:ext cx="26706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produceTV 里加一个判断分支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5358765" y="557307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414443" y="56114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639562" y="5584508"/>
              <a:ext cx="3091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客户端把传入的字符串改成 Skyworth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353050" y="5884069"/>
              <a:ext cx="2747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2 步就是简单工厂违反开闭原则的地方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课件中的两个实例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实例一的完整代码与运行结果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495675"/>
            <a:chOff x="533400" y="1524000"/>
            <a:chExt cx="5951220" cy="3495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抽象产品与具体产品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127629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HaierTV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"海尔电视机播放中"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HisenseTV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"海信电视机播放中"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5184458"/>
            <a:ext cx="5951220" cy="1168718"/>
            <a:chOff x="533400" y="5184458"/>
            <a:chExt cx="5951220" cy="1168718"/>
          </a:xfrm>
        </p:grpSpPr>
        <p:sp>
          <p:nvSpPr>
            <p:cNvPr id="11" name="Rectangle 11"/>
            <p:cNvSpPr/>
            <p:nvPr/>
          </p:nvSpPr>
          <p:spPr>
            <a:xfrm>
              <a:off x="533400" y="5184458"/>
              <a:ext cx="5951220" cy="1168718"/>
            </a:xfrm>
            <a:prstGeom prst="roundRect">
              <a:avLst>
                <a:gd name="adj" fmla="val 114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5317808"/>
              <a:ext cx="47625" cy="9020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5998" y="538591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这段代码的两个看点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2000" y="573976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17448" y="5686901"/>
              <a:ext cx="3726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两个品牌类只改 play 的实现，对外接口完全一致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2000" y="602456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17448" y="5972651"/>
              <a:ext cx="41107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客户端变量声明成 TV，全文看不到 HaierTV 这个名字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789420" y="1524000"/>
            <a:ext cx="4869180" cy="2616518"/>
            <a:chOff x="6789420" y="1524000"/>
            <a:chExt cx="4869180" cy="2616518"/>
          </a:xfrm>
        </p:grpSpPr>
        <p:sp>
          <p:nvSpPr>
            <p:cNvPr id="19" name="Rectangle 19"/>
            <p:cNvSpPr/>
            <p:nvPr/>
          </p:nvSpPr>
          <p:spPr>
            <a:xfrm>
              <a:off x="6789420" y="1524000"/>
              <a:ext cx="4869180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1781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工厂角色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17817" y="1935956"/>
              <a:ext cx="3774821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TVFactory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produceTV(String brand)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"Haier"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.equalsIgnoreCase(brand))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"工厂生产海尔电视机"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HaierTV();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"Hisense"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.equalsIgnoreCase(brand))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"工厂生产海信电视机"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HisenseTV();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IllegalArgumentException(brand);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6" name="c2-code-2"/>
          <p:cNvGrpSpPr/>
          <p:nvPr/>
        </p:nvGrpSpPr>
        <p:grpSpPr>
          <a:xfrm>
            <a:off x="6789420" y="4305300"/>
            <a:ext cx="4869180" cy="1737360"/>
            <a:chOff x="6789420" y="4305300"/>
            <a:chExt cx="4869180" cy="1737360"/>
          </a:xfrm>
        </p:grpSpPr>
        <p:sp>
          <p:nvSpPr>
            <p:cNvPr id="23" name="Rectangle 23"/>
            <p:cNvSpPr/>
            <p:nvPr/>
          </p:nvSpPr>
          <p:spPr>
            <a:xfrm>
              <a:off x="6789420" y="4305300"/>
              <a:ext cx="486918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17817" y="44572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客户端与输出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17817" y="4717256"/>
              <a:ext cx="3127629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TV tv = TVFactory.produceTV(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"Haier"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tv.play();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输出: 工厂生产海尔电视机 / 海尔电视机播放中 */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7" name="TextBox 2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11355" cy="909257"/>
            <a:chOff x="520446" y="342900"/>
            <a:chExt cx="441135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课件中的两个实例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1135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实例二：OA 系统的权限管理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登录校验通过后，从数据库取出以整数存储的权限等级，按等级创建不同的用户对象。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4328160" cy="1716405"/>
            <a:chOff x="533400" y="1928812"/>
            <a:chExt cx="4328160" cy="17164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328160" cy="1716405"/>
            </a:xfrm>
            <a:prstGeom prst="roundRect">
              <a:avLst>
                <a:gd name="adj" fmla="val 77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4497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需求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按权限等级返回用户对象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375989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所有用户都有一部分相同的操作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（sameOperation），另一部分操作随等级而不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同（diffOperation）。工厂按等级决定创建哪一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种用户。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3815715"/>
            <a:ext cx="4328160" cy="1600200"/>
            <a:chOff x="533400" y="3815715"/>
            <a:chExt cx="4328160" cy="1600200"/>
          </a:xfrm>
        </p:grpSpPr>
        <p:sp>
          <p:nvSpPr>
            <p:cNvPr id="16" name="Rectangle 16"/>
            <p:cNvSpPr/>
            <p:nvPr/>
          </p:nvSpPr>
          <p:spPr>
            <a:xfrm>
              <a:off x="533400" y="3815715"/>
              <a:ext cx="4328160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0494" y="39371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权限等级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26082" y="393715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创建的用户类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66579" y="39371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独有操作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0555" y="4337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79270" y="4337209"/>
              <a:ext cx="671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83280" y="433720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查看本人考勤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1105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615815"/>
              <a:ext cx="432816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47372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79270" y="4737259"/>
              <a:ext cx="6270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Manager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83280" y="473725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审批本部门考勤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01110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51373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79270" y="5137309"/>
              <a:ext cx="10487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Administrator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83280" y="513730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维护全部账号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815715"/>
              <a:ext cx="432816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677352" y="381571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3281362" y="381571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1-callout-3"/>
          <p:cNvGrpSpPr/>
          <p:nvPr/>
        </p:nvGrpSpPr>
        <p:grpSpPr>
          <a:xfrm>
            <a:off x="533400" y="5585460"/>
            <a:ext cx="4328160" cy="729615"/>
            <a:chOff x="533400" y="5585460"/>
            <a:chExt cx="4328160" cy="729615"/>
          </a:xfrm>
        </p:grpSpPr>
        <p:sp>
          <p:nvSpPr>
            <p:cNvPr id="36" name="Rectangle 36"/>
            <p:cNvSpPr/>
            <p:nvPr/>
          </p:nvSpPr>
          <p:spPr>
            <a:xfrm>
              <a:off x="533400" y="5585460"/>
              <a:ext cx="432816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850255"/>
              <a:ext cx="200026" cy="200025"/>
              <a:chOff x="738188" y="5850255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8502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77926" y="58947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12642" y="60058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892" y="5731192"/>
              <a:ext cx="3365563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这里的参数是整数而不是字符串，用 switch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写判断比 if-else 更清楚。</a:t>
              </a:r>
            </a:p>
          </p:txBody>
        </p:sp>
      </p:grpSp>
      <p:grpSp>
        <p:nvGrpSpPr>
          <p:cNvPr id="83" name="c2-uml-1"/>
          <p:cNvGrpSpPr/>
          <p:nvPr/>
        </p:nvGrpSpPr>
        <p:grpSpPr>
          <a:xfrm>
            <a:off x="5568315" y="2205038"/>
            <a:ext cx="5939723" cy="1887854"/>
            <a:chOff x="5568315" y="2205038"/>
            <a:chExt cx="5939723" cy="1887854"/>
          </a:xfrm>
        </p:grpSpPr>
        <p:sp>
          <p:nvSpPr>
            <p:cNvPr id="43" name="Freeform 43"/>
            <p:cNvSpPr/>
            <p:nvPr/>
          </p:nvSpPr>
          <p:spPr>
            <a:xfrm>
              <a:off x="6248400" y="3035618"/>
              <a:ext cx="2164080" cy="501015"/>
            </a:xfrm>
            <a:custGeom>
              <a:avLst/>
              <a:gdLst/>
              <a:ahLst/>
              <a:cxnLst/>
              <a:rect l="l" t="t" r="r" b="b"/>
              <a:pathLst>
                <a:path w="2164080" h="501015">
                  <a:moveTo>
                    <a:pt x="0" y="501015"/>
                  </a:moveTo>
                  <a:lnTo>
                    <a:pt x="0" y="187642"/>
                  </a:lnTo>
                  <a:lnTo>
                    <a:pt x="2164080" y="187642"/>
                  </a:lnTo>
                  <a:lnTo>
                    <a:pt x="21640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339138" y="29098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412480" y="3035618"/>
              <a:ext cx="9525" cy="501015"/>
            </a:xfrm>
            <a:custGeom>
              <a:avLst/>
              <a:gdLst/>
              <a:ahLst/>
              <a:cxnLst/>
              <a:rect l="l" t="t" r="r" b="b"/>
              <a:pathLst>
                <a:path w="9525" h="501015">
                  <a:moveTo>
                    <a:pt x="0" y="50101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339138" y="29098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412480" y="3035618"/>
              <a:ext cx="2164080" cy="501015"/>
            </a:xfrm>
            <a:custGeom>
              <a:avLst/>
              <a:gdLst/>
              <a:ahLst/>
              <a:cxnLst/>
              <a:rect l="l" t="t" r="r" b="b"/>
              <a:pathLst>
                <a:path w="2164080" h="501015">
                  <a:moveTo>
                    <a:pt x="2164080" y="501015"/>
                  </a:moveTo>
                  <a:lnTo>
                    <a:pt x="2164080" y="187642"/>
                  </a:lnTo>
                  <a:lnTo>
                    <a:pt x="0" y="18764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8339138" y="29098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116378" y="2557462"/>
              <a:ext cx="563880" cy="9525"/>
            </a:xfrm>
            <a:custGeom>
              <a:avLst/>
              <a:gdLst/>
              <a:ahLst/>
              <a:cxnLst/>
              <a:rect l="l" t="t" r="r" b="b"/>
              <a:pathLst>
                <a:path w="563880" h="9525">
                  <a:moveTo>
                    <a:pt x="56388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50" name="Freeform 50"/>
            <p:cNvSpPr/>
            <p:nvPr/>
          </p:nvSpPr>
          <p:spPr>
            <a:xfrm>
              <a:off x="9116378" y="2499360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104775" y="0"/>
                  </a:moveTo>
                  <a:lnTo>
                    <a:pt x="0" y="58103"/>
                  </a:lnTo>
                  <a:lnTo>
                    <a:pt x="104775" y="11525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08582" y="2205038"/>
              <a:ext cx="1406842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716202" y="2211705"/>
              <a:ext cx="139255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08582" y="2417445"/>
              <a:ext cx="14068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08582" y="2512695"/>
              <a:ext cx="14068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680258" y="2279332"/>
              <a:ext cx="1792605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686925" y="2286000"/>
              <a:ext cx="1778318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80258" y="2491740"/>
              <a:ext cx="17926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680258" y="2586990"/>
              <a:ext cx="17926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568315" y="3536632"/>
              <a:ext cx="136017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5574982" y="3543300"/>
              <a:ext cx="134588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568315" y="374904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568315" y="384429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732395" y="3536632"/>
              <a:ext cx="136017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739062" y="3543300"/>
              <a:ext cx="134588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732395" y="374904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7732395" y="384429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896475" y="3536632"/>
              <a:ext cx="136017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9903142" y="3543300"/>
              <a:ext cx="134588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896475" y="374904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896475" y="3844290"/>
              <a:ext cx="13601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265800" y="2256472"/>
              <a:ext cx="29336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User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780020" y="2580799"/>
              <a:ext cx="1264412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sameOperation(): void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diffOperation(): void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183009" y="2330768"/>
              <a:ext cx="7871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UserFactory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751695" y="2655094"/>
              <a:ext cx="17563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getUser(int permission): User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5964985" y="3588068"/>
              <a:ext cx="5668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639752" y="3912394"/>
              <a:ext cx="12942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diffOperation(): void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148022" y="3588068"/>
              <a:ext cx="5289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Manager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803832" y="3912394"/>
              <a:ext cx="12942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diffOperation(): void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134186" y="3588068"/>
              <a:ext cx="8847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Administrator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967912" y="3912394"/>
              <a:ext cx="12942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diffOperation(): void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9236392" y="2361248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9272397" y="238410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</p:grpSp>
      <p:grpSp>
        <p:nvGrpSpPr>
          <p:cNvPr id="90" name="c2-card-2"/>
          <p:cNvGrpSpPr/>
          <p:nvPr/>
        </p:nvGrpSpPr>
        <p:grpSpPr>
          <a:xfrm>
            <a:off x="5166360" y="4612958"/>
            <a:ext cx="6492240" cy="1702118"/>
            <a:chOff x="5166360" y="4612958"/>
            <a:chExt cx="6492240" cy="1702118"/>
          </a:xfrm>
        </p:grpSpPr>
        <p:sp>
          <p:nvSpPr>
            <p:cNvPr id="84" name="Rectangle 84"/>
            <p:cNvSpPr/>
            <p:nvPr/>
          </p:nvSpPr>
          <p:spPr>
            <a:xfrm>
              <a:off x="5166360" y="4612958"/>
              <a:ext cx="6492240" cy="1702118"/>
            </a:xfrm>
            <a:prstGeom prst="roundRect">
              <a:avLst>
                <a:gd name="adj" fmla="val 78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5175885" y="4746308"/>
              <a:ext cx="47625" cy="14354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5391150" y="47996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483822" y="48325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5956744" y="483489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原图把依赖画成了关联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5384292" y="5160645"/>
              <a:ext cx="57315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20 页从 UserFactory 到三个具体用户类画的是实线箭头。工厂只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是在方法体里创建它们，规范画法是虚线箭头的依赖关系。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课件中的两个实例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实例二的代码：公共操作放父类，差异操作留给子类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670935"/>
            <a:chOff x="533400" y="1524000"/>
            <a:chExt cx="5951220" cy="36709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抽象产品与两个具体产品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637915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sameOperation()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"查看个人信息"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diffOperation();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Employee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diffOperation()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"普通员工: 查看本人考勤"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Manager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diffOperation()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"部门经理: 审批本部门考勤"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6789420" y="1524000"/>
            <a:ext cx="4869180" cy="2264092"/>
            <a:chOff x="6789420" y="1524000"/>
            <a:chExt cx="4869180" cy="2264092"/>
          </a:xfrm>
        </p:grpSpPr>
        <p:sp>
          <p:nvSpPr>
            <p:cNvPr id="11" name="Rectangle 11"/>
            <p:cNvSpPr/>
            <p:nvPr/>
          </p:nvSpPr>
          <p:spPr>
            <a:xfrm>
              <a:off x="6789420" y="1524000"/>
              <a:ext cx="4869180" cy="2264092"/>
            </a:xfrm>
            <a:prstGeom prst="roundRect">
              <a:avLst>
                <a:gd name="adj" fmla="val 42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1781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工厂角色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917817" y="1935956"/>
              <a:ext cx="3973957" cy="1776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UserFactory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 getUser(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permission)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switch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(permission)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1: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Employee();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2: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Manager();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3: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Administrator();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"非法权限等级"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ode-2"/>
          <p:cNvGrpSpPr/>
          <p:nvPr/>
        </p:nvGrpSpPr>
        <p:grpSpPr>
          <a:xfrm>
            <a:off x="6789420" y="3958590"/>
            <a:ext cx="4869180" cy="1737360"/>
            <a:chOff x="6789420" y="3958590"/>
            <a:chExt cx="4869180" cy="1737360"/>
          </a:xfrm>
        </p:grpSpPr>
        <p:sp>
          <p:nvSpPr>
            <p:cNvPr id="15" name="Rectangle 15"/>
            <p:cNvSpPr/>
            <p:nvPr/>
          </p:nvSpPr>
          <p:spPr>
            <a:xfrm>
              <a:off x="6789420" y="3958590"/>
              <a:ext cx="486918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17817" y="411051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客户端与输出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917817" y="4370546"/>
              <a:ext cx="3911727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 u = UserFactory.getUser(2);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2 = 经理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u.sameOperation();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查看个人信息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u.diffOperation();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部门经理: 审批本部门考勤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9" name="Rectangle 1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6028373"/>
              <a:ext cx="94225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Administrator 与 Manager 写法相同；新增一个实习生等级要写 Intern 子类，还要回 UserFactory 加一个 case。</a:t>
              </a:r>
            </a:p>
          </p:txBody>
        </p:sp>
      </p:grpSp>
      <p:grpSp>
        <p:nvGrpSpPr>
          <p:cNvPr id="2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5" name="TextBox 2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336792" cy="2997517"/>
            <a:chOff x="667512" y="1835468"/>
            <a:chExt cx="633679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优缺点、适用环境与实际应用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知道它好在哪，更要知道它在哪里会顶不住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三条优点与四条缺点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什么时候该用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46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里的静态工厂方法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优缺点、适用环境与实际应用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优点与缺点：好处在分工，代价在那个工厂类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compare-1"/>
          <p:cNvGrpSpPr/>
          <p:nvPr/>
        </p:nvGrpSpPr>
        <p:grpSpPr>
          <a:xfrm>
            <a:off x="533400" y="1524000"/>
            <a:ext cx="6275070" cy="4101465"/>
            <a:chOff x="533400" y="1524000"/>
            <a:chExt cx="6275070" cy="41014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927985" cy="4101465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8347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工厂集中了判断逻辑，客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户端只负责消费产品，责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任被切开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30822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301942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客户端不必记住复杂的具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体类名，只要记住对应的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9890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92620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引入配置文件后，不改客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户端代码也能更换和增加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880485" y="1524000"/>
              <a:ext cx="2927985" cy="4101465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890010" y="1657350"/>
              <a:ext cx="47625" cy="38347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120515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4133850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91965" y="211264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全部创建逻辑集中在工厂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类，它一出问题整个系统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都受影响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4133850" y="30822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291965" y="3019425"/>
              <a:ext cx="2110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类的个数增多，系统的复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杂度和理解难度都上升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4133850" y="370332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291965" y="364045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加新产品必须改工厂的判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断逻辑，与开闭原则相违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背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133850" y="461010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291965" y="4547235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工厂方法是静态的，工厂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角色无法形成基于继承的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等级结构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509010" y="341280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79350" y="350901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2" name="c2-image-1"/>
          <p:cNvGrpSpPr/>
          <p:nvPr/>
        </p:nvGrpSpPr>
        <p:grpSpPr>
          <a:xfrm>
            <a:off x="7114222" y="1524000"/>
            <a:ext cx="4544378" cy="2600802"/>
            <a:chOff x="7114222" y="1524000"/>
            <a:chExt cx="4544378" cy="2600802"/>
          </a:xfrm>
        </p:grpSpPr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2"/>
            <a:srcRect l="0" t="16464" r="0" b="16464"/>
            <a:stretch>
              <a:fillRect/>
            </a:stretch>
          </p:blipFill>
          <p:spPr>
            <a:xfrm>
              <a:off x="7114222" y="1524000"/>
              <a:ext cx="4544378" cy="2286000"/>
            </a:xfrm>
            <a:prstGeom prst="roundRect">
              <a:avLst>
                <a:gd name="adj" fmla="val 5833"/>
              </a:avLst>
            </a:prstGeom>
          </p:spPr>
        </p:pic>
        <p:sp>
          <p:nvSpPr>
            <p:cNvPr id="31" name="TextBox 31"/>
            <p:cNvSpPr txBox="1"/>
            <p:nvPr/>
          </p:nvSpPr>
          <p:spPr>
            <a:xfrm>
              <a:off x="7118604" y="3904774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所有创建请求都排到同一张桌子前，这张桌子就成了整个系统的单点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7114222" y="4290060"/>
            <a:ext cx="4544378" cy="1335405"/>
            <a:chOff x="7114222" y="4290060"/>
            <a:chExt cx="4544378" cy="1335405"/>
          </a:xfrm>
        </p:grpSpPr>
        <p:sp>
          <p:nvSpPr>
            <p:cNvPr id="33" name="Rectangle 33"/>
            <p:cNvSpPr/>
            <p:nvPr/>
          </p:nvSpPr>
          <p:spPr>
            <a:xfrm>
              <a:off x="7114222" y="4290060"/>
              <a:ext cx="4544378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23748" y="442341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361872" y="449961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52081" y="453532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61948" y="453485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原课件的一处笔误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54252" y="4895850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23 页写"在一定程序上增加了系统的复杂度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"，应为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在一定程度上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静态方法不能被子类重写，所以工厂类没法用继承扩展，这是它和工厂方法模式最本质的分界。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优缺点、适用环境与实际应用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适用环境：产品少、客户端只认参数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6542" y="1545907"/>
            <a:ext cx="5164455" cy="1464184"/>
            <a:chOff x="526542" y="1545907"/>
            <a:chExt cx="5164455" cy="1464184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可以用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894522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0382" y="1865947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工厂类负责创建的对象比较少，工厂方法里的判断逻辑不会太复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杂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46316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0382" y="243459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客户端只知道传入工厂类的参数，对于对象如何创建并不关心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773680"/>
              <a:ext cx="129540" cy="105728"/>
            </a:xfrm>
            <a:custGeom>
              <a:avLst/>
              <a:gdLst/>
              <a:ahLst/>
              <a:cxnLst/>
              <a:rect l="l" t="t" r="r" b="b"/>
              <a:pathLst>
                <a:path w="129540" h="105728">
                  <a:moveTo>
                    <a:pt x="0" y="56198"/>
                  </a:moveTo>
                  <a:lnTo>
                    <a:pt x="49530" y="105728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0382" y="274605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产品种类已经稳定下来，短期内不会频繁增加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3131820"/>
            <a:ext cx="5410200" cy="729615"/>
            <a:chOff x="533400" y="3131820"/>
            <a:chExt cx="5410200" cy="729615"/>
          </a:xfrm>
        </p:grpSpPr>
        <p:sp>
          <p:nvSpPr>
            <p:cNvPr id="15" name="Rectangle 15"/>
            <p:cNvSpPr/>
            <p:nvPr/>
          </p:nvSpPr>
          <p:spPr>
            <a:xfrm>
              <a:off x="533400" y="313182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3396615"/>
              <a:ext cx="200026" cy="200025"/>
              <a:chOff x="738188" y="3396615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33966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34410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35521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892" y="3277552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判断标准可以更直接：工厂方法里的分支超过五六个还在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长，就该换模式了。</a:t>
              </a:r>
            </a:p>
          </p:txBody>
        </p:sp>
      </p:grpSp>
      <p:grpSp>
        <p:nvGrpSpPr>
          <p:cNvPr id="33" name="c1-card-3"/>
          <p:cNvGrpSpPr/>
          <p:nvPr/>
        </p:nvGrpSpPr>
        <p:grpSpPr>
          <a:xfrm>
            <a:off x="533400" y="4035742"/>
            <a:ext cx="5410200" cy="1574482"/>
            <a:chOff x="533400" y="4035742"/>
            <a:chExt cx="5410200" cy="1574482"/>
          </a:xfrm>
        </p:grpSpPr>
        <p:sp>
          <p:nvSpPr>
            <p:cNvPr id="22" name="Rectangle 22"/>
            <p:cNvSpPr/>
            <p:nvPr/>
          </p:nvSpPr>
          <p:spPr>
            <a:xfrm>
              <a:off x="533400" y="4035742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169092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22814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5345" y="42624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47597" y="426815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本讲三个例子都符合这两条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72478" y="465867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8497" y="460248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支付方式：三种，参数是一个字符串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72478" y="496157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8497" y="490537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权限等级：三级，参数是一个整数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72478" y="526351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8497" y="52073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电视机品牌：两个，参数是品牌名</a:t>
              </a:r>
            </a:p>
          </p:txBody>
        </p:sp>
      </p:grpSp>
      <p:grpSp>
        <p:nvGrpSpPr>
          <p:cNvPr id="43" name="c2-bullets-1"/>
          <p:cNvGrpSpPr/>
          <p:nvPr/>
        </p:nvGrpSpPr>
        <p:grpSpPr>
          <a:xfrm>
            <a:off x="6241542" y="1545907"/>
            <a:ext cx="4193629" cy="1517524"/>
            <a:chOff x="6241542" y="1545907"/>
            <a:chExt cx="4193629" cy="1517524"/>
          </a:xfrm>
        </p:grpSpPr>
        <p:sp>
          <p:nvSpPr>
            <p:cNvPr id="34" name="TextBox 34"/>
            <p:cNvSpPr txBox="1"/>
            <p:nvPr/>
          </p:nvSpPr>
          <p:spPr>
            <a:xfrm>
              <a:off x="6241542" y="154590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不要用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6248400" y="189833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77762" y="1865947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产品种类多且还会不断增加，工厂越改越乱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48400" y="220980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77762" y="2177415"/>
              <a:ext cx="3957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创建过程要分步骤装配，改用建造者（第 13 讲）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48400" y="2521268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77762" y="2488882"/>
              <a:ext cx="3957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要成套创建一族产品，改用抽象工厂（第 12 讲）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248400" y="283178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77762" y="279939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工厂本身需要按场合派生出多个版本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248400" y="3185160"/>
            <a:ext cx="5410200" cy="2425065"/>
            <a:chOff x="6248400" y="3185160"/>
            <a:chExt cx="5410200" cy="2425065"/>
          </a:xfrm>
        </p:grpSpPr>
        <p:sp>
          <p:nvSpPr>
            <p:cNvPr id="44" name="Rectangle 44"/>
            <p:cNvSpPr/>
            <p:nvPr/>
          </p:nvSpPr>
          <p:spPr>
            <a:xfrm>
              <a:off x="6248400" y="3185160"/>
              <a:ext cx="5410200" cy="2425065"/>
            </a:xfrm>
            <a:prstGeom prst="roundRect">
              <a:avLst>
                <a:gd name="adj" fmla="val 5499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40805" y="337756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28245" y="341185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57847" y="341757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它买的是方便，卖的是扩展性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33947" y="3751898"/>
              <a:ext cx="46771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简单工厂用"改一个类"换来"客户端全都不用改"。产品稳定时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这笔交易划算，产品不断变时就不划算了。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0" name="Rectangle 5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3610"/>
              <a:ext cx="74558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产品数量还会变时，把选择权交给工厂的子类或配置文件，别让工厂里的 if-else 无限增长。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44652" cy="909257"/>
            <a:chOff x="520446" y="342900"/>
            <a:chExt cx="454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优缺点、适用环境与实际应用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4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里到处都是静态工厂方法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322771" cy="278702"/>
            <a:chOff x="526161" y="1547336"/>
            <a:chExt cx="632277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这些方法都符合同一个套路：静态、返回抽象类型、由参数决定具体实现。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41195"/>
            <a:ext cx="6059805" cy="2966085"/>
            <a:chOff x="533400" y="1941195"/>
            <a:chExt cx="6059805" cy="296608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059805" cy="2966085"/>
            </a:xfrm>
            <a:prstGeom prst="roundRect">
              <a:avLst>
                <a:gd name="adj" fmla="val 32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9311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四个常见例子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416" y="2354580"/>
              <a:ext cx="4411218" cy="24799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1. 日期格式化: 同名方法的多个重载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DateFormat d1 = DateFormat.getDateInstance();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DateFormat d2 = DateFormat.getDateInstance(DateFormat.LONG);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DateFormat d3 = DateFormat.getDateInstance(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DateFormat.LONG, Locale.CHINA);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2. 加密: 参数是算法名, 实现类由 JDK 挑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KeyGenerator keyGen = KeyGenerator.getInstance(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"DESede"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Cipher cipher = Cipher.getInstance(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"DESede"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3. 日历与装箱: 同样是静态工厂方法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Calendar c = Calendar.getInstance();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Integer n = Integer.valueOf(42);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5082540"/>
            <a:ext cx="6059805" cy="1272540"/>
            <a:chOff x="533400" y="5082540"/>
            <a:chExt cx="6059805" cy="1272540"/>
          </a:xfrm>
        </p:grpSpPr>
        <p:sp>
          <p:nvSpPr>
            <p:cNvPr id="13" name="Rectangle 13"/>
            <p:cNvSpPr/>
            <p:nvPr/>
          </p:nvSpPr>
          <p:spPr>
            <a:xfrm>
              <a:off x="533400" y="5082540"/>
              <a:ext cx="6059805" cy="1272540"/>
            </a:xfrm>
            <a:prstGeom prst="roundRect">
              <a:avLst>
                <a:gd name="adj" fmla="val 10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5215890"/>
              <a:ext cx="47625" cy="100584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3905" y="52749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5345" y="53092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还有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47597" y="53149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标准库里同一套路的几个方法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5648325"/>
              <a:ext cx="35261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List.of(...)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Collections.emptyList()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5951220"/>
              <a:ext cx="5088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Executors.newFixedThreadPool(int)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LocalDate.of(...)</a:t>
              </a:r>
            </a:p>
          </p:txBody>
        </p:sp>
      </p:grpSp>
      <p:grpSp>
        <p:nvGrpSpPr>
          <p:cNvPr id="28" name="c2-bullets-1"/>
          <p:cNvGrpSpPr/>
          <p:nvPr/>
        </p:nvGrpSpPr>
        <p:grpSpPr>
          <a:xfrm>
            <a:off x="6891147" y="1964055"/>
            <a:ext cx="4183380" cy="1206055"/>
            <a:chOff x="6891147" y="1964055"/>
            <a:chExt cx="4183380" cy="1206055"/>
          </a:xfrm>
        </p:grpSpPr>
        <p:sp>
          <p:nvSpPr>
            <p:cNvPr id="21" name="TextBox 21"/>
            <p:cNvSpPr txBox="1"/>
            <p:nvPr/>
          </p:nvSpPr>
          <p:spPr>
            <a:xfrm>
              <a:off x="6891147" y="196405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三个共同点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906578" y="234029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062597" y="2284095"/>
              <a:ext cx="26216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方法是 static，用类名直接调用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906578" y="2650807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62597" y="259461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返回类型是抽象类或接口，真实类型对调用者隐藏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906578" y="296227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62597" y="2906077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参数（样式常量、算法名）决定拿到哪个实现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898005" y="3291840"/>
            <a:ext cx="4760595" cy="3062288"/>
            <a:chOff x="6898005" y="3291840"/>
            <a:chExt cx="4760595" cy="3062288"/>
          </a:xfrm>
        </p:grpSpPr>
        <p:sp>
          <p:nvSpPr>
            <p:cNvPr id="29" name="Rectangle 29"/>
            <p:cNvSpPr/>
            <p:nvPr/>
          </p:nvSpPr>
          <p:spPr>
            <a:xfrm>
              <a:off x="6898005" y="3291840"/>
              <a:ext cx="4760595" cy="3062288"/>
            </a:xfrm>
            <a:prstGeom prst="roundRect">
              <a:avLst>
                <a:gd name="adj" fmla="val 43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07530" y="3425190"/>
              <a:ext cx="47625" cy="27955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128510" y="34842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19950" y="35185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12202" y="352425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静态工厂方法可以不止一个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21652" y="3858577"/>
              <a:ext cx="405136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DateFormat 用重载区分不同的参数组合，这正是"多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个工厂方法"写法在标准库里的样子。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22795" y="4414361"/>
              <a:ext cx="42855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KeyGenerator.getInstance 会抛受检异常，实际代码里要处理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4882896" cy="3706177"/>
            <a:chOff x="667512" y="1835468"/>
            <a:chExt cx="4882896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扩展、本质与模式对比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从简化写法一路看到它和工厂方法的关系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工厂并进抽象产品类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从工厂方法退化而来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重载构造函数的改法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参数还可以是动态的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三种工厂的差别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扩展、本质与模式对比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扩展一：把工厂方法搬进抽象产品类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60488" cy="308039"/>
            <a:chOff x="525399" y="1550194"/>
            <a:chExt cx="74604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604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工厂角色也可以由抽象产品类兼任，一个抽象产品类同时充当自己子类的工厂。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410200" cy="2936558"/>
            <a:chOff x="533400" y="1967865"/>
            <a:chExt cx="5410200" cy="293655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2936558"/>
            </a:xfrm>
            <a:prstGeom prst="roundRect">
              <a:avLst>
                <a:gd name="adj" fmla="val 32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抽象产品兼任工厂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3268726" cy="2451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createApple()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createGrape()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Grape();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调用: Fruit f = Fruit.createApple(); */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5094922"/>
            <a:ext cx="5410200" cy="782955"/>
            <a:chOff x="533400" y="5094922"/>
            <a:chExt cx="5410200" cy="782955"/>
          </a:xfrm>
        </p:grpSpPr>
        <p:sp>
          <p:nvSpPr>
            <p:cNvPr id="13" name="Rectangle 13"/>
            <p:cNvSpPr/>
            <p:nvPr/>
          </p:nvSpPr>
          <p:spPr>
            <a:xfrm>
              <a:off x="533400" y="509492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26129" y="5382696"/>
              <a:ext cx="224134" cy="192560"/>
              <a:chOff x="726129" y="5382696"/>
              <a:chExt cx="224134" cy="19256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38200" y="54530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6129" y="53826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5308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524351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省下一个工厂类的代价是父类必须知道全部子类，加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一种水果就得回头改父类。</a:t>
              </a:r>
            </a:p>
          </p:txBody>
        </p:sp>
      </p:grpSp>
      <p:grpSp>
        <p:nvGrpSpPr>
          <p:cNvPr id="42" name="c2-uml-1"/>
          <p:cNvGrpSpPr/>
          <p:nvPr/>
        </p:nvGrpSpPr>
        <p:grpSpPr>
          <a:xfrm>
            <a:off x="6526530" y="2305050"/>
            <a:ext cx="4853940" cy="2012632"/>
            <a:chOff x="6526530" y="2305050"/>
            <a:chExt cx="4853940" cy="2012632"/>
          </a:xfrm>
        </p:grpSpPr>
        <p:sp>
          <p:nvSpPr>
            <p:cNvPr id="20" name="Freeform 20"/>
            <p:cNvSpPr/>
            <p:nvPr/>
          </p:nvSpPr>
          <p:spPr>
            <a:xfrm>
              <a:off x="7150418" y="3136582"/>
              <a:ext cx="1803082" cy="624840"/>
            </a:xfrm>
            <a:custGeom>
              <a:avLst/>
              <a:gdLst/>
              <a:ahLst/>
              <a:cxnLst/>
              <a:rect l="l" t="t" r="r" b="b"/>
              <a:pathLst>
                <a:path w="1803082" h="624840">
                  <a:moveTo>
                    <a:pt x="0" y="624840"/>
                  </a:moveTo>
                  <a:lnTo>
                    <a:pt x="0" y="249555"/>
                  </a:lnTo>
                  <a:lnTo>
                    <a:pt x="1803082" y="249555"/>
                  </a:lnTo>
                  <a:lnTo>
                    <a:pt x="180308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8880158" y="301085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953500" y="3136582"/>
              <a:ext cx="1803082" cy="624840"/>
            </a:xfrm>
            <a:custGeom>
              <a:avLst/>
              <a:gdLst/>
              <a:ahLst/>
              <a:cxnLst/>
              <a:rect l="l" t="t" r="r" b="b"/>
              <a:pathLst>
                <a:path w="1803082" h="624840">
                  <a:moveTo>
                    <a:pt x="1803082" y="624840"/>
                  </a:moveTo>
                  <a:lnTo>
                    <a:pt x="1803082" y="249555"/>
                  </a:lnTo>
                  <a:lnTo>
                    <a:pt x="0" y="24955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880158" y="301085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127682" y="2305050"/>
              <a:ext cx="1650682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135302" y="2312670"/>
              <a:ext cx="163639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27682" y="2517458"/>
              <a:ext cx="165068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127682" y="2612708"/>
              <a:ext cx="165068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526530" y="3761422"/>
              <a:ext cx="124682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534150" y="3768090"/>
              <a:ext cx="123253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526530" y="3973830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526530" y="4069080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133648" y="3761422"/>
              <a:ext cx="124682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140315" y="3768090"/>
              <a:ext cx="123253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133648" y="3973830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133648" y="4069080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701867" y="2356485"/>
              <a:ext cx="5032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99120" y="2680811"/>
              <a:ext cx="1785112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factoryMethod(String): Product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79964" y="3812858"/>
              <a:ext cx="11409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ConcreteProductA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97968" y="4137184"/>
              <a:ext cx="74360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86129" y="3812858"/>
              <a:ext cx="11409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ConcreteProductB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05085" y="4137184"/>
              <a:ext cx="74360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</p:grpSp>
      <p:grpSp>
        <p:nvGrpSpPr>
          <p:cNvPr id="44" name="c2-text-2"/>
          <p:cNvGrpSpPr/>
          <p:nvPr/>
        </p:nvGrpSpPr>
        <p:grpSpPr>
          <a:xfrm>
            <a:off x="6241923" y="4941094"/>
            <a:ext cx="5044186" cy="500824"/>
            <a:chOff x="6241923" y="4941094"/>
            <a:chExt cx="5044186" cy="500824"/>
          </a:xfrm>
        </p:grpSpPr>
        <p:sp>
          <p:nvSpPr>
            <p:cNvPr id="43" name="TextBox 43"/>
            <p:cNvSpPr txBox="1"/>
            <p:nvPr/>
          </p:nvSpPr>
          <p:spPr>
            <a:xfrm>
              <a:off x="6241923" y="4941094"/>
              <a:ext cx="504418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图中 factoryMethod 是静态方法。父类指向子类的创建依赖没有画出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来，但它确实存在，这正是这种写法被批评的地方。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扩展、本质与模式对比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扩展二：简单工厂是工厂方法退化来的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971591" cy="308039"/>
            <a:chOff x="525399" y="1550194"/>
            <a:chExt cx="59715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陈伟老师课件从工厂方法模式出发，推出简单工厂出现的条件。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77390"/>
            <a:ext cx="4891393" cy="2529173"/>
            <a:chOff x="533400" y="1977390"/>
            <a:chExt cx="4891393" cy="2529173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290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011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304574"/>
              <a:ext cx="44787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工厂方法模式里每种产品对应一个 ConcreteCreator 子类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66223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95513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产品种类已经稳定，不再需要新增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3127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606641"/>
              <a:ext cx="2509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Creator 派生子类失去了意义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96335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25719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工厂方法不再需要被重写，写成类方法更合理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684395"/>
            <a:ext cx="4977765" cy="782955"/>
            <a:chOff x="533400" y="4684395"/>
            <a:chExt cx="497776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684395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4975862"/>
              <a:ext cx="200023" cy="200023"/>
              <a:chOff x="738188" y="4975862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9758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50425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832985"/>
              <a:ext cx="4082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所以简单工厂又叫静态工厂方法：static 这个修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饰符正是退化的结果。</a:t>
              </a:r>
            </a:p>
          </p:txBody>
        </p:sp>
      </p:grpSp>
      <p:grpSp>
        <p:nvGrpSpPr>
          <p:cNvPr id="64" name="c2-uml-1"/>
          <p:cNvGrpSpPr/>
          <p:nvPr/>
        </p:nvGrpSpPr>
        <p:grpSpPr>
          <a:xfrm>
            <a:off x="6166485" y="2356485"/>
            <a:ext cx="5090160" cy="1889760"/>
            <a:chOff x="6166485" y="2356485"/>
            <a:chExt cx="5090160" cy="1889760"/>
          </a:xfrm>
        </p:grpSpPr>
        <p:sp>
          <p:nvSpPr>
            <p:cNvPr id="33" name="Freeform 33"/>
            <p:cNvSpPr/>
            <p:nvPr/>
          </p:nvSpPr>
          <p:spPr>
            <a:xfrm>
              <a:off x="6789420" y="3038475"/>
              <a:ext cx="1947862" cy="651510"/>
            </a:xfrm>
            <a:custGeom>
              <a:avLst/>
              <a:gdLst/>
              <a:ahLst/>
              <a:cxnLst/>
              <a:rect l="l" t="t" r="r" b="b"/>
              <a:pathLst>
                <a:path w="1947862" h="651510">
                  <a:moveTo>
                    <a:pt x="0" y="651510"/>
                  </a:moveTo>
                  <a:lnTo>
                    <a:pt x="0" y="262890"/>
                  </a:lnTo>
                  <a:lnTo>
                    <a:pt x="1947862" y="262890"/>
                  </a:lnTo>
                  <a:lnTo>
                    <a:pt x="194786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663940" y="291274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737282" y="3038475"/>
              <a:ext cx="9525" cy="651510"/>
            </a:xfrm>
            <a:custGeom>
              <a:avLst/>
              <a:gdLst/>
              <a:ahLst/>
              <a:cxnLst/>
              <a:rect l="l" t="t" r="r" b="b"/>
              <a:pathLst>
                <a:path w="9525" h="651510">
                  <a:moveTo>
                    <a:pt x="0" y="65151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663940" y="291274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542145" y="2634615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8" name="Freeform 38"/>
            <p:cNvSpPr/>
            <p:nvPr/>
          </p:nvSpPr>
          <p:spPr>
            <a:xfrm>
              <a:off x="10008870" y="2576512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931468" y="2356485"/>
              <a:ext cx="1610678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39088" y="2363152"/>
              <a:ext cx="1596390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931468" y="2568892"/>
              <a:ext cx="161067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931468" y="2664142"/>
              <a:ext cx="161067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113645" y="243078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120312" y="2437448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113645" y="26431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113645" y="27384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66485" y="3689985"/>
              <a:ext cx="124682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173152" y="3696652"/>
              <a:ext cx="123253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166485" y="3902392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166485" y="3997642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8113395" y="3689985"/>
              <a:ext cx="124682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121015" y="3696652"/>
              <a:ext cx="123253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113395" y="3902392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113395" y="3997642"/>
              <a:ext cx="12468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485649" y="2407920"/>
              <a:ext cx="5032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Creator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02905" y="2732246"/>
              <a:ext cx="156371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factoryMethod(): Product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433512" y="2482215"/>
              <a:ext cx="5032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20683" y="3741420"/>
              <a:ext cx="11374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ConcreteCreator1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37922" y="4065746"/>
              <a:ext cx="10406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68546" y="3741420"/>
              <a:ext cx="11374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ConcreteCreator2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84832" y="4065746"/>
              <a:ext cx="10406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factoryMethod()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9646920" y="241839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81210" y="24450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返回</a:t>
              </a:r>
            </a:p>
          </p:txBody>
        </p:sp>
      </p:grpSp>
      <p:grpSp>
        <p:nvGrpSpPr>
          <p:cNvPr id="66" name="c2-text-2"/>
          <p:cNvGrpSpPr/>
          <p:nvPr/>
        </p:nvGrpSpPr>
        <p:grpSpPr>
          <a:xfrm>
            <a:off x="5809488" y="4845844"/>
            <a:ext cx="5458714" cy="500824"/>
            <a:chOff x="5809488" y="4845844"/>
            <a:chExt cx="5458714" cy="500824"/>
          </a:xfrm>
        </p:grpSpPr>
        <p:sp>
          <p:nvSpPr>
            <p:cNvPr id="65" name="TextBox 65"/>
            <p:cNvSpPr txBox="1"/>
            <p:nvPr/>
          </p:nvSpPr>
          <p:spPr>
            <a:xfrm>
              <a:off x="5809488" y="4845844"/>
              <a:ext cx="545871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产品稳定后两个子类就没有存在价值，Creator 只剩一个方法，改成 static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就成了简单工厂。工厂方法模式在第 11 讲细讲。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扩展、本质与模式对比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扩展三：重载构造函数改成命名的创建方法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184290" cy="308039"/>
            <a:chOff x="525399" y="1550194"/>
            <a:chExt cx="61842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1842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一个产品类有多个重载构造函数时，也可以套用简单工厂的思路。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626418" cy="3950970"/>
            <a:chOff x="533400" y="1967865"/>
            <a:chExt cx="5626418" cy="395097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构造函数私有，对外只留静态创建方法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4940046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rate;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num,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rate)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.num = num;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.rate = rate;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createNormal(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Product(num, 1.0f);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createFloating(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num,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rate)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Product(num, rate);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bullets-1"/>
          <p:cNvGrpSpPr/>
          <p:nvPr/>
        </p:nvGrpSpPr>
        <p:grpSpPr>
          <a:xfrm>
            <a:off x="6456998" y="1992630"/>
            <a:ext cx="5109210" cy="1623060"/>
            <a:chOff x="6456998" y="1992630"/>
            <a:chExt cx="5109210" cy="1623060"/>
          </a:xfrm>
        </p:grpSpPr>
        <p:sp>
          <p:nvSpPr>
            <p:cNvPr id="13" name="TextBox 13"/>
            <p:cNvSpPr txBox="1"/>
            <p:nvPr/>
          </p:nvSpPr>
          <p:spPr>
            <a:xfrm>
              <a:off x="6456998" y="199263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只用重载构造函数的三个麻烦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464618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704648" y="234696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创建产品必须先理解每个参数的含义，从名字上看不出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区别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464618" y="301371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04648" y="297751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增加一个新的构造函数，往往要连带调整已有的几个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464618" y="335851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04648" y="332232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想改变某一种创建方式的实现，只能去动构造函数本身</a:t>
              </a:r>
            </a:p>
          </p:txBody>
        </p:sp>
      </p:grpSp>
      <p:grpSp>
        <p:nvGrpSpPr>
          <p:cNvPr id="27" name="c2-card-2"/>
          <p:cNvGrpSpPr/>
          <p:nvPr/>
        </p:nvGrpSpPr>
        <p:grpSpPr>
          <a:xfrm>
            <a:off x="6464618" y="3747135"/>
            <a:ext cx="5193982" cy="2171700"/>
            <a:chOff x="6464618" y="3747135"/>
            <a:chExt cx="5193982" cy="2171700"/>
          </a:xfrm>
        </p:grpSpPr>
        <p:sp>
          <p:nvSpPr>
            <p:cNvPr id="21" name="Rectangle 21"/>
            <p:cNvSpPr/>
            <p:nvPr/>
          </p:nvSpPr>
          <p:spPr>
            <a:xfrm>
              <a:off x="6464618" y="3747135"/>
              <a:ext cx="5193982" cy="2171700"/>
            </a:xfrm>
            <a:prstGeom prst="roundRect">
              <a:avLst>
                <a:gd name="adj" fmla="val 61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4142" y="3880485"/>
              <a:ext cx="47625" cy="19050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12268" y="39566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03428" y="39924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13295" y="399192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原课件的参数写法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04648" y="4352925"/>
              <a:ext cx="44348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陈伟老师课件写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 Product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createFloatProduct(int num,float );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，第二个参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数只有类型没有名字，C++ 声明里勉强成立，定义时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必须补上名字，Java 里则直接编译不过。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41770" cy="909257"/>
            <a:chOff x="520446" y="342900"/>
            <a:chExt cx="45417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扩展、本质与模式对比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417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模式本质：难点在"如何选择"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284089" cy="264033"/>
            <a:chOff x="526542" y="1545907"/>
            <a:chExt cx="528408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前面几种写法传的都是静态参数，选择依据其实可以来自运行期。</a:t>
              </a:r>
            </a:p>
          </p:txBody>
        </p:sp>
      </p:grpSp>
      <p:grpSp>
        <p:nvGrpSpPr>
          <p:cNvPr id="18" name="c1-bullets-1"/>
          <p:cNvGrpSpPr/>
          <p:nvPr/>
        </p:nvGrpSpPr>
        <p:grpSpPr>
          <a:xfrm>
            <a:off x="526542" y="1950720"/>
            <a:ext cx="2366010" cy="1507045"/>
            <a:chOff x="526542" y="1950720"/>
            <a:chExt cx="2366010" cy="1507045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5072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选择依据可以来自哪里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972" y="232410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992" y="226790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调用时写死的字符串或整数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972" y="263271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992" y="257651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配置文件里的一行键值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41972" y="294132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992" y="288512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数据库中查出来的字段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41972" y="324993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7992" y="319373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运行期算出来的某个内存值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574732"/>
            <a:ext cx="4977765" cy="2748915"/>
            <a:chOff x="533400" y="3574732"/>
            <a:chExt cx="4977765" cy="2748915"/>
          </a:xfrm>
        </p:grpSpPr>
        <p:sp>
          <p:nvSpPr>
            <p:cNvPr id="19" name="Rectangle 19"/>
            <p:cNvSpPr/>
            <p:nvPr/>
          </p:nvSpPr>
          <p:spPr>
            <a:xfrm>
              <a:off x="533400" y="3574732"/>
              <a:ext cx="4977765" cy="2748915"/>
            </a:xfrm>
            <a:prstGeom prst="roundRect">
              <a:avLst>
                <a:gd name="adj" fmla="val 485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376142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2762" y="379428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85684" y="3796665"/>
              <a:ext cx="16775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工厂封装的是"选择"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4122420"/>
              <a:ext cx="43942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客户端交出的是意图，工厂还回来的是实例。中间那段"按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什么选、选出谁"的逻辑，才是这个模式真正封装的东西。</a:t>
              </a:r>
            </a:p>
          </p:txBody>
        </p:sp>
      </p:grpSp>
      <p:grpSp>
        <p:nvGrpSpPr>
          <p:cNvPr id="28" name="c2-code-1"/>
          <p:cNvGrpSpPr/>
          <p:nvPr/>
        </p:nvGrpSpPr>
        <p:grpSpPr>
          <a:xfrm>
            <a:off x="5815965" y="1928812"/>
            <a:ext cx="5842635" cy="3495675"/>
            <a:chOff x="5815965" y="1928812"/>
            <a:chExt cx="5842635" cy="3495675"/>
          </a:xfrm>
        </p:grpSpPr>
        <p:sp>
          <p:nvSpPr>
            <p:cNvPr id="25" name="Rectangle 25"/>
            <p:cNvSpPr/>
            <p:nvPr/>
          </p:nvSpPr>
          <p:spPr>
            <a:xfrm>
              <a:off x="5815965" y="1928812"/>
              <a:ext cx="5842635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44362" y="2080736"/>
              <a:ext cx="19667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补充写法：用注册表代替 if-else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44362" y="2340769"/>
              <a:ext cx="4048633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Map&lt;String, Supplier&lt;AbstractPay&gt;&gt;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REGISTRY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HashMap&lt;&gt;();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REGISTRY.put(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"cash"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CashPay::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REGISTRY.put(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"creditcard"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CreditCardPay::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getPayMethod(String type)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Supplier&lt;AbstractPay&gt; s = REGISTRY.get(type);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IllegalArgumentException(type);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s.get();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5815965" y="5594032"/>
            <a:ext cx="5842635" cy="729615"/>
            <a:chOff x="5815965" y="5594032"/>
            <a:chExt cx="5842635" cy="729615"/>
          </a:xfrm>
        </p:grpSpPr>
        <p:sp>
          <p:nvSpPr>
            <p:cNvPr id="29" name="Rectangle 29"/>
            <p:cNvSpPr/>
            <p:nvPr/>
          </p:nvSpPr>
          <p:spPr>
            <a:xfrm>
              <a:off x="5815965" y="5594032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020753" y="5858828"/>
              <a:ext cx="200026" cy="200025"/>
              <a:chOff x="6020753" y="5858828"/>
              <a:chExt cx="200026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020753" y="58588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060491" y="59032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095207" y="60144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6323457" y="5739765"/>
              <a:ext cx="480574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注册表写法把分支变成查表，加产品时只多一行 put，但仍然要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改这个类。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 · 扩展、本质与模式对比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三种工厂的差别：谁来做选择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97193" cy="293370"/>
            <a:chOff x="525780" y="1548765"/>
            <a:chExt cx="649719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三个模式解决的是同一类问题，区别在于"选哪个产品"这件事交给了谁。</a:t>
              </a:r>
            </a:p>
          </p:txBody>
        </p:sp>
      </p:grpSp>
      <p:grpSp>
        <p:nvGrpSpPr>
          <p:cNvPr id="58" name="c1-table-1"/>
          <p:cNvGrpSpPr/>
          <p:nvPr/>
        </p:nvGrpSpPr>
        <p:grpSpPr>
          <a:xfrm>
            <a:off x="533400" y="1954530"/>
            <a:ext cx="11125200" cy="3654742"/>
            <a:chOff x="533400" y="1954530"/>
            <a:chExt cx="11125200" cy="365474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78280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31348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934581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83521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抽象工厂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8746" y="251555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工厂的数量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63787" y="251555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一个类，方法是静态的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7972" y="251555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一个抽象工厂加若干具体工厂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1204" y="251555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一个抽象工厂加若干具体工厂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098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14638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8746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谁做选择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63787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工厂内部按参数判断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67972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客户端挑选具体工厂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71204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客户端挑选具体工厂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404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8746" y="337661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选择发生在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63787" y="337661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运行期，看传进来的参数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867972" y="3376612"/>
              <a:ext cx="20234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编译期，看 new 了哪个工厂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871204" y="3376612"/>
              <a:ext cx="20234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编译期，看 new 了哪个工厂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6699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674745"/>
              <a:ext cx="11125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8746" y="391287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加新产品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767965" y="3684270"/>
              <a:ext cx="2985135" cy="62484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863787" y="391287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要改工厂的判断逻辑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72150" y="3684270"/>
              <a:ext cx="2985135" cy="6248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67972" y="391287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加一个具体工厂，老代码不动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871204" y="3806190"/>
              <a:ext cx="2450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加新产品族容易，加新等级要改全部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13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8746" y="44500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产品规模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863787" y="44500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一个产品等级结构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67972" y="44500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一个产品等级结构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71204" y="445008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多个产品等级结构组成的族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444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474916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8746" y="4879658"/>
              <a:ext cx="10016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是否属于 GoF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767965" y="4758690"/>
              <a:ext cx="2985135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863787" y="487965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67972" y="487965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71204" y="487965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517398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8746" y="53101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本课程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863787" y="5310188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10 讲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67972" y="5310188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11 讲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71204" y="5310188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12 讲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400" y="1954530"/>
              <a:ext cx="11125200" cy="365474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2753678" y="1954530"/>
              <a:ext cx="9525" cy="36547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757862" y="1954530"/>
              <a:ext cx="9525" cy="36547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761095" y="1954530"/>
              <a:ext cx="9525" cy="36547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9" name="Rectangle 5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04084"/>
              <a:ext cx="68962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一句话区分：简单工厂靠参数选，工厂方法靠子类选，抽象工厂靠子类选一整族。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自测（一）：概念与结构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简单工厂的别名是什么？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静态工厂方法模式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4703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工厂方法为什么写成 static？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类名直接调用，不必建工厂对象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客户端要知道具体产品类名吗？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不需要，只要知道参数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它包含哪三个角色？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工厂、抽象产品、具体产品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工厂方法返回什么类型？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抽象产品类型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7356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简单工厂属于 GoF 23 个模式吗？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不属于，是工厂方法的简化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题请连类图一起默画，三个角色的位置和线型都要对。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自测（二）：应用与辨析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加一种新产品要改哪里？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工厂的判断逻辑，违反开闭原则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工厂类集中判断有什么风险？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它一出故障整个系统都受影响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工厂方法搬进抽象产品类的代价？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父类要依赖自己的全部子类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怎样加产品才不动客户端代码？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类名写进配置文件，用反射创建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为什么工厂角色无法形成等级结构？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静态方法不能被子类重写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简单工厂与工厂方法的关键差别？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前者按参数选，后者按子类选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67834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4 题是简答题的常见考点，答"静态"两个字不够，要说清楚静态方法不参与多态。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10 简单工厂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5430"/>
            <a:ext cx="5364480" cy="2257425"/>
            <a:chOff x="533400" y="1535430"/>
            <a:chExt cx="5364480" cy="2257425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创建型模式把对象的创建与使用分开，客户端只管用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8023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1922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189357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简单工厂用一个类按参数返回不同子类的实例，别名静态工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厂方法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1079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5530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52412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三个角色：工厂负责创建，抽象产品定接口，具体产品是创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建目标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14134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1836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15468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好处是客户端不必知道具体类名，代价是加产品要改工厂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48615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35284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34994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适用于产品少而稳定、客户端只认参数的场合</a:t>
              </a:r>
            </a:p>
          </p:txBody>
        </p:sp>
      </p:grpSp>
      <p:grpSp>
        <p:nvGrpSpPr>
          <p:cNvPr id="34" name="c2-kv-1"/>
          <p:cNvGrpSpPr/>
          <p:nvPr/>
        </p:nvGrpSpPr>
        <p:grpSpPr>
          <a:xfrm>
            <a:off x="6456998" y="1548765"/>
            <a:ext cx="5201602" cy="2177415"/>
            <a:chOff x="6456998" y="1548765"/>
            <a:chExt cx="5201602" cy="2177415"/>
          </a:xfrm>
        </p:grpSpPr>
        <p:sp>
          <p:nvSpPr>
            <p:cNvPr id="23" name="TextBox 23"/>
            <p:cNvSpPr txBox="1"/>
            <p:nvPr/>
          </p:nvSpPr>
          <p:spPr>
            <a:xfrm>
              <a:off x="6456998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要记的图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99033" y="1548765"/>
              <a:ext cx="38823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 在上，具体产品在下，Factory 虚线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指过去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64618" y="21507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56998" y="2270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要记的话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99033" y="2270760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传入正确的参数就能拿到所需对象，无须知道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创建细节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64618" y="287274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56998" y="29927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要记的坑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99033" y="299275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违反开闭原则；静态方法让工厂无法继承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331279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56998" y="34328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下一讲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99033" y="3432810"/>
              <a:ext cx="39932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工厂方法模式（第 11 讲）把选择权交给子类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464618" y="3857625"/>
            <a:ext cx="5193982" cy="1720215"/>
            <a:chOff x="6464618" y="3857625"/>
            <a:chExt cx="5193982" cy="1720215"/>
          </a:xfrm>
        </p:grpSpPr>
        <p:sp>
          <p:nvSpPr>
            <p:cNvPr id="35" name="Rectangle 35"/>
            <p:cNvSpPr/>
            <p:nvPr/>
          </p:nvSpPr>
          <p:spPr>
            <a:xfrm>
              <a:off x="6464618" y="3857625"/>
              <a:ext cx="5193982" cy="1720215"/>
            </a:xfrm>
            <a:prstGeom prst="roundRect">
              <a:avLst>
                <a:gd name="adj" fmla="val 775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74168" y="406717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56476" y="41028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常见问法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59992" y="410241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考试时这三句话要能默写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74167" y="445008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36017" y="44923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75158" y="44634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简单工厂的三个角色分别负责什么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674167" y="47853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36017" y="48276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75158" y="479869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为什么说它违反开闭原则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674167" y="512064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36017" y="51629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75158" y="513397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它和工厂方法模式的关键差别在哪里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9" name="Rectangle 4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130" y="5991225"/>
              <a:ext cx="83145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复习时按"动机、定义、类图、三个角色、优缺点、适用环境"六个抽屉回忆，缺哪个补哪个。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简单工厂模式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10">
  <a:themeElements>
    <a:clrScheme name="sdp_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10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2026-09-19T07:57:07Z</dcterms:created>
  <dcterms:modified xsi:type="dcterms:W3CDTF">2026-09-19T07:57:07Z</dcterms:modified>
  <cp:category/>
  <cp:contentStatus/>
</cp:coreProperties>
</file>