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sdp_10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sdp_10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5f04b54ee8fc28e4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4b5847b35c94b084.png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b83708530a1cbd20.png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4256608" cy="3437763"/>
            <a:chOff x="666750" y="1619250"/>
            <a:chExt cx="4256608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1898332" cy="3429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04866" y="1718310"/>
              <a:ext cx="16611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软件设计模式 · 第五讲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3430524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简单工厂模式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424670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传一个参数，工厂替你决定 new 哪个类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创建型模式与动机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三个角色与类图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17466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 实现与两个实例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优缺点与模式对比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5685911" cy="205359"/>
            <a:chOff x="680466" y="6192202"/>
            <a:chExt cx="5685911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56859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自学复习版｜据吉林大学《软件设计模式》张欣佳、陈伟两位老师课件合并整理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04489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7287" y="407194"/>
              <a:ext cx="8361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10 简单工厂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0" name="c1-agenda-1"/>
          <p:cNvGrpSpPr/>
          <p:nvPr/>
        </p:nvGrpSpPr>
        <p:grpSpPr>
          <a:xfrm>
            <a:off x="521970" y="1515428"/>
            <a:ext cx="6287453" cy="4461795"/>
            <a:chOff x="521970" y="1515428"/>
            <a:chExt cx="6287453" cy="4461795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创建型模式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39761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把对象的创建和使用分开，六个创建型模式各管什么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动机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336445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客户端满屏 new 具体类，带来哪些具体麻烦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定义与结构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三个角色、类图，工厂方法为什么写成静态的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代码实现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36229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把一段 if-else 支付代码重构成抽象产品加工厂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49770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60248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638675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课件实例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4955381"/>
              <a:ext cx="31158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电视机工厂与 OA 权限管理两个完整例子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73468" y="5269230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1970" y="537495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65086" y="541115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扩展与对比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66990" y="5727859"/>
              <a:ext cx="3803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优缺点、适用环境、与工厂方法和抽象工厂的差别</a:t>
              </a:r>
            </a:p>
          </p:txBody>
        </p:sp>
      </p:grpSp>
      <p:grpSp>
        <p:nvGrpSpPr>
          <p:cNvPr id="45" name="c2-card-1"/>
          <p:cNvGrpSpPr/>
          <p:nvPr/>
        </p:nvGrpSpPr>
        <p:grpSpPr>
          <a:xfrm>
            <a:off x="7114222" y="1524000"/>
            <a:ext cx="4544378" cy="4402455"/>
            <a:chOff x="7114222" y="1524000"/>
            <a:chExt cx="4544378" cy="4402455"/>
          </a:xfrm>
        </p:grpSpPr>
        <p:sp>
          <p:nvSpPr>
            <p:cNvPr id="31" name="Rectangle 31"/>
            <p:cNvSpPr/>
            <p:nvPr/>
          </p:nvSpPr>
          <p:spPr>
            <a:xfrm>
              <a:off x="7114222" y="1524000"/>
              <a:ext cx="4544378" cy="4402455"/>
            </a:xfrm>
            <a:prstGeom prst="roundRect">
              <a:avLst>
                <a:gd name="adj" fmla="val 30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123748" y="1657350"/>
              <a:ext cx="47625" cy="4135755"/>
            </a:xfrm>
            <a:prstGeom prst="roundRect">
              <a:avLst>
                <a:gd name="adj" fmla="val 5000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211074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说出简单工厂的三个角色，并把类图默画出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来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2731770"/>
              <a:ext cx="36398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把一段 if-else 创建代码重构成简单工厂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312991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306705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说清楚简单工厂为什么违反开闭原则，配置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文件又怎样缓解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367588" y="375094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25702" y="368808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指出简单工厂与工厂方法、抽象工厂的关键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差别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367588" y="437197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525702" y="4309110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判断一个场景该不该用简单工厂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简单工厂模式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4882896" cy="2997517"/>
            <a:chOff x="667512" y="1835468"/>
            <a:chExt cx="4882896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88289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创建型模式与本讲动机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48143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先看清"对象从哪来"这件事本身值得单独设计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创建型模式关注什么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六个创建型模式总览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3273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一个满屏 new 的按钮系统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简单工厂模式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311383" cy="909257"/>
            <a:chOff x="520446" y="342900"/>
            <a:chExt cx="631138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10 简单工厂 · 创建型模式与本讲动机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31138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创建型模式：把"怎么造"和"怎么用"分开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6184290" cy="308039"/>
            <a:chOff x="525399" y="1550194"/>
            <a:chExt cx="6184290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618429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客户程序只负责使用对象，不再关心这个对象是怎么被造出来的。</a:t>
              </a:r>
            </a:p>
          </p:txBody>
        </p:sp>
      </p:grpSp>
      <p:grpSp>
        <p:nvGrpSpPr>
          <p:cNvPr id="19" name="c1-card-1"/>
          <p:cNvGrpSpPr/>
          <p:nvPr/>
        </p:nvGrpSpPr>
        <p:grpSpPr>
          <a:xfrm>
            <a:off x="533400" y="1967865"/>
            <a:ext cx="6059805" cy="2005965"/>
            <a:chOff x="533400" y="1967865"/>
            <a:chExt cx="6059805" cy="2005965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6059805" cy="2005965"/>
            </a:xfrm>
            <a:prstGeom prst="roundRect">
              <a:avLst>
                <a:gd name="adj" fmla="val 664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101215"/>
              <a:ext cx="47625" cy="1739265"/>
            </a:xfrm>
            <a:prstGeom prst="roundRect">
              <a:avLst>
                <a:gd name="adj" fmla="val 5000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81050" y="217741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71258" y="221313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82078" y="2212658"/>
              <a:ext cx="33817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创建型模式（Creational Pattern）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73430" y="2573655"/>
              <a:ext cx="5349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创建型模式关注对象的创建，把实例化的过程抽象并封装起来，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使对象的创建与对象的使用相互分离。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6765" y="3257550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4880" y="319468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类创建型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：用继承改变被实例化的类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86765" y="3592830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44880" y="3529965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对象创建型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：把实例化委托给另一个对象</a:t>
              </a:r>
            </a:p>
          </p:txBody>
        </p:sp>
      </p:grpSp>
      <p:grpSp>
        <p:nvGrpSpPr>
          <p:cNvPr id="27" name="c1-bullets-2"/>
          <p:cNvGrpSpPr/>
          <p:nvPr/>
        </p:nvGrpSpPr>
        <p:grpSpPr>
          <a:xfrm>
            <a:off x="525780" y="4189095"/>
            <a:ext cx="4968240" cy="992505"/>
            <a:chOff x="525780" y="4189095"/>
            <a:chExt cx="4968240" cy="992505"/>
          </a:xfrm>
        </p:grpSpPr>
        <p:sp>
          <p:nvSpPr>
            <p:cNvPr id="20" name="TextBox 20"/>
            <p:cNvSpPr txBox="1"/>
            <p:nvPr/>
          </p:nvSpPr>
          <p:spPr>
            <a:xfrm>
              <a:off x="525780" y="418909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两个共同特点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533400" y="4530090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95249" y="457238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34390" y="4543425"/>
              <a:ext cx="46596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客户不知道对象的具体类是什么（除非去看源代码）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533400" y="4874895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95249" y="491718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34390" y="4888230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隐藏了对象实例是如何被创建和组织的</a:t>
              </a:r>
            </a:p>
          </p:txBody>
        </p:sp>
      </p:grpSp>
      <p:grpSp>
        <p:nvGrpSpPr>
          <p:cNvPr id="34" name="c1-callout-3"/>
          <p:cNvGrpSpPr/>
          <p:nvPr/>
        </p:nvGrpSpPr>
        <p:grpSpPr>
          <a:xfrm>
            <a:off x="533400" y="5313045"/>
            <a:ext cx="6059805" cy="782955"/>
            <a:chOff x="533400" y="5313045"/>
            <a:chExt cx="6059805" cy="782955"/>
          </a:xfrm>
        </p:grpSpPr>
        <p:sp>
          <p:nvSpPr>
            <p:cNvPr id="28" name="Rectangle 28"/>
            <p:cNvSpPr/>
            <p:nvPr/>
          </p:nvSpPr>
          <p:spPr>
            <a:xfrm>
              <a:off x="533400" y="5313045"/>
              <a:ext cx="6059805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738188" y="5604510"/>
              <a:ext cx="200026" cy="200025"/>
              <a:chOff x="738188" y="5604510"/>
              <a:chExt cx="200026" cy="200025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738188" y="560451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777926" y="564896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12642" y="576008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1040130" y="5461635"/>
              <a:ext cx="49968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写代码时只要动手敲 new，就该停下来想一想要不要用创建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型模式。</a:t>
              </a:r>
            </a:p>
          </p:txBody>
        </p:sp>
      </p:grpSp>
      <p:grpSp>
        <p:nvGrpSpPr>
          <p:cNvPr id="37" name="c2-image-1"/>
          <p:cNvGrpSpPr/>
          <p:nvPr/>
        </p:nvGrpSpPr>
        <p:grpSpPr>
          <a:xfrm>
            <a:off x="6898005" y="1967865"/>
            <a:ext cx="4760595" cy="2696052"/>
            <a:chOff x="6898005" y="1967865"/>
            <a:chExt cx="4760595" cy="2696052"/>
          </a:xfrm>
        </p:grpSpPr>
        <p:pic>
          <p:nvPicPr>
            <p:cNvPr id="35" name="Image 35"/>
            <p:cNvPicPr>
              <a:picLocks noChangeAspect="1"/>
            </p:cNvPicPr>
            <p:nvPr/>
          </p:nvPicPr>
          <p:blipFill>
            <a:blip r:embed="rId2"/>
            <a:srcRect l="0" t="16654" r="0" b="16653"/>
            <a:stretch>
              <a:fillRect/>
            </a:stretch>
          </p:blipFill>
          <p:spPr>
            <a:xfrm>
              <a:off x="6898005" y="1967865"/>
              <a:ext cx="4760595" cy="2381250"/>
            </a:xfrm>
            <a:prstGeom prst="roundRect">
              <a:avLst>
                <a:gd name="adj" fmla="val 5600"/>
              </a:avLst>
            </a:prstGeom>
          </p:spPr>
        </p:pic>
        <p:sp>
          <p:nvSpPr>
            <p:cNvPr id="36" name="TextBox 36"/>
            <p:cNvSpPr txBox="1"/>
            <p:nvPr/>
          </p:nvSpPr>
          <p:spPr>
            <a:xfrm>
              <a:off x="7010972" y="4443889"/>
              <a:ext cx="45346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想吃苹果有两种办法：自己种一棵树，或者到摊位上说出名字直接拿</a:t>
              </a:r>
            </a:p>
          </p:txBody>
        </p:sp>
      </p:grpSp>
      <p:grpSp>
        <p:nvGrpSpPr>
          <p:cNvPr id="39" name="c2-text-2"/>
          <p:cNvGrpSpPr/>
          <p:nvPr/>
        </p:nvGrpSpPr>
        <p:grpSpPr>
          <a:xfrm>
            <a:off x="6891528" y="4849654"/>
            <a:ext cx="4426458" cy="500824"/>
            <a:chOff x="6891528" y="4849654"/>
            <a:chExt cx="4426458" cy="500824"/>
          </a:xfrm>
        </p:grpSpPr>
        <p:sp>
          <p:nvSpPr>
            <p:cNvPr id="38" name="TextBox 38"/>
            <p:cNvSpPr txBox="1"/>
            <p:nvPr/>
          </p:nvSpPr>
          <p:spPr>
            <a:xfrm>
              <a:off x="6891528" y="4849654"/>
              <a:ext cx="4426458" cy="500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自己种树对应亲手 new，从选种到浇水全程自理；到摊位上买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对应交给工厂，只说出名字，怎么种、谁种的都不用管。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简单工厂模式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10 简单工厂 · 创建型模式与本讲动机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六个创建型模式，本讲讲最简单的那一个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4602328" cy="278702"/>
            <a:chOff x="526161" y="1547336"/>
            <a:chExt cx="4602328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460232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它们都在回答同一个问题：对象该由谁来造、怎么造。</a:t>
              </a:r>
            </a:p>
          </p:txBody>
        </p:sp>
      </p:grpSp>
      <p:grpSp>
        <p:nvGrpSpPr>
          <p:cNvPr id="44" name="c1-table-1"/>
          <p:cNvGrpSpPr/>
          <p:nvPr/>
        </p:nvGrpSpPr>
        <p:grpSpPr>
          <a:xfrm>
            <a:off x="533400" y="1941195"/>
            <a:ext cx="11125200" cy="2840355"/>
            <a:chOff x="533400" y="1941195"/>
            <a:chExt cx="11125200" cy="2840355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11125200" cy="40576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600873" y="20654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模式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713349" y="206549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一句话概括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202761" y="206549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本课程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42925" y="2356485"/>
              <a:ext cx="2428875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33412" y="2471261"/>
              <a:ext cx="18042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简单工厂 Simple Factory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081338" y="2471261"/>
              <a:ext cx="30947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传一个参数给静态方法，由它决定 new 哪个类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9220200" y="2356485"/>
              <a:ext cx="2428875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310688" y="2471261"/>
              <a:ext cx="5692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10 讲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74796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2752725"/>
              <a:ext cx="11125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3412" y="2877026"/>
              <a:ext cx="18840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工厂方法 Factory Method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081338" y="2877026"/>
              <a:ext cx="21901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new 推迟到工厂的子类里去做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310688" y="2877026"/>
              <a:ext cx="5692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11 讲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15372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3412" y="3282791"/>
              <a:ext cx="20261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抽象工厂 Abstract Factory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081338" y="3282791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一个工厂负责造出一整族配套产品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310688" y="3282791"/>
              <a:ext cx="5692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12 讲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55949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3564255"/>
              <a:ext cx="11125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3412" y="3688556"/>
              <a:ext cx="10462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建造者 Builder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081338" y="3688556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分步骤装配一个复杂对象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310688" y="3688556"/>
              <a:ext cx="5692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13 讲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396525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33412" y="4094321"/>
              <a:ext cx="11493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原型 Prototype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081338" y="4094321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复制一个已有对象来得到新对象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310688" y="4094321"/>
              <a:ext cx="5692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14 讲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33400" y="437102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533400" y="4375785"/>
              <a:ext cx="11125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33412" y="4500086"/>
              <a:ext cx="10696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单例 Singleton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081338" y="4500086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保证一个类在系统里只有一个实例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310688" y="4500086"/>
              <a:ext cx="5692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15 讲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1941195"/>
              <a:ext cx="11125200" cy="28403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2976562" y="1941195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9205912" y="1941195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3" name="c1-card-2"/>
          <p:cNvGrpSpPr/>
          <p:nvPr/>
        </p:nvGrpSpPr>
        <p:grpSpPr>
          <a:xfrm>
            <a:off x="533400" y="4956810"/>
            <a:ext cx="11125200" cy="1405890"/>
            <a:chOff x="533400" y="4956810"/>
            <a:chExt cx="11125200" cy="1405890"/>
          </a:xfrm>
        </p:grpSpPr>
        <p:sp>
          <p:nvSpPr>
            <p:cNvPr id="45" name="Rectangle 45"/>
            <p:cNvSpPr/>
            <p:nvPr/>
          </p:nvSpPr>
          <p:spPr>
            <a:xfrm>
              <a:off x="533400" y="4956810"/>
              <a:ext cx="11125200" cy="1405890"/>
            </a:xfrm>
            <a:prstGeom prst="roundRect">
              <a:avLst>
                <a:gd name="adj" fmla="val 948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542925" y="5090160"/>
              <a:ext cx="47625" cy="113919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763905" y="514921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55345" y="518350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347597" y="5189220"/>
              <a:ext cx="29645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简单工厂不在 GoF 的 23 个模式之列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57047" y="5523548"/>
              <a:ext cx="102861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GoF 的《设计模式》没有收录简单工厂，它通常被看成工厂方法的一种简化写法。考试答"23 个模式有哪些"时不要把它算进去。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772478" y="5881688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28497" y="5825490"/>
              <a:ext cx="55539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张欣佳老师课件按 GoF 的类/对象二分口径，把它归为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类创建型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模式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简单工厂模式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950080" cy="909257"/>
            <a:chOff x="520446" y="342900"/>
            <a:chExt cx="59500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10 简单工厂 · 创建型模式与本讲动机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9500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动机：换一种按钮，要在几十处改 new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8311286" cy="308039"/>
            <a:chOff x="525399" y="1550194"/>
            <a:chExt cx="8311286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831128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一个界面系统要提供圆形、矩形、菱形三种按钮，它们继承同一个基类，只是外观不同。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67865"/>
            <a:ext cx="5626418" cy="2733675"/>
            <a:chOff x="533400" y="1967865"/>
            <a:chExt cx="5626418" cy="2733675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5626418" cy="2733675"/>
            </a:xfrm>
            <a:prstGeom prst="roundRect">
              <a:avLst>
                <a:gd name="adj" fmla="val 348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119789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客户端现在的写法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035" y="2381726"/>
              <a:ext cx="2984246" cy="22488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showButton(String shape)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Button b;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"circle"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.equals(shape))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b =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CircleButton();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"rect"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.equals(shape))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b =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RectButton();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b =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DiamondButton();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b.display();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0" name="c2-bullets-1"/>
          <p:cNvGrpSpPr/>
          <p:nvPr/>
        </p:nvGrpSpPr>
        <p:grpSpPr>
          <a:xfrm>
            <a:off x="6456998" y="1992630"/>
            <a:ext cx="4907280" cy="1337310"/>
            <a:chOff x="6456998" y="1992630"/>
            <a:chExt cx="4907280" cy="1337310"/>
          </a:xfrm>
        </p:grpSpPr>
        <p:sp>
          <p:nvSpPr>
            <p:cNvPr id="13" name="TextBox 13"/>
            <p:cNvSpPr txBox="1"/>
            <p:nvPr/>
          </p:nvSpPr>
          <p:spPr>
            <a:xfrm>
              <a:off x="6456998" y="1992630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这样写的三处麻烦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6464618" y="2383155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114300" y="114300"/>
                  </a:lnTo>
                  <a:moveTo>
                    <a:pt x="114300" y="0"/>
                  </a:moveTo>
                  <a:lnTo>
                    <a:pt x="0" y="114300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704648" y="2346960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客户端必须记住每一个具体按钮类的类名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6464618" y="272796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114300" y="114300"/>
                  </a:lnTo>
                  <a:moveTo>
                    <a:pt x="114300" y="0"/>
                  </a:moveTo>
                  <a:lnTo>
                    <a:pt x="0" y="114300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704648" y="2691765"/>
              <a:ext cx="40437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同一段 if-else 会在几十个界面类里重复出现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6464618" y="3072765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114300" y="114300"/>
                  </a:lnTo>
                  <a:moveTo>
                    <a:pt x="114300" y="0"/>
                  </a:moveTo>
                  <a:lnTo>
                    <a:pt x="0" y="114300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704648" y="3036570"/>
              <a:ext cx="46596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新增一种按钮，要把所有重复的地方都找出来改一遍</a:t>
              </a:r>
            </a:p>
          </p:txBody>
        </p:sp>
      </p:grpSp>
      <p:grpSp>
        <p:nvGrpSpPr>
          <p:cNvPr id="26" name="c2-card-2"/>
          <p:cNvGrpSpPr/>
          <p:nvPr/>
        </p:nvGrpSpPr>
        <p:grpSpPr>
          <a:xfrm>
            <a:off x="6464618" y="3461385"/>
            <a:ext cx="5193982" cy="1621155"/>
            <a:chOff x="6464618" y="3461385"/>
            <a:chExt cx="5193982" cy="1621155"/>
          </a:xfrm>
        </p:grpSpPr>
        <p:sp>
          <p:nvSpPr>
            <p:cNvPr id="21" name="Rectangle 21"/>
            <p:cNvSpPr/>
            <p:nvPr/>
          </p:nvSpPr>
          <p:spPr>
            <a:xfrm>
              <a:off x="6464618" y="3461385"/>
              <a:ext cx="5193982" cy="1621155"/>
            </a:xfrm>
            <a:prstGeom prst="roundRect">
              <a:avLst>
                <a:gd name="adj" fmla="val 8226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674168" y="36709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765328" y="37066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期望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275195" y="3706178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客户端只说出参数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666548" y="4067175"/>
              <a:ext cx="4587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希望写成 Button b =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ButtonFactory.create("circle")，客户端只记住表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示按钮类型的那个参数，具体 new 谁交给别人负责。</a:t>
              </a:r>
            </a:p>
          </p:txBody>
        </p:sp>
      </p:grpSp>
      <p:grpSp>
        <p:nvGrpSpPr>
          <p:cNvPr id="32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27" name="Rectangle 27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1040130" y="5991225"/>
              <a:ext cx="84054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判断信号：同一段"根据类型 new 不同子类"的代码在多处重复时，就该把它收进一个工厂里。</a:t>
              </a:r>
            </a:p>
          </p:txBody>
        </p:sp>
      </p:grpSp>
      <p:grpSp>
        <p:nvGrpSpPr>
          <p:cNvPr id="3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3" name="TextBox 33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简单工厂模式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3913632" cy="3351847"/>
            <a:chOff x="667512" y="1835468"/>
            <a:chExt cx="3913632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91363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定义、结构与角色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7928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三个角色各管一件事，类图一画就清楚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模式定义与别名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结构类图怎么读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三个角色的职责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一次调用走了哪几步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简单工厂模式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10 简单工厂 · 定义、结构与角色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定义：一个类专门负责创建其他类的实例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9" name="c1-card-1"/>
          <p:cNvGrpSpPr/>
          <p:nvPr/>
        </p:nvGrpSpPr>
        <p:grpSpPr>
          <a:xfrm>
            <a:off x="533400" y="1524000"/>
            <a:ext cx="5842635" cy="2015490"/>
            <a:chOff x="533400" y="1524000"/>
            <a:chExt cx="5842635" cy="201549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2015490"/>
            </a:xfrm>
            <a:prstGeom prst="roundRect">
              <a:avLst>
                <a:gd name="adj" fmla="val 66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748790"/>
            </a:xfrm>
            <a:prstGeom prst="roundRect">
              <a:avLst>
                <a:gd name="adj" fmla="val 5000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5147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18450" y="1744504"/>
              <a:ext cx="34533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简单工厂模式（Simple Factory Pattern）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5998" y="2061686"/>
              <a:ext cx="52148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专门定义一个类来负责创建其他类的实例，根据传入参数的不同返回不同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类的实例，被创建的实例通常都具有共同的父类。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62000" y="2641282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17448" y="2589371"/>
              <a:ext cx="404480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又称 </a:t>
              </a: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静态工厂方法模式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（Static Factory Method）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62000" y="2927032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17448" y="2874169"/>
              <a:ext cx="36918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工厂方法通常声明成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static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，通过类名直接调用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62000" y="3211830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17448" y="3158966"/>
              <a:ext cx="420017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返回类型写成 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抽象产品类型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，客户端拿到的是父类引用</a:t>
              </a:r>
            </a:p>
          </p:txBody>
        </p:sp>
      </p:grpSp>
      <p:grpSp>
        <p:nvGrpSpPr>
          <p:cNvPr id="27" name="c1-bullets-2"/>
          <p:cNvGrpSpPr/>
          <p:nvPr/>
        </p:nvGrpSpPr>
        <p:grpSpPr>
          <a:xfrm>
            <a:off x="526923" y="3724751"/>
            <a:ext cx="2834831" cy="1137094"/>
            <a:chOff x="526923" y="3724751"/>
            <a:chExt cx="2834831" cy="1137094"/>
          </a:xfrm>
        </p:grpSpPr>
        <p:sp>
          <p:nvSpPr>
            <p:cNvPr id="20" name="TextBox 20"/>
            <p:cNvSpPr txBox="1"/>
            <p:nvPr/>
          </p:nvSpPr>
          <p:spPr>
            <a:xfrm>
              <a:off x="526923" y="3724751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定义里藏着三个动作</a:t>
              </a:r>
            </a:p>
          </p:txBody>
        </p:sp>
        <p:sp>
          <p:nvSpPr>
            <p:cNvPr id="21" name="Freeform 21"/>
            <p:cNvSpPr/>
            <p:nvPr/>
          </p:nvSpPr>
          <p:spPr>
            <a:xfrm>
              <a:off x="533400" y="4052888"/>
              <a:ext cx="122873" cy="99060"/>
            </a:xfrm>
            <a:custGeom>
              <a:avLst/>
              <a:gdLst/>
              <a:ahLst/>
              <a:cxnLst/>
              <a:rect l="l" t="t" r="r" b="b"/>
              <a:pathLst>
                <a:path w="122873" h="99060">
                  <a:moveTo>
                    <a:pt x="0" y="52388"/>
                  </a:moveTo>
                  <a:lnTo>
                    <a:pt x="46672" y="99060"/>
                  </a:lnTo>
                  <a:lnTo>
                    <a:pt x="122873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4096" y="4026694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集中：由一个类统一负责创建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533400" y="4346258"/>
              <a:ext cx="122873" cy="99060"/>
            </a:xfrm>
            <a:custGeom>
              <a:avLst/>
              <a:gdLst/>
              <a:ahLst/>
              <a:cxnLst/>
              <a:rect l="l" t="t" r="r" b="b"/>
              <a:pathLst>
                <a:path w="122873" h="99060">
                  <a:moveTo>
                    <a:pt x="0" y="52388"/>
                  </a:moveTo>
                  <a:lnTo>
                    <a:pt x="46672" y="99060"/>
                  </a:lnTo>
                  <a:lnTo>
                    <a:pt x="122873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4096" y="4319111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判断：按参数决定创建哪一个子类</a:t>
              </a:r>
            </a:p>
          </p:txBody>
        </p:sp>
        <p:sp>
          <p:nvSpPr>
            <p:cNvPr id="25" name="Freeform 25"/>
            <p:cNvSpPr/>
            <p:nvPr/>
          </p:nvSpPr>
          <p:spPr>
            <a:xfrm>
              <a:off x="533400" y="4639628"/>
              <a:ext cx="122873" cy="99060"/>
            </a:xfrm>
            <a:custGeom>
              <a:avLst/>
              <a:gdLst/>
              <a:ahLst/>
              <a:cxnLst/>
              <a:rect l="l" t="t" r="r" b="b"/>
              <a:pathLst>
                <a:path w="122873" h="99060">
                  <a:moveTo>
                    <a:pt x="0" y="52388"/>
                  </a:moveTo>
                  <a:lnTo>
                    <a:pt x="46672" y="99060"/>
                  </a:lnTo>
                  <a:lnTo>
                    <a:pt x="122873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4096" y="4612481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上溯：以共同父类型把对象交出去</a:t>
              </a:r>
            </a:p>
          </p:txBody>
        </p:sp>
      </p:grpSp>
      <p:grpSp>
        <p:nvGrpSpPr>
          <p:cNvPr id="33" name="c1-callout-3"/>
          <p:cNvGrpSpPr/>
          <p:nvPr/>
        </p:nvGrpSpPr>
        <p:grpSpPr>
          <a:xfrm>
            <a:off x="533400" y="4976812"/>
            <a:ext cx="5842635" cy="702945"/>
            <a:chOff x="533400" y="4976812"/>
            <a:chExt cx="5842635" cy="702945"/>
          </a:xfrm>
        </p:grpSpPr>
        <p:sp>
          <p:nvSpPr>
            <p:cNvPr id="28" name="Rectangle 28"/>
            <p:cNvSpPr/>
            <p:nvPr/>
          </p:nvSpPr>
          <p:spPr>
            <a:xfrm>
              <a:off x="533400" y="4976812"/>
              <a:ext cx="5842635" cy="702945"/>
            </a:xfrm>
            <a:prstGeom prst="roundRect">
              <a:avLst>
                <a:gd name="adj" fmla="val 16260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738188" y="5227322"/>
              <a:ext cx="200023" cy="200023"/>
              <a:chOff x="738188" y="5227322"/>
              <a:chExt cx="200023" cy="200023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738188" y="522732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71538" y="529399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1041273" y="5121116"/>
              <a:ext cx="488975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要点只有一句：传入一个正确的参数，就能拿到需要的对象，而不必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知道它是怎么创建的。</a:t>
              </a:r>
            </a:p>
          </p:txBody>
        </p:sp>
      </p:grpSp>
      <p:grpSp>
        <p:nvGrpSpPr>
          <p:cNvPr id="48" name="c2-kv-1"/>
          <p:cNvGrpSpPr/>
          <p:nvPr/>
        </p:nvGrpSpPr>
        <p:grpSpPr>
          <a:xfrm>
            <a:off x="6674358" y="1545431"/>
            <a:ext cx="4984242" cy="1744789"/>
            <a:chOff x="6674358" y="1545431"/>
            <a:chExt cx="4984242" cy="1744789"/>
          </a:xfrm>
        </p:grpSpPr>
        <p:sp>
          <p:nvSpPr>
            <p:cNvPr id="34" name="TextBox 34"/>
            <p:cNvSpPr txBox="1"/>
            <p:nvPr/>
          </p:nvSpPr>
          <p:spPr>
            <a:xfrm>
              <a:off x="6674358" y="15454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别名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600188" y="1545431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静态工厂方法模式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680835" y="181737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674358" y="191881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参数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00188" y="1918811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表示产品类型的简单值，如字符串或整数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680835" y="219075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674358" y="229314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返回值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00188" y="2293144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抽象产品类型，具体是哪个子类由工厂决定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680835" y="256508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674358" y="266747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调用方式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600188" y="2667476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类名直接调用，不需要先创建工厂对象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680835" y="293941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674358" y="304085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典型信号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600188" y="3040856"/>
              <a:ext cx="30198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代码里反复出现按类型 new 子类的分支</a:t>
              </a:r>
            </a:p>
          </p:txBody>
        </p:sp>
      </p:grpSp>
      <p:grpSp>
        <p:nvGrpSpPr>
          <p:cNvPr id="55" name="c2-card-2"/>
          <p:cNvGrpSpPr/>
          <p:nvPr/>
        </p:nvGrpSpPr>
        <p:grpSpPr>
          <a:xfrm>
            <a:off x="6680835" y="3405188"/>
            <a:ext cx="4977765" cy="2273618"/>
            <a:chOff x="6680835" y="3405188"/>
            <a:chExt cx="4977765" cy="2273618"/>
          </a:xfrm>
        </p:grpSpPr>
        <p:sp>
          <p:nvSpPr>
            <p:cNvPr id="49" name="Rectangle 49"/>
            <p:cNvSpPr/>
            <p:nvPr/>
          </p:nvSpPr>
          <p:spPr>
            <a:xfrm>
              <a:off x="6680835" y="3405188"/>
              <a:ext cx="4977765" cy="2273618"/>
            </a:xfrm>
            <a:prstGeom prst="roundRect">
              <a:avLst>
                <a:gd name="adj" fmla="val 586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6690360" y="3538538"/>
              <a:ext cx="47625" cy="200691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899910" y="358616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992582" y="361902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466838" y="3625691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归类口径要说清楚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893433" y="3942874"/>
              <a:ext cx="428015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9 页和小结都写"它属于类创建型模式"。这是沿用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GoF 的二分口径，但简单工厂本身并不在 GoF 的 23 个模式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里，答题时两句话要分开说。</a:t>
              </a:r>
            </a:p>
          </p:txBody>
        </p:sp>
      </p:grpSp>
      <p:grpSp>
        <p:nvGrpSpPr>
          <p:cNvPr id="62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56" name="Rectangle 56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726129" y="6024681"/>
              <a:ext cx="224134" cy="192560"/>
              <a:chOff x="726129" y="6024681"/>
              <a:chExt cx="224134" cy="192560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838200" y="609504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726129" y="602468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838200" y="617283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1041273" y="6039326"/>
              <a:ext cx="78876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静态工厂方法是简单工厂的别名，工厂方法模式是第 11 讲的另一个模式，两个名字很像，不要混着用。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简单工厂模式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145280" cy="909257"/>
            <a:chOff x="520446" y="342900"/>
            <a:chExt cx="41452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10 简单工厂 · 定义、结构与角色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1452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结构：三个角色，两类关系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bullets-1"/>
          <p:cNvGrpSpPr/>
          <p:nvPr/>
        </p:nvGrpSpPr>
        <p:grpSpPr>
          <a:xfrm>
            <a:off x="525780" y="1548765"/>
            <a:ext cx="4272915" cy="2194560"/>
            <a:chOff x="525780" y="1548765"/>
            <a:chExt cx="4272915" cy="219456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这张图该怎么读</a:t>
              </a:r>
            </a:p>
          </p:txBody>
        </p:sp>
        <p:sp>
          <p:nvSpPr>
            <p:cNvPr id="8" name="Ellipse 8"/>
            <p:cNvSpPr/>
            <p:nvPr/>
          </p:nvSpPr>
          <p:spPr>
            <a:xfrm>
              <a:off x="539115" y="1965960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97230" y="1903095"/>
              <a:ext cx="4015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空心三角从子类指向父类，两个具体产品都继承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Product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9115" y="259651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97230" y="2533650"/>
              <a:ext cx="41014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虚线箭头表示依赖，工厂在方法体里 new 出具体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产品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9115" y="3227070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97230" y="3164205"/>
              <a:ext cx="38538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工厂方法的返回类型是 Product，客户端只和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Product 打交道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3874770"/>
            <a:ext cx="4544378" cy="2468880"/>
            <a:chOff x="533400" y="3874770"/>
            <a:chExt cx="4544378" cy="2468880"/>
          </a:xfrm>
        </p:grpSpPr>
        <p:sp>
          <p:nvSpPr>
            <p:cNvPr id="15" name="Rectangle 15"/>
            <p:cNvSpPr/>
            <p:nvPr/>
          </p:nvSpPr>
          <p:spPr>
            <a:xfrm>
              <a:off x="533400" y="3874770"/>
              <a:ext cx="4544378" cy="2468880"/>
            </a:xfrm>
            <a:prstGeom prst="roundRect">
              <a:avLst>
                <a:gd name="adj" fmla="val 5401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42950" y="408432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33158" y="412003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记法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43978" y="4119562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上父下子，工厂在旁边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35330" y="4480560"/>
              <a:ext cx="3825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抽象产品画在上面，具体产品画在下面，空心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三角一律朝上；工厂站在同一行的旁边，虚线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指向它负责创建的那几个具体产品。</a:t>
              </a:r>
            </a:p>
          </p:txBody>
        </p:sp>
      </p:grpSp>
      <p:grpSp>
        <p:nvGrpSpPr>
          <p:cNvPr id="57" name="c2-uml-1"/>
          <p:cNvGrpSpPr/>
          <p:nvPr/>
        </p:nvGrpSpPr>
        <p:grpSpPr>
          <a:xfrm>
            <a:off x="5758815" y="1848802"/>
            <a:ext cx="5523548" cy="1825942"/>
            <a:chOff x="5758815" y="1848802"/>
            <a:chExt cx="5523548" cy="1825942"/>
          </a:xfrm>
        </p:grpSpPr>
        <p:sp>
          <p:nvSpPr>
            <p:cNvPr id="21" name="Freeform 21"/>
            <p:cNvSpPr/>
            <p:nvPr/>
          </p:nvSpPr>
          <p:spPr>
            <a:xfrm>
              <a:off x="6428422" y="2563178"/>
              <a:ext cx="1997393" cy="523875"/>
            </a:xfrm>
            <a:custGeom>
              <a:avLst/>
              <a:gdLst/>
              <a:ahLst/>
              <a:cxnLst/>
              <a:rect l="l" t="t" r="r" b="b"/>
              <a:pathLst>
                <a:path w="1997393" h="523875">
                  <a:moveTo>
                    <a:pt x="0" y="523875"/>
                  </a:moveTo>
                  <a:lnTo>
                    <a:pt x="0" y="199072"/>
                  </a:lnTo>
                  <a:lnTo>
                    <a:pt x="1997393" y="199072"/>
                  </a:lnTo>
                  <a:lnTo>
                    <a:pt x="1997393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8352472" y="2437448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8616315" y="2563178"/>
              <a:ext cx="1996440" cy="523875"/>
            </a:xfrm>
            <a:custGeom>
              <a:avLst/>
              <a:gdLst/>
              <a:ahLst/>
              <a:cxnLst/>
              <a:rect l="l" t="t" r="r" b="b"/>
              <a:pathLst>
                <a:path w="1996440" h="523875">
                  <a:moveTo>
                    <a:pt x="1996440" y="523875"/>
                  </a:moveTo>
                  <a:lnTo>
                    <a:pt x="1996440" y="199072"/>
                  </a:lnTo>
                  <a:lnTo>
                    <a:pt x="0" y="199072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8542972" y="2437448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7098982" y="3381375"/>
              <a:ext cx="640080" cy="9525"/>
            </a:xfrm>
            <a:custGeom>
              <a:avLst/>
              <a:gdLst/>
              <a:ahLst/>
              <a:cxnLst/>
              <a:rect l="l" t="t" r="r" b="b"/>
              <a:pathLst>
                <a:path w="640080" h="9525">
                  <a:moveTo>
                    <a:pt x="640080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26" name="Freeform 26"/>
            <p:cNvSpPr/>
            <p:nvPr/>
          </p:nvSpPr>
          <p:spPr>
            <a:xfrm>
              <a:off x="7098982" y="3323272"/>
              <a:ext cx="104775" cy="116205"/>
            </a:xfrm>
            <a:custGeom>
              <a:avLst/>
              <a:gdLst/>
              <a:ahLst/>
              <a:cxnLst/>
              <a:rect l="l" t="t" r="r" b="b"/>
              <a:pathLst>
                <a:path w="104775" h="116205">
                  <a:moveTo>
                    <a:pt x="104775" y="0"/>
                  </a:moveTo>
                  <a:lnTo>
                    <a:pt x="0" y="58103"/>
                  </a:lnTo>
                  <a:lnTo>
                    <a:pt x="104775" y="116205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9303068" y="3381375"/>
              <a:ext cx="639127" cy="9525"/>
            </a:xfrm>
            <a:custGeom>
              <a:avLst/>
              <a:gdLst/>
              <a:ahLst/>
              <a:cxnLst/>
              <a:rect l="l" t="t" r="r" b="b"/>
              <a:pathLst>
                <a:path w="639127" h="9525">
                  <a:moveTo>
                    <a:pt x="0" y="0"/>
                  </a:moveTo>
                  <a:lnTo>
                    <a:pt x="639127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28" name="Freeform 28"/>
            <p:cNvSpPr/>
            <p:nvPr/>
          </p:nvSpPr>
          <p:spPr>
            <a:xfrm>
              <a:off x="9837420" y="3323272"/>
              <a:ext cx="104775" cy="116205"/>
            </a:xfrm>
            <a:custGeom>
              <a:avLst/>
              <a:gdLst/>
              <a:ahLst/>
              <a:cxnLst/>
              <a:rect l="l" t="t" r="r" b="b"/>
              <a:pathLst>
                <a:path w="104775" h="116205">
                  <a:moveTo>
                    <a:pt x="0" y="116205"/>
                  </a:moveTo>
                  <a:lnTo>
                    <a:pt x="104775" y="58103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7949565" y="1848802"/>
              <a:ext cx="1143000" cy="58769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7956232" y="1856422"/>
              <a:ext cx="1128712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949565" y="207930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7949565" y="217455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758815" y="3087052"/>
              <a:ext cx="1340168" cy="58769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5765482" y="3094672"/>
              <a:ext cx="1325880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758815" y="3317558"/>
              <a:ext cx="134016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758815" y="3412808"/>
              <a:ext cx="134016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7739062" y="3087052"/>
              <a:ext cx="1564005" cy="58769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7745730" y="3094672"/>
              <a:ext cx="1549718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7739062" y="3317558"/>
              <a:ext cx="156400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7739062" y="3412808"/>
              <a:ext cx="156400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9942195" y="3087052"/>
              <a:ext cx="1340168" cy="58769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9949815" y="3094672"/>
              <a:ext cx="1325880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9942195" y="3317558"/>
              <a:ext cx="134016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9942195" y="3412808"/>
              <a:ext cx="134016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247297" y="1904524"/>
              <a:ext cx="54753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i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Product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021002" y="2244090"/>
              <a:ext cx="81522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operation()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807495" y="3142774"/>
              <a:ext cx="124185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ConcreteProductA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830252" y="3482340"/>
              <a:ext cx="81522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operation()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247297" y="3142774"/>
              <a:ext cx="54753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Factory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810500" y="3482340"/>
              <a:ext cx="151474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factoryMethod(String)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991828" y="3142774"/>
              <a:ext cx="124185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ConcreteProductB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013632" y="3482340"/>
              <a:ext cx="81522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operation()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7238048" y="3165158"/>
              <a:ext cx="3619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272338" y="319182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创建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9441180" y="3165158"/>
              <a:ext cx="3619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9475470" y="319182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创建</a:t>
              </a:r>
            </a:p>
          </p:txBody>
        </p:sp>
      </p:grpSp>
      <p:grpSp>
        <p:nvGrpSpPr>
          <p:cNvPr id="65" name="c2-card-2"/>
          <p:cNvGrpSpPr/>
          <p:nvPr/>
        </p:nvGrpSpPr>
        <p:grpSpPr>
          <a:xfrm>
            <a:off x="5382578" y="4191000"/>
            <a:ext cx="6276022" cy="2152650"/>
            <a:chOff x="5382578" y="4191000"/>
            <a:chExt cx="6276022" cy="2152650"/>
          </a:xfrm>
        </p:grpSpPr>
        <p:sp>
          <p:nvSpPr>
            <p:cNvPr id="58" name="Rectangle 58"/>
            <p:cNvSpPr/>
            <p:nvPr/>
          </p:nvSpPr>
          <p:spPr>
            <a:xfrm>
              <a:off x="5382578" y="4191000"/>
              <a:ext cx="6276022" cy="2152650"/>
            </a:xfrm>
            <a:prstGeom prst="roundRect">
              <a:avLst>
                <a:gd name="adj" fmla="val 619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5392102" y="4324350"/>
              <a:ext cx="47625" cy="188595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5630228" y="4400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5721388" y="4436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231255" y="4435792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原图的线型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5622608" y="4796790"/>
              <a:ext cx="55968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17、20 页的实例图里，工厂到产品之间画的是实线箭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头。工厂只是在方法里创建并返回产品，二者是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依赖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，规范画法用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虚线箭头。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5623751" y="5700236"/>
              <a:ext cx="555625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factoryMethod 的完整签名是 factoryMethod(String arg): Product，图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里为省宽度略去了返回类型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简单工厂模式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10 简单工厂 · 定义、结构与角色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三个角色的职责与一次调用的全过程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table-1"/>
          <p:cNvGrpSpPr/>
          <p:nvPr/>
        </p:nvGrpSpPr>
        <p:grpSpPr>
          <a:xfrm>
            <a:off x="533400" y="1524000"/>
            <a:ext cx="5842635" cy="2750820"/>
            <a:chOff x="533400" y="1524000"/>
            <a:chExt cx="5842635" cy="275082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487680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07732" y="1663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角色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385060" y="166306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英文名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822508" y="1663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职责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0080" y="228409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工厂角色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808797" y="2284095"/>
              <a:ext cx="7989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Factory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795712" y="2150745"/>
              <a:ext cx="2301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实现创建所有实例的内部逻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辑，对外提供工厂方法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76129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766060"/>
              <a:ext cx="5842635" cy="7543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0080" y="30384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抽象产品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808797" y="3038475"/>
              <a:ext cx="7989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Product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795712" y="2905125"/>
              <a:ext cx="2301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所创建的全部对象的父类，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描述它们共有的公共接口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51567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0080" y="379285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具体产品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808797" y="3792855"/>
              <a:ext cx="16937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ConcreteProduct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795712" y="3659505"/>
              <a:ext cx="2301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创建目标，每一个都是抽象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产品的一个子类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1524000"/>
              <a:ext cx="5842635" cy="275082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1697355" y="1524000"/>
              <a:ext cx="9525" cy="27508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3684270" y="1524000"/>
              <a:ext cx="9525" cy="27508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3" name="c1-callout-2"/>
          <p:cNvGrpSpPr/>
          <p:nvPr/>
        </p:nvGrpSpPr>
        <p:grpSpPr>
          <a:xfrm>
            <a:off x="533400" y="4465320"/>
            <a:ext cx="5842635" cy="782955"/>
            <a:chOff x="533400" y="4465320"/>
            <a:chExt cx="5842635" cy="782955"/>
          </a:xfrm>
        </p:grpSpPr>
        <p:sp>
          <p:nvSpPr>
            <p:cNvPr id="27" name="Rectangle 27"/>
            <p:cNvSpPr/>
            <p:nvPr/>
          </p:nvSpPr>
          <p:spPr>
            <a:xfrm>
              <a:off x="533400" y="4465320"/>
              <a:ext cx="5842635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738188" y="4756785"/>
              <a:ext cx="200026" cy="200025"/>
              <a:chOff x="738188" y="4756785"/>
              <a:chExt cx="200026" cy="200025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738188" y="475678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777926" y="480123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12642" y="491236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1040130" y="4613910"/>
              <a:ext cx="4777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抽象产品可以是抽象类，也可以是接口；用接口时具体产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品写 implements。</a:t>
              </a:r>
            </a:p>
          </p:txBody>
        </p:sp>
      </p:grpSp>
      <p:grpSp>
        <p:nvGrpSpPr>
          <p:cNvPr id="51" name="c2-steps-1"/>
          <p:cNvGrpSpPr/>
          <p:nvPr/>
        </p:nvGrpSpPr>
        <p:grpSpPr>
          <a:xfrm>
            <a:off x="6680835" y="1533525"/>
            <a:ext cx="4127904" cy="2529173"/>
            <a:chOff x="6680835" y="1533525"/>
            <a:chExt cx="4127904" cy="2529173"/>
          </a:xfrm>
        </p:grpSpPr>
        <p:sp>
          <p:nvSpPr>
            <p:cNvPr id="34" name="Rectangle 34"/>
            <p:cNvSpPr/>
            <p:nvPr/>
          </p:nvSpPr>
          <p:spPr>
            <a:xfrm>
              <a:off x="6814185" y="1676400"/>
              <a:ext cx="19050" cy="19526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6680835" y="1533525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77445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6680835" y="2184082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774459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6680835" y="2834640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774459" y="29084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6680835" y="3486150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774459" y="35599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092315" y="156781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客户端交出参数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093458" y="1861661"/>
              <a:ext cx="29284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调用 Factory.factoryMethod("A")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092315" y="2218372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工厂判断参数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093458" y="2512219"/>
              <a:ext cx="36309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if-else 或 switch 选中 ConcreteProductA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092315" y="286893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工厂创建实例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093458" y="3162776"/>
              <a:ext cx="305187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new 出具体产品，按 Product 类型返回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092315" y="352044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客户端使用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093458" y="3813334"/>
              <a:ext cx="37152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拿到的是 Product 引用，代码里不出现具体类名</a:t>
              </a:r>
            </a:p>
          </p:txBody>
        </p:sp>
      </p:grpSp>
      <p:grpSp>
        <p:nvGrpSpPr>
          <p:cNvPr id="57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52" name="Rectangle 52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1040130" y="5991225"/>
              <a:ext cx="100309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工厂方法里 new 的是具体产品，声明的返回类型必须是抽象产品；两者写反，这个模式就退化成了普通的 new。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简单工厂模式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20" name="section-title"/>
          <p:cNvGrpSpPr/>
          <p:nvPr/>
        </p:nvGrpSpPr>
        <p:grpSpPr>
          <a:xfrm>
            <a:off x="667512" y="1835468"/>
            <a:ext cx="4013778" cy="3706177"/>
            <a:chOff x="667512" y="1835468"/>
            <a:chExt cx="4013778" cy="370617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265265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代码实现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00387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从一个塞满 if-else 的支付方法开始重构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重构前的问题代码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抽象产品与具体产品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工厂类与客户端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用配置文件替换参数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23900" y="530542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06780" y="524827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工厂方法的三种写法</a:t>
              </a:r>
            </a:p>
          </p:txBody>
        </p:sp>
      </p:grpSp>
      <p:grpSp>
        <p:nvGrpSpPr>
          <p:cNvPr id="2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1" name="TextBox 21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简单工厂模式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5931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9941" y="407194"/>
              <a:ext cx="20252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10 简单工厂 · Java 代码实现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重构前：所有支付方式挤在一个方法里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6392685" cy="264033"/>
            <a:chOff x="526542" y="1545907"/>
            <a:chExt cx="6392685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63926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这是张欣佳老师课件里的"模式分析"例子，问题出在一个方法同时管了三件事。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28812"/>
            <a:ext cx="5842635" cy="2791778"/>
            <a:chOff x="533400" y="1928812"/>
            <a:chExt cx="5842635" cy="2791778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842635" cy="2791778"/>
            </a:xfrm>
            <a:prstGeom prst="roundRect">
              <a:avLst>
                <a:gd name="adj" fmla="val 341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80736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重构前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797" y="2340769"/>
              <a:ext cx="3911727" cy="2305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PayService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pay(String type,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double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amount)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"cash"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.equalsIgnoreCase(type))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现金支付处理代码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"creditcard"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.equalsIgnoreCase(type))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信用卡支付处理代码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"voucher"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.equalsIgnoreCase(type))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代金券支付处理代码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其他支付方式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9" name="c1-card-2"/>
          <p:cNvGrpSpPr/>
          <p:nvPr/>
        </p:nvGrpSpPr>
        <p:grpSpPr>
          <a:xfrm>
            <a:off x="533400" y="4890135"/>
            <a:ext cx="5842635" cy="1459230"/>
            <a:chOff x="533400" y="4890135"/>
            <a:chExt cx="5842635" cy="1459230"/>
          </a:xfrm>
        </p:grpSpPr>
        <p:sp>
          <p:nvSpPr>
            <p:cNvPr id="13" name="Rectangle 13"/>
            <p:cNvSpPr/>
            <p:nvPr/>
          </p:nvSpPr>
          <p:spPr>
            <a:xfrm>
              <a:off x="533400" y="4890135"/>
              <a:ext cx="5842635" cy="1459230"/>
            </a:xfrm>
            <a:prstGeom prst="roundRect">
              <a:avLst>
                <a:gd name="adj" fmla="val 91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2925" y="5023485"/>
              <a:ext cx="47625" cy="119253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58190" y="507682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50862" y="510968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23784" y="51120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判断写法调了个顺序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1332" y="5437823"/>
              <a:ext cx="520865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原课件写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type.equalsIgnoreCase("cash")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，当 type 为 null 时会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抛 NullPointerException。把字符串常量写在前面就没有这个问题，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后面几页的工厂代码同样这样写。</a:t>
              </a:r>
            </a:p>
          </p:txBody>
        </p:sp>
      </p:grpSp>
      <p:grpSp>
        <p:nvGrpSpPr>
          <p:cNvPr id="27" name="c2-bullets-1"/>
          <p:cNvGrpSpPr/>
          <p:nvPr/>
        </p:nvGrpSpPr>
        <p:grpSpPr>
          <a:xfrm>
            <a:off x="6673977" y="1950720"/>
            <a:ext cx="2975991" cy="1198435"/>
            <a:chOff x="6673977" y="1950720"/>
            <a:chExt cx="2975991" cy="1198435"/>
          </a:xfrm>
        </p:grpSpPr>
        <p:sp>
          <p:nvSpPr>
            <p:cNvPr id="20" name="TextBox 20"/>
            <p:cNvSpPr txBox="1"/>
            <p:nvPr/>
          </p:nvSpPr>
          <p:spPr>
            <a:xfrm>
              <a:off x="6673977" y="195072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一个方法管了三件事</a:t>
              </a:r>
            </a:p>
          </p:txBody>
        </p:sp>
        <p:sp>
          <p:nvSpPr>
            <p:cNvPr id="21" name="Freeform 21"/>
            <p:cNvSpPr/>
            <p:nvPr/>
          </p:nvSpPr>
          <p:spPr>
            <a:xfrm>
              <a:off x="6680835" y="2300288"/>
              <a:ext cx="102870" cy="102870"/>
            </a:xfrm>
            <a:custGeom>
              <a:avLst/>
              <a:gdLst/>
              <a:ahLst/>
              <a:cxnLst/>
              <a:rect l="l" t="t" r="r" b="b"/>
              <a:pathLst>
                <a:path w="102870" h="102870">
                  <a:moveTo>
                    <a:pt x="0" y="0"/>
                  </a:moveTo>
                  <a:lnTo>
                    <a:pt x="102870" y="102870"/>
                  </a:lnTo>
                  <a:moveTo>
                    <a:pt x="102870" y="0"/>
                  </a:moveTo>
                  <a:lnTo>
                    <a:pt x="0" y="102870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910197" y="226790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判断用哪种支付方式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6680835" y="2608898"/>
              <a:ext cx="102870" cy="102870"/>
            </a:xfrm>
            <a:custGeom>
              <a:avLst/>
              <a:gdLst/>
              <a:ahLst/>
              <a:cxnLst/>
              <a:rect l="l" t="t" r="r" b="b"/>
              <a:pathLst>
                <a:path w="102870" h="102870">
                  <a:moveTo>
                    <a:pt x="0" y="0"/>
                  </a:moveTo>
                  <a:lnTo>
                    <a:pt x="102870" y="102870"/>
                  </a:lnTo>
                  <a:moveTo>
                    <a:pt x="102870" y="0"/>
                  </a:moveTo>
                  <a:lnTo>
                    <a:pt x="0" y="102870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910197" y="2576512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实现每一种支付方式的业务逻辑</a:t>
              </a:r>
            </a:p>
          </p:txBody>
        </p:sp>
        <p:sp>
          <p:nvSpPr>
            <p:cNvPr id="25" name="Freeform 25"/>
            <p:cNvSpPr/>
            <p:nvPr/>
          </p:nvSpPr>
          <p:spPr>
            <a:xfrm>
              <a:off x="6680835" y="2917508"/>
              <a:ext cx="102870" cy="102870"/>
            </a:xfrm>
            <a:custGeom>
              <a:avLst/>
              <a:gdLst/>
              <a:ahLst/>
              <a:cxnLst/>
              <a:rect l="l" t="t" r="r" b="b"/>
              <a:pathLst>
                <a:path w="102870" h="102870">
                  <a:moveTo>
                    <a:pt x="0" y="0"/>
                  </a:moveTo>
                  <a:lnTo>
                    <a:pt x="102870" y="102870"/>
                  </a:lnTo>
                  <a:moveTo>
                    <a:pt x="102870" y="0"/>
                  </a:moveTo>
                  <a:lnTo>
                    <a:pt x="0" y="102870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910197" y="2885122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加一种支付方式就要再加一段分支</a:t>
              </a:r>
            </a:p>
          </p:txBody>
        </p:sp>
      </p:grpSp>
      <p:grpSp>
        <p:nvGrpSpPr>
          <p:cNvPr id="38" name="c2-card-2"/>
          <p:cNvGrpSpPr/>
          <p:nvPr/>
        </p:nvGrpSpPr>
        <p:grpSpPr>
          <a:xfrm>
            <a:off x="6680835" y="3266122"/>
            <a:ext cx="4977765" cy="3084195"/>
            <a:chOff x="6680835" y="3266122"/>
            <a:chExt cx="4977765" cy="3084195"/>
          </a:xfrm>
        </p:grpSpPr>
        <p:sp>
          <p:nvSpPr>
            <p:cNvPr id="28" name="Rectangle 28"/>
            <p:cNvSpPr/>
            <p:nvPr/>
          </p:nvSpPr>
          <p:spPr>
            <a:xfrm>
              <a:off x="6680835" y="3266122"/>
              <a:ext cx="4977765" cy="3084195"/>
            </a:xfrm>
            <a:prstGeom prst="roundRect">
              <a:avLst>
                <a:gd name="adj" fmla="val 43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690360" y="3399472"/>
              <a:ext cx="47625" cy="281749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905625" y="345281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998297" y="348567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后果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472172" y="348805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代码复杂，难以维护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898767" y="3813810"/>
              <a:ext cx="42999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方法会随支付方式的增加不断变长，任何一种支付逻辑出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错都要回到这个方法里改，测试时也无法单独测其中一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种。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6914198" y="4684395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070217" y="4628198"/>
              <a:ext cx="33395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要改支付方式的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判断规则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，得动这个方法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6914198" y="4984432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070217" y="4928235"/>
              <a:ext cx="37029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要改某一种支付的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业务逻辑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，还是动这个方法</a:t>
              </a:r>
            </a:p>
          </p:txBody>
        </p:sp>
      </p:grpSp>
      <p:grpSp>
        <p:nvGrpSpPr>
          <p:cNvPr id="4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9" name="TextBox 39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简单工厂模式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5931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9941" y="407194"/>
              <a:ext cx="20252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10 简单工厂 · Java 代码实现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第一步：抽出抽象产品与具体产品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6630960" cy="308039"/>
            <a:chOff x="525399" y="1550194"/>
            <a:chExt cx="6630960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663096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先把"每一种支付怎么做"从判断逻辑里分出来，一种支付方式一个类。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67865"/>
            <a:ext cx="6276022" cy="3950970"/>
            <a:chOff x="533400" y="1967865"/>
            <a:chExt cx="6276022" cy="3950970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6276022" cy="3950970"/>
            </a:xfrm>
            <a:prstGeom prst="roundRect">
              <a:avLst>
                <a:gd name="adj" fmla="val 241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119789"/>
              <a:ext cx="268953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AbstractPay / CashPay / CreditCardPay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035" y="2381726"/>
              <a:ext cx="4570222" cy="34661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AbstractPay {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抽象产品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pay(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double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amount);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CashPay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AbstractPay {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具体产品 */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@Override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pay(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double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amount)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</a:t>
              </a:r>
              <a:r>
                <a:rPr lang="zh-CN" sz="112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"现金支付 "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amount + </a:t>
              </a:r>
              <a:r>
                <a:rPr lang="zh-CN" sz="112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 元"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CreditCardPay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AbstractPay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@Override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pay(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double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amount)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</a:t>
              </a:r>
              <a:r>
                <a:rPr lang="zh-CN" sz="112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"信用卡支付 "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amount + </a:t>
              </a:r>
              <a:r>
                <a:rPr lang="zh-CN" sz="112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 元"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0" name="c2-bullets-1"/>
          <p:cNvGrpSpPr/>
          <p:nvPr/>
        </p:nvGrpSpPr>
        <p:grpSpPr>
          <a:xfrm>
            <a:off x="7106602" y="1992630"/>
            <a:ext cx="4548036" cy="1908810"/>
            <a:chOff x="7106602" y="1992630"/>
            <a:chExt cx="4548036" cy="1908810"/>
          </a:xfrm>
        </p:grpSpPr>
        <p:sp>
          <p:nvSpPr>
            <p:cNvPr id="13" name="TextBox 13"/>
            <p:cNvSpPr txBox="1"/>
            <p:nvPr/>
          </p:nvSpPr>
          <p:spPr>
            <a:xfrm>
              <a:off x="7106602" y="1992630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这一步换来了什么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7114222" y="2378392"/>
              <a:ext cx="143828" cy="116205"/>
            </a:xfrm>
            <a:custGeom>
              <a:avLst/>
              <a:gdLst/>
              <a:ahLst/>
              <a:cxnLst/>
              <a:rect l="l" t="t" r="r" b="b"/>
              <a:pathLst>
                <a:path w="143828" h="116205">
                  <a:moveTo>
                    <a:pt x="0" y="61912"/>
                  </a:moveTo>
                  <a:lnTo>
                    <a:pt x="54293" y="116205"/>
                  </a:lnTo>
                  <a:lnTo>
                    <a:pt x="143828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364730" y="2346960"/>
              <a:ext cx="4015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每种支付方式独立成类，可以单独修改和单独测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试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7114222" y="3008948"/>
              <a:ext cx="143828" cy="116205"/>
            </a:xfrm>
            <a:custGeom>
              <a:avLst/>
              <a:gdLst/>
              <a:ahLst/>
              <a:cxnLst/>
              <a:rect l="l" t="t" r="r" b="b"/>
              <a:pathLst>
                <a:path w="143828" h="116205">
                  <a:moveTo>
                    <a:pt x="0" y="61912"/>
                  </a:moveTo>
                  <a:lnTo>
                    <a:pt x="54293" y="116205"/>
                  </a:lnTo>
                  <a:lnTo>
                    <a:pt x="143828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64730" y="2977515"/>
              <a:ext cx="42899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新增代金券支付只要再写一个 VoucherPay 子类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7114222" y="3353752"/>
              <a:ext cx="143828" cy="116205"/>
            </a:xfrm>
            <a:custGeom>
              <a:avLst/>
              <a:gdLst/>
              <a:ahLst/>
              <a:cxnLst/>
              <a:rect l="l" t="t" r="r" b="b"/>
              <a:pathLst>
                <a:path w="143828" h="116205">
                  <a:moveTo>
                    <a:pt x="0" y="61912"/>
                  </a:moveTo>
                  <a:lnTo>
                    <a:pt x="54293" y="116205"/>
                  </a:lnTo>
                  <a:lnTo>
                    <a:pt x="143828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364730" y="3322320"/>
              <a:ext cx="39966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客户端持有 AbstractPay 引用，调用 pay 时自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动走到子类的实现</a:t>
              </a:r>
            </a:p>
          </p:txBody>
        </p:sp>
      </p:grpSp>
      <p:grpSp>
        <p:nvGrpSpPr>
          <p:cNvPr id="27" name="c2-callout-2"/>
          <p:cNvGrpSpPr/>
          <p:nvPr/>
        </p:nvGrpSpPr>
        <p:grpSpPr>
          <a:xfrm>
            <a:off x="7114222" y="4032885"/>
            <a:ext cx="4544378" cy="1885950"/>
            <a:chOff x="7114222" y="4032885"/>
            <a:chExt cx="4544378" cy="1885950"/>
          </a:xfrm>
        </p:grpSpPr>
        <p:sp>
          <p:nvSpPr>
            <p:cNvPr id="21" name="Rectangle 21"/>
            <p:cNvSpPr/>
            <p:nvPr/>
          </p:nvSpPr>
          <p:spPr>
            <a:xfrm>
              <a:off x="7114222" y="4032885"/>
              <a:ext cx="4544378" cy="1885950"/>
            </a:xfrm>
            <a:prstGeom prst="roundRect">
              <a:avLst>
                <a:gd name="adj" fmla="val 6061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7319010" y="4875848"/>
              <a:ext cx="200026" cy="200026"/>
              <a:chOff x="7319010" y="4875848"/>
              <a:chExt cx="200026" cy="200026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7319010" y="487584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7419023" y="494252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7407910" y="497586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7620952" y="4732972"/>
              <a:ext cx="3634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到这一步还差一件事：客户端仍然要自己决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 new 哪个子类。</a:t>
              </a:r>
            </a:p>
          </p:txBody>
        </p:sp>
      </p:grpSp>
      <p:grpSp>
        <p:nvGrpSpPr>
          <p:cNvPr id="3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8" name="TextBox 28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简单工厂模式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5931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9941" y="407194"/>
              <a:ext cx="20252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10 简单工厂 · Java 代码实现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第二步：把判断逻辑收进工厂类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ode-1"/>
          <p:cNvGrpSpPr/>
          <p:nvPr/>
        </p:nvGrpSpPr>
        <p:grpSpPr>
          <a:xfrm>
            <a:off x="533400" y="1524000"/>
            <a:ext cx="6276022" cy="4356735"/>
            <a:chOff x="533400" y="1524000"/>
            <a:chExt cx="6276022" cy="43567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4356735"/>
            </a:xfrm>
            <a:prstGeom prst="roundRect">
              <a:avLst>
                <a:gd name="adj" fmla="val 218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83956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PayMethodFactory 与客户端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2301240"/>
              <a:ext cx="6237922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52450" y="2707005"/>
              <a:ext cx="6237922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552450" y="3112770"/>
              <a:ext cx="6237922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035" y="1937861"/>
              <a:ext cx="5018278" cy="38719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PayMethodFactory {        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工厂角色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AbstractPay getPayMethod(String type)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"cash"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.equalsIgnoreCase(type))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CashPay();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"creditcard"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.equalsIgnoreCase(type))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CreditCardPay();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"voucher"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.equalsIgnoreCase(type))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VoucherPay();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throw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IllegalArgumentException(</a:t>
              </a:r>
              <a:r>
                <a:rPr lang="zh-CN" sz="112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"未知支付方式"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Client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main(String[] args)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AbstractPay pay = PayMethodFactory.getPayMethod(</a:t>
              </a:r>
              <a:r>
                <a:rPr lang="en-US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"cash"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pay.pay(100.0);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9" name="c2-card-1"/>
          <p:cNvGrpSpPr/>
          <p:nvPr/>
        </p:nvGrpSpPr>
        <p:grpSpPr>
          <a:xfrm>
            <a:off x="7114222" y="1524000"/>
            <a:ext cx="4544378" cy="1621155"/>
            <a:chOff x="7114222" y="1524000"/>
            <a:chExt cx="4544378" cy="1621155"/>
          </a:xfrm>
        </p:grpSpPr>
        <p:sp>
          <p:nvSpPr>
            <p:cNvPr id="14" name="Rectangle 14"/>
            <p:cNvSpPr/>
            <p:nvPr/>
          </p:nvSpPr>
          <p:spPr>
            <a:xfrm>
              <a:off x="7114222" y="1524000"/>
              <a:ext cx="4544378" cy="1621155"/>
            </a:xfrm>
            <a:prstGeom prst="roundRect">
              <a:avLst>
                <a:gd name="adj" fmla="val 8226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323772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413981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关键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923848" y="1768792"/>
              <a:ext cx="23851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返回类型是 AbstractPay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316152" y="2129790"/>
              <a:ext cx="39109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客户端变量声明成父类型，整段代码里再也看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不到 CashPay 这个名字。想换成刷卡，只改传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进去的那个字符串。</a:t>
              </a:r>
            </a:p>
          </p:txBody>
        </p:sp>
      </p:grpSp>
      <p:grpSp>
        <p:nvGrpSpPr>
          <p:cNvPr id="26" name="c2-card-2"/>
          <p:cNvGrpSpPr/>
          <p:nvPr/>
        </p:nvGrpSpPr>
        <p:grpSpPr>
          <a:xfrm>
            <a:off x="7114222" y="3335655"/>
            <a:ext cx="4544378" cy="2545080"/>
            <a:chOff x="7114222" y="3335655"/>
            <a:chExt cx="4544378" cy="2545080"/>
          </a:xfrm>
        </p:grpSpPr>
        <p:sp>
          <p:nvSpPr>
            <p:cNvPr id="20" name="Rectangle 20"/>
            <p:cNvSpPr/>
            <p:nvPr/>
          </p:nvSpPr>
          <p:spPr>
            <a:xfrm>
              <a:off x="7114222" y="3335655"/>
              <a:ext cx="4544378" cy="2545080"/>
            </a:xfrm>
            <a:prstGeom prst="roundRect">
              <a:avLst>
                <a:gd name="adj" fmla="val 524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7123748" y="3469005"/>
              <a:ext cx="47625" cy="227838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361872" y="354520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452081" y="358092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961948" y="3580448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原课件的分支没有收尾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354252" y="3941445"/>
              <a:ext cx="38919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14 页工厂方法的最后一个分支写成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省略号，照抄到 Java 里会因为"缺少返回语句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"编译不过。这里补上抛异常的收尾。</a:t>
              </a:r>
            </a:p>
          </p:txBody>
        </p:sp>
      </p:grpSp>
      <p:grpSp>
        <p:nvGrpSpPr>
          <p:cNvPr id="2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7" name="TextBox 27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简单工厂模式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5931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9941" y="407194"/>
              <a:ext cx="20252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10 简单工厂 · Java 代码实现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第三步：把参数搬进配置文件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8064475" cy="308039"/>
            <a:chOff x="525399" y="1550194"/>
            <a:chExt cx="8064475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806447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工厂方法的参数不一定写死在代码里，放进配置文件就能不改一行 Java 代码换产品。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67865"/>
            <a:ext cx="6276022" cy="2733675"/>
            <a:chOff x="533400" y="1967865"/>
            <a:chExt cx="6276022" cy="2733675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6276022" cy="2733675"/>
            </a:xfrm>
            <a:prstGeom prst="roundRect">
              <a:avLst>
                <a:gd name="adj" fmla="val 348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11978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配置文件加反射的工厂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035" y="2381726"/>
              <a:ext cx="4940046" cy="22488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config.properties 内容: pay.impl = demo.CreditCardPay */</a:t>
              </a:r>
              <a:br/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PayMethodFactory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AbstractPay getPayMethod()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throws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Exception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Properties p =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Properties();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p.load(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FileInputStream(</a:t>
              </a:r>
              <a:r>
                <a:rPr lang="en-US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"config.properties"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String cls = p.getProperty(</a:t>
              </a:r>
              <a:r>
                <a:rPr lang="en-US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"pay.impl"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Class&lt;?&gt; c = Class.forName(cls);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Constructor&lt;?&gt; ctor = c.getDeclaredConstructor();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(AbstractPay) ctor.newInstance();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9" name="c1-card-2"/>
          <p:cNvGrpSpPr/>
          <p:nvPr/>
        </p:nvGrpSpPr>
        <p:grpSpPr>
          <a:xfrm>
            <a:off x="533400" y="4892040"/>
            <a:ext cx="6276022" cy="1335405"/>
            <a:chOff x="533400" y="4892040"/>
            <a:chExt cx="6276022" cy="1335405"/>
          </a:xfrm>
        </p:grpSpPr>
        <p:sp>
          <p:nvSpPr>
            <p:cNvPr id="13" name="Rectangle 13"/>
            <p:cNvSpPr/>
            <p:nvPr/>
          </p:nvSpPr>
          <p:spPr>
            <a:xfrm>
              <a:off x="533400" y="4892040"/>
              <a:ext cx="6276022" cy="1335405"/>
            </a:xfrm>
            <a:prstGeom prst="roundRect">
              <a:avLst>
                <a:gd name="adj" fmla="val 9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2925" y="5025390"/>
              <a:ext cx="47625" cy="106870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81050" y="510159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71258" y="513730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代价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82078" y="5136832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反射换来的灵活不是白给的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73430" y="5497830"/>
              <a:ext cx="5539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类名写错要等到运行时才报错，编译器帮不上忙；反射创建也比直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 new 慢一些。产品很少的小项目里，直接 new 反而更省事。</a:t>
              </a:r>
            </a:p>
          </p:txBody>
        </p:sp>
      </p:grpSp>
      <p:grpSp>
        <p:nvGrpSpPr>
          <p:cNvPr id="27" name="c2-bullets-1"/>
          <p:cNvGrpSpPr/>
          <p:nvPr/>
        </p:nvGrpSpPr>
        <p:grpSpPr>
          <a:xfrm>
            <a:off x="7106602" y="1992630"/>
            <a:ext cx="4427220" cy="1337310"/>
            <a:chOff x="7106602" y="1992630"/>
            <a:chExt cx="4427220" cy="1337310"/>
          </a:xfrm>
        </p:grpSpPr>
        <p:sp>
          <p:nvSpPr>
            <p:cNvPr id="20" name="TextBox 20"/>
            <p:cNvSpPr txBox="1"/>
            <p:nvPr/>
          </p:nvSpPr>
          <p:spPr>
            <a:xfrm>
              <a:off x="7106602" y="1992630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读这段代码要注意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119938" y="240982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278052" y="2346960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配置文件里存的是完整类名，运行时才读出来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7119938" y="2754630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278052" y="2691765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反射创建要求产品类有公开的无参构造函数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7119938" y="309943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278052" y="3036570"/>
              <a:ext cx="4255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换支付方式只改配置文件，客户端和工厂都不动</a:t>
              </a:r>
            </a:p>
          </p:txBody>
        </p:sp>
      </p:grpSp>
      <p:grpSp>
        <p:nvGrpSpPr>
          <p:cNvPr id="34" name="c2-card-2"/>
          <p:cNvGrpSpPr/>
          <p:nvPr/>
        </p:nvGrpSpPr>
        <p:grpSpPr>
          <a:xfrm>
            <a:off x="7114222" y="3461385"/>
            <a:ext cx="4544378" cy="2766060"/>
            <a:chOff x="7114222" y="3461385"/>
            <a:chExt cx="4544378" cy="2766060"/>
          </a:xfrm>
        </p:grpSpPr>
        <p:sp>
          <p:nvSpPr>
            <p:cNvPr id="28" name="Rectangle 28"/>
            <p:cNvSpPr/>
            <p:nvPr/>
          </p:nvSpPr>
          <p:spPr>
            <a:xfrm>
              <a:off x="7114222" y="3461385"/>
              <a:ext cx="4544378" cy="2766060"/>
            </a:xfrm>
            <a:prstGeom prst="roundRect">
              <a:avLst>
                <a:gd name="adj" fmla="val 482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7123748" y="3594735"/>
              <a:ext cx="47625" cy="249936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7361872" y="36709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452081" y="37066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补充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961948" y="3706178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源课件只提了一句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354252" y="4067175"/>
              <a:ext cx="3930015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原课件说"可以把参数保存在 XML 等格式的配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置文件中"，但没有给代码。这里补一个能直接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跑的 properties 版本，XML 的思路完全一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样。</a:t>
              </a:r>
            </a:p>
          </p:txBody>
        </p:sp>
      </p:grpSp>
      <p:grpSp>
        <p:nvGrpSpPr>
          <p:cNvPr id="3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5" name="TextBox 35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简单工厂模式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801999" cy="909257"/>
            <a:chOff x="520446" y="342900"/>
            <a:chExt cx="38019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5931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9941" y="407194"/>
              <a:ext cx="20252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10 简单工厂 · Java 代码实现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8019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工厂方法的三种常见写法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6630960" cy="308039"/>
            <a:chOff x="525399" y="1550194"/>
            <a:chExt cx="6630960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663096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陈伟老师课件把这三种写法并排列了出来，区别只在"谁来区分产品"。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67865"/>
            <a:ext cx="5626418" cy="3342322"/>
            <a:chOff x="533400" y="1967865"/>
            <a:chExt cx="5626418" cy="3342322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5626418" cy="3342322"/>
            </a:xfrm>
            <a:prstGeom prst="roundRect">
              <a:avLst>
                <a:gd name="adj" fmla="val 285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11978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写法一与写法二（二选一）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035" y="2381726"/>
              <a:ext cx="4783582" cy="2857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写法一: 每种产品一个工厂方法 */</a:t>
              </a:r>
              <a:br/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FruitFactory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Fruit createApple() {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Apple();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Fruit createGrape() {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Grape();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写法二: 一个带参数的工厂方法 */</a:t>
              </a:r>
              <a:br/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FruitFactory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Fruit createFruit(String id)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"apple"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.equals(id)) {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Apple();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"grape"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.equals(id)) {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Grape();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throw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IllegalArgumentException(id);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32" name="c2-table-1"/>
          <p:cNvGrpSpPr/>
          <p:nvPr/>
        </p:nvGrpSpPr>
        <p:grpSpPr>
          <a:xfrm>
            <a:off x="6464618" y="1967865"/>
            <a:ext cx="5193982" cy="2022158"/>
            <a:chOff x="6464618" y="1967865"/>
            <a:chExt cx="5193982" cy="2022158"/>
          </a:xfrm>
        </p:grpSpPr>
        <p:sp>
          <p:nvSpPr>
            <p:cNvPr id="13" name="Rectangle 13"/>
            <p:cNvSpPr/>
            <p:nvPr/>
          </p:nvSpPr>
          <p:spPr>
            <a:xfrm>
              <a:off x="6464618" y="1967865"/>
              <a:ext cx="5193982" cy="448628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064972" y="21026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写法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416226" y="210264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区分产品靠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493019" y="21026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代价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72441" y="255127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多个工厂方法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130730" y="255127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方法名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792843" y="2551271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产品一多方法就多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464618" y="286035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464618" y="2865120"/>
              <a:ext cx="5193982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572441" y="3000851"/>
              <a:ext cx="115087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一个带参数的方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法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130730" y="3114199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传入的参数值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792843" y="3114199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方法内部要写判断分支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464618" y="353568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72441" y="367617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工厂并进产品类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130730" y="367617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方法名或参数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792843" y="367617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父类要知道全部子类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464618" y="1967865"/>
              <a:ext cx="5193982" cy="202215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8018145" y="1967865"/>
              <a:ext cx="9525" cy="20221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9680258" y="1967865"/>
              <a:ext cx="9525" cy="20221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9" name="c2-callout-2"/>
          <p:cNvGrpSpPr/>
          <p:nvPr/>
        </p:nvGrpSpPr>
        <p:grpSpPr>
          <a:xfrm>
            <a:off x="6464618" y="4179570"/>
            <a:ext cx="5193982" cy="1129665"/>
            <a:chOff x="6464618" y="4179570"/>
            <a:chExt cx="5193982" cy="1129665"/>
          </a:xfrm>
        </p:grpSpPr>
        <p:sp>
          <p:nvSpPr>
            <p:cNvPr id="33" name="Rectangle 33"/>
            <p:cNvSpPr/>
            <p:nvPr/>
          </p:nvSpPr>
          <p:spPr>
            <a:xfrm>
              <a:off x="6464618" y="4179570"/>
              <a:ext cx="5193982" cy="1129665"/>
            </a:xfrm>
            <a:prstGeom prst="roundRect">
              <a:avLst>
                <a:gd name="adj" fmla="val 10118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6669405" y="4644390"/>
              <a:ext cx="200026" cy="200025"/>
              <a:chOff x="6669405" y="4644390"/>
              <a:chExt cx="200026" cy="200025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6669405" y="464439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709144" y="468884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6743859" y="479996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6971348" y="4501515"/>
              <a:ext cx="4206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工厂类里可以同时存在多个工厂方法，用参数只是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为了把方法数量压下来。</a:t>
              </a:r>
            </a:p>
          </p:txBody>
        </p:sp>
      </p:grpSp>
      <p:grpSp>
        <p:nvGrpSpPr>
          <p:cNvPr id="46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0" name="Rectangle 40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738188" y="5995988"/>
              <a:ext cx="200026" cy="200026"/>
              <a:chOff x="738188" y="5995988"/>
              <a:chExt cx="200026" cy="200026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738188" y="59959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38200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27088" y="609600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1040130" y="5991225"/>
              <a:ext cx="97482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陈伟老师课件用 C++ 写这三段，本讲统一改写成 Java：C++ 的 Fruit* 返回指针，Java 直接返回对象引用。</a:t>
              </a:r>
            </a:p>
          </p:txBody>
        </p:sp>
      </p:grpSp>
      <p:grpSp>
        <p:nvGrpSpPr>
          <p:cNvPr id="4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7" name="TextBox 47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简单工厂模式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3913632" cy="2997517"/>
            <a:chOff x="667512" y="1835468"/>
            <a:chExt cx="3913632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91363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课件中的两个实例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5707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一个讲字符串参数，一个讲整数参数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简单电视机工厂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7701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OA 系统的权限管理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加一种产品各要改什么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简单工厂模式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801999" cy="909257"/>
            <a:chOff x="520446" y="342900"/>
            <a:chExt cx="38019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10 简单工厂 · 课件中的两个实例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8019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实例一：简单电视机工厂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7922603" cy="278702"/>
            <a:chOff x="526161" y="1547336"/>
            <a:chExt cx="7922603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79226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某电视机厂为各品牌代工，传入 Haier 就生产海尔电视机，传入 Hisense 就生产海信电视机。</a:t>
              </a:r>
            </a:p>
          </p:txBody>
        </p:sp>
      </p:grpSp>
      <p:grpSp>
        <p:nvGrpSpPr>
          <p:cNvPr id="15" name="c1-card-1"/>
          <p:cNvGrpSpPr/>
          <p:nvPr/>
        </p:nvGrpSpPr>
        <p:grpSpPr>
          <a:xfrm>
            <a:off x="533400" y="1941195"/>
            <a:ext cx="4328160" cy="1483995"/>
            <a:chOff x="533400" y="1941195"/>
            <a:chExt cx="4328160" cy="1483995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4328160" cy="1483995"/>
            </a:xfrm>
            <a:prstGeom prst="roundRect">
              <a:avLst>
                <a:gd name="adj" fmla="val 8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74545"/>
              <a:ext cx="47625" cy="121729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3905" y="213360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55345" y="216789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需求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47597" y="217360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按品牌名返回电视机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7047" y="2507932"/>
              <a:ext cx="36141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工厂根据调用时传入的品牌参数，返回对应品牌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的电视机对象。客户端只知道品牌名字，不知道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HaierTV 这个类。</a:t>
              </a:r>
            </a:p>
          </p:txBody>
        </p:sp>
      </p:grpSp>
      <p:grpSp>
        <p:nvGrpSpPr>
          <p:cNvPr id="24" name="c1-kv-2"/>
          <p:cNvGrpSpPr/>
          <p:nvPr/>
        </p:nvGrpSpPr>
        <p:grpSpPr>
          <a:xfrm>
            <a:off x="526542" y="3623310"/>
            <a:ext cx="4335018" cy="1059371"/>
            <a:chOff x="526542" y="3623310"/>
            <a:chExt cx="4335018" cy="1059371"/>
          </a:xfrm>
        </p:grpSpPr>
        <p:sp>
          <p:nvSpPr>
            <p:cNvPr id="16" name="TextBox 16"/>
            <p:cNvSpPr txBox="1"/>
            <p:nvPr/>
          </p:nvSpPr>
          <p:spPr>
            <a:xfrm>
              <a:off x="526542" y="362331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抽象产品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488567" y="3623310"/>
              <a:ext cx="13789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TV，声明 play()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3911918"/>
              <a:ext cx="43281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6542" y="402050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具体产品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488567" y="4020502"/>
              <a:ext cx="18472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HaierTV 与 HisenseTV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4310062"/>
              <a:ext cx="43281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26542" y="441864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工厂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488567" y="4418648"/>
              <a:ext cx="28050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TVFactory，静态方法 produceTV</a:t>
              </a:r>
            </a:p>
          </p:txBody>
        </p:sp>
      </p:grpSp>
      <p:grpSp>
        <p:nvGrpSpPr>
          <p:cNvPr id="57" name="c2-uml-1"/>
          <p:cNvGrpSpPr/>
          <p:nvPr/>
        </p:nvGrpSpPr>
        <p:grpSpPr>
          <a:xfrm>
            <a:off x="5676900" y="2237422"/>
            <a:ext cx="5619836" cy="1704976"/>
            <a:chOff x="5676900" y="2237422"/>
            <a:chExt cx="5619836" cy="1704976"/>
          </a:xfrm>
        </p:grpSpPr>
        <p:sp>
          <p:nvSpPr>
            <p:cNvPr id="25" name="Freeform 25"/>
            <p:cNvSpPr/>
            <p:nvPr/>
          </p:nvSpPr>
          <p:spPr>
            <a:xfrm>
              <a:off x="6248400" y="2919412"/>
              <a:ext cx="2068830" cy="466725"/>
            </a:xfrm>
            <a:custGeom>
              <a:avLst/>
              <a:gdLst/>
              <a:ahLst/>
              <a:cxnLst/>
              <a:rect l="l" t="t" r="r" b="b"/>
              <a:pathLst>
                <a:path w="2068830" h="466725">
                  <a:moveTo>
                    <a:pt x="0" y="466725"/>
                  </a:moveTo>
                  <a:lnTo>
                    <a:pt x="0" y="170497"/>
                  </a:lnTo>
                  <a:lnTo>
                    <a:pt x="2068830" y="170497"/>
                  </a:lnTo>
                  <a:lnTo>
                    <a:pt x="206883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8243888" y="2793682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8507730" y="2919412"/>
              <a:ext cx="2068830" cy="466725"/>
            </a:xfrm>
            <a:custGeom>
              <a:avLst/>
              <a:gdLst/>
              <a:ahLst/>
              <a:cxnLst/>
              <a:rect l="l" t="t" r="r" b="b"/>
              <a:pathLst>
                <a:path w="2068830" h="466725">
                  <a:moveTo>
                    <a:pt x="2068830" y="466725"/>
                  </a:moveTo>
                  <a:lnTo>
                    <a:pt x="2068830" y="170497"/>
                  </a:lnTo>
                  <a:lnTo>
                    <a:pt x="0" y="170497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8434388" y="2793682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8983980" y="2515552"/>
              <a:ext cx="896302" cy="9525"/>
            </a:xfrm>
            <a:custGeom>
              <a:avLst/>
              <a:gdLst/>
              <a:ahLst/>
              <a:cxnLst/>
              <a:rect l="l" t="t" r="r" b="b"/>
              <a:pathLst>
                <a:path w="896302" h="9525">
                  <a:moveTo>
                    <a:pt x="896302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30" name="Freeform 30"/>
            <p:cNvSpPr/>
            <p:nvPr/>
          </p:nvSpPr>
          <p:spPr>
            <a:xfrm>
              <a:off x="8983980" y="2458402"/>
              <a:ext cx="104775" cy="115252"/>
            </a:xfrm>
            <a:custGeom>
              <a:avLst/>
              <a:gdLst/>
              <a:ahLst/>
              <a:cxnLst/>
              <a:rect l="l" t="t" r="r" b="b"/>
              <a:pathLst>
                <a:path w="104775" h="115252">
                  <a:moveTo>
                    <a:pt x="104775" y="0"/>
                  </a:moveTo>
                  <a:lnTo>
                    <a:pt x="0" y="57150"/>
                  </a:lnTo>
                  <a:lnTo>
                    <a:pt x="104775" y="115252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7840980" y="2237422"/>
              <a:ext cx="1143000" cy="55626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848600" y="2245042"/>
              <a:ext cx="112871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840980" y="244983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7840980" y="254508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9880282" y="2237422"/>
              <a:ext cx="1391602" cy="55626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9887902" y="2245042"/>
              <a:ext cx="1377315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9880282" y="2449830"/>
              <a:ext cx="139160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9880282" y="2545080"/>
              <a:ext cx="139160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5676900" y="3386138"/>
              <a:ext cx="1143000" cy="55626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5684520" y="3392805"/>
              <a:ext cx="112871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5676900" y="359854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676900" y="369379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10005060" y="3386138"/>
              <a:ext cx="1143000" cy="55626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10011728" y="3392805"/>
              <a:ext cx="112871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10005060" y="359854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10005060" y="369379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333788" y="2288858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i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TV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912418" y="2613184"/>
              <a:ext cx="74912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play(): void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250997" y="2288858"/>
              <a:ext cx="65112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TVFactory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951720" y="2613184"/>
              <a:ext cx="134501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produceTV(String): TV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009094" y="3437573"/>
              <a:ext cx="47861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HaierTV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748338" y="3761899"/>
              <a:ext cx="74912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play(): void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267199" y="3437573"/>
              <a:ext cx="61872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HisenseTV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076498" y="3761899"/>
              <a:ext cx="74912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play(): void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9260205" y="2309812"/>
              <a:ext cx="343852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9295727" y="233410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返回</a:t>
              </a:r>
            </a:p>
          </p:txBody>
        </p:sp>
      </p:grpSp>
      <p:grpSp>
        <p:nvGrpSpPr>
          <p:cNvPr id="72" name="c2-card-2"/>
          <p:cNvGrpSpPr/>
          <p:nvPr/>
        </p:nvGrpSpPr>
        <p:grpSpPr>
          <a:xfrm>
            <a:off x="5166360" y="4413885"/>
            <a:ext cx="6492240" cy="1838325"/>
            <a:chOff x="5166360" y="4413885"/>
            <a:chExt cx="6492240" cy="1838325"/>
          </a:xfrm>
        </p:grpSpPr>
        <p:sp>
          <p:nvSpPr>
            <p:cNvPr id="58" name="Rectangle 58"/>
            <p:cNvSpPr/>
            <p:nvPr/>
          </p:nvSpPr>
          <p:spPr>
            <a:xfrm>
              <a:off x="5166360" y="4413885"/>
              <a:ext cx="6492240" cy="1838325"/>
            </a:xfrm>
            <a:prstGeom prst="roundRect">
              <a:avLst>
                <a:gd name="adj" fmla="val 7254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5358765" y="4606290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5446205" y="464058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试一下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075807" y="4646295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再代工一个创维牌电视机，要动哪里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5358765" y="4967288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5414443" y="500662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5639562" y="4979670"/>
              <a:ext cx="403668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写一个 SkyworthTV 类继承 TV，实现自己的 play</a:t>
              </a:r>
            </a:p>
          </p:txBody>
        </p:sp>
        <p:sp>
          <p:nvSpPr>
            <p:cNvPr id="65" name="Ellipse 65"/>
            <p:cNvSpPr/>
            <p:nvPr/>
          </p:nvSpPr>
          <p:spPr>
            <a:xfrm>
              <a:off x="5358765" y="5270182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5414443" y="530856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5639562" y="5282565"/>
              <a:ext cx="26706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在 produceTV 里加一个判断分支</a:t>
              </a:r>
            </a:p>
          </p:txBody>
        </p:sp>
        <p:sp>
          <p:nvSpPr>
            <p:cNvPr id="68" name="Ellipse 68"/>
            <p:cNvSpPr/>
            <p:nvPr/>
          </p:nvSpPr>
          <p:spPr>
            <a:xfrm>
              <a:off x="5358765" y="5573078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5414443" y="561146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5639562" y="5584508"/>
              <a:ext cx="30913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客户端把传入的字符串改成 Skyworth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5353050" y="5884069"/>
              <a:ext cx="27479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 2 步就是简单工厂违反开闭原则的地方</a:t>
              </a:r>
            </a:p>
          </p:txBody>
        </p:sp>
      </p:grpSp>
      <p:grpSp>
        <p:nvGrpSpPr>
          <p:cNvPr id="7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3" name="TextBox 73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简单工厂模式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10 简单工厂 · 课件中的两个实例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实例一的完整代码与运行结果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951220" cy="3495675"/>
            <a:chOff x="533400" y="1524000"/>
            <a:chExt cx="5951220" cy="349567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3495675"/>
            </a:xfrm>
            <a:prstGeom prst="roundRect">
              <a:avLst>
                <a:gd name="adj" fmla="val 272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抽象产品与具体产品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797" y="1935956"/>
              <a:ext cx="3127629" cy="30100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TV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play();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HaierTV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TV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@Override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play()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"海尔电视机播放中"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HisenseTV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TV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@Override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play()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"海信电视机播放中"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5184458"/>
            <a:ext cx="5951220" cy="1168718"/>
            <a:chOff x="533400" y="5184458"/>
            <a:chExt cx="5951220" cy="1168718"/>
          </a:xfrm>
        </p:grpSpPr>
        <p:sp>
          <p:nvSpPr>
            <p:cNvPr id="11" name="Rectangle 11"/>
            <p:cNvSpPr/>
            <p:nvPr/>
          </p:nvSpPr>
          <p:spPr>
            <a:xfrm>
              <a:off x="533400" y="5184458"/>
              <a:ext cx="5951220" cy="1168718"/>
            </a:xfrm>
            <a:prstGeom prst="roundRect">
              <a:avLst>
                <a:gd name="adj" fmla="val 1141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42925" y="5317808"/>
              <a:ext cx="47625" cy="90201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45998" y="5385911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这段代码的两个看点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62000" y="5739765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17448" y="5686901"/>
              <a:ext cx="37263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两个品牌类只改 play 的实现，对外接口完全一致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62000" y="6024562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17448" y="5972651"/>
              <a:ext cx="41107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客户端变量声明成 TV，全文看不到 HaierTV 这个名字</a:t>
              </a:r>
            </a:p>
          </p:txBody>
        </p:sp>
      </p:grpSp>
      <p:grpSp>
        <p:nvGrpSpPr>
          <p:cNvPr id="22" name="c2-code-1"/>
          <p:cNvGrpSpPr/>
          <p:nvPr/>
        </p:nvGrpSpPr>
        <p:grpSpPr>
          <a:xfrm>
            <a:off x="6789420" y="1524000"/>
            <a:ext cx="4869180" cy="2616518"/>
            <a:chOff x="6789420" y="1524000"/>
            <a:chExt cx="4869180" cy="2616518"/>
          </a:xfrm>
        </p:grpSpPr>
        <p:sp>
          <p:nvSpPr>
            <p:cNvPr id="19" name="Rectangle 19"/>
            <p:cNvSpPr/>
            <p:nvPr/>
          </p:nvSpPr>
          <p:spPr>
            <a:xfrm>
              <a:off x="6789420" y="1524000"/>
              <a:ext cx="4869180" cy="2616518"/>
            </a:xfrm>
            <a:prstGeom prst="roundRect">
              <a:avLst>
                <a:gd name="adj" fmla="val 364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917817" y="16759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工厂角色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917817" y="1935956"/>
              <a:ext cx="3774821" cy="2129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TVFactory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TV produceTV(String brand)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"Haier"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.equalsIgnoreCase(brand))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System.out.println(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"工厂生产海尔电视机"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HaierTV();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"Hisense"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.equalsIgnoreCase(brand))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System.out.println(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"工厂生产海信电视机"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HisenseTV();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throw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IllegalArgumentException(brand);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6" name="c2-code-2"/>
          <p:cNvGrpSpPr/>
          <p:nvPr/>
        </p:nvGrpSpPr>
        <p:grpSpPr>
          <a:xfrm>
            <a:off x="6789420" y="4305300"/>
            <a:ext cx="4869180" cy="1737360"/>
            <a:chOff x="6789420" y="4305300"/>
            <a:chExt cx="4869180" cy="1737360"/>
          </a:xfrm>
        </p:grpSpPr>
        <p:sp>
          <p:nvSpPr>
            <p:cNvPr id="23" name="Rectangle 23"/>
            <p:cNvSpPr/>
            <p:nvPr/>
          </p:nvSpPr>
          <p:spPr>
            <a:xfrm>
              <a:off x="6789420" y="4305300"/>
              <a:ext cx="4869180" cy="1737360"/>
            </a:xfrm>
            <a:prstGeom prst="roundRect">
              <a:avLst>
                <a:gd name="adj" fmla="val 548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917817" y="4457224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客户端与输出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917817" y="4717256"/>
              <a:ext cx="3127629" cy="12479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Client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main(String[] args)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TV tv = TVFactory.produceTV(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"Haier"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tv.play();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输出: 工厂生产海尔电视机 / 海尔电视机播放中 */</a:t>
              </a:r>
            </a:p>
          </p:txBody>
        </p:sp>
      </p:grpSp>
      <p:grpSp>
        <p:nvGrpSpPr>
          <p:cNvPr id="2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7" name="TextBox 27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简单工厂模式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11355" cy="909257"/>
            <a:chOff x="520446" y="342900"/>
            <a:chExt cx="441135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10 简单工厂 · 课件中的两个实例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1135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实例二：OA 系统的权限管理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6919722" cy="264033"/>
            <a:chOff x="526542" y="1545907"/>
            <a:chExt cx="6919722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69197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登录校验通过后，从数据库取出以整数存储的权限等级，按等级创建不同的用户对象。</a:t>
              </a:r>
            </a:p>
          </p:txBody>
        </p:sp>
      </p:grpSp>
      <p:grpSp>
        <p:nvGrpSpPr>
          <p:cNvPr id="15" name="c1-card-1"/>
          <p:cNvGrpSpPr/>
          <p:nvPr/>
        </p:nvGrpSpPr>
        <p:grpSpPr>
          <a:xfrm>
            <a:off x="533400" y="1928812"/>
            <a:ext cx="4328160" cy="1716405"/>
            <a:chOff x="533400" y="1928812"/>
            <a:chExt cx="4328160" cy="1716405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4328160" cy="1716405"/>
            </a:xfrm>
            <a:prstGeom prst="roundRect">
              <a:avLst>
                <a:gd name="adj" fmla="val 776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62162"/>
              <a:ext cx="47625" cy="144970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58190" y="211550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50862" y="214836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需求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23784" y="2150745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按权限等级返回用户对象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1332" y="2476500"/>
              <a:ext cx="3759898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所有用户都有一部分相同的操作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（sameOperation），另一部分操作随等级而不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同（diffOperation）。工厂按等级决定创建哪一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种用户。</a:t>
              </a:r>
            </a:p>
          </p:txBody>
        </p:sp>
      </p:grpSp>
      <p:grpSp>
        <p:nvGrpSpPr>
          <p:cNvPr id="35" name="c1-table-2"/>
          <p:cNvGrpSpPr/>
          <p:nvPr/>
        </p:nvGrpSpPr>
        <p:grpSpPr>
          <a:xfrm>
            <a:off x="533400" y="3815715"/>
            <a:ext cx="4328160" cy="1600200"/>
            <a:chOff x="533400" y="3815715"/>
            <a:chExt cx="4328160" cy="1600200"/>
          </a:xfrm>
        </p:grpSpPr>
        <p:sp>
          <p:nvSpPr>
            <p:cNvPr id="16" name="Rectangle 16"/>
            <p:cNvSpPr/>
            <p:nvPr/>
          </p:nvSpPr>
          <p:spPr>
            <a:xfrm>
              <a:off x="533400" y="3815715"/>
              <a:ext cx="4328160" cy="400050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00494" y="393715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权限等级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026082" y="393715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创建的用户类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766579" y="393715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独有操作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30555" y="43372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779270" y="4337209"/>
              <a:ext cx="6719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Employee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383280" y="433720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查看本人考勤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4611052"/>
              <a:ext cx="43281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4615815"/>
              <a:ext cx="432816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0555" y="47372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779270" y="4737259"/>
              <a:ext cx="6270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Manager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383280" y="4737259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审批本部门考勤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5011102"/>
              <a:ext cx="43281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0555" y="51373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779270" y="5137309"/>
              <a:ext cx="10487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Administrator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383280" y="513730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维护全部账号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3815715"/>
              <a:ext cx="4328160" cy="16002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1677352" y="3815715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3281362" y="3815715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2" name="c1-callout-3"/>
          <p:cNvGrpSpPr/>
          <p:nvPr/>
        </p:nvGrpSpPr>
        <p:grpSpPr>
          <a:xfrm>
            <a:off x="533400" y="5585460"/>
            <a:ext cx="4328160" cy="729615"/>
            <a:chOff x="533400" y="5585460"/>
            <a:chExt cx="4328160" cy="729615"/>
          </a:xfrm>
        </p:grpSpPr>
        <p:sp>
          <p:nvSpPr>
            <p:cNvPr id="36" name="Rectangle 36"/>
            <p:cNvSpPr/>
            <p:nvPr/>
          </p:nvSpPr>
          <p:spPr>
            <a:xfrm>
              <a:off x="533400" y="5585460"/>
              <a:ext cx="4328160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738188" y="5850255"/>
              <a:ext cx="200026" cy="200025"/>
              <a:chOff x="738188" y="5850255"/>
              <a:chExt cx="200026" cy="200025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738188" y="585025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777926" y="589470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12642" y="600583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1040892" y="5731192"/>
              <a:ext cx="3365563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这里的参数是整数而不是字符串，用 switch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写判断比 if-else 更清楚。</a:t>
              </a:r>
            </a:p>
          </p:txBody>
        </p:sp>
      </p:grpSp>
      <p:grpSp>
        <p:nvGrpSpPr>
          <p:cNvPr id="83" name="c2-uml-1"/>
          <p:cNvGrpSpPr/>
          <p:nvPr/>
        </p:nvGrpSpPr>
        <p:grpSpPr>
          <a:xfrm>
            <a:off x="5568315" y="2205038"/>
            <a:ext cx="5939723" cy="1887854"/>
            <a:chOff x="5568315" y="2205038"/>
            <a:chExt cx="5939723" cy="1887854"/>
          </a:xfrm>
        </p:grpSpPr>
        <p:sp>
          <p:nvSpPr>
            <p:cNvPr id="43" name="Freeform 43"/>
            <p:cNvSpPr/>
            <p:nvPr/>
          </p:nvSpPr>
          <p:spPr>
            <a:xfrm>
              <a:off x="6248400" y="3035618"/>
              <a:ext cx="1973580" cy="501015"/>
            </a:xfrm>
            <a:custGeom>
              <a:avLst/>
              <a:gdLst/>
              <a:ahLst/>
              <a:cxnLst/>
              <a:rect l="l" t="t" r="r" b="b"/>
              <a:pathLst>
                <a:path w="1973580" h="501015">
                  <a:moveTo>
                    <a:pt x="0" y="501015"/>
                  </a:moveTo>
                  <a:lnTo>
                    <a:pt x="0" y="187642"/>
                  </a:lnTo>
                  <a:lnTo>
                    <a:pt x="1973580" y="187642"/>
                  </a:lnTo>
                  <a:lnTo>
                    <a:pt x="197358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8148638" y="2909888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8412480" y="3035618"/>
              <a:ext cx="9525" cy="501015"/>
            </a:xfrm>
            <a:custGeom>
              <a:avLst/>
              <a:gdLst/>
              <a:ahLst/>
              <a:cxnLst/>
              <a:rect l="l" t="t" r="r" b="b"/>
              <a:pathLst>
                <a:path w="9525" h="501015">
                  <a:moveTo>
                    <a:pt x="0" y="501015"/>
                  </a:moveTo>
                  <a:lnTo>
                    <a:pt x="0" y="187642"/>
                  </a:lnTo>
                  <a:lnTo>
                    <a:pt x="0" y="187642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8339138" y="2909888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8602980" y="3035618"/>
              <a:ext cx="1973580" cy="501015"/>
            </a:xfrm>
            <a:custGeom>
              <a:avLst/>
              <a:gdLst/>
              <a:ahLst/>
              <a:cxnLst/>
              <a:rect l="l" t="t" r="r" b="b"/>
              <a:pathLst>
                <a:path w="1973580" h="501015">
                  <a:moveTo>
                    <a:pt x="1973580" y="501015"/>
                  </a:moveTo>
                  <a:lnTo>
                    <a:pt x="1973580" y="187642"/>
                  </a:lnTo>
                  <a:lnTo>
                    <a:pt x="0" y="187642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8529638" y="2909888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9116378" y="2557462"/>
              <a:ext cx="563880" cy="9525"/>
            </a:xfrm>
            <a:custGeom>
              <a:avLst/>
              <a:gdLst/>
              <a:ahLst/>
              <a:cxnLst/>
              <a:rect l="l" t="t" r="r" b="b"/>
              <a:pathLst>
                <a:path w="563880" h="9525">
                  <a:moveTo>
                    <a:pt x="563880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50" name="Freeform 50"/>
            <p:cNvSpPr/>
            <p:nvPr/>
          </p:nvSpPr>
          <p:spPr>
            <a:xfrm>
              <a:off x="9116378" y="2499360"/>
              <a:ext cx="104775" cy="115253"/>
            </a:xfrm>
            <a:custGeom>
              <a:avLst/>
              <a:gdLst/>
              <a:ahLst/>
              <a:cxnLst/>
              <a:rect l="l" t="t" r="r" b="b"/>
              <a:pathLst>
                <a:path w="104775" h="115253">
                  <a:moveTo>
                    <a:pt x="104775" y="0"/>
                  </a:moveTo>
                  <a:lnTo>
                    <a:pt x="0" y="58103"/>
                  </a:lnTo>
                  <a:lnTo>
                    <a:pt x="104775" y="115253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7708582" y="2205038"/>
              <a:ext cx="1406842" cy="70485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7716202" y="2211705"/>
              <a:ext cx="1392555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7708582" y="2417445"/>
              <a:ext cx="140684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7708582" y="2512695"/>
              <a:ext cx="140684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9680258" y="2279332"/>
              <a:ext cx="1792605" cy="55626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9686925" y="2286000"/>
              <a:ext cx="1778318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9680258" y="2491740"/>
              <a:ext cx="179260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9680258" y="2586990"/>
              <a:ext cx="179260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5568315" y="3536632"/>
              <a:ext cx="1360170" cy="55626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5574982" y="3543300"/>
              <a:ext cx="134588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5568315" y="3749040"/>
              <a:ext cx="136017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5568315" y="3844290"/>
              <a:ext cx="136017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7732395" y="3536632"/>
              <a:ext cx="1360170" cy="55626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7739062" y="3543300"/>
              <a:ext cx="134588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7732395" y="3749040"/>
              <a:ext cx="136017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7732395" y="3844290"/>
              <a:ext cx="136017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9896475" y="3536632"/>
              <a:ext cx="1360170" cy="55626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9903142" y="3543300"/>
              <a:ext cx="134588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9896475" y="3749040"/>
              <a:ext cx="136017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9896475" y="3844290"/>
              <a:ext cx="136017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8265800" y="2256472"/>
              <a:ext cx="29336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i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User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780020" y="2580799"/>
              <a:ext cx="1264412" cy="3105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0"/>
                </a:lnSpc>
              </a:pPr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sameOperation(): void</a:t>
              </a:r>
              <a:br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diffOperation(): void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0183009" y="2330768"/>
              <a:ext cx="78710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UserFactory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9751695" y="2655094"/>
              <a:ext cx="175634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getUser(int permission): User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5964985" y="3588068"/>
              <a:ext cx="56683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Employee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5639752" y="3912394"/>
              <a:ext cx="129429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diffOperation(): void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8148022" y="3588068"/>
              <a:ext cx="52891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Manager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7803832" y="3912394"/>
              <a:ext cx="129429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diffOperation(): void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0134186" y="3588068"/>
              <a:ext cx="88474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Administrator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9967912" y="3912394"/>
              <a:ext cx="129429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diffOperation(): void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9236392" y="2361248"/>
              <a:ext cx="323850" cy="165735"/>
            </a:xfrm>
            <a:prstGeom prst="roundRect">
              <a:avLst>
                <a:gd name="adj" fmla="val 2298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9272397" y="2384108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创建</a:t>
              </a:r>
            </a:p>
          </p:txBody>
        </p:sp>
      </p:grpSp>
      <p:grpSp>
        <p:nvGrpSpPr>
          <p:cNvPr id="90" name="c2-card-2"/>
          <p:cNvGrpSpPr/>
          <p:nvPr/>
        </p:nvGrpSpPr>
        <p:grpSpPr>
          <a:xfrm>
            <a:off x="5166360" y="4612958"/>
            <a:ext cx="6492240" cy="1702118"/>
            <a:chOff x="5166360" y="4612958"/>
            <a:chExt cx="6492240" cy="1702118"/>
          </a:xfrm>
        </p:grpSpPr>
        <p:sp>
          <p:nvSpPr>
            <p:cNvPr id="84" name="Rectangle 84"/>
            <p:cNvSpPr/>
            <p:nvPr/>
          </p:nvSpPr>
          <p:spPr>
            <a:xfrm>
              <a:off x="5166360" y="4612958"/>
              <a:ext cx="6492240" cy="1702118"/>
            </a:xfrm>
            <a:prstGeom prst="roundRect">
              <a:avLst>
                <a:gd name="adj" fmla="val 783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5" name="Rectangle 85"/>
            <p:cNvSpPr/>
            <p:nvPr/>
          </p:nvSpPr>
          <p:spPr>
            <a:xfrm>
              <a:off x="5175885" y="4746308"/>
              <a:ext cx="47625" cy="143541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86" name="Rectangle 86"/>
            <p:cNvSpPr/>
            <p:nvPr/>
          </p:nvSpPr>
          <p:spPr>
            <a:xfrm>
              <a:off x="5391150" y="479964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5483822" y="483250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5956744" y="483489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原图把依赖画成了关联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5384292" y="5160645"/>
              <a:ext cx="573157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20 页从 UserFactory 到三个具体用户类画的是实线箭头。工厂只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是在方法体里创建它们，规范画法是虚线箭头的依赖关系。</a:t>
              </a:r>
            </a:p>
          </p:txBody>
        </p:sp>
      </p:grpSp>
      <p:grpSp>
        <p:nvGrpSpPr>
          <p:cNvPr id="9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1" name="TextBox 91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简单工厂模式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10 简单工厂 · 课件中的两个实例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实例二的代码：公共操作放父类，差异操作留给子类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951220" cy="3670935"/>
            <a:chOff x="533400" y="1524000"/>
            <a:chExt cx="5951220" cy="36709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3670935"/>
            </a:xfrm>
            <a:prstGeom prst="roundRect">
              <a:avLst>
                <a:gd name="adj" fmla="val 259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4611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抽象产品与两个具体产品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797" y="1935956"/>
              <a:ext cx="3637915" cy="31863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User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sameOperation()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"查看个人信息"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diffOperation();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Employee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User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diffOperation()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"普通员工: 查看本人考勤"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Manager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User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diffOperation()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"部门经理: 审批本部门考勤"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4" name="c2-code-1"/>
          <p:cNvGrpSpPr/>
          <p:nvPr/>
        </p:nvGrpSpPr>
        <p:grpSpPr>
          <a:xfrm>
            <a:off x="6789420" y="1524000"/>
            <a:ext cx="4869180" cy="2264092"/>
            <a:chOff x="6789420" y="1524000"/>
            <a:chExt cx="4869180" cy="2264092"/>
          </a:xfrm>
        </p:grpSpPr>
        <p:sp>
          <p:nvSpPr>
            <p:cNvPr id="11" name="Rectangle 11"/>
            <p:cNvSpPr/>
            <p:nvPr/>
          </p:nvSpPr>
          <p:spPr>
            <a:xfrm>
              <a:off x="6789420" y="1524000"/>
              <a:ext cx="4869180" cy="2264092"/>
            </a:xfrm>
            <a:prstGeom prst="roundRect">
              <a:avLst>
                <a:gd name="adj" fmla="val 420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917817" y="16759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工厂角色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917817" y="1935956"/>
              <a:ext cx="3973957" cy="17766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UserFactory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User getUser(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permission)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switch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(permission)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case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1: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Employee();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case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2: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Manager();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case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3: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Administrator();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throw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IllegalArgumentException(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"非法权限等级"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8" name="c2-code-2"/>
          <p:cNvGrpSpPr/>
          <p:nvPr/>
        </p:nvGrpSpPr>
        <p:grpSpPr>
          <a:xfrm>
            <a:off x="6789420" y="3958590"/>
            <a:ext cx="4869180" cy="1737360"/>
            <a:chOff x="6789420" y="3958590"/>
            <a:chExt cx="4869180" cy="1737360"/>
          </a:xfrm>
        </p:grpSpPr>
        <p:sp>
          <p:nvSpPr>
            <p:cNvPr id="15" name="Rectangle 15"/>
            <p:cNvSpPr/>
            <p:nvPr/>
          </p:nvSpPr>
          <p:spPr>
            <a:xfrm>
              <a:off x="6789420" y="3958590"/>
              <a:ext cx="4869180" cy="1737360"/>
            </a:xfrm>
            <a:prstGeom prst="roundRect">
              <a:avLst>
                <a:gd name="adj" fmla="val 548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917817" y="4110514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客户端与输出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917817" y="4370546"/>
              <a:ext cx="3911727" cy="12479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Client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main(String[] args)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User u = UserFactory.getUser(2);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2 = 经理 */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u.sameOperation();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查看个人信息 */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u.diffOperation();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部门经理: 审批本部门考勤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4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19" name="Rectangle 19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738188" y="6022660"/>
              <a:ext cx="200023" cy="200023"/>
              <a:chOff x="738188" y="6022660"/>
              <a:chExt cx="200023" cy="200023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738188" y="60226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71538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1040892" y="6028373"/>
              <a:ext cx="94225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Administrator 与 Manager 写法相同；新增一个实习生等级要写 Intern 子类，还要回 UserFactory 加一个 case。</a:t>
              </a:r>
            </a:p>
          </p:txBody>
        </p:sp>
      </p:grpSp>
      <p:grpSp>
        <p:nvGrpSpPr>
          <p:cNvPr id="2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5" name="TextBox 25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简单工厂模式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6336792" cy="2997517"/>
            <a:chOff x="667512" y="1835468"/>
            <a:chExt cx="6336792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633679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优缺点、适用环境与实际应用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2371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知道它好在哪，更要知道它在哪里会顶不住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三条优点与四条缺点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什么时候该用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0467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JDK 里的静态工厂方法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简单工厂模式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06609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6826" y="407194"/>
              <a:ext cx="29782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10 简单工厂 · 优缺点、适用环境与实际应用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优点与缺点：好处在分工，代价在那个工厂类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9" name="c1-compare-1"/>
          <p:cNvGrpSpPr/>
          <p:nvPr/>
        </p:nvGrpSpPr>
        <p:grpSpPr>
          <a:xfrm>
            <a:off x="533400" y="1524000"/>
            <a:ext cx="6275070" cy="4101465"/>
            <a:chOff x="533400" y="1524000"/>
            <a:chExt cx="6275070" cy="410146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2927985" cy="4101465"/>
            </a:xfrm>
            <a:prstGeom prst="roundRect">
              <a:avLst>
                <a:gd name="adj" fmla="val 455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383476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73430" y="175831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优点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86765" y="2175510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44880" y="2112645"/>
              <a:ext cx="2110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工厂集中了判断逻辑，客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户端只负责消费产品，责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任被切开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6765" y="3082290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4880" y="3019425"/>
              <a:ext cx="2110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客户端不必记住复杂的具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体类名，只要记住对应的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参数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6765" y="3989070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4880" y="3926205"/>
              <a:ext cx="2110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引入配置文件后，不改客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户端代码也能更换和增加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产品类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3880485" y="1524000"/>
              <a:ext cx="2927985" cy="4101465"/>
            </a:xfrm>
            <a:prstGeom prst="roundRect">
              <a:avLst>
                <a:gd name="adj" fmla="val 455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3890010" y="1657350"/>
              <a:ext cx="47625" cy="383476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120515" y="175831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缺点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4133850" y="2175510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291965" y="2112645"/>
              <a:ext cx="2110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全部创建逻辑集中在工厂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类，它一出问题整个系统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都受影响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4133850" y="3082290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291965" y="3019425"/>
              <a:ext cx="2110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类的个数增多，系统的复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杂度和理解难度都上升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4133850" y="3703320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291965" y="3640455"/>
              <a:ext cx="2110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加新产品必须改工厂的判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断逻辑，与开闭原则相违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背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4133850" y="4610100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291965" y="4547235"/>
              <a:ext cx="2110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工厂方法是静态的，工厂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角色无法形成基于继承的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等级结构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3509010" y="3412808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579350" y="3509010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32" name="c2-image-1"/>
          <p:cNvGrpSpPr/>
          <p:nvPr/>
        </p:nvGrpSpPr>
        <p:grpSpPr>
          <a:xfrm>
            <a:off x="7114222" y="1524000"/>
            <a:ext cx="4544378" cy="2600802"/>
            <a:chOff x="7114222" y="1524000"/>
            <a:chExt cx="4544378" cy="2600802"/>
          </a:xfrm>
        </p:grpSpPr>
        <p:pic>
          <p:nvPicPr>
            <p:cNvPr id="30" name="Image 30"/>
            <p:cNvPicPr>
              <a:picLocks noChangeAspect="1"/>
            </p:cNvPicPr>
            <p:nvPr/>
          </p:nvPicPr>
          <p:blipFill>
            <a:blip r:embed="rId2"/>
            <a:srcRect l="0" t="16464" r="0" b="16464"/>
            <a:stretch>
              <a:fillRect/>
            </a:stretch>
          </p:blipFill>
          <p:spPr>
            <a:xfrm>
              <a:off x="7114222" y="1524000"/>
              <a:ext cx="4544378" cy="2286000"/>
            </a:xfrm>
            <a:prstGeom prst="roundRect">
              <a:avLst>
                <a:gd name="adj" fmla="val 5833"/>
              </a:avLst>
            </a:prstGeom>
          </p:spPr>
        </p:pic>
        <p:sp>
          <p:nvSpPr>
            <p:cNvPr id="31" name="TextBox 31"/>
            <p:cNvSpPr txBox="1"/>
            <p:nvPr/>
          </p:nvSpPr>
          <p:spPr>
            <a:xfrm>
              <a:off x="7118604" y="3904774"/>
              <a:ext cx="45346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所有创建请求都排到同一张桌子前，这张桌子就成了整个系统的单点</a:t>
              </a:r>
            </a:p>
          </p:txBody>
        </p:sp>
      </p:grpSp>
      <p:grpSp>
        <p:nvGrpSpPr>
          <p:cNvPr id="39" name="c2-card-2"/>
          <p:cNvGrpSpPr/>
          <p:nvPr/>
        </p:nvGrpSpPr>
        <p:grpSpPr>
          <a:xfrm>
            <a:off x="7114222" y="4290060"/>
            <a:ext cx="4544378" cy="1335405"/>
            <a:chOff x="7114222" y="4290060"/>
            <a:chExt cx="4544378" cy="1335405"/>
          </a:xfrm>
        </p:grpSpPr>
        <p:sp>
          <p:nvSpPr>
            <p:cNvPr id="33" name="Rectangle 33"/>
            <p:cNvSpPr/>
            <p:nvPr/>
          </p:nvSpPr>
          <p:spPr>
            <a:xfrm>
              <a:off x="7114222" y="4290060"/>
              <a:ext cx="4544378" cy="1335405"/>
            </a:xfrm>
            <a:prstGeom prst="roundRect">
              <a:avLst>
                <a:gd name="adj" fmla="val 9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7123748" y="4423410"/>
              <a:ext cx="47625" cy="10687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7361872" y="449961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452081" y="453532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961948" y="4534852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原课件的一处笔误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354252" y="4895850"/>
              <a:ext cx="38728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23 页写"在一定程序上增加了系统的复杂度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"，应为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在一定程度上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46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0" name="Rectangle 40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726129" y="5992296"/>
              <a:ext cx="224134" cy="192560"/>
              <a:chOff x="726129" y="5992296"/>
              <a:chExt cx="224134" cy="19256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838200" y="606266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726129" y="599229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38200" y="61404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1040130" y="5991225"/>
              <a:ext cx="84963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静态方法不能被子类重写，所以工厂类没法用继承扩展，这是它和工厂方法模式最本质的分界。</a:t>
              </a:r>
            </a:p>
          </p:txBody>
        </p:sp>
      </p:grpSp>
      <p:grpSp>
        <p:nvGrpSpPr>
          <p:cNvPr id="4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7" name="TextBox 47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简单工厂模式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06609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6826" y="407194"/>
              <a:ext cx="29782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10 简单工厂 · 优缺点、适用环境与实际应用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适用环境：产品少、客户端只认参数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bullets-1"/>
          <p:cNvGrpSpPr/>
          <p:nvPr/>
        </p:nvGrpSpPr>
        <p:grpSpPr>
          <a:xfrm>
            <a:off x="526542" y="1545907"/>
            <a:ext cx="5164455" cy="1464184"/>
            <a:chOff x="526542" y="1545907"/>
            <a:chExt cx="5164455" cy="1464184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可以用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533400" y="1894522"/>
              <a:ext cx="129540" cy="104775"/>
            </a:xfrm>
            <a:custGeom>
              <a:avLst/>
              <a:gdLst/>
              <a:ahLst/>
              <a:cxnLst/>
              <a:rect l="l" t="t" r="r" b="b"/>
              <a:pathLst>
                <a:path w="129540" h="104775">
                  <a:moveTo>
                    <a:pt x="0" y="55245"/>
                  </a:moveTo>
                  <a:lnTo>
                    <a:pt x="49530" y="104775"/>
                  </a:lnTo>
                  <a:lnTo>
                    <a:pt x="12954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70382" y="1865947"/>
              <a:ext cx="48143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工厂类负责创建的对象比较少，工厂方法里的判断逻辑不会太复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杂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533400" y="2463165"/>
              <a:ext cx="129540" cy="104775"/>
            </a:xfrm>
            <a:custGeom>
              <a:avLst/>
              <a:gdLst/>
              <a:ahLst/>
              <a:cxnLst/>
              <a:rect l="l" t="t" r="r" b="b"/>
              <a:pathLst>
                <a:path w="129540" h="104775">
                  <a:moveTo>
                    <a:pt x="0" y="55245"/>
                  </a:moveTo>
                  <a:lnTo>
                    <a:pt x="49530" y="104775"/>
                  </a:lnTo>
                  <a:lnTo>
                    <a:pt x="12954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70382" y="2434590"/>
              <a:ext cx="49206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客户端只知道传入工厂类的参数，对于对象如何创建并不关心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533400" y="2773680"/>
              <a:ext cx="129540" cy="105728"/>
            </a:xfrm>
            <a:custGeom>
              <a:avLst/>
              <a:gdLst/>
              <a:ahLst/>
              <a:cxnLst/>
              <a:rect l="l" t="t" r="r" b="b"/>
              <a:pathLst>
                <a:path w="129540" h="105728">
                  <a:moveTo>
                    <a:pt x="0" y="56198"/>
                  </a:moveTo>
                  <a:lnTo>
                    <a:pt x="49530" y="105728"/>
                  </a:lnTo>
                  <a:lnTo>
                    <a:pt x="12954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70382" y="2746058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产品种类已经稳定下来，短期内不会频繁增加</a:t>
              </a:r>
            </a:p>
          </p:txBody>
        </p:sp>
      </p:grpSp>
      <p:grpSp>
        <p:nvGrpSpPr>
          <p:cNvPr id="21" name="c1-callout-2"/>
          <p:cNvGrpSpPr/>
          <p:nvPr/>
        </p:nvGrpSpPr>
        <p:grpSpPr>
          <a:xfrm>
            <a:off x="533400" y="3131820"/>
            <a:ext cx="5410200" cy="729615"/>
            <a:chOff x="533400" y="3131820"/>
            <a:chExt cx="5410200" cy="729615"/>
          </a:xfrm>
        </p:grpSpPr>
        <p:sp>
          <p:nvSpPr>
            <p:cNvPr id="15" name="Rectangle 15"/>
            <p:cNvSpPr/>
            <p:nvPr/>
          </p:nvSpPr>
          <p:spPr>
            <a:xfrm>
              <a:off x="533400" y="3131820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738188" y="3396615"/>
              <a:ext cx="200026" cy="200025"/>
              <a:chOff x="738188" y="3396615"/>
              <a:chExt cx="200026" cy="200025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738188" y="339661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777926" y="344106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812642" y="355219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1040892" y="3277552"/>
              <a:ext cx="429996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判断标准可以更直接：工厂方法里的分支超过五六个还在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长，就该换模式了。</a:t>
              </a:r>
            </a:p>
          </p:txBody>
        </p:sp>
      </p:grpSp>
      <p:grpSp>
        <p:nvGrpSpPr>
          <p:cNvPr id="33" name="c1-card-3"/>
          <p:cNvGrpSpPr/>
          <p:nvPr/>
        </p:nvGrpSpPr>
        <p:grpSpPr>
          <a:xfrm>
            <a:off x="533400" y="4035742"/>
            <a:ext cx="5410200" cy="1574482"/>
            <a:chOff x="533400" y="4035742"/>
            <a:chExt cx="5410200" cy="1574482"/>
          </a:xfrm>
        </p:grpSpPr>
        <p:sp>
          <p:nvSpPr>
            <p:cNvPr id="22" name="Rectangle 22"/>
            <p:cNvSpPr/>
            <p:nvPr/>
          </p:nvSpPr>
          <p:spPr>
            <a:xfrm>
              <a:off x="533400" y="4035742"/>
              <a:ext cx="5410200" cy="1574482"/>
            </a:xfrm>
            <a:prstGeom prst="roundRect">
              <a:avLst>
                <a:gd name="adj" fmla="val 846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542925" y="4169092"/>
              <a:ext cx="47625" cy="130778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763905" y="4228148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55345" y="426243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对照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347597" y="4268152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本讲三个例子都符合这两条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772478" y="4658678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28497" y="4602480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支付方式：三种，参数是一个字符串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772478" y="4961572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28497" y="4905375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权限等级：三级，参数是一个整数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72478" y="5263515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28497" y="520731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电视机品牌：两个，参数是品牌名</a:t>
              </a:r>
            </a:p>
          </p:txBody>
        </p:sp>
      </p:grpSp>
      <p:grpSp>
        <p:nvGrpSpPr>
          <p:cNvPr id="43" name="c2-bullets-1"/>
          <p:cNvGrpSpPr/>
          <p:nvPr/>
        </p:nvGrpSpPr>
        <p:grpSpPr>
          <a:xfrm>
            <a:off x="6241542" y="1545907"/>
            <a:ext cx="4193629" cy="1517524"/>
            <a:chOff x="6241542" y="1545907"/>
            <a:chExt cx="4193629" cy="1517524"/>
          </a:xfrm>
        </p:grpSpPr>
        <p:sp>
          <p:nvSpPr>
            <p:cNvPr id="34" name="TextBox 34"/>
            <p:cNvSpPr txBox="1"/>
            <p:nvPr/>
          </p:nvSpPr>
          <p:spPr>
            <a:xfrm>
              <a:off x="6241542" y="1545907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不要用</a:t>
              </a:r>
            </a:p>
          </p:txBody>
        </p:sp>
        <p:sp>
          <p:nvSpPr>
            <p:cNvPr id="35" name="Freeform 35"/>
            <p:cNvSpPr/>
            <p:nvPr/>
          </p:nvSpPr>
          <p:spPr>
            <a:xfrm>
              <a:off x="6248400" y="1898332"/>
              <a:ext cx="102870" cy="102870"/>
            </a:xfrm>
            <a:custGeom>
              <a:avLst/>
              <a:gdLst/>
              <a:ahLst/>
              <a:cxnLst/>
              <a:rect l="l" t="t" r="r" b="b"/>
              <a:pathLst>
                <a:path w="102870" h="102870">
                  <a:moveTo>
                    <a:pt x="0" y="0"/>
                  </a:moveTo>
                  <a:lnTo>
                    <a:pt x="102870" y="102870"/>
                  </a:lnTo>
                  <a:moveTo>
                    <a:pt x="102870" y="0"/>
                  </a:moveTo>
                  <a:lnTo>
                    <a:pt x="0" y="102870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477762" y="1865947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产品种类多且还会不断增加，工厂越改越乱</a:t>
              </a:r>
            </a:p>
          </p:txBody>
        </p:sp>
        <p:sp>
          <p:nvSpPr>
            <p:cNvPr id="37" name="Freeform 37"/>
            <p:cNvSpPr/>
            <p:nvPr/>
          </p:nvSpPr>
          <p:spPr>
            <a:xfrm>
              <a:off x="6248400" y="2209800"/>
              <a:ext cx="102870" cy="102870"/>
            </a:xfrm>
            <a:custGeom>
              <a:avLst/>
              <a:gdLst/>
              <a:ahLst/>
              <a:cxnLst/>
              <a:rect l="l" t="t" r="r" b="b"/>
              <a:pathLst>
                <a:path w="102870" h="102870">
                  <a:moveTo>
                    <a:pt x="0" y="0"/>
                  </a:moveTo>
                  <a:lnTo>
                    <a:pt x="102870" y="102870"/>
                  </a:lnTo>
                  <a:moveTo>
                    <a:pt x="102870" y="0"/>
                  </a:moveTo>
                  <a:lnTo>
                    <a:pt x="0" y="102870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477762" y="2177415"/>
              <a:ext cx="39574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创建过程要分步骤装配，改用建造者（第 13 讲）</a:t>
              </a:r>
            </a:p>
          </p:txBody>
        </p:sp>
        <p:sp>
          <p:nvSpPr>
            <p:cNvPr id="39" name="Freeform 39"/>
            <p:cNvSpPr/>
            <p:nvPr/>
          </p:nvSpPr>
          <p:spPr>
            <a:xfrm>
              <a:off x="6248400" y="2521268"/>
              <a:ext cx="102870" cy="102870"/>
            </a:xfrm>
            <a:custGeom>
              <a:avLst/>
              <a:gdLst/>
              <a:ahLst/>
              <a:cxnLst/>
              <a:rect l="l" t="t" r="r" b="b"/>
              <a:pathLst>
                <a:path w="102870" h="102870">
                  <a:moveTo>
                    <a:pt x="0" y="0"/>
                  </a:moveTo>
                  <a:lnTo>
                    <a:pt x="102870" y="102870"/>
                  </a:lnTo>
                  <a:moveTo>
                    <a:pt x="102870" y="0"/>
                  </a:moveTo>
                  <a:lnTo>
                    <a:pt x="0" y="102870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477762" y="2488882"/>
              <a:ext cx="39574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要成套创建一族产品，改用抽象工厂（第 12 讲）</a:t>
              </a:r>
            </a:p>
          </p:txBody>
        </p:sp>
        <p:sp>
          <p:nvSpPr>
            <p:cNvPr id="41" name="Freeform 41"/>
            <p:cNvSpPr/>
            <p:nvPr/>
          </p:nvSpPr>
          <p:spPr>
            <a:xfrm>
              <a:off x="6248400" y="2831782"/>
              <a:ext cx="102870" cy="102870"/>
            </a:xfrm>
            <a:custGeom>
              <a:avLst/>
              <a:gdLst/>
              <a:ahLst/>
              <a:cxnLst/>
              <a:rect l="l" t="t" r="r" b="b"/>
              <a:pathLst>
                <a:path w="102870" h="102870">
                  <a:moveTo>
                    <a:pt x="0" y="0"/>
                  </a:moveTo>
                  <a:lnTo>
                    <a:pt x="102870" y="102870"/>
                  </a:lnTo>
                  <a:moveTo>
                    <a:pt x="102870" y="0"/>
                  </a:moveTo>
                  <a:lnTo>
                    <a:pt x="0" y="102870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477762" y="2799398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工厂本身需要按场合派生出多个版本</a:t>
              </a:r>
            </a:p>
          </p:txBody>
        </p:sp>
      </p:grpSp>
      <p:grpSp>
        <p:nvGrpSpPr>
          <p:cNvPr id="49" name="c2-card-2"/>
          <p:cNvGrpSpPr/>
          <p:nvPr/>
        </p:nvGrpSpPr>
        <p:grpSpPr>
          <a:xfrm>
            <a:off x="6248400" y="3185160"/>
            <a:ext cx="5410200" cy="2425065"/>
            <a:chOff x="6248400" y="3185160"/>
            <a:chExt cx="5410200" cy="2425065"/>
          </a:xfrm>
        </p:grpSpPr>
        <p:sp>
          <p:nvSpPr>
            <p:cNvPr id="44" name="Rectangle 44"/>
            <p:cNvSpPr/>
            <p:nvPr/>
          </p:nvSpPr>
          <p:spPr>
            <a:xfrm>
              <a:off x="6248400" y="3185160"/>
              <a:ext cx="5410200" cy="2425065"/>
            </a:xfrm>
            <a:prstGeom prst="roundRect">
              <a:avLst>
                <a:gd name="adj" fmla="val 5499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440805" y="3377565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528245" y="341185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一句话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157847" y="3417570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它买的是方便，卖的是扩展性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433947" y="3751898"/>
              <a:ext cx="467715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简单工厂用"改一个类"换来"客户端全都不用改"。产品稳定时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这笔交易划算，产品不断变时就不划算了。</a:t>
              </a:r>
            </a:p>
          </p:txBody>
        </p:sp>
      </p:grpSp>
      <p:grpSp>
        <p:nvGrpSpPr>
          <p:cNvPr id="55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50" name="Rectangle 50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1040892" y="6023610"/>
              <a:ext cx="74558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产品数量还会变时，把选择权交给工厂的子类或配置文件，别让工厂里的 if-else 无限增长。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简单工厂模式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544652" cy="909257"/>
            <a:chOff x="520446" y="342900"/>
            <a:chExt cx="45446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06609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6826" y="407194"/>
              <a:ext cx="29782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10 简单工厂 · 优缺点、适用环境与实际应用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5446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JDK 里到处都是静态工厂方法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6322771" cy="278702"/>
            <a:chOff x="526161" y="1547336"/>
            <a:chExt cx="6322771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632277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这些方法都符合同一个套路：静态、返回抽象类型、由参数决定具体实现。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41195"/>
            <a:ext cx="6059805" cy="2966085"/>
            <a:chOff x="533400" y="1941195"/>
            <a:chExt cx="6059805" cy="2966085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6059805" cy="2966085"/>
            </a:xfrm>
            <a:prstGeom prst="roundRect">
              <a:avLst>
                <a:gd name="adj" fmla="val 321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93119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四个常见例子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416" y="2354580"/>
              <a:ext cx="4411218" cy="24799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1. 日期格式化: 同名方法的多个重载 */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DateFormat d1 = DateFormat.getDateInstance();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DateFormat d2 = DateFormat.getDateInstance(DateFormat.LONG);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DateFormat d3 = DateFormat.getDateInstance(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    DateFormat.LONG, Locale.CHINA);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2. 加密: 参数是算法名, 实现类由 JDK 挑 */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KeyGenerator keyGen = KeyGenerator.getInstance(</a:t>
              </a:r>
              <a:r>
                <a:rPr lang="en-US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"DESede"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Cipher cipher = Cipher.getInstance(</a:t>
              </a:r>
              <a:r>
                <a:rPr lang="en-US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"DESede"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3. 日历与装箱: 同样是静态工厂方法 */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Calendar c = Calendar.getInstance();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Integer n = Integer.valueOf(42);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5082540"/>
            <a:ext cx="6059805" cy="1272540"/>
            <a:chOff x="533400" y="5082540"/>
            <a:chExt cx="6059805" cy="1272540"/>
          </a:xfrm>
        </p:grpSpPr>
        <p:sp>
          <p:nvSpPr>
            <p:cNvPr id="13" name="Rectangle 13"/>
            <p:cNvSpPr/>
            <p:nvPr/>
          </p:nvSpPr>
          <p:spPr>
            <a:xfrm>
              <a:off x="533400" y="5082540"/>
              <a:ext cx="6059805" cy="1272540"/>
            </a:xfrm>
            <a:prstGeom prst="roundRect">
              <a:avLst>
                <a:gd name="adj" fmla="val 1047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2925" y="5215890"/>
              <a:ext cx="47625" cy="100584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63905" y="527494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55345" y="530923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还有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47597" y="5314950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标准库里同一套路的几个方法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7047" y="5648325"/>
              <a:ext cx="35261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List.of(...)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Collections.emptyList()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7047" y="5951220"/>
              <a:ext cx="50889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Executors.newFixedThreadPool(int)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LocalDate.of(...)</a:t>
              </a:r>
            </a:p>
          </p:txBody>
        </p:sp>
      </p:grpSp>
      <p:grpSp>
        <p:nvGrpSpPr>
          <p:cNvPr id="28" name="c2-bullets-1"/>
          <p:cNvGrpSpPr/>
          <p:nvPr/>
        </p:nvGrpSpPr>
        <p:grpSpPr>
          <a:xfrm>
            <a:off x="6891147" y="1964055"/>
            <a:ext cx="4183380" cy="1206055"/>
            <a:chOff x="6891147" y="1964055"/>
            <a:chExt cx="4183380" cy="1206055"/>
          </a:xfrm>
        </p:grpSpPr>
        <p:sp>
          <p:nvSpPr>
            <p:cNvPr id="21" name="TextBox 21"/>
            <p:cNvSpPr txBox="1"/>
            <p:nvPr/>
          </p:nvSpPr>
          <p:spPr>
            <a:xfrm>
              <a:off x="6891147" y="1964055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三个共同点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6906578" y="2340292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062597" y="2284095"/>
              <a:ext cx="26216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方法是 static，用类名直接调用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6906578" y="2650807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062597" y="2594610"/>
              <a:ext cx="4011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返回类型是抽象类或接口，真实类型对调用者隐藏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6906578" y="2962275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062597" y="2906077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参数（样式常量、算法名）决定拿到哪个实现</a:t>
              </a:r>
            </a:p>
          </p:txBody>
        </p:sp>
      </p:grpSp>
      <p:grpSp>
        <p:nvGrpSpPr>
          <p:cNvPr id="36" name="c2-card-2"/>
          <p:cNvGrpSpPr/>
          <p:nvPr/>
        </p:nvGrpSpPr>
        <p:grpSpPr>
          <a:xfrm>
            <a:off x="6898005" y="3291840"/>
            <a:ext cx="4760595" cy="3062288"/>
            <a:chOff x="6898005" y="3291840"/>
            <a:chExt cx="4760595" cy="3062288"/>
          </a:xfrm>
        </p:grpSpPr>
        <p:sp>
          <p:nvSpPr>
            <p:cNvPr id="29" name="Rectangle 29"/>
            <p:cNvSpPr/>
            <p:nvPr/>
          </p:nvSpPr>
          <p:spPr>
            <a:xfrm>
              <a:off x="6898005" y="3291840"/>
              <a:ext cx="4760595" cy="3062288"/>
            </a:xfrm>
            <a:prstGeom prst="roundRect">
              <a:avLst>
                <a:gd name="adj" fmla="val 435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6907530" y="3425190"/>
              <a:ext cx="47625" cy="279558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128510" y="348424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219950" y="351853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注意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712202" y="3524250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静态工厂方法可以不止一个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121652" y="3858577"/>
              <a:ext cx="4051363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DateFormat 用重载区分不同的参数组合，这正是"多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个工厂方法"写法在标准库里的样子。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122795" y="4414361"/>
              <a:ext cx="42855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KeyGenerator.getInstance 会抛受检异常，实际代码里要处理</a:t>
              </a:r>
            </a:p>
          </p:txBody>
        </p:sp>
      </p:grpSp>
      <p:grpSp>
        <p:nvGrpSpPr>
          <p:cNvPr id="3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7" name="TextBox 37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简单工厂模式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  <p:grpSp>
        <p:nvGrpSpPr>
          <p:cNvPr id="20" name="section-title"/>
          <p:cNvGrpSpPr/>
          <p:nvPr/>
        </p:nvGrpSpPr>
        <p:grpSpPr>
          <a:xfrm>
            <a:off x="667512" y="1835468"/>
            <a:ext cx="4882896" cy="3706177"/>
            <a:chOff x="667512" y="1835468"/>
            <a:chExt cx="4882896" cy="370617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第六部分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88289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扩展、本质与模式对比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0149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从简化写法一路看到它和工厂方法的关系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工厂并进抽象产品类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从工厂方法退化而来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重载构造函数的改法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参数还可以是动态的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23900" y="530542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06780" y="524827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三种工厂的差别</a:t>
              </a:r>
            </a:p>
          </p:txBody>
        </p:sp>
      </p:grpSp>
      <p:grpSp>
        <p:nvGrpSpPr>
          <p:cNvPr id="2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1" name="TextBox 21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简单工厂模式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10 简单工厂 · 扩展、本质与模式对比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扩展一：把工厂方法搬进抽象产品类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7460488" cy="308039"/>
            <a:chOff x="525399" y="1550194"/>
            <a:chExt cx="7460488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746048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工厂角色也可以由抽象产品类兼任，一个抽象产品类同时充当自己子类的工厂。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67865"/>
            <a:ext cx="5410200" cy="2936558"/>
            <a:chOff x="533400" y="1967865"/>
            <a:chExt cx="5410200" cy="2936558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5410200" cy="2936558"/>
            </a:xfrm>
            <a:prstGeom prst="roundRect">
              <a:avLst>
                <a:gd name="adj" fmla="val 324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119789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抽象产品兼任工厂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035" y="2381726"/>
              <a:ext cx="3268726" cy="24517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Fruit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eat();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Fruit createApple()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Apple();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Fruit createGrape()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Grape();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调用: Fruit f = Fruit.createApple(); */</a:t>
              </a:r>
            </a:p>
          </p:txBody>
        </p:sp>
      </p:grpSp>
      <p:grpSp>
        <p:nvGrpSpPr>
          <p:cNvPr id="19" name="c1-callout-2"/>
          <p:cNvGrpSpPr/>
          <p:nvPr/>
        </p:nvGrpSpPr>
        <p:grpSpPr>
          <a:xfrm>
            <a:off x="533400" y="5094922"/>
            <a:ext cx="5410200" cy="782955"/>
            <a:chOff x="533400" y="5094922"/>
            <a:chExt cx="5410200" cy="782955"/>
          </a:xfrm>
        </p:grpSpPr>
        <p:sp>
          <p:nvSpPr>
            <p:cNvPr id="13" name="Rectangle 13"/>
            <p:cNvSpPr/>
            <p:nvPr/>
          </p:nvSpPr>
          <p:spPr>
            <a:xfrm>
              <a:off x="533400" y="5094922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726129" y="5382696"/>
              <a:ext cx="224134" cy="192560"/>
              <a:chOff x="726129" y="5382696"/>
              <a:chExt cx="224134" cy="19256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838200" y="545306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726129" y="538269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38200" y="55308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040130" y="5243512"/>
              <a:ext cx="4396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省下一个工厂类的代价是父类必须知道全部子类，加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一种水果就得回头改父类。</a:t>
              </a:r>
            </a:p>
          </p:txBody>
        </p:sp>
      </p:grpSp>
      <p:grpSp>
        <p:nvGrpSpPr>
          <p:cNvPr id="42" name="c2-uml-1"/>
          <p:cNvGrpSpPr/>
          <p:nvPr/>
        </p:nvGrpSpPr>
        <p:grpSpPr>
          <a:xfrm>
            <a:off x="6526530" y="2305050"/>
            <a:ext cx="4853940" cy="2012632"/>
            <a:chOff x="6526530" y="2305050"/>
            <a:chExt cx="4853940" cy="2012632"/>
          </a:xfrm>
        </p:grpSpPr>
        <p:sp>
          <p:nvSpPr>
            <p:cNvPr id="20" name="Freeform 20"/>
            <p:cNvSpPr/>
            <p:nvPr/>
          </p:nvSpPr>
          <p:spPr>
            <a:xfrm>
              <a:off x="7150418" y="3136582"/>
              <a:ext cx="1707832" cy="624840"/>
            </a:xfrm>
            <a:custGeom>
              <a:avLst/>
              <a:gdLst/>
              <a:ahLst/>
              <a:cxnLst/>
              <a:rect l="l" t="t" r="r" b="b"/>
              <a:pathLst>
                <a:path w="1707832" h="624840">
                  <a:moveTo>
                    <a:pt x="0" y="624840"/>
                  </a:moveTo>
                  <a:lnTo>
                    <a:pt x="0" y="249555"/>
                  </a:lnTo>
                  <a:lnTo>
                    <a:pt x="1707832" y="249555"/>
                  </a:lnTo>
                  <a:lnTo>
                    <a:pt x="1707832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8784908" y="3010852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9048750" y="3136582"/>
              <a:ext cx="1707832" cy="624840"/>
            </a:xfrm>
            <a:custGeom>
              <a:avLst/>
              <a:gdLst/>
              <a:ahLst/>
              <a:cxnLst/>
              <a:rect l="l" t="t" r="r" b="b"/>
              <a:pathLst>
                <a:path w="1707832" h="624840">
                  <a:moveTo>
                    <a:pt x="1707832" y="624840"/>
                  </a:moveTo>
                  <a:lnTo>
                    <a:pt x="1707832" y="249555"/>
                  </a:lnTo>
                  <a:lnTo>
                    <a:pt x="0" y="249555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8975408" y="3010852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8127682" y="2305050"/>
              <a:ext cx="1650682" cy="70485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8135302" y="2312670"/>
              <a:ext cx="1636395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8127682" y="2517458"/>
              <a:ext cx="165068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8127682" y="2612708"/>
              <a:ext cx="165068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526530" y="3761422"/>
              <a:ext cx="1246822" cy="55626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534150" y="3768090"/>
              <a:ext cx="1232535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526530" y="3973830"/>
              <a:ext cx="124682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526530" y="4069080"/>
              <a:ext cx="124682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10133648" y="3761422"/>
              <a:ext cx="1246822" cy="55626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10140315" y="3768090"/>
              <a:ext cx="1232535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10133648" y="3973830"/>
              <a:ext cx="124682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10133648" y="4069080"/>
              <a:ext cx="124682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701867" y="2356485"/>
              <a:ext cx="50326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i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Product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199120" y="2680811"/>
              <a:ext cx="1785112" cy="3105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0"/>
                </a:lnSpc>
              </a:pPr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operation()</a:t>
              </a:r>
              <a:br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factoryMethod(String): Product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579964" y="3812858"/>
              <a:ext cx="114090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ConcreteProductA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597968" y="4137184"/>
              <a:ext cx="74360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operation()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186129" y="3812858"/>
              <a:ext cx="114090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ConcreteProductB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205085" y="4137184"/>
              <a:ext cx="74360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operation()</a:t>
              </a:r>
            </a:p>
          </p:txBody>
        </p:sp>
      </p:grpSp>
      <p:grpSp>
        <p:nvGrpSpPr>
          <p:cNvPr id="44" name="c2-text-2"/>
          <p:cNvGrpSpPr/>
          <p:nvPr/>
        </p:nvGrpSpPr>
        <p:grpSpPr>
          <a:xfrm>
            <a:off x="6241923" y="4941094"/>
            <a:ext cx="5044186" cy="500824"/>
            <a:chOff x="6241923" y="4941094"/>
            <a:chExt cx="5044186" cy="500824"/>
          </a:xfrm>
        </p:grpSpPr>
        <p:sp>
          <p:nvSpPr>
            <p:cNvPr id="43" name="TextBox 43"/>
            <p:cNvSpPr txBox="1"/>
            <p:nvPr/>
          </p:nvSpPr>
          <p:spPr>
            <a:xfrm>
              <a:off x="6241923" y="4941094"/>
              <a:ext cx="5044186" cy="500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图中 factoryMethod 是静态方法。父类指向子类的创建依赖没有画出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来，但它确实存在，这正是这种写法被批评的地方。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简单工厂模式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10 简单工厂 · 扩展、本质与模式对比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扩展二：简单工厂是工厂方法退化来的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5971591" cy="308039"/>
            <a:chOff x="525399" y="1550194"/>
            <a:chExt cx="5971591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597159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陈伟老师课件从工厂方法模式出发，推出简单工厂出现的条件。</a:t>
              </a:r>
            </a:p>
          </p:txBody>
        </p:sp>
      </p:grpSp>
      <p:grpSp>
        <p:nvGrpSpPr>
          <p:cNvPr id="26" name="c1-steps-1"/>
          <p:cNvGrpSpPr/>
          <p:nvPr/>
        </p:nvGrpSpPr>
        <p:grpSpPr>
          <a:xfrm>
            <a:off x="533400" y="1977390"/>
            <a:ext cx="4891393" cy="2529173"/>
            <a:chOff x="533400" y="1977390"/>
            <a:chExt cx="4891393" cy="2529173"/>
          </a:xfrm>
        </p:grpSpPr>
        <p:sp>
          <p:nvSpPr>
            <p:cNvPr id="9" name="Rectangle 9"/>
            <p:cNvSpPr/>
            <p:nvPr/>
          </p:nvSpPr>
          <p:spPr>
            <a:xfrm>
              <a:off x="666750" y="2120265"/>
              <a:ext cx="19050" cy="19526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533400" y="1977390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0512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627948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7017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278505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3523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929062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40028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4880" y="201168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起点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023" y="2304574"/>
              <a:ext cx="447877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工厂方法模式里每种产品对应一个 ConcreteCreator 子类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4880" y="2662238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前提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023" y="2955131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产品种类已经稳定，不再需要新增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4880" y="331279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结论一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023" y="3606641"/>
              <a:ext cx="25090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 Creator 派生子类失去了意义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4880" y="3963352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结论二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023" y="4257199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工厂方法不再需要被重写，写成类方法更合理</a:t>
              </a:r>
            </a:p>
          </p:txBody>
        </p:sp>
      </p:grpSp>
      <p:grpSp>
        <p:nvGrpSpPr>
          <p:cNvPr id="32" name="c1-callout-2"/>
          <p:cNvGrpSpPr/>
          <p:nvPr/>
        </p:nvGrpSpPr>
        <p:grpSpPr>
          <a:xfrm>
            <a:off x="533400" y="4684395"/>
            <a:ext cx="4977765" cy="782955"/>
            <a:chOff x="533400" y="4684395"/>
            <a:chExt cx="4977765" cy="782955"/>
          </a:xfrm>
        </p:grpSpPr>
        <p:sp>
          <p:nvSpPr>
            <p:cNvPr id="27" name="Rectangle 27"/>
            <p:cNvSpPr/>
            <p:nvPr/>
          </p:nvSpPr>
          <p:spPr>
            <a:xfrm>
              <a:off x="533400" y="4684395"/>
              <a:ext cx="4977765" cy="782955"/>
            </a:xfrm>
            <a:prstGeom prst="roundRect">
              <a:avLst>
                <a:gd name="adj" fmla="val 14599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738188" y="4975862"/>
              <a:ext cx="200023" cy="200023"/>
              <a:chOff x="738188" y="4975862"/>
              <a:chExt cx="200023" cy="200023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738188" y="497586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71538" y="504253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1040130" y="4832985"/>
              <a:ext cx="40824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所以简单工厂又叫静态工厂方法：static 这个修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饰符正是退化的结果。</a:t>
              </a:r>
            </a:p>
          </p:txBody>
        </p:sp>
      </p:grpSp>
      <p:grpSp>
        <p:nvGrpSpPr>
          <p:cNvPr id="64" name="c2-uml-1"/>
          <p:cNvGrpSpPr/>
          <p:nvPr/>
        </p:nvGrpSpPr>
        <p:grpSpPr>
          <a:xfrm>
            <a:off x="6166485" y="2356485"/>
            <a:ext cx="5090160" cy="1889760"/>
            <a:chOff x="6166485" y="2356485"/>
            <a:chExt cx="5090160" cy="1889760"/>
          </a:xfrm>
        </p:grpSpPr>
        <p:sp>
          <p:nvSpPr>
            <p:cNvPr id="33" name="Freeform 33"/>
            <p:cNvSpPr/>
            <p:nvPr/>
          </p:nvSpPr>
          <p:spPr>
            <a:xfrm>
              <a:off x="6789420" y="3038475"/>
              <a:ext cx="1852612" cy="651510"/>
            </a:xfrm>
            <a:custGeom>
              <a:avLst/>
              <a:gdLst/>
              <a:ahLst/>
              <a:cxnLst/>
              <a:rect l="l" t="t" r="r" b="b"/>
              <a:pathLst>
                <a:path w="1852612" h="651510">
                  <a:moveTo>
                    <a:pt x="0" y="651510"/>
                  </a:moveTo>
                  <a:lnTo>
                    <a:pt x="0" y="262890"/>
                  </a:lnTo>
                  <a:lnTo>
                    <a:pt x="1852612" y="262890"/>
                  </a:lnTo>
                  <a:lnTo>
                    <a:pt x="1852612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8568690" y="2912745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8737282" y="3038475"/>
              <a:ext cx="95250" cy="651510"/>
            </a:xfrm>
            <a:custGeom>
              <a:avLst/>
              <a:gdLst/>
              <a:ahLst/>
              <a:cxnLst/>
              <a:rect l="l" t="t" r="r" b="b"/>
              <a:pathLst>
                <a:path w="95250" h="651510">
                  <a:moveTo>
                    <a:pt x="0" y="651510"/>
                  </a:moveTo>
                  <a:lnTo>
                    <a:pt x="0" y="262890"/>
                  </a:lnTo>
                  <a:lnTo>
                    <a:pt x="95250" y="262890"/>
                  </a:lnTo>
                  <a:lnTo>
                    <a:pt x="9525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8759190" y="2912745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9542145" y="2634615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38" name="Freeform 38"/>
            <p:cNvSpPr/>
            <p:nvPr/>
          </p:nvSpPr>
          <p:spPr>
            <a:xfrm>
              <a:off x="10008870" y="2576512"/>
              <a:ext cx="104775" cy="115253"/>
            </a:xfrm>
            <a:custGeom>
              <a:avLst/>
              <a:gdLst/>
              <a:ahLst/>
              <a:cxnLst/>
              <a:rect l="l" t="t" r="r" b="b"/>
              <a:pathLst>
                <a:path w="104775" h="115253">
                  <a:moveTo>
                    <a:pt x="0" y="115253"/>
                  </a:moveTo>
                  <a:lnTo>
                    <a:pt x="104775" y="58103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7931468" y="2356485"/>
              <a:ext cx="1610678" cy="55626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7939088" y="2363152"/>
              <a:ext cx="1596390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7931468" y="2568892"/>
              <a:ext cx="161067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7931468" y="2664142"/>
              <a:ext cx="161067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10113645" y="2430780"/>
              <a:ext cx="1143000" cy="40767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10120312" y="2437448"/>
              <a:ext cx="112871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10113645" y="264318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10113645" y="273843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166485" y="3689985"/>
              <a:ext cx="1246822" cy="55626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6173152" y="3696652"/>
              <a:ext cx="1232535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166485" y="3902392"/>
              <a:ext cx="124682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166485" y="3997642"/>
              <a:ext cx="124682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8113395" y="3689985"/>
              <a:ext cx="1246822" cy="55626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8121015" y="3696652"/>
              <a:ext cx="1232535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8113395" y="3902392"/>
              <a:ext cx="124682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8113395" y="3997642"/>
              <a:ext cx="124682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8485649" y="2407920"/>
              <a:ext cx="50326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i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Creator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002905" y="2732246"/>
              <a:ext cx="156371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factoryMethod(): Product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433512" y="2482215"/>
              <a:ext cx="50326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i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Product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220683" y="3741420"/>
              <a:ext cx="113747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ConcreteCreator1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237922" y="4065746"/>
              <a:ext cx="104060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factoryMethod()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168546" y="3741420"/>
              <a:ext cx="113747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ConcreteCreator2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184832" y="4065746"/>
              <a:ext cx="104060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factoryMethod()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9646920" y="2418398"/>
              <a:ext cx="3619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9681210" y="244506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返回</a:t>
              </a:r>
            </a:p>
          </p:txBody>
        </p:sp>
      </p:grpSp>
      <p:grpSp>
        <p:nvGrpSpPr>
          <p:cNvPr id="66" name="c2-text-2"/>
          <p:cNvGrpSpPr/>
          <p:nvPr/>
        </p:nvGrpSpPr>
        <p:grpSpPr>
          <a:xfrm>
            <a:off x="5809488" y="4845844"/>
            <a:ext cx="5458714" cy="500824"/>
            <a:chOff x="5809488" y="4845844"/>
            <a:chExt cx="5458714" cy="500824"/>
          </a:xfrm>
        </p:grpSpPr>
        <p:sp>
          <p:nvSpPr>
            <p:cNvPr id="65" name="TextBox 65"/>
            <p:cNvSpPr txBox="1"/>
            <p:nvPr/>
          </p:nvSpPr>
          <p:spPr>
            <a:xfrm>
              <a:off x="5809488" y="4845844"/>
              <a:ext cx="5458714" cy="500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产品稳定后两个子类就没有存在价值，Creator 只剩一个方法，改成 static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就成了简单工厂。工厂方法模式在第 11 讲细讲。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简单工厂模式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10 简单工厂 · 扩展、本质与模式对比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扩展三：重载构造函数改成命名的创建方法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6184290" cy="308039"/>
            <a:chOff x="525399" y="1550194"/>
            <a:chExt cx="6184290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618429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一个产品类有多个重载构造函数时，也可以套用简单工厂的思路。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67865"/>
            <a:ext cx="5626418" cy="3950970"/>
            <a:chOff x="533400" y="1967865"/>
            <a:chExt cx="5626418" cy="3950970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5626418" cy="3950970"/>
            </a:xfrm>
            <a:prstGeom prst="roundRect">
              <a:avLst>
                <a:gd name="adj" fmla="val 241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11978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构造函数私有，对外只留静态创建方法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035" y="2381726"/>
              <a:ext cx="4940046" cy="34661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Product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final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num;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final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float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rate;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Product(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num,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float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rate)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.num = num;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.rate = rate;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Product createNormal(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num)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Product(num, 1.0f);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Product createFloating(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num,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float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rate)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Product(num, rate);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0" name="c2-bullets-1"/>
          <p:cNvGrpSpPr/>
          <p:nvPr/>
        </p:nvGrpSpPr>
        <p:grpSpPr>
          <a:xfrm>
            <a:off x="6456998" y="1992630"/>
            <a:ext cx="5109210" cy="1623060"/>
            <a:chOff x="6456998" y="1992630"/>
            <a:chExt cx="5109210" cy="1623060"/>
          </a:xfrm>
        </p:grpSpPr>
        <p:sp>
          <p:nvSpPr>
            <p:cNvPr id="13" name="TextBox 13"/>
            <p:cNvSpPr txBox="1"/>
            <p:nvPr/>
          </p:nvSpPr>
          <p:spPr>
            <a:xfrm>
              <a:off x="6456998" y="1992630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只用重载构造函数的三个麻烦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6464618" y="2383155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114300" y="114300"/>
                  </a:lnTo>
                  <a:moveTo>
                    <a:pt x="114300" y="0"/>
                  </a:moveTo>
                  <a:lnTo>
                    <a:pt x="0" y="114300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704648" y="2346960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创建产品必须先理解每个参数的含义，从名字上看不出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区别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6464618" y="301371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114300" y="114300"/>
                  </a:lnTo>
                  <a:moveTo>
                    <a:pt x="114300" y="0"/>
                  </a:moveTo>
                  <a:lnTo>
                    <a:pt x="0" y="114300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704648" y="2977515"/>
              <a:ext cx="46596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增加一个新的构造函数，往往要连带调整已有的几个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6464618" y="3358515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114300" y="114300"/>
                  </a:lnTo>
                  <a:moveTo>
                    <a:pt x="114300" y="0"/>
                  </a:moveTo>
                  <a:lnTo>
                    <a:pt x="0" y="114300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704648" y="3322320"/>
              <a:ext cx="48615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想改变某一种创建方式的实现，只能去动构造函数本身</a:t>
              </a:r>
            </a:p>
          </p:txBody>
        </p:sp>
      </p:grpSp>
      <p:grpSp>
        <p:nvGrpSpPr>
          <p:cNvPr id="27" name="c2-card-2"/>
          <p:cNvGrpSpPr/>
          <p:nvPr/>
        </p:nvGrpSpPr>
        <p:grpSpPr>
          <a:xfrm>
            <a:off x="6464618" y="3747135"/>
            <a:ext cx="5193982" cy="2171700"/>
            <a:chOff x="6464618" y="3747135"/>
            <a:chExt cx="5193982" cy="2171700"/>
          </a:xfrm>
        </p:grpSpPr>
        <p:sp>
          <p:nvSpPr>
            <p:cNvPr id="21" name="Rectangle 21"/>
            <p:cNvSpPr/>
            <p:nvPr/>
          </p:nvSpPr>
          <p:spPr>
            <a:xfrm>
              <a:off x="6464618" y="3747135"/>
              <a:ext cx="5193982" cy="2171700"/>
            </a:xfrm>
            <a:prstGeom prst="roundRect">
              <a:avLst>
                <a:gd name="adj" fmla="val 614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6474142" y="3880485"/>
              <a:ext cx="47625" cy="190500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712268" y="395668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803428" y="399240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313295" y="3991928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原课件的参数写法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704648" y="4352925"/>
              <a:ext cx="4434840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陈伟老师课件写 </a:t>
              </a:r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static Product</a:t>
              </a:r>
              <a:br/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createFloatProduct(int num,float );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，第二个参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数只有类型没有名字，C++ 声明里勉强成立，定义时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必须补上名字，Java 里则直接编译不过。</a:t>
              </a:r>
            </a:p>
          </p:txBody>
        </p:sp>
      </p:grpSp>
      <p:grpSp>
        <p:nvGrpSpPr>
          <p:cNvPr id="3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8" name="TextBox 28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简单工厂模式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541770" cy="909257"/>
            <a:chOff x="520446" y="342900"/>
            <a:chExt cx="454177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10 简单工厂 · 扩展、本质与模式对比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54177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模式本质：难点在"如何选择"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5284089" cy="264033"/>
            <a:chOff x="526542" y="1545907"/>
            <a:chExt cx="5284089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52840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前面几种写法传的都是静态参数，选择依据其实可以来自运行期。</a:t>
              </a:r>
            </a:p>
          </p:txBody>
        </p:sp>
      </p:grpSp>
      <p:grpSp>
        <p:nvGrpSpPr>
          <p:cNvPr id="18" name="c1-bullets-1"/>
          <p:cNvGrpSpPr/>
          <p:nvPr/>
        </p:nvGrpSpPr>
        <p:grpSpPr>
          <a:xfrm>
            <a:off x="526542" y="1950720"/>
            <a:ext cx="2366010" cy="1507045"/>
            <a:chOff x="526542" y="1950720"/>
            <a:chExt cx="2366010" cy="1507045"/>
          </a:xfrm>
        </p:grpSpPr>
        <p:sp>
          <p:nvSpPr>
            <p:cNvPr id="9" name="TextBox 9"/>
            <p:cNvSpPr txBox="1"/>
            <p:nvPr/>
          </p:nvSpPr>
          <p:spPr>
            <a:xfrm>
              <a:off x="526542" y="195072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选择依据可以来自哪里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41972" y="2324100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97992" y="2267902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调用时写死的字符串或整数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41972" y="2632710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97992" y="2576512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配置文件里的一行键值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41972" y="2941320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97992" y="2885122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数据库中查出来的字段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41972" y="3249930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97992" y="3193732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运行期算出来的某个内存值</a:t>
              </a:r>
            </a:p>
          </p:txBody>
        </p:sp>
      </p:grpSp>
      <p:grpSp>
        <p:nvGrpSpPr>
          <p:cNvPr id="24" name="c1-card-2"/>
          <p:cNvGrpSpPr/>
          <p:nvPr/>
        </p:nvGrpSpPr>
        <p:grpSpPr>
          <a:xfrm>
            <a:off x="533400" y="3574732"/>
            <a:ext cx="4977765" cy="2748915"/>
            <a:chOff x="533400" y="3574732"/>
            <a:chExt cx="4977765" cy="2748915"/>
          </a:xfrm>
        </p:grpSpPr>
        <p:sp>
          <p:nvSpPr>
            <p:cNvPr id="19" name="Rectangle 19"/>
            <p:cNvSpPr/>
            <p:nvPr/>
          </p:nvSpPr>
          <p:spPr>
            <a:xfrm>
              <a:off x="533400" y="3574732"/>
              <a:ext cx="4977765" cy="2748915"/>
            </a:xfrm>
            <a:prstGeom prst="roundRect">
              <a:avLst>
                <a:gd name="adj" fmla="val 4851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20090" y="376142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12762" y="379428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本质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285684" y="3796665"/>
              <a:ext cx="16775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工厂封装的是"选择"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13232" y="4122420"/>
              <a:ext cx="439426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客户端交出的是意图，工厂还回来的是实例。中间那段"按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什么选、选出谁"的逻辑，才是这个模式真正封装的东西。</a:t>
              </a:r>
            </a:p>
          </p:txBody>
        </p:sp>
      </p:grpSp>
      <p:grpSp>
        <p:nvGrpSpPr>
          <p:cNvPr id="28" name="c2-code-1"/>
          <p:cNvGrpSpPr/>
          <p:nvPr/>
        </p:nvGrpSpPr>
        <p:grpSpPr>
          <a:xfrm>
            <a:off x="5815965" y="1928812"/>
            <a:ext cx="5842635" cy="3495675"/>
            <a:chOff x="5815965" y="1928812"/>
            <a:chExt cx="5842635" cy="3495675"/>
          </a:xfrm>
        </p:grpSpPr>
        <p:sp>
          <p:nvSpPr>
            <p:cNvPr id="25" name="Rectangle 25"/>
            <p:cNvSpPr/>
            <p:nvPr/>
          </p:nvSpPr>
          <p:spPr>
            <a:xfrm>
              <a:off x="5815965" y="1928812"/>
              <a:ext cx="5842635" cy="3495675"/>
            </a:xfrm>
            <a:prstGeom prst="roundRect">
              <a:avLst>
                <a:gd name="adj" fmla="val 272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944362" y="2080736"/>
              <a:ext cx="196672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补充写法：用注册表代替 if-else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944362" y="2340769"/>
              <a:ext cx="4048633" cy="30100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PayMethodFactory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final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Map&lt;String, Supplier&lt;AbstractPay&gt;&gt;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REGISTRY 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HashMap&lt;&gt;();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REGISTRY.put(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"cash"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 CashPay::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REGISTRY.put(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"creditcard"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 CreditCardPay::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AbstractPay getPayMethod(String type)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Supplier&lt;AbstractPay&gt; s = REGISTRY.get(type);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(s ==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throw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IllegalArgumentException(type);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s.get();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35" name="c2-callout-2"/>
          <p:cNvGrpSpPr/>
          <p:nvPr/>
        </p:nvGrpSpPr>
        <p:grpSpPr>
          <a:xfrm>
            <a:off x="5815965" y="5594032"/>
            <a:ext cx="5842635" cy="729615"/>
            <a:chOff x="5815965" y="5594032"/>
            <a:chExt cx="5842635" cy="729615"/>
          </a:xfrm>
        </p:grpSpPr>
        <p:sp>
          <p:nvSpPr>
            <p:cNvPr id="29" name="Rectangle 29"/>
            <p:cNvSpPr/>
            <p:nvPr/>
          </p:nvSpPr>
          <p:spPr>
            <a:xfrm>
              <a:off x="5815965" y="5594032"/>
              <a:ext cx="5842635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6020753" y="5858828"/>
              <a:ext cx="200026" cy="200025"/>
              <a:chOff x="6020753" y="5858828"/>
              <a:chExt cx="200026" cy="200025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6020753" y="585882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6060491" y="590327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6095207" y="601440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6323457" y="5739765"/>
              <a:ext cx="480574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注册表写法把分支变成查表，加产品时只多一行 put，但仍然要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改这个类。</a:t>
              </a:r>
            </a:p>
          </p:txBody>
        </p:sp>
      </p:grpSp>
      <p:grpSp>
        <p:nvGrpSpPr>
          <p:cNvPr id="3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6" name="TextBox 36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简单工厂模式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10 简单工厂 · 扩展、本质与模式对比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三种工厂的差别：谁来做选择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6497193" cy="293370"/>
            <a:chOff x="525780" y="1548765"/>
            <a:chExt cx="6497193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64971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三个模式解决的是同一类问题，区别在于"选哪个产品"这件事交给了谁。</a:t>
              </a:r>
            </a:p>
          </p:txBody>
        </p:sp>
      </p:grpSp>
      <p:grpSp>
        <p:nvGrpSpPr>
          <p:cNvPr id="58" name="c1-table-1"/>
          <p:cNvGrpSpPr/>
          <p:nvPr/>
        </p:nvGrpSpPr>
        <p:grpSpPr>
          <a:xfrm>
            <a:off x="533400" y="1954530"/>
            <a:ext cx="11125200" cy="3654742"/>
            <a:chOff x="533400" y="1954530"/>
            <a:chExt cx="11125200" cy="3654742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11125200" cy="430530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478280" y="208597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维度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931348" y="208597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简单工厂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934581" y="208597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工厂方法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883521" y="208597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抽象工厂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38746" y="2515552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工厂的数量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863787" y="2515552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一个类，方法是静态的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867972" y="2515552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一个抽象工厂加若干具体工厂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871204" y="2515552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一个抽象工厂加若干具体工厂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80987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2814638"/>
              <a:ext cx="11125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8746" y="294608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谁做选择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863787" y="2946082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工厂内部按参数判断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867972" y="2946082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客户端挑选具体工厂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871204" y="2946082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客户端挑选具体工厂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324040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8746" y="3376612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选择发生在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863787" y="3376612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运行期，看传进来的参数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867972" y="3376612"/>
              <a:ext cx="20234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编译期，看 new 了哪个工厂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871204" y="3376612"/>
              <a:ext cx="20234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编译期，看 new 了哪个工厂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366998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33400" y="3674745"/>
              <a:ext cx="11125200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8746" y="391287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加新产品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2767965" y="3684270"/>
              <a:ext cx="2985135" cy="62484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2863787" y="391287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要改工厂的判断逻辑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772150" y="3684270"/>
              <a:ext cx="2985135" cy="62484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867972" y="391287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加一个具体工厂，老代码不动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871204" y="3806190"/>
              <a:ext cx="24505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加新产品族容易，加新等级要改全部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工厂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431387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38746" y="445008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产品规模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863787" y="445008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一个产品等级结构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867972" y="445008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一个产品等级结构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871204" y="4450080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多个产品等级结构组成的族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33400" y="474440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533400" y="4749165"/>
              <a:ext cx="11125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38746" y="4879658"/>
              <a:ext cx="100161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是否属于 GoF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2767965" y="4758690"/>
              <a:ext cx="2985135" cy="41148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2863787" y="4879658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867972" y="4879658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871204" y="4879658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33400" y="517398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38746" y="5310188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本课程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2863787" y="5310188"/>
              <a:ext cx="60990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10 讲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867972" y="5310188"/>
              <a:ext cx="60990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11 讲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871204" y="5310188"/>
              <a:ext cx="60990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12 讲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533400" y="1954530"/>
              <a:ext cx="11125200" cy="365474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2753678" y="1954530"/>
              <a:ext cx="9525" cy="365474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5757862" y="1954530"/>
              <a:ext cx="9525" cy="365474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8761095" y="1954530"/>
              <a:ext cx="9525" cy="365474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4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59" name="Rectangle 59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738188" y="6003610"/>
              <a:ext cx="200023" cy="200023"/>
              <a:chOff x="738188" y="6003610"/>
              <a:chExt cx="200023" cy="200023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738188" y="600361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871538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1040511" y="6004084"/>
              <a:ext cx="689625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一句话区分：简单工厂靠参数选，工厂方法靠子类选，抽象工厂靠子类选一整族。</a:t>
              </a:r>
            </a:p>
          </p:txBody>
        </p:sp>
      </p:grpSp>
      <p:grpSp>
        <p:nvGrpSpPr>
          <p:cNvPr id="6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5" name="TextBox 65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简单工厂模式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801999" cy="909257"/>
            <a:chOff x="520446" y="342900"/>
            <a:chExt cx="38019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8019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自测（一）：概念与结构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254442"/>
            <a:chOff x="533400" y="1524000"/>
            <a:chExt cx="5410200" cy="125444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5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14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8947" y="2072640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简单工厂的别名是什么？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8947" y="2375535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静态工厂方法模式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2953702"/>
            <a:ext cx="5410200" cy="1254442"/>
            <a:chOff x="533400" y="2953702"/>
            <a:chExt cx="5410200" cy="1254442"/>
          </a:xfrm>
        </p:grpSpPr>
        <p:sp>
          <p:nvSpPr>
            <p:cNvPr id="13" name="Rectangle 13"/>
            <p:cNvSpPr/>
            <p:nvPr/>
          </p:nvSpPr>
          <p:spPr>
            <a:xfrm>
              <a:off x="533400" y="2953702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25805" y="3146108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14753" y="318039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8947" y="3503295"/>
              <a:ext cx="24703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工厂方法为什么写成 static？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8947" y="3805238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类名直接调用，不必建工厂对象</a:t>
              </a:r>
            </a:p>
          </p:txBody>
        </p:sp>
      </p:grpSp>
      <p:grpSp>
        <p:nvGrpSpPr>
          <p:cNvPr id="24" name="c1-card-3"/>
          <p:cNvGrpSpPr/>
          <p:nvPr/>
        </p:nvGrpSpPr>
        <p:grpSpPr>
          <a:xfrm>
            <a:off x="533400" y="4383405"/>
            <a:ext cx="5410200" cy="1254442"/>
            <a:chOff x="533400" y="4383405"/>
            <a:chExt cx="5410200" cy="1254442"/>
          </a:xfrm>
        </p:grpSpPr>
        <p:sp>
          <p:nvSpPr>
            <p:cNvPr id="19" name="Rectangle 19"/>
            <p:cNvSpPr/>
            <p:nvPr/>
          </p:nvSpPr>
          <p:spPr>
            <a:xfrm>
              <a:off x="533400" y="4383405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25805" y="457581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14753" y="461010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18947" y="493299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客户端要知道具体产品类名吗？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18947" y="5234940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不需要，只要知道参数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6248400" y="1524000"/>
            <a:ext cx="5410200" cy="1254442"/>
            <a:chOff x="6248400" y="1524000"/>
            <a:chExt cx="5410200" cy="1254442"/>
          </a:xfrm>
        </p:grpSpPr>
        <p:sp>
          <p:nvSpPr>
            <p:cNvPr id="25" name="Rectangle 25"/>
            <p:cNvSpPr/>
            <p:nvPr/>
          </p:nvSpPr>
          <p:spPr>
            <a:xfrm>
              <a:off x="6248400" y="1524000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40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29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33947" y="207264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它包含哪三个角色？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33947" y="2375535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工厂、抽象产品、具体产品</a:t>
              </a:r>
            </a:p>
          </p:txBody>
        </p:sp>
      </p:grpSp>
      <p:grpSp>
        <p:nvGrpSpPr>
          <p:cNvPr id="36" name="c2-card-2"/>
          <p:cNvGrpSpPr/>
          <p:nvPr/>
        </p:nvGrpSpPr>
        <p:grpSpPr>
          <a:xfrm>
            <a:off x="6248400" y="2953702"/>
            <a:ext cx="5410200" cy="1254442"/>
            <a:chOff x="6248400" y="2953702"/>
            <a:chExt cx="5410200" cy="1254442"/>
          </a:xfrm>
        </p:grpSpPr>
        <p:sp>
          <p:nvSpPr>
            <p:cNvPr id="31" name="Rectangle 31"/>
            <p:cNvSpPr/>
            <p:nvPr/>
          </p:nvSpPr>
          <p:spPr>
            <a:xfrm>
              <a:off x="6248400" y="2953702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40805" y="3146108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29753" y="318039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33947" y="3503295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工厂方法返回什么类型？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33947" y="380523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抽象产品类型</a:t>
              </a:r>
            </a:p>
          </p:txBody>
        </p:sp>
      </p:grpSp>
      <p:grpSp>
        <p:nvGrpSpPr>
          <p:cNvPr id="42" name="c2-card-3"/>
          <p:cNvGrpSpPr/>
          <p:nvPr/>
        </p:nvGrpSpPr>
        <p:grpSpPr>
          <a:xfrm>
            <a:off x="6248400" y="4383405"/>
            <a:ext cx="5410200" cy="1254442"/>
            <a:chOff x="6248400" y="4383405"/>
            <a:chExt cx="5410200" cy="1254442"/>
          </a:xfrm>
        </p:grpSpPr>
        <p:sp>
          <p:nvSpPr>
            <p:cNvPr id="37" name="Rectangle 37"/>
            <p:cNvSpPr/>
            <p:nvPr/>
          </p:nvSpPr>
          <p:spPr>
            <a:xfrm>
              <a:off x="6248400" y="4383405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40805" y="457581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29753" y="461010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33947" y="4932998"/>
              <a:ext cx="27356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简单工厂属于 GoF 23 个模式吗？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33947" y="5234940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不属于，是工厂方法的简化</a:t>
              </a:r>
            </a:p>
          </p:txBody>
        </p:sp>
      </p:grpSp>
      <p:grpSp>
        <p:nvGrpSpPr>
          <p:cNvPr id="49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43" name="Rectangle 43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38188" y="6017895"/>
              <a:ext cx="200026" cy="200025"/>
              <a:chOff x="738188" y="6017895"/>
              <a:chExt cx="200026" cy="200025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38188" y="60178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777926" y="60623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12642" y="61734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040892" y="6023610"/>
              <a:ext cx="47661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 2 题请连类图一起默画，三个角色的位置和线型都要对。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简单工厂模式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801999" cy="909257"/>
            <a:chOff x="520446" y="342900"/>
            <a:chExt cx="38019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8019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自测（二）：应用与辨析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254442"/>
            <a:chOff x="533400" y="1524000"/>
            <a:chExt cx="5410200" cy="125444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5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14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8947" y="2072640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加一种新产品要改哪里？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8947" y="2375535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工厂的判断逻辑，违反开闭原则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2953702"/>
            <a:ext cx="5410200" cy="1254442"/>
            <a:chOff x="533400" y="2953702"/>
            <a:chExt cx="5410200" cy="1254442"/>
          </a:xfrm>
        </p:grpSpPr>
        <p:sp>
          <p:nvSpPr>
            <p:cNvPr id="13" name="Rectangle 13"/>
            <p:cNvSpPr/>
            <p:nvPr/>
          </p:nvSpPr>
          <p:spPr>
            <a:xfrm>
              <a:off x="533400" y="2953702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25805" y="3146108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14753" y="318039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8947" y="3503295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工厂类集中判断有什么风险？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8947" y="380523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它一出故障整个系统都受影响</a:t>
              </a:r>
            </a:p>
          </p:txBody>
        </p:sp>
      </p:grpSp>
      <p:grpSp>
        <p:nvGrpSpPr>
          <p:cNvPr id="24" name="c1-card-3"/>
          <p:cNvGrpSpPr/>
          <p:nvPr/>
        </p:nvGrpSpPr>
        <p:grpSpPr>
          <a:xfrm>
            <a:off x="533400" y="4383405"/>
            <a:ext cx="5410200" cy="1254442"/>
            <a:chOff x="533400" y="4383405"/>
            <a:chExt cx="5410200" cy="1254442"/>
          </a:xfrm>
        </p:grpSpPr>
        <p:sp>
          <p:nvSpPr>
            <p:cNvPr id="19" name="Rectangle 19"/>
            <p:cNvSpPr/>
            <p:nvPr/>
          </p:nvSpPr>
          <p:spPr>
            <a:xfrm>
              <a:off x="533400" y="4383405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25805" y="457581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14753" y="461010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18947" y="493299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工厂方法搬进抽象产品类的代价？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18947" y="5234940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父类要依赖自己的全部子类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6248400" y="1524000"/>
            <a:ext cx="5410200" cy="1254442"/>
            <a:chOff x="6248400" y="1524000"/>
            <a:chExt cx="5410200" cy="1254442"/>
          </a:xfrm>
        </p:grpSpPr>
        <p:sp>
          <p:nvSpPr>
            <p:cNvPr id="25" name="Rectangle 25"/>
            <p:cNvSpPr/>
            <p:nvPr/>
          </p:nvSpPr>
          <p:spPr>
            <a:xfrm>
              <a:off x="6248400" y="1524000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40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29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33947" y="2072640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怎样加产品才不动客户端代码？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33947" y="2375535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类名写进配置文件，用反射创建</a:t>
              </a:r>
            </a:p>
          </p:txBody>
        </p:sp>
      </p:grpSp>
      <p:grpSp>
        <p:nvGrpSpPr>
          <p:cNvPr id="36" name="c2-card-2"/>
          <p:cNvGrpSpPr/>
          <p:nvPr/>
        </p:nvGrpSpPr>
        <p:grpSpPr>
          <a:xfrm>
            <a:off x="6248400" y="2953702"/>
            <a:ext cx="5410200" cy="1254442"/>
            <a:chOff x="6248400" y="2953702"/>
            <a:chExt cx="5410200" cy="1254442"/>
          </a:xfrm>
        </p:grpSpPr>
        <p:sp>
          <p:nvSpPr>
            <p:cNvPr id="31" name="Rectangle 31"/>
            <p:cNvSpPr/>
            <p:nvPr/>
          </p:nvSpPr>
          <p:spPr>
            <a:xfrm>
              <a:off x="6248400" y="2953702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40805" y="3146108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29753" y="318039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33947" y="3503295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为什么工厂角色无法形成等级结构？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33947" y="380523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静态方法不能被子类重写</a:t>
              </a:r>
            </a:p>
          </p:txBody>
        </p:sp>
      </p:grpSp>
      <p:grpSp>
        <p:nvGrpSpPr>
          <p:cNvPr id="42" name="c2-card-3"/>
          <p:cNvGrpSpPr/>
          <p:nvPr/>
        </p:nvGrpSpPr>
        <p:grpSpPr>
          <a:xfrm>
            <a:off x="6248400" y="4383405"/>
            <a:ext cx="5410200" cy="1254442"/>
            <a:chOff x="6248400" y="4383405"/>
            <a:chExt cx="5410200" cy="1254442"/>
          </a:xfrm>
        </p:grpSpPr>
        <p:sp>
          <p:nvSpPr>
            <p:cNvPr id="37" name="Rectangle 37"/>
            <p:cNvSpPr/>
            <p:nvPr/>
          </p:nvSpPr>
          <p:spPr>
            <a:xfrm>
              <a:off x="6248400" y="4383405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40805" y="457581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29753" y="461010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33947" y="493299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简单工厂与工厂方法的关键差别？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33947" y="5234940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前者按参数选，后者按子类选</a:t>
              </a:r>
            </a:p>
          </p:txBody>
        </p:sp>
      </p:grpSp>
      <p:grpSp>
        <p:nvGrpSpPr>
          <p:cNvPr id="49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43" name="Rectangle 43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26129" y="6014203"/>
              <a:ext cx="224134" cy="192560"/>
              <a:chOff x="726129" y="6014203"/>
              <a:chExt cx="224134" cy="192560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838200" y="608457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726129" y="601420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38200" y="616235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040892" y="6023610"/>
              <a:ext cx="67834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第 4 题是简答题的常见考点，答"静态"两个字不够，要说清楚静态方法不参与多态。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简单工厂模式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399032" cy="909257"/>
            <a:chOff x="520446" y="342900"/>
            <a:chExt cx="13990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04489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7287" y="407194"/>
              <a:ext cx="8361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10 简单工厂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2" name="c1-bullets-1"/>
          <p:cNvGrpSpPr/>
          <p:nvPr/>
        </p:nvGrpSpPr>
        <p:grpSpPr>
          <a:xfrm>
            <a:off x="533400" y="1535430"/>
            <a:ext cx="5566410" cy="1685925"/>
            <a:chOff x="533400" y="1535430"/>
            <a:chExt cx="5566410" cy="1685925"/>
          </a:xfrm>
        </p:grpSpPr>
        <p:sp>
          <p:nvSpPr>
            <p:cNvPr id="7" name="Ellipse 7"/>
            <p:cNvSpPr/>
            <p:nvPr/>
          </p:nvSpPr>
          <p:spPr>
            <a:xfrm>
              <a:off x="533400" y="1535430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95249" y="157772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4390" y="1548765"/>
              <a:ext cx="46596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创建型模式把对象的创建与使用分开，客户端只管用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1880235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95249" y="192252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4390" y="1893570"/>
              <a:ext cx="50634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简单工厂按参数返回不同子类的实例，别名静态工厂方法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2225040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95249" y="226733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34390" y="2238375"/>
              <a:ext cx="52654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三个角色：工厂管创建，抽象产品定接口，具体产品被创建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2569845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95249" y="261213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34390" y="2583180"/>
              <a:ext cx="50634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好处是客户端不必知道具体类名，代价是加产品要改工厂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2914650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95249" y="295694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34390" y="2927985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适用于产品少而稳定、客户端只认参数的场合</a:t>
              </a:r>
            </a:p>
          </p:txBody>
        </p:sp>
      </p:grpSp>
      <p:grpSp>
        <p:nvGrpSpPr>
          <p:cNvPr id="55" name="c1-uml-2"/>
          <p:cNvGrpSpPr/>
          <p:nvPr/>
        </p:nvGrpSpPr>
        <p:grpSpPr>
          <a:xfrm>
            <a:off x="801052" y="3614738"/>
            <a:ext cx="5091114" cy="1700212"/>
            <a:chOff x="801052" y="3614738"/>
            <a:chExt cx="5091114" cy="1700212"/>
          </a:xfrm>
        </p:grpSpPr>
        <p:sp>
          <p:nvSpPr>
            <p:cNvPr id="23" name="Freeform 23"/>
            <p:cNvSpPr/>
            <p:nvPr/>
          </p:nvSpPr>
          <p:spPr>
            <a:xfrm>
              <a:off x="1471612" y="4329112"/>
              <a:ext cx="1780222" cy="398145"/>
            </a:xfrm>
            <a:custGeom>
              <a:avLst/>
              <a:gdLst/>
              <a:ahLst/>
              <a:cxnLst/>
              <a:rect l="l" t="t" r="r" b="b"/>
              <a:pathLst>
                <a:path w="1780222" h="398145">
                  <a:moveTo>
                    <a:pt x="0" y="398145"/>
                  </a:moveTo>
                  <a:lnTo>
                    <a:pt x="0" y="136208"/>
                  </a:lnTo>
                  <a:lnTo>
                    <a:pt x="1780222" y="136208"/>
                  </a:lnTo>
                  <a:lnTo>
                    <a:pt x="1780222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3178492" y="4203382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3442335" y="4329112"/>
              <a:ext cx="1780222" cy="398145"/>
            </a:xfrm>
            <a:custGeom>
              <a:avLst/>
              <a:gdLst/>
              <a:ahLst/>
              <a:cxnLst/>
              <a:rect l="l" t="t" r="r" b="b"/>
              <a:pathLst>
                <a:path w="1780222" h="398145">
                  <a:moveTo>
                    <a:pt x="1780222" y="398145"/>
                  </a:moveTo>
                  <a:lnTo>
                    <a:pt x="1780222" y="136208"/>
                  </a:lnTo>
                  <a:lnTo>
                    <a:pt x="0" y="136208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3368992" y="4203382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2141220" y="5021580"/>
              <a:ext cx="423862" cy="9525"/>
            </a:xfrm>
            <a:custGeom>
              <a:avLst/>
              <a:gdLst/>
              <a:ahLst/>
              <a:cxnLst/>
              <a:rect l="l" t="t" r="r" b="b"/>
              <a:pathLst>
                <a:path w="423862" h="9525">
                  <a:moveTo>
                    <a:pt x="423862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28" name="Freeform 28"/>
            <p:cNvSpPr/>
            <p:nvPr/>
          </p:nvSpPr>
          <p:spPr>
            <a:xfrm>
              <a:off x="2141220" y="4964430"/>
              <a:ext cx="104775" cy="114300"/>
            </a:xfrm>
            <a:custGeom>
              <a:avLst/>
              <a:gdLst/>
              <a:ahLst/>
              <a:cxnLst/>
              <a:rect l="l" t="t" r="r" b="b"/>
              <a:pathLst>
                <a:path w="104775" h="114300">
                  <a:moveTo>
                    <a:pt x="104775" y="0"/>
                  </a:moveTo>
                  <a:lnTo>
                    <a:pt x="0" y="57150"/>
                  </a:lnTo>
                  <a:lnTo>
                    <a:pt x="104775" y="11430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4129088" y="5021580"/>
              <a:ext cx="422910" cy="9525"/>
            </a:xfrm>
            <a:custGeom>
              <a:avLst/>
              <a:gdLst/>
              <a:ahLst/>
              <a:cxnLst/>
              <a:rect l="l" t="t" r="r" b="b"/>
              <a:pathLst>
                <a:path w="422910" h="9525">
                  <a:moveTo>
                    <a:pt x="0" y="0"/>
                  </a:moveTo>
                  <a:lnTo>
                    <a:pt x="42291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30" name="Freeform 30"/>
            <p:cNvSpPr/>
            <p:nvPr/>
          </p:nvSpPr>
          <p:spPr>
            <a:xfrm>
              <a:off x="4447222" y="4964430"/>
              <a:ext cx="104775" cy="114300"/>
            </a:xfrm>
            <a:custGeom>
              <a:avLst/>
              <a:gdLst/>
              <a:ahLst/>
              <a:cxnLst/>
              <a:rect l="l" t="t" r="r" b="b"/>
              <a:pathLst>
                <a:path w="104775" h="114300">
                  <a:moveTo>
                    <a:pt x="0" y="114300"/>
                  </a:moveTo>
                  <a:lnTo>
                    <a:pt x="104775" y="57150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2775585" y="3614738"/>
              <a:ext cx="1143000" cy="58769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2782252" y="3622358"/>
              <a:ext cx="1128712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2775585" y="384524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2775585" y="394049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801052" y="4727258"/>
              <a:ext cx="1340168" cy="58769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807720" y="4734878"/>
              <a:ext cx="1325880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801052" y="4957762"/>
              <a:ext cx="134016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801052" y="5053012"/>
              <a:ext cx="134016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2565082" y="4727258"/>
              <a:ext cx="1564005" cy="58769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2571750" y="4734878"/>
              <a:ext cx="1549718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2565082" y="4957762"/>
              <a:ext cx="156400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2565082" y="5053012"/>
              <a:ext cx="156400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4551998" y="4727258"/>
              <a:ext cx="1340168" cy="58769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4558665" y="4734878"/>
              <a:ext cx="1325880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4551998" y="4957762"/>
              <a:ext cx="134016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4551998" y="5053012"/>
              <a:ext cx="134016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3073317" y="3670459"/>
              <a:ext cx="54753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i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Product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2847022" y="4010025"/>
              <a:ext cx="81522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operation()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50685" y="4782979"/>
              <a:ext cx="124185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ConcreteProductA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72490" y="5122545"/>
              <a:ext cx="81522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operation()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3073317" y="4782979"/>
              <a:ext cx="54753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Factory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2636520" y="5122545"/>
              <a:ext cx="151474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factoryMethod(String)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4601630" y="4782979"/>
              <a:ext cx="124185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ConcreteProductB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4623435" y="5122545"/>
              <a:ext cx="81522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operation()</a:t>
              </a:r>
            </a:p>
          </p:txBody>
        </p:sp>
      </p:grpSp>
      <p:grpSp>
        <p:nvGrpSpPr>
          <p:cNvPr id="67" name="c2-kv-1"/>
          <p:cNvGrpSpPr/>
          <p:nvPr/>
        </p:nvGrpSpPr>
        <p:grpSpPr>
          <a:xfrm>
            <a:off x="6456998" y="1548765"/>
            <a:ext cx="5201602" cy="2177415"/>
            <a:chOff x="6456998" y="1548765"/>
            <a:chExt cx="5201602" cy="2177415"/>
          </a:xfrm>
        </p:grpSpPr>
        <p:sp>
          <p:nvSpPr>
            <p:cNvPr id="56" name="TextBox 56"/>
            <p:cNvSpPr txBox="1"/>
            <p:nvPr/>
          </p:nvSpPr>
          <p:spPr>
            <a:xfrm>
              <a:off x="6456998" y="15487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要记的图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499033" y="1548765"/>
              <a:ext cx="388239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Product 在上，具体产品在下，Factory 虚线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指过去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464618" y="215074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456998" y="227076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要记的话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499033" y="2270760"/>
              <a:ext cx="3825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传入正确的参数就能拿到所需对象，无须知道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创建细节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464618" y="287274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456998" y="299275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要记的坑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499033" y="2992755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违反开闭原则；静态方法让工厂无法继承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6464618" y="331279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456998" y="343281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下一讲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499033" y="3432810"/>
              <a:ext cx="399326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工厂方法模式（第 11 讲）把选择权交给子类</a:t>
              </a:r>
            </a:p>
          </p:txBody>
        </p:sp>
      </p:grpSp>
      <p:grpSp>
        <p:nvGrpSpPr>
          <p:cNvPr id="81" name="c2-card-2"/>
          <p:cNvGrpSpPr/>
          <p:nvPr/>
        </p:nvGrpSpPr>
        <p:grpSpPr>
          <a:xfrm>
            <a:off x="6464618" y="3857625"/>
            <a:ext cx="5193982" cy="1720215"/>
            <a:chOff x="6464618" y="3857625"/>
            <a:chExt cx="5193982" cy="1720215"/>
          </a:xfrm>
        </p:grpSpPr>
        <p:sp>
          <p:nvSpPr>
            <p:cNvPr id="68" name="Rectangle 68"/>
            <p:cNvSpPr/>
            <p:nvPr/>
          </p:nvSpPr>
          <p:spPr>
            <a:xfrm>
              <a:off x="6464618" y="3857625"/>
              <a:ext cx="5193982" cy="1720215"/>
            </a:xfrm>
            <a:prstGeom prst="roundRect">
              <a:avLst>
                <a:gd name="adj" fmla="val 7752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6674168" y="406717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6756476" y="410289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常见问法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559992" y="4102418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考试时这三句话要能默写</a:t>
              </a:r>
            </a:p>
          </p:txBody>
        </p:sp>
        <p:sp>
          <p:nvSpPr>
            <p:cNvPr id="72" name="Ellipse 72"/>
            <p:cNvSpPr/>
            <p:nvPr/>
          </p:nvSpPr>
          <p:spPr>
            <a:xfrm>
              <a:off x="6674167" y="4450080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6736017" y="449237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975158" y="446341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简单工厂的三个角色分别负责什么</a:t>
              </a:r>
            </a:p>
          </p:txBody>
        </p:sp>
        <p:sp>
          <p:nvSpPr>
            <p:cNvPr id="75" name="Ellipse 75"/>
            <p:cNvSpPr/>
            <p:nvPr/>
          </p:nvSpPr>
          <p:spPr>
            <a:xfrm>
              <a:off x="6674167" y="4785360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6736017" y="482765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6975158" y="479869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为什么说它违反开闭原则</a:t>
              </a:r>
            </a:p>
          </p:txBody>
        </p:sp>
        <p:sp>
          <p:nvSpPr>
            <p:cNvPr id="78" name="Ellipse 78"/>
            <p:cNvSpPr/>
            <p:nvPr/>
          </p:nvSpPr>
          <p:spPr>
            <a:xfrm>
              <a:off x="6674167" y="5120640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6736017" y="516293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6975158" y="513397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它和工厂方法模式的关键差别在哪里</a:t>
              </a:r>
            </a:p>
          </p:txBody>
        </p:sp>
      </p:grpSp>
      <p:grpSp>
        <p:nvGrpSpPr>
          <p:cNvPr id="87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82" name="Rectangle 82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85" name="Group 85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83" name="Freeform 83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4" name="Freeform 84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86" name="TextBox 86"/>
            <p:cNvSpPr txBox="1"/>
            <p:nvPr/>
          </p:nvSpPr>
          <p:spPr>
            <a:xfrm>
              <a:off x="1040130" y="5991225"/>
              <a:ext cx="83145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复习时按"动机、定义、类图、三个角色、优缺点、适用环境"六个抽屉回忆，缺哪个补哪个。</a:t>
              </a:r>
            </a:p>
          </p:txBody>
        </p:sp>
      </p:grpSp>
      <p:grpSp>
        <p:nvGrpSpPr>
          <p:cNvPr id="9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8" name="TextBox 88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简单工厂模式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sdp_10">
  <a:themeElements>
    <a:clrScheme name="sdp_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dp_10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dp_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34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2026-09-23T06:15:23Z</dcterms:created>
  <dcterms:modified xsi:type="dcterms:W3CDTF">2026-09-23T06:15:23Z</dcterms:modified>
  <cp:category/>
  <cp:contentStatus/>
</cp:coreProperties>
</file>