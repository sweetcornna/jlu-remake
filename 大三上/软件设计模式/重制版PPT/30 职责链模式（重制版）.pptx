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30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30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3404cbaaaaf99b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95241301915194a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3404cbaaaaf99ba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125e82456e9866d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第十八讲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请求沿着一条链传，谁能处理谁处理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行为型模式的第一个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抽象处理者与后继引用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审批假条与帮助信息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纯与不纯的分界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托人占座和逐级审批，为什么要排成一条链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3272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三个角色，以及 Handler 指向自己的那条线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抽象处理者、具体处理者与客户端建链的标准写法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审批假条按天数分级，控件求助逐层外问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纯与不纯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两条判据，以及异常处理、过滤器链、事件浮升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优缺点、适用场景、与装饰观察者中介者的分界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82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画出职责链的类图，把继承线和 successor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的自关联都画对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写出抽象处理者和具体处理者，转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发前记得判空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拿到一道分级处理的题，能排出链的顺序并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说清每个人判断什么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判断一条链是纯的还是不纯的，并说出依据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的两条标准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说清职责链与装饰、观察者、中介者的差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别，不把凡是串起来都叫职责链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行为型模式与职责链的由来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486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先看清“请求该交给谁”这个问题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行为型模式在关心什么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占座与审批两个动机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定义与链的三种形态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行为型模式与职责链的由来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行为型模式：把责任和算法分给不同的对象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477000" cy="293370"/>
            <a:chOff x="525780" y="1548765"/>
            <a:chExt cx="647700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职责链是十一个行为型模式里的第一个，先看清这一族在处理什么问题。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410200" cy="1574482"/>
            <a:chOff x="533400" y="1954530"/>
            <a:chExt cx="5410200" cy="15744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410200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32014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行为型模式（Behavioral Pattern）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对在不同的对象之间划分责任和算法的抽象化。它在类与对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象的结构之上，重点关注对象在运行时的相互作用。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137535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运行时对象并不孤立，它们通过通信与协作完成复杂功能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14750"/>
            <a:ext cx="5410200" cy="1628775"/>
            <a:chOff x="533400" y="3714750"/>
            <a:chExt cx="5410200" cy="1628775"/>
          </a:xfrm>
        </p:grpSpPr>
        <p:sp>
          <p:nvSpPr>
            <p:cNvPr id="17" name="Rectangle 17"/>
            <p:cNvSpPr/>
            <p:nvPr/>
          </p:nvSpPr>
          <p:spPr>
            <a:xfrm>
              <a:off x="533400" y="3714750"/>
              <a:ext cx="5410200" cy="1628775"/>
            </a:xfrm>
            <a:prstGeom prst="roundRect">
              <a:avLst>
                <a:gd name="adj" fmla="val 81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848100"/>
              <a:ext cx="47625" cy="13620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75335" y="39185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1593" y="39543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8666" y="395811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对象行为型占了绝大多数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8096" y="4309586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按合成复用原则，系统中要尽量用关联关系取代继承关系，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所以十一个行为型模式里有九个是对象行为型，职责链也在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其中。</a:t>
              </a:r>
            </a:p>
          </p:txBody>
        </p:sp>
      </p:grpSp>
      <p:grpSp>
        <p:nvGrpSpPr>
          <p:cNvPr id="44" name="c2-compare-1"/>
          <p:cNvGrpSpPr/>
          <p:nvPr/>
        </p:nvGrpSpPr>
        <p:grpSpPr>
          <a:xfrm>
            <a:off x="6248400" y="1954530"/>
            <a:ext cx="5410200" cy="2446972"/>
            <a:chOff x="6248400" y="1954530"/>
            <a:chExt cx="5410200" cy="2446972"/>
          </a:xfrm>
        </p:grpSpPr>
        <p:sp>
          <p:nvSpPr>
            <p:cNvPr id="24" name="Rectangle 24"/>
            <p:cNvSpPr/>
            <p:nvPr/>
          </p:nvSpPr>
          <p:spPr>
            <a:xfrm>
              <a:off x="6248400" y="1954530"/>
              <a:ext cx="2457450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208788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3096" y="218170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类行为型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97955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4546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用继承在几个类之间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分配行为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7955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4546" y="311229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靠多态分配父类与子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类的职责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97955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4546" y="370379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模板方法和解释器属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于这一类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201150" y="1954530"/>
              <a:ext cx="2457450" cy="2446972"/>
            </a:xfrm>
            <a:prstGeom prst="roundRect">
              <a:avLst>
                <a:gd name="adj" fmla="val 54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210675" y="2087880"/>
              <a:ext cx="47625" cy="21802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35846" y="218170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9450705" y="2580323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607296" y="2520791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用聚合关联关系分配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9450705" y="317182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07296" y="3112294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靠对象关联分配多个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类的职责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450705" y="376332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607296" y="3703796"/>
              <a:ext cx="16375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其余九个都属于这一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8753475" y="297751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06815" y="31127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两类</a:t>
              </a:r>
            </a:p>
          </p:txBody>
        </p:sp>
      </p:grpSp>
      <p:grpSp>
        <p:nvGrpSpPr>
          <p:cNvPr id="51" name="c2-callout-2"/>
          <p:cNvGrpSpPr/>
          <p:nvPr/>
        </p:nvGrpSpPr>
        <p:grpSpPr>
          <a:xfrm>
            <a:off x="6248400" y="4586288"/>
            <a:ext cx="5410200" cy="756285"/>
            <a:chOff x="6248400" y="4586288"/>
            <a:chExt cx="5410200" cy="756285"/>
          </a:xfrm>
        </p:grpSpPr>
        <p:sp>
          <p:nvSpPr>
            <p:cNvPr id="45" name="Rectangle 45"/>
            <p:cNvSpPr/>
            <p:nvPr/>
          </p:nvSpPr>
          <p:spPr>
            <a:xfrm>
              <a:off x="6248400" y="458628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4864418"/>
              <a:ext cx="200026" cy="200025"/>
              <a:chOff x="6453188" y="486441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48644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92926" y="49088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27642" y="50199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511" y="4734401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分类看的是行为靠什么分配：用继承就是类行为型，用对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象关联就是对象行为型。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2" name="Rectangle 5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04084"/>
              <a:ext cx="7106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职责链回答的是“这个请求该交给谁”；至于这件事该怎么做，交给策略和模板方法。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行为型模式与职责链的由来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十一个行为型模式，先混个脸熟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284089" cy="264033"/>
            <a:chOff x="526542" y="1545907"/>
            <a:chExt cx="528408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后面十讲逐个展开，这里只要能按名字想起它解决的是哪个问题。</a:t>
              </a:r>
            </a:p>
          </p:txBody>
        </p:sp>
      </p:grpSp>
      <p:grpSp>
        <p:nvGrpSpPr>
          <p:cNvPr id="26" name="c1-kv-1"/>
          <p:cNvGrpSpPr/>
          <p:nvPr/>
        </p:nvGrpSpPr>
        <p:grpSpPr>
          <a:xfrm>
            <a:off x="526542" y="1950720"/>
            <a:ext cx="5417058" cy="2226183"/>
            <a:chOff x="526542" y="1950720"/>
            <a:chExt cx="5417058" cy="2226183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5072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职责链（本讲）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42960" y="195072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请求沿链传，直到有人接手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374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343150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命令（第 31 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42960" y="23431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把请求封装成对象，可撤销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29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2735580"/>
              <a:ext cx="1610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解释器（第 32 讲）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42960" y="27355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定义文法并解释一个句子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222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542" y="3128010"/>
              <a:ext cx="1610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迭代器（第 33 讲）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42960" y="312801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顺序访问元素，不暴露内部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4147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542" y="3520440"/>
              <a:ext cx="1610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中介者（第 34 讲）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42960" y="352044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网状交互集中到中间人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807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3912870"/>
              <a:ext cx="1610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备忘录（第 35 讲）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42960" y="391287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保存并按需恢复对象状态</a:t>
              </a:r>
            </a:p>
          </p:txBody>
        </p:sp>
      </p:grpSp>
      <p:grpSp>
        <p:nvGrpSpPr>
          <p:cNvPr id="33" name="c1-card-2"/>
          <p:cNvGrpSpPr/>
          <p:nvPr/>
        </p:nvGrpSpPr>
        <p:grpSpPr>
          <a:xfrm>
            <a:off x="533400" y="4293870"/>
            <a:ext cx="5410200" cy="1202055"/>
            <a:chOff x="533400" y="4293870"/>
            <a:chExt cx="5410200" cy="1202055"/>
          </a:xfrm>
        </p:grpSpPr>
        <p:sp>
          <p:nvSpPr>
            <p:cNvPr id="27" name="Rectangle 27"/>
            <p:cNvSpPr/>
            <p:nvPr/>
          </p:nvSpPr>
          <p:spPr>
            <a:xfrm>
              <a:off x="533400" y="429387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442722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58190" y="44805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0862" y="45134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3784" y="451580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职责链排在这一族的最前面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332" y="4841558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张欣佳老师课件按上面的顺序讲这十一个模式。职责链和命令常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常配合：命令把请求封装成对象，职责链决定这个对象交给谁。</a:t>
              </a:r>
            </a:p>
          </p:txBody>
        </p:sp>
      </p:grpSp>
      <p:grpSp>
        <p:nvGrpSpPr>
          <p:cNvPr id="48" name="c2-kv-1"/>
          <p:cNvGrpSpPr/>
          <p:nvPr/>
        </p:nvGrpSpPr>
        <p:grpSpPr>
          <a:xfrm>
            <a:off x="6241542" y="1950720"/>
            <a:ext cx="5417058" cy="1833753"/>
            <a:chOff x="6241542" y="1950720"/>
            <a:chExt cx="5417058" cy="1833753"/>
          </a:xfrm>
        </p:grpSpPr>
        <p:sp>
          <p:nvSpPr>
            <p:cNvPr id="34" name="TextBox 34"/>
            <p:cNvSpPr txBox="1"/>
            <p:nvPr/>
          </p:nvSpPr>
          <p:spPr>
            <a:xfrm>
              <a:off x="6241542" y="1950720"/>
              <a:ext cx="1610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观察者（第 36 讲）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37030" y="195072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状态变了自动通知登记者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2374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1542" y="2343150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状态（第 37 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37030" y="23431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状态变了，行为跟着变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629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41542" y="2735580"/>
              <a:ext cx="1428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策略（第 38 讲）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37030" y="27355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封装一组可替换的算法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0222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41542" y="3128010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模板方法（第 39 讲）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37030" y="31280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父类定骨架，子类填步骤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48400" y="34147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41542" y="3520440"/>
              <a:ext cx="16286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访问者（第 3A 讲）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37030" y="35204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不改元素类，添加新操作</a:t>
              </a:r>
            </a:p>
          </p:txBody>
        </p:sp>
      </p:grpSp>
      <p:grpSp>
        <p:nvGrpSpPr>
          <p:cNvPr id="55" name="c2-card-2"/>
          <p:cNvGrpSpPr/>
          <p:nvPr/>
        </p:nvGrpSpPr>
        <p:grpSpPr>
          <a:xfrm>
            <a:off x="6248400" y="3901440"/>
            <a:ext cx="5410200" cy="1594485"/>
            <a:chOff x="6248400" y="3901440"/>
            <a:chExt cx="5410200" cy="1594485"/>
          </a:xfrm>
        </p:grpSpPr>
        <p:sp>
          <p:nvSpPr>
            <p:cNvPr id="49" name="Rectangle 49"/>
            <p:cNvSpPr/>
            <p:nvPr/>
          </p:nvSpPr>
          <p:spPr>
            <a:xfrm>
              <a:off x="6248400" y="3901440"/>
              <a:ext cx="5410200" cy="1594485"/>
            </a:xfrm>
            <a:prstGeom prst="roundRect">
              <a:avLst>
                <a:gd name="adj" fmla="val 83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57925" y="4034790"/>
              <a:ext cx="47625" cy="13277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73190" y="40881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65862" y="41209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8784" y="4123372"/>
              <a:ext cx="222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按“变的是什么”把它们归堆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6332" y="4449128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职责链和命令关心请求本身怎么走，迭代器和访问者关心集合与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元素，观察者和中介者关心对象之间怎么通信，状态和策略关心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行为怎么替换。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6" name="Rectangle 5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892" y="6028373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十一个模式里只有模板方法和解释器是类行为型，其余九个都靠对象关联分配行为。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行为型模式与职责链的由来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动机：甲要占座，托人有两种办法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374511" cy="264033"/>
            <a:chOff x="526542" y="1545907"/>
            <a:chExt cx="637451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陈伟老师课件的开场。甲想在图书馆占个座位，人一时到不了，只能委托同学。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28812"/>
            <a:ext cx="5410200" cy="1202055"/>
            <a:chOff x="533400" y="1928812"/>
            <a:chExt cx="5410200" cy="120205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甲要在图书馆占一个座位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甲希望在图书馆学习，需要占个座位，但暂时不能去，于是委托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别的同学帮他占。</a:t>
              </a:r>
            </a:p>
          </p:txBody>
        </p:sp>
      </p:grpSp>
      <p:grpSp>
        <p:nvGrpSpPr>
          <p:cNvPr id="36" name="c1-compare-2"/>
          <p:cNvGrpSpPr/>
          <p:nvPr/>
        </p:nvGrpSpPr>
        <p:grpSpPr>
          <a:xfrm>
            <a:off x="533400" y="3301365"/>
            <a:ext cx="5410200" cy="2382202"/>
            <a:chOff x="533400" y="3301365"/>
            <a:chExt cx="5410200" cy="2382202"/>
          </a:xfrm>
        </p:grpSpPr>
        <p:sp>
          <p:nvSpPr>
            <p:cNvPr id="16" name="Rectangle 16"/>
            <p:cNvSpPr/>
            <p:nvPr/>
          </p:nvSpPr>
          <p:spPr>
            <a:xfrm>
              <a:off x="533400" y="3301365"/>
              <a:ext cx="2476500" cy="2382202"/>
            </a:xfrm>
            <a:prstGeom prst="roundRect">
              <a:avLst>
                <a:gd name="adj" fmla="val 5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434715"/>
              <a:ext cx="47625" cy="21155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1332" y="350996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方案一：甲挨个问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6762" y="388334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782" y="38271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甲要认识乙丙丁所有人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6762" y="418338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782" y="4127182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还得知道每个人能不能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6762" y="474059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2782" y="4684395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名单的维护成本全在甲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身上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67100" y="3301365"/>
              <a:ext cx="2476500" cy="2382202"/>
            </a:xfrm>
            <a:prstGeom prst="roundRect">
              <a:avLst>
                <a:gd name="adj" fmla="val 55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476625" y="3434715"/>
              <a:ext cx="47625" cy="21155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85032" y="350996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方案二：一个传一个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3700462" y="388334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856482" y="3827145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甲委托乙，乙不行再委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托丙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700462" y="444055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856482" y="438435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甲只需要认识一个人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700462" y="4740592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56482" y="4684395"/>
              <a:ext cx="1728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中间加人不必改甲的代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057525" y="4311015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112579" y="443579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两案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6248400" y="1928812"/>
            <a:ext cx="5410200" cy="1338929"/>
            <a:chOff x="6248400" y="1928812"/>
            <a:chExt cx="5410200" cy="1338929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0" t="36984" r="0" b="36983"/>
            <a:stretch>
              <a:fillRect/>
            </a:stretch>
          </p:blipFill>
          <p:spPr>
            <a:xfrm>
              <a:off x="6248400" y="1928812"/>
              <a:ext cx="5410200" cy="1056322"/>
            </a:xfrm>
            <a:prstGeom prst="roundRect">
              <a:avLst>
                <a:gd name="adj" fmla="val 12623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7827162" y="3077051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便条一个传一个，谁腾得出手谁去占座</a:t>
              </a:r>
            </a:p>
          </p:txBody>
        </p:sp>
      </p:grpSp>
      <p:grpSp>
        <p:nvGrpSpPr>
          <p:cNvPr id="43" name="c2-code-2"/>
          <p:cNvGrpSpPr/>
          <p:nvPr/>
        </p:nvGrpSpPr>
        <p:grpSpPr>
          <a:xfrm>
            <a:off x="6248400" y="3418522"/>
            <a:ext cx="5410200" cy="2264092"/>
            <a:chOff x="6248400" y="3418522"/>
            <a:chExt cx="5410200" cy="2264092"/>
          </a:xfrm>
        </p:grpSpPr>
        <p:sp>
          <p:nvSpPr>
            <p:cNvPr id="40" name="Rectangle 40"/>
            <p:cNvSpPr/>
            <p:nvPr/>
          </p:nvSpPr>
          <p:spPr>
            <a:xfrm>
              <a:off x="6248400" y="3418522"/>
              <a:ext cx="5410200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6797" y="357044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方案二最直接的写法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797" y="3830479"/>
              <a:ext cx="4409567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mate;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下一个同学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Student(Student mate)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.mate = mate;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occupy()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(canOccupy()) { doOccupy(); }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自己占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(mate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mate.occupy(); }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委托下家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4" name="Rectangle 4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8373"/>
              <a:ext cx="5847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方案二把“谁去占座”的决定从甲手里挪到了链上，这就是职责链的雏形。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98489" cy="909257"/>
            <a:chOff x="520446" y="342900"/>
            <a:chExt cx="41984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行为型模式与职责链的由来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984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把“能占座”抽象成一个角色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771671" cy="264033"/>
            <a:chOff x="526542" y="1545907"/>
            <a:chExt cx="577167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771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陈伟老师课件的第二步：抽出 Occupier，凡是能占座的都做它的子类。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5842635" cy="3143250"/>
            <a:chOff x="533400" y="1928812"/>
            <a:chExt cx="5842635" cy="3143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抽象出下家和处理方法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797" y="2340769"/>
              <a:ext cx="4372229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Occupier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Occupier nextHandler;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Occupier(Occupier next)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.nextHandler = next;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occupy();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交给子类实现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Occupier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Student(Occupier next)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(next);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occupy()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(canOccupy()) { doOccupy();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(nextHandler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nextHandler.occupy();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otherMethod() { }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学生自己的业务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bullets-1"/>
          <p:cNvGrpSpPr/>
          <p:nvPr/>
        </p:nvGrpSpPr>
        <p:grpSpPr>
          <a:xfrm>
            <a:off x="6673977" y="1950720"/>
            <a:ext cx="2708529" cy="1873092"/>
            <a:chOff x="6673977" y="1950720"/>
            <a:chExt cx="2708529" cy="1873092"/>
          </a:xfrm>
        </p:grpSpPr>
        <p:sp>
          <p:nvSpPr>
            <p:cNvPr id="13" name="TextBox 13"/>
            <p:cNvSpPr txBox="1"/>
            <p:nvPr/>
          </p:nvSpPr>
          <p:spPr>
            <a:xfrm>
              <a:off x="6673977" y="195072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到这里，骨架的三件东西齐了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680835" y="229647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17817" y="226790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一个抽象处理者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924675" y="25946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09460" y="2531269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声明处理方法，本身不写处理逻辑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680835" y="283273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17817" y="280416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一个指向下家的引用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24675" y="31308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09460" y="306752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类型是抽象处理者，谁都能接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680835" y="336899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8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17817" y="3340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一句固定的转发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924675" y="366712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09460" y="3603784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自己处理不了就交给下家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680835" y="3949065"/>
            <a:ext cx="4977765" cy="1760220"/>
            <a:chOff x="6680835" y="3949065"/>
            <a:chExt cx="4977765" cy="1760220"/>
          </a:xfrm>
        </p:grpSpPr>
        <p:sp>
          <p:nvSpPr>
            <p:cNvPr id="27" name="Rectangle 27"/>
            <p:cNvSpPr/>
            <p:nvPr/>
          </p:nvSpPr>
          <p:spPr>
            <a:xfrm>
              <a:off x="6680835" y="3949065"/>
              <a:ext cx="497776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90360" y="4082415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905625" y="41357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98297" y="41686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72172" y="4170998"/>
              <a:ext cx="25843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C++ 原写法到 Java 的两处落差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98767" y="4496752"/>
              <a:ext cx="40942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原代码用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 void Occupy() = 0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声明纯虚函数，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Java 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方法。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98767" y="5054918"/>
              <a:ext cx="43771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原代码有虚析构函数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 ~Occupier()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，Java 没有析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构函数，对象由垃圾回收处理。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5" name="Rectangle 3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892" y="6028373"/>
              <a:ext cx="595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Occupier 的子类可以是学生、书包、书本、纸，任何能占住座位的东西。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行为型模式与职责链的由来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同一个骨架也能审批申请表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65826" cy="264033"/>
            <a:chOff x="526542" y="1545907"/>
            <a:chExt cx="546582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张欣佳老师课件用的是另一组例子：斗地主出牌，和学生的申请表。</a:t>
              </a:r>
            </a:p>
          </p:txBody>
        </p:sp>
      </p:grpSp>
      <p:grpSp>
        <p:nvGrpSpPr>
          <p:cNvPr id="11" name="c1-image-1"/>
          <p:cNvGrpSpPr/>
          <p:nvPr/>
        </p:nvGrpSpPr>
        <p:grpSpPr>
          <a:xfrm>
            <a:off x="533400" y="1928812"/>
            <a:ext cx="4977765" cy="1804702"/>
            <a:chOff x="533400" y="1928812"/>
            <a:chExt cx="4977765" cy="1804702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0" t="22820" r="0" b="22819"/>
            <a:stretch>
              <a:fillRect/>
            </a:stretch>
          </p:blipFill>
          <p:spPr>
            <a:xfrm>
              <a:off x="533400" y="1928812"/>
              <a:ext cx="4977765" cy="1522095"/>
            </a:xfrm>
            <a:prstGeom prst="roundRect">
              <a:avLst>
                <a:gd name="adj" fmla="val 8760"/>
              </a:avLst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632090" y="354282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一份表单沿着一排桌子往下传，谁有权批谁就批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879532"/>
            <a:ext cx="4977765" cy="1738312"/>
            <a:chOff x="533400" y="3879532"/>
            <a:chExt cx="4977765" cy="1738312"/>
          </a:xfrm>
        </p:grpSpPr>
        <p:sp>
          <p:nvSpPr>
            <p:cNvPr id="12" name="Rectangle 12"/>
            <p:cNvSpPr/>
            <p:nvPr/>
          </p:nvSpPr>
          <p:spPr>
            <a:xfrm>
              <a:off x="533400" y="3879532"/>
              <a:ext cx="4977765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012882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2475" y="406050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246" y="409336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94625" y="410003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两个生活场景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416266"/>
              <a:ext cx="4255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“斗地主”里某人出牌给下家，下家要不起就再往下转；一圈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都要不起，最初的出牌者才能打出新牌。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494395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学生的申请表，辅导员、系主任、院长、校长都可能有权批，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表就沿着这条线往上走。</a:t>
              </a:r>
            </a:p>
          </p:txBody>
        </p:sp>
      </p:grpSp>
      <p:grpSp>
        <p:nvGrpSpPr>
          <p:cNvPr id="38" name="c2-flow-1"/>
          <p:cNvGrpSpPr/>
          <p:nvPr/>
        </p:nvGrpSpPr>
        <p:grpSpPr>
          <a:xfrm>
            <a:off x="5949315" y="2366962"/>
            <a:ext cx="5575935" cy="372428"/>
            <a:chOff x="5949315" y="2366962"/>
            <a:chExt cx="5575935" cy="372428"/>
          </a:xfrm>
        </p:grpSpPr>
        <p:sp>
          <p:nvSpPr>
            <p:cNvPr id="20" name="Freeform 20"/>
            <p:cNvSpPr/>
            <p:nvPr/>
          </p:nvSpPr>
          <p:spPr>
            <a:xfrm>
              <a:off x="6850380" y="25527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012305" y="2500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019098" y="25527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8181022" y="2500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187815" y="25527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349740" y="2500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0356532" y="25527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10518458" y="25003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949315" y="2366962"/>
              <a:ext cx="902018" cy="372428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17080" y="2366962"/>
              <a:ext cx="90201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5798" y="2366962"/>
              <a:ext cx="90201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54515" y="2366962"/>
              <a:ext cx="902018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0623232" y="2366962"/>
              <a:ext cx="902018" cy="372428"/>
            </a:xfrm>
            <a:prstGeom prst="roundRect">
              <a:avLst>
                <a:gd name="adj" fmla="val 25575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53162" y="24793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1205" y="24793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辅导员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19922" y="247935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系主任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59315" y="24793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院长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28033" y="24793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校长</a:t>
              </a:r>
            </a:p>
          </p:txBody>
        </p:sp>
      </p:grpSp>
      <p:grpSp>
        <p:nvGrpSpPr>
          <p:cNvPr id="52" name="c2-bullets-2"/>
          <p:cNvGrpSpPr/>
          <p:nvPr/>
        </p:nvGrpSpPr>
        <p:grpSpPr>
          <a:xfrm>
            <a:off x="5809488" y="3362801"/>
            <a:ext cx="2494026" cy="1768888"/>
            <a:chOff x="5809488" y="3362801"/>
            <a:chExt cx="2494026" cy="1768888"/>
          </a:xfrm>
        </p:grpSpPr>
        <p:sp>
          <p:nvSpPr>
            <p:cNvPr id="39" name="TextBox 39"/>
            <p:cNvSpPr txBox="1"/>
            <p:nvPr/>
          </p:nvSpPr>
          <p:spPr>
            <a:xfrm>
              <a:off x="5809488" y="336280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职责链的三种形态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25490" y="37166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80938" y="366379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直线型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987415" y="397192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72581" y="391287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沿一条单向的链传递请求，最常见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5825490" y="422338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80938" y="41705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环型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987415" y="447865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72581" y="441960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链尾接回链头，斗地主就是转一圈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825490" y="473011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80938" y="46782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树型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987415" y="498538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72581" y="492633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几条支链汇到同一条上游链上</a:t>
              </a:r>
            </a:p>
          </p:txBody>
        </p:sp>
      </p:grpSp>
      <p:grpSp>
        <p:nvGrpSpPr>
          <p:cNvPr id="59" name="c2-callout-3"/>
          <p:cNvGrpSpPr/>
          <p:nvPr/>
        </p:nvGrpSpPr>
        <p:grpSpPr>
          <a:xfrm>
            <a:off x="5815965" y="5255895"/>
            <a:ext cx="5842635" cy="467678"/>
            <a:chOff x="5815965" y="5255895"/>
            <a:chExt cx="5842635" cy="467678"/>
          </a:xfrm>
        </p:grpSpPr>
        <p:sp>
          <p:nvSpPr>
            <p:cNvPr id="53" name="Rectangle 53"/>
            <p:cNvSpPr/>
            <p:nvPr/>
          </p:nvSpPr>
          <p:spPr>
            <a:xfrm>
              <a:off x="5815965" y="5255895"/>
              <a:ext cx="5842635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008694" y="5385553"/>
              <a:ext cx="224134" cy="192560"/>
              <a:chOff x="6008694" y="5385553"/>
              <a:chExt cx="224134" cy="19256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120765" y="545592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008694" y="538555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120765" y="5533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323838" y="5400199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环型链必须带终止条件，否则请求会一直转下去。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0" name="Rectangle 6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1273" y="603932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客户端只把请求交给链头，不关心它最后停在谁那里。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8130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5678" y="407194"/>
              <a:ext cx="2676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行为型模式与职责链的由来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定义：让多个对象都有机会处理，直到有人接手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6059805" cy="2291715"/>
            <a:chOff x="533400" y="1524000"/>
            <a:chExt cx="6059805" cy="22917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4639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职责链模式（Chain of Responsibility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34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避免请求发送者与接收者耦合在一起，让多个对象都有可能接收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请求，将这些对象连接成一条链，并且沿着这条链传递请求，直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到有对象处理它为止。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30994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3036570"/>
              <a:ext cx="3912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又称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责任链模式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，同一个英文名的两种译法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3471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7185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对象行为型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006215"/>
            <a:ext cx="6059805" cy="1621155"/>
            <a:chOff x="533400" y="4006215"/>
            <a:chExt cx="6059805" cy="1621155"/>
          </a:xfrm>
        </p:grpSpPr>
        <p:sp>
          <p:nvSpPr>
            <p:cNvPr id="18" name="Rectangle 18"/>
            <p:cNvSpPr/>
            <p:nvPr/>
          </p:nvSpPr>
          <p:spPr>
            <a:xfrm>
              <a:off x="533400" y="4006215"/>
              <a:ext cx="6059805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" y="42157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158" y="42514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3978" y="425100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分离职责，动态组合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4612005"/>
              <a:ext cx="534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分离职责是前提，先把复杂功能拆成若干小的处理，让不同的类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各管一个方面；动态组合是关键，运行期才把它们串成一条链，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链跑完功能也就做完了。</a:t>
              </a:r>
            </a:p>
          </p:txBody>
        </p:sp>
      </p:grpSp>
      <p:grpSp>
        <p:nvGrpSpPr>
          <p:cNvPr id="37" name="c2-bullets-1"/>
          <p:cNvGrpSpPr/>
          <p:nvPr/>
        </p:nvGrpSpPr>
        <p:grpSpPr>
          <a:xfrm>
            <a:off x="6890385" y="1548765"/>
            <a:ext cx="2875115" cy="2103405"/>
            <a:chOff x="6890385" y="1548765"/>
            <a:chExt cx="2875115" cy="2103405"/>
          </a:xfrm>
        </p:grpSpPr>
        <p:sp>
          <p:nvSpPr>
            <p:cNvPr id="24" name="TextBox 24"/>
            <p:cNvSpPr txBox="1"/>
            <p:nvPr/>
          </p:nvSpPr>
          <p:spPr>
            <a:xfrm>
              <a:off x="6890385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定义里的三个要点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898005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48512" y="190309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发送者与接收者解耦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156132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40156" y="219694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发送者不知道最后是谁处理的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898005" y="2537460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4292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48512" y="250602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链上每个对象都是处理者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156132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40156" y="279987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都有机会处理，也都可以转发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6898005" y="3141345"/>
              <a:ext cx="143827" cy="116205"/>
            </a:xfrm>
            <a:custGeom>
              <a:avLst/>
              <a:gdLst/>
              <a:ahLst/>
              <a:cxnLst/>
              <a:rect l="l" t="t" r="r" b="b"/>
              <a:pathLst>
                <a:path w="143827" h="116205">
                  <a:moveTo>
                    <a:pt x="0" y="60960"/>
                  </a:moveTo>
                  <a:lnTo>
                    <a:pt x="54292" y="116205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48512" y="3108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直到有对象处理为止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56132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40156" y="340280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纯的职责链里，有人接手就停下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898005" y="3792855"/>
            <a:ext cx="4760595" cy="1834515"/>
            <a:chOff x="6898005" y="3792855"/>
            <a:chExt cx="4760595" cy="1834515"/>
          </a:xfrm>
        </p:grpSpPr>
        <p:sp>
          <p:nvSpPr>
            <p:cNvPr id="38" name="Rectangle 38"/>
            <p:cNvSpPr/>
            <p:nvPr/>
          </p:nvSpPr>
          <p:spPr>
            <a:xfrm>
              <a:off x="6898005" y="3792855"/>
              <a:ext cx="4760595" cy="1834515"/>
            </a:xfrm>
            <a:prstGeom prst="roundRect">
              <a:avLst>
                <a:gd name="adj" fmla="val 623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102793" y="4610100"/>
              <a:ext cx="200026" cy="200026"/>
              <a:chOff x="7102793" y="4610100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102793" y="46101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02805" y="4676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191693" y="47101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404735" y="446722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陈伟老师课件的说法是：给多个对象处理请求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的机会，解耦发送者和接收者。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5" name="Rectangle 4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59912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定义没有规定链怎么建，建链是使用它的客户端的事。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结构、角色与标准代码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三个角色，一个自关联，一句固定的转发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4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Handler 指向自己的那条线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抽象与具体处理者的典型代码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结构：抽象处理者握着一个自己类型的引用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4838212" cy="278702"/>
            <a:chOff x="526161" y="1547336"/>
            <a:chExt cx="483821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48382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整张图只有三类框，关键在 Handler 指回自己的那条线。</a:t>
              </a:r>
            </a:p>
          </p:txBody>
        </p:sp>
      </p:grpSp>
      <p:grpSp>
        <p:nvGrpSpPr>
          <p:cNvPr id="43" name="c1-uml-1"/>
          <p:cNvGrpSpPr/>
          <p:nvPr/>
        </p:nvGrpSpPr>
        <p:grpSpPr>
          <a:xfrm>
            <a:off x="811530" y="2454592"/>
            <a:ext cx="5297184" cy="2586038"/>
            <a:chOff x="811530" y="2454592"/>
            <a:chExt cx="5297184" cy="2586038"/>
          </a:xfrm>
        </p:grpSpPr>
        <p:sp>
          <p:nvSpPr>
            <p:cNvPr id="9" name="Freeform 9"/>
            <p:cNvSpPr/>
            <p:nvPr/>
          </p:nvSpPr>
          <p:spPr>
            <a:xfrm>
              <a:off x="4163378" y="2693670"/>
              <a:ext cx="323850" cy="376238"/>
            </a:xfrm>
            <a:custGeom>
              <a:avLst/>
              <a:gdLst/>
              <a:ahLst/>
              <a:cxnLst/>
              <a:rect l="l" t="t" r="r" b="b"/>
              <a:pathLst>
                <a:path w="323850" h="376238">
                  <a:moveTo>
                    <a:pt x="0" y="0"/>
                  </a:moveTo>
                  <a:lnTo>
                    <a:pt x="323850" y="0"/>
                  </a:lnTo>
                  <a:lnTo>
                    <a:pt x="323850" y="376238"/>
                  </a:lnTo>
                  <a:lnTo>
                    <a:pt x="0" y="37623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3378" y="301180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8103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078355" y="2881312"/>
              <a:ext cx="667703" cy="9525"/>
            </a:xfrm>
            <a:custGeom>
              <a:avLst/>
              <a:gdLst/>
              <a:ahLst/>
              <a:cxnLst/>
              <a:rect l="l" t="t" r="r" b="b"/>
              <a:pathLst>
                <a:path w="667703" h="9525">
                  <a:moveTo>
                    <a:pt x="0" y="0"/>
                  </a:moveTo>
                  <a:lnTo>
                    <a:pt x="667703" y="953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641282" y="2824162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06855" y="3434715"/>
              <a:ext cx="1852612" cy="1049655"/>
            </a:xfrm>
            <a:custGeom>
              <a:avLst/>
              <a:gdLst/>
              <a:ahLst/>
              <a:cxnLst/>
              <a:rect l="l" t="t" r="r" b="b"/>
              <a:pathLst>
                <a:path w="1852612" h="1049655">
                  <a:moveTo>
                    <a:pt x="0" y="1049655"/>
                  </a:moveTo>
                  <a:lnTo>
                    <a:pt x="0" y="461962"/>
                  </a:lnTo>
                  <a:lnTo>
                    <a:pt x="1852612" y="461962"/>
                  </a:lnTo>
                  <a:lnTo>
                    <a:pt x="185261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86125" y="330898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549968" y="3434715"/>
              <a:ext cx="1852613" cy="1049655"/>
            </a:xfrm>
            <a:custGeom>
              <a:avLst/>
              <a:gdLst/>
              <a:ahLst/>
              <a:cxnLst/>
              <a:rect l="l" t="t" r="r" b="b"/>
              <a:pathLst>
                <a:path w="1852613" h="1049655">
                  <a:moveTo>
                    <a:pt x="1852613" y="1049655"/>
                  </a:moveTo>
                  <a:lnTo>
                    <a:pt x="1852613" y="461962"/>
                  </a:lnTo>
                  <a:lnTo>
                    <a:pt x="0" y="461962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476625" y="330898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35355" y="2677478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42975" y="2685098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935355" y="288988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35355" y="298513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746058" y="2454592"/>
              <a:ext cx="1417320" cy="8543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753678" y="2462212"/>
              <a:ext cx="140303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46058" y="2667000"/>
              <a:ext cx="14173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46058" y="2910840"/>
              <a:ext cx="141732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1530" y="4484370"/>
              <a:ext cx="139160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18198" y="4491038"/>
              <a:ext cx="137731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1530" y="4696778"/>
              <a:ext cx="13916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11530" y="4792028"/>
              <a:ext cx="13916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706302" y="4484370"/>
              <a:ext cx="139160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713922" y="4491038"/>
              <a:ext cx="137731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706302" y="4696778"/>
              <a:ext cx="13916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06302" y="4792028"/>
              <a:ext cx="139160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22310" y="2729865"/>
              <a:ext cx="3690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19115" y="2506028"/>
              <a:ext cx="47120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Handler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17495" y="2735104"/>
              <a:ext cx="1145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successor: Handler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17495" y="2978944"/>
              <a:ext cx="1274826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setSuccessor(Handler)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handleRequest(String)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2473" y="4535805"/>
              <a:ext cx="11087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ConcreteHandlerA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2968" y="4860131"/>
              <a:ext cx="13309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handleRequest(String)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48198" y="4535805"/>
              <a:ext cx="11087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ConcreteHandlerB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77740" y="4860131"/>
              <a:ext cx="13309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handleRequest(String)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15802" y="2796540"/>
              <a:ext cx="7115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39424" y="2820829"/>
              <a:ext cx="6629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successor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680835" y="1941195"/>
            <a:ext cx="4977765" cy="1786890"/>
            <a:chOff x="6680835" y="1941195"/>
            <a:chExt cx="4977765" cy="1786890"/>
          </a:xfrm>
        </p:grpSpPr>
        <p:sp>
          <p:nvSpPr>
            <p:cNvPr id="44" name="Rectangle 44"/>
            <p:cNvSpPr/>
            <p:nvPr/>
          </p:nvSpPr>
          <p:spPr>
            <a:xfrm>
              <a:off x="6680835" y="1941195"/>
              <a:ext cx="497776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0360" y="207454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11340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02780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5032" y="21736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两种线分别说明什么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04482" y="250793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实线加空心三角是继承，三角画在父类那一端，所以两个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具体处理者都指向 Handler。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04482" y="3068002"/>
              <a:ext cx="36570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框侧面那条回线是自关联：successor 的类型是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Handler，任何一个具体处理者都能当下家。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903345"/>
            <a:ext cx="4977765" cy="1529715"/>
            <a:chOff x="6680835" y="3903345"/>
            <a:chExt cx="4977765" cy="1529715"/>
          </a:xfrm>
        </p:grpSpPr>
        <p:sp>
          <p:nvSpPr>
            <p:cNvPr id="52" name="Rectangle 52"/>
            <p:cNvSpPr/>
            <p:nvPr/>
          </p:nvSpPr>
          <p:spPr>
            <a:xfrm>
              <a:off x="6680835" y="3903345"/>
              <a:ext cx="4977765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4036695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11340" y="40957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02780" y="41300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95032" y="4135755"/>
              <a:ext cx="2708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successor 画成了私有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04482" y="4469130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结构图里写的是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- successor : Handler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，正文和典型代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码却要求它是 protected，否则子类转发时读不到。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04482" y="5029200"/>
              <a:ext cx="3264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图上应当写成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# successor : Handler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0" name="Rectangle 6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361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两个具体处理者之间没有任何连线，它们彼此并不认识。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6283642" cy="2583180"/>
            <a:chOff x="525780" y="1548765"/>
            <a:chExt cx="6283642" cy="25831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366838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Handler 抽象处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理者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83142" y="1548765"/>
              <a:ext cx="4206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定义处理请求的接口，一般设计为抽象类。它声明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抽象的请求处理方法，并定义一个抽象处理者类型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的字段作为对下家的引用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4326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552700"/>
              <a:ext cx="150542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ConcreteHandle</a:t>
              </a:r>
              <a:br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r 具体处理者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3142" y="2552700"/>
              <a:ext cx="42062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抽象处理者的子类。处理请求之前先判断有没有相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应的处理权限，能处理就处理，否则把请求转发给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后继者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4366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556635"/>
              <a:ext cx="12845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Client 客户类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83142" y="3556635"/>
              <a:ext cx="42443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创建各个具体处理者对象，用 setSuccessor 把它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们串成一条链，再把请求交给链上的第一个对象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263390"/>
            <a:ext cx="6276022" cy="1028700"/>
            <a:chOff x="533400" y="4263390"/>
            <a:chExt cx="6276022" cy="1028700"/>
          </a:xfrm>
        </p:grpSpPr>
        <p:sp>
          <p:nvSpPr>
            <p:cNvPr id="16" name="Rectangle 16"/>
            <p:cNvSpPr/>
            <p:nvPr/>
          </p:nvSpPr>
          <p:spPr>
            <a:xfrm>
              <a:off x="533400" y="4263390"/>
              <a:ext cx="6276022" cy="1028700"/>
            </a:xfrm>
            <a:prstGeom prst="roundRect">
              <a:avLst>
                <a:gd name="adj" fmla="val 1111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677728"/>
              <a:ext cx="200026" cy="200026"/>
              <a:chOff x="738188" y="4677728"/>
              <a:chExt cx="200026" cy="20002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46777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7444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27088" y="47777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534852"/>
              <a:ext cx="5349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抽象处理者写成抽象类最常见；没有公共字段和默认实现要共享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时，写成接口也可以。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7114222" y="1524000"/>
            <a:ext cx="4544378" cy="1956435"/>
            <a:chOff x="7114222" y="1524000"/>
            <a:chExt cx="4544378" cy="1956435"/>
          </a:xfrm>
        </p:grpSpPr>
        <p:sp>
          <p:nvSpPr>
            <p:cNvPr id="23" name="Rectangle 23"/>
            <p:cNvSpPr/>
            <p:nvPr/>
          </p:nvSpPr>
          <p:spPr>
            <a:xfrm>
              <a:off x="7114222" y="1524000"/>
              <a:ext cx="4544378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61872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52081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61948" y="1768792"/>
              <a:ext cx="3070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下家的类型为什么必须是 Handler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4252" y="212979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写成某个具体处理者，链的顺序就在编译期定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死了，运行时再也换不了人。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4252" y="27508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写成抽象处理者类型，同一个具体处理者可以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排在链的任何位置。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7114222" y="3670935"/>
            <a:ext cx="4544378" cy="1621155"/>
            <a:chOff x="7114222" y="3670935"/>
            <a:chExt cx="4544378" cy="1621155"/>
          </a:xfrm>
        </p:grpSpPr>
        <p:sp>
          <p:nvSpPr>
            <p:cNvPr id="31" name="Rectangle 31"/>
            <p:cNvSpPr/>
            <p:nvPr/>
          </p:nvSpPr>
          <p:spPr>
            <a:xfrm>
              <a:off x="7114222" y="3670935"/>
              <a:ext cx="4544378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380428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38804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52081" y="39162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常错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1948" y="3915728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具体处理者之间不要互相引用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54252" y="4276725"/>
              <a:ext cx="3882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具体处理者只认识抽象处理者类型的下家。一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旦 A 类里出现 B 类的名字，新增处理者就要改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旧代码。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只有客户端知道整条链的样子，链上的每个对象都只知道自己的下一个。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抽象处理者的典型代码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393131" cy="264033"/>
            <a:chOff x="526542" y="1545907"/>
            <a:chExt cx="539313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393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模式的核心就在这个类：一个字段、一个 setter、一个抽象方法。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6059805" cy="2440305"/>
            <a:chOff x="533400" y="1928812"/>
            <a:chExt cx="6059805" cy="244030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512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Handler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65557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774821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维持对下家的引用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 successor;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setSuccessor(Handler successor)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.successor = successor;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具体怎么判断、怎么处理，交给子类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handleRequest(String request);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533900"/>
            <a:ext cx="6059805" cy="1160145"/>
            <a:chOff x="533400" y="4533900"/>
            <a:chExt cx="6059805" cy="1160145"/>
          </a:xfrm>
        </p:grpSpPr>
        <p:sp>
          <p:nvSpPr>
            <p:cNvPr id="14" name="Rectangle 14"/>
            <p:cNvSpPr/>
            <p:nvPr/>
          </p:nvSpPr>
          <p:spPr>
            <a:xfrm>
              <a:off x="533400" y="4533900"/>
              <a:ext cx="605980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46672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47148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47477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变体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450" y="475440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也可以把下家交给构造方法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5070634"/>
              <a:ext cx="54099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陈伟老师课件里的 Occupier 就是在构造方法里接收下家，创建对象和建链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一次完成。用 setSuccessor 的好处是运行期还能改链，两种写法都常见。</a:t>
              </a:r>
            </a:p>
          </p:txBody>
        </p:sp>
      </p:grpSp>
      <p:grpSp>
        <p:nvGrpSpPr>
          <p:cNvPr id="37" name="c2-bullets-1"/>
          <p:cNvGrpSpPr/>
          <p:nvPr/>
        </p:nvGrpSpPr>
        <p:grpSpPr>
          <a:xfrm>
            <a:off x="6891528" y="1949291"/>
            <a:ext cx="2033397" cy="1769841"/>
            <a:chOff x="6891528" y="1949291"/>
            <a:chExt cx="2033397" cy="1769841"/>
          </a:xfrm>
        </p:grpSpPr>
        <p:sp>
          <p:nvSpPr>
            <p:cNvPr id="21" name="TextBox 21"/>
            <p:cNvSpPr txBox="1"/>
            <p:nvPr/>
          </p:nvSpPr>
          <p:spPr>
            <a:xfrm>
              <a:off x="6891528" y="194929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三处都不能随手改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898005" y="223932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9912" y="2274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67753" y="225123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字段用 protected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174230" y="255841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59396" y="249936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子类要在转发时读到它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898005" y="274701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49912" y="27816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67753" y="2757964"/>
              <a:ext cx="15519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字段类型写 Handler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74230" y="306514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9396" y="300609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任何处理者都能排在后面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98005" y="3253740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49912" y="32884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67753" y="326469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处理方法声明为抽象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74230" y="3571875"/>
              <a:ext cx="60008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59396" y="3513773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每个子类的判断条件不同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898005" y="3842385"/>
            <a:ext cx="4760595" cy="1851660"/>
            <a:chOff x="6898005" y="3842385"/>
            <a:chExt cx="4760595" cy="1851660"/>
          </a:xfrm>
        </p:grpSpPr>
        <p:sp>
          <p:nvSpPr>
            <p:cNvPr id="38" name="Rectangle 38"/>
            <p:cNvSpPr/>
            <p:nvPr/>
          </p:nvSpPr>
          <p:spPr>
            <a:xfrm>
              <a:off x="6898005" y="3842385"/>
              <a:ext cx="4760595" cy="1851660"/>
            </a:xfrm>
            <a:prstGeom prst="roundRect">
              <a:avLst>
                <a:gd name="adj" fmla="val 72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907530" y="3975735"/>
              <a:ext cx="47625" cy="15849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17080" y="402336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08799" y="405622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83056" y="40628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抽象处理者不写处理逻辑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10603" y="4379119"/>
              <a:ext cx="406069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它只规定两件事：有一个下家，有一个处理方法。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setSuccessor 留给客户端调用，抽象处理者自己从不建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54726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请求参数这里写成 String 只是示意，实际项目里通常是一个请求对象。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具体处理者：能处理就处理，不能就往下传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2440305"/>
            <a:chOff x="533400" y="1524000"/>
            <a:chExt cx="6059805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264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ConcreteHandler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78442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955288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ConcreteHandler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handleRequest(String request)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(canHandle(request))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在自己的权限范围内，处理请求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(successor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successor.handleRequest(request);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转发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链尾也处理不了，请求到此为止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133850"/>
            <a:ext cx="6059805" cy="1503045"/>
            <a:chOff x="533400" y="4133850"/>
            <a:chExt cx="6059805" cy="1503045"/>
          </a:xfrm>
        </p:grpSpPr>
        <p:sp>
          <p:nvSpPr>
            <p:cNvPr id="12" name="Rectangle 12"/>
            <p:cNvSpPr/>
            <p:nvPr/>
          </p:nvSpPr>
          <p:spPr>
            <a:xfrm>
              <a:off x="533400" y="4133850"/>
              <a:ext cx="6059805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42925" y="4267200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58190" y="432054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0862" y="43534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收尾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3784" y="435578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链尾有两种合理的收场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4681538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请求可有可无时，链尾静默返回就行，日志过滤这类场景常这么写。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1332" y="4982528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要求请求必须有结论时，给链尾安排一个兜底处理者，打印拒绝信息或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者抛异常。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898005" y="1524000"/>
            <a:ext cx="4760595" cy="1760220"/>
            <a:chOff x="6898005" y="1524000"/>
            <a:chExt cx="4760595" cy="1760220"/>
          </a:xfrm>
        </p:grpSpPr>
        <p:sp>
          <p:nvSpPr>
            <p:cNvPr id="20" name="Rectangle 20"/>
            <p:cNvSpPr/>
            <p:nvPr/>
          </p:nvSpPr>
          <p:spPr>
            <a:xfrm>
              <a:off x="6898005" y="1524000"/>
              <a:ext cx="4760595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07530" y="1657350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2279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14514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88389" y="174593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原课件的典型代码漏了判空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5937" y="2071688"/>
              <a:ext cx="38284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课件写作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else {</a:t>
              </a:r>
              <a:br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this.successor.handleRequest(request); }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5937" y="2628900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链尾那个处理者的 successor 是 null，这一行会抛</a:t>
              </a:r>
              <a:br/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NullPointerException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，应先判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successor != 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3" name="c2-bullets-2"/>
          <p:cNvGrpSpPr/>
          <p:nvPr/>
        </p:nvGrpSpPr>
        <p:grpSpPr>
          <a:xfrm>
            <a:off x="6891147" y="3475672"/>
            <a:ext cx="3347085" cy="889826"/>
            <a:chOff x="6891147" y="3475672"/>
            <a:chExt cx="3347085" cy="889826"/>
          </a:xfrm>
        </p:grpSpPr>
        <p:sp>
          <p:nvSpPr>
            <p:cNvPr id="28" name="TextBox 28"/>
            <p:cNvSpPr txBox="1"/>
            <p:nvPr/>
          </p:nvSpPr>
          <p:spPr>
            <a:xfrm>
              <a:off x="6891147" y="347567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具体处理者的两大作用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898005" y="382143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34987" y="3792855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处理请求：用自己的方式实现处理方法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6898005" y="413004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8577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34987" y="410146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转发请求：超出权限就交给后继者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4" name="Rectangle 3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6028373"/>
              <a:ext cx="5929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把 else 写死成转发，等于假设链永远有下一个人，这在链尾一定会出事。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结构、角色与标准代码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链由客户端创建，模式本身不建链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829300" cy="264033"/>
            <a:chOff x="526542" y="1545907"/>
            <a:chExt cx="582930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职责链模式只规定处理者怎么写，谁排在谁后面由使用它的客户端决定。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5626418" cy="2264092"/>
            <a:chOff x="533400" y="1928812"/>
            <a:chExt cx="5626418" cy="226409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264092"/>
            </a:xfrm>
            <a:prstGeom prst="roundRect">
              <a:avLst>
                <a:gd name="adj" fmla="val 42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183255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358515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3507232" cy="1776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Handler ha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ConcreteHandlerA();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Handler hb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ConcreteHandlerB();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Handler hc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ConcreteHandlerC();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ha.setSuccessor(hb);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创建职责链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hb.setSuccessor(hc);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ha.handleRequest(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"some request"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4357688"/>
            <a:ext cx="5626418" cy="1336358"/>
            <a:chOff x="533400" y="4357688"/>
            <a:chExt cx="5626418" cy="1336358"/>
          </a:xfrm>
        </p:grpSpPr>
        <p:sp>
          <p:nvSpPr>
            <p:cNvPr id="15" name="Rectangle 15"/>
            <p:cNvSpPr/>
            <p:nvPr/>
          </p:nvSpPr>
          <p:spPr>
            <a:xfrm>
              <a:off x="533400" y="4357688"/>
              <a:ext cx="5626418" cy="1336358"/>
            </a:xfrm>
            <a:prstGeom prst="roundRect">
              <a:avLst>
                <a:gd name="adj" fmla="val 99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491038"/>
              <a:ext cx="47625" cy="10696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4538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4571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顺序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8450" y="457819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建链的顺序决定判断的顺序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89537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链上的条件通常从严到宽。顺序排反，条件宽的那个会先接走所有请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求。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6464618" y="1938338"/>
            <a:ext cx="2544699" cy="2149411"/>
            <a:chOff x="6464618" y="1938338"/>
            <a:chExt cx="2544699" cy="2149411"/>
          </a:xfrm>
        </p:grpSpPr>
        <p:sp>
          <p:nvSpPr>
            <p:cNvPr id="22" name="Rectangle 22"/>
            <p:cNvSpPr/>
            <p:nvPr/>
          </p:nvSpPr>
          <p:spPr>
            <a:xfrm>
              <a:off x="6597968" y="2081212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49078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8" y="304419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31180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64618" y="359759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8241" y="36714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7241" y="196834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8384" y="2223135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建好链，把请求交给链头的 ha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7241" y="2521744"/>
              <a:ext cx="1576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ConcreteHandlerA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8384" y="277653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判断自己无权处理，转发给 hb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7241" y="3075146"/>
              <a:ext cx="1576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ConcreteHandlerB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8384" y="332898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有权处理，处理完直接返回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7241" y="3627596"/>
              <a:ext cx="15763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ConcreteHandlerC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8384" y="388239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请求没有走到这里，它不会被调用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4249102"/>
            <a:ext cx="5193982" cy="1444942"/>
            <a:chOff x="6464618" y="4249102"/>
            <a:chExt cx="5193982" cy="1444942"/>
          </a:xfrm>
        </p:grpSpPr>
        <p:sp>
          <p:nvSpPr>
            <p:cNvPr id="40" name="Rectangle 40"/>
            <p:cNvSpPr/>
            <p:nvPr/>
          </p:nvSpPr>
          <p:spPr>
            <a:xfrm>
              <a:off x="6464618" y="4249102"/>
              <a:ext cx="5193982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4382452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3692" y="44300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76364" y="44629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50620" y="44696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原课件客户端里的两处写法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77216" y="4786789"/>
              <a:ext cx="45565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String req = new String(“some request”);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的引号是中文引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号，照抄编译不过。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7216" y="5314474"/>
              <a:ext cx="4544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String(...)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也是多余的，直接用字符串字面量即可。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5170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换一条链只改客户端几行 setSuccessor，处理者类一行都不用动。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实例一：审批假条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按请假天数分级，链上三个人各判一个上界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四条规则与类图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五个类的完整代码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四种天数的走查表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实例一：审批假条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实例一：审批假条，按天数决定谁批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70804" cy="293370"/>
            <a:chOff x="525780" y="1548765"/>
            <a:chExt cx="5670804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70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 OA 系统要做一个假条审批模块，权限按请假天数分成四档。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54530"/>
            <a:ext cx="4760595" cy="1293495"/>
            <a:chOff x="533400" y="1954530"/>
            <a:chExt cx="4760595" cy="129349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76059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假条审批模块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员工请假天数不同，有权审批的人也不同。超过上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限时总经理也不能审批，要给出相应的拒绝信息。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432810"/>
            <a:ext cx="4760595" cy="2150745"/>
            <a:chOff x="533400" y="3432810"/>
            <a:chExt cx="4760595" cy="2150745"/>
          </a:xfrm>
        </p:grpSpPr>
        <p:sp>
          <p:nvSpPr>
            <p:cNvPr id="16" name="Rectangle 16"/>
            <p:cNvSpPr/>
            <p:nvPr/>
          </p:nvSpPr>
          <p:spPr>
            <a:xfrm>
              <a:off x="533400" y="3432810"/>
              <a:ext cx="4760595" cy="2150745"/>
            </a:xfrm>
            <a:prstGeom prst="roundRect">
              <a:avLst>
                <a:gd name="adj" fmla="val 62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566160"/>
              <a:ext cx="47625" cy="18840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75335" y="363664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5543" y="36723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76744" y="367712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四档规则是连续区间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096" y="402859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区间首尾相接，没有缝隙也没有重叠。排成一条链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之后，每个人只需要判断自己那一档的上界。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5598795" y="1954530"/>
            <a:ext cx="6059805" cy="2150745"/>
            <a:chOff x="5598795" y="1954530"/>
            <a:chExt cx="6059805" cy="2150745"/>
          </a:xfrm>
        </p:grpSpPr>
        <p:sp>
          <p:nvSpPr>
            <p:cNvPr id="23" name="Rectangle 23"/>
            <p:cNvSpPr/>
            <p:nvPr/>
          </p:nvSpPr>
          <p:spPr>
            <a:xfrm>
              <a:off x="5598795" y="1954530"/>
              <a:ext cx="605980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118288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请假天数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56042" y="208597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有权审批的人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99764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04142" y="2515552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 3 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01497" y="2515552"/>
              <a:ext cx="1059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主任 Director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689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直接批准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98795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598795" y="281463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04142" y="2946082"/>
              <a:ext cx="836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天到 9 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01497" y="2946082"/>
              <a:ext cx="10436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经理 Manager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03689" y="294608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直接批准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32404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04142" y="3376612"/>
              <a:ext cx="102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天到 29 天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01497" y="3376612"/>
              <a:ext cx="1791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总经理 GeneralManager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03689" y="33766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直接批准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366998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8795" y="3674745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04142" y="3806190"/>
              <a:ext cx="895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天及以上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01497" y="3806190"/>
              <a:ext cx="1791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总经理 GeneralManager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07868" y="3684270"/>
              <a:ext cx="204120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03689" y="380619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驳回并给出提示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598795" y="1954530"/>
              <a:ext cx="605980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291388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593580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5598795" y="4291012"/>
            <a:ext cx="6059805" cy="1293495"/>
            <a:chOff x="5598795" y="4291012"/>
            <a:chExt cx="6059805" cy="1293495"/>
          </a:xfrm>
        </p:grpSpPr>
        <p:sp>
          <p:nvSpPr>
            <p:cNvPr id="49" name="Rectangle 49"/>
            <p:cNvSpPr/>
            <p:nvPr/>
          </p:nvSpPr>
          <p:spPr>
            <a:xfrm>
              <a:off x="5598795" y="4291012"/>
              <a:ext cx="605980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608320" y="4424362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40730" y="449484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31891" y="45305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推理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2138" y="453437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为什么经理只写一个条件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833491" y="4885849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链的顺序是主任、经理、总经理。请求能走到经理，说明主任已经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判过“小于 3 天”不成立，所以经理只要再判“小于 10 天”。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6" name="Rectangle 5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511" y="6004084"/>
              <a:ext cx="70587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这个简化只在从链头提交时成立；直接把请求丢给经理，1 天的假也会被经理批掉。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25612" cy="909257"/>
            <a:chOff x="520446" y="342900"/>
            <a:chExt cx="2225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实例一：审批假条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实例一的类图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809548" cy="293370"/>
            <a:chOff x="525780" y="1548765"/>
            <a:chExt cx="780954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809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Leader 是抽象处理者，三位领导是具体处理者，LeaveRequest 是被传递的请求对象。</a:t>
              </a:r>
            </a:p>
          </p:txBody>
        </p:sp>
      </p:grpSp>
      <p:grpSp>
        <p:nvGrpSpPr>
          <p:cNvPr id="53" name="c1-uml-1"/>
          <p:cNvGrpSpPr/>
          <p:nvPr/>
        </p:nvGrpSpPr>
        <p:grpSpPr>
          <a:xfrm>
            <a:off x="620078" y="2346960"/>
            <a:ext cx="6149901" cy="2689860"/>
            <a:chOff x="620078" y="2346960"/>
            <a:chExt cx="6149901" cy="2689860"/>
          </a:xfrm>
        </p:grpSpPr>
        <p:sp>
          <p:nvSpPr>
            <p:cNvPr id="9" name="Freeform 9"/>
            <p:cNvSpPr/>
            <p:nvPr/>
          </p:nvSpPr>
          <p:spPr>
            <a:xfrm>
              <a:off x="4630102" y="2647950"/>
              <a:ext cx="323850" cy="472440"/>
            </a:xfrm>
            <a:custGeom>
              <a:avLst/>
              <a:gdLst/>
              <a:ahLst/>
              <a:cxnLst/>
              <a:rect l="l" t="t" r="r" b="b"/>
              <a:pathLst>
                <a:path w="323850" h="472440">
                  <a:moveTo>
                    <a:pt x="0" y="0"/>
                  </a:moveTo>
                  <a:lnTo>
                    <a:pt x="323850" y="0"/>
                  </a:lnTo>
                  <a:lnTo>
                    <a:pt x="323850" y="472440"/>
                  </a:lnTo>
                  <a:lnTo>
                    <a:pt x="0" y="47244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630102" y="306324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104775" y="0"/>
                  </a:moveTo>
                  <a:lnTo>
                    <a:pt x="0" y="57150"/>
                  </a:lnTo>
                  <a:lnTo>
                    <a:pt x="104775" y="115252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378392" y="288417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333375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378392" y="2826068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104775" y="0"/>
                  </a:moveTo>
                  <a:lnTo>
                    <a:pt x="0" y="58103"/>
                  </a:lnTo>
                  <a:lnTo>
                    <a:pt x="104775" y="11525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79245" y="3547110"/>
              <a:ext cx="1901190" cy="902018"/>
            </a:xfrm>
            <a:custGeom>
              <a:avLst/>
              <a:gdLst/>
              <a:ahLst/>
              <a:cxnLst/>
              <a:rect l="l" t="t" r="r" b="b"/>
              <a:pathLst>
                <a:path w="1901190" h="902018">
                  <a:moveTo>
                    <a:pt x="0" y="902018"/>
                  </a:moveTo>
                  <a:lnTo>
                    <a:pt x="0" y="388620"/>
                  </a:lnTo>
                  <a:lnTo>
                    <a:pt x="1901190" y="388620"/>
                  </a:lnTo>
                  <a:lnTo>
                    <a:pt x="190119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407092" y="34213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670935" y="3547110"/>
              <a:ext cx="9525" cy="902018"/>
            </a:xfrm>
            <a:custGeom>
              <a:avLst/>
              <a:gdLst/>
              <a:ahLst/>
              <a:cxnLst/>
              <a:rect l="l" t="t" r="r" b="b"/>
              <a:pathLst>
                <a:path w="9525" h="902018">
                  <a:moveTo>
                    <a:pt x="0" y="902018"/>
                  </a:moveTo>
                  <a:lnTo>
                    <a:pt x="0" y="388620"/>
                  </a:lnTo>
                  <a:lnTo>
                    <a:pt x="0" y="38862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97592" y="34213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861435" y="3547110"/>
              <a:ext cx="1902143" cy="902018"/>
            </a:xfrm>
            <a:custGeom>
              <a:avLst/>
              <a:gdLst/>
              <a:ahLst/>
              <a:cxnLst/>
              <a:rect l="l" t="t" r="r" b="b"/>
              <a:pathLst>
                <a:path w="1902143" h="902018">
                  <a:moveTo>
                    <a:pt x="1902143" y="902018"/>
                  </a:moveTo>
                  <a:lnTo>
                    <a:pt x="1902143" y="388620"/>
                  </a:lnTo>
                  <a:lnTo>
                    <a:pt x="0" y="38862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88092" y="34213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0098" y="2346960"/>
              <a:ext cx="1598295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7718" y="2353628"/>
              <a:ext cx="158400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0098" y="2577465"/>
              <a:ext cx="15982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0098" y="2996565"/>
              <a:ext cx="159829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711768" y="2346960"/>
              <a:ext cx="1918335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719388" y="2353628"/>
              <a:ext cx="190404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711768" y="2577465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711768" y="2996565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0078" y="4449128"/>
              <a:ext cx="191833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7698" y="4455795"/>
              <a:ext cx="190404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0078" y="4679632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0078" y="4774882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11768" y="4449128"/>
              <a:ext cx="191833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719388" y="4455795"/>
              <a:ext cx="190404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11768" y="4679632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11768" y="4774882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804410" y="4449128"/>
              <a:ext cx="1918335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811078" y="4455795"/>
              <a:ext cx="1904048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804410" y="4679632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804410" y="4774882"/>
              <a:ext cx="19183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12850" y="2402681"/>
              <a:ext cx="932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LeaveRequest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1535" y="2646998"/>
              <a:ext cx="111252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leaveName: String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leaveDays: int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1535" y="3066098"/>
              <a:ext cx="145542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getLeaveName(): String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getLeaveDays(): int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35261" y="2402681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Leader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83205" y="2646998"/>
              <a:ext cx="114681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name: String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successor: Leader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83205" y="3066098"/>
              <a:ext cx="1775460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setSuccessor(Leader)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handleRequest(LeaveRequest)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84821" y="4504849"/>
              <a:ext cx="588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Director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1515" y="4844415"/>
              <a:ext cx="1894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handleRequest(LeaveRequest)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83203" y="4504849"/>
              <a:ext cx="5754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Manager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783205" y="4844415"/>
              <a:ext cx="1894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handleRequest(LeaveRequest)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24486" y="4504849"/>
              <a:ext cx="1078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GeneralManager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75848" y="4844415"/>
              <a:ext cx="18941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handleRequest(LeaveRequest)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982528" y="2791778"/>
              <a:ext cx="75533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005769" y="281844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successor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7114222" y="1954530"/>
            <a:ext cx="4544378" cy="2747962"/>
            <a:chOff x="7114222" y="1954530"/>
            <a:chExt cx="4544378" cy="2747962"/>
          </a:xfrm>
        </p:grpSpPr>
        <p:sp>
          <p:nvSpPr>
            <p:cNvPr id="54" name="Rectangle 54"/>
            <p:cNvSpPr/>
            <p:nvPr/>
          </p:nvSpPr>
          <p:spPr>
            <a:xfrm>
              <a:off x="7114222" y="1954530"/>
              <a:ext cx="4544378" cy="2747962"/>
            </a:xfrm>
            <a:prstGeom prst="roundRect">
              <a:avLst>
                <a:gd name="adj" fmla="val 48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23748" y="2087880"/>
              <a:ext cx="47625" cy="24812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56158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46366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56614" y="219789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三点对应到前面的结构图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48918" y="2550319"/>
              <a:ext cx="3936873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Leader 里的 successor 又是一个 Leader，所以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主任的下家可以是经理，经理的下家可以是总经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348918" y="3413284"/>
              <a:ext cx="38557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三位领导只重写 handleRequest()，构造方法把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名字交给父类，其他什么都不加。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348918" y="4004786"/>
              <a:ext cx="35852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Leader 与 LeaveRequest 之间是依赖，因为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LeaveRequest 只作为方法参数出现。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7114222" y="4887278"/>
            <a:ext cx="4544378" cy="756285"/>
            <a:chOff x="7114222" y="4887278"/>
            <a:chExt cx="4544378" cy="756285"/>
          </a:xfrm>
        </p:grpSpPr>
        <p:sp>
          <p:nvSpPr>
            <p:cNvPr id="63" name="Rectangle 63"/>
            <p:cNvSpPr/>
            <p:nvPr/>
          </p:nvSpPr>
          <p:spPr>
            <a:xfrm>
              <a:off x="7114222" y="4887278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19010" y="5165410"/>
              <a:ext cx="200023" cy="200023"/>
              <a:chOff x="7319010" y="5165410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19010" y="51654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452360" y="52320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621334" y="5035391"/>
              <a:ext cx="360324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LeaveRequest 是被传递的数据对象，它本身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不参与任何判断。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511" y="6004084"/>
              <a:ext cx="73168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把请求打包成对象，以后要加“请假事由”“申请日期”就不必改每个处理者的方法签名。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实例一：审批假条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实例一的代码：请求对象与抽象处理者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616518"/>
            <a:chOff x="533400" y="1524000"/>
            <a:chExt cx="5410200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27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LeaveRequest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706368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LeaveRequest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leaveName;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请假人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leaveDays;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请假天数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LeaveRequest(String name,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days)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.leaveName =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.leaveDays = days;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getLeaveName()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leaveName;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getLeaveDays()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leaveDays;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305300"/>
            <a:ext cx="5410200" cy="1403032"/>
            <a:chOff x="533400" y="4305300"/>
            <a:chExt cx="5410200" cy="1403032"/>
          </a:xfrm>
        </p:grpSpPr>
        <p:sp>
          <p:nvSpPr>
            <p:cNvPr id="11" name="Rectangle 11"/>
            <p:cNvSpPr/>
            <p:nvPr/>
          </p:nvSpPr>
          <p:spPr>
            <a:xfrm>
              <a:off x="533400" y="430530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4386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4862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147" y="45191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450" y="45258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请求为什么单独建一个类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4842034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处理者只认 LeaveRequest 这一个参数。以后要按请假事由或者申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请日期再加判断，只需给这个类添字段，五个类的方法签名都不用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动。</a:t>
              </a:r>
            </a:p>
          </p:txBody>
        </p:sp>
      </p:grpSp>
      <p:grpSp>
        <p:nvGrpSpPr>
          <p:cNvPr id="22" name="c2-code-1"/>
          <p:cNvGrpSpPr/>
          <p:nvPr/>
        </p:nvGrpSpPr>
        <p:grpSpPr>
          <a:xfrm>
            <a:off x="6248400" y="1524000"/>
            <a:ext cx="5410200" cy="2616518"/>
            <a:chOff x="6248400" y="1524000"/>
            <a:chExt cx="5410200" cy="2616518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6797" y="1675924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Leader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67450" y="2250758"/>
              <a:ext cx="5372100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76797" y="1935956"/>
              <a:ext cx="3911727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name;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Leader successor;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下家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Leader(String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.name = name;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setSuccessor(Leader successor)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.successor = successor;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handleRequest(LeaveRequest req);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4305300"/>
            <a:ext cx="5410200" cy="1403032"/>
            <a:chOff x="6248400" y="4305300"/>
            <a:chExt cx="5410200" cy="1403032"/>
          </a:xfrm>
        </p:grpSpPr>
        <p:sp>
          <p:nvSpPr>
            <p:cNvPr id="23" name="Rectangle 23"/>
            <p:cNvSpPr/>
            <p:nvPr/>
          </p:nvSpPr>
          <p:spPr>
            <a:xfrm>
              <a:off x="6248400" y="430530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44386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67475" y="44862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0147" y="45191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33451" y="4525804"/>
              <a:ext cx="2637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和第 12 页的 Handler 比多了什么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0998" y="484203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多了一个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name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字段，只为输出时显示是谁批的。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0998" y="5126831"/>
              <a:ext cx="4070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构造方法要传姓名，三个子类都得写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super(name)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1" name="Rectangle 3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1273" y="6039326"/>
              <a:ext cx="70234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把请求参数从 String 换成对象，是实际项目里的常规做法，判断要用的字段可以随时增加。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实例一：审批假条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实例一的代码：三个具体处理者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11037" cy="264033"/>
            <a:chOff x="526542" y="1545907"/>
            <a:chExt cx="601103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三个类的结构一模一样，差别只在判断条件，以及最后一个没有转发分支。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28812"/>
            <a:ext cx="5626418" cy="2967990"/>
            <a:chOff x="533400" y="1928812"/>
            <a:chExt cx="5626418" cy="296799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1165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Director（主任）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886200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2340769"/>
              <a:ext cx="3986403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(name);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handleRequest(LeaveRequest req)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(req.getLeaveDays() &lt; 3) {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自己的上界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"主任"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"批准"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req.getLeaveName()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"请假"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req.getLeaveDays()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"天"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(successor !=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{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转给下家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successor.handleRequest(req);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5066348"/>
            <a:ext cx="5626418" cy="481012"/>
            <a:chOff x="533400" y="5066348"/>
            <a:chExt cx="5626418" cy="481012"/>
          </a:xfrm>
        </p:grpSpPr>
        <p:sp>
          <p:nvSpPr>
            <p:cNvPr id="14" name="Rectangle 14"/>
            <p:cNvSpPr/>
            <p:nvPr/>
          </p:nvSpPr>
          <p:spPr>
            <a:xfrm>
              <a:off x="533400" y="5066348"/>
              <a:ext cx="5626418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5206365"/>
              <a:ext cx="200026" cy="200026"/>
              <a:chOff x="738188" y="5206365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52063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52730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53063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892" y="5212080"/>
              <a:ext cx="40001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Manager 只差两处：类名和条件里的 3 换成 10。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464618" y="1928812"/>
            <a:ext cx="5193982" cy="3143250"/>
            <a:chOff x="6464618" y="1928812"/>
            <a:chExt cx="5193982" cy="3143250"/>
          </a:xfrm>
        </p:grpSpPr>
        <p:sp>
          <p:nvSpPr>
            <p:cNvPr id="21" name="Rectangle 21"/>
            <p:cNvSpPr/>
            <p:nvPr/>
          </p:nvSpPr>
          <p:spPr>
            <a:xfrm>
              <a:off x="6464618" y="1928812"/>
              <a:ext cx="5193982" cy="3143250"/>
            </a:xfrm>
            <a:prstGeom prst="roundRect">
              <a:avLst>
                <a:gd name="adj" fmla="val 303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93015" y="2080736"/>
              <a:ext cx="21336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GeneralManager（总经理，链尾）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83668" y="3886200"/>
              <a:ext cx="515588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93015" y="2340769"/>
              <a:ext cx="4216654" cy="2657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GeneralManager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Leader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GeneralManager(String name)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(name);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handleRequest(LeaveRequest req)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req.getLeaveDays();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 &lt; 30)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"总经理"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name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"批准"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req.getLeaveName()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"请假"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"天"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没有下家了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"请假"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d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"天太长，"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+ 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"总经理也无权批准"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6" name="Rectangle 2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6028373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链尾的处理者没有转发分支，它必须给出一个结论，否则请求会静悄悄地消失。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实例一：审批假条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实例一的运行：四种天数各走多远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4760595" cy="2088832"/>
            <a:chOff x="533400" y="1524000"/>
            <a:chExt cx="4760595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客户端建链并提交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472249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78442"/>
              <a:ext cx="472249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797" y="1935956"/>
              <a:ext cx="2996946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Leader director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Director(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"张主任"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Leader manager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Manager(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"李经理"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Leader gm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GeneralManager(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"王总"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director.setSuccessor(manager);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建链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manager.setSuccessor(gm);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director.handleRequest(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LeaveRequest(</a:t>
              </a:r>
              <a:r>
                <a:rPr lang="zh-CN" sz="98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"小明"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8));</a:t>
              </a:r>
            </a:p>
          </p:txBody>
        </p:sp>
      </p:grpSp>
      <p:grpSp>
        <p:nvGrpSpPr>
          <p:cNvPr id="19" name="c1-callout-2"/>
          <p:cNvGrpSpPr/>
          <p:nvPr/>
        </p:nvGrpSpPr>
        <p:grpSpPr>
          <a:xfrm>
            <a:off x="533400" y="3777615"/>
            <a:ext cx="4760595" cy="1492568"/>
            <a:chOff x="533400" y="3777615"/>
            <a:chExt cx="4760595" cy="1492568"/>
          </a:xfrm>
        </p:grpSpPr>
        <p:sp>
          <p:nvSpPr>
            <p:cNvPr id="13" name="Rectangle 13"/>
            <p:cNvSpPr/>
            <p:nvPr/>
          </p:nvSpPr>
          <p:spPr>
            <a:xfrm>
              <a:off x="533400" y="3777615"/>
              <a:ext cx="4760595" cy="1492568"/>
            </a:xfrm>
            <a:prstGeom prst="roundRect">
              <a:avLst>
                <a:gd name="adj" fmla="val 765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738188" y="4423410"/>
              <a:ext cx="200026" cy="200025"/>
              <a:chOff x="738188" y="4423410"/>
              <a:chExt cx="200026" cy="2000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44234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7926" y="44678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12642" y="45789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41273" y="4317206"/>
              <a:ext cx="3824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请求永远交给链头的 director，客户端并不知道最后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是谁批的。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598795" y="1524000"/>
            <a:ext cx="6059805" cy="2093595"/>
            <a:chOff x="5598795" y="1524000"/>
            <a:chExt cx="6059805" cy="2093595"/>
          </a:xfrm>
        </p:grpSpPr>
        <p:sp>
          <p:nvSpPr>
            <p:cNvPr id="20" name="Rectangle 20"/>
            <p:cNvSpPr/>
            <p:nvPr/>
          </p:nvSpPr>
          <p:spPr>
            <a:xfrm>
              <a:off x="5598795" y="1524000"/>
              <a:ext cx="605980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1596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天数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46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3428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93264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总经理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18991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最终结果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93474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336030" y="1914525"/>
              <a:ext cx="9505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21184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9082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60474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451086" y="202311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主任张主任批准小明请假 2 天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598795" y="2282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98795" y="2286952"/>
              <a:ext cx="605980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3474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1184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305675" y="2296478"/>
              <a:ext cx="95059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90829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047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51086" y="2404110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经理李经理批准小明请假 8 天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598795" y="26631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93474" y="278511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21184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90829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275320" y="2677478"/>
              <a:ext cx="1071562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60474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批准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51086" y="2785110"/>
              <a:ext cx="1947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总经理王总批准小明请假 15 天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30451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598795" y="3049905"/>
              <a:ext cx="605980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93474" y="326040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21184" y="32604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90829" y="32604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275320" y="3059430"/>
              <a:ext cx="1071562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60474" y="32604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驳回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51086" y="3167062"/>
              <a:ext cx="19709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请假 35 天太长，总经理也无权批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1524000"/>
              <a:ext cx="6059805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32174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291388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61032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351645" y="152400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5598795" y="3782378"/>
            <a:ext cx="6059805" cy="1487805"/>
            <a:chOff x="5598795" y="3782378"/>
            <a:chExt cx="6059805" cy="1487805"/>
          </a:xfrm>
        </p:grpSpPr>
        <p:sp>
          <p:nvSpPr>
            <p:cNvPr id="61" name="Rectangle 61"/>
            <p:cNvSpPr/>
            <p:nvPr/>
          </p:nvSpPr>
          <p:spPr>
            <a:xfrm>
              <a:off x="5598795" y="3782378"/>
              <a:ext cx="6059805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608320" y="3915728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17870" y="39633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10542" y="39962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走查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84798" y="4002881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顺着代码把 8 天走一遍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818822" y="430815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870729" y="434378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88570" y="4320064"/>
              <a:ext cx="5337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director 判断 8 &lt; 3 不成立，successor 不为 null，转给 manager。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818822" y="459390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870729" y="462857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88570" y="4604861"/>
              <a:ext cx="42777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manager 判断 8 &lt; 10 成立，打印批准信息，方法返回。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818822" y="487870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870729" y="491432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88570" y="4889659"/>
              <a:ext cx="5230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调用栈退回 director，handleRequest 结束，gm 始终没有被调用。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6" name="Rectangle 7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1273" y="6039326"/>
              <a:ext cx="5940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35 天那一行说明纯的职责链也可能以拒绝结束，明确的拒绝同样是一种处理。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实例二：控件的帮助信息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沿着界面的嵌套结构，一层层往外问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嵌套界面上的一条链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00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五个类的 Java 写法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链尾必须兜底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实例二：控件的帮助信息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实例二：控件求助时，一层层往外问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469734" cy="278702"/>
            <a:chOff x="526161" y="1547336"/>
            <a:chExt cx="746973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4697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陈伟老师课件的第二个例子。窗口里的控件层层嵌套在容器中，随时要能给出帮助信息。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41195"/>
            <a:ext cx="4760595" cy="1786890"/>
            <a:chOff x="533400" y="1941195"/>
            <a:chExt cx="4760595" cy="178689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76059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场景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窗口中有各种控件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每个控件可能嵌套在多层容器里。用户在任何一个控件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上求助，都要能得到一条帮助信息。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068002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按钮自己有说明就显示自己的，没有就问它所在的窗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口，窗口也没有再问外层容器。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903345"/>
            <a:ext cx="4760595" cy="1786890"/>
            <a:chOff x="533400" y="3903345"/>
            <a:chExt cx="4760595" cy="1786890"/>
          </a:xfrm>
        </p:grpSpPr>
        <p:sp>
          <p:nvSpPr>
            <p:cNvPr id="17" name="Rectangle 17"/>
            <p:cNvSpPr/>
            <p:nvPr/>
          </p:nvSpPr>
          <p:spPr>
            <a:xfrm>
              <a:off x="533400" y="3903345"/>
              <a:ext cx="476059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03669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3905" y="40957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5345" y="41300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差别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7597" y="41357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这条链沿着嵌套结构往外走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7047" y="446913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前面的假条例子里，下家是职级更高的另一个人；这里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的下家是把自己装在里面的那个容器。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502920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链的形状直接来自界面的嵌套结构，不需要额外再排一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次顺序。</a:t>
              </a:r>
            </a:p>
          </p:txBody>
        </p:sp>
      </p:grpSp>
      <p:grpSp>
        <p:nvGrpSpPr>
          <p:cNvPr id="79" name="c2-uml-1"/>
          <p:cNvGrpSpPr/>
          <p:nvPr/>
        </p:nvGrpSpPr>
        <p:grpSpPr>
          <a:xfrm>
            <a:off x="6037898" y="2215515"/>
            <a:ext cx="5182552" cy="3138487"/>
            <a:chOff x="6037898" y="2215515"/>
            <a:chExt cx="5182552" cy="3138487"/>
          </a:xfrm>
        </p:grpSpPr>
        <p:sp>
          <p:nvSpPr>
            <p:cNvPr id="25" name="Freeform 25"/>
            <p:cNvSpPr/>
            <p:nvPr/>
          </p:nvSpPr>
          <p:spPr>
            <a:xfrm>
              <a:off x="6609398" y="3047048"/>
              <a:ext cx="1828800" cy="497205"/>
            </a:xfrm>
            <a:custGeom>
              <a:avLst/>
              <a:gdLst/>
              <a:ahLst/>
              <a:cxnLst/>
              <a:rect l="l" t="t" r="r" b="b"/>
              <a:pathLst>
                <a:path w="1828800" h="497205">
                  <a:moveTo>
                    <a:pt x="0" y="497205"/>
                  </a:moveTo>
                  <a:lnTo>
                    <a:pt x="0" y="185738"/>
                  </a:lnTo>
                  <a:lnTo>
                    <a:pt x="1828800" y="185738"/>
                  </a:lnTo>
                  <a:lnTo>
                    <a:pt x="18288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364855" y="29213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628698" y="3047048"/>
              <a:ext cx="9525" cy="497205"/>
            </a:xfrm>
            <a:custGeom>
              <a:avLst/>
              <a:gdLst/>
              <a:ahLst/>
              <a:cxnLst/>
              <a:rect l="l" t="t" r="r" b="b"/>
              <a:pathLst>
                <a:path w="9525" h="497205">
                  <a:moveTo>
                    <a:pt x="0" y="497205"/>
                  </a:moveTo>
                  <a:lnTo>
                    <a:pt x="0" y="185738"/>
                  </a:lnTo>
                  <a:lnTo>
                    <a:pt x="0" y="185738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555355" y="29213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819198" y="3047048"/>
              <a:ext cx="1829753" cy="571500"/>
            </a:xfrm>
            <a:custGeom>
              <a:avLst/>
              <a:gdLst/>
              <a:ahLst/>
              <a:cxnLst/>
              <a:rect l="l" t="t" r="r" b="b"/>
              <a:pathLst>
                <a:path w="1829753" h="571500">
                  <a:moveTo>
                    <a:pt x="1829753" y="571500"/>
                  </a:moveTo>
                  <a:lnTo>
                    <a:pt x="1829753" y="222885"/>
                  </a:lnTo>
                  <a:lnTo>
                    <a:pt x="0" y="22288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745855" y="29213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628698" y="4151948"/>
              <a:ext cx="1925003" cy="645795"/>
            </a:xfrm>
            <a:custGeom>
              <a:avLst/>
              <a:gdLst/>
              <a:ahLst/>
              <a:cxnLst/>
              <a:rect l="l" t="t" r="r" b="b"/>
              <a:pathLst>
                <a:path w="1925003" h="645795">
                  <a:moveTo>
                    <a:pt x="0" y="645795"/>
                  </a:moveTo>
                  <a:lnTo>
                    <a:pt x="0" y="260033"/>
                  </a:lnTo>
                  <a:lnTo>
                    <a:pt x="1925003" y="260033"/>
                  </a:lnTo>
                  <a:lnTo>
                    <a:pt x="192500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480358" y="40262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648950" y="4151948"/>
              <a:ext cx="95250" cy="645795"/>
            </a:xfrm>
            <a:custGeom>
              <a:avLst/>
              <a:gdLst/>
              <a:ahLst/>
              <a:cxnLst/>
              <a:rect l="l" t="t" r="r" b="b"/>
              <a:pathLst>
                <a:path w="95250" h="645795">
                  <a:moveTo>
                    <a:pt x="0" y="645795"/>
                  </a:moveTo>
                  <a:lnTo>
                    <a:pt x="0" y="260033"/>
                  </a:lnTo>
                  <a:lnTo>
                    <a:pt x="95250" y="260033"/>
                  </a:lnTo>
                  <a:lnTo>
                    <a:pt x="9525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670858" y="402621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7390448" y="3822382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66675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180898" y="376428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409748" y="3822382"/>
              <a:ext cx="667703" cy="9525"/>
            </a:xfrm>
            <a:custGeom>
              <a:avLst/>
              <a:gdLst/>
              <a:ahLst/>
              <a:cxnLst/>
              <a:rect l="l" t="t" r="r" b="b"/>
              <a:pathLst>
                <a:path w="667703" h="9525">
                  <a:moveTo>
                    <a:pt x="66770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200198" y="3764280"/>
              <a:ext cx="209550" cy="115253"/>
            </a:xfrm>
            <a:custGeom>
              <a:avLst/>
              <a:gdLst/>
              <a:ahLst/>
              <a:cxnLst/>
              <a:rect l="l" t="t" r="r" b="b"/>
              <a:pathLst>
                <a:path w="209550" h="115253">
                  <a:moveTo>
                    <a:pt x="0" y="58103"/>
                  </a:moveTo>
                  <a:lnTo>
                    <a:pt x="104775" y="0"/>
                  </a:lnTo>
                  <a:lnTo>
                    <a:pt x="209550" y="58103"/>
                  </a:lnTo>
                  <a:lnTo>
                    <a:pt x="104775" y="115253"/>
                  </a:lnTo>
                  <a:close/>
                </a:path>
              </a:pathLst>
            </a:custGeom>
            <a:solidFill>
              <a:srgbClr val="1F2937"/>
            </a:solidFill>
            <a:ln w="15240">
              <a:solidFill>
                <a:srgbClr val="1F2937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987665" y="2215515"/>
              <a:ext cx="1282065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995285" y="2223135"/>
              <a:ext cx="126777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987665" y="2427922"/>
              <a:ext cx="12820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987665" y="2671762"/>
              <a:ext cx="128206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7898" y="354425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044565" y="355092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37898" y="37566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37898" y="38519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57198" y="354425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64818" y="355092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57198" y="375666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057198" y="385191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77450" y="3618548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084118" y="362521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77450" y="38309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077450" y="39262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057198" y="479774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64818" y="480441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57198" y="50101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57198" y="51054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077450" y="479774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0084118" y="480441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077450" y="501015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077450" y="510540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267278" y="2266950"/>
              <a:ext cx="7228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HelpHandler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059102" y="2496026"/>
              <a:ext cx="121477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 handler: HelpHandler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59102" y="2739866"/>
              <a:ext cx="709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showHelp()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303797" y="3595688"/>
              <a:ext cx="6112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Container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09335" y="3920014"/>
              <a:ext cx="709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showHelp()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402417" y="3595688"/>
              <a:ext cx="4525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Window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28635" y="3920014"/>
              <a:ext cx="709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showHelp()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435511" y="3669982"/>
              <a:ext cx="4268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Widget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412049" y="4849178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Button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128635" y="5173504"/>
              <a:ext cx="709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showHelp()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1496" y="4849178"/>
              <a:ext cx="4749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ListBox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148888" y="5173504"/>
              <a:ext cx="7098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showHelp()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434262" y="3615690"/>
              <a:ext cx="3686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468974" y="3640931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454515" y="3615690"/>
              <a:ext cx="36861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488274" y="3640931"/>
              <a:ext cx="3001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1..*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0" name="Rectangle 8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0892" y="6023610"/>
              <a:ext cx="68652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这条链架在界面的树形结构上，正是组合模式（第 22 讲）与职责链配合的典型样子。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实例二：控件的帮助信息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实例二的代码：父容器就是下家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842635" cy="3723322"/>
            <a:chOff x="533400" y="1524000"/>
            <a:chExt cx="5842635" cy="37233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抽象处理者与两级控件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548188"/>
              <a:ext cx="580453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937385"/>
              <a:ext cx="4784598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HelpHandler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HelpHandler handler;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外层容器，即下家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HelpHandler(HelpHandler h)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.handler = h;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showHelp();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Widget 自己不给帮助，留给具体控件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Widget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HelpHandler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Widget(HelpHandler parent)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(parent);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Widget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Button(HelpHandler parent)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(parent);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showHelp()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(hasButtonHelp()) {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"按钮的帮助"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(handler !=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 handler.showHelp();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2-code-1"/>
          <p:cNvGrpSpPr/>
          <p:nvPr/>
        </p:nvGrpSpPr>
        <p:grpSpPr>
          <a:xfrm>
            <a:off x="6680835" y="1524000"/>
            <a:ext cx="4977765" cy="2586990"/>
            <a:chOff x="6680835" y="1524000"/>
            <a:chExt cx="4977765" cy="2586990"/>
          </a:xfrm>
        </p:grpSpPr>
        <p:sp>
          <p:nvSpPr>
            <p:cNvPr id="12" name="Rectangle 12"/>
            <p:cNvSpPr/>
            <p:nvPr/>
          </p:nvSpPr>
          <p:spPr>
            <a:xfrm>
              <a:off x="6680835" y="1524000"/>
              <a:ext cx="4977765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9232" y="1675924"/>
              <a:ext cx="11927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Container（链尾）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08851" y="1937385"/>
              <a:ext cx="4064508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Container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HelpHandler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Container()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super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); }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没有下家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@Override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showHelp()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(hasHelp())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"显示容器的帮助"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"没有找到合适的帮助信息"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2-code-2"/>
          <p:cNvGrpSpPr/>
          <p:nvPr/>
        </p:nvGrpSpPr>
        <p:grpSpPr>
          <a:xfrm>
            <a:off x="6680835" y="4286250"/>
            <a:ext cx="4977765" cy="1261110"/>
            <a:chOff x="6680835" y="4286250"/>
            <a:chExt cx="4977765" cy="1261110"/>
          </a:xfrm>
        </p:grpSpPr>
        <p:sp>
          <p:nvSpPr>
            <p:cNvPr id="16" name="Rectangle 16"/>
            <p:cNvSpPr/>
            <p:nvPr/>
          </p:nvSpPr>
          <p:spPr>
            <a:xfrm>
              <a:off x="6680835" y="4286250"/>
              <a:ext cx="4977765" cy="1261110"/>
            </a:xfrm>
            <a:prstGeom prst="roundRect">
              <a:avLst>
                <a:gd name="adj" fmla="val 755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09232" y="443817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客户端：从外往里建链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8851" y="4699635"/>
              <a:ext cx="2504313" cy="7740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HelpHandler ctn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Container();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HelpHandler win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Window(ctn);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HelpHandler btn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Button(win);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btn.showHelp();</a:t>
              </a:r>
            </a:p>
          </p:txBody>
        </p:sp>
      </p:grpSp>
      <p:grpSp>
        <p:nvGrpSpPr>
          <p:cNvPr id="2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20" name="Rectangle 20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6023610"/>
              <a:ext cx="10351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更正：原课件里 Button 的 else if 用了全角括号，照抄编译不过；C++ 版本末尾要手工 delete 三个对象，Java 交给垃圾回收。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纯与不纯，以及真实应用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两条判据，四处你已经在用的职责链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纯与不纯的两条标准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异常处理与过滤器链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87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AWT 事件浮升的兴衰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纯与不纯，以及真实应用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纯的职责链与不纯的职责链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分界只看两件事：处理者能不能只处理一半，请求能不能最后没人管。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1928812"/>
            <a:ext cx="5626418" cy="2400300"/>
            <a:chOff x="533400" y="1928812"/>
            <a:chExt cx="5626418" cy="240030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0843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4871" y="2050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纯的职责链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0697" y="2050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不纯的职责链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0555" y="2450306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一个处理者能做几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件事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3595" y="255031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全部承担或全部推给下家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75760" y="255031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可以处理一部分再往下传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241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928938"/>
              <a:ext cx="5626418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0555" y="3050381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处理过还会不会再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93595" y="31503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处理完就停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75760" y="3050381"/>
              <a:ext cx="17183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后继者可以继续处理同一请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242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0555" y="36504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请求会不会没人管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93595" y="36504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必须有人接收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75760" y="36504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可能传到链尾仍未被处理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9243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929062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555" y="40505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课件里的例子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005965" y="3938588"/>
              <a:ext cx="206311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093595" y="40505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审批假条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88130" y="3938588"/>
              <a:ext cx="2063115" cy="38100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175760" y="4050506"/>
              <a:ext cx="1641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AWT 1.0 事件浮升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928812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91678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07384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rd-2"/>
          <p:cNvGrpSpPr/>
          <p:nvPr/>
        </p:nvGrpSpPr>
        <p:grpSpPr>
          <a:xfrm>
            <a:off x="533400" y="4498658"/>
            <a:ext cx="5626418" cy="1202055"/>
            <a:chOff x="533400" y="4498658"/>
            <a:chExt cx="5626418" cy="1202055"/>
          </a:xfrm>
        </p:grpSpPr>
        <p:sp>
          <p:nvSpPr>
            <p:cNvPr id="36" name="Rectangle 36"/>
            <p:cNvSpPr/>
            <p:nvPr/>
          </p:nvSpPr>
          <p:spPr>
            <a:xfrm>
              <a:off x="533400" y="4498658"/>
              <a:ext cx="5626418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63200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58190" y="468534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3961" y="471820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99960" y="472059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假条审批为什么算纯的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1332" y="5046345"/>
              <a:ext cx="49343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主任、经理、总经理三个人里一定有一个给出结论，超过 30 天也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由总经理明确驳回，不存在处理一半和没人管的情况。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464618" y="1928812"/>
            <a:ext cx="5193982" cy="1760220"/>
            <a:chOff x="6464618" y="1928812"/>
            <a:chExt cx="5193982" cy="1760220"/>
          </a:xfrm>
        </p:grpSpPr>
        <p:sp>
          <p:nvSpPr>
            <p:cNvPr id="43" name="Rectangle 43"/>
            <p:cNvSpPr/>
            <p:nvPr/>
          </p:nvSpPr>
          <p:spPr>
            <a:xfrm>
              <a:off x="6464618" y="1928812"/>
              <a:ext cx="5193982" cy="1760220"/>
            </a:xfrm>
            <a:prstGeom prst="roundRect">
              <a:avLst>
                <a:gd name="adj" fmla="val 75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2062162"/>
              <a:ext cx="47625" cy="14935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89408" y="211550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86131" y="214836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1177" y="21507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纯的职责链要求两件事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689408" y="24641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45086" y="25025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70204" y="247650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具体处理者只能二选一：承担全部责任，或者把责任完全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推给下家。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689408" y="302133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45086" y="305971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70204" y="303371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请求必须被某一个处理者接收，不允许出现没人处理的情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464618" y="3858578"/>
            <a:ext cx="5193982" cy="1843088"/>
            <a:chOff x="6464618" y="3858578"/>
            <a:chExt cx="5193982" cy="1843088"/>
          </a:xfrm>
        </p:grpSpPr>
        <p:sp>
          <p:nvSpPr>
            <p:cNvPr id="55" name="Rectangle 55"/>
            <p:cNvSpPr/>
            <p:nvPr/>
          </p:nvSpPr>
          <p:spPr>
            <a:xfrm>
              <a:off x="6464618" y="3858578"/>
              <a:ext cx="5193982" cy="1843088"/>
            </a:xfrm>
            <a:prstGeom prst="roundRect">
              <a:avLst>
                <a:gd name="adj" fmla="val 7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74142" y="3991928"/>
              <a:ext cx="47625" cy="15763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89408" y="404526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782079" y="40781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255954" y="40805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不纯的职责链把这两条都放宽了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82549" y="440626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允许处理一部分再往下传，也允许后继者继续处理同一个请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82549" y="496347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请求可以一直传到链尾仍然没被接收，这时就不予处理。</a:t>
              </a:r>
            </a:p>
          </p:txBody>
        </p:sp>
      </p:grpSp>
      <p:grpSp>
        <p:nvGrpSpPr>
          <p:cNvPr id="6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3" name="Rectangle 6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040892" y="6028373"/>
              <a:ext cx="568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考题问“某某是不是纯的职责链”，先看有没有“处理完还继续往下传”。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纯与不纯，以及真实应用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应用：异常处理和过滤器链都是这个形状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207895"/>
            <a:chOff x="533400" y="1524000"/>
            <a:chExt cx="5410200" cy="22078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293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多个 catch 块排成一条链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311081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try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doSomething();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(ArrayIndexOutOfBoundsException e1)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第一个处理者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(ArithmeticException e2)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第二个处理者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catch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(IOException e3)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第三个处理者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}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finally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无论谁处理都要执行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07155"/>
            <a:ext cx="5410200" cy="1786890"/>
            <a:chOff x="533400" y="3907155"/>
            <a:chExt cx="5410200" cy="1786890"/>
          </a:xfrm>
        </p:grpSpPr>
        <p:sp>
          <p:nvSpPr>
            <p:cNvPr id="11" name="Rectangle 11"/>
            <p:cNvSpPr/>
            <p:nvPr/>
          </p:nvSpPr>
          <p:spPr>
            <a:xfrm>
              <a:off x="533400" y="3907155"/>
              <a:ext cx="5410200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040505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0995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5345" y="41338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辨析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47597" y="413956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像在哪，又不像在哪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4473892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像：异常依次匹配 catch 块，第一个匹配上的处理，后面的不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再执行。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503301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不像：这条链写死在语法里，运行期换不了顺序，也没有处理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者对象。</a:t>
              </a:r>
            </a:p>
          </p:txBody>
        </p:sp>
      </p:grpSp>
      <p:grpSp>
        <p:nvGrpSpPr>
          <p:cNvPr id="23" name="c2-code-1"/>
          <p:cNvGrpSpPr/>
          <p:nvPr/>
        </p:nvGrpSpPr>
        <p:grpSpPr>
          <a:xfrm>
            <a:off x="6248400" y="1524000"/>
            <a:ext cx="5410200" cy="2019300"/>
            <a:chOff x="6248400" y="1524000"/>
            <a:chExt cx="5410200" cy="20193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019300"/>
            </a:xfrm>
            <a:prstGeom prst="roundRect">
              <a:avLst>
                <a:gd name="adj" fmla="val 47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797" y="1675924"/>
              <a:ext cx="10822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Servlet 过滤器链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67450" y="284416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76416" y="1937385"/>
              <a:ext cx="3824478" cy="15321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LogFilter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Filter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doFilter(ServletRequest req,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ServletResponse resp, FilterChain chain)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IOException, ServletException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log(req);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先处理一部分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chain.doFilter(req, resp);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再交给下一个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image-2"/>
          <p:cNvGrpSpPr/>
          <p:nvPr/>
        </p:nvGrpSpPr>
        <p:grpSpPr>
          <a:xfrm>
            <a:off x="6248400" y="3717608"/>
            <a:ext cx="5410200" cy="1651253"/>
            <a:chOff x="6248400" y="3717608"/>
            <a:chExt cx="5410200" cy="1651253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33334" r="0" b="33333"/>
            <a:stretch>
              <a:fillRect/>
            </a:stretch>
          </p:blipFill>
          <p:spPr>
            <a:xfrm>
              <a:off x="6248400" y="3717608"/>
              <a:ext cx="5410200" cy="1352550"/>
            </a:xfrm>
            <a:prstGeom prst="roundRect">
              <a:avLst>
                <a:gd name="adj" fmla="val 9859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605332" y="51635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水依次经过三级滤芯，每一级各拦下一部分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27" name="Rectangle 2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602361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过滤器链是不纯的职责链：每个过滤器都先做一点事，再把请求交给下一个。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23160" cy="909257"/>
            <a:chOff x="520446" y="342900"/>
            <a:chExt cx="74231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纯与不纯，以及真实应用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231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应用：AWT 1.0 的事件浮升，和它为什么被换掉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973580"/>
            <a:chOff x="533400" y="1524000"/>
            <a:chExt cx="5626418" cy="19735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73580"/>
            </a:xfrm>
            <a:prstGeom prst="roundRect">
              <a:avLst>
                <a:gd name="adj" fmla="val 67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068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21072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AWT 1.0 的事件处理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窗口组件一般位于容器组件中。事件发生在某个组件上时，先由组件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handleEvent() 把事件交给相应的事件处理方法。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589371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该方法处理此事件，然后决定是否把事件向上一级容器组件传播；上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一级接到之后同样可以继续处理并继续上传，直到最顶层容器为止。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311705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一直传到最顶层容器仍没有处理方法，该事件就不予处理。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62362"/>
            <a:ext cx="5626418" cy="1874520"/>
            <a:chOff x="533400" y="3662362"/>
            <a:chExt cx="5626418" cy="1874520"/>
          </a:xfrm>
        </p:grpSpPr>
        <p:sp>
          <p:nvSpPr>
            <p:cNvPr id="16" name="Rectangle 16"/>
            <p:cNvSpPr/>
            <p:nvPr/>
          </p:nvSpPr>
          <p:spPr>
            <a:xfrm>
              <a:off x="533400" y="3662362"/>
              <a:ext cx="5626418" cy="1874520"/>
            </a:xfrm>
            <a:prstGeom prst="roundRect">
              <a:avLst>
                <a:gd name="adj" fmla="val 71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795712"/>
              <a:ext cx="47625" cy="16078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38433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147" y="38761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18450" y="388286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为什么说它是不纯的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4199096"/>
              <a:ext cx="4889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每一级组件收到事件时都可以处理，不论此事件在上一级是否已经得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到处理，而且还存在事件最终未被任何组件处理的情况。这两条正好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踩在纯职责链的两条要求上。</a:t>
              </a:r>
            </a:p>
          </p:txBody>
        </p:sp>
      </p:grpSp>
      <p:grpSp>
        <p:nvGrpSpPr>
          <p:cNvPr id="40" name="c2-steps-1"/>
          <p:cNvGrpSpPr/>
          <p:nvPr/>
        </p:nvGrpSpPr>
        <p:grpSpPr>
          <a:xfrm>
            <a:off x="6464618" y="1533525"/>
            <a:ext cx="2827401" cy="2149412"/>
            <a:chOff x="6464618" y="1533525"/>
            <a:chExt cx="2827401" cy="2149412"/>
          </a:xfrm>
        </p:grpSpPr>
        <p:sp>
          <p:nvSpPr>
            <p:cNvPr id="23" name="Rectangle 23"/>
            <p:cNvSpPr/>
            <p:nvPr/>
          </p:nvSpPr>
          <p:spPr>
            <a:xfrm>
              <a:off x="6597968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64618" y="208692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8241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64618" y="2639378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58241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464618" y="319278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8241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241" y="15644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8384" y="181832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自己先处理，再决定是否向上一级传播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241" y="21169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8384" y="2371725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收到之后同样可以处理，并继续上传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7241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78384" y="2925128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处理与否都可以，再传给顶层容器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77241" y="32227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顶层容器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78384" y="3477578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传到这里为止，仍没人管就不予处理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464618" y="3844290"/>
            <a:ext cx="5193982" cy="1691640"/>
            <a:chOff x="6464618" y="3844290"/>
            <a:chExt cx="5193982" cy="1691640"/>
          </a:xfrm>
        </p:grpSpPr>
        <p:sp>
          <p:nvSpPr>
            <p:cNvPr id="41" name="Rectangle 41"/>
            <p:cNvSpPr/>
            <p:nvPr/>
          </p:nvSpPr>
          <p:spPr>
            <a:xfrm>
              <a:off x="6464618" y="3844290"/>
              <a:ext cx="5193982" cy="1691640"/>
            </a:xfrm>
            <a:prstGeom prst="roundRect">
              <a:avLst>
                <a:gd name="adj" fmla="val 7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74142" y="3977640"/>
              <a:ext cx="47625" cy="14249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3692" y="4025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6364" y="4058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演化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50620" y="4065746"/>
              <a:ext cx="2366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JDK 1.1 起改用观察者模式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7216" y="438197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事件浮升要求每一级都判断事件类型，层数一多就慢。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77216" y="4666774"/>
              <a:ext cx="44996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JDK 1.1 改成事件源注册监听器，由观察者模式（第 36 讲）把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事件直接送到注册者手里。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78359" y="5191125"/>
              <a:ext cx="2641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JavaScript 的事件冒泡至今仍是这套机制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0" name="Rectangle 5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45417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记住这条演化：AWT 1.0 用职责链，1.1 之后换成观察者。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效果、适用与辨析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什么时候该用，和它容易被认错的几个邻居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优点与缺点各三四条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适用环境与不该用的情况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六个易错点与自测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优点：两头都不用认识对方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bullets-1"/>
          <p:cNvGrpSpPr/>
          <p:nvPr/>
        </p:nvGrpSpPr>
        <p:grpSpPr>
          <a:xfrm>
            <a:off x="526542" y="1545907"/>
            <a:ext cx="3763950" cy="2424590"/>
            <a:chOff x="526542" y="1545907"/>
            <a:chExt cx="3763950" cy="242459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课件给的四条优点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89452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0382" y="186594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降低系统的耦合度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77240" y="219360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2025" y="2130266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发送者不知道谁会处理，处理者也不知道链的结构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434590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0382" y="240601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简化对象的相互连接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77240" y="273367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2025" y="267033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每个处理者只维持一个指向后继者的引用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297465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0382" y="294608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分派职责更灵活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77240" y="327374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2025" y="3210401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运行时动态增加或修改链，就能改变处理职责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3514725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7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0382" y="34861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新增处理者不改旧代码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77240" y="381381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62025" y="375046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只要在客户端重新建链，符合开闭原则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101465"/>
            <a:ext cx="5626418" cy="1483995"/>
            <a:chOff x="533400" y="4101465"/>
            <a:chExt cx="5626418" cy="1483995"/>
          </a:xfrm>
        </p:grpSpPr>
        <p:sp>
          <p:nvSpPr>
            <p:cNvPr id="25" name="Rectangle 25"/>
            <p:cNvSpPr/>
            <p:nvPr/>
          </p:nvSpPr>
          <p:spPr>
            <a:xfrm>
              <a:off x="533400" y="4101465"/>
              <a:ext cx="5626418" cy="1483995"/>
            </a:xfrm>
            <a:prstGeom prst="roundRect">
              <a:avLst>
                <a:gd name="adj" fmla="val 8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234815"/>
              <a:ext cx="47625" cy="12172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29387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9346" y="43281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14247" y="43338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第四条优点在假条例子里的样子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7047" y="4668202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要在经理和总经理之间加一级部门总监，只需新写一个 Leader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子类，再把客户端的链改成主任、经理、总监、总经理。原有四个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类一行都不用改。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464618" y="1524000"/>
            <a:ext cx="5193982" cy="1786890"/>
            <a:chOff x="6464618" y="1524000"/>
            <a:chExt cx="5193982" cy="1786890"/>
          </a:xfrm>
        </p:grpSpPr>
        <p:sp>
          <p:nvSpPr>
            <p:cNvPr id="32" name="Rectangle 32"/>
            <p:cNvSpPr/>
            <p:nvPr/>
          </p:nvSpPr>
          <p:spPr>
            <a:xfrm>
              <a:off x="6464618" y="1524000"/>
              <a:ext cx="5193982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95122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86562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78814" y="175641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第二条优点省掉的正是那份名单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8264" y="209073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不用链时，发送者要持有全部候选处理者的引用，就是占座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方案一里甲的那份熟人名单。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88264" y="264985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用链之后每人只记一个下家，新来的同学插在中间，其他人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都不用改。</a:t>
              </a:r>
            </a:p>
          </p:txBody>
        </p:sp>
      </p:grpSp>
      <p:grpSp>
        <p:nvGrpSpPr>
          <p:cNvPr id="46" name="c2-card-2"/>
          <p:cNvGrpSpPr/>
          <p:nvPr/>
        </p:nvGrpSpPr>
        <p:grpSpPr>
          <a:xfrm>
            <a:off x="6464618" y="3485198"/>
            <a:ext cx="5193982" cy="2100262"/>
            <a:chOff x="6464618" y="3485198"/>
            <a:chExt cx="5193982" cy="2100262"/>
          </a:xfrm>
        </p:grpSpPr>
        <p:sp>
          <p:nvSpPr>
            <p:cNvPr id="40" name="Rectangle 40"/>
            <p:cNvSpPr/>
            <p:nvPr/>
          </p:nvSpPr>
          <p:spPr>
            <a:xfrm>
              <a:off x="6464618" y="3485198"/>
              <a:ext cx="5193982" cy="2100262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4142" y="3618548"/>
              <a:ext cx="47625" cy="18335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5122" y="36776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6562" y="371189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回看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78814" y="371760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占座的两个方案各演示了一条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88264" y="405193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方案一里甲握着全部熟人名单，正是第二条优点要省掉的东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西；方案二里甲只认识乙，对应第一条优点说的解耦。</a:t>
              </a:r>
            </a:p>
          </p:txBody>
        </p:sp>
      </p:grpSp>
      <p:grpSp>
        <p:nvGrpSpPr>
          <p:cNvPr id="5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7" name="Rectangle 4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040892" y="6023610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这四条优点都来自同一件事：把“谁来处理”的决定推迟到运行期。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缺点：请求可能没人接，链长了也不好查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bullets-1"/>
          <p:cNvGrpSpPr/>
          <p:nvPr/>
        </p:nvGrpSpPr>
        <p:grpSpPr>
          <a:xfrm>
            <a:off x="525780" y="1548765"/>
            <a:ext cx="3726205" cy="2103405"/>
            <a:chOff x="525780" y="1548765"/>
            <a:chExt cx="3726205" cy="21034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课件给的三条缺点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392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90309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不保证请求一定被处理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8105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5073" y="219694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可能一直传到链尾，也可能链本身没配对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542222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3430" y="250602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长链影响性能且难调试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65073" y="279987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一个请求经过多个对象，断点要一路跟下去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33400" y="31451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3430" y="310896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建链不当会循环调用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5073" y="340280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链首尾相接又没有终止条件就是死循环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792855"/>
            <a:ext cx="5410200" cy="1621155"/>
            <a:chOff x="533400" y="3792855"/>
            <a:chExt cx="5410200" cy="1621155"/>
          </a:xfrm>
        </p:grpSpPr>
        <p:sp>
          <p:nvSpPr>
            <p:cNvPr id="21" name="Rectangle 21"/>
            <p:cNvSpPr/>
            <p:nvPr/>
          </p:nvSpPr>
          <p:spPr>
            <a:xfrm>
              <a:off x="533400" y="379285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92620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400240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6160" y="40381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39202" y="4037648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第一条缺点最容易在考题里出现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430" y="4398645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假条例子如果把总经理的兜底分支删掉，35 天的请求会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一路传到链尾，三个人都没有输出，客户端也收不到任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何反馈，请求就这样丢了。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248400" y="1524000"/>
            <a:ext cx="5410200" cy="2577465"/>
            <a:chOff x="6248400" y="1524000"/>
            <a:chExt cx="5410200" cy="2577465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应对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70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三条缺点各自的防法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212979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给链尾安排一个兜底处理者，专门负责“没人接”的情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况，假条例子里的总经理就是。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8430" y="27508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建链的代码集中在一处，或者由配置文件统一生成，别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散落在各个模块里。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33718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环形链必须带终止条件，比如记下起点，转回起点就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停。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248400" y="4291965"/>
            <a:ext cx="5410200" cy="1122045"/>
            <a:chOff x="6248400" y="4291965"/>
            <a:chExt cx="5410200" cy="1122045"/>
          </a:xfrm>
        </p:grpSpPr>
        <p:sp>
          <p:nvSpPr>
            <p:cNvPr id="37" name="Rectangle 37"/>
            <p:cNvSpPr/>
            <p:nvPr/>
          </p:nvSpPr>
          <p:spPr>
            <a:xfrm>
              <a:off x="6248400" y="4291965"/>
              <a:ext cx="5410200" cy="1122045"/>
            </a:xfrm>
            <a:prstGeom prst="roundRect">
              <a:avLst>
                <a:gd name="adj" fmla="val 1018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4752975"/>
              <a:ext cx="200026" cy="200026"/>
              <a:chOff x="6453188" y="4752975"/>
              <a:chExt cx="200026" cy="2000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53188" y="47529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53200" y="48196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42088" y="48529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130" y="461010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调试时在抽象处理者的转发处打一个日志，整条链的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走向就能看清。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死循环这一条最隐蔽：每个处理者的代码都对，只是客户端把链连成了环。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什么情况下用它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5780" y="1548765"/>
            <a:ext cx="3787165" cy="2103405"/>
            <a:chOff x="525780" y="1548765"/>
            <a:chExt cx="3787165" cy="210340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课件给的三条适用环境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多个对象可以处理同一请求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201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6033" y="219694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具体哪个对象处理待运行时刻再确定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92692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3498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060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不明确指定接收者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2010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033" y="279987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向多个对象中的一个提交一个请求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095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5249" y="3137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390" y="310896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要动态指定一组处理者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2010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6033" y="340280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客户端可动态建链，也能改变处理者的次序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3792855"/>
            <a:ext cx="5410200" cy="1720215"/>
            <a:chOff x="533400" y="3792855"/>
            <a:chExt cx="5410200" cy="1720215"/>
          </a:xfrm>
        </p:grpSpPr>
        <p:sp>
          <p:nvSpPr>
            <p:cNvPr id="24" name="Rectangle 24"/>
            <p:cNvSpPr/>
            <p:nvPr/>
          </p:nvSpPr>
          <p:spPr>
            <a:xfrm>
              <a:off x="533400" y="3792855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926205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0024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1258" y="40381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落点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2078" y="403764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现实里最常遇到的三种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86765" y="4461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3986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分级审批：请假、报销、用款额度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6765" y="4796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4880" y="47339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请求预处理：日志、鉴权、限流、编码转换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51320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506920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界面事件：控件处理不了就交给外层容器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1956435"/>
            <a:chOff x="6248400" y="1524000"/>
            <a:chExt cx="5410200" cy="1956435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956435"/>
            </a:xfrm>
            <a:prstGeom prst="roundRect">
              <a:avLst>
                <a:gd name="adj" fmla="val 681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57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48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589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分离职责，动态组合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503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分离职责是前提：先把复杂功能拆成若干步骤和小的处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理，让不同的类各负责一个方面。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50330" y="27508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动态组合是关键：请求对象不知道谁才是真正的处理对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象，所以要在运行期把可能的处理对象组合成链。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248400" y="3670935"/>
            <a:ext cx="5410200" cy="1842135"/>
            <a:chOff x="6248400" y="3670935"/>
            <a:chExt cx="5410200" cy="1842135"/>
          </a:xfrm>
        </p:grpSpPr>
        <p:sp>
          <p:nvSpPr>
            <p:cNvPr id="43" name="Rectangle 43"/>
            <p:cNvSpPr/>
            <p:nvPr/>
          </p:nvSpPr>
          <p:spPr>
            <a:xfrm>
              <a:off x="6248400" y="3670935"/>
              <a:ext cx="5410200" cy="1842135"/>
            </a:xfrm>
            <a:prstGeom prst="roundRect">
              <a:avLst>
                <a:gd name="adj" fmla="val 7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3804285"/>
              <a:ext cx="47625" cy="15754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96050" y="388048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82308" y="391620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不该用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39000" y="391572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这两种情况别硬套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01765" y="43395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59880" y="4276725"/>
              <a:ext cx="4447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处理者只有一两个而且固定：直接 if-else 更清楚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01765" y="46748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59880" y="461200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所有处理者都必须执行：这是过滤器或观察者的活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56894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先问一句“处理者的个数和顺序会不会变”，不会变就不必建链。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和它长得像的几个模式分在哪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7506843" cy="293370"/>
            <a:chOff x="525780" y="1548765"/>
            <a:chExt cx="7506843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75068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这几个模式都会出现“一个对象连着下一个对象”的结构，区别在于链上发生了什么。</a:t>
              </a:r>
            </a:p>
          </p:txBody>
        </p:sp>
      </p:grpSp>
      <p:grpSp>
        <p:nvGrpSpPr>
          <p:cNvPr id="51" name="c1-table-1"/>
          <p:cNvGrpSpPr/>
          <p:nvPr/>
        </p:nvGrpSpPr>
        <p:grpSpPr>
          <a:xfrm>
            <a:off x="533400" y="1954530"/>
            <a:ext cx="11125200" cy="3011805"/>
            <a:chOff x="533400" y="1954530"/>
            <a:chExt cx="11125200" cy="301180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66838" y="208597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94379" y="20859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链上做什么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25578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有几个真正执行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18320" y="208597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对象之间的关系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8746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职责链（本讲）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40902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找到有权处理的那一个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882640" y="2394585"/>
              <a:ext cx="242887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78462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通常只有一个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26386" y="251555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处理者彼此不认识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81463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8746" y="2946082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装饰（第 23 讲）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40902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每一层都加一点职责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78462" y="29460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全部都要执行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6386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装饰者包着被装饰者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404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8746" y="3376612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组合（第 22 讲）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40902" y="337661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把对象组成树形结构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978462" y="33766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与请求无关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6386" y="337661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职责链常沿它的父指针走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66998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67474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8746" y="380619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命令（第 31 讲）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40902" y="380619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把请求本身封装成对象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78462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与链无关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6386" y="380619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命令对象可以在链上传递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1005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8746" y="4236720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观察者（第 36 讲）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40902" y="423672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广播给所有登记者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978462" y="423672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全部都会收到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26386" y="423672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事件源持有监听器列表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5310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535805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8746" y="4666298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中介者（第 34 讲）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40902" y="466629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交互集中到一个中间人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78462" y="466629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只有中间人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26386" y="4666298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星形结构，不排成线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1954530"/>
              <a:ext cx="11125200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2530792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68352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16278" y="195453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llout-2"/>
          <p:cNvGrpSpPr/>
          <p:nvPr/>
        </p:nvGrpSpPr>
        <p:grpSpPr>
          <a:xfrm>
            <a:off x="533400" y="5151120"/>
            <a:ext cx="11125200" cy="521970"/>
            <a:chOff x="533400" y="5151120"/>
            <a:chExt cx="11125200" cy="521970"/>
          </a:xfrm>
        </p:grpSpPr>
        <p:sp>
          <p:nvSpPr>
            <p:cNvPr id="52" name="Rectangle 52"/>
            <p:cNvSpPr/>
            <p:nvPr/>
          </p:nvSpPr>
          <p:spPr>
            <a:xfrm>
              <a:off x="533400" y="5151120"/>
              <a:ext cx="11125200" cy="521970"/>
            </a:xfrm>
            <a:prstGeom prst="roundRect">
              <a:avLst>
                <a:gd name="adj" fmla="val 2189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6129" y="5308401"/>
              <a:ext cx="224134" cy="192560"/>
              <a:chOff x="726129" y="5308401"/>
              <a:chExt cx="224134" cy="19256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38200" y="537876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26129" y="530840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38200" y="545655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5312569"/>
              <a:ext cx="86166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装饰模式的类图和职责链几乎一样，区别在于装饰链上每一层都干活，职责链上通常只有一个人干活。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6004084"/>
              <a:ext cx="50228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判断时只看一点：链上是“全员执行”还是“只有一个接手”。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 · 效果、适用与辨析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六个一考就错的地方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ard-1"/>
          <p:cNvGrpSpPr/>
          <p:nvPr/>
        </p:nvGrpSpPr>
        <p:grpSpPr>
          <a:xfrm>
            <a:off x="533400" y="1524000"/>
            <a:ext cx="6059805" cy="3583305"/>
            <a:chOff x="533400" y="1524000"/>
            <a:chExt cx="6059805" cy="3583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583305"/>
            </a:xfrm>
            <a:prstGeom prst="roundRect">
              <a:avLst>
                <a:gd name="adj" fmla="val 37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3166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写代码和做判断题时按这六条自查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successor 写成 private，子类转发时读不到，应当用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750820"/>
              <a:ext cx="5073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转发前不判空。链尾的 successor 是 null，直接调用会抛空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337185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以为模式负责建链。建链是客户端的事，模式只规定处理者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怎么写。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81050" y="397954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2899" y="40218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399288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链连成环又没有终止条件，请求会一直转下去。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1050" y="43148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899" y="43571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2040" y="4328160"/>
              <a:ext cx="44778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把“每层都处理”当成职责链，那是装饰或过滤器。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1050" y="465010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899" y="46923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2040" y="4663440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具体处理者之间直接互相引用，新增处理者就得改旧代码。</a:t>
              </a:r>
            </a:p>
          </p:txBody>
        </p:sp>
      </p:grpSp>
      <p:grpSp>
        <p:nvGrpSpPr>
          <p:cNvPr id="48" name="c2-steps-1"/>
          <p:cNvGrpSpPr/>
          <p:nvPr/>
        </p:nvGrpSpPr>
        <p:grpSpPr>
          <a:xfrm>
            <a:off x="6898005" y="1533525"/>
            <a:ext cx="2837967" cy="2529173"/>
            <a:chOff x="6898005" y="1533525"/>
            <a:chExt cx="2837967" cy="2529173"/>
          </a:xfrm>
        </p:grpSpPr>
        <p:sp>
          <p:nvSpPr>
            <p:cNvPr id="31" name="Rectangle 31"/>
            <p:cNvSpPr/>
            <p:nvPr/>
          </p:nvSpPr>
          <p:spPr>
            <a:xfrm>
              <a:off x="703135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898005" y="153352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9162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898005" y="218408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9162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898005" y="283464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9162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898005" y="348615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162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0948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0628" y="186166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可能的处理者有几个，会不会变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09485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10628" y="2512219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谁处理能不能在编译期定下来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09485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三问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0628" y="316277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处理者要不要处理一半再往下传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09485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10628" y="381333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请求允不允许最后没人接手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898005" y="4241482"/>
            <a:ext cx="4760595" cy="865822"/>
            <a:chOff x="6898005" y="4241482"/>
            <a:chExt cx="4760595" cy="865822"/>
          </a:xfrm>
        </p:grpSpPr>
        <p:sp>
          <p:nvSpPr>
            <p:cNvPr id="49" name="Rectangle 49"/>
            <p:cNvSpPr/>
            <p:nvPr/>
          </p:nvSpPr>
          <p:spPr>
            <a:xfrm>
              <a:off x="6898005" y="4241482"/>
              <a:ext cx="4760595" cy="865822"/>
            </a:xfrm>
            <a:prstGeom prst="roundRect">
              <a:avLst>
                <a:gd name="adj" fmla="val 132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102793" y="4573905"/>
              <a:ext cx="200026" cy="200025"/>
              <a:chOff x="7102793" y="457390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102793" y="45739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2531" y="46183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177247" y="47294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404735" y="443103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前两问决定用不用职责链，后两问决定写成纯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的还是不纯的。</a:t>
              </a:r>
            </a:p>
          </p:txBody>
        </p:sp>
      </p:grpSp>
      <p:grpSp>
        <p:nvGrpSpPr>
          <p:cNvPr id="6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0130" y="5991225"/>
              <a:ext cx="7547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题干里出现“分级审批”“逐级上报”“处理不了就交给下一个”，几乎都是在指职责链。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职责链模式属于哪一类模式？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对象行为型模式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模式包含哪三个角色？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3378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Handler、ConcreteHandler、Client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287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successor 用哪个访问符？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367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protected，子类要读它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它的另一个中文译名是什么？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责任链模式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651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successor 字段的类型应当是？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000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抽象处理者 Handler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谁负责把处理者串成一条链？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客户端，模式本身不建链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答不上来的题，回到对应正文页再看一遍那张类图或那段代码。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纯的职责链有哪两条要求？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全揽或全推，且请求必须有人接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转发之前为什么要判空？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链尾的下家是 null，否则报错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6577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AWT 1.0 的事件浮升属于哪种？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不纯的职责链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不纯的职责链放宽了什么？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可处理一半再传，也可没人接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把链连成环会有什么后果？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请求循环传递，系统陷入死循环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职责链模式的本质是什么？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分离职责，动态组合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59565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假条例子里 30 天以上那一行说明，明确的驳回也算处理，链仍然是纯的。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0297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2189" y="407194"/>
              <a:ext cx="6853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30 职责链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8454403" cy="1432845"/>
            <a:chOff x="533400" y="1533525"/>
            <a:chExt cx="8454403" cy="1432845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职责链让多个对象都有机会处理请求，请求沿链传递直到有人接手，发送者与接收者因此解耦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689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1837849"/>
              <a:ext cx="81846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三个角色：Handler 声明处理方法并持有下家，ConcreteHandler 判断权限后处理或转发，Client 负责建链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202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131219"/>
              <a:ext cx="61790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抽象处理者的 successor 必须是 Handler 类型且子类可访问，转发之前要先判空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1363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2424589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纯的职责链要么全揽要么全推且一定有人接，不纯的允许处理一半再传，也允许最后没人管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0605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2717006"/>
              <a:ext cx="6500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本质是分离职责、动态组合；常见应用有分级审批、过滤器链和 AWT 1.0 的事件浮升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081338"/>
            <a:ext cx="11125200" cy="1772602"/>
            <a:chOff x="533400" y="3081338"/>
            <a:chExt cx="11125200" cy="1772602"/>
          </a:xfrm>
        </p:grpSpPr>
        <p:sp>
          <p:nvSpPr>
            <p:cNvPr id="23" name="Rectangle 23"/>
            <p:cNvSpPr/>
            <p:nvPr/>
          </p:nvSpPr>
          <p:spPr>
            <a:xfrm>
              <a:off x="533400" y="3081338"/>
              <a:ext cx="11125200" cy="1772602"/>
            </a:xfrm>
            <a:prstGeom prst="roundRect">
              <a:avLst>
                <a:gd name="adj" fmla="val 75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214688"/>
              <a:ext cx="47625" cy="150590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2475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7044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68006" y="330184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2475" y="360711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4382" y="36427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2223" y="3619024"/>
              <a:ext cx="102203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具体处理者的典型代码写成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else { this.successor.handleRequest(request); }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，链尾会抛空指针，应先判 successor 不为 null。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2475" y="3892868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4382" y="39275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223" y="3903821"/>
              <a:ext cx="7611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结构图把 successor 标成减号（私有），与正文和代码要求的 protected 不一致，图上应写井号。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177665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2132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188619"/>
              <a:ext cx="68065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客户端代码里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String(“some request”)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用了中文引号，且 new String 是多余的。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462462"/>
              <a:ext cx="180975" cy="18097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49808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473416"/>
              <a:ext cx="5130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陈伟老师课件里 Button 的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else if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用了全角括号，C++ 编译不过。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018722"/>
            <a:ext cx="11125200" cy="704850"/>
            <a:chOff x="533400" y="5018722"/>
            <a:chExt cx="11125200" cy="704850"/>
          </a:xfrm>
        </p:grpSpPr>
        <p:sp>
          <p:nvSpPr>
            <p:cNvPr id="41" name="Rectangle 41"/>
            <p:cNvSpPr/>
            <p:nvPr/>
          </p:nvSpPr>
          <p:spPr>
            <a:xfrm>
              <a:off x="533400" y="5018722"/>
              <a:ext cx="11125200" cy="704850"/>
            </a:xfrm>
            <a:prstGeom prst="roundRect">
              <a:avLst>
                <a:gd name="adj" fmla="val 1621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271135"/>
              <a:ext cx="200026" cy="200025"/>
              <a:chOff x="738188" y="527113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2711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3155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4267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1273" y="5282089"/>
              <a:ext cx="46137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下一步：把请求本身也封装成对象，看第 31 讲的命令模式。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1273" y="6039326"/>
              <a:ext cx="6061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遇到“好几个人都可能处理，到底谁处理要运行时才知道”的场景，先想职责链。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612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职责链模式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30">
  <a:themeElements>
    <a:clrScheme name="sdp_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30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3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2026-09-19T08:56:46Z</dcterms:created>
  <dcterms:modified xsi:type="dcterms:W3CDTF">2026-09-19T08:56:46Z</dcterms:modified>
  <cp:category/>
  <cp:contentStatus/>
</cp:coreProperties>
</file>