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5bbb6d335686b7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5bbb6d335686b78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6eacb66d1609483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b29069d7a44453a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202534" cy="3437763"/>
            <a:chOff x="666750" y="1619250"/>
            <a:chExt cx="32025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第二十一讲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192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把“怎么遍历”从容器里搬出去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聚合对象的两个职责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内部迭代器与外部迭代器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566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里的 Iterator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遥控器不需要知道电视机把频道存在哪里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两个层次结构、四个角色，以及里面藏着的工厂方法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068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写全四个类，再跟着游标走一遍循环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电视机遥控器与一排房间，两位老师各一个例子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扩展与应用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586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内外部迭代器、过滤迭代器、双向迭代器、JDK 的 Iterator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优缺点、适用环境、与相邻模式的分界、模式本质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说清聚合对象的两个职责，以及为什么分离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出来的是遍历而不是存储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默画出标准类图，两条实现关系加上具体类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之间的双重关系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写全抽象迭代器、具体迭代器、抽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象聚合、具体聚合，并推演一遍游标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判断一段遍历代码属于内部迭代器还是外部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迭代器，并说出各自的代价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JDK 里 Iterator、ListIterator 的能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力边界，写对 remove() 的调用顺序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动机：遍历这件事，容器自己干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并不划算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从电视机遥控器讲到聚合对象的两个职责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遥控器与电视频道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聚合对象的两个职责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定义与意图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线性视图加一个游标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动机：遍历这件事，容器自己干并不划算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换台的时候，你并不知道频道存在哪里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62085" cy="308039"/>
            <a:chOff x="525399" y="1550194"/>
            <a:chExt cx="91620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620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张欣佳老师的课件从遥控器讲起。开机、关机、换台、调音量，没有一样需要你打开电视机后盖。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67865"/>
            <a:ext cx="4977765" cy="2696052"/>
            <a:chOff x="533400" y="1967865"/>
            <a:chExt cx="4977765" cy="269605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7478" r="0" b="7477"/>
            <a:stretch>
              <a:fillRect/>
            </a:stretch>
          </p:blipFill>
          <p:spPr>
            <a:xfrm>
              <a:off x="533400" y="1967865"/>
              <a:ext cx="4977765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282662" y="444388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遥控器提供上一个、下一个、跳转到某一个三种动作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829175"/>
            <a:ext cx="4977765" cy="1363980"/>
            <a:chOff x="533400" y="4829175"/>
            <a:chExt cx="4977765" cy="1363980"/>
          </a:xfrm>
        </p:grpSpPr>
        <p:sp>
          <p:nvSpPr>
            <p:cNvPr id="12" name="Rectangle 12"/>
            <p:cNvSpPr/>
            <p:nvPr/>
          </p:nvSpPr>
          <p:spPr>
            <a:xfrm>
              <a:off x="533400" y="4829175"/>
              <a:ext cx="4977765" cy="1363980"/>
            </a:xfrm>
            <a:prstGeom prst="roundRect">
              <a:avLst>
                <a:gd name="adj" fmla="val 838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410200"/>
              <a:ext cx="200026" cy="200025"/>
              <a:chOff x="738188" y="5410200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4102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4546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5657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26732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把电视机看成一个存放频道的容器，遥控器就是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这个容器的遍历工具。</a:t>
              </a:r>
            </a:p>
          </p:txBody>
        </p:sp>
      </p:grpSp>
      <p:grpSp>
        <p:nvGrpSpPr>
          <p:cNvPr id="32" name="c2-bullets-1"/>
          <p:cNvGrpSpPr/>
          <p:nvPr/>
        </p:nvGrpSpPr>
        <p:grpSpPr>
          <a:xfrm>
            <a:off x="5808345" y="1992630"/>
            <a:ext cx="4184178" cy="2103405"/>
            <a:chOff x="5808345" y="1992630"/>
            <a:chExt cx="4184178" cy="2103405"/>
          </a:xfrm>
        </p:grpSpPr>
        <p:sp>
          <p:nvSpPr>
            <p:cNvPr id="19" name="TextBox 19"/>
            <p:cNvSpPr txBox="1"/>
            <p:nvPr/>
          </p:nvSpPr>
          <p:spPr>
            <a:xfrm>
              <a:off x="5808345" y="19926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把这幅画面翻译成软件里的说法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821680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79795" y="23469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电视机是聚合对象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987415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71438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里面存着一串频道，怎么存的用户看不见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21680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79795" y="29498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遥控器是迭代器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987415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71438" y="3242786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只提供“上一个、下一个、跳到第几个”这几个动作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21680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79795" y="3552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用户是客户端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987415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71438" y="384667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拿着遥控器就能把频道走一遍，不碰电视机内部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815965" y="4235768"/>
            <a:ext cx="5842635" cy="1956435"/>
            <a:chOff x="5815965" y="4235768"/>
            <a:chExt cx="5842635" cy="1956435"/>
          </a:xfrm>
        </p:grpSpPr>
        <p:sp>
          <p:nvSpPr>
            <p:cNvPr id="33" name="Rectangle 33"/>
            <p:cNvSpPr/>
            <p:nvPr/>
          </p:nvSpPr>
          <p:spPr>
            <a:xfrm>
              <a:off x="5815965" y="4235768"/>
              <a:ext cx="584263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25490" y="4369118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63615" y="444531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4270" y="448103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同一件事的软件版本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0005" y="4480560"/>
              <a:ext cx="29146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聚合类（Aggregate Classes）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55995" y="484155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能存储多个成员对象的类都叫聚合类，对应的对象叫聚合对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象。数组、链表、集合、自己写的容器都算。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5995" y="5462588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客户端想把里面的元素走一遍，却不该被迫知道它用的是数组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还是链表。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动机：遍历这件事，容器自己干并不划算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聚合对象有两个职责，其中一个是可以搬走的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存储数据是聚合对象的基本职责；遍历数据既会变化，又可以单独拿出来。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715328" y="2252662"/>
            <a:ext cx="4830126" cy="1829752"/>
            <a:chOff x="715328" y="2252662"/>
            <a:chExt cx="4830126" cy="1829752"/>
          </a:xfrm>
        </p:grpSpPr>
        <p:sp>
          <p:nvSpPr>
            <p:cNvPr id="9" name="Freeform 9"/>
            <p:cNvSpPr/>
            <p:nvPr/>
          </p:nvSpPr>
          <p:spPr>
            <a:xfrm>
              <a:off x="1831658" y="2882265"/>
              <a:ext cx="1298258" cy="465772"/>
            </a:xfrm>
            <a:custGeom>
              <a:avLst/>
              <a:gdLst/>
              <a:ahLst/>
              <a:cxnLst/>
              <a:rect l="l" t="t" r="r" b="b"/>
              <a:pathLst>
                <a:path w="1298258" h="465772">
                  <a:moveTo>
                    <a:pt x="1298258" y="0"/>
                  </a:moveTo>
                  <a:lnTo>
                    <a:pt x="1298258" y="285750"/>
                  </a:lnTo>
                  <a:lnTo>
                    <a:pt x="0" y="285750"/>
                  </a:lnTo>
                  <a:lnTo>
                    <a:pt x="0" y="465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79270" y="3348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29915" y="2882265"/>
              <a:ext cx="1299210" cy="465772"/>
            </a:xfrm>
            <a:custGeom>
              <a:avLst/>
              <a:gdLst/>
              <a:ahLst/>
              <a:cxnLst/>
              <a:rect l="l" t="t" r="r" b="b"/>
              <a:pathLst>
                <a:path w="1299210" h="465772">
                  <a:moveTo>
                    <a:pt x="0" y="0"/>
                  </a:moveTo>
                  <a:lnTo>
                    <a:pt x="0" y="285750"/>
                  </a:lnTo>
                  <a:lnTo>
                    <a:pt x="1299210" y="285750"/>
                  </a:lnTo>
                  <a:lnTo>
                    <a:pt x="1299210" y="465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76738" y="3348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97255" y="2252662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5328" y="3452812"/>
              <a:ext cx="223361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11842" y="3452812"/>
              <a:ext cx="223361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79726" y="2369344"/>
              <a:ext cx="15003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聚合对象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存储数据 + 遍历数据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0060" y="3569494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只管存储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7528" y="3569494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只管遍历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300288" y="29517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34578" y="29784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留下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598545" y="29517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32835" y="29784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分出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558665"/>
            <a:ext cx="5193982" cy="1309688"/>
            <a:chOff x="533400" y="4558665"/>
            <a:chExt cx="5193982" cy="1309688"/>
          </a:xfrm>
        </p:grpSpPr>
        <p:sp>
          <p:nvSpPr>
            <p:cNvPr id="24" name="Rectangle 24"/>
            <p:cNvSpPr/>
            <p:nvPr/>
          </p:nvSpPr>
          <p:spPr>
            <a:xfrm>
              <a:off x="533400" y="4558665"/>
              <a:ext cx="5193982" cy="1309688"/>
            </a:xfrm>
            <a:prstGeom prst="roundRect">
              <a:avLst>
                <a:gd name="adj" fmla="val 8727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113022"/>
              <a:ext cx="200023" cy="200023"/>
              <a:chOff x="738188" y="5113022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1130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51796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97014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遍历行为被封装成一个独立对象，聚合类就瘦下来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46" name="c2-bullets-1"/>
          <p:cNvGrpSpPr/>
          <p:nvPr/>
        </p:nvGrpSpPr>
        <p:grpSpPr>
          <a:xfrm>
            <a:off x="6024562" y="1992630"/>
            <a:ext cx="4476421" cy="2103405"/>
            <a:chOff x="6024562" y="1992630"/>
            <a:chExt cx="4476421" cy="2103405"/>
          </a:xfrm>
        </p:grpSpPr>
        <p:sp>
          <p:nvSpPr>
            <p:cNvPr id="30" name="TextBox 30"/>
            <p:cNvSpPr txBox="1"/>
            <p:nvPr/>
          </p:nvSpPr>
          <p:spPr>
            <a:xfrm>
              <a:off x="6024562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分离之后拿到三样好处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2333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94032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3173" y="2346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聚合类的设计变简单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4079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4816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它不再需要自己提供一套遍历方法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032182" y="2936558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94032" y="297884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3173" y="29498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可以给同一个聚合配多种遍历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4079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4816" y="32427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正序、逆序、只看满足条件的元素，各写一个迭代器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2182" y="35394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94032" y="35817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33173" y="3552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内部结构不必暴露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4079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24816" y="384667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客户端拿到的是迭代器，不是底层的数组或链表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032182" y="4235768"/>
            <a:ext cx="5626418" cy="1631632"/>
            <a:chOff x="6032182" y="4235768"/>
            <a:chExt cx="5626418" cy="1631632"/>
          </a:xfrm>
        </p:grpSpPr>
        <p:sp>
          <p:nvSpPr>
            <p:cNvPr id="47" name="Rectangle 47"/>
            <p:cNvSpPr/>
            <p:nvPr/>
          </p:nvSpPr>
          <p:spPr>
            <a:xfrm>
              <a:off x="6032182" y="4235768"/>
              <a:ext cx="5626418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4369118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79832" y="444531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4437" y="448103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和设计原则对上号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33348" y="44805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这正是单一职责原则的用法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2212" y="484155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一个类只承担一类变化。存储方式变、遍历方式变，本来就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是两种变化，拆成两个类各自演化。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3356" y="5459254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单一职责原则见第 02 讲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动机：遍历这件事，容器自己干并不划算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定义：访问聚合的内容，但不暴露它的内部表示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951220" cy="2341245"/>
            <a:chOff x="533400" y="1524000"/>
            <a:chExt cx="5951220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201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迭代器模式（Iterator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提供一种方法来访问一个聚合对象中的各个元素，而又不用暴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露这个对象的内部表示。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1960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别名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（Cursor）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21380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结构里含聚合与迭代器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两个层次结构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5780" y="4080510"/>
            <a:ext cx="5958840" cy="1297305"/>
            <a:chOff x="525780" y="4080510"/>
            <a:chExt cx="5958840" cy="1297305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40805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要解决的问题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64055" y="4080510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客户端想遍历容器，却被迫知道容器是怎么组织数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6824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4802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解决办法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4055" y="480250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把游标和步进动作封装成一个独立对象，由聚合负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责创建它</a:t>
              </a:r>
            </a:p>
          </p:txBody>
        </p:sp>
      </p:grpSp>
      <p:grpSp>
        <p:nvGrpSpPr>
          <p:cNvPr id="31" name="c2-bullets-1"/>
          <p:cNvGrpSpPr/>
          <p:nvPr/>
        </p:nvGrpSpPr>
        <p:grpSpPr>
          <a:xfrm>
            <a:off x="6781800" y="1548765"/>
            <a:ext cx="4110038" cy="992505"/>
            <a:chOff x="6781800" y="1548765"/>
            <a:chExt cx="4110038" cy="992505"/>
          </a:xfrm>
        </p:grpSpPr>
        <p:sp>
          <p:nvSpPr>
            <p:cNvPr id="26" name="TextBox 26"/>
            <p:cNvSpPr txBox="1"/>
            <p:nvPr/>
          </p:nvSpPr>
          <p:spPr>
            <a:xfrm>
              <a:off x="6781800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陈伟老师课件里的两句意图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789420" y="193452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39928" y="190309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客户端能用较为一致的方式遍历不同的容器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789420" y="227933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39928" y="22479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客户端遍历时，不用知道容器的组织结构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789420" y="2672715"/>
            <a:ext cx="4869180" cy="2646045"/>
            <a:chOff x="6789420" y="2672715"/>
            <a:chExt cx="4869180" cy="2646045"/>
          </a:xfrm>
        </p:grpSpPr>
        <p:sp>
          <p:nvSpPr>
            <p:cNvPr id="32" name="Rectangle 32"/>
            <p:cNvSpPr/>
            <p:nvPr/>
          </p:nvSpPr>
          <p:spPr>
            <a:xfrm>
              <a:off x="6789420" y="2672715"/>
              <a:ext cx="4869180" cy="2646045"/>
            </a:xfrm>
            <a:prstGeom prst="roundRect">
              <a:avLst>
                <a:gd name="adj" fmla="val 50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2806065"/>
              <a:ext cx="47625" cy="23793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7070" y="288226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4476" y="29179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一致的方式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64818" y="2917508"/>
              <a:ext cx="2065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为什么“一致”这么值钱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9450" y="327850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数组、链表、散列桶的内部结构完全不同。有了统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一的迭代器接口，一段遍历代码换个容器还能用。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29450" y="389953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反过来，容器想换实现也不必担心把所有调用方都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改一遍。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动机：遍历这件事，容器自己干并不划算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实现方式：把容器看成一条线，再放一个游标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062331" cy="278702"/>
            <a:chOff x="526161" y="1547336"/>
            <a:chExt cx="806233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062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不管底层是数组还是树，迭代器都把它摊成一个“线性”序列，然后用一个游标记住走到哪儿了。</a:t>
              </a:r>
            </a:p>
          </p:txBody>
        </p:sp>
      </p:grpSp>
      <p:grpSp>
        <p:nvGrpSpPr>
          <p:cNvPr id="27" name="c1-cells-1"/>
          <p:cNvGrpSpPr/>
          <p:nvPr/>
        </p:nvGrpSpPr>
        <p:grpSpPr>
          <a:xfrm>
            <a:off x="527685" y="1986915"/>
            <a:ext cx="3494722" cy="864394"/>
            <a:chOff x="527685" y="1986915"/>
            <a:chExt cx="3494722" cy="864394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3664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1548" y="2236470"/>
              <a:ext cx="614362" cy="39909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227" y="236648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65910" y="2236470"/>
              <a:ext cx="614362" cy="39909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2589" y="236648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9320" y="2236470"/>
              <a:ext cx="614362" cy="39909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86952" y="236648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93682" y="2236470"/>
              <a:ext cx="614362" cy="39909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01314" y="236648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08045" y="2236470"/>
              <a:ext cx="614362" cy="39909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15677" y="236648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23133" y="26893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7496" y="26893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51858" y="26893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66221" y="26893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80583" y="26893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23935" y="1986915"/>
              <a:ext cx="9260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游标 cursor = 2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2448878" y="21412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36" name="c1-bullets-2"/>
          <p:cNvGrpSpPr/>
          <p:nvPr/>
        </p:nvGrpSpPr>
        <p:grpSpPr>
          <a:xfrm>
            <a:off x="541972" y="3013710"/>
            <a:ext cx="5313236" cy="1454658"/>
            <a:chOff x="541972" y="3013710"/>
            <a:chExt cx="5313236" cy="1454658"/>
          </a:xfrm>
        </p:grpSpPr>
        <p:sp>
          <p:nvSpPr>
            <p:cNvPr id="28" name="Ellipse 28"/>
            <p:cNvSpPr/>
            <p:nvPr/>
          </p:nvSpPr>
          <p:spPr>
            <a:xfrm>
              <a:off x="541972" y="306990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7992" y="3013710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游标通常就是一个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非负整数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，表示当前访问到第几个位置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41972" y="33813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7992" y="3325177"/>
              <a:ext cx="492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next()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把游标加一，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currentItem()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取游标指向的那个元素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41972" y="369284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7992" y="3636645"/>
              <a:ext cx="4175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first()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把游标归零，同一个容器要再走一遍就靠它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41972" y="400335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7992" y="394716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游标存在迭代器里，不存在聚合里，所以同一个容器可以同时有多个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迭代器各走各的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591050"/>
            <a:ext cx="5626418" cy="1655445"/>
            <a:chOff x="533400" y="4591050"/>
            <a:chExt cx="5626418" cy="1655445"/>
          </a:xfrm>
        </p:grpSpPr>
        <p:sp>
          <p:nvSpPr>
            <p:cNvPr id="37" name="Rectangle 37"/>
            <p:cNvSpPr/>
            <p:nvPr/>
          </p:nvSpPr>
          <p:spPr>
            <a:xfrm>
              <a:off x="533400" y="4591050"/>
              <a:ext cx="5626418" cy="1655445"/>
            </a:xfrm>
            <a:prstGeom prst="roundRect">
              <a:avLst>
                <a:gd name="adj" fmla="val 690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314116"/>
              <a:ext cx="224134" cy="192560"/>
              <a:chOff x="726129" y="531411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53844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3141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4622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5199698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游标越过末尾之后再取元素就会越界，所以每种迭代器都要提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供一个判断结束的方法。</a:t>
              </a:r>
            </a:p>
          </p:txBody>
        </p:sp>
      </p:grpSp>
      <p:grpSp>
        <p:nvGrpSpPr>
          <p:cNvPr id="46" name="c2-image-1"/>
          <p:cNvGrpSpPr/>
          <p:nvPr/>
        </p:nvGrpSpPr>
        <p:grpSpPr>
          <a:xfrm>
            <a:off x="6464618" y="1941195"/>
            <a:ext cx="5193982" cy="2621852"/>
            <a:chOff x="6464618" y="1941195"/>
            <a:chExt cx="5193982" cy="2621852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rcRect l="0" t="20182" r="0" b="20181"/>
            <a:stretch>
              <a:fillRect/>
            </a:stretch>
          </p:blipFill>
          <p:spPr>
            <a:xfrm>
              <a:off x="6464618" y="1941195"/>
              <a:ext cx="5193982" cy="2323148"/>
            </a:xfrm>
            <a:prstGeom prst="roundRect">
              <a:avLst>
                <a:gd name="adj" fmla="val 5740"/>
              </a:avLst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643241" y="435768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卡片是元素，滑块是游标，一次只往前挪一格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464618" y="4715828"/>
            <a:ext cx="5193982" cy="1529715"/>
            <a:chOff x="6464618" y="4715828"/>
            <a:chExt cx="5193982" cy="1529715"/>
          </a:xfrm>
        </p:grpSpPr>
        <p:sp>
          <p:nvSpPr>
            <p:cNvPr id="47" name="Rectangle 47"/>
            <p:cNvSpPr/>
            <p:nvPr/>
          </p:nvSpPr>
          <p:spPr>
            <a:xfrm>
              <a:off x="6464618" y="4715828"/>
              <a:ext cx="5193982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849178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5122" y="490823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8562" y="494252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两种命名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45514" y="494823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判断结束的方法有两种写法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8264" y="5282565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hasNext()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问的是“后面还有没有元素”，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isDone()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问的是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“游标是不是已经走完了”。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88264" y="584263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两种写法在本讲都会出现，看清楚语义再写循环条件。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四个角色、两条实现关系，外加一对互相认识的具体类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四个角色的职责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里面藏着的工厂方法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具体类之间的双重关系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标准结构：两个层次结构并排站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49385" cy="308039"/>
            <a:chOff x="525399" y="1550194"/>
            <a:chExt cx="89493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493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左边一列是聚合的层次结构，右边一列是迭代器的层次结构，客户端只跟上面两个接口打交道。</a:t>
              </a:r>
            </a:p>
          </p:txBody>
        </p:sp>
      </p:grpSp>
      <p:grpSp>
        <p:nvGrpSpPr>
          <p:cNvPr id="59" name="c1-uml-1"/>
          <p:cNvGrpSpPr/>
          <p:nvPr/>
        </p:nvGrpSpPr>
        <p:grpSpPr>
          <a:xfrm>
            <a:off x="1396365" y="2242185"/>
            <a:ext cx="9293543" cy="3243262"/>
            <a:chOff x="1396365" y="2242185"/>
            <a:chExt cx="9293543" cy="3243262"/>
          </a:xfrm>
        </p:grpSpPr>
        <p:sp>
          <p:nvSpPr>
            <p:cNvPr id="9" name="Freeform 9"/>
            <p:cNvSpPr/>
            <p:nvPr/>
          </p:nvSpPr>
          <p:spPr>
            <a:xfrm>
              <a:off x="2387918" y="3399472"/>
              <a:ext cx="9525" cy="938212"/>
            </a:xfrm>
            <a:custGeom>
              <a:avLst/>
              <a:gdLst/>
              <a:ahLst/>
              <a:cxnLst/>
              <a:rect l="l" t="t" r="r" b="b"/>
              <a:pathLst>
                <a:path w="9525" h="938212">
                  <a:moveTo>
                    <a:pt x="0" y="93821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314575" y="3274695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2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04082" y="3663315"/>
              <a:ext cx="9525" cy="322897"/>
            </a:xfrm>
            <a:custGeom>
              <a:avLst/>
              <a:gdLst/>
              <a:ahLst/>
              <a:cxnLst/>
              <a:rect l="l" t="t" r="r" b="b"/>
              <a:pathLst>
                <a:path w="9525" h="322897">
                  <a:moveTo>
                    <a:pt x="0" y="3228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9730740" y="353758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78518" y="2889885"/>
              <a:ext cx="2145982" cy="9525"/>
            </a:xfrm>
            <a:custGeom>
              <a:avLst/>
              <a:gdLst/>
              <a:ahLst/>
              <a:cxnLst/>
              <a:rect l="l" t="t" r="r" b="b"/>
              <a:pathLst>
                <a:path w="2145982" h="9525">
                  <a:moveTo>
                    <a:pt x="214598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378518" y="283273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667500" y="2889885"/>
              <a:ext cx="2565082" cy="9525"/>
            </a:xfrm>
            <a:custGeom>
              <a:avLst/>
              <a:gdLst/>
              <a:ahLst/>
              <a:cxnLst/>
              <a:rect l="l" t="t" r="r" b="b"/>
              <a:pathLst>
                <a:path w="2565082" h="9525">
                  <a:moveTo>
                    <a:pt x="0" y="0"/>
                  </a:moveTo>
                  <a:lnTo>
                    <a:pt x="2565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9127808" y="283273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78518" y="4658678"/>
              <a:ext cx="5540692" cy="9525"/>
            </a:xfrm>
            <a:custGeom>
              <a:avLst/>
              <a:gdLst/>
              <a:ahLst/>
              <a:cxnLst/>
              <a:rect l="l" t="t" r="r" b="b"/>
              <a:pathLst>
                <a:path w="5540692" h="9525">
                  <a:moveTo>
                    <a:pt x="0" y="0"/>
                  </a:moveTo>
                  <a:lnTo>
                    <a:pt x="2770823" y="0"/>
                  </a:lnTo>
                  <a:lnTo>
                    <a:pt x="2770823" y="0"/>
                  </a:lnTo>
                  <a:lnTo>
                    <a:pt x="554069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8814435" y="460152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78518" y="4811078"/>
              <a:ext cx="5540692" cy="9525"/>
            </a:xfrm>
            <a:custGeom>
              <a:avLst/>
              <a:gdLst/>
              <a:ahLst/>
              <a:cxnLst/>
              <a:rect l="l" t="t" r="r" b="b"/>
              <a:pathLst>
                <a:path w="5540692" h="9525">
                  <a:moveTo>
                    <a:pt x="5540692" y="0"/>
                  </a:moveTo>
                  <a:lnTo>
                    <a:pt x="5331142" y="0"/>
                  </a:lnTo>
                  <a:lnTo>
                    <a:pt x="209550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78518" y="475392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104775" y="0"/>
                  </a:moveTo>
                  <a:lnTo>
                    <a:pt x="0" y="57150"/>
                  </a:lnTo>
                  <a:lnTo>
                    <a:pt x="104775" y="1152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24500" y="2580322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532120" y="258699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24500" y="28289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524500" y="29241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96365" y="2506028"/>
              <a:ext cx="1982152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03985" y="2512695"/>
              <a:ext cx="1967865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96365" y="2903220"/>
              <a:ext cx="1982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96365" y="2998470"/>
              <a:ext cx="1982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232582" y="2242185"/>
              <a:ext cx="1143000" cy="1295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240202" y="2249805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232582" y="26393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232582" y="2734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396365" y="4337685"/>
              <a:ext cx="198215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403985" y="4344352"/>
              <a:ext cx="196786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396365" y="4586288"/>
              <a:ext cx="1982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96365" y="4856798"/>
              <a:ext cx="1982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919210" y="3986212"/>
              <a:ext cx="1770698" cy="149923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925878" y="3992880"/>
              <a:ext cx="175641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919210" y="4234815"/>
              <a:ext cx="17706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19210" y="4681538"/>
              <a:ext cx="17706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80920" y="2640330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95747" y="2995136"/>
              <a:ext cx="531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遍历()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31797" y="256317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12937" y="2714625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Aggregate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67612" y="3069431"/>
              <a:ext cx="1959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 : Iterator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47962" y="229933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88601" y="2450782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Iterator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03830" y="2805589"/>
              <a:ext cx="999363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first()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next()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hasNext()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currentItem()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84106" y="4397692"/>
              <a:ext cx="1407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ConcreteAggregate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7612" y="4657249"/>
              <a:ext cx="1209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items : Object[]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67612" y="4927759"/>
              <a:ext cx="1959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 : Iterator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59770" y="4046220"/>
              <a:ext cx="128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ConcreteIterator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90457" y="4305776"/>
              <a:ext cx="162788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agg : ConcreteAggregate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cursor : int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90457" y="4752499"/>
              <a:ext cx="999363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first()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next()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hasNext()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currentItem()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09435" y="444246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3725" y="44691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081588" y="459486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11877" y="46215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取数据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两条空心三角虚线朝上指向接口；下面一排两个具体类之间有两条线，方向相反，各有各的用处。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四个角色各管一摊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11125200" cy="2697480"/>
            <a:chOff x="533400" y="1524000"/>
            <a:chExt cx="11125200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671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831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68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0881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骨架里的类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42925" y="1982152"/>
              <a:ext cx="220599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1223" y="2221706"/>
              <a:ext cx="769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6626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抽象迭代器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6486" y="2108359"/>
              <a:ext cx="40038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声明访问和遍历元素的接口：first、next、hasNext、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currentItem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41383" y="2221706"/>
              <a:ext cx="1129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 接口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64795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2897029"/>
              <a:ext cx="1570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ConcreteIterator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66263" y="28970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具体迭代器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6486" y="2783681"/>
              <a:ext cx="4402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实现上面的接口，用游标记住当前位置，完成对某个聚合的遍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41383" y="2897029"/>
              <a:ext cx="1496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ConcreteIterator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333750"/>
              <a:ext cx="22059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9004"/>
              <a:ext cx="914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Aggregate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66263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抽象聚合类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6486" y="345900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存储和管理元素，并声明创建迭代器的方法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41383" y="3459004"/>
              <a:ext cx="1267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Aggregate 接口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68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77285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907631"/>
              <a:ext cx="1715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ConcreteAggregate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66263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具体聚合类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46486" y="39076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实现创建方法，返回与自己配套的那个具体迭代器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41383" y="3907631"/>
              <a:ext cx="1634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ConcreteAggregate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11125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75367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3390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42879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rd-2"/>
          <p:cNvGrpSpPr/>
          <p:nvPr/>
        </p:nvGrpSpPr>
        <p:grpSpPr>
          <a:xfrm>
            <a:off x="533400" y="4411980"/>
            <a:ext cx="11125200" cy="1950720"/>
            <a:chOff x="533400" y="4411980"/>
            <a:chExt cx="11125200" cy="1950720"/>
          </a:xfrm>
        </p:grpSpPr>
        <p:sp>
          <p:nvSpPr>
            <p:cNvPr id="40" name="Rectangle 40"/>
            <p:cNvSpPr/>
            <p:nvPr/>
          </p:nvSpPr>
          <p:spPr>
            <a:xfrm>
              <a:off x="533400" y="4411980"/>
              <a:ext cx="11125200" cy="1950720"/>
            </a:xfrm>
            <a:prstGeom prst="roundRect">
              <a:avLst>
                <a:gd name="adj" fmla="val 6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545330"/>
              <a:ext cx="47625" cy="16840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81050" y="462153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0557" y="465724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接口设计的取舍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92642" y="465677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抽象迭代器的方法，多了少了都难受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3430" y="5017770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方法太少，满足不了各种遍历要求；方法太多，每个具体迭代器都得挨个实现一遍。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3430" y="5353050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折中办法是把抽象迭代器写成抽象类，给每个方法一个空的默认实现，子类只覆盖自己需要的。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3430" y="5688330"/>
              <a:ext cx="976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后期再往接口里加方法，抽象迭代器和所有具体迭代器都得改，这就违反了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开闭原则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，所以一开始就要想全。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聚合类创建迭代器，用的是工厂方法模式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989386" cy="264033"/>
            <a:chOff x="526542" y="1545907"/>
            <a:chExt cx="79893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989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createIterator() 不是普通方法。把四个角色跟工厂方法模式的四个角色对一下，是严丝合缝的。</a:t>
              </a:r>
            </a:p>
          </p:txBody>
        </p:sp>
      </p:grpSp>
      <p:grpSp>
        <p:nvGrpSpPr>
          <p:cNvPr id="29" name="c1-table-1"/>
          <p:cNvGrpSpPr/>
          <p:nvPr/>
        </p:nvGrpSpPr>
        <p:grpSpPr>
          <a:xfrm>
            <a:off x="533400" y="1928812"/>
            <a:ext cx="5410200" cy="1906905"/>
            <a:chOff x="533400" y="1928812"/>
            <a:chExt cx="5410200" cy="1906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763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27538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迭代器模式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24531" y="2426970"/>
              <a:ext cx="1464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抽象聚合类 Aggregate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639378" y="2701290"/>
              <a:ext cx="329469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24531" y="2808923"/>
              <a:ext cx="2090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具体聚合类 ConcreteAggregate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189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24531" y="3189923"/>
              <a:ext cx="13508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抽象迭代器 Iterator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39378" y="3463290"/>
              <a:ext cx="329469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24531" y="3571875"/>
              <a:ext cx="19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具体迭代器 ConcreteIterator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2509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2"/>
          <p:cNvGrpSpPr/>
          <p:nvPr/>
        </p:nvGrpSpPr>
        <p:grpSpPr>
          <a:xfrm>
            <a:off x="533400" y="4000500"/>
            <a:ext cx="5410200" cy="702945"/>
            <a:chOff x="533400" y="4000500"/>
            <a:chExt cx="5410200" cy="702945"/>
          </a:xfrm>
        </p:grpSpPr>
        <p:sp>
          <p:nvSpPr>
            <p:cNvPr id="30" name="Rectangle 30"/>
            <p:cNvSpPr/>
            <p:nvPr/>
          </p:nvSpPr>
          <p:spPr>
            <a:xfrm>
              <a:off x="533400" y="400050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251960"/>
              <a:ext cx="200026" cy="200026"/>
              <a:chOff x="738188" y="425196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251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4318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43519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4144804"/>
              <a:ext cx="45158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工厂方法模式见第 11 讲，这里只用它的结论：由子类决定造出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哪一个产品。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4868228"/>
            <a:ext cx="5410200" cy="1403032"/>
            <a:chOff x="533400" y="4868228"/>
            <a:chExt cx="5410200" cy="1403032"/>
          </a:xfrm>
        </p:grpSpPr>
        <p:sp>
          <p:nvSpPr>
            <p:cNvPr id="37" name="Rectangle 37"/>
            <p:cNvSpPr/>
            <p:nvPr/>
          </p:nvSpPr>
          <p:spPr>
            <a:xfrm>
              <a:off x="533400" y="4868228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500157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2475" y="50492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7044" y="50820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退化形式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68006" y="50887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只有一个聚合类的时候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998" y="5404961"/>
              <a:ext cx="47028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整个系统只有一种聚合、一种迭代器时，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createIterator()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 new 出那一个具体迭代器，这就退化成了简单工厂（第 10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讲）。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248400" y="1928812"/>
            <a:ext cx="5410200" cy="1384935"/>
            <a:chOff x="6248400" y="1928812"/>
            <a:chExt cx="5410200" cy="1384935"/>
          </a:xfrm>
        </p:grpSpPr>
        <p:sp>
          <p:nvSpPr>
            <p:cNvPr id="44" name="Rectangle 44"/>
            <p:cNvSpPr/>
            <p:nvPr/>
          </p:nvSpPr>
          <p:spPr>
            <a:xfrm>
              <a:off x="6248400" y="1928812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工厂方法就是这一句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797" y="2340769"/>
              <a:ext cx="3637915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ConcreteAggregate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Aggregate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createIterator()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ConcreteIterator(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bullets-2"/>
          <p:cNvGrpSpPr/>
          <p:nvPr/>
        </p:nvGrpSpPr>
        <p:grpSpPr>
          <a:xfrm>
            <a:off x="6241923" y="3499961"/>
            <a:ext cx="5419535" cy="843724"/>
            <a:chOff x="6241923" y="3499961"/>
            <a:chExt cx="5419535" cy="843724"/>
          </a:xfrm>
        </p:grpSpPr>
        <p:sp>
          <p:nvSpPr>
            <p:cNvPr id="48" name="TextBox 48"/>
            <p:cNvSpPr txBox="1"/>
            <p:nvPr/>
          </p:nvSpPr>
          <p:spPr>
            <a:xfrm>
              <a:off x="6241923" y="34999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这样安排换来两件事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248400" y="3828098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79096" y="3800951"/>
              <a:ext cx="468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客户端只写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agg.createIterator()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，不必知道迭代器叫什么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248400" y="4120515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3340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79096" y="409432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新增一种聚合类时，连同它的迭代器一起加进来，原有代码一行不改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248400" y="4457700"/>
            <a:ext cx="5410200" cy="1812608"/>
            <a:chOff x="6248400" y="4457700"/>
            <a:chExt cx="5410200" cy="1812608"/>
          </a:xfrm>
        </p:grpSpPr>
        <p:sp>
          <p:nvSpPr>
            <p:cNvPr id="54" name="Rectangle 54"/>
            <p:cNvSpPr/>
            <p:nvPr/>
          </p:nvSpPr>
          <p:spPr>
            <a:xfrm>
              <a:off x="6248400" y="4457700"/>
              <a:ext cx="5410200" cy="1812608"/>
            </a:xfrm>
            <a:prstGeom prst="roundRect">
              <a:avLst>
                <a:gd name="adj" fmla="val 630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264470"/>
              <a:ext cx="200023" cy="200023"/>
              <a:chOff x="6453188" y="526447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2644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86538" y="53311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6273" y="5158264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记法：聚合类是工厂，迭代器是产品，出厂的方法叫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createIterator()。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两个具体类之间是双重关系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23986" cy="308039"/>
            <a:chOff x="525399" y="1550194"/>
            <a:chExt cx="85239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239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具体聚合要造出具体迭代器，具体迭代器又要回头读具体聚合里的数据，两条线方向相反。</a:t>
              </a:r>
            </a:p>
          </p:txBody>
        </p:sp>
      </p:grpSp>
      <p:grpSp>
        <p:nvGrpSpPr>
          <p:cNvPr id="30" name="c1-uml-1"/>
          <p:cNvGrpSpPr/>
          <p:nvPr/>
        </p:nvGrpSpPr>
        <p:grpSpPr>
          <a:xfrm>
            <a:off x="948690" y="2160270"/>
            <a:ext cx="4725333" cy="1062038"/>
            <a:chOff x="948690" y="2160270"/>
            <a:chExt cx="4725333" cy="1062038"/>
          </a:xfrm>
        </p:grpSpPr>
        <p:sp>
          <p:nvSpPr>
            <p:cNvPr id="9" name="Freeform 9"/>
            <p:cNvSpPr/>
            <p:nvPr/>
          </p:nvSpPr>
          <p:spPr>
            <a:xfrm>
              <a:off x="2930842" y="2825115"/>
              <a:ext cx="937260" cy="9525"/>
            </a:xfrm>
            <a:custGeom>
              <a:avLst/>
              <a:gdLst/>
              <a:ahLst/>
              <a:cxnLst/>
              <a:rect l="l" t="t" r="r" b="b"/>
              <a:pathLst>
                <a:path w="937260" h="9525">
                  <a:moveTo>
                    <a:pt x="0" y="0"/>
                  </a:moveTo>
                  <a:lnTo>
                    <a:pt x="9372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763328" y="276701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2160270"/>
              <a:ext cx="2812732" cy="354330"/>
            </a:xfrm>
            <a:custGeom>
              <a:avLst/>
              <a:gdLst/>
              <a:ahLst/>
              <a:cxnLst/>
              <a:rect l="l" t="t" r="r" b="b"/>
              <a:pathLst>
                <a:path w="2812732" h="354330">
                  <a:moveTo>
                    <a:pt x="2812732" y="266700"/>
                  </a:moveTo>
                  <a:lnTo>
                    <a:pt x="2812732" y="0"/>
                  </a:lnTo>
                  <a:lnTo>
                    <a:pt x="0" y="0"/>
                  </a:lnTo>
                  <a:lnTo>
                    <a:pt x="0" y="35433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2140" y="240982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48690" y="2514600"/>
              <a:ext cx="1982152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6310" y="2522220"/>
              <a:ext cx="196786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48690" y="2763202"/>
              <a:ext cx="1982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48690" y="2858452"/>
              <a:ext cx="1982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68102" y="2426970"/>
              <a:ext cx="177069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75722" y="2434590"/>
              <a:ext cx="175641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68102" y="2675572"/>
              <a:ext cx="17706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68102" y="2947035"/>
              <a:ext cx="17706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36431" y="2574608"/>
              <a:ext cx="1407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ConcreteAggregate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9937" y="2929414"/>
              <a:ext cx="1959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 : Iterator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08662" y="2486978"/>
              <a:ext cx="128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ConcreteIterator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39350" y="2746534"/>
              <a:ext cx="173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agg : ConcreteAggregate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39350" y="3017996"/>
              <a:ext cx="10641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currentItem()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18498" y="26088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52788" y="26355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32760" y="219360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59049" y="2220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访问数据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872865"/>
            <a:ext cx="5626418" cy="1956435"/>
            <a:chOff x="533400" y="3872865"/>
            <a:chExt cx="5626418" cy="1956435"/>
          </a:xfrm>
        </p:grpSpPr>
        <p:sp>
          <p:nvSpPr>
            <p:cNvPr id="31" name="Rectangle 31"/>
            <p:cNvSpPr/>
            <p:nvPr/>
          </p:nvSpPr>
          <p:spPr>
            <a:xfrm>
              <a:off x="533400" y="3872865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006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1050" y="4082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4507" y="4118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两条线的分工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50720" y="41176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一条是创建，一条是访问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430" y="4478655"/>
              <a:ext cx="4834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依赖（虚线箭头）：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createIterator()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 new 出具体迭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代器，用完就算。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430" y="509968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关联（实线箭头）：具体迭代器把聚合对象存成字段，整个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遍历期间都要用。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464618" y="1967865"/>
            <a:ext cx="5193982" cy="2618422"/>
            <a:chOff x="6464618" y="1967865"/>
            <a:chExt cx="5193982" cy="2618422"/>
          </a:xfrm>
        </p:grpSpPr>
        <p:sp>
          <p:nvSpPr>
            <p:cNvPr id="39" name="Rectangle 39"/>
            <p:cNvSpPr/>
            <p:nvPr/>
          </p:nvSpPr>
          <p:spPr>
            <a:xfrm>
              <a:off x="6464618" y="1967865"/>
              <a:ext cx="5193982" cy="2618422"/>
            </a:xfrm>
            <a:prstGeom prst="roundRect">
              <a:avLst>
                <a:gd name="adj" fmla="val 363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3015" y="211978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另一种写法：把迭代器做成内部类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205" y="2379345"/>
              <a:ext cx="3844290" cy="2119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ConcreteAggregate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Aggregate {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items;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createIterator() {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InnerIterator();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InnerIterator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{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cursor = 0;      </a:t>
              </a:r>
              <a:r>
                <a:rPr lang="zh-CN" sz="9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直接用外层的 items */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currentItem() {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items[cursor];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first、next、hasNext 同理 */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464618" y="4775835"/>
            <a:ext cx="5193982" cy="1052512"/>
            <a:chOff x="6464618" y="4775835"/>
            <a:chExt cx="5193982" cy="1052512"/>
          </a:xfrm>
        </p:grpSpPr>
        <p:sp>
          <p:nvSpPr>
            <p:cNvPr id="43" name="Rectangle 43"/>
            <p:cNvSpPr/>
            <p:nvPr/>
          </p:nvSpPr>
          <p:spPr>
            <a:xfrm>
              <a:off x="6464618" y="4775835"/>
              <a:ext cx="5193982" cy="1052512"/>
            </a:xfrm>
            <a:prstGeom prst="roundRect">
              <a:avLst>
                <a:gd name="adj" fmla="val 108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5202555"/>
              <a:ext cx="200026" cy="200025"/>
              <a:chOff x="6669405" y="520255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69405" y="52025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09144" y="52470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43859" y="53581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348" y="505968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内部类能直接访问外层的私有字段，连那条关联都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省了，代价是迭代器不能单独复用。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四个类写全，再跟着游标把循环走一遍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客户端与运行结果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先写两个接口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80860" cy="293370"/>
            <a:chOff x="525780" y="1548765"/>
            <a:chExt cx="6880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抽象迭代器声明遍历动作，抽象聚合只声明一个创建方法。两个接口都很短。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059805" cy="2530792"/>
            <a:chOff x="533400" y="1954530"/>
            <a:chExt cx="6059805" cy="253079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抽象迭代器与抽象聚合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434263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{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抽象迭代器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first();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游标指向第一个元素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next();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游标后移一位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hasNext();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还有没有下一个元素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Object currentItem();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取游标指向的元素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Aggregate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抽象聚合类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Iterator createIterator();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工厂方法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671060"/>
            <a:ext cx="6059805" cy="1246822"/>
            <a:chOff x="533400" y="4671060"/>
            <a:chExt cx="6059805" cy="1246822"/>
          </a:xfrm>
        </p:grpSpPr>
        <p:sp>
          <p:nvSpPr>
            <p:cNvPr id="13" name="Rectangle 13"/>
            <p:cNvSpPr/>
            <p:nvPr/>
          </p:nvSpPr>
          <p:spPr>
            <a:xfrm>
              <a:off x="533400" y="4671060"/>
              <a:ext cx="6059805" cy="1246822"/>
            </a:xfrm>
            <a:prstGeom prst="roundRect">
              <a:avLst>
                <a:gd name="adj" fmla="val 9167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193985"/>
              <a:ext cx="200023" cy="200023"/>
              <a:chOff x="738188" y="5193985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1939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52606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4931569"/>
              <a:ext cx="507301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这四个方法就是张欣佳老师课件里的典型接口，陈伟老师课件的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最小接口是 first、next、isDone、currentItem，只差判断结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束的命名。</a:t>
              </a:r>
            </a:p>
          </p:txBody>
        </p:sp>
      </p:grpSp>
      <p:grpSp>
        <p:nvGrpSpPr>
          <p:cNvPr id="28" name="c2-bullets-1"/>
          <p:cNvGrpSpPr/>
          <p:nvPr/>
        </p:nvGrpSpPr>
        <p:grpSpPr>
          <a:xfrm>
            <a:off x="6890766" y="1977866"/>
            <a:ext cx="3894440" cy="1605535"/>
            <a:chOff x="6890766" y="1977866"/>
            <a:chExt cx="3894440" cy="1605535"/>
          </a:xfrm>
        </p:grpSpPr>
        <p:sp>
          <p:nvSpPr>
            <p:cNvPr id="19" name="TextBox 19"/>
            <p:cNvSpPr txBox="1"/>
            <p:nvPr/>
          </p:nvSpPr>
          <p:spPr>
            <a:xfrm>
              <a:off x="6890766" y="19778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三个容易写错的地方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905625" y="237648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62216" y="2316956"/>
              <a:ext cx="37229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接口里的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可以省，写不写都是公开的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905625" y="270605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62216" y="2645569"/>
              <a:ext cx="3649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currentItem()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，取值要强转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905625" y="303561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62216" y="2975134"/>
              <a:ext cx="31061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想免掉强转就写成泛型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Iterator&lt;T&gt;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05625" y="33642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62216" y="3304699"/>
              <a:ext cx="3128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hasNext()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只做判断，不许移动游标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3712845"/>
            <a:ext cx="4760595" cy="2205038"/>
            <a:chOff x="6898005" y="3712845"/>
            <a:chExt cx="4760595" cy="2205038"/>
          </a:xfrm>
        </p:grpSpPr>
        <p:sp>
          <p:nvSpPr>
            <p:cNvPr id="29" name="Rectangle 29"/>
            <p:cNvSpPr/>
            <p:nvPr/>
          </p:nvSpPr>
          <p:spPr>
            <a:xfrm>
              <a:off x="6898005" y="3712845"/>
              <a:ext cx="4760595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7530" y="3846195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39940" y="39166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21296" y="39523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命名冲突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32701" y="4289584"/>
              <a:ext cx="38440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 Iterator 和 java.util.Iterator 重名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32701" y="4627721"/>
              <a:ext cx="40270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自定义接口与 JDK 的同名类在一个包里时，同包类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会遮蔽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import java.util.*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带进来的那个。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2701" y="5219224"/>
              <a:ext cx="409917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真要在同一个文件里同时用两个，就写全限定名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java.util.Iterator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，或者干脆改名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MyIterator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再写两个具体类：一个存数据，一个走位置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550092"/>
            <a:chOff x="533400" y="1524000"/>
            <a:chExt cx="6276022" cy="4550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550092"/>
            </a:xfrm>
            <a:prstGeom prst="roundRect">
              <a:avLst>
                <a:gd name="adj" fmla="val 20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具体聚合与具体迭代器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527804" cy="4067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ConcreteAggregate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Aggregate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items;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只负责存数据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ConcreteAggregate(Object[] it)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.items = it;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items.length;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get(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items[i];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createIterator()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工厂方法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ConcreteIterator(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ConcreteIterator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ConcreteAggregate agg;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关联：数据在它那儿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cursor = 0;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游标：走到第几个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ConcreteIterator(ConcreteAggregate a)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.agg = a;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first() { cursor = 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(cursor &lt; agg.size()) cursor++;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hasNext()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cursor &lt; agg.size();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currentItem()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agg.get(cursor);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steps-1"/>
          <p:cNvGrpSpPr/>
          <p:nvPr/>
        </p:nvGrpSpPr>
        <p:grpSpPr>
          <a:xfrm>
            <a:off x="7114222" y="1533525"/>
            <a:ext cx="3591078" cy="1685449"/>
            <a:chOff x="7114222" y="1533525"/>
            <a:chExt cx="3591078" cy="1685449"/>
          </a:xfrm>
        </p:grpSpPr>
        <p:sp>
          <p:nvSpPr>
            <p:cNvPr id="11" name="Rectangle 11"/>
            <p:cNvSpPr/>
            <p:nvPr/>
          </p:nvSpPr>
          <p:spPr>
            <a:xfrm>
              <a:off x="7247572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14222" y="21164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0784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14222" y="26993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7846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6464" y="156495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存储与遍历彻底分家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7608" y="183308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聚合类里没有一个跟游标有关的字段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6464" y="21478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迭代器拿着聚合的引用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7608" y="241601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构造时传进来，之后靠 size() 和 get() 读数据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6464" y="2730818"/>
              <a:ext cx="2030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越界保护写在 next() 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7608" y="2998946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游标最多停在 size() 这个位置，不会再往前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7114222" y="3382328"/>
            <a:ext cx="4544378" cy="729615"/>
            <a:chOff x="7114222" y="3382328"/>
            <a:chExt cx="4544378" cy="729615"/>
          </a:xfrm>
        </p:grpSpPr>
        <p:sp>
          <p:nvSpPr>
            <p:cNvPr id="25" name="Rectangle 25"/>
            <p:cNvSpPr/>
            <p:nvPr/>
          </p:nvSpPr>
          <p:spPr>
            <a:xfrm>
              <a:off x="7114222" y="338232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06952" y="3643431"/>
              <a:ext cx="224134" cy="192560"/>
              <a:chOff x="7306952" y="3643431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419023" y="37137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06952" y="36434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19023" y="37915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621714" y="3529012"/>
              <a:ext cx="35112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currentItem()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不做越界检查，所以必须先问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hasNext()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再取元素。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客户端只有四行，游标的走法一目了然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342322"/>
            <a:chOff x="533400" y="1524000"/>
            <a:chExt cx="5626418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23595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Object[] data = {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"李四"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"王五"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Aggregate agg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ConcreteAggregate(data);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Iterator it = agg.createIterator();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it.first();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(it.hasNext())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System.out.print(it.currentItem()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it.next();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输出：张三  李四  王五 */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052060"/>
            <a:ext cx="5626418" cy="944880"/>
            <a:chOff x="533400" y="5052060"/>
            <a:chExt cx="5626418" cy="944880"/>
          </a:xfrm>
        </p:grpSpPr>
        <p:sp>
          <p:nvSpPr>
            <p:cNvPr id="11" name="Rectangle 11"/>
            <p:cNvSpPr/>
            <p:nvPr/>
          </p:nvSpPr>
          <p:spPr>
            <a:xfrm>
              <a:off x="533400" y="5052060"/>
              <a:ext cx="5626418" cy="944880"/>
            </a:xfrm>
            <a:prstGeom prst="roundRect">
              <a:avLst>
                <a:gd name="adj" fmla="val 1209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23535"/>
              <a:ext cx="200026" cy="200025"/>
              <a:chOff x="738188" y="542353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235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4679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5791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293519"/>
              <a:ext cx="45770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客户端只认识 Aggregate 和 Iterator 两个接口，换一个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具体聚合，这段循环一个字都不用改。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58902" y="1524000"/>
            <a:ext cx="5199698" cy="2446497"/>
            <a:chOff x="6458902" y="1524000"/>
            <a:chExt cx="5199698" cy="2446497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81610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执行到哪一步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2249" y="1655445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cursor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8592" y="1655445"/>
              <a:ext cx="8586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hasNext()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49343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本轮输出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9964" y="208502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it.first()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445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62682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4754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9964" y="2515552"/>
              <a:ext cx="1140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 next()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445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62682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04754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李四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9964" y="2946082"/>
              <a:ext cx="1140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 next()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445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62682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04754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王五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3239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32442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9964" y="3375660"/>
              <a:ext cx="1140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次 next()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8445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66860" y="3253740"/>
              <a:ext cx="132302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62682" y="3375660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04754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循环结束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1524000"/>
              <a:ext cx="5193982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7434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5257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49464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58902" y="3750469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三个元素，游标从 0 走到 3 才停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4111942"/>
            <a:ext cx="5193982" cy="1884998"/>
            <a:chOff x="6464618" y="4111942"/>
            <a:chExt cx="5193982" cy="1884998"/>
          </a:xfrm>
        </p:grpSpPr>
        <p:sp>
          <p:nvSpPr>
            <p:cNvPr id="51" name="Rectangle 51"/>
            <p:cNvSpPr/>
            <p:nvPr/>
          </p:nvSpPr>
          <p:spPr>
            <a:xfrm>
              <a:off x="6464618" y="4111942"/>
              <a:ext cx="5193982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424529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06552" y="43157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8861" y="4351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语义提醒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92758" y="4355306"/>
              <a:ext cx="2326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 next() 不返回元素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99314" y="4706779"/>
              <a:ext cx="34589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自定义接口里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next()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只挪游标，取值交给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currentItem()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，所以循环里两句都要写。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99314" y="5298281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JDK 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java.util.Iterator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正好相反：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next()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既返回元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素又挪游标，循环里只写一句。两套语义别串了。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课件中的两个实例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张欣佳老师的电视机遥控器，陈伟老师的一排房间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电视机遥控器的类图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内部类版的具体迭代器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客户端输出推演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一排房间的外部迭代器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实例一：电视机遥控器的类图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12883" cy="308039"/>
            <a:chOff x="525399" y="1550194"/>
            <a:chExt cx="1001288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12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两个品牌各一套：电视机存频道，紧挨着它左边的那个迭代器走频道。上面两个接口是两条层次结构的顶。</a:t>
              </a:r>
            </a:p>
          </p:txBody>
        </p:sp>
      </p:grpSp>
      <p:grpSp>
        <p:nvGrpSpPr>
          <p:cNvPr id="67" name="c1-uml-1"/>
          <p:cNvGrpSpPr/>
          <p:nvPr/>
        </p:nvGrpSpPr>
        <p:grpSpPr>
          <a:xfrm>
            <a:off x="985838" y="2242185"/>
            <a:ext cx="10408206" cy="3419475"/>
            <a:chOff x="985838" y="2242185"/>
            <a:chExt cx="10408206" cy="3419475"/>
          </a:xfrm>
        </p:grpSpPr>
        <p:sp>
          <p:nvSpPr>
            <p:cNvPr id="9" name="Freeform 9"/>
            <p:cNvSpPr/>
            <p:nvPr/>
          </p:nvSpPr>
          <p:spPr>
            <a:xfrm>
              <a:off x="1828800" y="4015740"/>
              <a:ext cx="95250" cy="850582"/>
            </a:xfrm>
            <a:custGeom>
              <a:avLst/>
              <a:gdLst/>
              <a:ahLst/>
              <a:cxnLst/>
              <a:rect l="l" t="t" r="r" b="b"/>
              <a:pathLst>
                <a:path w="95250" h="850582">
                  <a:moveTo>
                    <a:pt x="95250" y="850582"/>
                  </a:moveTo>
                  <a:lnTo>
                    <a:pt x="95250" y="361950"/>
                  </a:lnTo>
                  <a:lnTo>
                    <a:pt x="0" y="3619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755458" y="38900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019300" y="4015740"/>
              <a:ext cx="5467350" cy="850582"/>
            </a:xfrm>
            <a:custGeom>
              <a:avLst/>
              <a:gdLst/>
              <a:ahLst/>
              <a:cxnLst/>
              <a:rect l="l" t="t" r="r" b="b"/>
              <a:pathLst>
                <a:path w="5467350" h="850582">
                  <a:moveTo>
                    <a:pt x="5467350" y="850582"/>
                  </a:moveTo>
                  <a:lnTo>
                    <a:pt x="5467350" y="361950"/>
                  </a:lnTo>
                  <a:lnTo>
                    <a:pt x="0" y="3619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945958" y="38900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05350" y="3575685"/>
              <a:ext cx="2686050" cy="1290638"/>
            </a:xfrm>
            <a:custGeom>
              <a:avLst/>
              <a:gdLst/>
              <a:ahLst/>
              <a:cxnLst/>
              <a:rect l="l" t="t" r="r" b="b"/>
              <a:pathLst>
                <a:path w="2686050" h="1290638">
                  <a:moveTo>
                    <a:pt x="0" y="1290638"/>
                  </a:moveTo>
                  <a:lnTo>
                    <a:pt x="0" y="582930"/>
                  </a:lnTo>
                  <a:lnTo>
                    <a:pt x="2686050" y="582930"/>
                  </a:lnTo>
                  <a:lnTo>
                    <a:pt x="26860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7318058" y="34499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581900" y="3575685"/>
              <a:ext cx="2686050" cy="1290638"/>
            </a:xfrm>
            <a:custGeom>
              <a:avLst/>
              <a:gdLst/>
              <a:ahLst/>
              <a:cxnLst/>
              <a:rect l="l" t="t" r="r" b="b"/>
              <a:pathLst>
                <a:path w="2686050" h="1290638">
                  <a:moveTo>
                    <a:pt x="2686050" y="1290638"/>
                  </a:moveTo>
                  <a:lnTo>
                    <a:pt x="2686050" y="582930"/>
                  </a:lnTo>
                  <a:lnTo>
                    <a:pt x="0" y="58293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7508558" y="34499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62262" y="5263515"/>
              <a:ext cx="783908" cy="9525"/>
            </a:xfrm>
            <a:custGeom>
              <a:avLst/>
              <a:gdLst/>
              <a:ahLst/>
              <a:cxnLst/>
              <a:rect l="l" t="t" r="r" b="b"/>
              <a:pathLst>
                <a:path w="783908" h="9525">
                  <a:moveTo>
                    <a:pt x="78390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2262" y="520636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424862" y="5263515"/>
              <a:ext cx="783907" cy="9525"/>
            </a:xfrm>
            <a:custGeom>
              <a:avLst/>
              <a:gdLst/>
              <a:ahLst/>
              <a:cxnLst/>
              <a:rect l="l" t="t" r="r" b="b"/>
              <a:pathLst>
                <a:path w="783907" h="9525">
                  <a:moveTo>
                    <a:pt x="783907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8424862" y="520636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88695" y="2242185"/>
              <a:ext cx="1869758" cy="16478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96315" y="2249805"/>
              <a:ext cx="1855470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88695" y="2639378"/>
              <a:ext cx="18697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88695" y="2734628"/>
              <a:ext cx="18697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27470" y="2682240"/>
              <a:ext cx="2119312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4138" y="2688908"/>
              <a:ext cx="2105025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27470" y="3079432"/>
              <a:ext cx="21193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7470" y="3174682"/>
              <a:ext cx="21193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85838" y="4866322"/>
              <a:ext cx="1876425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93458" y="4872990"/>
              <a:ext cx="1862138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85838" y="5114925"/>
              <a:ext cx="18764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85838" y="5385435"/>
              <a:ext cx="18764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548438" y="4866322"/>
              <a:ext cx="1876425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56058" y="4872990"/>
              <a:ext cx="1862138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48438" y="5114925"/>
              <a:ext cx="18764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48438" y="5385435"/>
              <a:ext cx="18764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46170" y="4866322"/>
              <a:ext cx="211931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652838" y="4872990"/>
              <a:ext cx="210502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46170" y="5114925"/>
              <a:ext cx="21193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646170" y="5385435"/>
              <a:ext cx="21193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208770" y="4866322"/>
              <a:ext cx="211931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15438" y="4872990"/>
              <a:ext cx="210502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208770" y="5114925"/>
              <a:ext cx="21193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08770" y="5385435"/>
              <a:ext cx="21193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67929" y="229933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22501" y="2450782"/>
              <a:ext cx="803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TVIterator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9942" y="2805589"/>
              <a:ext cx="1727454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setChannel(int) : void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next() : void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previous() : void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isFirst() : boolean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isLast() : boolean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currentChannel() : Object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0529" y="273939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26827" y="2890838"/>
              <a:ext cx="719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Television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98717" y="3245644"/>
              <a:ext cx="2114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 : TVIterator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64791" y="4926330"/>
              <a:ext cx="1318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SkyworthIterator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7084" y="5185886"/>
              <a:ext cx="1526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currentIndex : int =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7084" y="5456396"/>
              <a:ext cx="1850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实现 TVIterator 的 6 个方法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2043" y="4926330"/>
              <a:ext cx="8892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TCLIterator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9684" y="5185886"/>
              <a:ext cx="1526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currentIndex : int = 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19684" y="5456396"/>
              <a:ext cx="1850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实现 TVIterator 的 6 个方法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01795" y="492633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SkyworthTelevision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717417" y="5185886"/>
              <a:ext cx="10387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 : Object[]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17417" y="5456396"/>
              <a:ext cx="2114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 : TVIterator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79405" y="4926330"/>
              <a:ext cx="977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TCLTelevision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80017" y="5185886"/>
              <a:ext cx="10387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 : Object[]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80017" y="5456396"/>
              <a:ext cx="2114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 : TVIterator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072765" y="50472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107055" y="5073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635365" y="50472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669655" y="5073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实例一的代码：接口与一台电视机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4726305"/>
            <a:chOff x="533400" y="1524000"/>
            <a:chExt cx="5842635" cy="4726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726305"/>
            </a:xfrm>
            <a:prstGeom prst="roundRect">
              <a:avLst>
                <a:gd name="adj" fmla="val 20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具体聚合类，迭代器写成内部类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664710" cy="4243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SkyworthTelevision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obj =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"CCTV-1"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"CCTV-2"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"CCTV-5"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"吉林卫视"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TVIterator createIterator()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SkyworthIterator();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SkyworthIterator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TVIterator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currentIndex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setChannel(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 currentIndex = i;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(currentIndex &lt; obj.length - 1) currentIndex++;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previous()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(currentIndex &gt; 0) currentIndex--;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isFirst()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currentIndex == 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isLast()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currentIndex == obj.length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currentChannel()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obj[currentIndex];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680835" y="1524000"/>
            <a:ext cx="4977765" cy="2616518"/>
            <a:chOff x="6680835" y="1524000"/>
            <a:chExt cx="4977765" cy="2616518"/>
          </a:xfrm>
        </p:grpSpPr>
        <p:sp>
          <p:nvSpPr>
            <p:cNvPr id="11" name="Rectangle 11"/>
            <p:cNvSpPr/>
            <p:nvPr/>
          </p:nvSpPr>
          <p:spPr>
            <a:xfrm>
              <a:off x="6680835" y="1524000"/>
              <a:ext cx="497776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9232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09232" y="1935956"/>
              <a:ext cx="3301873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TVIterator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抽象迭代器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setChannel(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previous();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isFirst();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isLast();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Object currentChannel();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抽象聚合类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TVIterator createIterator();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6680835" y="4310062"/>
            <a:ext cx="4977765" cy="1940242"/>
            <a:chOff x="6680835" y="4310062"/>
            <a:chExt cx="4977765" cy="1940242"/>
          </a:xfrm>
        </p:grpSpPr>
        <p:sp>
          <p:nvSpPr>
            <p:cNvPr id="15" name="Rectangle 15"/>
            <p:cNvSpPr/>
            <p:nvPr/>
          </p:nvSpPr>
          <p:spPr>
            <a:xfrm>
              <a:off x="6680835" y="4310062"/>
              <a:ext cx="4977765" cy="1940242"/>
            </a:xfrm>
            <a:prstGeom prst="roundRect">
              <a:avLst>
                <a:gd name="adj" fmla="val 68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90360" y="4443412"/>
              <a:ext cx="47625" cy="16735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05625" y="449675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1147" y="45296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对照类图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0774" y="4531995"/>
              <a:ext cx="2042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TCL 那一套是一样的写法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98767" y="4857750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TCLTelevision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只是换一组频道数据，迭代器内部类照抄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一遍，方法体完全相同。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98767" y="541496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这也正是这个模式的缺点：聚合类和迭代器类成对增加。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实例一的客户端：先取再判断，才不会漏频道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791778"/>
            <a:chOff x="533400" y="1524000"/>
            <a:chExt cx="5842635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235323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Television tv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SkyworthTelevision();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TVIterator it = tv.createIterator();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it.setChannel(0);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游标放到第一个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System.out.print(it.currentChannel());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(!it.isLast()) {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先取，再判断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it.next();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it.currentChannel());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输出：CCTV-1  CCTV-2  CCTV-5  吉林卫视 */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486275"/>
            <a:ext cx="5842635" cy="1737360"/>
            <a:chOff x="533400" y="4486275"/>
            <a:chExt cx="5842635" cy="1737360"/>
          </a:xfrm>
        </p:grpSpPr>
        <p:sp>
          <p:nvSpPr>
            <p:cNvPr id="11" name="Rectangle 11"/>
            <p:cNvSpPr/>
            <p:nvPr/>
          </p:nvSpPr>
          <p:spPr>
            <a:xfrm>
              <a:off x="533400" y="4486275"/>
              <a:ext cx="584263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638199"/>
              <a:ext cx="13064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往回走用 previous()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4898231"/>
              <a:ext cx="3812159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it.setChannel(3);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游标放到最后一个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System.out.print(it.currentChannel());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(!it.isFirst())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it.previous();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it.currentChannel());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输出：吉林卫视  CCTV-5  CCTV-2  CCTV-1 */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680835" y="1524000"/>
            <a:ext cx="4977765" cy="2000250"/>
            <a:chOff x="6680835" y="1524000"/>
            <a:chExt cx="4977765" cy="2000250"/>
          </a:xfrm>
        </p:grpSpPr>
        <p:sp>
          <p:nvSpPr>
            <p:cNvPr id="15" name="Rectangle 15"/>
            <p:cNvSpPr/>
            <p:nvPr/>
          </p:nvSpPr>
          <p:spPr>
            <a:xfrm>
              <a:off x="6680835" y="1524000"/>
              <a:ext cx="4977765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4632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54162" y="1645444"/>
              <a:ext cx="102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currentIndex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43934" y="1645444"/>
              <a:ext cx="674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isLast()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0079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本轮打印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77990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进入循环前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2195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02140" y="204549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54665" y="204549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CCTV-1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80835" y="23193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0835" y="23241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7990" y="24455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2195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02140" y="244554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54665" y="244554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CCTV-2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27193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7990" y="28455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195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02140" y="284559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54665" y="284559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CCTV-5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31194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0835" y="31242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7990" y="32456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2195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14510" y="3133725"/>
              <a:ext cx="11334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02140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5466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吉林卫视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92003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40022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55274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680835" y="3693795"/>
            <a:ext cx="4977765" cy="2574608"/>
            <a:chOff x="6680835" y="3693795"/>
            <a:chExt cx="4977765" cy="2574608"/>
          </a:xfrm>
        </p:grpSpPr>
        <p:sp>
          <p:nvSpPr>
            <p:cNvPr id="47" name="Rectangle 47"/>
            <p:cNvSpPr/>
            <p:nvPr/>
          </p:nvSpPr>
          <p:spPr>
            <a:xfrm>
              <a:off x="6680835" y="3693795"/>
              <a:ext cx="4977765" cy="2574608"/>
            </a:xfrm>
            <a:prstGeom prst="roundRect">
              <a:avLst>
                <a:gd name="adj" fmla="val 51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90360" y="3827145"/>
              <a:ext cx="47625" cy="23079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05625" y="38804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94246" y="39133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95997" y="3915727"/>
              <a:ext cx="3319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isLast() 当成“走完了”用就会漏一个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8767" y="4241482"/>
              <a:ext cx="42313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zh-CN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while (!isLast()) { 打印; next(); 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时，游标停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在最后一个元素上循环就退出了，输出只有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CCTV-1</a:t>
              </a:r>
              <a:br/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CCTV-2 CCTV-5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8767" y="5056823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isLast()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的字面语义是“当前就是最后一个”，不是“已经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越过末尾”。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8767" y="5614035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想用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while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开头判断，就把方法换成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isDone()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（游标越过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末尾返回 true），这正是陈伟老师课件里的接口。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实例二：一排房间，外部迭代器挨个处理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195056" cy="264033"/>
            <a:chOff x="526542" y="1545907"/>
            <a:chExt cx="1019505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195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陈伟老师的例子原本是 C++ 写的。这里按系列约定改写成 Java，方法名沿用原课件的 first、next、isDone、currentItem。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3319462"/>
            <a:chOff x="533400" y="1928812"/>
            <a:chExt cx="5410200" cy="331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609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聚合类 Rooms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245866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Rooms {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一排房间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Room[] rooms;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Rooms(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rooms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Room[num];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0; n &lt; num; n++)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rooms[n]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Room(n + 1);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rooms.length;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 get(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rooms[i];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RoomIterator createIterator()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RoomIterator(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417820"/>
            <a:ext cx="5410200" cy="729615"/>
            <a:chOff x="533400" y="5417820"/>
            <a:chExt cx="5410200" cy="729615"/>
          </a:xfrm>
        </p:grpSpPr>
        <p:sp>
          <p:nvSpPr>
            <p:cNvPr id="13" name="Rectangle 13"/>
            <p:cNvSpPr/>
            <p:nvPr/>
          </p:nvSpPr>
          <p:spPr>
            <a:xfrm>
              <a:off x="533400" y="541782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678923"/>
              <a:ext cx="224134" cy="192560"/>
              <a:chOff x="726129" y="5678923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7492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6789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827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5564505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更正：原课件这段 C++ 有三处笔误，成员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mpos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与初始化列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表的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mPos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对不上、指针用点号取长度、声明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却用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28812"/>
            <a:ext cx="5410200" cy="2967990"/>
            <a:chOff x="6248400" y="1928812"/>
            <a:chExt cx="5410200" cy="2967990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80736"/>
              <a:ext cx="162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外部迭代器 RoomIterator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797" y="2340769"/>
              <a:ext cx="3843274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RoomIterator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Rooms rooms;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pos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maxPos;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RoomIterator(Rooms rooms)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.rooms = rooms;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.maxPos = rooms.count();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first() { pos = 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 { pos++;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isDone()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pos &gt;= maxPos;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 currentItem()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rooms.get(pos);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bullets-2"/>
          <p:cNvGrpSpPr/>
          <p:nvPr/>
        </p:nvGrpSpPr>
        <p:grpSpPr>
          <a:xfrm>
            <a:off x="6256972" y="5088255"/>
            <a:ext cx="5393303" cy="572643"/>
            <a:chOff x="6256972" y="5088255"/>
            <a:chExt cx="5393303" cy="572643"/>
          </a:xfrm>
        </p:grpSpPr>
        <p:sp>
          <p:nvSpPr>
            <p:cNvPr id="24" name="Ellipse 24"/>
            <p:cNvSpPr/>
            <p:nvPr/>
          </p:nvSpPr>
          <p:spPr>
            <a:xfrm>
              <a:off x="6256972" y="514445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992" y="5088255"/>
              <a:ext cx="5237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Room[num]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只分配 num 个空引用，不逐个 new 就会空指针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56972" y="545306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992" y="5396865"/>
              <a:ext cx="3799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maxPos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构造时记下，遍历期间不该再增删元素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38751" cy="3351847"/>
            <a:chOff x="667512" y="1835468"/>
            <a:chExt cx="463875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6387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扩展与 JDK 里的应用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谁来控制步伐、怎么加过滤、怎么往回走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内部与外部迭代器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带迭代策略的迭代器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双向迭代器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105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的 Iterator 与 ListIterator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060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788" y="407194"/>
              <a:ext cx="22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扩展与 JDK 里的应用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内部还是外部，分界只有一条：谁控制步伐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760595" cy="2810352"/>
            <a:chOff x="533400" y="1524000"/>
            <a:chExt cx="4760595" cy="281035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5052" r="0" b="15053"/>
            <a:stretch>
              <a:fillRect/>
            </a:stretch>
          </p:blipFill>
          <p:spPr>
            <a:xfrm>
              <a:off x="533400" y="1524000"/>
              <a:ext cx="4760595" cy="2495550"/>
            </a:xfrm>
            <a:prstGeom prst="roundRect">
              <a:avLst>
                <a:gd name="adj" fmla="val 5343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8690" y="411432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左边自己沿着货架一个个取，右边坐着等传送带送过来</a:t>
              </a:r>
            </a:p>
          </p:txBody>
        </p:sp>
      </p:grpSp>
      <p:grpSp>
        <p:nvGrpSpPr>
          <p:cNvPr id="15" name="c1-callout-2"/>
          <p:cNvGrpSpPr/>
          <p:nvPr/>
        </p:nvGrpSpPr>
        <p:grpSpPr>
          <a:xfrm>
            <a:off x="533400" y="4499610"/>
            <a:ext cx="4760595" cy="1706880"/>
            <a:chOff x="533400" y="4499610"/>
            <a:chExt cx="4760595" cy="1706880"/>
          </a:xfrm>
        </p:grpSpPr>
        <p:sp>
          <p:nvSpPr>
            <p:cNvPr id="10" name="Rectangle 10"/>
            <p:cNvSpPr/>
            <p:nvPr/>
          </p:nvSpPr>
          <p:spPr>
            <a:xfrm>
              <a:off x="533400" y="4499610"/>
              <a:ext cx="4760595" cy="1706880"/>
            </a:xfrm>
            <a:prstGeom prst="roundRect">
              <a:avLst>
                <a:gd name="adj" fmla="val 669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38188" y="5253040"/>
              <a:ext cx="200023" cy="200023"/>
              <a:chOff x="738188" y="5253040"/>
              <a:chExt cx="200023" cy="20002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52530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1538" y="53197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130" y="4972050"/>
              <a:ext cx="3806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客户端自己调 next() 的是外部迭代器；把动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作交出去、由迭代器逐个执行的是内部迭代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器。</a:t>
              </a:r>
            </a:p>
          </p:txBody>
        </p:sp>
      </p:grpSp>
      <p:grpSp>
        <p:nvGrpSpPr>
          <p:cNvPr id="36" name="c2-compare-1"/>
          <p:cNvGrpSpPr/>
          <p:nvPr/>
        </p:nvGrpSpPr>
        <p:grpSpPr>
          <a:xfrm>
            <a:off x="5598795" y="1524000"/>
            <a:ext cx="6059805" cy="2560320"/>
            <a:chOff x="5598795" y="1524000"/>
            <a:chExt cx="6059805" cy="2560320"/>
          </a:xfrm>
        </p:grpSpPr>
        <p:sp>
          <p:nvSpPr>
            <p:cNvPr id="16" name="Rectangle 16"/>
            <p:cNvSpPr/>
            <p:nvPr/>
          </p:nvSpPr>
          <p:spPr>
            <a:xfrm>
              <a:off x="5598795" y="1524000"/>
              <a:ext cx="2820352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08320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38825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外部迭代器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852160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10275" y="2112645"/>
              <a:ext cx="2034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客户端显式调用 next()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推进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852160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10275" y="273367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耦合松散，想停就停、想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跳就跳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852160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0275" y="33547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前面所有例子都是外部迭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838248" y="1524000"/>
              <a:ext cx="2820352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847772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78278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内部迭代器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091612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49728" y="211264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客户端把要做的操作传进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091612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49728" y="273367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耦合紧密，但调用方写起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来最省事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091612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49728" y="33547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迭代器决定顺序，可以并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行或惰性求值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466772" y="26422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37113" y="27384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2" name="c2-bullets-2"/>
          <p:cNvGrpSpPr/>
          <p:nvPr/>
        </p:nvGrpSpPr>
        <p:grpSpPr>
          <a:xfrm>
            <a:off x="5591175" y="4299585"/>
            <a:ext cx="4705350" cy="992505"/>
            <a:chOff x="5591175" y="4299585"/>
            <a:chExt cx="4705350" cy="992505"/>
          </a:xfrm>
        </p:grpSpPr>
        <p:sp>
          <p:nvSpPr>
            <p:cNvPr id="37" name="TextBox 37"/>
            <p:cNvSpPr txBox="1"/>
            <p:nvPr/>
          </p:nvSpPr>
          <p:spPr>
            <a:xfrm>
              <a:off x="5591175" y="42995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外部迭代器的两处不足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98795" y="469011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38825" y="46539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只能串行地一个个走，效率上不去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98795" y="50349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38825" y="499872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步进方式被客户端写死，库里再想优化也插不进手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5598795" y="5423535"/>
            <a:ext cx="6059805" cy="782955"/>
            <a:chOff x="5598795" y="5423535"/>
            <a:chExt cx="6059805" cy="782955"/>
          </a:xfrm>
        </p:grpSpPr>
        <p:sp>
          <p:nvSpPr>
            <p:cNvPr id="43" name="Rectangle 43"/>
            <p:cNvSpPr/>
            <p:nvPr/>
          </p:nvSpPr>
          <p:spPr>
            <a:xfrm>
              <a:off x="5598795" y="542353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803583" y="5715000"/>
              <a:ext cx="200026" cy="200026"/>
              <a:chOff x="5803583" y="571500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803583" y="57150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903595" y="5781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92483" y="58150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105525" y="5572125"/>
              <a:ext cx="5073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两者并不互斥，JDK 既给了 Iterator，也给了 forEach，按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场合挑一个。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060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788" y="407194"/>
              <a:ext cx="22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扩展与 JDK 里的应用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同一件事的四种写法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578168" y="1561148"/>
            <a:ext cx="4253865" cy="2102643"/>
            <a:chOff x="578168" y="1561148"/>
            <a:chExt cx="4253865" cy="2102643"/>
          </a:xfrm>
        </p:grpSpPr>
        <p:sp>
          <p:nvSpPr>
            <p:cNvPr id="7" name="Freeform 7"/>
            <p:cNvSpPr/>
            <p:nvPr/>
          </p:nvSpPr>
          <p:spPr>
            <a:xfrm>
              <a:off x="1945005" y="1787208"/>
              <a:ext cx="1965960" cy="286385"/>
            </a:xfrm>
            <a:custGeom>
              <a:avLst/>
              <a:gdLst/>
              <a:ahLst/>
              <a:cxnLst/>
              <a:rect l="l" t="t" r="r" b="b"/>
              <a:pathLst>
                <a:path w="1965960" h="286385">
                  <a:moveTo>
                    <a:pt x="0" y="286385"/>
                  </a:moveTo>
                  <a:cubicBezTo>
                    <a:pt x="685165" y="12065"/>
                    <a:pt x="1340485" y="0"/>
                    <a:pt x="1965960" y="2501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93820" y="1993582"/>
              <a:ext cx="105727" cy="88582"/>
            </a:xfrm>
            <a:custGeom>
              <a:avLst/>
              <a:gdLst/>
              <a:ahLst/>
              <a:cxnLst/>
              <a:rect l="l" t="t" r="r" b="b"/>
              <a:pathLst>
                <a:path w="105727" h="88582">
                  <a:moveTo>
                    <a:pt x="105727" y="80010"/>
                  </a:moveTo>
                  <a:lnTo>
                    <a:pt x="0" y="88582"/>
                  </a:lnTo>
                  <a:lnTo>
                    <a:pt x="3524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33588" y="2406015"/>
              <a:ext cx="1965960" cy="285432"/>
            </a:xfrm>
            <a:custGeom>
              <a:avLst/>
              <a:gdLst/>
              <a:ahLst/>
              <a:cxnLst/>
              <a:rect l="l" t="t" r="r" b="b"/>
              <a:pathLst>
                <a:path w="1965960" h="285432">
                  <a:moveTo>
                    <a:pt x="1965960" y="0"/>
                  </a:moveTo>
                  <a:cubicBezTo>
                    <a:pt x="1281430" y="273685"/>
                    <a:pt x="626110" y="285432"/>
                    <a:pt x="0" y="3524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45005" y="239744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8573"/>
                  </a:moveTo>
                  <a:lnTo>
                    <a:pt x="105728" y="0"/>
                  </a:lnTo>
                  <a:lnTo>
                    <a:pt x="70485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5005" y="2726690"/>
              <a:ext cx="1965960" cy="286067"/>
            </a:xfrm>
            <a:custGeom>
              <a:avLst/>
              <a:gdLst/>
              <a:ahLst/>
              <a:cxnLst/>
              <a:rect l="l" t="t" r="r" b="b"/>
              <a:pathLst>
                <a:path w="1965960" h="286067">
                  <a:moveTo>
                    <a:pt x="0" y="286067"/>
                  </a:moveTo>
                  <a:cubicBezTo>
                    <a:pt x="685165" y="11747"/>
                    <a:pt x="1340485" y="0"/>
                    <a:pt x="1965960" y="2508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93820" y="2932748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80010"/>
                  </a:moveTo>
                  <a:lnTo>
                    <a:pt x="0" y="88583"/>
                  </a:lnTo>
                  <a:lnTo>
                    <a:pt x="3524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33588" y="3345180"/>
              <a:ext cx="1965960" cy="286067"/>
            </a:xfrm>
            <a:custGeom>
              <a:avLst/>
              <a:gdLst/>
              <a:ahLst/>
              <a:cxnLst/>
              <a:rect l="l" t="t" r="r" b="b"/>
              <a:pathLst>
                <a:path w="1965960" h="286067">
                  <a:moveTo>
                    <a:pt x="1965960" y="0"/>
                  </a:moveTo>
                  <a:cubicBezTo>
                    <a:pt x="1281430" y="274320"/>
                    <a:pt x="626110" y="286067"/>
                    <a:pt x="0" y="3524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945005" y="333660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8572"/>
                  </a:moveTo>
                  <a:lnTo>
                    <a:pt x="105728" y="0"/>
                  </a:lnTo>
                  <a:lnTo>
                    <a:pt x="70485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2520" y="2040255"/>
              <a:ext cx="832485" cy="399098"/>
            </a:xfrm>
            <a:prstGeom prst="roundRect">
              <a:avLst>
                <a:gd name="adj" fmla="val 2386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999548" y="2040255"/>
              <a:ext cx="83248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12520" y="2979420"/>
              <a:ext cx="832485" cy="399098"/>
            </a:xfrm>
            <a:prstGeom prst="roundRect">
              <a:avLst>
                <a:gd name="adj" fmla="val 2386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99548" y="2979420"/>
              <a:ext cx="83248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25918" y="21788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12946" y="21788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5918" y="31180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8909" y="31180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45068" y="1788795"/>
              <a:ext cx="105537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46495" y="1818799"/>
              <a:ext cx="1052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hasNext() / next()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829878" y="253269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7602" y="256270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72702" y="2727960"/>
              <a:ext cx="8001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82427" y="2757964"/>
              <a:ext cx="7806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forEach(动作)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29878" y="347186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57602" y="35018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8168" y="1561148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外部迭代：来回好多趟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8168" y="2589848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内部迭代：交出去一次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3935730"/>
            <a:ext cx="4977765" cy="729615"/>
            <a:chOff x="533400" y="3935730"/>
            <a:chExt cx="4977765" cy="729615"/>
          </a:xfrm>
        </p:grpSpPr>
        <p:sp>
          <p:nvSpPr>
            <p:cNvPr id="34" name="Rectangle 34"/>
            <p:cNvSpPr/>
            <p:nvPr/>
          </p:nvSpPr>
          <p:spPr>
            <a:xfrm>
              <a:off x="533400" y="393573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199573"/>
              <a:ext cx="200026" cy="200026"/>
              <a:chOff x="738188" y="4199573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1995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266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42995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4081462"/>
              <a:ext cx="39999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增强 for 循环编译后就是第一种写法，它仍然算外部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迭代器。</a:t>
              </a:r>
            </a:p>
          </p:txBody>
        </p:sp>
      </p:grpSp>
      <p:grpSp>
        <p:nvGrpSpPr>
          <p:cNvPr id="47" name="c1-card-3"/>
          <p:cNvGrpSpPr/>
          <p:nvPr/>
        </p:nvGrpSpPr>
        <p:grpSpPr>
          <a:xfrm>
            <a:off x="533400" y="4839652"/>
            <a:ext cx="4977765" cy="1483995"/>
            <a:chOff x="533400" y="4839652"/>
            <a:chExt cx="4977765" cy="1483995"/>
          </a:xfrm>
        </p:grpSpPr>
        <p:sp>
          <p:nvSpPr>
            <p:cNvPr id="41" name="Rectangle 41"/>
            <p:cNvSpPr/>
            <p:nvPr/>
          </p:nvSpPr>
          <p:spPr>
            <a:xfrm>
              <a:off x="533400" y="4839652"/>
              <a:ext cx="497776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973002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3905" y="50320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5345" y="50663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47597" y="5072062"/>
              <a:ext cx="2868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forEach 那行什么也没做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7047" y="5406390"/>
              <a:ext cx="42656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课件写的是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alphabets.forEach(a -&gt;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a.toUpperCase());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toUpperCase()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返回新字符串却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没人接，这一行是空转，动作里得真的用上返回值。</a:t>
              </a:r>
            </a:p>
          </p:txBody>
        </p:sp>
      </p:grpSp>
      <p:grpSp>
        <p:nvGrpSpPr>
          <p:cNvPr id="51" name="c2-code-1"/>
          <p:cNvGrpSpPr/>
          <p:nvPr/>
        </p:nvGrpSpPr>
        <p:grpSpPr>
          <a:xfrm>
            <a:off x="5815965" y="1524000"/>
            <a:ext cx="5842635" cy="3723322"/>
            <a:chOff x="5815965" y="1524000"/>
            <a:chExt cx="5842635" cy="3723322"/>
          </a:xfrm>
        </p:grpSpPr>
        <p:sp>
          <p:nvSpPr>
            <p:cNvPr id="48" name="Rectangle 48"/>
            <p:cNvSpPr/>
            <p:nvPr/>
          </p:nvSpPr>
          <p:spPr>
            <a:xfrm>
              <a:off x="5815965" y="1524000"/>
              <a:ext cx="5842635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44362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遍历并打印大写形式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43981" y="1937385"/>
              <a:ext cx="4637913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List&lt;String&gt; list = Arrays.asList(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Iterator&lt;String&gt; it = list.iterator();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外部：自己推进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(it.hasNext())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System.out.println(it.next().toUpperCase());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list.size(); i++) {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外部：按下标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System.out.println(list.get(i).toUpperCase());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 s : list) {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外部：增强 for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System.out.println(s.toUpperCase());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list.forEach(s -&gt;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内部：交出动作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System.out.println(s.toUpperCase()));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060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788" y="407194"/>
              <a:ext cx="22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扩展与 JDK 里的应用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扩展一：带迭代策略的迭代器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遍历机制既然已经独立出来，就可以在迭代器里做手脚。最常见的是过滤。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4198620"/>
            <a:chOff x="533400" y="1928812"/>
            <a:chExt cx="6059805" cy="4198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先把数据抓进迭代器，再按规则放行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253992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java.util.List;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java.util.function.Predicate;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FilterIterator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data;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过滤后的结果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cursor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FilterIterator(ConcreteAggregate agg,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Predicate&lt;Object&gt; rule)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List&lt;Object&gt; kept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agg.size();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(rule.test(agg.get(i))) kept.add(agg.get(i));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 = kept.toArray();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first() { cursor = 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(cursor &lt; data.length) cursor++;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hasNext()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cursor &lt; data.length;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currentItem()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data[cursor];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bullets-1"/>
          <p:cNvGrpSpPr/>
          <p:nvPr/>
        </p:nvGrpSpPr>
        <p:grpSpPr>
          <a:xfrm>
            <a:off x="6891147" y="1950720"/>
            <a:ext cx="3806812" cy="1336834"/>
            <a:chOff x="6891147" y="1950720"/>
            <a:chExt cx="3806812" cy="1336834"/>
          </a:xfrm>
        </p:grpSpPr>
        <p:sp>
          <p:nvSpPr>
            <p:cNvPr id="13" name="TextBox 13"/>
            <p:cNvSpPr txBox="1"/>
            <p:nvPr/>
          </p:nvSpPr>
          <p:spPr>
            <a:xfrm>
              <a:off x="6891147" y="195072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两种常见的过滤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897052" y="22555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2731" y="22939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77849" y="22679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整条过滤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84708" y="25946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9492" y="253126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只让看本部门的数据，不符合条件的记录整条不给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97052" y="279177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52731" y="28311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7849" y="28041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部分过滤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84708" y="31308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9492" y="306752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记录给你，但工资那一列抹掉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412808"/>
            <a:ext cx="4760595" cy="1760220"/>
            <a:chOff x="6898005" y="3412808"/>
            <a:chExt cx="4760595" cy="1760220"/>
          </a:xfrm>
        </p:grpSpPr>
        <p:sp>
          <p:nvSpPr>
            <p:cNvPr id="25" name="Rectangle 25"/>
            <p:cNvSpPr/>
            <p:nvPr/>
          </p:nvSpPr>
          <p:spPr>
            <a:xfrm>
              <a:off x="6898005" y="3412808"/>
              <a:ext cx="476059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07530" y="3546158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22795" y="359949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07364" y="36323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实现思路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6992" y="36347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先取数据，再定策略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15937" y="396049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构造时把聚合里的数据抓到迭代器内部，之后按什么顺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序、放行哪些，都由迭代器自己说了算。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15937" y="451770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换一种过滤规则就换一个迭代器对象，聚合类和客户端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的循环都不动。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898005" y="5342572"/>
            <a:ext cx="4760595" cy="784860"/>
            <a:chOff x="6898005" y="5342572"/>
            <a:chExt cx="4760595" cy="784860"/>
          </a:xfrm>
        </p:grpSpPr>
        <p:sp>
          <p:nvSpPr>
            <p:cNvPr id="33" name="Rectangle 33"/>
            <p:cNvSpPr/>
            <p:nvPr/>
          </p:nvSpPr>
          <p:spPr>
            <a:xfrm>
              <a:off x="6898005" y="5342572"/>
              <a:ext cx="4760595" cy="784860"/>
            </a:xfrm>
            <a:prstGeom prst="roundRect">
              <a:avLst>
                <a:gd name="adj" fmla="val 145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102793" y="5634990"/>
              <a:ext cx="200026" cy="200026"/>
              <a:chOff x="7102793" y="563499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102793" y="56349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02805" y="57016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91693" y="57350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05497" y="5516880"/>
              <a:ext cx="39056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把规则做成参数传进来，就和策略模式（第 38 讲）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接上了。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060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788" y="407194"/>
              <a:ext cx="22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扩展与 JDK 里的应用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扩展二：双向迭代器与多迭代器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327910"/>
            <a:chOff x="533400" y="1524000"/>
            <a:chExt cx="562641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在最小接口上加两个方法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85902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Iterator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isDone();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Object currentItem();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isFirst();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当前是不是第一个元素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previous();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游标前移一位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042410"/>
            <a:ext cx="5626418" cy="1384935"/>
            <a:chOff x="533400" y="4042410"/>
            <a:chExt cx="5626418" cy="1384935"/>
          </a:xfrm>
        </p:grpSpPr>
        <p:sp>
          <p:nvSpPr>
            <p:cNvPr id="11" name="Rectangle 11"/>
            <p:cNvSpPr/>
            <p:nvPr/>
          </p:nvSpPr>
          <p:spPr>
            <a:xfrm>
              <a:off x="533400" y="4042410"/>
              <a:ext cx="5626418" cy="1384935"/>
            </a:xfrm>
            <a:prstGeom prst="roundRect">
              <a:avLst>
                <a:gd name="adj" fmla="val 82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634865"/>
              <a:ext cx="200026" cy="200025"/>
              <a:chOff x="738188" y="463486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6348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6793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7904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491990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前面电视机遥控器的 TVIterator 就是一个双向迭代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器，previous() 用来回到上一个频道。</a:t>
              </a:r>
            </a:p>
          </p:txBody>
        </p:sp>
      </p:grpSp>
      <p:grpSp>
        <p:nvGrpSpPr>
          <p:cNvPr id="26" name="c2-kv-1"/>
          <p:cNvGrpSpPr/>
          <p:nvPr/>
        </p:nvGrpSpPr>
        <p:grpSpPr>
          <a:xfrm>
            <a:off x="6456998" y="1548765"/>
            <a:ext cx="5201602" cy="1455420"/>
            <a:chOff x="6456998" y="1548765"/>
            <a:chExt cx="5201602" cy="1455420"/>
          </a:xfrm>
        </p:grpSpPr>
        <p:sp>
          <p:nvSpPr>
            <p:cNvPr id="18" name="TextBox 18"/>
            <p:cNvSpPr txBox="1"/>
            <p:nvPr/>
          </p:nvSpPr>
          <p:spPr>
            <a:xfrm>
              <a:off x="645699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多迭代器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7152" y="154876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同一个聚合可以同时存在多个迭代器，各自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带一个游标，互不干扰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64618" y="21507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6998" y="22707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单向迭代器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97152" y="2270760"/>
              <a:ext cx="2761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next()，走过去就回不来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64618" y="25908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56998" y="2710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双向迭代器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97152" y="2710815"/>
              <a:ext cx="3657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 previous()、isFirst()，可前后走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135630"/>
            <a:ext cx="5193982" cy="2291715"/>
            <a:chOff x="6464618" y="3135630"/>
            <a:chExt cx="5193982" cy="2291715"/>
          </a:xfrm>
        </p:grpSpPr>
        <p:sp>
          <p:nvSpPr>
            <p:cNvPr id="27" name="Rectangle 27"/>
            <p:cNvSpPr/>
            <p:nvPr/>
          </p:nvSpPr>
          <p:spPr>
            <a:xfrm>
              <a:off x="6464618" y="3135630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326898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3345180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1166" y="3380899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的做法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6683" y="3380422"/>
              <a:ext cx="3344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 单向，ListIterator 双向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4648" y="374142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java.util.Iterator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没有逆向遍历的能力，想往回走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只能换成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ListIterator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4648" y="436245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ListIterator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Iterator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的子接口，多了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hasPrevious()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previous()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add()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4983480"/>
              <a:ext cx="3723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代价是它只能用于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操作不了 Set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060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788" y="407194"/>
              <a:ext cx="22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扩展与 JDK 里的应用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里的迭代器：整个集合框架的公共入口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19921" cy="308039"/>
            <a:chOff x="525399" y="1550194"/>
            <a:chExt cx="761992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199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1.2 引入集合框架 Collections，从那以后遍历集合的标准做法就是迭代器。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970598" y="2069782"/>
            <a:ext cx="4189094" cy="2290763"/>
            <a:chOff x="970598" y="2069782"/>
            <a:chExt cx="4189094" cy="2290763"/>
          </a:xfrm>
        </p:grpSpPr>
        <p:sp>
          <p:nvSpPr>
            <p:cNvPr id="9" name="Freeform 9"/>
            <p:cNvSpPr/>
            <p:nvPr/>
          </p:nvSpPr>
          <p:spPr>
            <a:xfrm>
              <a:off x="1399222" y="3527108"/>
              <a:ext cx="9525" cy="623888"/>
            </a:xfrm>
            <a:custGeom>
              <a:avLst/>
              <a:gdLst/>
              <a:ahLst/>
              <a:cxnLst/>
              <a:rect l="l" t="t" r="r" b="b"/>
              <a:pathLst>
                <a:path w="9525" h="623888">
                  <a:moveTo>
                    <a:pt x="0" y="0"/>
                  </a:moveTo>
                  <a:lnTo>
                    <a:pt x="0" y="623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9222" y="2903220"/>
              <a:ext cx="1730693" cy="623888"/>
            </a:xfrm>
            <a:custGeom>
              <a:avLst/>
              <a:gdLst/>
              <a:ahLst/>
              <a:cxnLst/>
              <a:rect l="l" t="t" r="r" b="b"/>
              <a:pathLst>
                <a:path w="1730693" h="623888">
                  <a:moveTo>
                    <a:pt x="1730693" y="0"/>
                  </a:moveTo>
                  <a:lnTo>
                    <a:pt x="0" y="623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29915" y="2903220"/>
              <a:ext cx="9525" cy="623888"/>
            </a:xfrm>
            <a:custGeom>
              <a:avLst/>
              <a:gdLst/>
              <a:ahLst/>
              <a:cxnLst/>
              <a:rect l="l" t="t" r="r" b="b"/>
              <a:pathLst>
                <a:path w="9525" h="623888">
                  <a:moveTo>
                    <a:pt x="0" y="0"/>
                  </a:moveTo>
                  <a:lnTo>
                    <a:pt x="0" y="623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29915" y="2903220"/>
              <a:ext cx="1731645" cy="623888"/>
            </a:xfrm>
            <a:custGeom>
              <a:avLst/>
              <a:gdLst/>
              <a:ahLst/>
              <a:cxnLst/>
              <a:rect l="l" t="t" r="r" b="b"/>
              <a:pathLst>
                <a:path w="1731645" h="623888">
                  <a:moveTo>
                    <a:pt x="0" y="0"/>
                  </a:moveTo>
                  <a:lnTo>
                    <a:pt x="1731645" y="623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2279332"/>
              <a:ext cx="9525" cy="623888"/>
            </a:xfrm>
            <a:custGeom>
              <a:avLst/>
              <a:gdLst/>
              <a:ahLst/>
              <a:cxnLst/>
              <a:rect l="l" t="t" r="r" b="b"/>
              <a:pathLst>
                <a:path w="9525" h="623888">
                  <a:moveTo>
                    <a:pt x="0" y="0"/>
                  </a:moveTo>
                  <a:lnTo>
                    <a:pt x="0" y="623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70598" y="3941445"/>
              <a:ext cx="85629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86815" y="3317558"/>
              <a:ext cx="42481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98458" y="3317558"/>
              <a:ext cx="464820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64380" y="3317558"/>
              <a:ext cx="59531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15578" y="2693670"/>
              <a:ext cx="8305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70822" y="2069782"/>
              <a:ext cx="71913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7110" y="4090511"/>
              <a:ext cx="704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SortedSet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7831" y="3466624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7990" y="3466624"/>
              <a:ext cx="28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9971" y="3466624"/>
              <a:ext cx="423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105" y="2842736"/>
              <a:ext cx="6716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52929" y="2218849"/>
              <a:ext cx="5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Iterable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53915"/>
            <a:ext cx="5193982" cy="1059180"/>
            <a:chOff x="533400" y="4653915"/>
            <a:chExt cx="5193982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65391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079801"/>
              <a:ext cx="224134" cy="192560"/>
              <a:chOff x="726129" y="5079801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1501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0798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2279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802505"/>
              <a:ext cx="4149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Map 不在这棵树里。它没有 iterator()，要先用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keySet()、values() 或 entrySet() 换成一个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Collection 再遍历。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6024562" y="1992630"/>
            <a:ext cx="5088422" cy="1337310"/>
            <a:chOff x="6024562" y="1992630"/>
            <a:chExt cx="5088422" cy="1337310"/>
          </a:xfrm>
        </p:grpSpPr>
        <p:sp>
          <p:nvSpPr>
            <p:cNvPr id="34" name="TextBox 34"/>
            <p:cNvSpPr txBox="1"/>
            <p:nvPr/>
          </p:nvSpPr>
          <p:spPr>
            <a:xfrm>
              <a:off x="6024562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三个入口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789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96012" y="2346960"/>
              <a:ext cx="4309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Iterable.iterator()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java.util.Iterator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37898" y="27546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96012" y="2691765"/>
              <a:ext cx="4916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List.listIterator()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ListIterator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，可以双向走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37898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96012" y="3036570"/>
              <a:ext cx="400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实现了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的类才能写进增强 for 循环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032182" y="3461385"/>
            <a:ext cx="5626418" cy="2251710"/>
            <a:chOff x="6032182" y="3461385"/>
            <a:chExt cx="5626418" cy="2251710"/>
          </a:xfrm>
        </p:grpSpPr>
        <p:sp>
          <p:nvSpPr>
            <p:cNvPr id="42" name="Rectangle 42"/>
            <p:cNvSpPr/>
            <p:nvPr/>
          </p:nvSpPr>
          <p:spPr>
            <a:xfrm>
              <a:off x="6032182" y="3461385"/>
              <a:ext cx="5626418" cy="2251710"/>
            </a:xfrm>
            <a:prstGeom prst="roundRect">
              <a:avLst>
                <a:gd name="adj" fmla="val 592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1732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1941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1808" y="3706178"/>
              <a:ext cx="4194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java.util.Iterator 就是这个模式的现成实现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34112" y="4067175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集合是聚合角色，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iterator()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是工厂方法，返回的对象是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具体迭代器，各集合类内部都把它写成了内部类。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34112" y="468820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实际开发里一般直接用它，只有自己造容器时才需要从头写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一套。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8362" cy="909257"/>
            <a:chOff x="520446" y="342900"/>
            <a:chExt cx="69483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060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788" y="407194"/>
              <a:ext cx="22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扩展与 JDK 里的应用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83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Iterator 的三个方法，以及 remove() 的坑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923" y="1545431"/>
            <a:ext cx="5416677" cy="997077"/>
            <a:chOff x="526923" y="1545431"/>
            <a:chExt cx="5416677" cy="99707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next()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54683" y="15454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返回下一个元素并把游标移到它后面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173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1918811"/>
              <a:ext cx="915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hasNext()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4683" y="1918811"/>
              <a:ext cx="2339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还有可访问的元素就返回 true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1907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293144"/>
              <a:ext cx="845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remove()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54683" y="2293144"/>
              <a:ext cx="275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删除上一次 next() 返回的那个元素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2657475"/>
            <a:ext cx="5410200" cy="1737360"/>
            <a:chOff x="533400" y="2657475"/>
            <a:chExt cx="5410200" cy="1737360"/>
          </a:xfrm>
        </p:grpSpPr>
        <p:sp>
          <p:nvSpPr>
            <p:cNvPr id="16" name="Rectangle 16"/>
            <p:cNvSpPr/>
            <p:nvPr/>
          </p:nvSpPr>
          <p:spPr>
            <a:xfrm>
              <a:off x="533400" y="265747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28093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连删两个相邻元素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797" y="3069431"/>
              <a:ext cx="2978277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list = [a, b, c, d]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Iterator&lt;String&gt; it = list.iterator();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it.next();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返回 a，游标移到 a 后面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it.remove();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删掉刚返回的 a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it.next();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返回 b，这一句不能省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it.remove();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删掉 b */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结果：[c, d] */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558665"/>
            <a:ext cx="5410200" cy="1687830"/>
            <a:chOff x="533400" y="4558665"/>
            <a:chExt cx="5410200" cy="1687830"/>
          </a:xfrm>
        </p:grpSpPr>
        <p:sp>
          <p:nvSpPr>
            <p:cNvPr id="20" name="Rectangle 20"/>
            <p:cNvSpPr/>
            <p:nvPr/>
          </p:nvSpPr>
          <p:spPr>
            <a:xfrm>
              <a:off x="533400" y="4558665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69201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47396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044" y="47725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两点补充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68006" y="47791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泛型与只读集合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5096351"/>
              <a:ext cx="4645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5 之后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Iterator&lt;E&gt;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next()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直接返回 E，不用再强制转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5624036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remove()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是可选操作，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Arrays.asList()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这种固定大小的列表调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用它会抛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UnsupportedOperationException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8400" y="1524000"/>
            <a:ext cx="5410200" cy="2287905"/>
            <a:chOff x="6248400" y="1524000"/>
            <a:chExt cx="5410200" cy="228790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732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068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57663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调用后的集合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3079" y="202311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617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10178" y="2023110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[a, b, c, d]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3079" y="2404110"/>
              <a:ext cx="69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6179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10178" y="240411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[b, c, d]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278511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8617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10178" y="278511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[b, c, d]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3167062"/>
              <a:ext cx="69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86179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10178" y="31670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[c, d]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3548062"/>
              <a:ext cx="879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 remove()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01025" y="3440430"/>
              <a:ext cx="150495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86179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抛异常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10178" y="35480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[c, d]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8673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1073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248400" y="3976688"/>
            <a:ext cx="5410200" cy="2269808"/>
            <a:chOff x="6248400" y="3976688"/>
            <a:chExt cx="5410200" cy="2269808"/>
          </a:xfrm>
        </p:grpSpPr>
        <p:sp>
          <p:nvSpPr>
            <p:cNvPr id="58" name="Rectangle 58"/>
            <p:cNvSpPr/>
            <p:nvPr/>
          </p:nvSpPr>
          <p:spPr>
            <a:xfrm>
              <a:off x="6248400" y="3976688"/>
              <a:ext cx="5410200" cy="2269808"/>
            </a:xfrm>
            <a:prstGeom prst="roundRect">
              <a:avLst>
                <a:gd name="adj" fmla="val 58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110038"/>
              <a:ext cx="47625" cy="20031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7475" y="41576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2044" y="41905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三种异常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83006" y="419814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顺序写错就在运行时炸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0998" y="4514374"/>
              <a:ext cx="472963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连着调两次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remove()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：抛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IllegalStateException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，因为第二次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找不到“刚返回的元素”。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0998" y="5042059"/>
              <a:ext cx="5011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不判断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hasNext()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next()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：抛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NoSuchElementException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0998" y="5326856"/>
              <a:ext cx="45747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遍历途中直接调集合自己的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remove()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：抛</a:t>
              </a:r>
              <a:br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ConcurrentModificationException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，删元素只能走迭代器。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评价、对比与本质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什么时候该用，跟哪些模式容易混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与相邻模式的分界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模式本质与易错点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25612" cy="909257"/>
            <a:chOff x="520446" y="342900"/>
            <a:chExt cx="2225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评价、对比与本质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11125200" cy="2274570"/>
            <a:chOff x="533400" y="1524000"/>
            <a:chExt cx="11125200" cy="2274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5305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同一个聚合可以配多种遍历方式，换个迭代器就换了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遍历算法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聚合类简化了，它不用再自己提供一套遍历方法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318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89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增加新的聚合类和迭代器类都不必改原有代码，符合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05550" y="1524000"/>
              <a:ext cx="535305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1507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55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5891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7030" y="211264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类的个数成对增加，系统里多出一倍的小类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5891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7030" y="244792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抽象迭代器不好设计，方法定少了不够用，定多了子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类难实现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58915" y="31318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7030" y="30689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后期往抽象迭代器里加方法，所有具体迭代器都要跟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934075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4415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3989070"/>
            <a:ext cx="11125200" cy="1346835"/>
            <a:chOff x="533400" y="3989070"/>
            <a:chExt cx="11125200" cy="1346835"/>
          </a:xfrm>
        </p:grpSpPr>
        <p:sp>
          <p:nvSpPr>
            <p:cNvPr id="28" name="Rectangle 28"/>
            <p:cNvSpPr/>
            <p:nvPr/>
          </p:nvSpPr>
          <p:spPr>
            <a:xfrm>
              <a:off x="533400" y="3989070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023389" y="41248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5205" y="41248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常见的缓解办法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223" y="45734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类的个数成对增加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78783" y="457342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把具体迭代器写成聚合类的内部类或匿名类，不再占用包里的名字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8815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88632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502205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抽象迭代器难设计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78783" y="502205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先定最小接口，需要新能力时另开子接口，别一次把方法加满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89070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66198" y="398907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3"/>
          <p:cNvGrpSpPr/>
          <p:nvPr/>
        </p:nvGrpSpPr>
        <p:grpSpPr>
          <a:xfrm>
            <a:off x="533400" y="5526405"/>
            <a:ext cx="11125200" cy="836295"/>
            <a:chOff x="533400" y="5526405"/>
            <a:chExt cx="11125200" cy="836295"/>
          </a:xfrm>
        </p:grpSpPr>
        <p:sp>
          <p:nvSpPr>
            <p:cNvPr id="40" name="Rectangle 40"/>
            <p:cNvSpPr/>
            <p:nvPr/>
          </p:nvSpPr>
          <p:spPr>
            <a:xfrm>
              <a:off x="533400" y="5526405"/>
              <a:ext cx="11125200" cy="836295"/>
            </a:xfrm>
            <a:prstGeom prst="roundRect">
              <a:avLst>
                <a:gd name="adj" fmla="val 136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44540"/>
              <a:ext cx="200026" cy="200026"/>
              <a:chOff x="738188" y="584454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8445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9112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9445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701665"/>
              <a:ext cx="9883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的 Iterator 就吃过这个亏：它定死了单向遍历，想逆向只能另起一套 ListIterator，而 ListIterator 又管不了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评价、对比与本质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什么时候用，什么时候别用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5780" y="1548765"/>
            <a:ext cx="3908996" cy="2103405"/>
            <a:chOff x="525780" y="1548765"/>
            <a:chExt cx="3908996" cy="21034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908" y="190309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要访问聚合的内容又不想暴露内部表示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91528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5550" y="219694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把访问和存储分开，调用方不必了解实现细节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37460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3908" y="250602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一个聚合需要多种遍历方式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1528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5550" y="279987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正序、逆序、过滤各写一个迭代器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14134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0960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908" y="31089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要为不同的聚合结构提供统一的遍历接口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91528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5550" y="340280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客户端用同一段循环对付不同容器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792855"/>
            <a:ext cx="5626418" cy="1499235"/>
            <a:chOff x="533400" y="3792855"/>
            <a:chExt cx="5626418" cy="1499235"/>
          </a:xfrm>
        </p:grpSpPr>
        <p:sp>
          <p:nvSpPr>
            <p:cNvPr id="21" name="Rectangle 21"/>
            <p:cNvSpPr/>
            <p:nvPr/>
          </p:nvSpPr>
          <p:spPr>
            <a:xfrm>
              <a:off x="533400" y="3792855"/>
              <a:ext cx="5626418" cy="1499235"/>
            </a:xfrm>
            <a:prstGeom prst="roundRect">
              <a:avLst>
                <a:gd name="adj" fmla="val 762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442462"/>
              <a:ext cx="200023" cy="200023"/>
              <a:chOff x="738188" y="444246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4424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509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299585"/>
              <a:ext cx="4520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判断题眼：题目里出现“不暴露内部表示”“多种遍历方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式”“统一遍历接口”，基本就是这个模式。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1956435"/>
            <a:chOff x="6464618" y="1524000"/>
            <a:chExt cx="5193982" cy="1956435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3295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这几种情况别硬套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4648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容器很简单、只有一种遍历方式、也不打算变，直接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for 循环就够，硬加两个类只是负担。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4648" y="275082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用的是 JDK 现成的集合，那它已经把迭代器给你了，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不必再包一层自己的。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3670935"/>
            <a:ext cx="5193982" cy="1621155"/>
            <a:chOff x="6464618" y="3670935"/>
            <a:chExt cx="5193982" cy="1621155"/>
          </a:xfrm>
        </p:grpSpPr>
        <p:sp>
          <p:nvSpPr>
            <p:cNvPr id="35" name="Rectangle 35"/>
            <p:cNvSpPr/>
            <p:nvPr/>
          </p:nvSpPr>
          <p:spPr>
            <a:xfrm>
              <a:off x="6464618" y="3670935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380428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38804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0626" y="39162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一句话记忆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40015" y="391572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遥控器与电视机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4648" y="427672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电视机负责存频道，遥控器负责换频道。谁要是把换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台按钮直接焊在电视机后盖上，用起来就是另一回事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评价、对比与本质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与相邻模式的分界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11125200" cy="2400300"/>
            <a:chOff x="533400" y="1524000"/>
            <a:chExt cx="11125200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08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8343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和迭代器的关系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456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33575"/>
              <a:ext cx="24288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0555" y="2045494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78480" y="2045494"/>
              <a:ext cx="3914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迭代器模式内部就用了它：createIterator() 是工厂方法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50492" y="2045494"/>
              <a:ext cx="3057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工厂方法解决“谁来造”，迭代器解决“怎么走”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445544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78480" y="244554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遍历树形结构时，常用迭代器把整棵树摊平成一个序列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50492" y="24455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组合管结构，迭代器管遍历顺序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2845594"/>
              <a:ext cx="1351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访问者（第 3A 讲）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78480" y="284559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一个负责走到每个元素，一个负责对元素做事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0492" y="28455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迭代器管位置，访问者管操作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245644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备忘录（第 35 讲）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78480" y="3245644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想保存或恢复遍历进度时，可以把游标存进备忘录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0492" y="32456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迭代器产生状态，备忘录保存状态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3645694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策略（第 38 讲）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78480" y="364569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把过滤规则或遍历策略做成参数传给迭代器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50492" y="36456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策略换算法，迭代器换位置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7656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4857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rd-2"/>
          <p:cNvGrpSpPr/>
          <p:nvPr/>
        </p:nvGrpSpPr>
        <p:grpSpPr>
          <a:xfrm>
            <a:off x="533400" y="4093845"/>
            <a:ext cx="11125200" cy="1545908"/>
            <a:chOff x="533400" y="4093845"/>
            <a:chExt cx="11125200" cy="1545908"/>
          </a:xfrm>
        </p:grpSpPr>
        <p:sp>
          <p:nvSpPr>
            <p:cNvPr id="37" name="Rectangle 37"/>
            <p:cNvSpPr/>
            <p:nvPr/>
          </p:nvSpPr>
          <p:spPr>
            <a:xfrm>
              <a:off x="533400" y="4093845"/>
              <a:ext cx="11125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22719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8190" y="42805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2759" y="43133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判断练习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73340" y="431577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这三句需求各自该用哪个模式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58190" y="463010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3868" y="466848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8987" y="464153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把部门树上的所有员工打印一遍：组合管树形结构，迭代器管走位顺序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58190" y="493014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3868" y="49685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8987" y="4942523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对树上每个节点分别算工资、算考勤、算工龄：访问者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8190" y="52301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3868" y="52685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8987" y="524256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遍历到一半保存进度，下次接着走：迭代器产生游标，备忘录保存它</a:t>
              </a:r>
            </a:p>
          </p:txBody>
        </p:sp>
      </p:grpSp>
      <p:grpSp>
        <p:nvGrpSpPr>
          <p:cNvPr id="58" name="c1-callout-3"/>
          <p:cNvGrpSpPr/>
          <p:nvPr/>
        </p:nvGrpSpPr>
        <p:grpSpPr>
          <a:xfrm>
            <a:off x="533400" y="5810250"/>
            <a:ext cx="11125200" cy="552450"/>
            <a:chOff x="533400" y="5810250"/>
            <a:chExt cx="11125200" cy="552450"/>
          </a:xfrm>
        </p:grpSpPr>
        <p:sp>
          <p:nvSpPr>
            <p:cNvPr id="52" name="Rectangle 52"/>
            <p:cNvSpPr/>
            <p:nvPr/>
          </p:nvSpPr>
          <p:spPr>
            <a:xfrm>
              <a:off x="533400" y="5810250"/>
              <a:ext cx="11125200" cy="552450"/>
            </a:xfrm>
            <a:prstGeom prst="roundRect">
              <a:avLst>
                <a:gd name="adj" fmla="val 2069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86463"/>
              <a:ext cx="200026" cy="200026"/>
              <a:chOff x="738188" y="598646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864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53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0864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5992178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最容易混的是访问者。看题干问的是“怎么访问到每一个”还是“对每一个做什么”。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 · 评价、对比与本质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模式本质与易错点清单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858328"/>
            <a:chOff x="533400" y="1524000"/>
            <a:chExt cx="4977765" cy="1858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58328"/>
            </a:xfrm>
            <a:prstGeom prst="roundRect">
              <a:avLst>
                <a:gd name="adj" fmla="val 717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29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4831" y="17568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控制访问聚合对象中的元素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迭代器既让客户端访问到了每个元素，又没有泄露聚合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的内部结构。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281" y="2690336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遍历机制一旦独立，就可以在上面加过滤、加顺序、加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权限，所以本质是“控制访问”，而不只是“隐藏结构”。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3562350"/>
            <a:ext cx="4977765" cy="756285"/>
            <a:chOff x="533400" y="3562350"/>
            <a:chExt cx="4977765" cy="756285"/>
          </a:xfrm>
        </p:grpSpPr>
        <p:sp>
          <p:nvSpPr>
            <p:cNvPr id="14" name="Rectangle 14"/>
            <p:cNvSpPr/>
            <p:nvPr/>
          </p:nvSpPr>
          <p:spPr>
            <a:xfrm>
              <a:off x="533400" y="356235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3840480"/>
              <a:ext cx="200026" cy="200025"/>
              <a:chOff x="738188" y="3840480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8404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38849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39960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3709511"/>
              <a:ext cx="38196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考试里问“本质”时，答控制访问聚合对象中的元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素。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498658"/>
            <a:ext cx="4977765" cy="1851660"/>
            <a:chOff x="533400" y="4498658"/>
            <a:chExt cx="4977765" cy="1851660"/>
          </a:xfrm>
        </p:grpSpPr>
        <p:sp>
          <p:nvSpPr>
            <p:cNvPr id="21" name="Rectangle 21"/>
            <p:cNvSpPr/>
            <p:nvPr/>
          </p:nvSpPr>
          <p:spPr>
            <a:xfrm>
              <a:off x="533400" y="4498658"/>
              <a:ext cx="4977765" cy="1851660"/>
            </a:xfrm>
            <a:prstGeom prst="roundRect">
              <a:avLst>
                <a:gd name="adj" fmla="val 72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632008"/>
              <a:ext cx="47625" cy="1584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46967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1060" y="47310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2931" y="4732496"/>
              <a:ext cx="17645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为什么不只说“透明”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381" y="5075396"/>
              <a:ext cx="42614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张欣佳老师课件的结语是“本质是控制访问聚合对象中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的元素，而非单纯的透明”。能过滤、能定序、能限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权，靠的都是“控制”这两个字。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5808726" y="1547336"/>
            <a:ext cx="5490228" cy="2248472"/>
            <a:chOff x="5808726" y="1547336"/>
            <a:chExt cx="5490228" cy="2248472"/>
          </a:xfrm>
        </p:grpSpPr>
        <p:sp>
          <p:nvSpPr>
            <p:cNvPr id="28" name="TextBox 28"/>
            <p:cNvSpPr txBox="1"/>
            <p:nvPr/>
          </p:nvSpPr>
          <p:spPr>
            <a:xfrm>
              <a:off x="5808726" y="15473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六个容易答错的点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815965" y="191738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50661" y="1883569"/>
              <a:ext cx="5248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hasNext()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isDone()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的语义弄反，循环少走或多走一格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815965" y="224409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50661" y="2210276"/>
              <a:ext cx="496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以为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next()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一定返回元素：自定义接口里它常常只挪游标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815965" y="257079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50661" y="253698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把游标放进聚合类里，结果两个迭代器互相踩脚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815965" y="2897505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50661" y="286369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类图里把实现关系画成实线，规范画法是虚线加空心三角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815965" y="322421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50661" y="3190399"/>
              <a:ext cx="5019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忘了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createIterator()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是工厂方法，答题时漏掉这层关系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815965" y="355092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50661" y="3517106"/>
              <a:ext cx="47743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遍历中用集合自己的 remove()，运行时抛并发修改异常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5808726" y="3942874"/>
            <a:ext cx="5849874" cy="1527429"/>
            <a:chOff x="5808726" y="3942874"/>
            <a:chExt cx="5849874" cy="1527429"/>
          </a:xfrm>
        </p:grpSpPr>
        <p:sp>
          <p:nvSpPr>
            <p:cNvPr id="42" name="TextBox 42"/>
            <p:cNvSpPr txBox="1"/>
            <p:nvPr/>
          </p:nvSpPr>
          <p:spPr>
            <a:xfrm>
              <a:off x="5808726" y="3942874"/>
              <a:ext cx="1016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hasNext()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2688" y="3942874"/>
              <a:ext cx="41339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后面还有元素就返回 true，配 while 循环最顺手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42462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8726" y="4359116"/>
              <a:ext cx="8553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isDone()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2688" y="4359116"/>
              <a:ext cx="3550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游标越过末尾返回 true，循环条件要取反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4662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8726" y="4775359"/>
              <a:ext cx="8553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isLast()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2688" y="477535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当前就是最后一个，先取值再判断才不漏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5078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08726" y="5191601"/>
              <a:ext cx="7370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first()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2688" y="519160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把游标归零，同一个容器可以反复遍历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5815965" y="5594985"/>
            <a:ext cx="5842635" cy="756285"/>
            <a:chOff x="5815965" y="5594985"/>
            <a:chExt cx="5842635" cy="756285"/>
          </a:xfrm>
        </p:grpSpPr>
        <p:sp>
          <p:nvSpPr>
            <p:cNvPr id="54" name="Rectangle 54"/>
            <p:cNvSpPr/>
            <p:nvPr/>
          </p:nvSpPr>
          <p:spPr>
            <a:xfrm>
              <a:off x="5815965" y="559498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008694" y="5869423"/>
              <a:ext cx="224134" cy="192560"/>
              <a:chOff x="6008694" y="5869423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120765" y="59397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008694" y="58694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120765" y="6017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323076" y="5742146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画类图时，实现关系是虚线加空心三角，画成实线是最常见的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丢分点。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28750"/>
            <a:chOff x="533400" y="1524000"/>
            <a:chExt cx="5410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提供一种方法访问聚合对象中的各个元素，而不暴露其内部表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17532"/>
            <a:ext cx="5410200" cy="1185862"/>
            <a:chOff x="533400" y="3117532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311753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63902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聚合对象的两个职责是什么？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92382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存储数据和遍历数据，后者可变化也可分离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69130"/>
            <a:ext cx="5410200" cy="1185862"/>
            <a:chOff x="533400" y="4469130"/>
            <a:chExt cx="5410200" cy="1185862"/>
          </a:xfrm>
        </p:grpSpPr>
        <p:sp>
          <p:nvSpPr>
            <p:cNvPr id="19" name="Rectangle 19"/>
            <p:cNvSpPr/>
            <p:nvPr/>
          </p:nvSpPr>
          <p:spPr>
            <a:xfrm>
              <a:off x="533400" y="446913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989671"/>
              <a:ext cx="2999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createIterator() 用的是哪个模式？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27542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工厂方法，抽象聚合类充当抽象工厂角色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它的别名和分类是什么？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330291"/>
              <a:ext cx="334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别名游标（Cursor），对象行为型模式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874645"/>
            <a:ext cx="5410200" cy="1185862"/>
            <a:chOff x="6248400" y="2874645"/>
            <a:chExt cx="5410200" cy="1185862"/>
          </a:xfrm>
        </p:grpSpPr>
        <p:sp>
          <p:nvSpPr>
            <p:cNvPr id="31" name="Rectangle 31"/>
            <p:cNvSpPr/>
            <p:nvPr/>
          </p:nvSpPr>
          <p:spPr>
            <a:xfrm>
              <a:off x="6248400" y="28746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3961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四个角色分别是谁？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368093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抽象迭代器、具体迭代器、抽象聚合类、具体聚合类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226242"/>
            <a:ext cx="5410200" cy="1428750"/>
            <a:chOff x="6248400" y="4226242"/>
            <a:chExt cx="5410200" cy="1428750"/>
          </a:xfrm>
        </p:grpSpPr>
        <p:sp>
          <p:nvSpPr>
            <p:cNvPr id="37" name="Rectangle 37"/>
            <p:cNvSpPr/>
            <p:nvPr/>
          </p:nvSpPr>
          <p:spPr>
            <a:xfrm>
              <a:off x="6248400" y="422624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4072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4400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474678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两个具体类之间是什么关系？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03253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双重关系，聚合创建迭代器，迭代器关联聚合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答不上来的题，回到对应正文页把那张类图或那段代码再读一遍。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游标一般是什么类型？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表示位置的非负整数，通常从 0 开始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内外部迭代器的分界在哪？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谁控制步伐，客户端控制是外部，迭代器控制是内部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591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的 Iterator 能往回走吗？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911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不能，要换 ListIterator，但它管不了 Set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迭代器怎么拿到聚合里的数据？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构造时传入聚合对象，或写成聚合类的内部类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641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连着两次调 remove() 会怎样？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4609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IllegalStateException，中间必须夹一次 next()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新增一个聚合类要付出什么？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配一个新的迭代器类，类成对增加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判断口诀：一边是存数据的容器，一边是拿着游标的遍历工具，客户端只认接口。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33 迭代器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6830619" cy="1432845"/>
            <a:chOff x="533400" y="1533525"/>
            <a:chExt cx="6830619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聚合对象有存储和遍历两个职责，迭代器模式把后者单独封装出去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四个角色：抽象迭代器、具体迭代器、抽象聚合类、具体聚合类，创建方法是工厂方法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两个具体类之间是双重关系，一条创建、一条访问，也可改用内部类省掉关联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客户端自己推进游标是外部迭代器，把动作交出去是内部迭代器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597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的 Iterator 与 ListIterator 是现成实现，本质是控制访问聚合中的元素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923" y="3102769"/>
            <a:ext cx="11131677" cy="622744"/>
            <a:chOff x="526923" y="3102769"/>
            <a:chExt cx="11131677" cy="62274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31027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最小接口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3102769"/>
              <a:ext cx="48068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first()、next()、isDone() 或 hasNext()、currentItem()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747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3476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1800" y="3476149"/>
              <a:ext cx="6542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工厂方法（第 11 讲）、组合（第 22 讲）、备忘录（第 35 讲）、访问者（第 3A 讲）</a:t>
              </a:r>
            </a:p>
          </p:txBody>
        </p:sp>
      </p:grpSp>
      <p:grpSp>
        <p:nvGrpSpPr>
          <p:cNvPr id="46" name="c1-card-3"/>
          <p:cNvGrpSpPr/>
          <p:nvPr/>
        </p:nvGrpSpPr>
        <p:grpSpPr>
          <a:xfrm>
            <a:off x="533400" y="3840480"/>
            <a:ext cx="11125200" cy="1883092"/>
            <a:chOff x="533400" y="3840480"/>
            <a:chExt cx="11125200" cy="1883092"/>
          </a:xfrm>
        </p:grpSpPr>
        <p:sp>
          <p:nvSpPr>
            <p:cNvPr id="29" name="Rectangle 29"/>
            <p:cNvSpPr/>
            <p:nvPr/>
          </p:nvSpPr>
          <p:spPr>
            <a:xfrm>
              <a:off x="533400" y="3840480"/>
              <a:ext cx="11125200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97383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0214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044" y="4054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8006" y="406098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36626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4018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378166"/>
              <a:ext cx="7832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for(it.first ; it.isDone(); it.next())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漏括号、条件少取反，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currrentItem()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多一个 r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652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686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662964"/>
              <a:ext cx="5570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RoomIterator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mpos 与 mPos 对不上，指针又用点号取长度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9368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49724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4947761"/>
              <a:ext cx="5861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Vector&lt;int&gt;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Java 里不成立，下一行又写成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Iterator&lt;String&gt;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2475" y="52216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382" y="52572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2223" y="5232559"/>
              <a:ext cx="7109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张欣佳课件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forEach(a -&gt; a.toUpperCase())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是空转；具体迭代器只有省略号，讲义已补全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6233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遇到“要遍历一个容器，但不想让调用方知道它是怎么存的”，就想到迭代器模式。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迭代器模式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3">
  <a:themeElements>
    <a:clrScheme name="sdp_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2026-09-19T09:16:01Z</dcterms:created>
  <dcterms:modified xsi:type="dcterms:W3CDTF">2026-09-19T09:16:01Z</dcterms:modified>
  <cp:category/>
  <cp:contentStatus/>
</cp:coreProperties>
</file>