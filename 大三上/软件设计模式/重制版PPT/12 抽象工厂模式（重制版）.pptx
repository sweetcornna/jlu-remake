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1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1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a1f7e942ad8eb52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0a2274bd95c0f73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53bfb11f6656a6e.png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430524" cy="3437763"/>
            <a:chOff x="666750" y="1619250"/>
            <a:chExt cx="343052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第七讲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一个工厂交出一整族配套的产品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产品族与产品等级结构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四个角色与标准类图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746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实现与课件实例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开闭原则的倾斜性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403209" cy="205359"/>
            <a:chOff x="680466" y="6192202"/>
            <a:chExt cx="540320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403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两个工厂各自都对，配到一起却错了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两个新概念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产品族是一行，产品等级结构是一列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四个角色、标准类图、模式的本质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0523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界面皮肤从抽象产品写到配置化客户端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电器工厂、数据库工厂、课程系列、大富翁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效果与辨析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355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开闭原则的倾斜性、模式退化、12 道自测题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拿到一个具体场景，说清谁是产品族、谁是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产品等级结构，并画出那张行列表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画出抽象工厂的标准类图，四个角色齐全且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实现与依赖的箭头方向正确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写出两个产品等级结构、两个产品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族的完整骨架，客户端只依赖抽象层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分别列出新增一个产品族和新增一个产品等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级结构要改动的文件，解释开闭原则的倾斜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94347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88061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判断一段代码属于简单工厂、工厂方法还是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抽象工厂，并指出退化发生在哪一步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从工厂方法到抽象工厂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先看清工厂方法挡不住的那一类错误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两个工厂各自都对却配错了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产品族与产品等级结构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工厂按系列重新划分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从工厂方法到抽象工厂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动机：两个工厂各自都对，配到一起却错了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1141022" cy="308039"/>
            <a:chOff x="525399" y="1550194"/>
            <a:chExt cx="1114102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114102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陈伟老师课件用界面控件开场。控件有 Button、TextBox、ListBox 三种，平台有 Windows、Linux、Android 三个。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67865"/>
            <a:ext cx="6167438" cy="3748088"/>
            <a:chOff x="533400" y="1967865"/>
            <a:chExt cx="6167438" cy="374808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167438" cy="3748088"/>
            </a:xfrm>
            <a:prstGeom prst="roundRect">
              <a:avLst>
                <a:gd name="adj" fmla="val 254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用工厂方法做出来的样子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773930"/>
              <a:ext cx="612933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976812"/>
              <a:ext cx="6129338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035" y="2381726"/>
              <a:ext cx="5096510" cy="3263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每一种控件各有一个工厂等级结构 */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ButtonFactory  { Button  createButton(); }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TextBoxFactory { TextBox createTextBox();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WinButtonFactory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ButtonFactory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 createButton()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WinButton();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LinuxTextBoxFactory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TextBoxFactory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TextBox createTextBox()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LinuxTextBox();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客户端可以这样写，编译器一句话都不会说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ButtonFactory  bf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WinButtonFactory();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TextBoxFactory tf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LinuxTextBoxFactory();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Button  btn = bf.createButton();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Windows 风格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TextBox box = tf.createTextBox();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Linux 风格 */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7005638" y="1967865"/>
            <a:ext cx="4652962" cy="1866900"/>
            <a:chOff x="7005638" y="1967865"/>
            <a:chExt cx="4652962" cy="1866900"/>
          </a:xfrm>
        </p:grpSpPr>
        <p:sp>
          <p:nvSpPr>
            <p:cNvPr id="15" name="Rectangle 15"/>
            <p:cNvSpPr/>
            <p:nvPr/>
          </p:nvSpPr>
          <p:spPr>
            <a:xfrm>
              <a:off x="7005638" y="1967865"/>
              <a:ext cx="4652962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015162" y="2101215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253288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4444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54315" y="221265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一个窗口里出现了两套皮肤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45668" y="257365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两个工厂分别看都没有毛病，各自只管一棵产品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树。错误出在它们被组合起来使用的那一刻。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46811" y="3190399"/>
              <a:ext cx="3914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控件必须同属一个平台，可是没有任何一处代码表达过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这个约束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7005638" y="4024312"/>
            <a:ext cx="4652962" cy="2252662"/>
            <a:chOff x="7005638" y="4024312"/>
            <a:chExt cx="4652962" cy="2252662"/>
          </a:xfrm>
        </p:grpSpPr>
        <p:sp>
          <p:nvSpPr>
            <p:cNvPr id="23" name="Rectangle 23"/>
            <p:cNvSpPr/>
            <p:nvPr/>
          </p:nvSpPr>
          <p:spPr>
            <a:xfrm>
              <a:off x="7005638" y="4024312"/>
              <a:ext cx="4652962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015162" y="4157662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253288" y="423386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35596" y="42695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课件原话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39112" y="426910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错的既不是调用方，也不是工厂类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45668" y="4630102"/>
              <a:ext cx="3768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陈伟老师课件第 26 页连问三句：调用方错了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吗？工厂类定义错了吗？都不是。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45668" y="5251132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接口允许传进任意枚举值、允许任意搭配两个工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就等于允许混搭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46811" y="586882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出路：让每个工厂子类只能创建本套内的产品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从工厂方法到抽象工厂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产品等级结构是一列，产品族是一行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758891" cy="308039"/>
            <a:chOff x="525399" y="1550194"/>
            <a:chExt cx="575889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7588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这两个词是本讲的全部新内容，先用一张行列表把它们钉住。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67865"/>
            <a:ext cx="4869180" cy="1917382"/>
            <a:chOff x="533400" y="1967865"/>
            <a:chExt cx="4869180" cy="191738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869180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产品等级结构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产品的继承结构。抽象类是电视机，子类有海尔电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视机、海信电视机、TCL 电视机，这就构成了一个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产品等级结构。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573" y="3476149"/>
              <a:ext cx="2451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一个产品等级结构 = 表中的一列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075748"/>
            <a:ext cx="4869180" cy="1917382"/>
            <a:chOff x="533400" y="4075748"/>
            <a:chExt cx="4869180" cy="1917382"/>
          </a:xfrm>
        </p:grpSpPr>
        <p:sp>
          <p:nvSpPr>
            <p:cNvPr id="17" name="Rectangle 17"/>
            <p:cNvSpPr/>
            <p:nvPr/>
          </p:nvSpPr>
          <p:spPr>
            <a:xfrm>
              <a:off x="533400" y="4075748"/>
              <a:ext cx="4869180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209098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42852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1258" y="43210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82078" y="43205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4681538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由同一个工厂生产的、位于不同产品等级结构中的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一组产品。海尔工厂生产的海尔电视机和海尔电冰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箱就是一个产品族。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573" y="5584031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一个产品族 = 表中的一行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5701665" y="1967865"/>
            <a:ext cx="5956935" cy="2090262"/>
            <a:chOff x="5701665" y="1967865"/>
            <a:chExt cx="5956935" cy="2090262"/>
          </a:xfrm>
        </p:grpSpPr>
        <p:sp>
          <p:nvSpPr>
            <p:cNvPr id="25" name="Rectangle 25"/>
            <p:cNvSpPr/>
            <p:nvPr/>
          </p:nvSpPr>
          <p:spPr>
            <a:xfrm>
              <a:off x="5707380" y="1967865"/>
              <a:ext cx="595122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82671" y="2102644"/>
              <a:ext cx="6156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Button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76959" y="2102644"/>
              <a:ext cx="720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TextBox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47753" y="2102644"/>
              <a:ext cx="6748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ListBox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15203" y="2551271"/>
              <a:ext cx="9695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24891" y="2551271"/>
              <a:ext cx="8679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WinButton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71750" y="2551271"/>
              <a:ext cx="9680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WinTextBox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19563" y="2551271"/>
              <a:ext cx="9242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WinListBox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07380" y="286035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07380" y="2865120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15203" y="3000851"/>
              <a:ext cx="6976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族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026592" y="2874645"/>
              <a:ext cx="152781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24891" y="3000851"/>
              <a:ext cx="1022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LinuxButton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73452" y="2874645"/>
              <a:ext cx="152781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71750" y="3000851"/>
              <a:ext cx="11226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LinuxTextBox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0121265" y="2874645"/>
              <a:ext cx="152781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19563" y="3000851"/>
              <a:ext cx="1078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LinuxListBox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707380" y="330898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15203" y="3449479"/>
              <a:ext cx="8965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Android 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24891" y="3449479"/>
              <a:ext cx="12122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AndroidButton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671750" y="3449479"/>
              <a:ext cx="13122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AndroidTextBox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19563" y="3449479"/>
              <a:ext cx="1268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AndroidListBox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707380" y="1967865"/>
              <a:ext cx="595122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12305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559165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106978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701665" y="3838099"/>
              <a:ext cx="4856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三列是三个产品等级结构，三行是三个产品族，高亮的一行就是 Linux 族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5707380" y="4204335"/>
            <a:ext cx="5951220" cy="1788795"/>
            <a:chOff x="5707380" y="4204335"/>
            <a:chExt cx="5951220" cy="1788795"/>
          </a:xfrm>
        </p:grpSpPr>
        <p:sp>
          <p:nvSpPr>
            <p:cNvPr id="53" name="Rectangle 53"/>
            <p:cNvSpPr/>
            <p:nvPr/>
          </p:nvSpPr>
          <p:spPr>
            <a:xfrm>
              <a:off x="5707380" y="4204335"/>
              <a:ext cx="5951220" cy="1788795"/>
            </a:xfrm>
            <a:prstGeom prst="roundRect">
              <a:avLst>
                <a:gd name="adj" fmla="val 745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916930" y="441388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003188" y="44496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怎么读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59880" y="444912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纵向是继承，横向是配套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09310" y="4810125"/>
              <a:ext cx="5184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同一列的类有共同的父类，它们之间是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可以替换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的关系。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909310" y="5145405"/>
              <a:ext cx="53865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同一行的类没有继承关系，它们之间是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必须一起用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的关系。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910453" y="547735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工厂方法只看一列，抽象工厂一次交出一整行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从工厂方法到抽象工厂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同一批类，按平台切还是按控件切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uml-1"/>
          <p:cNvGrpSpPr/>
          <p:nvPr/>
        </p:nvGrpSpPr>
        <p:grpSpPr>
          <a:xfrm>
            <a:off x="863918" y="1925955"/>
            <a:ext cx="4749164" cy="1691640"/>
            <a:chOff x="863918" y="1925955"/>
            <a:chExt cx="4749164" cy="1691640"/>
          </a:xfrm>
        </p:grpSpPr>
        <p:sp>
          <p:nvSpPr>
            <p:cNvPr id="7" name="Freeform 7"/>
            <p:cNvSpPr/>
            <p:nvPr/>
          </p:nvSpPr>
          <p:spPr>
            <a:xfrm>
              <a:off x="1435418" y="2495550"/>
              <a:ext cx="1803082" cy="678180"/>
            </a:xfrm>
            <a:custGeom>
              <a:avLst/>
              <a:gdLst/>
              <a:ahLst/>
              <a:cxnLst/>
              <a:rect l="l" t="t" r="r" b="b"/>
              <a:pathLst>
                <a:path w="1803082" h="678180">
                  <a:moveTo>
                    <a:pt x="0" y="678180"/>
                  </a:moveTo>
                  <a:lnTo>
                    <a:pt x="0" y="276225"/>
                  </a:lnTo>
                  <a:lnTo>
                    <a:pt x="1803082" y="276225"/>
                  </a:lnTo>
                  <a:lnTo>
                    <a:pt x="18030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165158" y="236982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238500" y="2495550"/>
              <a:ext cx="9525" cy="678180"/>
            </a:xfrm>
            <a:custGeom>
              <a:avLst/>
              <a:gdLst/>
              <a:ahLst/>
              <a:cxnLst/>
              <a:rect l="l" t="t" r="r" b="b"/>
              <a:pathLst>
                <a:path w="9525" h="678180">
                  <a:moveTo>
                    <a:pt x="0" y="67818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65158" y="236982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2495550"/>
              <a:ext cx="1803082" cy="678180"/>
            </a:xfrm>
            <a:custGeom>
              <a:avLst/>
              <a:gdLst/>
              <a:ahLst/>
              <a:cxnLst/>
              <a:rect l="l" t="t" r="r" b="b"/>
              <a:pathLst>
                <a:path w="1803082" h="678180">
                  <a:moveTo>
                    <a:pt x="1803082" y="678180"/>
                  </a:moveTo>
                  <a:lnTo>
                    <a:pt x="1803082" y="276225"/>
                  </a:lnTo>
                  <a:lnTo>
                    <a:pt x="0" y="27622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65158" y="236982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667000" y="1925955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674620" y="1932622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667000" y="217455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667000" y="226980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63918" y="317373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70585" y="3180398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63918" y="34223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63918" y="35175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667000" y="317373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74620" y="3180398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67000" y="34223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667000" y="35175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70082" y="317373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77702" y="3180398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470082" y="34223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470082" y="35175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842909" y="1985962"/>
              <a:ext cx="7911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WinControl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1884" y="3233738"/>
              <a:ext cx="747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WinButton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21858" y="3233738"/>
              <a:ext cx="833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WinTextBox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43807" y="3233738"/>
              <a:ext cx="795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WinListBox</a:t>
              </a:r>
            </a:p>
          </p:txBody>
        </p:sp>
      </p:grpSp>
      <p:grpSp>
        <p:nvGrpSpPr>
          <p:cNvPr id="41" name="c1-card-2"/>
          <p:cNvGrpSpPr/>
          <p:nvPr/>
        </p:nvGrpSpPr>
        <p:grpSpPr>
          <a:xfrm>
            <a:off x="533400" y="4210050"/>
            <a:ext cx="5410200" cy="1866900"/>
            <a:chOff x="533400" y="4210050"/>
            <a:chExt cx="5410200" cy="1866900"/>
          </a:xfrm>
        </p:grpSpPr>
        <p:sp>
          <p:nvSpPr>
            <p:cNvPr id="34" name="Rectangle 34"/>
            <p:cNvSpPr/>
            <p:nvPr/>
          </p:nvSpPr>
          <p:spPr>
            <a:xfrm>
              <a:off x="533400" y="4210050"/>
              <a:ext cx="5410200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343400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81050" y="4419600"/>
              <a:ext cx="94297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8201" y="4455319"/>
              <a:ext cx="78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组织形式-1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30705" y="445484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一个平台一棵树，工厂方法就够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3430" y="48158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只有一个产品等级结构参与创建，换平台等于换一个具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体工厂，加控件等于在树上添一片叶子。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573" y="5433536"/>
              <a:ext cx="47109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代价：跨平台的“按钮”没有共同抽象，客户端拿到 WinControl 后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无法只当按钮用</a:t>
              </a:r>
            </a:p>
          </p:txBody>
        </p:sp>
      </p:grpSp>
      <p:grpSp>
        <p:nvGrpSpPr>
          <p:cNvPr id="69" name="c2-uml-1"/>
          <p:cNvGrpSpPr/>
          <p:nvPr/>
        </p:nvGrpSpPr>
        <p:grpSpPr>
          <a:xfrm>
            <a:off x="6578918" y="1851660"/>
            <a:ext cx="4755832" cy="1765935"/>
            <a:chOff x="6578918" y="1851660"/>
            <a:chExt cx="4755832" cy="1765935"/>
          </a:xfrm>
        </p:grpSpPr>
        <p:sp>
          <p:nvSpPr>
            <p:cNvPr id="42" name="Freeform 42"/>
            <p:cNvSpPr/>
            <p:nvPr/>
          </p:nvSpPr>
          <p:spPr>
            <a:xfrm>
              <a:off x="7150418" y="2569845"/>
              <a:ext cx="1803082" cy="603885"/>
            </a:xfrm>
            <a:custGeom>
              <a:avLst/>
              <a:gdLst/>
              <a:ahLst/>
              <a:cxnLst/>
              <a:rect l="l" t="t" r="r" b="b"/>
              <a:pathLst>
                <a:path w="1803082" h="603885">
                  <a:moveTo>
                    <a:pt x="0" y="603885"/>
                  </a:moveTo>
                  <a:lnTo>
                    <a:pt x="0" y="239077"/>
                  </a:lnTo>
                  <a:lnTo>
                    <a:pt x="1803082" y="239077"/>
                  </a:lnTo>
                  <a:lnTo>
                    <a:pt x="18030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3" name="Freeform 43"/>
            <p:cNvSpPr/>
            <p:nvPr/>
          </p:nvSpPr>
          <p:spPr>
            <a:xfrm>
              <a:off x="8880158" y="24441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953500" y="2569845"/>
              <a:ext cx="9525" cy="603885"/>
            </a:xfrm>
            <a:custGeom>
              <a:avLst/>
              <a:gdLst/>
              <a:ahLst/>
              <a:cxnLst/>
              <a:rect l="l" t="t" r="r" b="b"/>
              <a:pathLst>
                <a:path w="9525" h="603885">
                  <a:moveTo>
                    <a:pt x="0" y="60388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5" name="Freeform 45"/>
            <p:cNvSpPr/>
            <p:nvPr/>
          </p:nvSpPr>
          <p:spPr>
            <a:xfrm>
              <a:off x="8880158" y="24441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953500" y="2569845"/>
              <a:ext cx="1803082" cy="603885"/>
            </a:xfrm>
            <a:custGeom>
              <a:avLst/>
              <a:gdLst/>
              <a:ahLst/>
              <a:cxnLst/>
              <a:rect l="l" t="t" r="r" b="b"/>
              <a:pathLst>
                <a:path w="1803082" h="603885">
                  <a:moveTo>
                    <a:pt x="1803082" y="603885"/>
                  </a:moveTo>
                  <a:lnTo>
                    <a:pt x="1803082" y="239077"/>
                  </a:lnTo>
                  <a:lnTo>
                    <a:pt x="0" y="239077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7" name="Freeform 47"/>
            <p:cNvSpPr/>
            <p:nvPr/>
          </p:nvSpPr>
          <p:spPr>
            <a:xfrm>
              <a:off x="8880158" y="24441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382000" y="1851660"/>
              <a:ext cx="1143000" cy="59245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8389620" y="1859280"/>
              <a:ext cx="1128712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382000" y="224885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8382000" y="234410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578918" y="317373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585585" y="3180398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578918" y="34223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578918" y="35175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382000" y="3173730"/>
              <a:ext cx="1143000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389620" y="3180398"/>
              <a:ext cx="112871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382000" y="34223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382000" y="351758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178415" y="3173730"/>
              <a:ext cx="1156335" cy="44386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186035" y="3180398"/>
              <a:ext cx="1142048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178415" y="3422332"/>
              <a:ext cx="11563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178415" y="3517582"/>
              <a:ext cx="11563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597379" y="1908810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700965" y="2060257"/>
              <a:ext cx="505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Button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776884" y="3233738"/>
              <a:ext cx="747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WinButton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513323" y="3233738"/>
              <a:ext cx="88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LinuxButton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234745" y="3233738"/>
              <a:ext cx="1043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AndroidButton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6248400" y="4210050"/>
            <a:ext cx="5410200" cy="1866900"/>
            <a:chOff x="6248400" y="4210050"/>
            <a:chExt cx="5410200" cy="1866900"/>
          </a:xfrm>
        </p:grpSpPr>
        <p:sp>
          <p:nvSpPr>
            <p:cNvPr id="70" name="Rectangle 70"/>
            <p:cNvSpPr/>
            <p:nvPr/>
          </p:nvSpPr>
          <p:spPr>
            <a:xfrm>
              <a:off x="6248400" y="4210050"/>
              <a:ext cx="5410200" cy="1866900"/>
            </a:xfrm>
            <a:prstGeom prst="roundRect">
              <a:avLst>
                <a:gd name="adj" fmla="val 714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57950" y="4419600"/>
              <a:ext cx="942975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535101" y="4455319"/>
              <a:ext cx="78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组织形式-2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07605" y="445484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三棵树并存，才需要抽象工厂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50330" y="4815840"/>
              <a:ext cx="4730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TextBox、ListBox 各有一棵同样形状的树。客户端要同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时用三棵树的产品，而且必须同平台。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51473" y="543353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这正是抽象工厂的用武之地，本讲后面都按这种组织形式讲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从工厂方法到抽象工厂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工厂按产品树分，还是按系列分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469734" cy="278702"/>
            <a:chOff x="526161" y="1547336"/>
            <a:chExt cx="746973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4697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陈伟老师课件的第二个例子：学生要用课程、教师、教材三样东西，而且它们必须配套。</a:t>
              </a:r>
            </a:p>
          </p:txBody>
        </p:sp>
      </p:grpSp>
      <p:grpSp>
        <p:nvGrpSpPr>
          <p:cNvPr id="34" name="c1-table-1"/>
          <p:cNvGrpSpPr/>
          <p:nvPr/>
        </p:nvGrpSpPr>
        <p:grpSpPr>
          <a:xfrm>
            <a:off x="528066" y="1941195"/>
            <a:ext cx="5415534" cy="1903666"/>
            <a:chOff x="528066" y="1941195"/>
            <a:chExt cx="5415534" cy="1903666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934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4567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6110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教师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2987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教材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471261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系列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99235" y="2471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基础英语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06077" y="24712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公外教师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29138" y="24712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基础英语教材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7479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75272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77026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系列 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99235" y="28770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专业英语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06077" y="28770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专业英语教师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9138" y="28770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专业英语教材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537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82791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系列 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99235" y="32827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软件工程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06077" y="328279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专业课教师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9138" y="328279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软件工程教材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941195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39446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80130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42436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8066" y="3639502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三列是三个产品等级结构，三行是三个系列，也就是三个产品族</a:t>
              </a:r>
            </a:p>
          </p:txBody>
        </p:sp>
      </p:grpSp>
      <p:grpSp>
        <p:nvGrpSpPr>
          <p:cNvPr id="42" name="c1-card-2"/>
          <p:cNvGrpSpPr/>
          <p:nvPr/>
        </p:nvGrpSpPr>
        <p:grpSpPr>
          <a:xfrm>
            <a:off x="533400" y="3978592"/>
            <a:ext cx="5410200" cy="2200275"/>
            <a:chOff x="533400" y="3978592"/>
            <a:chExt cx="5410200" cy="2200275"/>
          </a:xfrm>
        </p:grpSpPr>
        <p:sp>
          <p:nvSpPr>
            <p:cNvPr id="35" name="Rectangle 35"/>
            <p:cNvSpPr/>
            <p:nvPr/>
          </p:nvSpPr>
          <p:spPr>
            <a:xfrm>
              <a:off x="533400" y="3978592"/>
              <a:ext cx="5410200" cy="2200275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4111942"/>
              <a:ext cx="47625" cy="19335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63905" y="417099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7344" y="420528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一般方案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614297" y="42100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三个工厂各管一棵树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7047" y="4544378"/>
              <a:ext cx="47714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 Factory、教师 Factory、教材 Factory 各自按编号造产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品，写法上完全符合工厂方法。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7047" y="510444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但调用方可以取基础英语课程配专业英语教师，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跨系列的组合</a:t>
              </a:r>
              <a:br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谁也拦不住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3" name="c2-compare-1"/>
          <p:cNvGrpSpPr/>
          <p:nvPr/>
        </p:nvGrpSpPr>
        <p:grpSpPr>
          <a:xfrm>
            <a:off x="6248400" y="1941195"/>
            <a:ext cx="5410200" cy="2571750"/>
            <a:chOff x="6248400" y="1941195"/>
            <a:chExt cx="5410200" cy="2571750"/>
          </a:xfrm>
        </p:grpSpPr>
        <p:sp>
          <p:nvSpPr>
            <p:cNvPr id="43" name="Rectangle 43"/>
            <p:cNvSpPr/>
            <p:nvPr/>
          </p:nvSpPr>
          <p:spPr>
            <a:xfrm>
              <a:off x="6248400" y="1941195"/>
              <a:ext cx="2155508" cy="2571750"/>
            </a:xfrm>
            <a:prstGeom prst="roundRect">
              <a:avLst>
                <a:gd name="adj" fmla="val 61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2074545"/>
              <a:ext cx="47625" cy="23050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72047" y="215646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按产品树分工厂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87478" y="253269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43497" y="2476500"/>
              <a:ext cx="141103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工厂个数 = 产品等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级结构个数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87478" y="309181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43497" y="3035618"/>
              <a:ext cx="1385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创建方法带参数，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由调用方选具体产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品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87478" y="390906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43497" y="3852862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配套关系只能写在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注释和文档里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503092" y="1941195"/>
              <a:ext cx="2155508" cy="2571750"/>
            </a:xfrm>
            <a:prstGeom prst="roundRect">
              <a:avLst>
                <a:gd name="adj" fmla="val 61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512618" y="2074545"/>
              <a:ext cx="47625" cy="2305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726740" y="215646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按系列分工厂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9742170" y="253269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898190" y="2476500"/>
              <a:ext cx="141103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工厂个数 = 系列个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9742170" y="309181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898190" y="3035618"/>
              <a:ext cx="1385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创建方法不带参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数，一个工厂一套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9742170" y="390906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898190" y="3852862"/>
              <a:ext cx="1385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配套关系由工厂对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象本身保证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8451532" y="2725102"/>
              <a:ext cx="1003935" cy="100393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486800" y="316658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换一个划分维度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248400" y="4688205"/>
            <a:ext cx="5410200" cy="1490662"/>
            <a:chOff x="6248400" y="4688205"/>
            <a:chExt cx="5410200" cy="1490662"/>
          </a:xfrm>
        </p:grpSpPr>
        <p:sp>
          <p:nvSpPr>
            <p:cNvPr id="64" name="Rectangle 64"/>
            <p:cNvSpPr/>
            <p:nvPr/>
          </p:nvSpPr>
          <p:spPr>
            <a:xfrm>
              <a:off x="6248400" y="4688205"/>
              <a:ext cx="5410200" cy="1490662"/>
            </a:xfrm>
            <a:prstGeom prst="roundRect">
              <a:avLst>
                <a:gd name="adj" fmla="val 894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40805" y="488061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20244" y="49149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再抽象一步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24547" y="492061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把三个系列工厂的公共接口提出来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33947" y="5254942"/>
              <a:ext cx="48314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三个系列工厂都有 Create课程()、Create教师()、Create教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材()，提取出一个抽象工厂作为父类，客户端就只认这个父类。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35090" y="581072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到这里抽象工厂模式的结构已经出来了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35499" cy="2997517"/>
            <a:chOff x="667512" y="1835468"/>
            <a:chExt cx="513549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定义、结构与四个角色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记住类图，也记住方法个数和工厂个数各由什么决定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定义、别名与归类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标准类图与四个角色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本质是选择产品族的实现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定义：创建一系列相关对象，而不指定它们的类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951220" cy="1966912"/>
            <a:chOff x="533400" y="1524000"/>
            <a:chExt cx="5951220" cy="19669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966912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0021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43442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抽象工厂模式（Abstract Factory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提供一个创建一系列相关或相互依赖对象的接口，而无须指定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它们具体的类。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3795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又称为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Kit 模式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，属于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对象创建型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4573" y="3082766"/>
              <a:ext cx="3476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“一系列相关或相互依赖”指的就是一个产品族</a:t>
              </a:r>
            </a:p>
          </p:txBody>
        </p:sp>
      </p:grpSp>
      <p:grpSp>
        <p:nvGrpSpPr>
          <p:cNvPr id="24" name="c1-kv-2"/>
          <p:cNvGrpSpPr/>
          <p:nvPr/>
        </p:nvGrpSpPr>
        <p:grpSpPr>
          <a:xfrm>
            <a:off x="525780" y="3706178"/>
            <a:ext cx="5958840" cy="1173480"/>
            <a:chOff x="525780" y="3706178"/>
            <a:chExt cx="5958840" cy="1173480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370617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针对什么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64055" y="3706178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多个产品等级结构；工厂方法只针对一个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02621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414623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谁来保证配套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64055" y="4146232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具体工厂；它造出的产品天然属于同一族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4662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458628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地位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64055" y="4586288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所有形式的工厂模式中最抽象、最具一般性的一种</a:t>
              </a:r>
            </a:p>
          </p:txBody>
        </p:sp>
      </p:grpSp>
      <p:grpSp>
        <p:nvGrpSpPr>
          <p:cNvPr id="31" name="c1-card-3"/>
          <p:cNvGrpSpPr/>
          <p:nvPr/>
        </p:nvGrpSpPr>
        <p:grpSpPr>
          <a:xfrm>
            <a:off x="533400" y="5011102"/>
            <a:ext cx="5951220" cy="1335405"/>
            <a:chOff x="533400" y="5011102"/>
            <a:chExt cx="5951220" cy="1335405"/>
          </a:xfrm>
        </p:grpSpPr>
        <p:sp>
          <p:nvSpPr>
            <p:cNvPr id="25" name="Rectangle 25"/>
            <p:cNvSpPr/>
            <p:nvPr/>
          </p:nvSpPr>
          <p:spPr>
            <a:xfrm>
              <a:off x="533400" y="5011102"/>
              <a:ext cx="5951220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5144452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81050" y="522065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3359" y="52563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名称由来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65922" y="5255895"/>
              <a:ext cx="1860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为什么又叫 Kit 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30" y="5616892"/>
              <a:ext cx="5101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Kit 是成套工具箱的意思。一个具体工厂就像一只配好的工具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箱，打开它拿到的是一整套，每一件都对得上。</a:t>
              </a:r>
            </a:p>
          </p:txBody>
        </p:sp>
      </p:grpSp>
      <p:grpSp>
        <p:nvGrpSpPr>
          <p:cNvPr id="39" name="c2-bullets-1"/>
          <p:cNvGrpSpPr/>
          <p:nvPr/>
        </p:nvGrpSpPr>
        <p:grpSpPr>
          <a:xfrm>
            <a:off x="6781800" y="1548765"/>
            <a:ext cx="4342258" cy="1337310"/>
            <a:chOff x="6781800" y="1548765"/>
            <a:chExt cx="4342258" cy="1337310"/>
          </a:xfrm>
        </p:grpSpPr>
        <p:sp>
          <p:nvSpPr>
            <p:cNvPr id="32" name="TextBox 32"/>
            <p:cNvSpPr txBox="1"/>
            <p:nvPr/>
          </p:nvSpPr>
          <p:spPr>
            <a:xfrm>
              <a:off x="6781800" y="15487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两个数量关系要背下来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789420" y="1934528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39928" y="1903095"/>
              <a:ext cx="4084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抽象工厂里方法的个数 = 产品等级结构的个数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789420" y="2279332"/>
              <a:ext cx="143828" cy="117157"/>
            </a:xfrm>
            <a:custGeom>
              <a:avLst/>
              <a:gdLst/>
              <a:ahLst/>
              <a:cxnLst/>
              <a:rect l="l" t="t" r="r" b="b"/>
              <a:pathLst>
                <a:path w="143828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39928" y="2247900"/>
              <a:ext cx="2872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具体工厂的个数 = 产品族的个数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789420" y="2624138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39928" y="2592705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具体产品类的个数 = 两者相乘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789420" y="3017520"/>
            <a:ext cx="4869180" cy="3328988"/>
            <a:chOff x="6789420" y="3017520"/>
            <a:chExt cx="4869180" cy="3328988"/>
          </a:xfrm>
        </p:grpSpPr>
        <p:sp>
          <p:nvSpPr>
            <p:cNvPr id="40" name="Rectangle 40"/>
            <p:cNvSpPr/>
            <p:nvPr/>
          </p:nvSpPr>
          <p:spPr>
            <a:xfrm>
              <a:off x="6789420" y="3017520"/>
              <a:ext cx="4869180" cy="3328988"/>
            </a:xfrm>
            <a:prstGeom prst="roundRect">
              <a:avLst>
                <a:gd name="adj" fmla="val 400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98970" y="322707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63575" y="326278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与工厂方法的分界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91350" y="360426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一次交出一个，还是一次交出一族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91350" y="3958590"/>
              <a:ext cx="42252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工厂方法的具体工厂只回答“造哪一个”；抽象工厂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的具体工厂要回答“这一族里每一种各造哪一个”。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91350" y="457962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当一个工厂等级结构可以创建出分属不同产品等级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结构的一整族对象时，抽象工厂比工厂方法更简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单、更有效率。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模式结构：一棵工厂树，配上若干棵形状相同的产品树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523986" cy="308039"/>
            <a:chOff x="525399" y="1550194"/>
            <a:chExt cx="852398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5239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图里只画了两个产品等级结构、两个产品族，等级结构再多也只是把右边的列再复制几份。</a:t>
              </a:r>
            </a:p>
          </p:txBody>
        </p:sp>
      </p:grpSp>
      <p:grpSp>
        <p:nvGrpSpPr>
          <p:cNvPr id="79" name="c1-uml-1"/>
          <p:cNvGrpSpPr/>
          <p:nvPr/>
        </p:nvGrpSpPr>
        <p:grpSpPr>
          <a:xfrm>
            <a:off x="790575" y="2402205"/>
            <a:ext cx="10512743" cy="2722816"/>
            <a:chOff x="790575" y="2402205"/>
            <a:chExt cx="10512743" cy="2722816"/>
          </a:xfrm>
        </p:grpSpPr>
        <p:sp>
          <p:nvSpPr>
            <p:cNvPr id="9" name="Freeform 9"/>
            <p:cNvSpPr/>
            <p:nvPr/>
          </p:nvSpPr>
          <p:spPr>
            <a:xfrm>
              <a:off x="1460182" y="3278505"/>
              <a:ext cx="927735" cy="904875"/>
            </a:xfrm>
            <a:custGeom>
              <a:avLst/>
              <a:gdLst/>
              <a:ahLst/>
              <a:cxnLst/>
              <a:rect l="l" t="t" r="r" b="b"/>
              <a:pathLst>
                <a:path w="927735" h="904875">
                  <a:moveTo>
                    <a:pt x="0" y="904875"/>
                  </a:moveTo>
                  <a:lnTo>
                    <a:pt x="0" y="389573"/>
                  </a:lnTo>
                  <a:lnTo>
                    <a:pt x="927735" y="389573"/>
                  </a:lnTo>
                  <a:lnTo>
                    <a:pt x="92773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14575" y="315277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387918" y="3278505"/>
              <a:ext cx="926783" cy="904875"/>
            </a:xfrm>
            <a:custGeom>
              <a:avLst/>
              <a:gdLst/>
              <a:ahLst/>
              <a:cxnLst/>
              <a:rect l="l" t="t" r="r" b="b"/>
              <a:pathLst>
                <a:path w="926783" h="904875">
                  <a:moveTo>
                    <a:pt x="926783" y="904875"/>
                  </a:moveTo>
                  <a:lnTo>
                    <a:pt x="926783" y="389573"/>
                  </a:lnTo>
                  <a:lnTo>
                    <a:pt x="0" y="38957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314575" y="315277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169218" y="3265170"/>
              <a:ext cx="926782" cy="918210"/>
            </a:xfrm>
            <a:custGeom>
              <a:avLst/>
              <a:gdLst/>
              <a:ahLst/>
              <a:cxnLst/>
              <a:rect l="l" t="t" r="r" b="b"/>
              <a:pathLst>
                <a:path w="926782" h="918210">
                  <a:moveTo>
                    <a:pt x="0" y="918210"/>
                  </a:moveTo>
                  <a:lnTo>
                    <a:pt x="0" y="396240"/>
                  </a:lnTo>
                  <a:lnTo>
                    <a:pt x="926782" y="396240"/>
                  </a:lnTo>
                  <a:lnTo>
                    <a:pt x="9267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6022658" y="31394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096000" y="3265170"/>
              <a:ext cx="926782" cy="918210"/>
            </a:xfrm>
            <a:custGeom>
              <a:avLst/>
              <a:gdLst/>
              <a:ahLst/>
              <a:cxnLst/>
              <a:rect l="l" t="t" r="r" b="b"/>
              <a:pathLst>
                <a:path w="926782" h="918210">
                  <a:moveTo>
                    <a:pt x="926782" y="918210"/>
                  </a:moveTo>
                  <a:lnTo>
                    <a:pt x="926782" y="396240"/>
                  </a:lnTo>
                  <a:lnTo>
                    <a:pt x="0" y="39624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6022658" y="31394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877300" y="3265170"/>
              <a:ext cx="926782" cy="918210"/>
            </a:xfrm>
            <a:custGeom>
              <a:avLst/>
              <a:gdLst/>
              <a:ahLst/>
              <a:cxnLst/>
              <a:rect l="l" t="t" r="r" b="b"/>
              <a:pathLst>
                <a:path w="926782" h="918210">
                  <a:moveTo>
                    <a:pt x="0" y="918210"/>
                  </a:moveTo>
                  <a:lnTo>
                    <a:pt x="0" y="396240"/>
                  </a:lnTo>
                  <a:lnTo>
                    <a:pt x="926782" y="396240"/>
                  </a:lnTo>
                  <a:lnTo>
                    <a:pt x="9267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9730740" y="31394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9804082" y="3265170"/>
              <a:ext cx="927735" cy="918210"/>
            </a:xfrm>
            <a:custGeom>
              <a:avLst/>
              <a:gdLst/>
              <a:ahLst/>
              <a:cxnLst/>
              <a:rect l="l" t="t" r="r" b="b"/>
              <a:pathLst>
                <a:path w="927735" h="918210">
                  <a:moveTo>
                    <a:pt x="927735" y="918210"/>
                  </a:moveTo>
                  <a:lnTo>
                    <a:pt x="927735" y="396240"/>
                  </a:lnTo>
                  <a:lnTo>
                    <a:pt x="0" y="39624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9730740" y="313944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460182" y="4609148"/>
              <a:ext cx="3709035" cy="209550"/>
            </a:xfrm>
            <a:custGeom>
              <a:avLst/>
              <a:gdLst/>
              <a:ahLst/>
              <a:cxnLst/>
              <a:rect l="l" t="t" r="r" b="b"/>
              <a:pathLst>
                <a:path w="3709035" h="209550">
                  <a:moveTo>
                    <a:pt x="0" y="0"/>
                  </a:moveTo>
                  <a:lnTo>
                    <a:pt x="0" y="209550"/>
                  </a:lnTo>
                  <a:lnTo>
                    <a:pt x="3523298" y="209550"/>
                  </a:lnTo>
                  <a:lnTo>
                    <a:pt x="3709035" y="209550"/>
                  </a:lnTo>
                  <a:lnTo>
                    <a:pt x="370903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5111115" y="4609148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115253" y="104775"/>
                  </a:moveTo>
                  <a:lnTo>
                    <a:pt x="58103" y="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460182" y="4609148"/>
              <a:ext cx="7417118" cy="500062"/>
            </a:xfrm>
            <a:custGeom>
              <a:avLst/>
              <a:gdLst/>
              <a:ahLst/>
              <a:cxnLst/>
              <a:rect l="l" t="t" r="r" b="b"/>
              <a:pathLst>
                <a:path w="7417118" h="500062">
                  <a:moveTo>
                    <a:pt x="0" y="0"/>
                  </a:moveTo>
                  <a:lnTo>
                    <a:pt x="0" y="209550"/>
                  </a:lnTo>
                  <a:lnTo>
                    <a:pt x="0" y="500062"/>
                  </a:lnTo>
                  <a:lnTo>
                    <a:pt x="5192077" y="500062"/>
                  </a:lnTo>
                  <a:lnTo>
                    <a:pt x="7417118" y="500062"/>
                  </a:lnTo>
                  <a:lnTo>
                    <a:pt x="7417118" y="209550"/>
                  </a:lnTo>
                  <a:lnTo>
                    <a:pt x="741711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8820150" y="4609148"/>
              <a:ext cx="114300" cy="104775"/>
            </a:xfrm>
            <a:custGeom>
              <a:avLst/>
              <a:gdLst/>
              <a:ahLst/>
              <a:cxnLst/>
              <a:rect l="l" t="t" r="r" b="b"/>
              <a:pathLst>
                <a:path w="114300" h="104775">
                  <a:moveTo>
                    <a:pt x="114300" y="104775"/>
                  </a:moveTo>
                  <a:lnTo>
                    <a:pt x="57150" y="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208722" y="2402205"/>
              <a:ext cx="235839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215390" y="2408872"/>
              <a:ext cx="234410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208722" y="2632710"/>
              <a:ext cx="23583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208722" y="2727960"/>
              <a:ext cx="23583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5440" y="2414588"/>
              <a:ext cx="1340168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33060" y="2421255"/>
              <a:ext cx="1325880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5440" y="2782252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5440" y="2877502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134475" y="2414588"/>
              <a:ext cx="1340168" cy="7248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141142" y="2421255"/>
              <a:ext cx="1325880" cy="36480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134475" y="2782252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134475" y="2877502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90575" y="4183380"/>
              <a:ext cx="1340168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97242" y="4191000"/>
              <a:ext cx="1325880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90575" y="4413885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90575" y="4509135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644140" y="4183380"/>
              <a:ext cx="1340168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651760" y="4191000"/>
              <a:ext cx="1325880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644140" y="4413885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644140" y="4509135"/>
              <a:ext cx="13401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597718" y="4183380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4604385" y="419100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597718" y="44138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597718" y="45091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51282" y="4183380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58902" y="419100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51282" y="44138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51282" y="45091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305800" y="4183380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313420" y="419100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305800" y="44138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305800" y="45091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160318" y="4183380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166985" y="419100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160318" y="44138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160318" y="45091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807241" y="2457926"/>
              <a:ext cx="11613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AbstractFactory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280160" y="2797492"/>
              <a:ext cx="221551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createProductA(): AbstractProductA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createProductB(): AbstractProductB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771111" y="2467451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475073" y="2607469"/>
              <a:ext cx="1241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AbstractProductA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496878" y="2947035"/>
              <a:ext cx="7849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use(): void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479194" y="2467451"/>
              <a:ext cx="649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183155" y="2607469"/>
              <a:ext cx="1241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AbstractProductB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05912" y="2947035"/>
              <a:ext cx="7849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run(): void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41124" y="4239101"/>
              <a:ext cx="12381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ConcreteFactory1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695641" y="4239101"/>
              <a:ext cx="12381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ConcreteFactory2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816566" y="4239101"/>
              <a:ext cx="7053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ProductA1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70131" y="4239101"/>
              <a:ext cx="7053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ProductA2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524649" y="4239101"/>
              <a:ext cx="7053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ProductB1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379166" y="4239101"/>
              <a:ext cx="7053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ProductB2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008120" y="4602480"/>
              <a:ext cx="68199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032809" y="462915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«create»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3715702" y="4892992"/>
              <a:ext cx="68199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740391" y="4919662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«create»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80" name="Rectangle 8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0130" y="5728335"/>
              <a:ext cx="9911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读图：空心三角从子类指向父类或接口；两条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«create»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虚线指出 ConcreteFactory1 负责的那一族是 ProductA1 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ProductB1。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四个角色各写什么，对照界面皮肤的例子记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6383655" cy="3150870"/>
            <a:chOff x="533400" y="1524000"/>
            <a:chExt cx="6383655" cy="3150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383655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1662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102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职责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96395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界面皮肤例子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4211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AbstractFactory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65248" y="2108359"/>
              <a:ext cx="2613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声明一组创建方法，每个方法对应一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个产品等级结构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29441" y="2221706"/>
              <a:ext cx="1022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SkinFactory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3836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38365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2657475"/>
              <a:ext cx="1704975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2783681"/>
              <a:ext cx="14211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ConcreteFactory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65248" y="2783681"/>
              <a:ext cx="2613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实现这组方法，造出的产品合起来正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好是一个产品族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29441" y="2897029"/>
              <a:ext cx="1303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WinSkinFactory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63836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59004"/>
              <a:ext cx="14211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AbstractProduct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抽象产品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65248" y="3459004"/>
              <a:ext cx="2613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为每一种产品声明接口，同时是创建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方法的返回类型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29441" y="3459004"/>
              <a:ext cx="7119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Button、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TextBox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994785"/>
              <a:ext cx="63836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999548"/>
              <a:ext cx="638365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134326"/>
              <a:ext cx="14211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ConcreteProduct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具体产品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65248" y="4134326"/>
              <a:ext cx="2613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实现抽象产品接口，由某一个具体工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厂负责创建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29441" y="4134326"/>
              <a:ext cx="97205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WinButton、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WinTextBox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6383655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252662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16855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4865370"/>
            <a:ext cx="6383655" cy="1335405"/>
            <a:chOff x="533400" y="4865370"/>
            <a:chExt cx="6383655" cy="1335405"/>
          </a:xfrm>
        </p:grpSpPr>
        <p:sp>
          <p:nvSpPr>
            <p:cNvPr id="33" name="Rectangle 33"/>
            <p:cNvSpPr/>
            <p:nvPr/>
          </p:nvSpPr>
          <p:spPr>
            <a:xfrm>
              <a:off x="533400" y="4865370"/>
              <a:ext cx="6383655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99872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81050" y="50749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71258" y="51106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82078" y="5110162"/>
              <a:ext cx="39098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角色名里带 Abstract 的，客户端只认它们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3430" y="5471160"/>
              <a:ext cx="553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客户端代码里出现的类型只有抽象工厂和各个抽象产品，具体工厂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的类名交给配置文件，具体产品的类名一次也不出现。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7221855" y="1524000"/>
            <a:ext cx="4436745" cy="2863215"/>
            <a:chOff x="7221855" y="1524000"/>
            <a:chExt cx="4436745" cy="2863215"/>
          </a:xfrm>
        </p:grpSpPr>
        <p:sp>
          <p:nvSpPr>
            <p:cNvPr id="40" name="Rectangle 40"/>
            <p:cNvSpPr/>
            <p:nvPr/>
          </p:nvSpPr>
          <p:spPr>
            <a:xfrm>
              <a:off x="7221855" y="1524000"/>
              <a:ext cx="4436745" cy="2863215"/>
            </a:xfrm>
            <a:prstGeom prst="roundRect">
              <a:avLst>
                <a:gd name="adj" fmla="val 4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231380" y="1657350"/>
              <a:ext cx="47625" cy="25965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46950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51814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接线规则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55330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三条写代码时的硬规定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469505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31354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70495" y="2129790"/>
              <a:ext cx="3501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每个创建方法的返回类型写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抽象产品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成具体产品客户端又被拉回去依赖具体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469505" y="302323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31354" y="3065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70495" y="3036570"/>
              <a:ext cx="340947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创建方法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不能是 static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，静态方法不能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被子类覆盖，多态就没了。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469505" y="364426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31354" y="36865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70495" y="3657600"/>
              <a:ext cx="3529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一个具体工厂内部只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本族的产品，跨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族的一行都不能写。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7221855" y="4577715"/>
            <a:ext cx="4436745" cy="1623060"/>
            <a:chOff x="7221855" y="4577715"/>
            <a:chExt cx="4436745" cy="1623060"/>
          </a:xfrm>
        </p:grpSpPr>
        <p:sp>
          <p:nvSpPr>
            <p:cNvPr id="55" name="Rectangle 55"/>
            <p:cNvSpPr/>
            <p:nvPr/>
          </p:nvSpPr>
          <p:spPr>
            <a:xfrm>
              <a:off x="7221855" y="4577715"/>
              <a:ext cx="4436745" cy="1623060"/>
            </a:xfrm>
            <a:prstGeom prst="roundRect">
              <a:avLst>
                <a:gd name="adj" fmla="val 8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231380" y="4711065"/>
              <a:ext cx="47625" cy="135636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469505" y="47872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551814" y="48229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常见误解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55330" y="4822508"/>
              <a:ext cx="26716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“方法多”不是抽象工厂的标志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61885" y="5183505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判断依据是这些方法造出来的东西必须配套使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用，而不是方法的个数。只是恰好有几个创建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方法的工厂，仍然是工厂方法。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本质：为一个产品族选择实现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5634038" cy="2019300"/>
            <a:chOff x="525780" y="1548765"/>
            <a:chExt cx="5634038" cy="201930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工厂方法的本质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162175" y="1548765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选择单个产品的实现。一个类里即使有多个工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厂方法，它们之间一般也没有联系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1507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27076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抽象工厂的本质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62175" y="2270760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选择产品族的实现。定义在抽象工厂里的方法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通常有联系，是产品的某一部分或者相互依赖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87274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9927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退化条件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62175" y="2992755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抽象工厂里只定义一个方法直接创建产品，就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退回工厂方法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99510"/>
            <a:ext cx="5626418" cy="1887855"/>
            <a:chOff x="533400" y="3699510"/>
            <a:chExt cx="5626418" cy="1887855"/>
          </a:xfrm>
        </p:grpSpPr>
        <p:sp>
          <p:nvSpPr>
            <p:cNvPr id="16" name="Rectangle 16"/>
            <p:cNvSpPr/>
            <p:nvPr/>
          </p:nvSpPr>
          <p:spPr>
            <a:xfrm>
              <a:off x="533400" y="3699510"/>
              <a:ext cx="5626418" cy="1887855"/>
            </a:xfrm>
            <a:prstGeom prst="roundRect">
              <a:avLst>
                <a:gd name="adj" fmla="val 706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42950" y="390906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5259" y="39447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模式本质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27822" y="394430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选中的是一整套实现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5330" y="430530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客户端挑的是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哪一套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：挑中 WinSkinFactory，此后所有控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件都是 Windows 风格，挑的动作只发生一次。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6473" y="4922996"/>
              <a:ext cx="4286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张欣佳老师课件第 27 页把它总结成“选择产品簇的实现”</a:t>
              </a:r>
            </a:p>
          </p:txBody>
        </p:sp>
      </p:grpSp>
      <p:grpSp>
        <p:nvGrpSpPr>
          <p:cNvPr id="25" name="c2-image-1"/>
          <p:cNvGrpSpPr/>
          <p:nvPr/>
        </p:nvGrpSpPr>
        <p:grpSpPr>
          <a:xfrm>
            <a:off x="6464618" y="1524000"/>
            <a:ext cx="5193982" cy="2562702"/>
            <a:chOff x="6464618" y="1524000"/>
            <a:chExt cx="5193982" cy="2562702"/>
          </a:xfrm>
        </p:grpSpPr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2"/>
            <a:srcRect l="0" t="21148" r="0" b="21147"/>
            <a:stretch>
              <a:fillRect/>
            </a:stretch>
          </p:blipFill>
          <p:spPr>
            <a:xfrm>
              <a:off x="6464618" y="1524000"/>
              <a:ext cx="5193982" cy="2247900"/>
            </a:xfrm>
            <a:prstGeom prst="roundRect">
              <a:avLst>
                <a:gd name="adj" fmla="val 5932"/>
              </a:avLst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6794754" y="3866674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一套茶具花色一致才叫一套，混进一只别套的杯子，一眼就看得出来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464618" y="4251960"/>
            <a:ext cx="5193982" cy="1335405"/>
            <a:chOff x="6464618" y="4251960"/>
            <a:chExt cx="5193982" cy="1335405"/>
          </a:xfrm>
        </p:grpSpPr>
        <p:sp>
          <p:nvSpPr>
            <p:cNvPr id="26" name="Rectangle 26"/>
            <p:cNvSpPr/>
            <p:nvPr/>
          </p:nvSpPr>
          <p:spPr>
            <a:xfrm>
              <a:off x="6464618" y="4251960"/>
              <a:ext cx="5193982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4142" y="438531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12268" y="44615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03428" y="44972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类比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13295" y="449675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端出去的是整盘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4648" y="485775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抽象工厂做的事就是把整盘端出去。客户端只接触托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盘，也就没机会把两套混在一起。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802761" cy="2997517"/>
            <a:chOff x="667512" y="1835468"/>
            <a:chExt cx="380276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29600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实现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用界面皮肤这一个例子把整套骨架写完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两个产品等级结构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两个具体工厂就是两个产品族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配置文件加反射去掉最后一处类名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745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93" y="407194"/>
              <a:ext cx="1723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Java 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代码实现（一）：两个产品等级结构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477000" cy="293370"/>
            <a:chOff x="525780" y="1548765"/>
            <a:chExt cx="64770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先把列写好。每一个产品等级结构就是一个抽象产品加上若干具体产品。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6167438" cy="4291012"/>
            <a:chOff x="533400" y="1954530"/>
            <a:chExt cx="6167438" cy="429101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167438" cy="4291012"/>
            </a:xfrm>
            <a:prstGeom prst="roundRect">
              <a:avLst>
                <a:gd name="adj" fmla="val 22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67915"/>
              <a:ext cx="4144518" cy="3806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抽象产品一：按钮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render();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抽象产品二：文本框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TextBox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render();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Windows 族的两个具体产品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WinButton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render()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"画一个 Windows 风格的按钮"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WinTextBox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TextBox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render()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"画一个 Windows 风格的文本框"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Linux 族同理：LinuxButton、LinuxTextBox */</a:t>
              </a:r>
            </a:p>
          </p:txBody>
        </p:sp>
      </p:grpSp>
      <p:grpSp>
        <p:nvGrpSpPr>
          <p:cNvPr id="30" name="c2-steps-1"/>
          <p:cNvGrpSpPr/>
          <p:nvPr/>
        </p:nvGrpSpPr>
        <p:grpSpPr>
          <a:xfrm>
            <a:off x="7005638" y="1964055"/>
            <a:ext cx="3656076" cy="2398776"/>
            <a:chOff x="7005638" y="1964055"/>
            <a:chExt cx="3656076" cy="2398776"/>
          </a:xfrm>
        </p:grpSpPr>
        <p:sp>
          <p:nvSpPr>
            <p:cNvPr id="13" name="Rectangle 13"/>
            <p:cNvSpPr/>
            <p:nvPr/>
          </p:nvSpPr>
          <p:spPr>
            <a:xfrm>
              <a:off x="7138988" y="210693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005638" y="196405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99261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005638" y="258127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99261" y="26550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005638" y="319754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99261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005638" y="381476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99261" y="3888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17498" y="199691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先数清有几列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18642" y="2277428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客户端要用几种产品，就有几个产品等级结构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17498" y="261413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每列一个抽象产品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18642" y="2894648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只声明客户端真正要调的方法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17498" y="323040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每格一个具体产品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18642" y="3510915"/>
              <a:ext cx="2378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列 n 族就有 m×n 个具体产品类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17498" y="384762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再写工厂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18642" y="412813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见下一页，方法个数等于列数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7005638" y="4533900"/>
            <a:ext cx="4652962" cy="1711642"/>
            <a:chOff x="7005638" y="4533900"/>
            <a:chExt cx="4652962" cy="1711642"/>
          </a:xfrm>
        </p:grpSpPr>
        <p:sp>
          <p:nvSpPr>
            <p:cNvPr id="31" name="Rectangle 31"/>
            <p:cNvSpPr/>
            <p:nvPr/>
          </p:nvSpPr>
          <p:spPr>
            <a:xfrm>
              <a:off x="7005638" y="4533900"/>
              <a:ext cx="4652962" cy="1711642"/>
            </a:xfrm>
            <a:prstGeom prst="roundRect">
              <a:avLst>
                <a:gd name="adj" fmla="val 77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015162" y="4667250"/>
              <a:ext cx="47625" cy="14449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41858" y="47320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33298" y="47663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25168" y="476678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抽象产品写成接口还是抽象类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34618" y="5110639"/>
              <a:ext cx="39819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没有公共字段和公共实现时用接口更省事；需要放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共用代码时才用抽象类。张欣佳老师课件两种写法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都出现过。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745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93" y="407194"/>
              <a:ext cx="1723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Java 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代码实现（二）：一个具体工厂就是一个产品族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167438" cy="4022408"/>
            <a:chOff x="533400" y="1524000"/>
            <a:chExt cx="6167438" cy="40224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167438" cy="4022408"/>
            </a:xfrm>
            <a:prstGeom prst="roundRect">
              <a:avLst>
                <a:gd name="adj" fmla="val 236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129915"/>
              <a:ext cx="612933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306128"/>
              <a:ext cx="612933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4596257" cy="35387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抽象工厂：一个方法对应一个产品等级结构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SkinFactory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Button  createButton();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TextBox createTextBox();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具体工厂一：只造 Windows 族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WinSkinFactory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SkinFactory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  createButton() 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WinButton();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TextBox createTextBox()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WinTextBox();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具体工厂二：只造 Linux 族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LinuxSkinFactory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SkinFactory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  createButton() 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LinuxButton();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TextBox createTextBox()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LinuxTextBox();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具体工厂三：只造 Android 族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AndroidSkinFactory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SkinFactory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  createButton() 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AndroidButton();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TextBox createTextBox()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AndroidTextBox();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bullets-1"/>
          <p:cNvGrpSpPr/>
          <p:nvPr/>
        </p:nvGrpSpPr>
        <p:grpSpPr>
          <a:xfrm>
            <a:off x="6998780" y="1545907"/>
            <a:ext cx="3792341" cy="1507046"/>
            <a:chOff x="6998780" y="1545907"/>
            <a:chExt cx="3792341" cy="1507046"/>
          </a:xfrm>
        </p:grpSpPr>
        <p:sp>
          <p:nvSpPr>
            <p:cNvPr id="13" name="TextBox 13"/>
            <p:cNvSpPr txBox="1"/>
            <p:nvPr/>
          </p:nvSpPr>
          <p:spPr>
            <a:xfrm>
              <a:off x="6998780" y="1545907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对照第 5 页的行列表看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7005638" y="189166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42620" y="186309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接口里两个方法，对应表中两列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005638" y="220027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42620" y="217170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三个实现类，对应表中三行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005638" y="250888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42620" y="2480310"/>
              <a:ext cx="35485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每个实现类里的两个 new 都落在自己那一行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7005638" y="281749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42620" y="2788920"/>
              <a:ext cx="30732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想加 macOS 族，再写一个实现类就行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7005638" y="3169920"/>
            <a:ext cx="4652962" cy="2376488"/>
            <a:chOff x="7005638" y="3169920"/>
            <a:chExt cx="4652962" cy="2376488"/>
          </a:xfrm>
        </p:grpSpPr>
        <p:sp>
          <p:nvSpPr>
            <p:cNvPr id="23" name="Rectangle 23"/>
            <p:cNvSpPr/>
            <p:nvPr/>
          </p:nvSpPr>
          <p:spPr>
            <a:xfrm>
              <a:off x="7005638" y="3169920"/>
              <a:ext cx="4652962" cy="2376488"/>
            </a:xfrm>
            <a:prstGeom prst="roundRect">
              <a:avLst>
                <a:gd name="adj" fmla="val 5611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92328" y="335661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84999" y="338947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58874" y="339185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混搭在这里已经写不出来了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85470" y="3717608"/>
              <a:ext cx="40256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客户端手上只有一个 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SkinFactory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引用，它给出的按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钮和文本框来自同一个对象，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不可能跨族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86612" y="4271486"/>
              <a:ext cx="3954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4 页动机里那段代码，在这个结构下根本没有对应的写法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0" name="Rectangle 3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0892" y="6028373"/>
              <a:ext cx="66380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写具体工厂时的自查：类名里的族名，和方法体里 new 出来的类名前缀必须一致。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745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93" y="407194"/>
              <a:ext cx="1723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Java 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客户端：把具体工厂的类名交给配置文件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647744" cy="278702"/>
            <a:chOff x="526161" y="1547336"/>
            <a:chExt cx="664774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6477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做法和第 11 讲一样，读出类名再用反射创建，源码里就不出现任何具体类名。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410200" cy="1261110"/>
            <a:chOff x="533400" y="1941195"/>
            <a:chExt cx="5410200" cy="126111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7302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config.xml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416" y="2354580"/>
              <a:ext cx="3017711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&lt;?xml version=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"1.0"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?&gt;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&lt;config&gt;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&lt;className&gt;WinSkinFactory&lt;/className&gt;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&lt;/config&gt;</a:t>
              </a:r>
            </a:p>
          </p:txBody>
        </p:sp>
      </p:grpSp>
      <p:grpSp>
        <p:nvGrpSpPr>
          <p:cNvPr id="18" name="c1-code-2"/>
          <p:cNvGrpSpPr/>
          <p:nvPr/>
        </p:nvGrpSpPr>
        <p:grpSpPr>
          <a:xfrm>
            <a:off x="533400" y="3378518"/>
            <a:ext cx="5410200" cy="2397442"/>
            <a:chOff x="533400" y="3378518"/>
            <a:chExt cx="5410200" cy="2397442"/>
          </a:xfrm>
        </p:grpSpPr>
        <p:sp>
          <p:nvSpPr>
            <p:cNvPr id="13" name="Rectangle 13"/>
            <p:cNvSpPr/>
            <p:nvPr/>
          </p:nvSpPr>
          <p:spPr>
            <a:xfrm>
              <a:off x="533400" y="3378518"/>
              <a:ext cx="5410200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53044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52450" y="4130040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52450" y="4319588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416" y="3791902"/>
              <a:ext cx="4484561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SkinFactory factory =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(SkinFactory) XMLUtil.getBean();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Button  btn = factory.createButton();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TextBox box = factory.createTextBox();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btn.render();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box.render();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941195"/>
            <a:ext cx="5410200" cy="2352675"/>
            <a:chOff x="6248400" y="1941195"/>
            <a:chExt cx="5410200" cy="2352675"/>
          </a:xfrm>
        </p:grpSpPr>
        <p:sp>
          <p:nvSpPr>
            <p:cNvPr id="19" name="Rectangle 19"/>
            <p:cNvSpPr/>
            <p:nvPr/>
          </p:nvSpPr>
          <p:spPr>
            <a:xfrm>
              <a:off x="6248400" y="1941195"/>
              <a:ext cx="5410200" cy="2352675"/>
            </a:xfrm>
            <a:prstGeom prst="roundRect">
              <a:avLst>
                <a:gd name="adj" fmla="val 56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2074545"/>
              <a:ext cx="47625" cy="2085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8905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62344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29297" y="217360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手工推演一遍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478905" y="249555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34583" y="25339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9702" y="2507932"/>
              <a:ext cx="44799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XMLUtil.getBean()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读出 WinSkinFactory，反射造出这个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78905" y="305562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34583" y="30940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59702" y="3068002"/>
              <a:ext cx="4782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两个创建方法都由这一个对象负责，返回的必然是 Win 族。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78905" y="335756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34583" y="339690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59702" y="3369945"/>
              <a:ext cx="44542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打印两行：画一个 Windows 风格的按钮／画一个 Windows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风格的文本框。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73190" y="3925729"/>
              <a:ext cx="42753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XML 里那一个单词改成 LinuxSkinFactory，整套皮肤跟着换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248400" y="4469130"/>
            <a:ext cx="5410200" cy="1574482"/>
            <a:chOff x="6248400" y="4469130"/>
            <a:chExt cx="5410200" cy="1574482"/>
          </a:xfrm>
        </p:grpSpPr>
        <p:sp>
          <p:nvSpPr>
            <p:cNvPr id="35" name="Rectangle 35"/>
            <p:cNvSpPr/>
            <p:nvPr/>
          </p:nvSpPr>
          <p:spPr>
            <a:xfrm>
              <a:off x="6248400" y="4469130"/>
              <a:ext cx="5410200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4602480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8905" y="466153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70345" y="46958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自检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62597" y="470154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三条都满足才算写对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2047" y="50358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客户端声明的类型全在抽象层。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2047" y="533781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源码里没有出现任何具体产品的类名。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72047" y="564070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一次挑选之后，本次运行中所有控件都来自同一族。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13632" cy="2997517"/>
            <a:chOff x="667512" y="1835468"/>
            <a:chExt cx="39136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课件中的四个实例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两位老师的例子各留最典型的一个说法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电器工厂与数据库操作工厂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课程系列与教材配套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大富翁里参数化工厂造成的混搭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实例一：电器工厂，一个品牌一个具体工厂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824352" cy="308039"/>
            <a:chOff x="525399" y="1550194"/>
            <a:chExt cx="1082435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8243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海尔工厂生产海尔电视机和海尔空调，TCL 工厂生产 TCL 电视机和 TCL 空调。相同品牌是一族，相同类型是一列。</a:t>
              </a:r>
            </a:p>
          </p:txBody>
        </p:sp>
      </p:grpSp>
      <p:grpSp>
        <p:nvGrpSpPr>
          <p:cNvPr id="80" name="c1-uml-1"/>
          <p:cNvGrpSpPr/>
          <p:nvPr/>
        </p:nvGrpSpPr>
        <p:grpSpPr>
          <a:xfrm>
            <a:off x="888682" y="2337435"/>
            <a:ext cx="10454640" cy="2695194"/>
            <a:chOff x="888682" y="2337435"/>
            <a:chExt cx="10454640" cy="2695194"/>
          </a:xfrm>
        </p:grpSpPr>
        <p:sp>
          <p:nvSpPr>
            <p:cNvPr id="9" name="Freeform 9"/>
            <p:cNvSpPr/>
            <p:nvPr/>
          </p:nvSpPr>
          <p:spPr>
            <a:xfrm>
              <a:off x="1460182" y="3294698"/>
              <a:ext cx="927735" cy="826770"/>
            </a:xfrm>
            <a:custGeom>
              <a:avLst/>
              <a:gdLst/>
              <a:ahLst/>
              <a:cxnLst/>
              <a:rect l="l" t="t" r="r" b="b"/>
              <a:pathLst>
                <a:path w="927735" h="826770">
                  <a:moveTo>
                    <a:pt x="0" y="826770"/>
                  </a:moveTo>
                  <a:lnTo>
                    <a:pt x="0" y="350520"/>
                  </a:lnTo>
                  <a:lnTo>
                    <a:pt x="927735" y="350520"/>
                  </a:lnTo>
                  <a:lnTo>
                    <a:pt x="92773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2314575" y="316896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387918" y="3294698"/>
              <a:ext cx="926783" cy="826770"/>
            </a:xfrm>
            <a:custGeom>
              <a:avLst/>
              <a:gdLst/>
              <a:ahLst/>
              <a:cxnLst/>
              <a:rect l="l" t="t" r="r" b="b"/>
              <a:pathLst>
                <a:path w="926783" h="826770">
                  <a:moveTo>
                    <a:pt x="926783" y="826770"/>
                  </a:moveTo>
                  <a:lnTo>
                    <a:pt x="926783" y="350520"/>
                  </a:lnTo>
                  <a:lnTo>
                    <a:pt x="0" y="35052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2314575" y="316896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169218" y="3220402"/>
              <a:ext cx="926782" cy="901065"/>
            </a:xfrm>
            <a:custGeom>
              <a:avLst/>
              <a:gdLst/>
              <a:ahLst/>
              <a:cxnLst/>
              <a:rect l="l" t="t" r="r" b="b"/>
              <a:pathLst>
                <a:path w="926782" h="901065">
                  <a:moveTo>
                    <a:pt x="0" y="901065"/>
                  </a:moveTo>
                  <a:lnTo>
                    <a:pt x="0" y="387667"/>
                  </a:lnTo>
                  <a:lnTo>
                    <a:pt x="926782" y="387667"/>
                  </a:lnTo>
                  <a:lnTo>
                    <a:pt x="9267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6022658" y="309467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096000" y="3220402"/>
              <a:ext cx="926782" cy="901065"/>
            </a:xfrm>
            <a:custGeom>
              <a:avLst/>
              <a:gdLst/>
              <a:ahLst/>
              <a:cxnLst/>
              <a:rect l="l" t="t" r="r" b="b"/>
              <a:pathLst>
                <a:path w="926782" h="901065">
                  <a:moveTo>
                    <a:pt x="926782" y="901065"/>
                  </a:moveTo>
                  <a:lnTo>
                    <a:pt x="926782" y="387667"/>
                  </a:lnTo>
                  <a:lnTo>
                    <a:pt x="0" y="387667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6022658" y="309467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877300" y="3220402"/>
              <a:ext cx="926782" cy="901065"/>
            </a:xfrm>
            <a:custGeom>
              <a:avLst/>
              <a:gdLst/>
              <a:ahLst/>
              <a:cxnLst/>
              <a:rect l="l" t="t" r="r" b="b"/>
              <a:pathLst>
                <a:path w="926782" h="901065">
                  <a:moveTo>
                    <a:pt x="0" y="901065"/>
                  </a:moveTo>
                  <a:lnTo>
                    <a:pt x="0" y="387667"/>
                  </a:lnTo>
                  <a:lnTo>
                    <a:pt x="926782" y="387667"/>
                  </a:lnTo>
                  <a:lnTo>
                    <a:pt x="9267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9730740" y="309467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9804082" y="3220402"/>
              <a:ext cx="927735" cy="901065"/>
            </a:xfrm>
            <a:custGeom>
              <a:avLst/>
              <a:gdLst/>
              <a:ahLst/>
              <a:cxnLst/>
              <a:rect l="l" t="t" r="r" b="b"/>
              <a:pathLst>
                <a:path w="927735" h="901065">
                  <a:moveTo>
                    <a:pt x="927735" y="901065"/>
                  </a:moveTo>
                  <a:lnTo>
                    <a:pt x="927735" y="387667"/>
                  </a:lnTo>
                  <a:lnTo>
                    <a:pt x="0" y="387667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9730740" y="309467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460182" y="4529138"/>
              <a:ext cx="3709035" cy="209550"/>
            </a:xfrm>
            <a:custGeom>
              <a:avLst/>
              <a:gdLst/>
              <a:ahLst/>
              <a:cxnLst/>
              <a:rect l="l" t="t" r="r" b="b"/>
              <a:pathLst>
                <a:path w="3709035" h="209550">
                  <a:moveTo>
                    <a:pt x="0" y="0"/>
                  </a:moveTo>
                  <a:lnTo>
                    <a:pt x="0" y="209550"/>
                  </a:lnTo>
                  <a:lnTo>
                    <a:pt x="3523298" y="209550"/>
                  </a:lnTo>
                  <a:lnTo>
                    <a:pt x="3709035" y="209550"/>
                  </a:lnTo>
                  <a:lnTo>
                    <a:pt x="370903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5111115" y="4529138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115253" y="104775"/>
                  </a:moveTo>
                  <a:lnTo>
                    <a:pt x="58103" y="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460182" y="4529138"/>
              <a:ext cx="7417118" cy="487680"/>
            </a:xfrm>
            <a:custGeom>
              <a:avLst/>
              <a:gdLst/>
              <a:ahLst/>
              <a:cxnLst/>
              <a:rect l="l" t="t" r="r" b="b"/>
              <a:pathLst>
                <a:path w="7417118" h="487680">
                  <a:moveTo>
                    <a:pt x="0" y="0"/>
                  </a:moveTo>
                  <a:lnTo>
                    <a:pt x="0" y="209550"/>
                  </a:lnTo>
                  <a:lnTo>
                    <a:pt x="0" y="487680"/>
                  </a:lnTo>
                  <a:lnTo>
                    <a:pt x="5192077" y="487680"/>
                  </a:lnTo>
                  <a:lnTo>
                    <a:pt x="7417118" y="487680"/>
                  </a:lnTo>
                  <a:lnTo>
                    <a:pt x="7417118" y="209550"/>
                  </a:lnTo>
                  <a:lnTo>
                    <a:pt x="7417118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8819198" y="4529138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115253" y="104775"/>
                  </a:moveTo>
                  <a:lnTo>
                    <a:pt x="58103" y="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241108" y="2337435"/>
              <a:ext cx="2292668" cy="83058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248728" y="2345055"/>
              <a:ext cx="2278380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241108" y="2675572"/>
              <a:ext cx="22926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241108" y="2770822"/>
              <a:ext cx="229266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524500" y="2411730"/>
              <a:ext cx="1143000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532120" y="2419350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524500" y="275082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524500" y="284607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983980" y="2411730"/>
              <a:ext cx="1641158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990648" y="2419350"/>
              <a:ext cx="1626870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983980" y="2750820"/>
              <a:ext cx="16411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983980" y="2846070"/>
              <a:ext cx="16411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88682" y="4121468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96302" y="4128135"/>
              <a:ext cx="112871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88682" y="43338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88682" y="44291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743200" y="4121468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750820" y="412813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2743200" y="43338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743200" y="44291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597718" y="4121468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4604385" y="412813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597718" y="43338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597718" y="44291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51282" y="4121468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58902" y="412813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51282" y="433387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51282" y="442912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215312" y="4121468"/>
              <a:ext cx="1324928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221980" y="4128135"/>
              <a:ext cx="131064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215312" y="4333875"/>
              <a:ext cx="132492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215312" y="4429125"/>
              <a:ext cx="132492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120312" y="4121468"/>
              <a:ext cx="122301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126980" y="4128135"/>
              <a:ext cx="120872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120312" y="4333875"/>
              <a:ext cx="12230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120312" y="4429125"/>
              <a:ext cx="122301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090356" y="2386012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099320" y="2514600"/>
              <a:ext cx="5771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EFactory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312545" y="2838926"/>
              <a:ext cx="2149602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produceTelevision(): Television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produceAirConditioner(): AirConditioner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798439" y="2461260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787390" y="2589848"/>
              <a:ext cx="6172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Television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595938" y="2913221"/>
              <a:ext cx="7491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play(): void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506522" y="2461260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353670" y="2589848"/>
              <a:ext cx="900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AirConditioner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055418" y="2913221"/>
              <a:ext cx="15923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changeTemperature(): void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47699" y="4172902"/>
              <a:ext cx="8249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HaierFactory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952173" y="4172902"/>
              <a:ext cx="7250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TCLFactory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699817" y="4172902"/>
              <a:ext cx="9388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HaierTelevision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03839" y="4172902"/>
              <a:ext cx="83788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TCLTelevision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66070" y="4172902"/>
              <a:ext cx="12224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HaierAirConditioner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170920" y="4172902"/>
              <a:ext cx="11217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TCLAirConditioner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4008120" y="4522470"/>
              <a:ext cx="68199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032809" y="454914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«create»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3715702" y="4800600"/>
              <a:ext cx="68199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740391" y="482727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«create»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81" name="Rectangle 81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130" y="5728335"/>
              <a:ext cx="8129588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更正：原课件类图把海尔空调写作 </a:t>
              </a:r>
              <a:r>
                <a:rPr lang="en-US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HairAirConditioner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，品牌 Haier 少了一个 e，讲义统一改成</a:t>
              </a:r>
              <a:br/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HaierAirConditioner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实例一的代码骨架与两个方向的扩展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059805" cy="3748088"/>
            <a:chOff x="533400" y="1524000"/>
            <a:chExt cx="6059805" cy="37480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748088"/>
            </a:xfrm>
            <a:prstGeom prst="roundRect">
              <a:avLst>
                <a:gd name="adj" fmla="val 254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4532948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035" y="1937861"/>
              <a:ext cx="4100830" cy="3263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EFactory {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抽象工厂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Television     produceTelevision();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AirConditioner produceAirConditioner();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HaierFactory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EFactory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Television produceTelevision()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HaierTelevision();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AirConditioner produceAirConditioner()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HaierAirConditioner();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客户端：要么整套海尔，要么整套 TCL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EFactory factory = (EFactory) XMLUtil.getBean();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factory.produceTelevision().play();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factory.produceAirConditioner().changeTemperature();</a:t>
              </a:r>
            </a:p>
          </p:txBody>
        </p:sp>
      </p:grpSp>
      <p:grpSp>
        <p:nvGrpSpPr>
          <p:cNvPr id="29" name="c2-table-1"/>
          <p:cNvGrpSpPr/>
          <p:nvPr/>
        </p:nvGrpSpPr>
        <p:grpSpPr>
          <a:xfrm>
            <a:off x="6898005" y="1524000"/>
            <a:ext cx="4760595" cy="2253615"/>
            <a:chOff x="6898005" y="1524000"/>
            <a:chExt cx="4760595" cy="2253615"/>
          </a:xfrm>
        </p:grpSpPr>
        <p:sp>
          <p:nvSpPr>
            <p:cNvPr id="12" name="Rectangle 12"/>
            <p:cNvSpPr/>
            <p:nvPr/>
          </p:nvSpPr>
          <p:spPr>
            <a:xfrm>
              <a:off x="6898005" y="1524000"/>
              <a:ext cx="4760595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6507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要做的事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2244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改动内容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78362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开闭原则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05828" y="2221706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新增创维这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43126" y="2108359"/>
              <a:ext cx="2053082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SkyworthTelevision、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SkyworthAirConditioner、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SkyworthFactory 三个类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620375" y="1982152"/>
              <a:ext cx="1028700" cy="88296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718673" y="233505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98005" y="286988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98005" y="2874645"/>
              <a:ext cx="4760595" cy="9020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05828" y="3123724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新增电冰箱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43126" y="3010376"/>
              <a:ext cx="2126234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Refrigerator 接口和各品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牌实现，再改 EFactory 与全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部具体工厂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620375" y="2884170"/>
              <a:ext cx="1028700" cy="88296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18673" y="323707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898005" y="1524000"/>
              <a:ext cx="4760595" cy="22536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30540" y="1524000"/>
              <a:ext cx="9525" cy="2253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0606088" y="1524000"/>
              <a:ext cx="9525" cy="2253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2-card-2"/>
          <p:cNvGrpSpPr/>
          <p:nvPr/>
        </p:nvGrpSpPr>
        <p:grpSpPr>
          <a:xfrm>
            <a:off x="6898005" y="3968115"/>
            <a:ext cx="4760595" cy="1631632"/>
            <a:chOff x="6898005" y="3968115"/>
            <a:chExt cx="4760595" cy="1631632"/>
          </a:xfrm>
        </p:grpSpPr>
        <p:sp>
          <p:nvSpPr>
            <p:cNvPr id="30" name="Rectangle 30"/>
            <p:cNvSpPr/>
            <p:nvPr/>
          </p:nvSpPr>
          <p:spPr>
            <a:xfrm>
              <a:off x="6898005" y="3968115"/>
              <a:ext cx="4760595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07530" y="4101465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45655" y="41776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27011" y="42133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扩展演练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30528" y="421290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加一族只做加法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38035" y="457390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三个新类分别挂到工厂树和两棵产品树上，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旧代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码一行不动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，配置文件里换个名字就切过去了。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39178" y="5190649"/>
              <a:ext cx="27182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加一列为什么不行，第 24 页专门讲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实例二：数据库操作工厂，连接与语句必须同源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439493" cy="264033"/>
            <a:chOff x="526542" y="1545907"/>
            <a:chExt cx="1043949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439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某系统自定义连接对象 Connection 和语句对象 Statement，针对不同数据库提供不同实现，用户通过配置文件动态更换数据库。</a:t>
              </a:r>
            </a:p>
          </p:txBody>
        </p:sp>
      </p:grpSp>
      <p:grpSp>
        <p:nvGrpSpPr>
          <p:cNvPr id="27" name="c1-table-1"/>
          <p:cNvGrpSpPr/>
          <p:nvPr/>
        </p:nvGrpSpPr>
        <p:grpSpPr>
          <a:xfrm>
            <a:off x="533400" y="1928812"/>
            <a:ext cx="5193982" cy="2200275"/>
            <a:chOff x="533400" y="1928812"/>
            <a:chExt cx="5193982" cy="220027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193982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65314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模式角色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86442" y="20502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本例中的类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0555" y="2450306"/>
              <a:ext cx="1327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AbstractFactory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07957" y="2450306"/>
              <a:ext cx="7718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DBFactory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241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28912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850356"/>
              <a:ext cx="1327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ConcreteFactory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07957" y="2850356"/>
              <a:ext cx="23223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OracleFactory、MySQLFactory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1242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0555" y="3250406"/>
              <a:ext cx="1327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AbstractProduct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07957" y="3250406"/>
              <a:ext cx="173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Connection、Statement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242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529012"/>
              <a:ext cx="519398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0555" y="3750469"/>
              <a:ext cx="13273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ConcreteProduct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07957" y="3650456"/>
              <a:ext cx="26997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OracleConnection、OracleStatement、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MySQLConnection、MySQLStatement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928812"/>
              <a:ext cx="5193982" cy="2200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606040" y="1928812"/>
              <a:ext cx="9525" cy="2200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2"/>
          <p:cNvGrpSpPr/>
          <p:nvPr/>
        </p:nvGrpSpPr>
        <p:grpSpPr>
          <a:xfrm>
            <a:off x="533400" y="4298632"/>
            <a:ext cx="5193982" cy="1969770"/>
            <a:chOff x="533400" y="4298632"/>
            <a:chExt cx="5193982" cy="1969770"/>
          </a:xfrm>
        </p:grpSpPr>
        <p:sp>
          <p:nvSpPr>
            <p:cNvPr id="28" name="Rectangle 28"/>
            <p:cNvSpPr/>
            <p:nvPr/>
          </p:nvSpPr>
          <p:spPr>
            <a:xfrm>
              <a:off x="533400" y="4298632"/>
              <a:ext cx="5193982" cy="1969770"/>
            </a:xfrm>
            <a:prstGeom prst="roundRect">
              <a:avLst>
                <a:gd name="adj" fmla="val 67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431982"/>
              <a:ext cx="47625" cy="17030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8190" y="448532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0862" y="45181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23784" y="452056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课件里文字和类图对不上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1332" y="4846320"/>
              <a:ext cx="44971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18 页的文字写“提供 Oracle 或 SQL Server 专用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连接类和语句类”，第 19 页的类图画的却是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OracleFactory 与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MySQLFactory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2475" y="5657374"/>
              <a:ext cx="31183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讲义按类图统一写成 MySQL，两处取其一即可</a:t>
              </a:r>
            </a:p>
          </p:txBody>
        </p:sp>
      </p:grpSp>
      <p:grpSp>
        <p:nvGrpSpPr>
          <p:cNvPr id="39" name="c2-code-1"/>
          <p:cNvGrpSpPr/>
          <p:nvPr/>
        </p:nvGrpSpPr>
        <p:grpSpPr>
          <a:xfrm>
            <a:off x="6032182" y="1928812"/>
            <a:ext cx="5626418" cy="2967990"/>
            <a:chOff x="6032182" y="1928812"/>
            <a:chExt cx="5626418" cy="2967990"/>
          </a:xfrm>
        </p:grpSpPr>
        <p:sp>
          <p:nvSpPr>
            <p:cNvPr id="36" name="Rectangle 36"/>
            <p:cNvSpPr/>
            <p:nvPr/>
          </p:nvSpPr>
          <p:spPr>
            <a:xfrm>
              <a:off x="6032182" y="1928812"/>
              <a:ext cx="5626418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60580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60580" y="2340769"/>
              <a:ext cx="3364103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DBFactory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Connection createConnection();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Statement  createStatement();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OracleFactory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DBFactory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Connection createConnection()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OracleConnection();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Statement createStatement()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OracleStatement();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换数据库只改配置里的类名，连接和语句一起换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DBFactory f = (DBFactory) XMLUtil.getBean();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032182" y="5066348"/>
            <a:ext cx="5626418" cy="1202055"/>
            <a:chOff x="6032182" y="5066348"/>
            <a:chExt cx="5626418" cy="1202055"/>
          </a:xfrm>
        </p:grpSpPr>
        <p:sp>
          <p:nvSpPr>
            <p:cNvPr id="40" name="Rectangle 40"/>
            <p:cNvSpPr/>
            <p:nvPr/>
          </p:nvSpPr>
          <p:spPr>
            <a:xfrm>
              <a:off x="6032182" y="5066348"/>
              <a:ext cx="5626418" cy="1202055"/>
            </a:xfrm>
            <a:prstGeom prst="roundRect">
              <a:avLst>
                <a:gd name="adj" fmla="val 110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18872" y="525303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88189" y="52858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为什么用抽象工厂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31227" y="528828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语句对象离不开同一种连接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12014" y="5614035"/>
              <a:ext cx="50372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Oracle 的语句对象拿到 MySQL 的连接上没法执行。这种约束交给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具体工厂保证，比写在文档里可靠。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实例三：大富翁里参数化工厂造成的混搭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857896" cy="264033"/>
            <a:chOff x="526542" y="1545907"/>
            <a:chExt cx="785789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8578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陈伟老师课件用游戏菜单收尾。菜单有主菜单、读档菜单等若干种，风格有普通、3D、卡通三套。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28812"/>
            <a:ext cx="5410200" cy="2440305"/>
            <a:chOff x="533400" y="1928812"/>
            <a:chExt cx="5410200" cy="24403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改造前：一个工厂靠参数包办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007042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358515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40769"/>
              <a:ext cx="3501009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XxxChildFactory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Menu createMenu(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menuType)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(menuType == MenuType.MAIN_MENU)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MainMenu();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(menuType == MenuType.MAIN_3D_MENU)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Main3DMenu();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(menuType == MenuType.MAIN_CARTOON_MENU)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MainCartoonMenu();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538662"/>
            <a:ext cx="5410200" cy="1815465"/>
            <a:chOff x="533400" y="4538662"/>
            <a:chExt cx="5410200" cy="1815465"/>
          </a:xfrm>
        </p:grpSpPr>
        <p:sp>
          <p:nvSpPr>
            <p:cNvPr id="15" name="Rectangle 15"/>
            <p:cNvSpPr/>
            <p:nvPr/>
          </p:nvSpPr>
          <p:spPr>
            <a:xfrm>
              <a:off x="533400" y="4538662"/>
              <a:ext cx="5410200" cy="1815465"/>
            </a:xfrm>
            <a:prstGeom prst="roundRect">
              <a:avLst>
                <a:gd name="adj" fmla="val 73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672012"/>
              <a:ext cx="47625" cy="15487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8190" y="47253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0862" y="47582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后果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23784" y="47605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一局游戏里三种风格同时出现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332" y="5086350"/>
              <a:ext cx="4762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调用方可以造一个普通主菜单、两个 3D 的游戏菜单，再配一张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卡通地图。这些枚举值都是接口允许的。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6248400" y="1928812"/>
            <a:ext cx="5410200" cy="2791778"/>
            <a:chOff x="6248400" y="1928812"/>
            <a:chExt cx="5410200" cy="2791778"/>
          </a:xfrm>
        </p:grpSpPr>
        <p:sp>
          <p:nvSpPr>
            <p:cNvPr id="22" name="Rectangle 22"/>
            <p:cNvSpPr/>
            <p:nvPr/>
          </p:nvSpPr>
          <p:spPr>
            <a:xfrm>
              <a:off x="6248400" y="1928812"/>
              <a:ext cx="5410200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797" y="2080736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改造后：一个子类只管一套风格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67450" y="3710940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67450" y="3886200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797" y="2340769"/>
              <a:ext cx="3793490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Factory {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抽象工厂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Menu  createMenu(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menuType);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Block createBlock(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blockType);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   createMap(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mapType);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D3Factory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Factory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Menu createMenu(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menuType)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(menuType == MenuType.MAIN_MENU)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Main3DMenu();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Load3DMenu();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一律 3D 版本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createBlock、createMap 同理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248400" y="4890135"/>
            <a:ext cx="5410200" cy="1463992"/>
            <a:chOff x="6248400" y="4890135"/>
            <a:chExt cx="5410200" cy="1463992"/>
          </a:xfrm>
        </p:grpSpPr>
        <p:sp>
          <p:nvSpPr>
            <p:cNvPr id="28" name="Rectangle 28"/>
            <p:cNvSpPr/>
            <p:nvPr/>
          </p:nvSpPr>
          <p:spPr>
            <a:xfrm>
              <a:off x="6248400" y="4890135"/>
              <a:ext cx="5410200" cy="1463992"/>
            </a:xfrm>
            <a:prstGeom prst="roundRect">
              <a:avLst>
                <a:gd name="adj" fmla="val 9109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35090" y="507682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08458" y="510968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两个维度拆开了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3620" y="5112068"/>
              <a:ext cx="2796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参数管“哪一种”，子类管“哪一套”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28232" y="5437823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菜单种类仍然由参数选，那是同一族内部的事；风格由具体工厂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决定，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客户端碰不到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29375" y="5991701"/>
              <a:ext cx="43058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还有 ConsoleFactory 和 CartoonFactory 两个子类，各守一套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35499" cy="2997517"/>
            <a:chOff x="667512" y="1835468"/>
            <a:chExt cx="5135499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效果、适用与扩展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代价按产品族乘产品等级结构增长，值不值要算一算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优点、缺点与类的数量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开闭原则的倾斜性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适用环境、真实应用与模式退化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14894" cy="909257"/>
            <a:chOff x="520446" y="342900"/>
            <a:chExt cx="59148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效果、适用与扩展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14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优点集中在“族”这个维度，缺点也一样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compare-1"/>
          <p:cNvGrpSpPr/>
          <p:nvPr/>
        </p:nvGrpSpPr>
        <p:grpSpPr>
          <a:xfrm>
            <a:off x="533400" y="1524000"/>
            <a:ext cx="11125200" cy="2324100"/>
            <a:chOff x="533400" y="1524000"/>
            <a:chExt cx="11125200" cy="23241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314950" cy="2324100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574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隔离了具体类的生成，客户端不需要知道什么被创建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107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792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换一个具体工厂就换掉整套实现，能改变整个系统的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3182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895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保证客户端始终只使用同一个产品族中的对象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46710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40423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增加新的产品族无须修改已有代码，符合开闭原则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343650" y="1524000"/>
              <a:ext cx="5314950" cy="2324100"/>
            </a:xfrm>
            <a:prstGeom prst="roundRect">
              <a:avLst>
                <a:gd name="adj" fmla="val 57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353175" y="1657350"/>
              <a:ext cx="47625" cy="20574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8368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97015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55130" y="211264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增加新的产品等级结构要改抽象工厂和它的全部子类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97015" y="25107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55130" y="24479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抽象工厂里规定死了所有可能被创建的产品集合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97015" y="28460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55130" y="278320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类的个数按产品族数乘等级结构数增长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597015" y="318135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55130" y="3118485"/>
              <a:ext cx="3266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客户端多出“挑哪个工厂”这一层决定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895975" y="248602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49315" y="26203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权衡</a:t>
              </a:r>
            </a:p>
          </p:txBody>
        </p:sp>
      </p:grpSp>
      <p:grpSp>
        <p:nvGrpSpPr>
          <p:cNvPr id="58" name="c1-table-2"/>
          <p:cNvGrpSpPr/>
          <p:nvPr/>
        </p:nvGrpSpPr>
        <p:grpSpPr>
          <a:xfrm>
            <a:off x="527685" y="4038600"/>
            <a:ext cx="11130915" cy="2091214"/>
            <a:chOff x="527685" y="4038600"/>
            <a:chExt cx="11130915" cy="2091214"/>
          </a:xfrm>
        </p:grpSpPr>
        <p:sp>
          <p:nvSpPr>
            <p:cNvPr id="32" name="Rectangle 32"/>
            <p:cNvSpPr/>
            <p:nvPr/>
          </p:nvSpPr>
          <p:spPr>
            <a:xfrm>
              <a:off x="533400" y="4038600"/>
              <a:ext cx="11125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11947" y="41743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53632" y="4174331"/>
              <a:ext cx="1236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产品等级结构 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78120" y="4174331"/>
              <a:ext cx="683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产品族 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50158" y="41743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类的总数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1223" y="46229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界面皮肤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55898" y="462295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种控件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03823" y="462295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个平台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51748" y="4622959"/>
              <a:ext cx="13742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+ 9 + 1 + 3 = 16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9310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9358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1223" y="50715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电器工厂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755898" y="507158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类电器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03823" y="507158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个品牌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51748" y="5071586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+ 4 + 1 + 2 = 9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53806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1223" y="5520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755898" y="5520214"/>
              <a:ext cx="142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03823" y="55202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53450" y="5394960"/>
              <a:ext cx="309562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51748" y="55202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+ m×n + 1 + n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038600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3643312" y="40386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91238" y="40386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539162" y="40386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7685" y="5909786"/>
              <a:ext cx="4398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抽象产品 m 个、具体产品 m×n 个、抽象工厂 1 个、具体工厂 n 个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效果、适用与扩展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开闭原则的倾斜性：加一行容易，加一列难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275070" cy="293370"/>
            <a:chOff x="525780" y="1548765"/>
            <a:chExt cx="62750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275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系统的功能增强有两个方向，抽象工厂对这两个方向的态度完全不同。</a:t>
              </a:r>
            </a:p>
          </p:txBody>
        </p:sp>
      </p:grpSp>
      <p:grpSp>
        <p:nvGrpSpPr>
          <p:cNvPr id="30" name="c1-table-1"/>
          <p:cNvGrpSpPr/>
          <p:nvPr/>
        </p:nvGrpSpPr>
        <p:grpSpPr>
          <a:xfrm>
            <a:off x="533400" y="1954530"/>
            <a:ext cx="5951220" cy="1700213"/>
            <a:chOff x="533400" y="1954530"/>
            <a:chExt cx="5951220" cy="1700213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951220" cy="42481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584" y="20831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扩展方向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25624" y="208311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要新建的类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68293" y="208311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要修改的已有代码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20131" y="20831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开闭原则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5889" y="2506980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增加一个产品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45577" y="2506980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每列一个具体产品，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再加一个具体工厂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30562" y="2506980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只改配置文件里的类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422582" y="2388870"/>
              <a:ext cx="1052512" cy="6191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15547" y="2613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1180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16568"/>
              <a:ext cx="595122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3145155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增加一个产品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等级结构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45577" y="3145155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一个抽象产品，每族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一个具体产品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30562" y="3145155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抽象工厂和全部具体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422582" y="3026092"/>
              <a:ext cx="1052512" cy="61912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515547" y="32518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954530"/>
              <a:ext cx="5951220" cy="17002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38325" y="1954530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623310" y="1954530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08295" y="1954530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rd-2"/>
          <p:cNvGrpSpPr/>
          <p:nvPr/>
        </p:nvGrpSpPr>
        <p:grpSpPr>
          <a:xfrm>
            <a:off x="533400" y="3834765"/>
            <a:ext cx="5951220" cy="2366010"/>
            <a:chOff x="533400" y="3834765"/>
            <a:chExt cx="5951220" cy="2366010"/>
          </a:xfrm>
        </p:grpSpPr>
        <p:sp>
          <p:nvSpPr>
            <p:cNvPr id="31" name="Rectangle 31"/>
            <p:cNvSpPr/>
            <p:nvPr/>
          </p:nvSpPr>
          <p:spPr>
            <a:xfrm>
              <a:off x="533400" y="3834765"/>
              <a:ext cx="5951220" cy="2366010"/>
            </a:xfrm>
            <a:prstGeom prst="roundRect">
              <a:avLst>
                <a:gd name="adj" fmla="val 56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3968115"/>
              <a:ext cx="47625" cy="20993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69620" y="40328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1060" y="40671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52931" y="4067651"/>
              <a:ext cx="26496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25 页把模式名写错了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381" y="4411504"/>
              <a:ext cx="521728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原文写“对于增加新的产品族，</a:t>
              </a: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工厂方法模式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很好地支持了开闭原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则”。这一段讲的是抽象工厂的倾斜性，此处应为 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抽象工厂模式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3524" y="499681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工厂方法模式里没有“产品族”这个概念，谈不上支持</a:t>
              </a:r>
            </a:p>
          </p:txBody>
        </p:sp>
      </p:grpSp>
      <p:grpSp>
        <p:nvGrpSpPr>
          <p:cNvPr id="41" name="c2-image-1"/>
          <p:cNvGrpSpPr/>
          <p:nvPr/>
        </p:nvGrpSpPr>
        <p:grpSpPr>
          <a:xfrm>
            <a:off x="6789420" y="1954530"/>
            <a:ext cx="4869180" cy="2268474"/>
            <a:chOff x="6789420" y="1954530"/>
            <a:chExt cx="4869180" cy="2268474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rcRect l="0" t="23031" r="0" b="23031"/>
            <a:stretch>
              <a:fillRect/>
            </a:stretch>
          </p:blipFill>
          <p:spPr>
            <a:xfrm>
              <a:off x="6789420" y="1954530"/>
              <a:ext cx="4869180" cy="1969770"/>
            </a:xfrm>
            <a:prstGeom prst="roundRect">
              <a:avLst>
                <a:gd name="adj" fmla="val 6769"/>
              </a:avLst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6886384" y="4017645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底下推进一整个做好的抽屉很轻松，右边要开一列新格子，每一行都得锯开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789420" y="4381500"/>
            <a:ext cx="4869180" cy="1819275"/>
            <a:chOff x="6789420" y="4381500"/>
            <a:chExt cx="4869180" cy="1819275"/>
          </a:xfrm>
        </p:grpSpPr>
        <p:sp>
          <p:nvSpPr>
            <p:cNvPr id="42" name="Rectangle 42"/>
            <p:cNvSpPr/>
            <p:nvPr/>
          </p:nvSpPr>
          <p:spPr>
            <a:xfrm>
              <a:off x="6789420" y="4381500"/>
              <a:ext cx="4869180" cy="1819275"/>
            </a:xfrm>
            <a:prstGeom prst="roundRect">
              <a:avLst>
                <a:gd name="adj" fmla="val 733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87540" y="45796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62978" y="46139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记住这个名字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04251" y="4614386"/>
              <a:ext cx="17645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“开闭原则”的倾斜性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80301" y="4958239"/>
              <a:ext cx="41622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抽象工厂以一种倾斜的方式支持扩展：为新产品族的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增加提供方便，却不能为新产品等级结构的增加提供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同样的方便。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81444" y="5815012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和工厂方法正好互补，工厂方法对新增一种产品友好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效果、适用与扩展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真要加一个产品等级结构，工程上有三种折中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533048" cy="278702"/>
            <a:chOff x="526161" y="1547336"/>
            <a:chExt cx="653304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5330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考试按标准写法答“要改抽象工厂和全部具体工厂”，工程里可以换一些代价。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41195"/>
            <a:ext cx="5626418" cy="2207895"/>
            <a:chOff x="533400" y="1941195"/>
            <a:chExt cx="5626418" cy="220789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626418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折中一：抽象工厂给默认实现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072765"/>
              <a:ext cx="5588318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416" y="2354580"/>
              <a:ext cx="3531108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SkinFactory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Button  createButton();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TextBox createTextBox();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新加的一列给一个默认实现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default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ComboBox createComboBox()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UnsupportedOperationException(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"该皮肤暂不支持下拉框"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325302"/>
            <a:ext cx="5626418" cy="1286828"/>
            <a:chOff x="533400" y="4325302"/>
            <a:chExt cx="5626418" cy="1286828"/>
          </a:xfrm>
        </p:grpSpPr>
        <p:sp>
          <p:nvSpPr>
            <p:cNvPr id="14" name="Rectangle 14"/>
            <p:cNvSpPr/>
            <p:nvPr/>
          </p:nvSpPr>
          <p:spPr>
            <a:xfrm>
              <a:off x="533400" y="4325302"/>
              <a:ext cx="5626418" cy="1286828"/>
            </a:xfrm>
            <a:prstGeom prst="roundRect">
              <a:avLst>
                <a:gd name="adj" fmla="val 10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458652"/>
              <a:ext cx="47625" cy="10201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451770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5345" y="455199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47597" y="455676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把编译期错误推迟到了运行期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891088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旧的具体工厂不改也能通过编译，可是一旦被调用就抛异常。只适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合过渡期，不适合长期这么留着。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464618" y="1941195"/>
            <a:ext cx="5193982" cy="1747838"/>
            <a:chOff x="6464618" y="1941195"/>
            <a:chExt cx="5193982" cy="1747838"/>
          </a:xfrm>
        </p:grpSpPr>
        <p:sp>
          <p:nvSpPr>
            <p:cNvPr id="21" name="Rectangle 21"/>
            <p:cNvSpPr/>
            <p:nvPr/>
          </p:nvSpPr>
          <p:spPr>
            <a:xfrm>
              <a:off x="6464618" y="1941195"/>
              <a:ext cx="5193982" cy="1747838"/>
            </a:xfrm>
            <a:prstGeom prst="roundRect">
              <a:avLst>
                <a:gd name="adj" fmla="val 7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74142" y="2074545"/>
              <a:ext cx="47625" cy="1481138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95122" y="213360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82562" y="216789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折中二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12164" y="217360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按接口隔离原则把抽象工厂拆小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88264" y="2507932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把大接口拆成 ButtonFactory、TextBoxFactory 等小接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口，具体工厂实现自己需要的那几个。新增一列等于新增一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个小接口。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89408" y="3320891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代价：客户端要拿好几个工厂引用，同族约束又回到客户端身上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464618" y="3864292"/>
            <a:ext cx="5193982" cy="1747838"/>
            <a:chOff x="6464618" y="3864292"/>
            <a:chExt cx="5193982" cy="1747838"/>
          </a:xfrm>
        </p:grpSpPr>
        <p:sp>
          <p:nvSpPr>
            <p:cNvPr id="29" name="Rectangle 29"/>
            <p:cNvSpPr/>
            <p:nvPr/>
          </p:nvSpPr>
          <p:spPr>
            <a:xfrm>
              <a:off x="6464618" y="3864292"/>
              <a:ext cx="5193982" cy="1747838"/>
            </a:xfrm>
            <a:prstGeom prst="roundRect">
              <a:avLst>
                <a:gd name="adj" fmla="val 7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3997642"/>
              <a:ext cx="47625" cy="148113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95122" y="405669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82562" y="409098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折中三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12164" y="409670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用一张注册表代替一组方法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88264" y="4431030"/>
              <a:ext cx="44971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具体工厂内部存一张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Map&lt;Class&lt;?&gt;, Supplier&lt;?&gt;&gt;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，对外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只留一个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&lt;T&gt; T create(Class&lt;T&gt; type)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，新增一列只是往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表里加一项。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89408" y="5243989"/>
              <a:ext cx="3780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代价：编译期类型检查变弱，拿错类型要到运行期才发现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7" name="Rectangle 3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892" y="6023610"/>
              <a:ext cx="6229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三种折中都是在“编译期约束”和“扩展成本”之间挪位置，没有一种是白得的。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效果、适用与扩展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什么时候该用，真实系统里用在哪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bullets-1"/>
          <p:cNvGrpSpPr/>
          <p:nvPr/>
        </p:nvGrpSpPr>
        <p:grpSpPr>
          <a:xfrm>
            <a:off x="525780" y="1548765"/>
            <a:ext cx="5775960" cy="2253615"/>
            <a:chOff x="525780" y="1548765"/>
            <a:chExt cx="5775960" cy="225361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课件给出的四条适用环境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8976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5249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4390" y="190309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系统不应当依赖于产品类实例如何被创建、组合和表达的细节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23456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5249" y="22768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4390" y="2247900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系统中有多于一个的产品族，而每次只使用其中某一个产品族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57937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5249" y="262166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4390" y="259270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属于同一个产品族的产品将在一起使用，这一约束必须在设计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中体现出来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20992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5249" y="32522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4390" y="322326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系统提供一个产品类的库，所有产品以同样的接口出现，客户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端不依赖具体实现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933825"/>
            <a:ext cx="5842635" cy="1956435"/>
            <a:chOff x="533400" y="3933825"/>
            <a:chExt cx="5842635" cy="1956435"/>
          </a:xfrm>
        </p:grpSpPr>
        <p:sp>
          <p:nvSpPr>
            <p:cNvPr id="21" name="Rectangle 21"/>
            <p:cNvSpPr/>
            <p:nvPr/>
          </p:nvSpPr>
          <p:spPr>
            <a:xfrm>
              <a:off x="533400" y="3933825"/>
              <a:ext cx="584263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06717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414337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4507" y="41790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两种情况别用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50720" y="417861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用了反而亏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430" y="453961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只有一个产品族时，抽象工厂只剩一个具体工厂，模式已经退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430" y="5160645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产品等级结构还会不断增加时，倾斜性会让你反复修改抽象工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厂。</a:t>
              </a:r>
            </a:p>
          </p:txBody>
        </p:sp>
      </p:grpSp>
      <p:grpSp>
        <p:nvGrpSpPr>
          <p:cNvPr id="37" name="c2-kv-1"/>
          <p:cNvGrpSpPr/>
          <p:nvPr/>
        </p:nvGrpSpPr>
        <p:grpSpPr>
          <a:xfrm>
            <a:off x="6673215" y="1548765"/>
            <a:ext cx="4985385" cy="2301240"/>
            <a:chOff x="6673215" y="1548765"/>
            <a:chExt cx="4985385" cy="2301240"/>
          </a:xfrm>
        </p:grpSpPr>
        <p:sp>
          <p:nvSpPr>
            <p:cNvPr id="29" name="TextBox 29"/>
            <p:cNvSpPr txBox="1"/>
            <p:nvPr/>
          </p:nvSpPr>
          <p:spPr>
            <a:xfrm>
              <a:off x="6673215" y="1548765"/>
              <a:ext cx="1102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AWT 工具包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11490" y="1548765"/>
              <a:ext cx="335851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java.awt.Toolkit 为每种组件声明一个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创建方法，不同平台各有实现类，程序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界面因此与所在操作系统一致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680835" y="243268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73215" y="2552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界面换肤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11490" y="2552700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按钮、文本框、背景色要一起换，正好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是一个产品族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80835" y="315468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73215" y="327469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跨数据库访问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11490" y="3274695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连接、语句、结果集成套来自同一种数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据库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680835" y="3981450"/>
            <a:ext cx="4977765" cy="1908810"/>
            <a:chOff x="6680835" y="3981450"/>
            <a:chExt cx="4977765" cy="1908810"/>
          </a:xfrm>
        </p:grpSpPr>
        <p:sp>
          <p:nvSpPr>
            <p:cNvPr id="38" name="Rectangle 38"/>
            <p:cNvSpPr/>
            <p:nvPr/>
          </p:nvSpPr>
          <p:spPr>
            <a:xfrm>
              <a:off x="6680835" y="3981450"/>
              <a:ext cx="4977765" cy="1908810"/>
            </a:xfrm>
            <a:prstGeom prst="roundRect">
              <a:avLst>
                <a:gd name="adj" fmla="val 6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90360" y="4114800"/>
              <a:ext cx="47625" cy="16421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28485" y="419100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14743" y="42267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共同点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71435" y="4226242"/>
              <a:ext cx="26716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这三处都有“整套切换”的需求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20865" y="4587240"/>
              <a:ext cx="4225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都是一次选定实现、此后所有相关对象都跟着走的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场景。只要出现“切换的是一整套”，抽象工厂就值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得考虑。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效果、适用与扩展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三种工厂模式之间的退化路径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flow-1"/>
          <p:cNvGrpSpPr/>
          <p:nvPr/>
        </p:nvGrpSpPr>
        <p:grpSpPr>
          <a:xfrm>
            <a:off x="882015" y="1701165"/>
            <a:ext cx="4280535" cy="2598419"/>
            <a:chOff x="882015" y="1701165"/>
            <a:chExt cx="4280535" cy="2598419"/>
          </a:xfrm>
        </p:grpSpPr>
        <p:sp>
          <p:nvSpPr>
            <p:cNvPr id="7" name="Freeform 7"/>
            <p:cNvSpPr/>
            <p:nvPr/>
          </p:nvSpPr>
          <p:spPr>
            <a:xfrm>
              <a:off x="3022282" y="2330768"/>
              <a:ext cx="9525" cy="250508"/>
            </a:xfrm>
            <a:custGeom>
              <a:avLst/>
              <a:gdLst/>
              <a:ahLst/>
              <a:cxnLst/>
              <a:rect l="l" t="t" r="r" b="b"/>
              <a:pathLst>
                <a:path w="9525" h="250508">
                  <a:moveTo>
                    <a:pt x="0" y="0"/>
                  </a:moveTo>
                  <a:lnTo>
                    <a:pt x="0" y="250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969895" y="2581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022282" y="3314700"/>
              <a:ext cx="9525" cy="250508"/>
            </a:xfrm>
            <a:custGeom>
              <a:avLst/>
              <a:gdLst/>
              <a:ahLst/>
              <a:cxnLst/>
              <a:rect l="l" t="t" r="r" b="b"/>
              <a:pathLst>
                <a:path w="9525" h="250508">
                  <a:moveTo>
                    <a:pt x="0" y="0"/>
                  </a:moveTo>
                  <a:lnTo>
                    <a:pt x="0" y="2505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69895" y="35652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82015" y="1701165"/>
              <a:ext cx="4280535" cy="629602"/>
            </a:xfrm>
            <a:prstGeom prst="roundRect">
              <a:avLst>
                <a:gd name="adj" fmla="val 15129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882015" y="2686050"/>
              <a:ext cx="428053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82015" y="3669982"/>
              <a:ext cx="428053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365566" y="1817846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多个产品等级结构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65566" y="2801779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一个产品等级结构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28126" y="3786664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一个静态方法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050858" y="2416492"/>
              <a:ext cx="16954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74098" y="244316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每个具体工厂只造一个产品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050858" y="3400425"/>
              <a:ext cx="15621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74098" y="342709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工厂合并且方法设为静态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667250"/>
            <a:ext cx="4977765" cy="1247775"/>
            <a:chOff x="533400" y="4667250"/>
            <a:chExt cx="4977765" cy="1247775"/>
          </a:xfrm>
        </p:grpSpPr>
        <p:sp>
          <p:nvSpPr>
            <p:cNvPr id="22" name="Rectangle 22"/>
            <p:cNvSpPr/>
            <p:nvPr/>
          </p:nvSpPr>
          <p:spPr>
            <a:xfrm>
              <a:off x="533400" y="4667250"/>
              <a:ext cx="4977765" cy="1247775"/>
            </a:xfrm>
            <a:prstGeom prst="roundRect">
              <a:avLst>
                <a:gd name="adj" fmla="val 91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191125"/>
              <a:ext cx="200026" cy="200025"/>
              <a:chOff x="738188" y="5191125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1911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52355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53467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5048250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反过来看，抽象工厂是把工厂方法推广到多个产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品等级结构的结果。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5815965" y="1524000"/>
            <a:ext cx="5842635" cy="2244090"/>
            <a:chOff x="5815965" y="1524000"/>
            <a:chExt cx="5842635" cy="2244090"/>
          </a:xfrm>
        </p:grpSpPr>
        <p:sp>
          <p:nvSpPr>
            <p:cNvPr id="29" name="Rectangle 29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8409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看到什么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7772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23788" y="210835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抽象工厂里只有一个创建方法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961310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实际是工厂方法模式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24164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15965" y="24212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23788" y="255698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只剩一个具体工厂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61310" y="2556986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抽象层可以省掉，模式已退化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28660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23788" y="3005614"/>
              <a:ext cx="1825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创建方法写成了 static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61310" y="30056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退回简单工厂，无法被覆盖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331470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15965" y="3319462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23788" y="345424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具体工厂里按参数跨族选产品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863012" y="3328988"/>
              <a:ext cx="278606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961310" y="345424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同族约束失效，模式没起作用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1524000"/>
              <a:ext cx="584263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84872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6" name="c2-card-2"/>
          <p:cNvGrpSpPr/>
          <p:nvPr/>
        </p:nvGrpSpPr>
        <p:grpSpPr>
          <a:xfrm>
            <a:off x="5815965" y="3958590"/>
            <a:ext cx="5842635" cy="1956435"/>
            <a:chOff x="5815965" y="3958590"/>
            <a:chExt cx="5842635" cy="1956435"/>
          </a:xfrm>
        </p:grpSpPr>
        <p:sp>
          <p:nvSpPr>
            <p:cNvPr id="49" name="Rectangle 49"/>
            <p:cNvSpPr/>
            <p:nvPr/>
          </p:nvSpPr>
          <p:spPr>
            <a:xfrm>
              <a:off x="5815965" y="3958590"/>
              <a:ext cx="584263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25490" y="409194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63615" y="416814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53823" y="420385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3690" y="420338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工厂方法里也可以有多个创建方法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55995" y="456438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11 讲的迷宫工厂在一个类里放了 makeMaze、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makeRoom、makeWall、makeDoor 四个工厂方法。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55995" y="5185410"/>
              <a:ext cx="5177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判断依据是这些产品之间有没有“必须配套”的约束，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不是数方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法个数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136392" cy="2997517"/>
            <a:chOff x="667512" y="1835468"/>
            <a:chExt cx="313639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辨析与回顾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三种工厂放在一张表里对照着记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三种工厂的分界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与相关模式的界线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道自测题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辨析与回顾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简单工厂、工厂方法、抽象工厂的分界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6" name="c1-table-1"/>
          <p:cNvGrpSpPr/>
          <p:nvPr/>
        </p:nvGrpSpPr>
        <p:grpSpPr>
          <a:xfrm>
            <a:off x="533400" y="1524000"/>
            <a:ext cx="11125200" cy="3246120"/>
            <a:chOff x="533400" y="1524000"/>
            <a:chExt cx="11125200" cy="3246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1231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95284" y="1648301"/>
              <a:ext cx="148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简单工厂（第 10 讲）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65141" y="1648301"/>
              <a:ext cx="148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工厂方法（第 11 讲）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92450" y="164830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抽象工厂（本讲）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412" y="205406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面对几个产品等级结构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03270" y="205406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73128" y="205406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43938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3412" y="24598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一个具体工厂造几个产品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03270" y="24598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全部，按参数选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73128" y="245983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43938" y="24598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一族，每列各一个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286559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创建方法能否静态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03270" y="28655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常写成静态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73128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43938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2713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新增一种产品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03270" y="32713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改工厂类的分支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73128" y="327136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加一对类，不改旧代码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553450" y="3156585"/>
              <a:ext cx="309562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43938" y="327136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改抽象工厂及其全部子类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3412" y="367712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新增一个产品族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03270" y="36771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不适用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73128" y="367712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不适用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53450" y="3562350"/>
              <a:ext cx="30956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43938" y="367712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加一组类，不改旧代码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9538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395859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3412" y="40828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能否挡住跨族混搭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03270" y="40828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73128" y="40828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553450" y="3968115"/>
              <a:ext cx="30956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643938" y="40828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359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3412" y="4488656"/>
              <a:ext cx="1164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是否属于 GoF 23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303270" y="44886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973128" y="44886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是，类创建型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43938" y="44886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是，对象创建型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1524000"/>
              <a:ext cx="11125200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3198495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868352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539162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1-card-2"/>
          <p:cNvGrpSpPr/>
          <p:nvPr/>
        </p:nvGrpSpPr>
        <p:grpSpPr>
          <a:xfrm>
            <a:off x="533400" y="4945380"/>
            <a:ext cx="11125200" cy="1272540"/>
            <a:chOff x="533400" y="4945380"/>
            <a:chExt cx="11125200" cy="1272540"/>
          </a:xfrm>
        </p:grpSpPr>
        <p:sp>
          <p:nvSpPr>
            <p:cNvPr id="57" name="Rectangle 57"/>
            <p:cNvSpPr/>
            <p:nvPr/>
          </p:nvSpPr>
          <p:spPr>
            <a:xfrm>
              <a:off x="533400" y="4945380"/>
              <a:ext cx="11125200" cy="1272540"/>
            </a:xfrm>
            <a:prstGeom prst="roundRect">
              <a:avLst>
                <a:gd name="adj" fmla="val 10479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25805" y="513778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3244" y="51720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442847" y="517779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分界线落在哪两处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8947" y="5511165"/>
              <a:ext cx="7828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简单工厂和工厂方法都只盯着一个产品等级结构，差别在于选择发生在工厂类内部还是工厂子类。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8947" y="5814060"/>
              <a:ext cx="76466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抽象工厂多出来的是产品族这一维：一个具体工厂一次给出整族产品，也因此能挡住跨族混搭。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 · 辨析与回顾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和其他模式的界线，以及四个常见错法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kv-1"/>
          <p:cNvGrpSpPr/>
          <p:nvPr/>
        </p:nvGrpSpPr>
        <p:grpSpPr>
          <a:xfrm>
            <a:off x="526542" y="1545907"/>
            <a:ext cx="5633276" cy="3124391"/>
            <a:chOff x="526542" y="1545907"/>
            <a:chExt cx="5633276" cy="3124391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工厂方法（第 11 讲）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00147" y="1545907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只针对一个产品等级结构；抽象工厂的具体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工厂内部往往就是若干个工厂方法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0888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2198370"/>
              <a:ext cx="19737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建造者模式（第 13 讲）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00147" y="2198370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关注一个复杂对象分几步装配出来，抽象工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厂关注一次给出一族相互独立的对象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7403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2849880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原型模式（第 14 讲）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00147" y="2849880"/>
              <a:ext cx="30998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同样不出现具体类名，靠克隆样板对象实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现，不需要工厂的继承树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3918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542" y="3501390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单例模式（第 15 讲）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00147" y="3501390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具体工厂一般没有状态，做成单例可以省掉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反复创建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0433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542" y="4152900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桥接模式（第 17 讲）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00147" y="4152900"/>
              <a:ext cx="32712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也处理两个变化维度，但它用组合把抽象和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实现连起来，不负责创建对象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4792028"/>
            <a:ext cx="5626418" cy="1226820"/>
            <a:chOff x="533400" y="4792028"/>
            <a:chExt cx="5626418" cy="1226820"/>
          </a:xfrm>
        </p:grpSpPr>
        <p:sp>
          <p:nvSpPr>
            <p:cNvPr id="22" name="Rectangle 22"/>
            <p:cNvSpPr/>
            <p:nvPr/>
          </p:nvSpPr>
          <p:spPr>
            <a:xfrm>
              <a:off x="533400" y="4792028"/>
              <a:ext cx="5626418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925378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3905" y="498443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5345" y="501872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47597" y="502443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抽象工厂常和单例、原型一起出现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7047" y="535876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具体工厂做成单例，创建方法内部用原型克隆，这在框架里很常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见，三个模式各管一件事。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464618" y="1524000"/>
            <a:ext cx="5193982" cy="2648902"/>
            <a:chOff x="6464618" y="1524000"/>
            <a:chExt cx="5193982" cy="2648902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2648902"/>
            </a:xfrm>
            <a:prstGeom prst="roundRect">
              <a:avLst>
                <a:gd name="adj" fmla="val 50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1657350"/>
              <a:ext cx="47625" cy="238220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95122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86562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78814" y="175641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四个一写就错的地方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695122" y="207835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0801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75920" y="2090738"/>
              <a:ext cx="40170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创建方法写成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static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，静态方法不能被覆盖，多态没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695122" y="263747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50801" y="26768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75920" y="2649855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返回类型写成具体产品，客户端又依赖上具体类。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695122" y="294036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50801" y="29787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75920" y="2952750"/>
              <a:ext cx="40342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一个具体工厂里 new 了别族的产品，同族约束当场失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95122" y="350043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50801" y="353882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75920" y="3511868"/>
              <a:ext cx="43171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把“方法多”当成抽象工厂的标志，忽略了产品之间的配套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关系。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464618" y="4348162"/>
            <a:ext cx="5193982" cy="1671638"/>
            <a:chOff x="6464618" y="4348162"/>
            <a:chExt cx="5193982" cy="1671638"/>
          </a:xfrm>
        </p:grpSpPr>
        <p:sp>
          <p:nvSpPr>
            <p:cNvPr id="47" name="Rectangle 47"/>
            <p:cNvSpPr/>
            <p:nvPr/>
          </p:nvSpPr>
          <p:spPr>
            <a:xfrm>
              <a:off x="6464618" y="4348162"/>
              <a:ext cx="5193982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4481512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95122" y="454056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78562" y="457485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答题提示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545514" y="4579620"/>
              <a:ext cx="2586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遇到“能不能扩展”的题先问一句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88264" y="491394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先分清题目问的是加一个产品族还是加一个产品等级结构，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再答支不支持开闭原则。两者的答案是相反的。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产品等级结构指的是什么？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产品的继承结构，表中的一列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抽象工厂模式的定义怎么说？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创建一系列相关或相互依赖对象的接口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抽象工厂里方法个数由什么定？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产品等级结构的个数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产品族指的是什么？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同一工厂造的一组配套产品，一行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它的别名和归类是什么？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5093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Kit 模式，对象创建型模式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具体工厂的个数由什么定？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产品族的个数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答不上来的题，回到对应的正文页再看一遍那张行列表或类图。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新增一个产品族要改哪些旧代码？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都不用改，只换配置里的类名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开闭原则的倾斜性指什么？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加产品族方便，加等级结构不方便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什么时候退化成简单工厂？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工厂合并且创建方法设为静态时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新增一个产品等级结构要改什么？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抽象工厂和它的全部具体工厂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什么时候退化成工厂方法？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每个具体工厂只造一个产品时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抽象工厂能挡住哪一类错误？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跨产品族混搭使用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倾斜性这道题最常考：两个扩展方向的答案是相反的，别背成一句话。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12 抽象工厂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4478"/>
            <a:ext cx="7790993" cy="1520380"/>
            <a:chOff x="533400" y="1534478"/>
            <a:chExt cx="7790993" cy="1520380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抽象工厂提供一个创建一系列相关或相互依赖对象的接口，而无须指定它们具体的类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4993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43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7375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产品等级结构是表中的一列，产品族是表中的一行，抽象工厂一次交出一整行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5646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1948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168842"/>
              <a:ext cx="7510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四个角色：AbstractFactory、ConcreteFactory、AbstractProduct、ConcreteProduct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67927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5063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479358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抽象工厂里方法的个数等于列数，具体工厂的个数等于行数，具体产品类等于两者相乘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7844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28177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2790825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增加产品族只做加法，增加产品等级结构要改抽象工厂和全部子类，这就是开闭原则的倾斜性</a:t>
              </a:r>
            </a:p>
          </p:txBody>
        </p:sp>
      </p:grpSp>
      <p:grpSp>
        <p:nvGrpSpPr>
          <p:cNvPr id="52" name="c1-tree-2"/>
          <p:cNvGrpSpPr/>
          <p:nvPr/>
        </p:nvGrpSpPr>
        <p:grpSpPr>
          <a:xfrm>
            <a:off x="533400" y="3158490"/>
            <a:ext cx="11125200" cy="1736407"/>
            <a:chOff x="533400" y="3158490"/>
            <a:chExt cx="11125200" cy="1736407"/>
          </a:xfrm>
        </p:grpSpPr>
        <p:sp>
          <p:nvSpPr>
            <p:cNvPr id="23" name="Freeform 23"/>
            <p:cNvSpPr/>
            <p:nvPr/>
          </p:nvSpPr>
          <p:spPr>
            <a:xfrm>
              <a:off x="7507605" y="3318510"/>
              <a:ext cx="419100" cy="141923"/>
            </a:xfrm>
            <a:custGeom>
              <a:avLst/>
              <a:gdLst/>
              <a:ahLst/>
              <a:cxnLst/>
              <a:rect l="l" t="t" r="r" b="b"/>
              <a:pathLst>
                <a:path w="419100" h="141923">
                  <a:moveTo>
                    <a:pt x="0" y="141923"/>
                  </a:moveTo>
                  <a:lnTo>
                    <a:pt x="209550" y="14192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507605" y="3460432"/>
              <a:ext cx="419100" cy="140970"/>
            </a:xfrm>
            <a:custGeom>
              <a:avLst/>
              <a:gdLst/>
              <a:ahLst/>
              <a:cxnLst/>
              <a:rect l="l" t="t" r="r" b="b"/>
              <a:pathLst>
                <a:path w="419100" h="140970">
                  <a:moveTo>
                    <a:pt x="0" y="0"/>
                  </a:moveTo>
                  <a:lnTo>
                    <a:pt x="209550" y="0"/>
                  </a:lnTo>
                  <a:lnTo>
                    <a:pt x="209550" y="140970"/>
                  </a:lnTo>
                  <a:lnTo>
                    <a:pt x="419100" y="14097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507605" y="3885248"/>
              <a:ext cx="419100" cy="140970"/>
            </a:xfrm>
            <a:custGeom>
              <a:avLst/>
              <a:gdLst/>
              <a:ahLst/>
              <a:cxnLst/>
              <a:rect l="l" t="t" r="r" b="b"/>
              <a:pathLst>
                <a:path w="419100" h="140970">
                  <a:moveTo>
                    <a:pt x="0" y="140970"/>
                  </a:moveTo>
                  <a:lnTo>
                    <a:pt x="209550" y="14097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507605" y="4026218"/>
              <a:ext cx="419100" cy="141923"/>
            </a:xfrm>
            <a:custGeom>
              <a:avLst/>
              <a:gdLst/>
              <a:ahLst/>
              <a:cxnLst/>
              <a:rect l="l" t="t" r="r" b="b"/>
              <a:pathLst>
                <a:path w="419100" h="141923">
                  <a:moveTo>
                    <a:pt x="0" y="0"/>
                  </a:moveTo>
                  <a:lnTo>
                    <a:pt x="209550" y="0"/>
                  </a:lnTo>
                  <a:lnTo>
                    <a:pt x="209550" y="141923"/>
                  </a:lnTo>
                  <a:lnTo>
                    <a:pt x="419100" y="14192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507605" y="4451032"/>
              <a:ext cx="419100" cy="141922"/>
            </a:xfrm>
            <a:custGeom>
              <a:avLst/>
              <a:gdLst/>
              <a:ahLst/>
              <a:cxnLst/>
              <a:rect l="l" t="t" r="r" b="b"/>
              <a:pathLst>
                <a:path w="419100" h="141922">
                  <a:moveTo>
                    <a:pt x="0" y="141922"/>
                  </a:moveTo>
                  <a:lnTo>
                    <a:pt x="209550" y="14192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507605" y="4592955"/>
              <a:ext cx="419100" cy="140970"/>
            </a:xfrm>
            <a:custGeom>
              <a:avLst/>
              <a:gdLst/>
              <a:ahLst/>
              <a:cxnLst/>
              <a:rect l="l" t="t" r="r" b="b"/>
              <a:pathLst>
                <a:path w="419100" h="140970">
                  <a:moveTo>
                    <a:pt x="0" y="0"/>
                  </a:moveTo>
                  <a:lnTo>
                    <a:pt x="209550" y="0"/>
                  </a:lnTo>
                  <a:lnTo>
                    <a:pt x="209550" y="140970"/>
                  </a:lnTo>
                  <a:lnTo>
                    <a:pt x="419100" y="14097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872865" y="3460432"/>
              <a:ext cx="419100" cy="565785"/>
            </a:xfrm>
            <a:custGeom>
              <a:avLst/>
              <a:gdLst/>
              <a:ahLst/>
              <a:cxnLst/>
              <a:rect l="l" t="t" r="r" b="b"/>
              <a:pathLst>
                <a:path w="419100" h="565785">
                  <a:moveTo>
                    <a:pt x="0" y="565785"/>
                  </a:moveTo>
                  <a:lnTo>
                    <a:pt x="209550" y="56578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872865" y="402621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872865" y="4026218"/>
              <a:ext cx="419100" cy="566738"/>
            </a:xfrm>
            <a:custGeom>
              <a:avLst/>
              <a:gdLst/>
              <a:ahLst/>
              <a:cxnLst/>
              <a:rect l="l" t="t" r="r" b="b"/>
              <a:pathLst>
                <a:path w="419100" h="566738">
                  <a:moveTo>
                    <a:pt x="0" y="0"/>
                  </a:moveTo>
                  <a:lnTo>
                    <a:pt x="209550" y="0"/>
                  </a:lnTo>
                  <a:lnTo>
                    <a:pt x="209550" y="566738"/>
                  </a:lnTo>
                  <a:lnTo>
                    <a:pt x="419100" y="56673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926705" y="3158490"/>
              <a:ext cx="373189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926705" y="3441382"/>
              <a:ext cx="373189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291965" y="3299460"/>
              <a:ext cx="3215640" cy="320992"/>
            </a:xfrm>
            <a:prstGeom prst="roundRect">
              <a:avLst>
                <a:gd name="adj" fmla="val 29674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926705" y="3724275"/>
              <a:ext cx="373189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926705" y="4007168"/>
              <a:ext cx="373189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291965" y="3866198"/>
              <a:ext cx="3215640" cy="320992"/>
            </a:xfrm>
            <a:prstGeom prst="roundRect">
              <a:avLst>
                <a:gd name="adj" fmla="val 29674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926705" y="4291012"/>
              <a:ext cx="373189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926705" y="4573905"/>
              <a:ext cx="3731895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291965" y="4431982"/>
              <a:ext cx="3215640" cy="320992"/>
            </a:xfrm>
            <a:prstGeom prst="roundRect">
              <a:avLst>
                <a:gd name="adj" fmla="val 29674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3866198"/>
              <a:ext cx="3339465" cy="320992"/>
            </a:xfrm>
            <a:prstGeom prst="roundRect">
              <a:avLst>
                <a:gd name="adj" fmla="val 2967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017002" y="325040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产品等级结构是列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17002" y="353329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产品族是行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382262" y="339232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两个维度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17002" y="3817144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 / 具体工厂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17002" y="4100036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抽象产品 / 具体产品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382262" y="395811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四个角色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017002" y="438292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加一行只做加法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17002" y="466582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加一列改全部工厂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382262" y="45248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倾斜的开闭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3697" y="395811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抽象工厂模式</a:t>
              </a:r>
            </a:p>
          </p:txBody>
        </p:sp>
      </p:grpSp>
      <p:grpSp>
        <p:nvGrpSpPr>
          <p:cNvPr id="59" name="c1-callout-3"/>
          <p:cNvGrpSpPr/>
          <p:nvPr/>
        </p:nvGrpSpPr>
        <p:grpSpPr>
          <a:xfrm>
            <a:off x="533400" y="5051108"/>
            <a:ext cx="11125200" cy="488632"/>
            <a:chOff x="533400" y="5051108"/>
            <a:chExt cx="11125200" cy="488632"/>
          </a:xfrm>
        </p:grpSpPr>
        <p:sp>
          <p:nvSpPr>
            <p:cNvPr id="53" name="Rectangle 53"/>
            <p:cNvSpPr/>
            <p:nvPr/>
          </p:nvSpPr>
          <p:spPr>
            <a:xfrm>
              <a:off x="533400" y="505110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194935"/>
              <a:ext cx="200026" cy="200025"/>
              <a:chOff x="738188" y="5194935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1949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52393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53505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5200650"/>
              <a:ext cx="5774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下一步：第 13 讲的建造者模式关心的是一个复杂对象怎么分步装出来。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0" name="Rectangle 6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6023610"/>
              <a:ext cx="5847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判断要不要用：场景里是否存在“这几样东西必须来自同一套”的硬约束。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抽象工厂模式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12">
  <a:themeElements>
    <a:clrScheme name="sdp_1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12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1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2026-09-19T08:08:10Z</dcterms:created>
  <dcterms:modified xsi:type="dcterms:W3CDTF">2026-09-19T08:08:10Z</dcterms:modified>
  <cp:category/>
  <cp:contentStatus/>
</cp:coreProperties>
</file>