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1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1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a7cac3268cccd2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538470e3ca43d30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3b0b364cf4c5286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让一个类自己保管自己的唯一实例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三个要点与标准结构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56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六种 Java 写法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反射与序列化的破坏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优缺点与模式辨析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动机与定义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全局变量差在哪，三个要点是哪三个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结构与最小实现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一个角色、三样东西，课件的原始代码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5675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 Java 写法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从饿汉到枚举，线程安全各自从哪里来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谁会破坏单例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反射、序列化、克隆、类加载器、集群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身份证号码、打印池、注册式、大富翁菜单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效果、辨析与自测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优缺点、适用场景、模式对比、12 道题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默写出单例的三个要点，并写出对应的私有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构造函数、静态字段、静态方法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写出六种 Java 实现，并说清每一种的线程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安全是靠什么保证的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解释双重检查锁定为什么必须加 volatile，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说出指令重排序导致的具体后果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说出反射、序列化、克隆、多类加载器各自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怎样破坏单例，以及对应的防御写法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判断一个场景该用单例、多例还是依赖注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入，并说明集群环境下单例为什么失效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13632" cy="3351847"/>
            <a:chOff x="667512" y="1835468"/>
            <a:chExt cx="391363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动机、定义与结构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先弄清为什么全局变量解决不了这件事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只该有一个实例的对象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全局变量的四条不足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定义的三个要点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一个角色与三样东西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动机、定义与结构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动机：多出第二个实例，系统就开始出错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092440" cy="293370"/>
            <a:chOff x="525780" y="1548765"/>
            <a:chExt cx="80924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张欣佳老师课件从任务管理器开场。这一类对象的共同点是，它管的东西本来就只有一份。</a:t>
              </a:r>
            </a:p>
          </p:txBody>
        </p:sp>
      </p:grpSp>
      <p:grpSp>
        <p:nvGrpSpPr>
          <p:cNvPr id="20" name="c1-bullets-1"/>
          <p:cNvGrpSpPr/>
          <p:nvPr/>
        </p:nvGrpSpPr>
        <p:grpSpPr>
          <a:xfrm>
            <a:off x="526161" y="1977866"/>
            <a:ext cx="5347259" cy="1934147"/>
            <a:chOff x="526161" y="1977866"/>
            <a:chExt cx="5347259" cy="1934147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197786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只该有一个的典型对象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020" y="237648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611" y="2316956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任务管理器：开出两个窗口，会看到两份互相打架的进程表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1020" y="270605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611" y="264556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文件系统：同一块磁盘的分配表只能有一份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41020" y="303561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611" y="2975134"/>
              <a:ext cx="49393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打印池 Print Spooler：任务队列分散了，打印顺序就乱了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" y="336423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7611" y="330469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序列号、主键生成器：两份各自计数，必然发出重复的号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41020" y="369379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7611" y="3633311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配置对象、日志记录器：读两遍配置，两处行为就可能不一致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041458"/>
            <a:ext cx="5626418" cy="1574482"/>
            <a:chOff x="533400" y="4041458"/>
            <a:chExt cx="5626418" cy="1574482"/>
          </a:xfrm>
        </p:grpSpPr>
        <p:sp>
          <p:nvSpPr>
            <p:cNvPr id="21" name="Rectangle 21"/>
            <p:cNvSpPr/>
            <p:nvPr/>
          </p:nvSpPr>
          <p:spPr>
            <a:xfrm>
              <a:off x="533400" y="4041458"/>
              <a:ext cx="5626418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174808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42452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5543" y="42810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76744" y="428577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光靠约定挡不住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8096" y="4637246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把“请不要再创建一个”写进注释或开发规范，只要有人忘了，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第二个实例照样建得出来。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9239" y="5224462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需要的是语法上就做不到，而不是文档上不允许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954530"/>
            <a:ext cx="5193982" cy="1844040"/>
            <a:chOff x="6464618" y="1954530"/>
            <a:chExt cx="5193982" cy="1844040"/>
          </a:xfrm>
        </p:grpSpPr>
        <p:sp>
          <p:nvSpPr>
            <p:cNvPr id="29" name="Rectangle 29"/>
            <p:cNvSpPr/>
            <p:nvPr/>
          </p:nvSpPr>
          <p:spPr>
            <a:xfrm>
              <a:off x="6464618" y="1954530"/>
              <a:ext cx="5193982" cy="1844040"/>
            </a:xfrm>
            <a:prstGeom prst="roundRect">
              <a:avLst>
                <a:gd name="adj" fmla="val 72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2087880"/>
              <a:ext cx="47625" cy="157734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06552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771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07961" y="21978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两个要求要同时满足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707505" y="253746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65850" y="25777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97446" y="2550319"/>
              <a:ext cx="25569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这个类的实例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有且只有一个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07505" y="285750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65850" y="28978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97446" y="287035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这个实例要能被随时、方便地取到。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0456" y="3186112"/>
              <a:ext cx="4431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陈伟老师课件还补了两条：保留类原有的行为能力；能够从外部以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一致的方式访问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3984308"/>
            <a:ext cx="5193982" cy="1632585"/>
            <a:chOff x="6464618" y="3984308"/>
            <a:chExt cx="5193982" cy="1632585"/>
          </a:xfrm>
        </p:grpSpPr>
        <p:sp>
          <p:nvSpPr>
            <p:cNvPr id="42" name="Rectangle 42"/>
            <p:cNvSpPr/>
            <p:nvPr/>
          </p:nvSpPr>
          <p:spPr>
            <a:xfrm>
              <a:off x="6464618" y="3984308"/>
              <a:ext cx="5193982" cy="1632585"/>
            </a:xfrm>
            <a:prstGeom prst="roundRect">
              <a:avLst>
                <a:gd name="adj" fmla="val 816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68452" y="41881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59613" y="42238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69861" y="422767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让类自身负责保存它的唯一实例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1214" y="4579144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这个类保证没有其他实例被创建，同时提供一个访问该实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例的方法。把创建权和访问权都收回类自己手里，就是单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例模式的模式动机。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8" name="Rectangle 4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04084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判断标准：这个对象代表的资源只有一份，那么代表它的实例也只该有一份。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动机、定义与结构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先问一句：用全局变量行不行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47474" cy="264033"/>
            <a:chOff x="526542" y="1545907"/>
            <a:chExt cx="584747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47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全局变量确实能让对象随时被访问，但它解决不了“只有一个”这半件事。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858202"/>
            <a:chOff x="533400" y="1928812"/>
            <a:chExt cx="5410200" cy="85820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858202"/>
            </a:xfrm>
            <a:prstGeom prst="roundRect">
              <a:avLst>
                <a:gd name="adj" fmla="val 11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620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陈伟老师课件第 4 页的写法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152521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instance;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全局变量声明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Singleton instance;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全局变量定义 */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956560"/>
            <a:ext cx="5410200" cy="1737360"/>
            <a:chOff x="533400" y="2956560"/>
            <a:chExt cx="5410200" cy="1737360"/>
          </a:xfrm>
        </p:grpSpPr>
        <p:sp>
          <p:nvSpPr>
            <p:cNvPr id="13" name="Rectangle 13"/>
            <p:cNvSpPr/>
            <p:nvPr/>
          </p:nvSpPr>
          <p:spPr>
            <a:xfrm>
              <a:off x="533400" y="2956560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108484"/>
              <a:ext cx="1152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里等价的写法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797" y="3368516"/>
              <a:ext cx="3637915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Config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谁都能取到它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Config CONFIG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Config();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但也挡不住这一行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Config another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Config();</a:t>
              </a:r>
            </a:p>
          </p:txBody>
        </p:sp>
      </p:grpSp>
      <p:grpSp>
        <p:nvGrpSpPr>
          <p:cNvPr id="23" name="c1-card-3"/>
          <p:cNvGrpSpPr/>
          <p:nvPr/>
        </p:nvGrpSpPr>
        <p:grpSpPr>
          <a:xfrm>
            <a:off x="533400" y="4863465"/>
            <a:ext cx="5410200" cy="1459230"/>
            <a:chOff x="533400" y="4863465"/>
            <a:chExt cx="5410200" cy="1459230"/>
          </a:xfrm>
        </p:grpSpPr>
        <p:sp>
          <p:nvSpPr>
            <p:cNvPr id="17" name="Rectangle 17"/>
            <p:cNvSpPr/>
            <p:nvPr/>
          </p:nvSpPr>
          <p:spPr>
            <a:xfrm>
              <a:off x="533400" y="4863465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99681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50501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862" y="50830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3784" y="5085398"/>
              <a:ext cx="3131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常见的三种“全局”写法，毛病是一样的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332" y="5411152"/>
              <a:ext cx="47714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static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字段谁都能读、谁也都能改；常量类只放得下不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可变的值；在 main 里建好一个对象再层层传下去，参数列表会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越来越长。</a:t>
              </a:r>
            </a:p>
          </p:txBody>
        </p:sp>
      </p:grpSp>
      <p:grpSp>
        <p:nvGrpSpPr>
          <p:cNvPr id="35" name="c2-kv-1"/>
          <p:cNvGrpSpPr/>
          <p:nvPr/>
        </p:nvGrpSpPr>
        <p:grpSpPr>
          <a:xfrm>
            <a:off x="6241542" y="1950720"/>
            <a:ext cx="5417058" cy="2202371"/>
            <a:chOff x="6241542" y="1950720"/>
            <a:chExt cx="5417058" cy="2202371"/>
          </a:xfrm>
        </p:grpSpPr>
        <p:sp>
          <p:nvSpPr>
            <p:cNvPr id="24" name="TextBox 24"/>
            <p:cNvSpPr txBox="1"/>
            <p:nvPr/>
          </p:nvSpPr>
          <p:spPr>
            <a:xfrm>
              <a:off x="6241542" y="19507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存储位置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0754" y="1950720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全局对象放在数据区而不是堆区，大对象从程序启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动起就占着内存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48400" y="2490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41542" y="2597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生命周期控制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0754" y="2597468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启动时构造、退出时析构，不能按需释放，也不能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重新实例化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31375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41542" y="324326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实例化安全性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0754" y="3243262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多线程同时初始化、构造过程中抛异常，都没有一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个统一的把关点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37833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41542" y="388905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挡不住第二个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0754" y="388905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构造函数是公开的，任何人都可以再创建一个出来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4270058"/>
            <a:ext cx="5410200" cy="2052638"/>
            <a:chOff x="6248400" y="4270058"/>
            <a:chExt cx="5410200" cy="2052638"/>
          </a:xfrm>
        </p:grpSpPr>
        <p:sp>
          <p:nvSpPr>
            <p:cNvPr id="36" name="Rectangle 36"/>
            <p:cNvSpPr/>
            <p:nvPr/>
          </p:nvSpPr>
          <p:spPr>
            <a:xfrm>
              <a:off x="6248400" y="4270058"/>
              <a:ext cx="5410200" cy="2052638"/>
            </a:xfrm>
            <a:prstGeom prst="roundRect">
              <a:avLst>
                <a:gd name="adj" fmla="val 649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35090" y="44567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27762" y="44896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0684" y="4491990"/>
              <a:ext cx="3556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前三条是 C++ 才操心的，第四条谁都躲不掉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4817745"/>
              <a:ext cx="48228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有垃圾回收，存储位置和生命周期不用手工管。但“别人还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能再造一个”这条，在任何语言里都成立，它正是单例要解决的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那一条。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动机、定义与结构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定义：确保只有一个实例，并自行向系统提供它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2291715"/>
            <a:chOff x="533400" y="1524000"/>
            <a:chExt cx="5951220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063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单例模式（Singleton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确保某一个类只有一个实例，而且自行实例化并向整个系统提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供这个实例。这个类称为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单例类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，它提供全局访问的方法。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英文原话：Ensure a class has only one instance, and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provide a global point of access to it.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别名：单件模式、单态模式</a:t>
              </a:r>
            </a:p>
          </p:txBody>
        </p:sp>
      </p:grpSp>
      <p:grpSp>
        <p:nvGrpSpPr>
          <p:cNvPr id="28" name="c1-bullets-2"/>
          <p:cNvGrpSpPr/>
          <p:nvPr/>
        </p:nvGrpSpPr>
        <p:grpSpPr>
          <a:xfrm>
            <a:off x="525780" y="4030980"/>
            <a:ext cx="3554730" cy="1337310"/>
            <a:chOff x="525780" y="4030980"/>
            <a:chExt cx="3554730" cy="1337310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40309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三个要点，缺一不可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37197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44142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438531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某个类只能有一个实例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71678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47590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47301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它必须自行创建这个实例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50615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51038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507492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它必须自行向整个系统提供这个实例</a:t>
              </a:r>
            </a:p>
          </p:txBody>
        </p:sp>
      </p:grpSp>
      <p:grpSp>
        <p:nvGrpSpPr>
          <p:cNvPr id="40" name="c2-kv-1"/>
          <p:cNvGrpSpPr/>
          <p:nvPr/>
        </p:nvGrpSpPr>
        <p:grpSpPr>
          <a:xfrm>
            <a:off x="6781800" y="1548765"/>
            <a:ext cx="4876800" cy="1613535"/>
            <a:chOff x="6781800" y="1548765"/>
            <a:chExt cx="4876800" cy="1613535"/>
          </a:xfrm>
        </p:grpSpPr>
        <p:sp>
          <p:nvSpPr>
            <p:cNvPr id="29" name="TextBox 29"/>
            <p:cNvSpPr txBox="1"/>
            <p:nvPr/>
          </p:nvSpPr>
          <p:spPr>
            <a:xfrm>
              <a:off x="6781800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按目的分类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7245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89420" y="186880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1800" y="19888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按范围分类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7245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对象模式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89420" y="230886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1800" y="2428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角色个数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37245" y="2428875"/>
              <a:ext cx="2999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只有一个，就是单例类 Singleton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89420" y="274891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81800" y="2868930"/>
              <a:ext cx="1519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在 GoF 里的位置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37245" y="28689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创建型五个模式中最简单的一个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789420" y="3293745"/>
            <a:ext cx="4869180" cy="2016442"/>
            <a:chOff x="6789420" y="3293745"/>
            <a:chExt cx="4869180" cy="2016442"/>
          </a:xfrm>
        </p:grpSpPr>
        <p:sp>
          <p:nvSpPr>
            <p:cNvPr id="41" name="Rectangle 41"/>
            <p:cNvSpPr/>
            <p:nvPr/>
          </p:nvSpPr>
          <p:spPr>
            <a:xfrm>
              <a:off x="6789420" y="3293745"/>
              <a:ext cx="4869180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798945" y="3427095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37070" y="350329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23328" y="35390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80020" y="353853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三个要点各对应一行代码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29450" y="3899535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第一点靠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构造函数落实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29450" y="4234815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第二点靠静态私有成员变量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instance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落实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29450" y="4570095"/>
              <a:ext cx="3960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第三点靠静态公有方法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getInstance()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落实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30593" y="49020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默写时按这个顺序写，不会漏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动机、定义与结构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结构：一个角色，三样东西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960273" cy="278702"/>
            <a:chOff x="526161" y="1547336"/>
            <a:chExt cx="696027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960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单例模式是 GoF 二十三个模式里唯一只有一个角色的模式，结构图上只有一个类。</a:t>
              </a:r>
            </a:p>
          </p:txBody>
        </p:sp>
      </p:grpSp>
      <p:grpSp>
        <p:nvGrpSpPr>
          <p:cNvPr id="30" name="c1-uml-1"/>
          <p:cNvGrpSpPr/>
          <p:nvPr/>
        </p:nvGrpSpPr>
        <p:grpSpPr>
          <a:xfrm>
            <a:off x="1368742" y="2798445"/>
            <a:ext cx="4291013" cy="1479899"/>
            <a:chOff x="1368742" y="2798445"/>
            <a:chExt cx="4291013" cy="1479899"/>
          </a:xfrm>
        </p:grpSpPr>
        <p:sp>
          <p:nvSpPr>
            <p:cNvPr id="9" name="Freeform 9"/>
            <p:cNvSpPr/>
            <p:nvPr/>
          </p:nvSpPr>
          <p:spPr>
            <a:xfrm>
              <a:off x="4353878" y="3945255"/>
              <a:ext cx="798195" cy="323850"/>
            </a:xfrm>
            <a:custGeom>
              <a:avLst/>
              <a:gdLst/>
              <a:ahLst/>
              <a:cxnLst/>
              <a:rect l="l" t="t" r="r" b="b"/>
              <a:pathLst>
                <a:path w="798195" h="323850">
                  <a:moveTo>
                    <a:pt x="0" y="0"/>
                  </a:moveTo>
                  <a:lnTo>
                    <a:pt x="0" y="323850"/>
                  </a:lnTo>
                  <a:lnTo>
                    <a:pt x="798195" y="323850"/>
                  </a:lnTo>
                  <a:lnTo>
                    <a:pt x="79819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94922" y="3945255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115253" y="104775"/>
                  </a:moveTo>
                  <a:lnTo>
                    <a:pt x="5715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511742" y="3371850"/>
              <a:ext cx="1334453" cy="9525"/>
            </a:xfrm>
            <a:custGeom>
              <a:avLst/>
              <a:gdLst/>
              <a:ahLst/>
              <a:cxnLst/>
              <a:rect l="l" t="t" r="r" b="b"/>
              <a:pathLst>
                <a:path w="1334453" h="9525">
                  <a:moveTo>
                    <a:pt x="0" y="0"/>
                  </a:moveTo>
                  <a:lnTo>
                    <a:pt x="13344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741420" y="331374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368742" y="3062288"/>
              <a:ext cx="1143000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375410" y="3068955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368742" y="33108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68742" y="34061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46195" y="2798445"/>
              <a:ext cx="1813560" cy="11468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53815" y="2805112"/>
              <a:ext cx="1799272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46195" y="3047048"/>
              <a:ext cx="18135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46195" y="3317558"/>
              <a:ext cx="18135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25162" y="3122295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39989" y="3477101"/>
              <a:ext cx="7356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doWork()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5333" y="2858452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Singleton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17442" y="3118009"/>
              <a:ext cx="14129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instance : Singleton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17442" y="3388519"/>
              <a:ext cx="1671447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Singleton()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getInstance() : Singleton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 : void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47222" y="4063365"/>
              <a:ext cx="61150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74272" y="4087654"/>
              <a:ext cx="5574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instance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44178" y="3165158"/>
              <a:ext cx="46863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76601" y="31903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取实例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4976812"/>
            <a:ext cx="5626418" cy="1279208"/>
            <a:chOff x="533400" y="4976812"/>
            <a:chExt cx="5626418" cy="1279208"/>
          </a:xfrm>
        </p:grpSpPr>
        <p:sp>
          <p:nvSpPr>
            <p:cNvPr id="31" name="Rectangle 31"/>
            <p:cNvSpPr/>
            <p:nvPr/>
          </p:nvSpPr>
          <p:spPr>
            <a:xfrm>
              <a:off x="533400" y="4976812"/>
              <a:ext cx="5626418" cy="1279208"/>
            </a:xfrm>
            <a:prstGeom prst="roundRect">
              <a:avLst>
                <a:gd name="adj" fmla="val 89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516880"/>
              <a:ext cx="200026" cy="200025"/>
              <a:chOff x="738188" y="5516880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516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5561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5672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539781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下方那条指向自己的关联线，表示单例类持有自己的唯一实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例，角色名就叫 instance。</a:t>
              </a:r>
            </a:p>
          </p:txBody>
        </p:sp>
      </p:grpSp>
      <p:grpSp>
        <p:nvGrpSpPr>
          <p:cNvPr id="49" name="c2-kv-1"/>
          <p:cNvGrpSpPr/>
          <p:nvPr/>
        </p:nvGrpSpPr>
        <p:grpSpPr>
          <a:xfrm>
            <a:off x="6457760" y="1964055"/>
            <a:ext cx="5200840" cy="2471928"/>
            <a:chOff x="6457760" y="1964055"/>
            <a:chExt cx="5200840" cy="2471928"/>
          </a:xfrm>
        </p:grpSpPr>
        <p:sp>
          <p:nvSpPr>
            <p:cNvPr id="38" name="TextBox 38"/>
            <p:cNvSpPr txBox="1"/>
            <p:nvPr/>
          </p:nvSpPr>
          <p:spPr>
            <a:xfrm>
              <a:off x="6457760" y="1964055"/>
              <a:ext cx="106684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- instance :</a:t>
              </a:r>
              <a:br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Singleton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7517" y="1964055"/>
              <a:ext cx="30998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静态私有成员变量，保存唯一实例。静态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才能在一个对象都没有时存在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5060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57760" y="2615565"/>
              <a:ext cx="1242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- Singleton()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517" y="2615565"/>
              <a:ext cx="30998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私有构造函数，外部创建不出来，只有类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自己能调用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1584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57760" y="3267075"/>
              <a:ext cx="1500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+ getInstance()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7517" y="3267075"/>
              <a:ext cx="30998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静态公有工厂方法，检验实例是否存在，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不存在就创建并存进上面那个变量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8100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57760" y="3918585"/>
              <a:ext cx="1282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27517" y="3918585"/>
              <a:ext cx="30998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单例类本身的业务方法，和普通类没有区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4558665"/>
            <a:ext cx="5193982" cy="1697355"/>
            <a:chOff x="6464618" y="4558665"/>
            <a:chExt cx="5193982" cy="1697355"/>
          </a:xfrm>
        </p:grpSpPr>
        <p:sp>
          <p:nvSpPr>
            <p:cNvPr id="50" name="Rectangle 50"/>
            <p:cNvSpPr/>
            <p:nvPr/>
          </p:nvSpPr>
          <p:spPr>
            <a:xfrm>
              <a:off x="6464618" y="4558665"/>
              <a:ext cx="5193982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4692015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5122" y="47510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86562" y="47853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78814" y="4790122"/>
              <a:ext cx="2274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getInstance 必须是静态的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88264" y="5124450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它要在“一个实例都还没有”的时候被调用，所以不能写成实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例方法。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9408" y="5681186"/>
              <a:ext cx="44848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同理，</a:t>
              </a:r>
              <a:r>
                <a:rPr lang="en-US" sz="11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instance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也必须是静态字段，否则它会跟着实例走，根本起不到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看门的作用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动机、定义与结构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最小实现：把三个要点翻译成代码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755469" cy="308039"/>
            <a:chOff x="525399" y="1550194"/>
            <a:chExt cx="675546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7554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张欣佳老师课件第 8 页给的原始代码，本来就是 Java，这里原样保留。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67865"/>
            <a:ext cx="6059805" cy="3545205"/>
            <a:chOff x="533400" y="1967865"/>
            <a:chExt cx="6059805" cy="354520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745105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353752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4165282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035" y="2381726"/>
              <a:ext cx="3531870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静态私有成员变量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instance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私有构造函数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静态公有工厂方法，返回唯一实例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getInstance()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==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instance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bullets-1"/>
          <p:cNvGrpSpPr/>
          <p:nvPr/>
        </p:nvGrpSpPr>
        <p:grpSpPr>
          <a:xfrm>
            <a:off x="6890385" y="1992630"/>
            <a:ext cx="3302317" cy="1337310"/>
            <a:chOff x="6890385" y="1992630"/>
            <a:chExt cx="3302317" cy="1337310"/>
          </a:xfrm>
        </p:grpSpPr>
        <p:sp>
          <p:nvSpPr>
            <p:cNvPr id="16" name="TextBox 16"/>
            <p:cNvSpPr txBox="1"/>
            <p:nvPr/>
          </p:nvSpPr>
          <p:spPr>
            <a:xfrm>
              <a:off x="6890385" y="19926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实现过程中注意三点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898005" y="237839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4292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48512" y="234696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单例类的构造函数为私有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898005" y="2723198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4292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48512" y="269176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提供一个自身的静态私有成员变量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898005" y="3068002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1912"/>
                  </a:moveTo>
                  <a:lnTo>
                    <a:pt x="54292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48512" y="30365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提供一个公有的静态工厂方法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898005" y="3461385"/>
            <a:ext cx="4760595" cy="2051685"/>
            <a:chOff x="6898005" y="3461385"/>
            <a:chExt cx="4760595" cy="2051685"/>
          </a:xfrm>
        </p:grpSpPr>
        <p:sp>
          <p:nvSpPr>
            <p:cNvPr id="24" name="Rectangle 24"/>
            <p:cNvSpPr/>
            <p:nvPr/>
          </p:nvSpPr>
          <p:spPr>
            <a:xfrm>
              <a:off x="6898005" y="3461385"/>
              <a:ext cx="4760595" cy="2051685"/>
            </a:xfrm>
            <a:prstGeom prst="roundRect">
              <a:avLst>
                <a:gd name="adj" fmla="val 6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07530" y="3594735"/>
              <a:ext cx="47625" cy="17849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45655" y="3670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35863" y="3706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限制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5730" y="370617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这段代码只在单线程下正确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38035" y="4067175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if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判断和赋值之间可能被别的线程插进来，两个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线程会各建一个实例。第二部分就从这里展开。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991225"/>
              <a:ext cx="930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工厂方法负责检验实例的存在性并实例化自己，再存储在静态成员变量中，以确保只有一个实例被创建。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420085" cy="3351847"/>
            <a:chOff x="667512" y="1835468"/>
            <a:chExt cx="342008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008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 Java 写法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线程安全到底是谁给的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饿汉与裸懒汉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同步方法与双重检查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静态内部类与枚举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六种写法，先看一张全表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81758" cy="308039"/>
            <a:chOff x="525399" y="1550194"/>
            <a:chExt cx="748175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8175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后面每一页展开一种。表里的“延迟创建”指实例是不是等到第一次调用时才建。</a:t>
              </a:r>
            </a:p>
          </p:txBody>
        </p:sp>
      </p:grpSp>
      <p:grpSp>
        <p:nvGrpSpPr>
          <p:cNvPr id="69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6712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1884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延迟创建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4280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线程安全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9767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防反射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7928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防序列化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35300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2551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饿汉式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6263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90226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14188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26708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49718" y="2551271"/>
              <a:ext cx="3161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类初始化阶段就建好，JVM 保证只建一次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30008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懒汉式（裸写）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66263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91928" y="2874645"/>
              <a:ext cx="120491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90226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14188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6708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49718" y="300085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教学反例，多线程下会建出两个实例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同步方法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66263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90226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14188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6708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49718" y="344947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正确，但实例建好后每次取用仍要抢锁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3898106"/>
              <a:ext cx="1589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双重检查加 volatile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66263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90226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14188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26708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49718" y="3898106"/>
              <a:ext cx="2761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只有首次创建走锁，volatile 不能省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223" y="43467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静态内部类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66263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90226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14188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6708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9718" y="434673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不写一行同步代码，靠类初始化锁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1223" y="47953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866263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090226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215890" y="4670108"/>
              <a:ext cx="109347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14188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328410" y="4670108"/>
              <a:ext cx="120491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26708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49718" y="4795361"/>
              <a:ext cx="1955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从语言层面保证唯一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275367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397764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0160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1412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53713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1-callout-2"/>
          <p:cNvGrpSpPr/>
          <p:nvPr/>
        </p:nvGrpSpPr>
        <p:grpSpPr>
          <a:xfrm>
            <a:off x="533400" y="5299710"/>
            <a:ext cx="11125200" cy="1062990"/>
            <a:chOff x="533400" y="5299710"/>
            <a:chExt cx="11125200" cy="1062990"/>
          </a:xfrm>
        </p:grpSpPr>
        <p:sp>
          <p:nvSpPr>
            <p:cNvPr id="70" name="Rectangle 70"/>
            <p:cNvSpPr/>
            <p:nvPr/>
          </p:nvSpPr>
          <p:spPr>
            <a:xfrm>
              <a:off x="533400" y="5299710"/>
              <a:ext cx="11125200" cy="1062990"/>
            </a:xfrm>
            <a:prstGeom prst="roundRect">
              <a:avLst>
                <a:gd name="adj" fmla="val 1075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731193"/>
              <a:ext cx="200026" cy="200026"/>
              <a:chOff x="738188" y="573119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7311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5797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58312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588318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陈伟老师课件把它们归成饥饿式、注册式、延迟式三类，延迟式下面再分同步方法、双重检查、静态内部类。枚举写法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课件没有讲，这里补上。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饿汉式：类一加载就把实例建好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842635" cy="2586990"/>
            <a:chOff x="533400" y="1524000"/>
            <a:chExt cx="5842635" cy="2586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153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EagerSingleton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76475"/>
              <a:ext cx="580453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465070"/>
              <a:ext cx="580453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416" y="1937385"/>
              <a:ext cx="3631121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EagerSingleton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类加载时就完成实例化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EagerSingleton INSTANCE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EagerSingleton();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EagerSingleton() {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EagerSingleton getInstance()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没有判断，直接返回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286250"/>
            <a:ext cx="5842635" cy="1272540"/>
            <a:chOff x="533400" y="4286250"/>
            <a:chExt cx="5842635" cy="1272540"/>
          </a:xfrm>
        </p:grpSpPr>
        <p:sp>
          <p:nvSpPr>
            <p:cNvPr id="13" name="Rectangle 13"/>
            <p:cNvSpPr/>
            <p:nvPr/>
          </p:nvSpPr>
          <p:spPr>
            <a:xfrm>
              <a:off x="533400" y="4286250"/>
              <a:ext cx="5842635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41960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447865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3343" y="45129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和懒汉式比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47647" y="451866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用内存换第一次调用的速度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490823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48520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资源利用稍差：实例可能从头到尾闲着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521112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515493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速度和反应时间稍好：首次调用不必等构造，也不经过判断和加锁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1524000"/>
            <a:ext cx="4977765" cy="1747838"/>
            <a:chOff x="6680835" y="1524000"/>
            <a:chExt cx="4977765" cy="1747838"/>
          </a:xfrm>
        </p:grpSpPr>
        <p:sp>
          <p:nvSpPr>
            <p:cNvPr id="23" name="Rectangle 23"/>
            <p:cNvSpPr/>
            <p:nvPr/>
          </p:nvSpPr>
          <p:spPr>
            <a:xfrm>
              <a:off x="6680835" y="1524000"/>
              <a:ext cx="4977765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0360" y="1657350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11340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0779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为什么安全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95082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交给类初始化阶段去做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04482" y="2090738"/>
              <a:ext cx="43771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静态字段的赋值发生在类初始化阶段，由 JVM 执行类初始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化方法 &lt;clinit&gt;()。JVM 对同一个类的初始化加了一把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锁，多个线程同时触发也只会执行一次。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05625" y="290369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一行同步代码都不用写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680835" y="3447098"/>
            <a:ext cx="4977765" cy="2111692"/>
            <a:chOff x="6680835" y="3447098"/>
            <a:chExt cx="4977765" cy="2111692"/>
          </a:xfrm>
        </p:grpSpPr>
        <p:sp>
          <p:nvSpPr>
            <p:cNvPr id="31" name="Rectangle 31"/>
            <p:cNvSpPr/>
            <p:nvPr/>
          </p:nvSpPr>
          <p:spPr>
            <a:xfrm>
              <a:off x="6680835" y="3447098"/>
              <a:ext cx="4977765" cy="2111692"/>
            </a:xfrm>
            <a:prstGeom prst="roundRect">
              <a:avLst>
                <a:gd name="adj" fmla="val 6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3580448"/>
              <a:ext cx="47625" cy="18449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911340" y="36395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2780" y="36737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5032" y="36785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建了不一定用得上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04482" y="4012882"/>
              <a:ext cx="42828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类一被加载实例就存在，哪怕整个运行期都没人调用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getInstance()。对象大或者构造代价高时，这笔开销就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白花了。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19912" y="48863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75932" y="483012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创建时机也不可控：不能带参数，也不能等运行期读到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配置再建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0" name="Rectangle 4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6023610"/>
              <a:ext cx="7976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更正：陈伟老师课件第 15 页写成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= new Singleton;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，漏了一对括号；返回类型误写成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Signleton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懒汉式：省了内存，丢了线程安全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56248" cy="264033"/>
            <a:chOff x="526542" y="1545907"/>
            <a:chExt cx="65562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把创建推迟到第一次调用。单线程下没问题，多线程下检查和赋值之间会被插队。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5193982" cy="2616518"/>
            <a:chOff x="533400" y="1928812"/>
            <a:chExt cx="5193982" cy="26165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939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LazySingleton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358515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534728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3202305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instance;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getInstance()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检查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instance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714875"/>
            <a:ext cx="5193982" cy="1459230"/>
            <a:chOff x="533400" y="4714875"/>
            <a:chExt cx="5193982" cy="1459230"/>
          </a:xfrm>
        </p:grpSpPr>
        <p:sp>
          <p:nvSpPr>
            <p:cNvPr id="15" name="Rectangle 15"/>
            <p:cNvSpPr/>
            <p:nvPr/>
          </p:nvSpPr>
          <p:spPr>
            <a:xfrm>
              <a:off x="533400" y="4714875"/>
              <a:ext cx="519398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84822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49015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862" y="49344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3784" y="493680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两个实例，还丢了一个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5262562"/>
              <a:ext cx="44885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两个线程各拿到一个对象，“唯一”已经不成立。先建的那个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被覆盖后成了垃圾，如果它已经占了端口或文件句柄，就泄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漏了。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032182" y="1928812"/>
            <a:ext cx="5626418" cy="2400300"/>
            <a:chOff x="6032182" y="1928812"/>
            <a:chExt cx="5626418" cy="2400300"/>
          </a:xfrm>
        </p:grpSpPr>
        <p:sp>
          <p:nvSpPr>
            <p:cNvPr id="22" name="Rectangle 22"/>
            <p:cNvSpPr/>
            <p:nvPr/>
          </p:nvSpPr>
          <p:spPr>
            <a:xfrm>
              <a:off x="6032182" y="1928812"/>
              <a:ext cx="5626418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1287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07659" y="205025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 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65034" y="205025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05260" y="2050256"/>
              <a:ext cx="668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instance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9338" y="24503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4660" y="2450306"/>
              <a:ext cx="1481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 instance 为 null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1082" y="2450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还没开始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17505" y="2450306"/>
              <a:ext cx="347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27241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2182" y="27289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9338" y="28503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4660" y="28503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被调度器挂起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61082" y="2850356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也读到 instance 为 null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17505" y="2850356"/>
              <a:ext cx="3478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None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31242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29338" y="32504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04660" y="325040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创建对象 1 并赋值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61082" y="3250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仍在挂起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17505" y="325040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35242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35290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9338" y="36504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4660" y="3650456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返回对象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61082" y="36504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创建对象 2 并覆盖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429875" y="3538538"/>
              <a:ext cx="121920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17505" y="365045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39243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29338" y="405050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04660" y="405050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手里是对象 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61082" y="405050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手里是对象 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429875" y="3938588"/>
              <a:ext cx="121920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517505" y="4050506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1928812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0274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5916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415588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image-2"/>
          <p:cNvGrpSpPr/>
          <p:nvPr/>
        </p:nvGrpSpPr>
        <p:grpSpPr>
          <a:xfrm>
            <a:off x="6032182" y="4498658"/>
            <a:ext cx="5626418" cy="1883758"/>
            <a:chOff x="6032182" y="4498658"/>
            <a:chExt cx="5626418" cy="1883758"/>
          </a:xfrm>
        </p:grpSpPr>
        <p:pic>
          <p:nvPicPr>
            <p:cNvPr id="60" name="Image 60"/>
            <p:cNvPicPr>
              <a:picLocks noChangeAspect="1"/>
            </p:cNvPicPr>
            <p:nvPr/>
          </p:nvPicPr>
          <p:blipFill>
            <a:blip r:embed="rId2"/>
            <a:srcRect l="0" t="31040" r="0" b="31039"/>
            <a:stretch>
              <a:fillRect/>
            </a:stretch>
          </p:blipFill>
          <p:spPr>
            <a:xfrm>
              <a:off x="6032182" y="4498658"/>
              <a:ext cx="5626418" cy="1600200"/>
            </a:xfrm>
            <a:prstGeom prst="roundRect">
              <a:avLst>
                <a:gd name="adj" fmla="val 8333"/>
              </a:avLst>
            </a:prstGeom>
          </p:spPr>
        </p:pic>
        <p:sp>
          <p:nvSpPr>
            <p:cNvPr id="61" name="TextBox 61"/>
            <p:cNvSpPr txBox="1"/>
            <p:nvPr/>
          </p:nvSpPr>
          <p:spPr>
            <a:xfrm>
              <a:off x="7454722" y="6191726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两个人都看到那个空位是空的，于是各放了一个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98959" cy="909257"/>
            <a:chOff x="520446" y="342900"/>
            <a:chExt cx="61989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989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synchronized：对是对了，代价也大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3139440"/>
            <a:chOff x="533400" y="1524000"/>
            <a:chExt cx="6276022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12770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4392422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锁的是 Singleton.class 这把类锁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getInstance()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==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instance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ard-1"/>
          <p:cNvGrpSpPr/>
          <p:nvPr/>
        </p:nvGrpSpPr>
        <p:grpSpPr>
          <a:xfrm>
            <a:off x="7114222" y="1524000"/>
            <a:ext cx="4544378" cy="1621155"/>
            <a:chOff x="7114222" y="1524000"/>
            <a:chExt cx="4544378" cy="1621155"/>
          </a:xfrm>
        </p:grpSpPr>
        <p:sp>
          <p:nvSpPr>
            <p:cNvPr id="12" name="Rectangle 12"/>
            <p:cNvSpPr/>
            <p:nvPr/>
          </p:nvSpPr>
          <p:spPr>
            <a:xfrm>
              <a:off x="7114222" y="1524000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23748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6194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互斥保证了只建一次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4252" y="2129790"/>
              <a:ext cx="3806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同一时刻只有一个线程能进入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getInstance()，检查和创建合成了一个不可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分割的动作。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7114222" y="3335655"/>
            <a:ext cx="4544378" cy="1631632"/>
            <a:chOff x="7114222" y="3335655"/>
            <a:chExt cx="4544378" cy="1631632"/>
          </a:xfrm>
        </p:grpSpPr>
        <p:sp>
          <p:nvSpPr>
            <p:cNvPr id="19" name="Rectangle 19"/>
            <p:cNvSpPr/>
            <p:nvPr/>
          </p:nvSpPr>
          <p:spPr>
            <a:xfrm>
              <a:off x="7114222" y="3335655"/>
              <a:ext cx="4544378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23748" y="346900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61872" y="35452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2081" y="35809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61948" y="358044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锁的范围太大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4252" y="394144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真正需要互斥的只有第一次创建。实例建好之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后，每次调用还要获取和释放这把类锁。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5396" y="455914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这个方法被频繁调用时，它会变成整个程序的串行点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728335"/>
              <a:ext cx="9425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更正：陈伟老师课件第 19 页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instance = new Singleton;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漏了括号；张欣佳老师课件第 24 页把方法名印成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Instance()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，中间多了一个空格。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双重检查锁定：只让第一次创建走锁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059805" cy="3950970"/>
            <a:chOff x="533400" y="1524000"/>
            <a:chExt cx="6059805" cy="39509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301240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18535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721418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1937861"/>
              <a:ext cx="3972814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volatile 不能省，理由见下一页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volatile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getInstance()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==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一检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(Singleton.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==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二检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instance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steps-1"/>
          <p:cNvGrpSpPr/>
          <p:nvPr/>
        </p:nvGrpSpPr>
        <p:grpSpPr>
          <a:xfrm>
            <a:off x="6898005" y="1533525"/>
            <a:ext cx="4463796" cy="1790128"/>
            <a:chOff x="6898005" y="1533525"/>
            <a:chExt cx="4463796" cy="1790128"/>
          </a:xfrm>
        </p:grpSpPr>
        <p:sp>
          <p:nvSpPr>
            <p:cNvPr id="14" name="Rectangle 14"/>
            <p:cNvSpPr/>
            <p:nvPr/>
          </p:nvSpPr>
          <p:spPr>
            <a:xfrm>
              <a:off x="7031355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898005" y="21545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162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98005" y="277558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9162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866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1009" y="1846898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实例已经存在时直接返回，根本不进锁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09866" y="21874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1009" y="2467927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只有还看到 null 的线程才去竞争这把类锁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866" y="28084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第二次检查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1009" y="3088957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排队等到锁的线程要再看一眼，前面的人可能已经建好了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898005" y="3499485"/>
            <a:ext cx="4760595" cy="2476500"/>
            <a:chOff x="6898005" y="3499485"/>
            <a:chExt cx="4760595" cy="2476500"/>
          </a:xfrm>
        </p:grpSpPr>
        <p:sp>
          <p:nvSpPr>
            <p:cNvPr id="28" name="Rectangle 28"/>
            <p:cNvSpPr/>
            <p:nvPr/>
          </p:nvSpPr>
          <p:spPr>
            <a:xfrm>
              <a:off x="6898005" y="3499485"/>
              <a:ext cx="4760595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7530" y="3632835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39940" y="37033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30148" y="37390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40396" y="374380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课件这段同步块写错了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32701" y="4095274"/>
              <a:ext cx="4081145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陈伟老师课件第 20、21 页写成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synchronized(Singleton.class );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后面直接跟分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号。这在 Java 里是一条 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空语句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，后面的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if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和赋值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根本没被锁保护，双重检查名存实亡。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147560" y="528923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04151" y="522970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正确写法要用花括号把二次检查和创建一起包进去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47560" y="560927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04151" y="5549741"/>
              <a:ext cx="32228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同一段里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Singleton;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也漏了括号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38690" cy="909257"/>
            <a:chOff x="520446" y="342900"/>
            <a:chExt cx="71386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386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volatile 不能省：new 不是一步完成的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17496" cy="264033"/>
            <a:chOff x="526542" y="1545907"/>
            <a:chExt cx="72174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174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一句 instance = new Singleton() 在字节码层面至少是三步，其中两步允许被调换顺序。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38338"/>
            <a:ext cx="2466956" cy="1596009"/>
            <a:chOff x="533400" y="1938338"/>
            <a:chExt cx="2466956" cy="1596009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96834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222313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在堆上分配一块内存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52174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77653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执行构造函数，把字段初始化好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07514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328988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把这块内存的地址赋给 instance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696652"/>
            <a:ext cx="4544378" cy="1992630"/>
            <a:chOff x="533400" y="3696652"/>
            <a:chExt cx="4544378" cy="1992630"/>
          </a:xfrm>
        </p:grpSpPr>
        <p:sp>
          <p:nvSpPr>
            <p:cNvPr id="23" name="Rectangle 23"/>
            <p:cNvSpPr/>
            <p:nvPr/>
          </p:nvSpPr>
          <p:spPr>
            <a:xfrm>
              <a:off x="533400" y="3696652"/>
              <a:ext cx="4544378" cy="1992630"/>
            </a:xfrm>
            <a:prstGeom prst="roundRect">
              <a:avLst>
                <a:gd name="adj" fmla="val 6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830002"/>
              <a:ext cx="47625" cy="17259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387762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1096" y="39104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重排序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43228" y="3917156"/>
              <a:ext cx="1979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步和第 3 步可以对调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998" y="4233386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在单线程里，先构造再赋值和先赋值再构造，看到的结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果一样。所以编译器和处理器被允许把顺序改成第 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步、第 3 步、第 2 步，这符合 as-if-serial 语义。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5382578" y="1928812"/>
            <a:ext cx="6276022" cy="1906905"/>
            <a:chOff x="5382578" y="1928812"/>
            <a:chExt cx="6276022" cy="1906905"/>
          </a:xfrm>
        </p:grpSpPr>
        <p:sp>
          <p:nvSpPr>
            <p:cNvPr id="30" name="Rectangle 30"/>
            <p:cNvSpPr/>
            <p:nvPr/>
          </p:nvSpPr>
          <p:spPr>
            <a:xfrm>
              <a:off x="5382578" y="1928812"/>
              <a:ext cx="6276022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13083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29630" y="2045970"/>
              <a:ext cx="1698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 A（持锁，正在创建）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32278" y="2045970"/>
              <a:ext cx="1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线程 B（第一次检查）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77256" y="24269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0684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分配内存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17711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还没到达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82578" y="2687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82578" y="2691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77256" y="280892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145530" y="2701290"/>
              <a:ext cx="286797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30684" y="2808923"/>
              <a:ext cx="2477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把地址写进 instance（对象还没构造）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17711" y="280892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还没到达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82578" y="3068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77256" y="318992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30684" y="31899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还在执行构造函数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032558" y="3082290"/>
              <a:ext cx="26165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17711" y="3189923"/>
              <a:ext cx="2236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 instance 不为 null，直接返回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3449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82578" y="3453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77256" y="35718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30684" y="3571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构造完成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032558" y="3463290"/>
              <a:ext cx="26165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17711" y="3571875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正在使用一个字段全是默认值的半成品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82578" y="1928812"/>
              <a:ext cx="627602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13124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18270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5382578" y="4000500"/>
            <a:ext cx="6276022" cy="1687830"/>
            <a:chOff x="5382578" y="4000500"/>
            <a:chExt cx="6276022" cy="1687830"/>
          </a:xfrm>
        </p:grpSpPr>
        <p:sp>
          <p:nvSpPr>
            <p:cNvPr id="58" name="Rectangle 58"/>
            <p:cNvSpPr/>
            <p:nvPr/>
          </p:nvSpPr>
          <p:spPr>
            <a:xfrm>
              <a:off x="5382578" y="4000500"/>
              <a:ext cx="6276022" cy="1687830"/>
            </a:xfrm>
            <a:prstGeom prst="roundRect">
              <a:avLst>
                <a:gd name="adj" fmla="val 790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563552" y="4181475"/>
              <a:ext cx="6867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9646" y="4214336"/>
              <a:ext cx="5155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volatile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58128" y="42210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它做了两件事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563552" y="452628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15459" y="45619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34253" y="4537234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禁止这一处的重排序。写它之前的操作不会被排到写之后，别的线程看到它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不为 null 时，对象一定构造完了。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563552" y="50539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15459" y="50895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834253" y="5065871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保证可见性。一个线程写完，其他线程读到的就是新值，不会读到缓存里那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个旧的 null。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1273" y="6039326"/>
              <a:ext cx="105975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这条语义是 Java 5 的新内存模型（JSR-133）才确立的。早年的书上说双重检查锁定在 Java 里不可靠，说的是 Java 1.4 及以前的情况。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静态内部类：不写同步代码，也能延迟创建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842635" cy="3342322"/>
            <a:chOff x="533400" y="1524000"/>
            <a:chExt cx="5842635" cy="3342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09888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112770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315652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1937861"/>
              <a:ext cx="3375406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静态内部类，第一次被用到时才初始化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InstanceHolder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INSTANCE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getInstance()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InstanceHolder.INSTANCE;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6680835" y="1533525"/>
            <a:ext cx="4273435" cy="2411159"/>
            <a:chOff x="6680835" y="1533525"/>
            <a:chExt cx="4273435" cy="2411159"/>
          </a:xfrm>
        </p:grpSpPr>
        <p:sp>
          <p:nvSpPr>
            <p:cNvPr id="14" name="Rectangle 14"/>
            <p:cNvSpPr/>
            <p:nvPr/>
          </p:nvSpPr>
          <p:spPr>
            <a:xfrm>
              <a:off x="6814185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680835" y="21545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7445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680835" y="277558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7445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680835" y="339566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445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92696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加载外层类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93839" y="1846898"/>
              <a:ext cx="3333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不会连带初始化 InstanceHolder，实例还没建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92696" y="21874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首次取实例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3839" y="2467927"/>
              <a:ext cx="3860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InstanceHolder.INSTANCE 才触发内部类的初始化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2696" y="280844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93839" y="3088957"/>
              <a:ext cx="2802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JVM 用类初始化锁保证这段只执行一次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2696" y="342947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之后每次调用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3839" y="370998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只是一次普通的静态字段读取，没有任何锁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680835" y="4120515"/>
            <a:ext cx="4977765" cy="1293495"/>
            <a:chOff x="6680835" y="4120515"/>
            <a:chExt cx="4977765" cy="1293495"/>
          </a:xfrm>
        </p:grpSpPr>
        <p:sp>
          <p:nvSpPr>
            <p:cNvPr id="32" name="Rectangle 32"/>
            <p:cNvSpPr/>
            <p:nvPr/>
          </p:nvSpPr>
          <p:spPr>
            <a:xfrm>
              <a:off x="6680835" y="4120515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0360" y="4253865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22770" y="43243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13931" y="43600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推荐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4179" y="436387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延迟和线程安全同时拿到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15531" y="4716304"/>
              <a:ext cx="42434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效果和双重检查锁定一样，但正确性由 JVM 的类初始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化规则保证，写法上几乎没有出错的余地。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103562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更正：陈伟老师课件把内部类的字段写成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public static final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。内部类本身已经是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，字段写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 final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就够了。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20821" cy="909257"/>
            <a:chOff x="520446" y="342900"/>
            <a:chExt cx="4620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20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枚举单例：把唯一性交给 JVM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060055" cy="293370"/>
            <a:chOff x="525780" y="1548765"/>
            <a:chExt cx="806005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0600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两位老师的课件都没有讲这种写法，但它在 Java 里最省事，也是考试和面试常问的一种。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5410200" cy="3723322"/>
            <a:chOff x="533400" y="1954530"/>
            <a:chExt cx="5410200" cy="372332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51745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67915"/>
              <a:ext cx="3217736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enum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INSTANCE;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唯一的枚举常量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addCount()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count++;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getCount()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使用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Singleton.INSTANCE.addCount();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Singleton.INSTANCE.getCount();</a:t>
              </a:r>
            </a:p>
          </p:txBody>
        </p:sp>
      </p:grpSp>
      <p:grpSp>
        <p:nvGrpSpPr>
          <p:cNvPr id="21" name="c2-bullets-1"/>
          <p:cNvGrpSpPr/>
          <p:nvPr/>
        </p:nvGrpSpPr>
        <p:grpSpPr>
          <a:xfrm>
            <a:off x="6241161" y="1977866"/>
            <a:ext cx="5427269" cy="1811274"/>
            <a:chOff x="6241161" y="1977866"/>
            <a:chExt cx="5427269" cy="1811274"/>
          </a:xfrm>
        </p:grpSpPr>
        <p:sp>
          <p:nvSpPr>
            <p:cNvPr id="14" name="TextBox 14"/>
            <p:cNvSpPr txBox="1"/>
            <p:nvPr/>
          </p:nvSpPr>
          <p:spPr>
            <a:xfrm>
              <a:off x="6241161" y="197786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天生具备的三条保证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248400" y="234410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92621" y="2314099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枚举常量在类初始化方法里创建，线程安全由类初始化锁保证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248400" y="267081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92621" y="2640806"/>
              <a:ext cx="49648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反射调用枚举的构造函数会抛 IllegalArgumentException，走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不通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248400" y="326898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92621" y="3238976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序列化只写常量的名字，反序列化按名字查回同一个常量，不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会造出新对象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248400" y="3912870"/>
            <a:ext cx="5410200" cy="1764982"/>
            <a:chOff x="6248400" y="3912870"/>
            <a:chExt cx="5410200" cy="1764982"/>
          </a:xfrm>
        </p:grpSpPr>
        <p:sp>
          <p:nvSpPr>
            <p:cNvPr id="22" name="Rectangle 22"/>
            <p:cNvSpPr/>
            <p:nvPr/>
          </p:nvSpPr>
          <p:spPr>
            <a:xfrm>
              <a:off x="6248400" y="3912870"/>
              <a:ext cx="5410200" cy="1764982"/>
            </a:xfrm>
            <a:prstGeom prst="roundRect">
              <a:avLst>
                <a:gd name="adj" fmla="val 75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4046220"/>
              <a:ext cx="47625" cy="14982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84620" y="41109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6060" y="41452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67931" y="41457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两个限制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92240" y="45500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48831" y="448960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不能延迟创建：枚举类一加载，全部常量就都建好了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2240" y="486727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48831" y="4807744"/>
              <a:ext cx="47430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不能继承别的类：枚举已经隐式继承了 java.lang.Enum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2" name="Rectangle 3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6011704"/>
              <a:ext cx="73287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《Effective Java》把单元素枚举列为实现单例的首选写法，前提是不需要延迟加载。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1928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905" y="407194"/>
              <a:ext cx="176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六种 Java 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六种写法怎么选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33400" y="1524000"/>
            <a:ext cx="6059805" cy="4048125"/>
            <a:chOff x="533400" y="1524000"/>
            <a:chExt cx="6059805" cy="40481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42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931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选哪一种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18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对象不大，启动时建也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无所谓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01480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枚举或饿汉式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55948" y="222170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代码最短，几乎不会写错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构造代价大，未必用得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01480" y="28970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静态内部类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5948" y="289702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延迟创建且不用写同步代码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要防住反射和序列化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01480" y="34590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55948" y="34590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其他写法都得另外打补丁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763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老代码里已经是双重检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01480" y="4020979"/>
              <a:ext cx="1038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补上 volatile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55948" y="402097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缺了它可能拿到半成品对象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43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5839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要按名字管理多个单例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01480" y="45839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55948" y="458390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容器持有一张名字到实例的表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920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896802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51458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跨进程要求唯一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03182" y="4906328"/>
              <a:ext cx="1435418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01480" y="51458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单例做不到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55948" y="5032534"/>
              <a:ext cx="160604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改用数据库、Redis 或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ZooKeeper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059805" cy="40481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588895" y="1524000"/>
              <a:ext cx="9525" cy="4048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043362" y="1524000"/>
              <a:ext cx="9525" cy="4048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ompare-1"/>
          <p:cNvGrpSpPr/>
          <p:nvPr/>
        </p:nvGrpSpPr>
        <p:grpSpPr>
          <a:xfrm>
            <a:off x="6898005" y="1524000"/>
            <a:ext cx="4760595" cy="4048125"/>
            <a:chOff x="6898005" y="1524000"/>
            <a:chExt cx="4760595" cy="4048125"/>
          </a:xfrm>
        </p:grpSpPr>
        <p:sp>
          <p:nvSpPr>
            <p:cNvPr id="42" name="Rectangle 42"/>
            <p:cNvSpPr/>
            <p:nvPr/>
          </p:nvSpPr>
          <p:spPr>
            <a:xfrm>
              <a:off x="6898005" y="1524000"/>
              <a:ext cx="2132648" cy="4048125"/>
            </a:xfrm>
            <a:prstGeom prst="roundRect">
              <a:avLst>
                <a:gd name="adj" fmla="val 6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1657350"/>
              <a:ext cx="47625" cy="37814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38035" y="1758315"/>
              <a:ext cx="1371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 JVM 保证的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151370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09485" y="211264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饿汉式：类初始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化锁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51370" y="27965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09485" y="273367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静态内部类：类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初始化锁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51370" y="34175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09485" y="335470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枚举：类初始化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锁加语言规则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525952" y="1524000"/>
              <a:ext cx="2132648" cy="4048125"/>
            </a:xfrm>
            <a:prstGeom prst="roundRect">
              <a:avLst>
                <a:gd name="adj" fmla="val 6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535478" y="1657350"/>
              <a:ext cx="47625" cy="37814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765982" y="17583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靠自己写锁的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779317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937432" y="211264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同步方法：锁住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整个方法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779317" y="27965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37432" y="273367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双重检查：锁加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volatile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779317" y="34175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937432" y="335470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裸懒汉式：没有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锁，是错的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078278" y="3348038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31618" y="34832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归类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991225"/>
              <a:ext cx="7201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三种靠 JVM 的写法都不需要你判断锁的范围，这也是它们更不容易写错的原因。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2944368" cy="2997517"/>
            <a:chOff x="667512" y="1835468"/>
            <a:chExt cx="29443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谁会破坏单例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私有构造函数并不是万能的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反射与序列化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克隆与多个类加载器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集群部署下的失效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谁会破坏单例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反射能绕过私有构造函数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626418" cy="2327910"/>
            <a:chOff x="533400" y="1524000"/>
            <a:chExt cx="5626418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破坏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04122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112770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3844798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反射把 private 构造函数打开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Constructor&lt;Singleton&gt; c =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Singleton.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.getDeclaredConstructor();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c.setAccessible(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Singleton a = Singleton.getInstance();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Singleton b = c.newInstance();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 == b);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false */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042410"/>
            <a:ext cx="5626418" cy="1719262"/>
            <a:chOff x="533400" y="4042410"/>
            <a:chExt cx="5626418" cy="1719262"/>
          </a:xfrm>
        </p:grpSpPr>
        <p:sp>
          <p:nvSpPr>
            <p:cNvPr id="13" name="Rectangle 13"/>
            <p:cNvSpPr/>
            <p:nvPr/>
          </p:nvSpPr>
          <p:spPr>
            <a:xfrm>
              <a:off x="533400" y="4042410"/>
              <a:ext cx="562641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19433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在构造函数里设防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4456271"/>
              <a:ext cx="314071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!=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IllegalStateException(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"单例类不允许重复实例化"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image-1"/>
          <p:cNvGrpSpPr/>
          <p:nvPr/>
        </p:nvGrpSpPr>
        <p:grpSpPr>
          <a:xfrm>
            <a:off x="6464618" y="1524000"/>
            <a:ext cx="5193982" cy="1981677"/>
            <a:chOff x="6464618" y="1524000"/>
            <a:chExt cx="5193982" cy="1981677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rcRect l="0" t="28605" r="0" b="28605"/>
            <a:stretch>
              <a:fillRect/>
            </a:stretch>
          </p:blipFill>
          <p:spPr>
            <a:xfrm>
              <a:off x="6464618" y="1524000"/>
              <a:ext cx="5193982" cy="1666875"/>
            </a:xfrm>
            <a:prstGeom prst="roundRect">
              <a:avLst>
                <a:gd name="adj" fmla="val 8000"/>
              </a:avLst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7774788" y="328564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前台只发一张牌，侧门却能再进来一个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464618" y="3670935"/>
            <a:ext cx="5193982" cy="2538412"/>
            <a:chOff x="6464618" y="3670935"/>
            <a:chExt cx="5193982" cy="2538412"/>
          </a:xfrm>
        </p:grpSpPr>
        <p:sp>
          <p:nvSpPr>
            <p:cNvPr id="20" name="Rectangle 20"/>
            <p:cNvSpPr/>
            <p:nvPr/>
          </p:nvSpPr>
          <p:spPr>
            <a:xfrm>
              <a:off x="6464618" y="3670935"/>
              <a:ext cx="5193982" cy="2538412"/>
            </a:xfrm>
            <a:prstGeom prst="roundRect">
              <a:avLst>
                <a:gd name="adj" fmla="val 5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4142" y="3804285"/>
              <a:ext cx="47625" cy="22717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12268" y="38804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3428" y="3916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3295" y="391572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这道防线只对饿汉式可靠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04648" y="4276725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饿汉式的 INSTANCE 在类初始化时就赋好了，之后任何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反射调用都会撞上这个判断。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4648" y="4897755"/>
              <a:ext cx="4539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懒汉式的 instance 是构造函数返回之后才赋值的。先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反射建一个、再调 getInstance()，这个判断拦不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5791" y="580120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想彻底挡住，用枚举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谁会破坏单例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序列化和反序列化会造出第二个实例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23162" cy="308039"/>
            <a:chOff x="525399" y="1550194"/>
            <a:chExt cx="802316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231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ObjectInputStream 还原对象时不走构造函数，而是直接分配空间再按字段填回去。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67865"/>
            <a:ext cx="5951220" cy="3545205"/>
            <a:chOff x="533400" y="1967865"/>
            <a:chExt cx="5951220" cy="354520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3545205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368165"/>
              <a:ext cx="591312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571048"/>
              <a:ext cx="591312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4773930"/>
              <a:ext cx="591312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035" y="2381726"/>
              <a:ext cx="3766566" cy="3060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Serializable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INSTANCE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Singleton()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Singleton getInstance()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反序列化时用它替换刚读出来的新对象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readResolve()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steps-1"/>
          <p:cNvGrpSpPr/>
          <p:nvPr/>
        </p:nvGrpSpPr>
        <p:grpSpPr>
          <a:xfrm>
            <a:off x="6789420" y="1977390"/>
            <a:ext cx="4219727" cy="2529173"/>
            <a:chOff x="6789420" y="1977390"/>
            <a:chExt cx="4219727" cy="2529173"/>
          </a:xfrm>
        </p:grpSpPr>
        <p:sp>
          <p:nvSpPr>
            <p:cNvPr id="16" name="Rectangle 16"/>
            <p:cNvSpPr/>
            <p:nvPr/>
          </p:nvSpPr>
          <p:spPr>
            <a:xfrm>
              <a:off x="692277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789420" y="19773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8304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789420" y="262794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8304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789420" y="327850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8304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789420" y="392906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8304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00900" y="20116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02043" y="2304574"/>
              <a:ext cx="32265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ObjectOutputStream 把字段写进字节流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0900" y="26622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读回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02043" y="295513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分配对象、逐个填字段，构造函数完全不执行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0900" y="3312795"/>
              <a:ext cx="17191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readResolve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02043" y="3606641"/>
              <a:ext cx="38071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得到的是一个全新对象，和 INSTANCE 不是同一个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00900" y="3963352"/>
              <a:ext cx="1517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readResolve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2043" y="425719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序列化机制调用它，用返回值替换刚读出的对象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789420" y="4684395"/>
            <a:ext cx="4869180" cy="1631632"/>
            <a:chOff x="6789420" y="4684395"/>
            <a:chExt cx="4869180" cy="1631632"/>
          </a:xfrm>
        </p:grpSpPr>
        <p:sp>
          <p:nvSpPr>
            <p:cNvPr id="34" name="Rectangle 34"/>
            <p:cNvSpPr/>
            <p:nvPr/>
          </p:nvSpPr>
          <p:spPr>
            <a:xfrm>
              <a:off x="6789420" y="4684395"/>
              <a:ext cx="4869180" cy="1631632"/>
            </a:xfrm>
            <a:prstGeom prst="roundRect">
              <a:avLst>
                <a:gd name="adj" fmla="val 817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98970" y="489394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81279" y="49296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签名要求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83842" y="4929188"/>
              <a:ext cx="2324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readResolve 必须这样写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91350" y="5290185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返回类型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Object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，没有参数，方法名固定。可以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声明成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，序列化机制通过反射调用它。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92493" y="5907881"/>
              <a:ext cx="2472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枚举不用写，JVM 已经这么做了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谁会破坏单例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还有两条路：克隆和多个类加载器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529715"/>
            <a:chOff x="533400" y="1524000"/>
            <a:chExt cx="5410200" cy="1529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克隆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19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单例类不要实现 Cloneable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Object.clone()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也不走构造函数。单例类只要不实现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Cloneable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，就没有这个口子。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49855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如果父类已经实现了，就覆盖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把它堵上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228022"/>
            <a:ext cx="5410200" cy="1640205"/>
            <a:chOff x="533400" y="3228022"/>
            <a:chExt cx="5410200" cy="1640205"/>
          </a:xfrm>
        </p:grpSpPr>
        <p:sp>
          <p:nvSpPr>
            <p:cNvPr id="16" name="Rectangle 16"/>
            <p:cNvSpPr/>
            <p:nvPr/>
          </p:nvSpPr>
          <p:spPr>
            <a:xfrm>
              <a:off x="533400" y="3228022"/>
              <a:ext cx="541020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37994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416" y="3641408"/>
              <a:ext cx="3164396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@Override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clone()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CloneNotSupportedException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CloneNotSupportedException(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"单例类不支持克隆"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5043488"/>
            <a:ext cx="5410200" cy="1226820"/>
            <a:chOff x="533400" y="5043488"/>
            <a:chExt cx="5410200" cy="1226820"/>
          </a:xfrm>
        </p:grpSpPr>
        <p:sp>
          <p:nvSpPr>
            <p:cNvPr id="20" name="Rectangle 20"/>
            <p:cNvSpPr/>
            <p:nvPr/>
          </p:nvSpPr>
          <p:spPr>
            <a:xfrm>
              <a:off x="533400" y="5043488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517683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3905" y="52358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5345" y="52701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47597" y="527589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三条后门的共同点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047" y="561022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反射、反序列化、克隆都绕过了构造函数。把构造函数设成私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有只挡住了正门，这三扇侧门要一扇一扇单独堵。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2346008"/>
            <a:chOff x="6248400" y="1524000"/>
            <a:chExt cx="5410200" cy="2346008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8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2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类加载器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9297" y="175641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唯一性只在一个命名空间里成立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047" y="2090738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class 文件被两个类加载器分别加载，会得到两个不同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Class 对象，各有一份静态变量，于是有两个实例。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87478" y="270605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43497" y="2649855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容器给每个应用一个类加载器，同一个 jar 被多个应用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各加载一次就会这样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87478" y="326612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43497" y="320992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对策是把这个类交给共同的父加载器，或者在取实例时显式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指定线程上下文类加载器</a:t>
              </a:r>
            </a:p>
          </p:txBody>
        </p:sp>
      </p:grpSp>
      <p:grpSp>
        <p:nvGrpSpPr>
          <p:cNvPr id="46" name="c2-kv-2"/>
          <p:cNvGrpSpPr/>
          <p:nvPr/>
        </p:nvGrpSpPr>
        <p:grpSpPr>
          <a:xfrm>
            <a:off x="6241542" y="4067175"/>
            <a:ext cx="5417058" cy="2074735"/>
            <a:chOff x="6241542" y="4067175"/>
            <a:chExt cx="5417058" cy="2074735"/>
          </a:xfrm>
        </p:grpSpPr>
        <p:sp>
          <p:nvSpPr>
            <p:cNvPr id="38" name="TextBox 38"/>
            <p:cNvSpPr txBox="1"/>
            <p:nvPr/>
          </p:nvSpPr>
          <p:spPr>
            <a:xfrm>
              <a:off x="6241542" y="40671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常见场景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0754" y="4067175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jar 被容器里的两个应用各加载一次，热部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署也会这样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46101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41542" y="471963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怎么确认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0754" y="4719638"/>
              <a:ext cx="3845624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打印两个实例的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getClass().getClassLoader()，不同就是加载器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55159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1542" y="562451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和反射的区别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60754" y="5624512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反射是绕过构造函数；类加载器是两个实例根本不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属于同一个类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谁会破坏单例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集群部署之后，单例就不再唯一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373000" cy="308039"/>
            <a:chOff x="525399" y="1550194"/>
            <a:chExt cx="737300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3730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单例的作用域是一个 JVM 进程。同一个应用部署到三个节点，就有三个实例。</a:t>
              </a:r>
            </a:p>
          </p:txBody>
        </p:sp>
      </p:grpSp>
      <p:grpSp>
        <p:nvGrpSpPr>
          <p:cNvPr id="23" name="c1-flow-1"/>
          <p:cNvGrpSpPr/>
          <p:nvPr/>
        </p:nvGrpSpPr>
        <p:grpSpPr>
          <a:xfrm>
            <a:off x="666750" y="2152650"/>
            <a:ext cx="4493895" cy="1629727"/>
            <a:chOff x="666750" y="2152650"/>
            <a:chExt cx="4493895" cy="1629727"/>
          </a:xfrm>
        </p:grpSpPr>
        <p:sp>
          <p:nvSpPr>
            <p:cNvPr id="9" name="Freeform 9"/>
            <p:cNvSpPr/>
            <p:nvPr/>
          </p:nvSpPr>
          <p:spPr>
            <a:xfrm>
              <a:off x="1326832" y="2782252"/>
              <a:ext cx="1586865" cy="265747"/>
            </a:xfrm>
            <a:custGeom>
              <a:avLst/>
              <a:gdLst/>
              <a:ahLst/>
              <a:cxnLst/>
              <a:rect l="l" t="t" r="r" b="b"/>
              <a:pathLst>
                <a:path w="1586865" h="265747">
                  <a:moveTo>
                    <a:pt x="0" y="0"/>
                  </a:moveTo>
                  <a:lnTo>
                    <a:pt x="0" y="185738"/>
                  </a:lnTo>
                  <a:lnTo>
                    <a:pt x="1586865" y="185738"/>
                  </a:lnTo>
                  <a:lnTo>
                    <a:pt x="1586865" y="2657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61310" y="3048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3698" y="2782252"/>
              <a:ext cx="9525" cy="265747"/>
            </a:xfrm>
            <a:custGeom>
              <a:avLst/>
              <a:gdLst/>
              <a:ahLst/>
              <a:cxnLst/>
              <a:rect l="l" t="t" r="r" b="b"/>
              <a:pathLst>
                <a:path w="9525" h="265747">
                  <a:moveTo>
                    <a:pt x="0" y="0"/>
                  </a:moveTo>
                  <a:lnTo>
                    <a:pt x="0" y="2657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61310" y="3048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913698" y="2782252"/>
              <a:ext cx="1586865" cy="265747"/>
            </a:xfrm>
            <a:custGeom>
              <a:avLst/>
              <a:gdLst/>
              <a:ahLst/>
              <a:cxnLst/>
              <a:rect l="l" t="t" r="r" b="b"/>
              <a:pathLst>
                <a:path w="1586865" h="265747">
                  <a:moveTo>
                    <a:pt x="1586865" y="0"/>
                  </a:moveTo>
                  <a:lnTo>
                    <a:pt x="1586865" y="185738"/>
                  </a:lnTo>
                  <a:lnTo>
                    <a:pt x="0" y="185738"/>
                  </a:lnTo>
                  <a:lnTo>
                    <a:pt x="0" y="2657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61310" y="30480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6750" y="2152650"/>
              <a:ext cx="132016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253615" y="2152650"/>
              <a:ext cx="132016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40480" y="2152650"/>
              <a:ext cx="132016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253615" y="3152775"/>
              <a:ext cx="1320165" cy="629602"/>
            </a:xfrm>
            <a:prstGeom prst="roundRect">
              <a:avLst>
                <a:gd name="adj" fmla="val 1512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5236" y="226933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82100" y="226933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68966" y="226933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 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00820" y="3269456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共享的数据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158615"/>
            <a:ext cx="4760595" cy="1367790"/>
            <a:chOff x="533400" y="4158615"/>
            <a:chExt cx="4760595" cy="1367790"/>
          </a:xfrm>
        </p:grpSpPr>
        <p:sp>
          <p:nvSpPr>
            <p:cNvPr id="24" name="Rectangle 24"/>
            <p:cNvSpPr/>
            <p:nvPr/>
          </p:nvSpPr>
          <p:spPr>
            <a:xfrm>
              <a:off x="533400" y="4158615"/>
              <a:ext cx="4760595" cy="1367790"/>
            </a:xfrm>
            <a:prstGeom prst="roundRect">
              <a:avLst>
                <a:gd name="adj" fmla="val 835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26129" y="4738806"/>
              <a:ext cx="224134" cy="192560"/>
              <a:chOff x="726129" y="4738806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38200" y="48091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129" y="47388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48869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599622"/>
              <a:ext cx="3844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三个节点各有一个“唯一实例”，从整个系统看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就是三个。</a:t>
              </a:r>
            </a:p>
          </p:txBody>
        </p:sp>
      </p:grpSp>
      <p:grpSp>
        <p:nvGrpSpPr>
          <p:cNvPr id="40" name="c2-bullets-1"/>
          <p:cNvGrpSpPr/>
          <p:nvPr/>
        </p:nvGrpSpPr>
        <p:grpSpPr>
          <a:xfrm>
            <a:off x="5591175" y="1992630"/>
            <a:ext cx="5916930" cy="1682115"/>
            <a:chOff x="5591175" y="1992630"/>
            <a:chExt cx="5916930" cy="1682115"/>
          </a:xfrm>
        </p:grpSpPr>
        <p:sp>
          <p:nvSpPr>
            <p:cNvPr id="31" name="TextBox 31"/>
            <p:cNvSpPr txBox="1"/>
            <p:nvPr/>
          </p:nvSpPr>
          <p:spPr>
            <a:xfrm>
              <a:off x="5591175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集群下会出问题的用法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598795" y="2383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38825" y="2346960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本地缓存：三份各缓存各的，更新了一份，另外两份还是旧数据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598795" y="27279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38825" y="26917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计数器：各数各的，三个数加起来才是总数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5598795" y="307276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38825" y="303657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定时任务：三个节点同时触发，同一件事做了三遍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98795" y="341757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38825" y="3381375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自增主键生成器：各自从 1 开始，主键必然重复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5598795" y="3806190"/>
            <a:ext cx="6059805" cy="1720215"/>
            <a:chOff x="5598795" y="3806190"/>
            <a:chExt cx="6059805" cy="1720215"/>
          </a:xfrm>
        </p:grpSpPr>
        <p:sp>
          <p:nvSpPr>
            <p:cNvPr id="41" name="Rectangle 41"/>
            <p:cNvSpPr/>
            <p:nvPr/>
          </p:nvSpPr>
          <p:spPr>
            <a:xfrm>
              <a:off x="5598795" y="3806190"/>
              <a:ext cx="6059805" cy="1720215"/>
            </a:xfrm>
            <a:prstGeom prst="roundRect">
              <a:avLst>
                <a:gd name="adj" fmla="val 7752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08345" y="40157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99506" y="40514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09373" y="4050982"/>
              <a:ext cx="2267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把“唯一”下沉到进程外面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814060" y="44748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72175" y="4411980"/>
              <a:ext cx="4092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发号：数据库序列、Redis 的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INCR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、雪花算法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14060" y="481012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72175" y="4747260"/>
              <a:ext cx="5295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互斥：数据库行锁、Redis 分布式锁、ZooKeeper 临时节点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814060" y="51454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72175" y="508254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或者把单例做成无状态的，只当工具用，多几个实例也没关系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张欣佳老师课件举的自动编号主键生成器，在单机上成立，上了集群就要换成上面的方案。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四个例子，从最简单的写到工程里真用的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身份证号码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注册式单例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大富翁的菜单管理器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课件中的实例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实例一：身份证号码只发一次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居民身份证号码具有唯一性。第一次申请时分配一个号码，之后因遗失补办，还是用原来的号码。</a:t>
              </a:r>
            </a:p>
          </p:txBody>
        </p:sp>
      </p:grpSp>
      <p:grpSp>
        <p:nvGrpSpPr>
          <p:cNvPr id="20" name="c1-uml-1"/>
          <p:cNvGrpSpPr/>
          <p:nvPr/>
        </p:nvGrpSpPr>
        <p:grpSpPr>
          <a:xfrm>
            <a:off x="2098358" y="2264092"/>
            <a:ext cx="3713796" cy="1598295"/>
            <a:chOff x="2098358" y="2264092"/>
            <a:chExt cx="3713796" cy="1598295"/>
          </a:xfrm>
        </p:grpSpPr>
        <p:sp>
          <p:nvSpPr>
            <p:cNvPr id="9" name="Freeform 9"/>
            <p:cNvSpPr/>
            <p:nvPr/>
          </p:nvSpPr>
          <p:spPr>
            <a:xfrm>
              <a:off x="4811078" y="2711768"/>
              <a:ext cx="323850" cy="702945"/>
            </a:xfrm>
            <a:custGeom>
              <a:avLst/>
              <a:gdLst/>
              <a:ahLst/>
              <a:cxnLst/>
              <a:rect l="l" t="t" r="r" b="b"/>
              <a:pathLst>
                <a:path w="323850" h="702945">
                  <a:moveTo>
                    <a:pt x="0" y="0"/>
                  </a:moveTo>
                  <a:lnTo>
                    <a:pt x="323850" y="0"/>
                  </a:lnTo>
                  <a:lnTo>
                    <a:pt x="323850" y="702945"/>
                  </a:lnTo>
                  <a:lnTo>
                    <a:pt x="0" y="70294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11078" y="335756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098358" y="2264092"/>
              <a:ext cx="2712720" cy="15982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105978" y="2271712"/>
              <a:ext cx="2698432" cy="2647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98358" y="2530792"/>
              <a:ext cx="27127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098358" y="3005138"/>
              <a:ext cx="27127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72162" y="2328386"/>
              <a:ext cx="1165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IdentityCardNo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69224" y="2603182"/>
              <a:ext cx="179089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instance : IdentityCardNo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no : String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69224" y="3077528"/>
              <a:ext cx="2570988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IdentityCardNo()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getInstance() : IdentityCardNo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setIdentityCardNo(no : String) : void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getIdentityCardNo() : String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163502" y="2970848"/>
              <a:ext cx="64865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86744" y="2997518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instance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357688"/>
            <a:ext cx="5842635" cy="1658302"/>
            <a:chOff x="533400" y="4357688"/>
            <a:chExt cx="5842635" cy="1658302"/>
          </a:xfrm>
        </p:grpSpPr>
        <p:sp>
          <p:nvSpPr>
            <p:cNvPr id="21" name="Rectangle 21"/>
            <p:cNvSpPr/>
            <p:nvPr/>
          </p:nvSpPr>
          <p:spPr>
            <a:xfrm>
              <a:off x="533400" y="4357688"/>
              <a:ext cx="5842635" cy="1658302"/>
            </a:xfrm>
            <a:prstGeom prst="roundRect">
              <a:avLst>
                <a:gd name="adj" fmla="val 689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086350"/>
              <a:ext cx="200026" cy="200026"/>
              <a:chOff x="738188" y="5086350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0863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153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1863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511" y="4955381"/>
              <a:ext cx="482955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类图取自张欣佳老师课件第 11 页，右边那条线是指向自身的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关联。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673596" y="1977866"/>
            <a:ext cx="4985004" cy="2615184"/>
            <a:chOff x="6673596" y="1977866"/>
            <a:chExt cx="4985004" cy="2615184"/>
          </a:xfrm>
        </p:grpSpPr>
        <p:sp>
          <p:nvSpPr>
            <p:cNvPr id="28" name="TextBox 28"/>
            <p:cNvSpPr txBox="1"/>
            <p:nvPr/>
          </p:nvSpPr>
          <p:spPr>
            <a:xfrm>
              <a:off x="6673596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现实规则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67129" y="1977866"/>
              <a:ext cx="30802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一个人只有一个身份证号码，补办时沿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用原号，不产生新号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80835" y="255174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73596" y="26674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对应到代码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67129" y="2667476"/>
              <a:ext cx="317042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IdentityCardNo 只允许一个实例，号码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no 字段里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32413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73596" y="3357086"/>
              <a:ext cx="14065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getInstance()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67129" y="3357086"/>
              <a:ext cx="30802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第一次调用时分配号码，之后直接返回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已经存在的那个实例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39309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73596" y="4046696"/>
              <a:ext cx="137784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setIdentityCar</a:t>
              </a:r>
              <a:br/>
              <a:r>
                <a:rPr lang="en-US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dNo()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7129" y="4046696"/>
              <a:ext cx="30802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私有方法，只在第一次创建时由类自己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调用，外部改不了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680835" y="4722495"/>
            <a:ext cx="4977765" cy="1293495"/>
            <a:chOff x="6680835" y="4722495"/>
            <a:chExt cx="4977765" cy="1293495"/>
          </a:xfrm>
        </p:grpSpPr>
        <p:sp>
          <p:nvSpPr>
            <p:cNvPr id="40" name="Rectangle 40"/>
            <p:cNvSpPr/>
            <p:nvPr/>
          </p:nvSpPr>
          <p:spPr>
            <a:xfrm>
              <a:off x="6680835" y="4722495"/>
              <a:ext cx="497776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90360" y="4855845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22770" y="492633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9028" y="49620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观察点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66101" y="496585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号码存在哪里，决定了唯一性从哪来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15531" y="531733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号码是实例字段，不是静态字段。全系统只有一个号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码，是因为全系统只有一个 IdentityCardNo 对象。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课件中的实例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167438" cy="4022408"/>
            <a:chOff x="533400" y="1524000"/>
            <a:chExt cx="6167438" cy="4022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022408"/>
            </a:xfrm>
            <a:prstGeom prst="roundRect">
              <a:avLst>
                <a:gd name="adj" fmla="val 23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单例类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29915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833812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185539" cy="353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IdentityCardNo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IdentityCardNo instance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no;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身份证号码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IdentityCardNo()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IdentityCardNo getInstance()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"第一次办理，分配新号码。"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instance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IdentityCardNo();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instance.setIdentityCardNo(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"JL0001"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"重复办理，使用原号码。"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setIdentityCardNo(String n)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.no = n;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getIdentityCardNo()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.no;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7005638" y="1524000"/>
            <a:ext cx="4652962" cy="1561148"/>
            <a:chOff x="7005638" y="1524000"/>
            <a:chExt cx="4652962" cy="1561148"/>
          </a:xfrm>
        </p:grpSpPr>
        <p:sp>
          <p:nvSpPr>
            <p:cNvPr id="13" name="Rectangle 13"/>
            <p:cNvSpPr/>
            <p:nvPr/>
          </p:nvSpPr>
          <p:spPr>
            <a:xfrm>
              <a:off x="7005638" y="1524000"/>
              <a:ext cx="4652962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4034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4034" y="1935956"/>
              <a:ext cx="288493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IdentityCardNo a =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IdentityCardNo.getInstance();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IdentityCardNo b =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IdentityCardNo.getInstance();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 == b);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System.out.println(a.getIdentityCardNo());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7005638" y="3254692"/>
            <a:ext cx="4652962" cy="2291715"/>
            <a:chOff x="7005638" y="3254692"/>
            <a:chExt cx="4652962" cy="2291715"/>
          </a:xfrm>
        </p:grpSpPr>
        <p:sp>
          <p:nvSpPr>
            <p:cNvPr id="17" name="Rectangle 17"/>
            <p:cNvSpPr/>
            <p:nvPr/>
          </p:nvSpPr>
          <p:spPr>
            <a:xfrm>
              <a:off x="7005638" y="3254692"/>
              <a:ext cx="4652962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15162" y="3388042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30428" y="344138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23099" y="34742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96974" y="34766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24712" y="379904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第一次办理，分配新号码。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4712" y="40600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重复办理，使用原号码。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4712" y="432196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24712" y="4582954"/>
              <a:ext cx="537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JL0001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3570" y="484822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两次拿到的是同一个引用，所以比较结果为真，取到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的也是同一个号码。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8" name="Rectangle 2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6028373"/>
              <a:ext cx="7305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号码 JL0001 是虚构的示例值，课件里同样只是一个占位字符串，不代表真实的号码格式。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课件中的实例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实例二：一个系统只允许运行一个打印池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46670" cy="264033"/>
            <a:chOff x="526542" y="1545907"/>
            <a:chExt cx="76466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打印池管理打印任务，用户可以删除、中止或改变任务优先级。课件要求重复创建时抛出异常。</a:t>
              </a:r>
            </a:p>
          </p:txBody>
        </p:sp>
      </p:grpSp>
      <p:grpSp>
        <p:nvGrpSpPr>
          <p:cNvPr id="30" name="c1-uml-1"/>
          <p:cNvGrpSpPr/>
          <p:nvPr/>
        </p:nvGrpSpPr>
        <p:grpSpPr>
          <a:xfrm>
            <a:off x="1817370" y="2225992"/>
            <a:ext cx="3103245" cy="2500312"/>
            <a:chOff x="1817370" y="2225992"/>
            <a:chExt cx="3103245" cy="2500312"/>
          </a:xfrm>
        </p:grpSpPr>
        <p:sp>
          <p:nvSpPr>
            <p:cNvPr id="9" name="Freeform 9"/>
            <p:cNvSpPr/>
            <p:nvPr/>
          </p:nvSpPr>
          <p:spPr>
            <a:xfrm>
              <a:off x="3998595" y="2526982"/>
              <a:ext cx="323850" cy="472440"/>
            </a:xfrm>
            <a:custGeom>
              <a:avLst/>
              <a:gdLst/>
              <a:ahLst/>
              <a:cxnLst/>
              <a:rect l="l" t="t" r="r" b="b"/>
              <a:pathLst>
                <a:path w="323850" h="472440">
                  <a:moveTo>
                    <a:pt x="0" y="0"/>
                  </a:moveTo>
                  <a:lnTo>
                    <a:pt x="323850" y="0"/>
                  </a:lnTo>
                  <a:lnTo>
                    <a:pt x="323850" y="472440"/>
                  </a:lnTo>
                  <a:lnTo>
                    <a:pt x="0" y="47244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998595" y="294227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967990" y="3300412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910840" y="4033838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7150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37385" y="2225992"/>
              <a:ext cx="2061210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944052" y="2232660"/>
              <a:ext cx="2046922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37385" y="2456498"/>
              <a:ext cx="20612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937385" y="2713672"/>
              <a:ext cx="20612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817370" y="4138612"/>
              <a:ext cx="230124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824038" y="4145280"/>
              <a:ext cx="228695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817370" y="4369118"/>
              <a:ext cx="2301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817370" y="4464368"/>
              <a:ext cx="2301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26414" y="2281714"/>
              <a:ext cx="14831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PrintSpoolerSingleton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08822" y="2526030"/>
              <a:ext cx="20447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instance : PrintSpoolerSingleton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08822" y="2783205"/>
              <a:ext cx="143827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PrintSpoolerSingleton()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getInstance()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manageJobs() : void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08959" y="4194334"/>
              <a:ext cx="1518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PrintSpoolerException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88808" y="4533900"/>
              <a:ext cx="23044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PrintSpoolerException(msg : String)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51020" y="2684145"/>
              <a:ext cx="56959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74832" y="2707005"/>
              <a:ext cx="512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instance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996565" y="3640455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20378" y="366331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抛出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5707380" y="1928812"/>
            <a:ext cx="5951220" cy="4198620"/>
            <a:chOff x="5707380" y="1928812"/>
            <a:chExt cx="5951220" cy="4198620"/>
          </a:xfrm>
        </p:grpSpPr>
        <p:sp>
          <p:nvSpPr>
            <p:cNvPr id="31" name="Rectangle 31"/>
            <p:cNvSpPr/>
            <p:nvPr/>
          </p:nvSpPr>
          <p:spPr>
            <a:xfrm>
              <a:off x="5707380" y="1928812"/>
              <a:ext cx="5951220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35777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单例类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26430" y="335851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26430" y="3534728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26430" y="3710940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35777" y="2340769"/>
              <a:ext cx="3637915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PrintSpoolerSingleton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PrintSpoolerSingleton instance;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私有构造函数：已经有实例时抛异常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PrintSpoolerSingleton()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PrintSpoolerException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!=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PrintSpoolerException(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"只允许创建一个打印池对象！"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"打印池创建成功。"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PrintSpoolerSingleton getInstance()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PrintSpoolerException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(instance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instance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PrintSpoolerSingleton();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课件中的实例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打印池的客户端，以及那条异常分支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264092"/>
            <a:chOff x="533400" y="1524000"/>
            <a:chExt cx="5626418" cy="2264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异常类与业务方法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706368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PrintSpoolerException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PrintSpoolerException(String message)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(message);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单例类里的业务方法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manageJobs()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"打印池管理打印任务。"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958590"/>
            <a:ext cx="5626418" cy="2264092"/>
            <a:chOff x="533400" y="3958590"/>
            <a:chExt cx="5626418" cy="2264092"/>
          </a:xfrm>
        </p:grpSpPr>
        <p:sp>
          <p:nvSpPr>
            <p:cNvPr id="11" name="Rectangle 11"/>
            <p:cNvSpPr/>
            <p:nvPr/>
          </p:nvSpPr>
          <p:spPr>
            <a:xfrm>
              <a:off x="533400" y="3958590"/>
              <a:ext cx="5626418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41105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797" y="4370546"/>
              <a:ext cx="3295650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PrintSpoolerSingleton sp1 =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PrintSpoolerSingleton.getInstance();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PrintSpoolerSingleton sp2 =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PrintSpoolerSingleton.getInstance();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System.out.println(sp1 == sp2);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sp1.manageJobs();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(PrintSpoolerException 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System.out.println(e.getMessage());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6464618" y="1524000"/>
            <a:ext cx="5193982" cy="1428750"/>
            <a:chOff x="6464618" y="1524000"/>
            <a:chExt cx="5193982" cy="1428750"/>
          </a:xfrm>
        </p:grpSpPr>
        <p:sp>
          <p:nvSpPr>
            <p:cNvPr id="15" name="Rectangle 15"/>
            <p:cNvSpPr/>
            <p:nvPr/>
          </p:nvSpPr>
          <p:spPr>
            <a:xfrm>
              <a:off x="6464618" y="1524000"/>
              <a:ext cx="5193982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74142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89408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82079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55954" y="17459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83692" y="20683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打印池创建成功。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83692" y="232933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83692" y="259032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打印池管理打印任务。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464618" y="3123248"/>
            <a:ext cx="5193982" cy="3099435"/>
            <a:chOff x="6464618" y="3123248"/>
            <a:chExt cx="5193982" cy="3099435"/>
          </a:xfrm>
        </p:grpSpPr>
        <p:sp>
          <p:nvSpPr>
            <p:cNvPr id="24" name="Rectangle 24"/>
            <p:cNvSpPr/>
            <p:nvPr/>
          </p:nvSpPr>
          <p:spPr>
            <a:xfrm>
              <a:off x="6464618" y="3123248"/>
              <a:ext cx="5193982" cy="3099435"/>
            </a:xfrm>
            <a:prstGeom prst="roundRect">
              <a:avLst>
                <a:gd name="adj" fmla="val 43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74142" y="3256598"/>
              <a:ext cx="47625" cy="2832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89408" y="33099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2079" y="33427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55954" y="334518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那条异常分支，正常调用时走不到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82549" y="3670935"/>
              <a:ext cx="45057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课件说“重复创建打印池则抛出异常”。按这段代码，只要都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走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getInstance()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，第二次根本进不了构造函数，异常永远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不会触发。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82549" y="4485322"/>
              <a:ext cx="450142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构造函数里那句判断真正挡住的是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绕过 getInstance() 的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，例如反射。把它理解成防反射的那道防线，才说得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课件中的实例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注册式单例：用一张表管住多个单例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210062" cy="264033"/>
            <a:chOff x="526542" y="1545907"/>
            <a:chExt cx="821006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210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陈伟老师课件的第三种写法。容器持有一张名字到实例的表，Spring 的 BeanFactory 就是这个思路。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6492240" cy="4022408"/>
            <a:chOff x="533400" y="1928812"/>
            <a:chExt cx="6492240" cy="402240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492240" cy="4022408"/>
            </a:xfrm>
            <a:prstGeom prst="roundRect">
              <a:avLst>
                <a:gd name="adj" fmla="val 23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194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Java 重写并更正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10940"/>
              <a:ext cx="645414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941570"/>
              <a:ext cx="645414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117086" cy="353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RegSingleton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Map&lt;String, RegSingleton&gt; REG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名字到实例的表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REG.put(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"default"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RegSingleton());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RegSingleton() { }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留给子类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RegSingleton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getInstance(String name)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key = (name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?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"default"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: name;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RegSingleton obj = REG.get(key);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(obj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obj = (RegSingleton) Class.forName(key)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.getDeclaredConstructor().newInstance();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REG.put(key, obj);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原课件漏了 key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7330440" y="1928812"/>
            <a:ext cx="4328160" cy="2702242"/>
            <a:chOff x="7330440" y="1928812"/>
            <a:chExt cx="4328160" cy="2702242"/>
          </a:xfrm>
        </p:grpSpPr>
        <p:sp>
          <p:nvSpPr>
            <p:cNvPr id="15" name="Rectangle 15"/>
            <p:cNvSpPr/>
            <p:nvPr/>
          </p:nvSpPr>
          <p:spPr>
            <a:xfrm>
              <a:off x="7330440" y="1928812"/>
              <a:ext cx="4328160" cy="2702242"/>
            </a:xfrm>
            <a:prstGeom prst="roundRect">
              <a:avLst>
                <a:gd name="adj" fmla="val 49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39965" y="2062162"/>
              <a:ext cx="47625" cy="24355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4951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4218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15491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原课件这段有四处问题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49515" y="245459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01422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19263" y="2465546"/>
              <a:ext cx="35161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reg.put(Class.forName(name).newInstance</a:t>
              </a:r>
              <a:br/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只给了一个参数，还少一个右括号。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键和值两个参数。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549515" y="32251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01422" y="32607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19263" y="3237071"/>
              <a:ext cx="30853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Singleton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漏了括号，返回类型写成了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Signleton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549515" y="375380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01422" y="378847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19263" y="3764756"/>
              <a:ext cx="33616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newInstance()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自 Java 9 起已废弃，改用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getDeclaredConstructor().newInstance()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7330440" y="4794885"/>
            <a:ext cx="4328160" cy="1403032"/>
            <a:chOff x="7330440" y="4794885"/>
            <a:chExt cx="4328160" cy="1403032"/>
          </a:xfrm>
        </p:grpSpPr>
        <p:sp>
          <p:nvSpPr>
            <p:cNvPr id="30" name="Rectangle 30"/>
            <p:cNvSpPr/>
            <p:nvPr/>
          </p:nvSpPr>
          <p:spPr>
            <a:xfrm>
              <a:off x="7330440" y="4794885"/>
              <a:ext cx="432816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339965" y="492823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49515" y="497586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38136" y="500872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设计点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0268" y="5016341"/>
              <a:ext cx="2341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构造函数为什么是 protected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43038" y="5332571"/>
              <a:ext cx="3751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注册式故意留这个口子，让子类也能被创建并登记进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表里。代价是子类可以被外部实例化，唯一性只靠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“只通过这张表取”维持。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课件中的实例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实例三：把大富翁里的全局对象换成单例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092440" cy="293370"/>
            <a:chOff x="525780" y="1548765"/>
            <a:chExt cx="80924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陈伟老师课件用一个大富翁游戏收尾。菜单管理器原本是一个全局对象，改造后变成单例。</a:t>
              </a:r>
            </a:p>
          </p:txBody>
        </p:sp>
      </p:grpSp>
      <p:grpSp>
        <p:nvGrpSpPr>
          <p:cNvPr id="33" name="c1-compare-1"/>
          <p:cNvGrpSpPr/>
          <p:nvPr/>
        </p:nvGrpSpPr>
        <p:grpSpPr>
          <a:xfrm>
            <a:off x="533400" y="1954530"/>
            <a:ext cx="5626418" cy="3288982"/>
            <a:chOff x="533400" y="1954530"/>
            <a:chExt cx="5626418" cy="32889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2574608" cy="3288982"/>
            </a:xfrm>
            <a:prstGeom prst="roundRect">
              <a:avLst>
                <a:gd name="adj" fmla="val 51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30222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381" y="21759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57175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512219"/>
              <a:ext cx="18088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 里定义了一个全局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 menuMgr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16134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10086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各个菜单类直接引用这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个全局名字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7499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69046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谁都可以再定义一个菜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单管理器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33959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27910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初始化顺序依赖链接顺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序，不可控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85210" y="1954530"/>
              <a:ext cx="2574608" cy="3288982"/>
            </a:xfrm>
            <a:prstGeom prst="roundRect">
              <a:avLst>
                <a:gd name="adj" fmla="val 51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94735" y="2087880"/>
              <a:ext cx="47625" cy="30222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14191" y="21759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改造后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829050" y="257175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85641" y="251221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删掉全局对象的定义和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各处声明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829050" y="316134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85641" y="310086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构造函数私有，只留静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态的取实例方法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829050" y="37499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85641" y="3690461"/>
              <a:ext cx="182689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所有用法换成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MenuMgr.getInstanc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e()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829050" y="461105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85641" y="4550569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第一次取用时才初始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化，时机明确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155632" y="3407092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10204" y="35380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改造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5423535"/>
            <a:ext cx="5626418" cy="929640"/>
            <a:chOff x="533400" y="5423535"/>
            <a:chExt cx="5626418" cy="929640"/>
          </a:xfrm>
        </p:grpSpPr>
        <p:sp>
          <p:nvSpPr>
            <p:cNvPr id="34" name="Rectangle 34"/>
            <p:cNvSpPr/>
            <p:nvPr/>
          </p:nvSpPr>
          <p:spPr>
            <a:xfrm>
              <a:off x="533400" y="5423535"/>
              <a:ext cx="5626418" cy="929640"/>
            </a:xfrm>
            <a:prstGeom prst="roundRect">
              <a:avLst>
                <a:gd name="adj" fmla="val 122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788343"/>
              <a:ext cx="200026" cy="200025"/>
              <a:chOff x="738188" y="5788343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7883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58327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59439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5657374"/>
              <a:ext cx="47213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全局对象的毛病不在“全局”，在于谁都能再造一个、谁都能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改它。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6464618" y="1964055"/>
            <a:ext cx="4464188" cy="2398776"/>
            <a:chOff x="6464618" y="1964055"/>
            <a:chExt cx="4464188" cy="2398776"/>
          </a:xfrm>
        </p:grpSpPr>
        <p:sp>
          <p:nvSpPr>
            <p:cNvPr id="41" name="Rectangle 41"/>
            <p:cNvSpPr/>
            <p:nvPr/>
          </p:nvSpPr>
          <p:spPr>
            <a:xfrm>
              <a:off x="6597968" y="210693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464618" y="1964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258127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64618" y="319754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8241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64618" y="381476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8241" y="3888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6479" y="19969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7622" y="2277428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删掉全局对象的定义，以及各文件里对它的声明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479" y="26141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7622" y="2894648"/>
              <a:ext cx="3915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 MenuMgr 加私有构造函数和静态的 getInstance()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6479" y="323040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7622" y="3510915"/>
              <a:ext cx="4051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 menuMgr 的用法换成 MenuMgr.getInstance()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6479" y="384762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7622" y="41281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原来依赖链接顺序的初始化，挪到第一次取用时做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464618" y="4533900"/>
            <a:ext cx="5193982" cy="1819275"/>
            <a:chOff x="6464618" y="4533900"/>
            <a:chExt cx="5193982" cy="1819275"/>
          </a:xfrm>
        </p:grpSpPr>
        <p:sp>
          <p:nvSpPr>
            <p:cNvPr id="59" name="Rectangle 59"/>
            <p:cNvSpPr/>
            <p:nvPr/>
          </p:nvSpPr>
          <p:spPr>
            <a:xfrm>
              <a:off x="6464618" y="4533900"/>
              <a:ext cx="5193982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4142" y="4667250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700838" y="4732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92278" y="4766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84148" y="476678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改完之后多了一处隐式依赖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93598" y="5110639"/>
              <a:ext cx="457708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每个调用 MenuMgr.getInstance() 的类，源码里都写死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 MenuMgr 这个类名，编译期就耦合上了。想在测试里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换成一个假的菜单管理器，没有办法。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94742" y="5967412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这就是“没有抽象层、难以扩展”那条缺点的具体表现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8996" cy="909257"/>
            <a:chOff x="520446" y="342900"/>
            <a:chExt cx="63689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课件中的实例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89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 C++ 写法，对应到 Java 是什么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217694" cy="278702"/>
            <a:chOff x="526161" y="1547336"/>
            <a:chExt cx="821769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2176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陈伟老师课件前半段用 C++ 讲了四种写法，并按三条标准逐一评价。Java 里只剩一条需要操心。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41195"/>
            <a:ext cx="11125200" cy="2228850"/>
            <a:chOff x="533400" y="1941195"/>
            <a:chExt cx="11125200" cy="222885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64658" y="2065496"/>
              <a:ext cx="114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课件的 C++ 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7282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81864" y="2065496"/>
              <a:ext cx="1015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里的对应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57127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最简单形式：函数内的静态局部对象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37598" y="2471261"/>
              <a:ext cx="42857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C++11 起静态局部对象的初始化是线程安全的；对象在数据区，不能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释放后重建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1052" y="257127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静态内部类持有者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479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5275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3077051"/>
              <a:ext cx="2535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指针形式：new 加 releaseInstance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37598" y="3077051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能控制生命周期，但必须记得手工释放，多线程还要自己加锁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1052" y="307705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不需要，交给垃圾回收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3537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482816"/>
              <a:ext cx="1231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shared_ptr 形式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37598" y="348281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大对象放在堆区，作用域结束自动析构，异常安全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1052" y="3482816"/>
              <a:ext cx="1901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的引用本来就是托管的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7595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76428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888581"/>
              <a:ext cx="14939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类模板加 friend 声明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37598" y="3888581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一套代码给多个类复用，子类把模板特化成自己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21052" y="388858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泛型会被擦除，改用一张类到实例的注册表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941195"/>
              <a:ext cx="11125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32822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16278" y="1941195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kv-2"/>
          <p:cNvGrpSpPr/>
          <p:nvPr/>
        </p:nvGrpSpPr>
        <p:grpSpPr>
          <a:xfrm>
            <a:off x="526542" y="4368165"/>
            <a:ext cx="11132058" cy="1059370"/>
            <a:chOff x="526542" y="4368165"/>
            <a:chExt cx="11132058" cy="1059370"/>
          </a:xfrm>
        </p:grpSpPr>
        <p:sp>
          <p:nvSpPr>
            <p:cNvPr id="34" name="TextBox 34"/>
            <p:cNvSpPr txBox="1"/>
            <p:nvPr/>
          </p:nvSpPr>
          <p:spPr>
            <a:xfrm>
              <a:off x="526542" y="436816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存储位置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45754" y="4368165"/>
              <a:ext cx="5392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要区分数据区和堆区；Java 对象一律在堆上，这一条不用操心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6567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6542" y="476535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生命周期控制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45754" y="4765358"/>
              <a:ext cx="5574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的全局对象不能随时释放重建；Java 把引用置空后交给垃圾回收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0549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6542" y="516350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安全性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45754" y="5163502"/>
              <a:ext cx="6290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课件拆成多线程实例化安全性和异常安全性；Java 只剩前一条，且有现成写法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3" name="Rectangle 4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5779770"/>
              <a:ext cx="99921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本讲其余代码按系列约定统一改写成 Java。课件第 26 页的类模板里，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if (!instance)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之后的赋值没有加锁，多线程下仍然可能创建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13632" cy="3351847"/>
            <a:chOff x="667512" y="1835468"/>
            <a:chExt cx="391363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效果、应用与扩展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优点、缺点、用在哪、以及多例模式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三条优点与六条缺点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适用与不适用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真实系统里的单例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从单例到多例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2941" cy="909257"/>
            <a:chOff x="520446" y="342900"/>
            <a:chExt cx="66429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效果、应用与扩展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29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优点：受控访问、省资源、还能推广到 N 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161" y="1547336"/>
            <a:ext cx="5636895" cy="2430685"/>
            <a:chOff x="526161" y="1547336"/>
            <a:chExt cx="5636895" cy="2430685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课件给的三条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1357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2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7621" y="188356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提供了对唯一实例的受控访问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84860" y="222980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9264" y="2161222"/>
              <a:ext cx="5193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单例类封装了唯一实例，可以严格控制客户怎样以及何时访问它，并提供共享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的机制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704148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7621" y="267414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节约系统资源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4860" y="302037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9264" y="2951798"/>
              <a:ext cx="5193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内存中只存在一个对象；对频繁创建和销毁的对象，省下的是反复分配回收的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开销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494722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7621" y="346471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允许可变数目的实例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4860" y="381095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9264" y="3743325"/>
              <a:ext cx="4602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把“至多一个”放宽成“至多 N 个”，就是多例模式，手法完全一样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110990"/>
            <a:ext cx="5842635" cy="2201228"/>
            <a:chOff x="533400" y="4110990"/>
            <a:chExt cx="5842635" cy="2201228"/>
          </a:xfrm>
        </p:grpSpPr>
        <p:sp>
          <p:nvSpPr>
            <p:cNvPr id="21" name="Rectangle 21"/>
            <p:cNvSpPr/>
            <p:nvPr/>
          </p:nvSpPr>
          <p:spPr>
            <a:xfrm>
              <a:off x="533400" y="4110990"/>
              <a:ext cx="5842635" cy="2201228"/>
            </a:xfrm>
            <a:prstGeom prst="roundRect">
              <a:avLst>
                <a:gd name="adj" fmla="val 60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244340"/>
              <a:ext cx="47625" cy="19345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430911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3059" y="4343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受控在哪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19631" y="434387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同样是全局能取到，差别在有没有入口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381" y="4687729"/>
              <a:ext cx="50639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全局变量的读写直接发生在使用方，单例的取用必须经过一个方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法。有了这个方法，就能在里面加计数、加日志、做延迟初始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化，甚至悄悄换掉背后的实现。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680835" y="1524000"/>
            <a:ext cx="4977765" cy="1540192"/>
            <a:chOff x="6680835" y="1524000"/>
            <a:chExt cx="4977765" cy="1540192"/>
          </a:xfrm>
        </p:grpSpPr>
        <p:sp>
          <p:nvSpPr>
            <p:cNvPr id="28" name="Rectangle 28"/>
            <p:cNvSpPr/>
            <p:nvPr/>
          </p:nvSpPr>
          <p:spPr>
            <a:xfrm>
              <a:off x="6680835" y="1524000"/>
              <a:ext cx="4977765" cy="1540192"/>
            </a:xfrm>
            <a:prstGeom prst="roundRect">
              <a:avLst>
                <a:gd name="adj" fmla="val 865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78955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62394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关键区别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28966" y="17568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单例比全局变量多了什么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1716" y="2100739"/>
              <a:ext cx="427951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全局变量只做到了“随时能访问”，单例还做到了“别人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造不出第二个”。后面这一条是语法层面的保证，不是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一条约定。</a:t>
              </a:r>
            </a:p>
          </p:txBody>
        </p:sp>
      </p:grpSp>
      <p:grpSp>
        <p:nvGrpSpPr>
          <p:cNvPr id="42" name="c2-kv-2"/>
          <p:cNvGrpSpPr/>
          <p:nvPr/>
        </p:nvGrpSpPr>
        <p:grpSpPr>
          <a:xfrm>
            <a:off x="6673596" y="3268504"/>
            <a:ext cx="4985004" cy="1378839"/>
            <a:chOff x="6673596" y="3268504"/>
            <a:chExt cx="4985004" cy="1378839"/>
          </a:xfrm>
        </p:grpSpPr>
        <p:sp>
          <p:nvSpPr>
            <p:cNvPr id="34" name="TextBox 34"/>
            <p:cNvSpPr txBox="1"/>
            <p:nvPr/>
          </p:nvSpPr>
          <p:spPr>
            <a:xfrm>
              <a:off x="6673596" y="32685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受控访问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72768" y="3268504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可以在取实例的方法里加日志、加计数、加权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限判断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38395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73596" y="395239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延迟创建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72768" y="395239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真正用到时才付出构造的代价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42557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73596" y="436864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统一入口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72768" y="436864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要换实现只改一处，调用方一行都不用动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680835" y="4771072"/>
            <a:ext cx="4977765" cy="1540192"/>
            <a:chOff x="6680835" y="4771072"/>
            <a:chExt cx="4977765" cy="1540192"/>
          </a:xfrm>
        </p:grpSpPr>
        <p:sp>
          <p:nvSpPr>
            <p:cNvPr id="43" name="Rectangle 43"/>
            <p:cNvSpPr/>
            <p:nvPr/>
          </p:nvSpPr>
          <p:spPr>
            <a:xfrm>
              <a:off x="6680835" y="4771072"/>
              <a:ext cx="4977765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4904422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17055" y="496919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04495" y="500348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第三条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33716" y="500491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同一套控制手法，换个数字就是多例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9816" y="5347811"/>
              <a:ext cx="436067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课件特意把“允许可变数目的实例”列成优点：判断条件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从“有没有”改成“够不够 N 个”，代码结构完全不用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效果、应用与扩展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缺点：没有抽象层、职责过重、容易被滥用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6542" y="1545907"/>
            <a:ext cx="5264074" cy="2092166"/>
            <a:chOff x="526542" y="1545907"/>
            <a:chExt cx="5264074" cy="209216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课件给的三条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98332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762" y="186594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没有抽象层，扩展困难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9620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4405" y="2130266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取实例的方法是静态的，子类覆盖不了；想换实现只能回头改单例类本身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43840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762" y="240601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职责过重，违背单一职责原则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9620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54405" y="2670334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既当工厂提供了工厂方法，又当产品包含业务方法，创建和功能揉在一起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297942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762" y="29460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滥用会带来负面问题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9620" y="32737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4405" y="3210401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把数据库连接池设计成单例，共享这个连接池的程序过多时会出现连接池溢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68090"/>
            <a:ext cx="5410200" cy="1483995"/>
            <a:chOff x="533400" y="3768090"/>
            <a:chExt cx="5410200" cy="1483995"/>
          </a:xfrm>
        </p:grpSpPr>
        <p:sp>
          <p:nvSpPr>
            <p:cNvPr id="21" name="Rectangle 21"/>
            <p:cNvSpPr/>
            <p:nvPr/>
          </p:nvSpPr>
          <p:spPr>
            <a:xfrm>
              <a:off x="533400" y="376809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90144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39604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5345" y="39947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举例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47597" y="40005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连接池溢出是怎么发生的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7047" y="433482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池做成单例后所有模块共用同一个。模块数量涨上去，并发请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求数超过池容量，后来的请求只能排队甚至超时，对外表现成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“数据库连不上”。</a:t>
              </a:r>
            </a:p>
          </p:txBody>
        </p:sp>
      </p:grpSp>
      <p:grpSp>
        <p:nvGrpSpPr>
          <p:cNvPr id="41" name="c2-bullets-1"/>
          <p:cNvGrpSpPr/>
          <p:nvPr/>
        </p:nvGrpSpPr>
        <p:grpSpPr>
          <a:xfrm>
            <a:off x="6241542" y="1545907"/>
            <a:ext cx="5133213" cy="2092167"/>
            <a:chOff x="6241542" y="1545907"/>
            <a:chExt cx="5133213" cy="2092167"/>
          </a:xfrm>
        </p:grpSpPr>
        <p:sp>
          <p:nvSpPr>
            <p:cNvPr id="28" name="TextBox 28"/>
            <p:cNvSpPr txBox="1"/>
            <p:nvPr/>
          </p:nvSpPr>
          <p:spPr>
            <a:xfrm>
              <a:off x="6241542" y="154590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自学时还要知道三条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248400" y="1898332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762" y="1865947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带状态的单例就是隐藏的全局变量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84620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9405" y="213026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任何地方都能改它，出了问题很难查清是谁改的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248400" y="243840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77762" y="240601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难以做单元测试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84620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69405" y="2670334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静态字段会跨测试用例残留，也注入不了替身；对策是让业务类通过构造函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数接收依赖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248400" y="3186112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7762" y="315372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生命周期等于整个进程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84620" y="348138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69405" y="3418046"/>
              <a:ext cx="3869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实例一旦建好就占着内存直到 JVM 退出，不参与垃圾回收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248400" y="3768090"/>
            <a:ext cx="5410200" cy="1483995"/>
            <a:chOff x="6248400" y="3768090"/>
            <a:chExt cx="5410200" cy="1483995"/>
          </a:xfrm>
        </p:grpSpPr>
        <p:sp>
          <p:nvSpPr>
            <p:cNvPr id="42" name="Rectangle 42"/>
            <p:cNvSpPr/>
            <p:nvPr/>
          </p:nvSpPr>
          <p:spPr>
            <a:xfrm>
              <a:off x="6248400" y="376809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390144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8905" y="39604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0345" y="39947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62597" y="4000500"/>
              <a:ext cx="2767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让单例只负责“唯一”，别负责业务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2047" y="433482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业务逻辑放在普通类里，单例只做入口和持有者。职责分开之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后，测试时直接创建那个普通类就能验证逻辑。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9" name="Rectangle 4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8540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Spring 的做法值得借鉴：Bean 类本身是普通类，唯一性由容器保证，于是测试时可以直接创建一个出来。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效果、应用与扩展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什么时候该用，什么时候别用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5780" y="1548765"/>
            <a:ext cx="5035868" cy="2480310"/>
            <a:chOff x="525780" y="1548765"/>
            <a:chExt cx="5035868" cy="248031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适用环境（课件原文）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3908" y="190309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系统只需要一个实例对象。例如要求提供一个唯一的序列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号生成器，或者需要考虑资源消耗太大而只允许创建一个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85083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3908" y="281940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客户调用类的单个实例只允许使用一个公共访问点，除了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该公共访问点，不能通过其他途径访问该实例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348138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3908" y="344995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一个系统中要求一个类只有一个实例时才应当使用单例模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式；如果一个类可以有几个实例共存，就改成多例模式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160520"/>
            <a:ext cx="5410200" cy="1621155"/>
            <a:chOff x="533400" y="4160520"/>
            <a:chExt cx="5410200" cy="1621155"/>
          </a:xfrm>
        </p:grpSpPr>
        <p:sp>
          <p:nvSpPr>
            <p:cNvPr id="15" name="Rectangle 15"/>
            <p:cNvSpPr/>
            <p:nvPr/>
          </p:nvSpPr>
          <p:spPr>
            <a:xfrm>
              <a:off x="533400" y="416052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29387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3700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4057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440531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第三条的言外之意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766310"/>
              <a:ext cx="4692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课件特意写了“如果一个类可以有几个实例共存，就需要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对单例模式进行改进，使之成为多例模式”。选单例还是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多例，看的是数量约束，不是访问方不方便。</a:t>
              </a:r>
            </a:p>
          </p:txBody>
        </p:sp>
      </p:grpSp>
      <p:grpSp>
        <p:nvGrpSpPr>
          <p:cNvPr id="33" name="c2-bullets-1"/>
          <p:cNvGrpSpPr/>
          <p:nvPr/>
        </p:nvGrpSpPr>
        <p:grpSpPr>
          <a:xfrm>
            <a:off x="6240780" y="1548765"/>
            <a:ext cx="4503420" cy="2026920"/>
            <a:chOff x="6240780" y="1548765"/>
            <a:chExt cx="4503420" cy="2026920"/>
          </a:xfrm>
        </p:grpSpPr>
        <p:sp>
          <p:nvSpPr>
            <p:cNvPr id="22" name="TextBox 22"/>
            <p:cNvSpPr txBox="1"/>
            <p:nvPr/>
          </p:nvSpPr>
          <p:spPr>
            <a:xfrm>
              <a:off x="6240780" y="15487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这些情况别用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248400" y="19392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88430" y="190309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只是嫌参数传着麻烦，想找个地方放全局数据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248400" y="228409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8430" y="22479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以后可能需要多份配置、多个连接、多套实现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248400" y="26289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88430" y="259270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这个类有可变状态，而且会被多个线程同时读写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248400" y="297370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88430" y="29375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需要在单元测试里把它替换成假的实现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248400" y="331851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88430" y="32823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跨进程、跨节点要求唯一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707130"/>
            <a:ext cx="5410200" cy="2074545"/>
            <a:chOff x="6248400" y="3707130"/>
            <a:chExt cx="5410200" cy="2074545"/>
          </a:xfrm>
        </p:grpSpPr>
        <p:sp>
          <p:nvSpPr>
            <p:cNvPr id="34" name="Rectangle 34"/>
            <p:cNvSpPr/>
            <p:nvPr/>
          </p:nvSpPr>
          <p:spPr>
            <a:xfrm>
              <a:off x="6248400" y="3707130"/>
              <a:ext cx="5410200" cy="2074545"/>
            </a:xfrm>
            <a:prstGeom prst="roundRect">
              <a:avLst>
                <a:gd name="adj" fmla="val 642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57950" y="39166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0259" y="39523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42823" y="3951922"/>
              <a:ext cx="4085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问一句，“只能有一个”是业务规则还是图省事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0330" y="431292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打印池、主键分配器是业务规则。“我不想把它一路传下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去”不是，那种情况该用依赖注入。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效果、应用与扩展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真实系统里的单例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2440305"/>
            <a:chOff x="533400" y="1524000"/>
            <a:chExt cx="5193982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93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java.lang.Runtime（饿汉式）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816479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Runtime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Runtime currentRuntime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Runtime();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Runtime getRuntime()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currentRuntime;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Runtime() {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......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133850"/>
            <a:ext cx="5193982" cy="1459230"/>
            <a:chOff x="533400" y="4133850"/>
            <a:chExt cx="5193982" cy="1459230"/>
          </a:xfrm>
        </p:grpSpPr>
        <p:sp>
          <p:nvSpPr>
            <p:cNvPr id="11" name="Rectangle 11"/>
            <p:cNvSpPr/>
            <p:nvPr/>
          </p:nvSpPr>
          <p:spPr>
            <a:xfrm>
              <a:off x="533400" y="4133850"/>
              <a:ext cx="519398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267200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3205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862" y="43534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3784" y="43557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自动编号主键生成器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4681538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一张带自动编号主键的表可以有多个用户同时使用，但数据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库中只能有一个地方分配下一个主键编号，否则会出现主键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重复。单机部署时用单例实现。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032182" y="1524000"/>
            <a:ext cx="5626418" cy="2017395"/>
            <a:chOff x="6032182" y="1524000"/>
            <a:chExt cx="5626418" cy="2017395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2017395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41708" y="1657350"/>
              <a:ext cx="47625" cy="175069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6972" y="1710690"/>
              <a:ext cx="6076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2625" y="1743551"/>
              <a:ext cx="436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Spring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72110" y="1745932"/>
              <a:ext cx="2908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默认的 bean 作用域就是 singleton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50114" y="2071688"/>
              <a:ext cx="32969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&lt;bean id="date" class="java.util.Date"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scope="singleton"/&gt;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50114" y="2628900"/>
              <a:ext cx="49171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scope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bean 在时间和空间维度上的范围。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singleton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表示这个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bean 存在于应用的整个生命期内，全局共享一个实例；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prototype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表示每次注入都新建一个。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032182" y="3710940"/>
            <a:ext cx="5626418" cy="1883092"/>
            <a:chOff x="6032182" y="3710940"/>
            <a:chExt cx="5626418" cy="1883092"/>
          </a:xfrm>
        </p:grpSpPr>
        <p:sp>
          <p:nvSpPr>
            <p:cNvPr id="26" name="Rectangle 26"/>
            <p:cNvSpPr/>
            <p:nvPr/>
          </p:nvSpPr>
          <p:spPr>
            <a:xfrm>
              <a:off x="6032182" y="3710940"/>
              <a:ext cx="5626418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41708" y="3844290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6972" y="38976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8692" y="39304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22567" y="3932872"/>
              <a:ext cx="3285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Spring 的单例和 GoF 的单例不是一回事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50114" y="4258628"/>
              <a:ext cx="49171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Bean 类本身没有私有构造函数，也没有取实例的静态方法。唯一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性由容器维护，作用域是一个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ApplicationContext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，同一个 JVM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里建两个容器就有两个实例。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8373"/>
              <a:ext cx="99435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其他常见例子：日志记录器、配置读取器、窗口管理器、MVC 里的控制器；陈伟老师课件还举了 VB 的 Screen 和 Cursor。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效果、应用与扩展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扩展：从单例到多例，本质是控制实例数目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95339" cy="264033"/>
            <a:chOff x="526542" y="1545907"/>
            <a:chExt cx="659533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9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单例模式的本质是控制实例数目。数目不一定是一个，放宽到 N 个就是多例模式。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28812"/>
            <a:ext cx="4544378" cy="2015490"/>
            <a:chOff x="533400" y="1928812"/>
            <a:chExt cx="4544378" cy="201549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544378" cy="2015490"/>
            </a:xfrm>
            <a:prstGeom prst="roundRect">
              <a:avLst>
                <a:gd name="adj" fmla="val 6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4879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5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8450" y="2149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多例模式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2465546"/>
              <a:ext cx="3151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限定某个类具体实例的数量至多为 N 个。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80320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75129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创建和销毁这样的实例对象非常耗费资源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08800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03609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实例对象的总数量应受到限制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33737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3320891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一个实例用完后通常不释放，只标记为空闲，可为下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一个请求分配</a:t>
              </a:r>
            </a:p>
          </p:txBody>
        </p:sp>
      </p:grpSp>
      <p:grpSp>
        <p:nvGrpSpPr>
          <p:cNvPr id="27" name="c1-kv-2"/>
          <p:cNvGrpSpPr/>
          <p:nvPr/>
        </p:nvGrpSpPr>
        <p:grpSpPr>
          <a:xfrm>
            <a:off x="526923" y="4129564"/>
            <a:ext cx="4550855" cy="863726"/>
            <a:chOff x="526923" y="4129564"/>
            <a:chExt cx="4550855" cy="863726"/>
          </a:xfrm>
        </p:grpSpPr>
        <p:sp>
          <p:nvSpPr>
            <p:cNvPr id="22" name="TextBox 22"/>
            <p:cNvSpPr txBox="1"/>
            <p:nvPr/>
          </p:nvSpPr>
          <p:spPr>
            <a:xfrm>
              <a:off x="526923" y="41295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常见例子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975" y="41295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线程池、数据库连接池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40150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923" y="4503896"/>
              <a:ext cx="8257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和单例的关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08975" y="450389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池对象本身是单例，池里装的元素才是多例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5107305"/>
            <a:ext cx="4544378" cy="1195388"/>
            <a:chOff x="533400" y="5107305"/>
            <a:chExt cx="4544378" cy="1195388"/>
          </a:xfrm>
        </p:grpSpPr>
        <p:sp>
          <p:nvSpPr>
            <p:cNvPr id="28" name="Rectangle 28"/>
            <p:cNvSpPr/>
            <p:nvPr/>
          </p:nvSpPr>
          <p:spPr>
            <a:xfrm>
              <a:off x="533400" y="5107305"/>
              <a:ext cx="4544378" cy="1195388"/>
            </a:xfrm>
            <a:prstGeom prst="roundRect">
              <a:avLst>
                <a:gd name="adj" fmla="val 1115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4375" y="52882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7047" y="53211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0350" y="5327809"/>
              <a:ext cx="1783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单例是 N 等于一的特例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7898" y="5644991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一个类可以有几个实例共存时，就该改成多例。控制手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法一样，判断从“有没有”变成“够不够”。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5382578" y="1928812"/>
            <a:ext cx="6276022" cy="4374832"/>
            <a:chOff x="5382578" y="1928812"/>
            <a:chExt cx="6276022" cy="4374832"/>
          </a:xfrm>
        </p:grpSpPr>
        <p:sp>
          <p:nvSpPr>
            <p:cNvPr id="34" name="Rectangle 34"/>
            <p:cNvSpPr/>
            <p:nvPr/>
          </p:nvSpPr>
          <p:spPr>
            <a:xfrm>
              <a:off x="5382578" y="1928812"/>
              <a:ext cx="6276022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10974" y="2080736"/>
              <a:ext cx="2054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线程池示意（按课件的 C++ 改写）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401628" y="265557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01628" y="283178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10974" y="2340769"/>
              <a:ext cx="3973957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ThreadPool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 = 10;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ThreadPool pool;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池本身是单例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List&lt;Worker&gt; workers;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池里是多例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ThreadPool(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workers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ArrayList&lt;&gt;(max);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预建 max 个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ThreadPool getPool()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(pool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pool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ThreadPool(MAX);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pool;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取一个空闲的；没有空闲就返回 null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Worker acquire()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(Worker w : workers)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(w.isIdle())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效果、应用与扩展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模式本质与常见的滥用信号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621155"/>
            <a:chOff x="533400" y="1524000"/>
            <a:chExt cx="5193982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9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控制实例数目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单例模式是为了在运行期间控制某些类的实例数目只能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有一个。同样的手法可以把数目控制成两个、三个或任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意需要的个数，目的都是节省资源。</a:t>
              </a:r>
            </a:p>
          </p:txBody>
        </p:sp>
      </p:grpSp>
      <p:grpSp>
        <p:nvGrpSpPr>
          <p:cNvPr id="22" name="c1-bullets-2"/>
          <p:cNvGrpSpPr/>
          <p:nvPr/>
        </p:nvGrpSpPr>
        <p:grpSpPr>
          <a:xfrm>
            <a:off x="525780" y="3360420"/>
            <a:ext cx="5109210" cy="2253615"/>
            <a:chOff x="525780" y="3360420"/>
            <a:chExt cx="5109210" cy="2253615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336042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滥用的四个信号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75094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3430" y="3714750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为了“到处都能取到”而用单例，实际是全局变量换了个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43815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3430" y="434530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单例里放可变的业务状态，并发时要自己加锁，出了问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题很难排查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50120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430" y="497586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把连接池、缓存做成单例又不限容量，最后连接池溢出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53568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3430" y="532066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测试里造不出替身，说明依赖被硬编码进了调用方</a:t>
              </a:r>
            </a:p>
          </p:txBody>
        </p:sp>
      </p:grpSp>
      <p:grpSp>
        <p:nvGrpSpPr>
          <p:cNvPr id="34" name="c2-kv-1"/>
          <p:cNvGrpSpPr/>
          <p:nvPr/>
        </p:nvGrpSpPr>
        <p:grpSpPr>
          <a:xfrm>
            <a:off x="6024562" y="1548765"/>
            <a:ext cx="5634038" cy="2741295"/>
            <a:chOff x="6024562" y="1548765"/>
            <a:chExt cx="5634038" cy="2741295"/>
          </a:xfrm>
        </p:grpSpPr>
        <p:sp>
          <p:nvSpPr>
            <p:cNvPr id="23" name="TextBox 23"/>
            <p:cNvSpPr txBox="1"/>
            <p:nvPr/>
          </p:nvSpPr>
          <p:spPr>
            <a:xfrm>
              <a:off x="6024562" y="1548765"/>
              <a:ext cx="175926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“只能有一个”是业务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规则吗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2925" y="154876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是就用单例；只是图省事的话，改成依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赖注入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32182" y="2150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24562" y="2270760"/>
              <a:ext cx="1729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这个对象有可变状态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62925" y="227076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有就要自己保证线程安全；无状态的可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以放心共享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32182" y="28727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24562" y="2992755"/>
              <a:ext cx="1729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以后可能要多份实现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62925" y="299275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可能的话先抽接口，别把类名写死在调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用方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35947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24562" y="37147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需要跨进程唯一吗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62925" y="371475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需要的话单例解决不了，回到集群那一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032182" y="4421505"/>
            <a:ext cx="5626418" cy="1621155"/>
            <a:chOff x="6032182" y="4421505"/>
            <a:chExt cx="5626418" cy="1621155"/>
          </a:xfrm>
        </p:grpSpPr>
        <p:sp>
          <p:nvSpPr>
            <p:cNvPr id="35" name="Rectangle 35"/>
            <p:cNvSpPr/>
            <p:nvPr/>
          </p:nvSpPr>
          <p:spPr>
            <a:xfrm>
              <a:off x="6032182" y="4421505"/>
              <a:ext cx="562641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1708" y="455485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79832" y="46310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61189" y="46667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实用建议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64705" y="4666298"/>
              <a:ext cx="2299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把“唯一”和“好取到”分开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2212" y="5027295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让业务类保持普通写法，通过构造函数接收它需要的依赖；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唯一性交给容器或者工厂去保证。这样既拿到了单例的好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处，又不会被静态方法钉死。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136392" cy="3351847"/>
            <a:chOff x="667512" y="1835468"/>
            <a:chExt cx="31363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辨析与自测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和别的模式、别的写法划清界线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与相关模式的关系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单例与静态工具类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八个易错点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道自测题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辨析与自测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和其他模式的关系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3246120"/>
            <a:chOff x="533400" y="1524000"/>
            <a:chExt cx="11125200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008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2371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它解决什么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6964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和单例的关系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工厂方法（第 11 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81338" y="205406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由工厂子类决定造哪一个产品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1417" y="205406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具体工厂通常没有状态，常做成单例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抽象工厂（第 12 讲）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1338" y="24598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造一族配套的产品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1417" y="24598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抽象工厂的实现类多数也是单例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建造者（第 13 讲）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1338" y="28655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分步骤装配一个复杂对象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1417" y="2865596"/>
              <a:ext cx="2089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 Director 可以做成单例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原型（第 14 讲）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81338" y="32713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复制样板对象得到新实例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1417" y="327136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目的正相反：一个要多份，一个只要一份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享元（第 25 讲）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1338" y="36771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共享大量细粒度对象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31417" y="367712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享元工厂是单例，池里存的是多例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外观（第 24 讲）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1338" y="40828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给子系统一个统一入口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1417" y="40828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外观对象常实现为单例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状态（第 37 讲）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81338" y="44886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行为随内部状态变化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1417" y="44886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没有状态的状态对象常做成单例共享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11125200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97656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42664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1-compare-2"/>
          <p:cNvGrpSpPr/>
          <p:nvPr/>
        </p:nvGrpSpPr>
        <p:grpSpPr>
          <a:xfrm>
            <a:off x="533400" y="4945380"/>
            <a:ext cx="11125200" cy="1417320"/>
            <a:chOff x="533400" y="4945380"/>
            <a:chExt cx="11125200" cy="1417320"/>
          </a:xfrm>
        </p:grpSpPr>
        <p:sp>
          <p:nvSpPr>
            <p:cNvPr id="45" name="Rectangle 45"/>
            <p:cNvSpPr/>
            <p:nvPr/>
          </p:nvSpPr>
          <p:spPr>
            <a:xfrm>
              <a:off x="533400" y="4945380"/>
              <a:ext cx="5323522" cy="1417320"/>
            </a:xfrm>
            <a:prstGeom prst="roundRect">
              <a:avLst>
                <a:gd name="adj" fmla="val 94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5078730"/>
              <a:ext cx="47625" cy="11506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7047" y="51596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单例与工厂的联系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72478" y="55359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8497" y="5479733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工厂类往往没有自己的状态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72478" y="58388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8497" y="578262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做成单例可以省掉反复创建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335078" y="4945380"/>
              <a:ext cx="5323522" cy="1417320"/>
            </a:xfrm>
            <a:prstGeom prst="roundRect">
              <a:avLst>
                <a:gd name="adj" fmla="val 94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344602" y="5078730"/>
              <a:ext cx="47625" cy="11506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58724" y="51596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单例与享元的区别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74155" y="55359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0174" y="5479733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单例把实例总数限定为一个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74155" y="583882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30174" y="578262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享元不限总数，只共享相同的部分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904548" y="5462588"/>
              <a:ext cx="382905" cy="38290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59119" y="55935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常考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辨析与自测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单例、静态工具类、全局变量的分界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503964" cy="308039"/>
            <a:chOff x="525399" y="1550194"/>
            <a:chExt cx="450396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50396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三者都能做到“随处可取”，差别在于可控程度。</a:t>
              </a:r>
            </a:p>
          </p:txBody>
        </p:sp>
      </p:grpSp>
      <p:grpSp>
        <p:nvGrpSpPr>
          <p:cNvPr id="53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1194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093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全局变量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18477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全静态工具类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4440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能阻止别人再造一个吗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55898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03823" y="255127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没有实例可造，但类本身换不掉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998268" y="2426018"/>
              <a:ext cx="265080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96566" y="255127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0008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能延迟到用时再创建吗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55898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03823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6566" y="30008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44947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能实现接口、被继承吗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55898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3823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998268" y="3323272"/>
              <a:ext cx="265080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96566" y="34494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8981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能作为参数传给别人吗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55898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03823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96566" y="38981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43467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能在测试里替换吗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55898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03823" y="43467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998268" y="4221480"/>
              <a:ext cx="265080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96566" y="43467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可以，配合接口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" y="479536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有自己的生命周期吗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755898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03823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96566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364331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123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983980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allout-2"/>
          <p:cNvGrpSpPr/>
          <p:nvPr/>
        </p:nvGrpSpPr>
        <p:grpSpPr>
          <a:xfrm>
            <a:off x="533400" y="5299710"/>
            <a:ext cx="11125200" cy="1062990"/>
            <a:chOff x="533400" y="5299710"/>
            <a:chExt cx="11125200" cy="1062990"/>
          </a:xfrm>
        </p:grpSpPr>
        <p:sp>
          <p:nvSpPr>
            <p:cNvPr id="54" name="Rectangle 54"/>
            <p:cNvSpPr/>
            <p:nvPr/>
          </p:nvSpPr>
          <p:spPr>
            <a:xfrm>
              <a:off x="533400" y="5299710"/>
              <a:ext cx="11125200" cy="1062990"/>
            </a:xfrm>
            <a:prstGeom prst="roundRect">
              <a:avLst>
                <a:gd name="adj" fmla="val 1075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731195"/>
              <a:ext cx="200023" cy="200023"/>
              <a:chOff x="738188" y="573119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7311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5797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726430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只要这个对象需要实现接口、需要延迟创建，或者以后可能换实现，就用单例，别用静态工具类。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4306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133" y="40719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 · 辨析与自测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写单例时的八个易错点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5780" y="1548765"/>
            <a:ext cx="4635056" cy="1682115"/>
            <a:chOff x="525780" y="1548765"/>
            <a:chExt cx="4635056" cy="168211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语法和结构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40336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构造函数忘了写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，外面直接就能创建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2345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5249" y="22768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4390" y="2247900"/>
              <a:ext cx="43264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取实例的方法忘了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，取实例前先得有实例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57937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5249" y="26216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4390" y="2592705"/>
              <a:ext cx="4013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instance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字段忘了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，它会跟着实例走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292417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249" y="29664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390" y="2937510"/>
              <a:ext cx="37476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Singleton;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漏了括号，编译都过不去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362325"/>
            <a:ext cx="5410200" cy="1956435"/>
            <a:chOff x="533400" y="3362325"/>
            <a:chExt cx="5410200" cy="1956435"/>
          </a:xfrm>
        </p:grpSpPr>
        <p:sp>
          <p:nvSpPr>
            <p:cNvPr id="21" name="Rectangle 21"/>
            <p:cNvSpPr/>
            <p:nvPr/>
          </p:nvSpPr>
          <p:spPr>
            <a:xfrm>
              <a:off x="533400" y="3362325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49567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35718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3359" y="3607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课件原错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65922" y="360711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这两处在源课件里真的出现过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3968115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漏括号的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Singleton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出现在陈伟老师课件的饥饿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式、注册式、同步方法、双重检查四页上。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4589145"/>
              <a:ext cx="473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Signleton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这个拼写出现在饥饿式和注册式两页的返回类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型上。</a:t>
              </a:r>
            </a:p>
          </p:txBody>
        </p:sp>
      </p:grpSp>
      <p:grpSp>
        <p:nvGrpSpPr>
          <p:cNvPr id="42" name="c2-bullets-1"/>
          <p:cNvGrpSpPr/>
          <p:nvPr/>
        </p:nvGrpSpPr>
        <p:grpSpPr>
          <a:xfrm>
            <a:off x="6240780" y="1548765"/>
            <a:ext cx="4756214" cy="1682115"/>
            <a:chOff x="6240780" y="1548765"/>
            <a:chExt cx="4756214" cy="1682115"/>
          </a:xfrm>
        </p:grpSpPr>
        <p:sp>
          <p:nvSpPr>
            <p:cNvPr id="29" name="TextBox 29"/>
            <p:cNvSpPr txBox="1"/>
            <p:nvPr/>
          </p:nvSpPr>
          <p:spPr>
            <a:xfrm>
              <a:off x="6240780" y="15487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并发和序列化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10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9390" y="1903095"/>
              <a:ext cx="4447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双重检查少了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volatile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，别人可能拿到半成品对象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48400" y="22345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10249" y="22768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49390" y="224790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锁里面没有第二次检查，等于加了一把没用的锁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48400" y="257937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10249" y="26216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9390" y="259270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同步块后面多写一个分号，同步块就成了空语句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48400" y="292417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10249" y="29664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49390" y="2937510"/>
              <a:ext cx="3945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实现了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Serializable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却没写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readResolve()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248400" y="3362325"/>
            <a:ext cx="5410200" cy="1956435"/>
            <a:chOff x="6248400" y="3362325"/>
            <a:chExt cx="5410200" cy="1956435"/>
          </a:xfrm>
        </p:grpSpPr>
        <p:sp>
          <p:nvSpPr>
            <p:cNvPr id="43" name="Rectangle 43"/>
            <p:cNvSpPr/>
            <p:nvPr/>
          </p:nvSpPr>
          <p:spPr>
            <a:xfrm>
              <a:off x="6248400" y="3362325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349567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96050" y="35718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78359" y="3607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自查顺序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80923" y="360711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三步默写，两处复查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88430" y="396811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先写私有构造函数，再写静态字段，最后写静态方法。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写完回头只看两处：锁的范围对不对，要不要补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readResolve()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单例按目的和范围各属哪类？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创建型模式加对象模式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构造函数为什么必须私有？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挡住外部创建，只允许类自己建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裸懒汉式在多线程下错在哪？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检查与创建不原子，可能建出两个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单例模式的三个要点是什么？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唯一实例、自行创建、自行提供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饿汉式为什么天生线程安全？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516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类初始化阶段建好，JVM 保证只跑一次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整个方法加锁的代价是什么？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实例建好后每次取用仍要抢锁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答不上来的题，回到对应正文页再读一遍那一页的代码或类图。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3005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双重检查里 volatile 为什么不能省？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禁止重排序，防止别人拿到半成品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静态内部类为什么既延迟又安全？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首次用到才初始化，靠类初始化锁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序列化破坏了单例怎么修？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000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readResolve 返回已有的实例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同步块后面多写一个分号会怎样？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变成空语句，临界区根本没加锁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枚举能防住反射和序列化吗？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607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都能，JVM 从语言层面保证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集群部署后单例还唯一吗？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028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不唯一，每个 JVM 进程各有一个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5229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12 题是最容易答错的一道：单例的作用域是进程，不是系统。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单例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7751069" cy="1607916"/>
            <a:chOff x="533400" y="1535430"/>
            <a:chExt cx="7751069" cy="1607916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293" y="1547336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单例等于私有构造函数加静态私有实例加静态公有的取实例方法，三者缺一不可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64043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190438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1876901"/>
              <a:ext cx="7460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六种写法：饿汉、裸懒汉（反例）、同步方法、双重检查加 volatile、静态内部类、枚举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9360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2339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206466"/>
              <a:ext cx="7096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volatile 挡的是“先写引用再构造”的重排序，静态内部类用类初始化锁做到同样的事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52317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25635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2535079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反射、序列化、克隆、多个类加载器都能造出第二个实例，枚举一次挡住前三个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85273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745" y="28921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293" y="2864644"/>
              <a:ext cx="7056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单例的作用域是一个 JVM 进程，集群里的“唯一”要靠数据库、Redis 或 ZooKeeper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3272790"/>
            <a:ext cx="11125200" cy="2400300"/>
            <a:chOff x="533400" y="3272790"/>
            <a:chExt cx="11125200" cy="2400300"/>
          </a:xfrm>
        </p:grpSpPr>
        <p:sp>
          <p:nvSpPr>
            <p:cNvPr id="23" name="Rectangle 23"/>
            <p:cNvSpPr/>
            <p:nvPr/>
          </p:nvSpPr>
          <p:spPr>
            <a:xfrm>
              <a:off x="533400" y="3272790"/>
              <a:ext cx="11125200" cy="24003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406140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34766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7644" y="35123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60588" y="351615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75335" y="385572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3680" y="38960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6228" y="3867626"/>
              <a:ext cx="92732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双重检查一段写成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synchronized(Singleton.class );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加分号，同步块成了空语句，临界区完全没有被保护。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5335" y="417576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680" y="42160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6228" y="4187666"/>
              <a:ext cx="91345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Singleton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漏括号出现在饥饿式、注册式、同步方法、双重检查四页；返回类型两处误写成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Signleton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5335" y="449580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3680" y="45361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6228" y="4507706"/>
              <a:ext cx="93563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注册式的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reg.put(Class.forName(name).newInstance();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参数和括号都不对，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put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需要键和值两个参数。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5335" y="481584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3680" y="48561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6228" y="4827746"/>
              <a:ext cx="65592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张欣佳老师课件第 24 页把方法名印成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 Instance()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，中间多了一个空格。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75335" y="513588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3680" y="5176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6228" y="5147786"/>
              <a:ext cx="7106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打印池例“重复创建则抛异常”在正常调用路径上走不到，那句判断真正挡的是反射。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76800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遇到“这个东西全系统只该有一份”的场景，先确认它是不是业务规则，再决定用不用单例。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单例模式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15">
  <a:themeElements>
    <a:clrScheme name="sdp_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1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1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2026-09-23T06:07:32Z</dcterms:created>
  <dcterms:modified xsi:type="dcterms:W3CDTF">2026-09-23T06:07:32Z</dcterms:modified>
  <cp:category/>
  <cp:contentStatus/>
</cp:coreProperties>
</file>