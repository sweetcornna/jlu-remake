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sdp_15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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sdp_15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0a7cac3268cccd27.png"/>
</Relationships>
</file>

<file path=ppt/slides/_rels/slide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0538470e3ca43d30.png"/>
</Relationships>
</file>

<file path=ppt/slides/_rels/slide1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f3b0b364cf4c5286.png"/>
</Relationships>
</file>

<file path=ppt/slides/_rels/slide2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-her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over-scrim"/>
          <p:cNvSpPr/>
          <p:nvPr/>
        </p:nvSpPr>
        <p:spPr>
          <a:xfrm>
            <a:off x="0" y="0"/>
            <a:ext cx="7620000" cy="6858000"/>
          </a:xfrm>
          <a:prstGeom prst="rect">
            <a:avLst/>
          </a:prstGeom>
          <a:gradFill>
            <a:gsLst>
              <a:gs pos="0">
                <a:srgbClr val="FFFFFF">
                  <a:alpha val="97000"/>
                </a:srgbClr>
              </a:gs>
              <a:gs pos="58000">
                <a:srgbClr val="FFFFFF">
                  <a:alpha val="85000"/>
                </a:srgbClr>
              </a:gs>
              <a:gs pos="100000">
                <a:srgbClr val="FFFFFF">
                  <a:alpha val="0"/>
                </a:srgbClr>
              </a:gs>
            </a:gsLst>
            <a:lin ang="0" scaled="1"/>
          </a:gradFill>
          <a:ln>
            <a:noFill/>
          </a:ln>
        </p:spPr>
      </p:sp>
      <p:grpSp>
        <p:nvGrpSpPr>
          <p:cNvPr id="17" name="cover-title"/>
          <p:cNvGrpSpPr/>
          <p:nvPr/>
        </p:nvGrpSpPr>
        <p:grpSpPr>
          <a:xfrm>
            <a:off x="666750" y="1619250"/>
            <a:ext cx="3662934" cy="3437763"/>
            <a:chOff x="666750" y="1619250"/>
            <a:chExt cx="3662934" cy="3437763"/>
          </a:xfrm>
        </p:grpSpPr>
        <p:sp>
          <p:nvSpPr>
            <p:cNvPr id="4" name="Rectangle 4"/>
            <p:cNvSpPr/>
            <p:nvPr/>
          </p:nvSpPr>
          <p:spPr>
            <a:xfrm>
              <a:off x="685800" y="1619250"/>
              <a:ext cx="1898332" cy="3429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804866" y="1718310"/>
              <a:ext cx="166115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软件设计模式 · 第十讲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666750" y="2407920"/>
              <a:ext cx="2299716" cy="819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单例模式</a:t>
              </a:r>
            </a:p>
          </p:txBody>
        </p:sp>
        <p:sp>
          <p:nvSpPr>
            <p:cNvPr id="7" name="Rectangle 7"/>
            <p:cNvSpPr/>
            <p:nvPr/>
          </p:nvSpPr>
          <p:spPr>
            <a:xfrm>
              <a:off x="685800" y="3147060"/>
              <a:ext cx="990600" cy="5715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76656" y="3467100"/>
              <a:ext cx="365302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让一个类自己保管自己的唯一实例</a:t>
              </a:r>
            </a:p>
          </p:txBody>
        </p:sp>
        <p:sp>
          <p:nvSpPr>
            <p:cNvPr id="9" name="Ellipse 9"/>
            <p:cNvSpPr/>
            <p:nvPr/>
          </p:nvSpPr>
          <p:spPr>
            <a:xfrm>
              <a:off x="709612" y="3976688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9442" y="3921442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三个要点与标准结构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709612" y="4267200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69442" y="4211955"/>
              <a:ext cx="125672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六种 Java 写法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09612" y="4557712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869442" y="4502468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反射与序列化的破坏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09612" y="4848225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69442" y="479298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优缺点与模式辨析</a:t>
              </a:r>
            </a:p>
          </p:txBody>
        </p:sp>
      </p:grpSp>
      <p:grpSp>
        <p:nvGrpSpPr>
          <p:cNvPr id="19" name="cover-credit"/>
          <p:cNvGrpSpPr/>
          <p:nvPr/>
        </p:nvGrpSpPr>
        <p:grpSpPr>
          <a:xfrm>
            <a:off x="680466" y="6192202"/>
            <a:ext cx="5403209" cy="205359"/>
            <a:chOff x="680466" y="6192202"/>
            <a:chExt cx="5403209" cy="205359"/>
          </a:xfrm>
        </p:grpSpPr>
        <p:sp>
          <p:nvSpPr>
            <p:cNvPr id="18" name="TextBox 18"/>
            <p:cNvSpPr txBox="1"/>
            <p:nvPr/>
          </p:nvSpPr>
          <p:spPr>
            <a:xfrm>
              <a:off x="680466" y="6192202"/>
              <a:ext cx="540320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重制讲义 · 自学复习版｜据吉林大学《软件设计模式》张欣佳、陈伟老师课件合并整理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085594" cy="909257"/>
            <a:chOff x="520446" y="342900"/>
            <a:chExt cx="208559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760095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46139" y="407194"/>
              <a:ext cx="5346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15 单例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08559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本讲学习路线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0" name="c1-agenda-1"/>
          <p:cNvGrpSpPr/>
          <p:nvPr/>
        </p:nvGrpSpPr>
        <p:grpSpPr>
          <a:xfrm>
            <a:off x="521970" y="1515428"/>
            <a:ext cx="6287453" cy="4461795"/>
            <a:chOff x="521970" y="1515428"/>
            <a:chExt cx="6287453" cy="4461795"/>
          </a:xfrm>
        </p:grpSpPr>
        <p:sp>
          <p:nvSpPr>
            <p:cNvPr id="7" name="TextBox 7"/>
            <p:cNvSpPr txBox="1"/>
            <p:nvPr/>
          </p:nvSpPr>
          <p:spPr>
            <a:xfrm>
              <a:off x="521970" y="151542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065086" y="1551622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动机与定义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066990" y="1868329"/>
              <a:ext cx="276997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全局变量差在哪，三个要点是哪三个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1073468" y="2181225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21970" y="2286952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65086" y="2323148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结构与最小实现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66990" y="2639854"/>
              <a:ext cx="294228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一个角色、三样东西，课件的原始代码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1073468" y="2953702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21970" y="305847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065086" y="3094673"/>
              <a:ext cx="156753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六种 Java 写法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66990" y="3412331"/>
              <a:ext cx="294228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从饿汉到枚举，线程安全各自从哪里来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1073468" y="3725228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521970" y="3830955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65086" y="3867150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谁会破坏单例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066990" y="4183856"/>
              <a:ext cx="294228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反射、序列化、克隆、类加载器、集群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1073468" y="4497705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21970" y="4602480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65086" y="4638675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课件中的实例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66990" y="4955381"/>
              <a:ext cx="328691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身份证号码、打印池、注册式、大富翁菜单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1073468" y="5269230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521970" y="537495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065086" y="5411152"/>
              <a:ext cx="179374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效果、辨析与自测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066990" y="5727859"/>
              <a:ext cx="301121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优缺点、适用场景、模式对比、12 道题</a:t>
              </a:r>
            </a:p>
          </p:txBody>
        </p:sp>
      </p:grpSp>
      <p:grpSp>
        <p:nvGrpSpPr>
          <p:cNvPr id="45" name="c2-card-1"/>
          <p:cNvGrpSpPr/>
          <p:nvPr/>
        </p:nvGrpSpPr>
        <p:grpSpPr>
          <a:xfrm>
            <a:off x="7114222" y="1524000"/>
            <a:ext cx="4544378" cy="4402455"/>
            <a:chOff x="7114222" y="1524000"/>
            <a:chExt cx="4544378" cy="4402455"/>
          </a:xfrm>
        </p:grpSpPr>
        <p:sp>
          <p:nvSpPr>
            <p:cNvPr id="31" name="Rectangle 31"/>
            <p:cNvSpPr/>
            <p:nvPr/>
          </p:nvSpPr>
          <p:spPr>
            <a:xfrm>
              <a:off x="7114222" y="1524000"/>
              <a:ext cx="4544378" cy="4402455"/>
            </a:xfrm>
            <a:prstGeom prst="roundRect">
              <a:avLst>
                <a:gd name="adj" fmla="val 302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7123748" y="1657350"/>
              <a:ext cx="47625" cy="4135755"/>
            </a:xfrm>
            <a:prstGeom prst="roundRect">
              <a:avLst>
                <a:gd name="adj" fmla="val 50000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7361872" y="1733550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443229" y="17692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学习目标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7367588" y="2173605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525702" y="2110740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默写出单例的三个要点，并写出对应的私有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构造函数、静态字段、静态方法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7367588" y="2794635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525702" y="2731770"/>
              <a:ext cx="35966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写出六种 Java 实现，并说清每一种的线程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安全是靠什么保证的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7367588" y="3415665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7525702" y="3352800"/>
              <a:ext cx="36252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解释双重检查锁定为什么必须加 volatile，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说出指令重排序导致的具体后果</a:t>
              </a:r>
            </a:p>
          </p:txBody>
        </p:sp>
        <p:sp>
          <p:nvSpPr>
            <p:cNvPr id="41" name="Ellipse 41"/>
            <p:cNvSpPr/>
            <p:nvPr/>
          </p:nvSpPr>
          <p:spPr>
            <a:xfrm>
              <a:off x="7367588" y="4036695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7525702" y="3973830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说出反射、序列化、克隆、多类加载器各自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怎样破坏单例，以及对应的防御写法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7367588" y="4657725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7525702" y="4594860"/>
              <a:ext cx="3444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判断一个场景该用单例、多例还是依赖注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入，并说明集群环境下单例为什么失效</a:t>
              </a:r>
            </a:p>
          </p:txBody>
        </p:sp>
      </p:grpSp>
      <p:grpSp>
        <p:nvGrpSpPr>
          <p:cNvPr id="4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6" name="TextBox 46"/>
            <p:cNvSpPr txBox="1"/>
            <p:nvPr/>
          </p:nvSpPr>
          <p:spPr>
            <a:xfrm>
              <a:off x="528447" y="6581299"/>
              <a:ext cx="14808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单例模式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5B3FA0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EEAF7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3913632" cy="3351847"/>
            <a:chOff x="667512" y="1835468"/>
            <a:chExt cx="3913632" cy="335184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第一部分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3913632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动机、定义与结构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379285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先弄清为什么全局变量解决不了这件事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只该有一个实例的对象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全局变量的四条不足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定义的三个要点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一个角色与三样东西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14808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单例模式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204966" cy="909257"/>
            <a:chOff x="520446" y="342900"/>
            <a:chExt cx="620496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069782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7331" y="407194"/>
              <a:ext cx="19228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15 单例 · 动机、定义与结构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20496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动机：多出第二个实例，系统就开始出错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8092440" cy="293370"/>
            <a:chOff x="525780" y="1548765"/>
            <a:chExt cx="8092440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80924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张欣佳老师课件从任务管理器开场。这一类对象的共同点是，它管的东西本来就只有一份。</a:t>
              </a:r>
            </a:p>
          </p:txBody>
        </p:sp>
      </p:grpSp>
      <p:grpSp>
        <p:nvGrpSpPr>
          <p:cNvPr id="20" name="c1-bullets-1"/>
          <p:cNvGrpSpPr/>
          <p:nvPr/>
        </p:nvGrpSpPr>
        <p:grpSpPr>
          <a:xfrm>
            <a:off x="526161" y="1977866"/>
            <a:ext cx="5347259" cy="1934147"/>
            <a:chOff x="526161" y="1977866"/>
            <a:chExt cx="5347259" cy="1934147"/>
          </a:xfrm>
        </p:grpSpPr>
        <p:sp>
          <p:nvSpPr>
            <p:cNvPr id="9" name="TextBox 9"/>
            <p:cNvSpPr txBox="1"/>
            <p:nvPr/>
          </p:nvSpPr>
          <p:spPr>
            <a:xfrm>
              <a:off x="526161" y="1977866"/>
              <a:ext cx="192608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只该有一个的典型对象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41020" y="2376488"/>
              <a:ext cx="60960" cy="609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97611" y="2316956"/>
              <a:ext cx="498464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任务管理器：开出两个窗口，会看到两份互相打架的进程表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41020" y="2706052"/>
              <a:ext cx="60960" cy="609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97611" y="2645569"/>
              <a:ext cx="364652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文件系统：同一块磁盘的分配表只能有一份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41020" y="3035618"/>
              <a:ext cx="60960" cy="609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97611" y="2975134"/>
              <a:ext cx="493938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打印池 Print Spooler：任务队列分散了，打印顺序就乱了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541020" y="3364230"/>
              <a:ext cx="60960" cy="609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97611" y="3304699"/>
              <a:ext cx="479348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序列号、主键生成器：两份各自计数，必然发出重复的号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541020" y="3693795"/>
              <a:ext cx="60960" cy="609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97611" y="3633311"/>
              <a:ext cx="517580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配置对象、日志记录器：读两遍配置，两处行为就可能不一致</a:t>
              </a:r>
            </a:p>
          </p:txBody>
        </p:sp>
      </p:grpSp>
      <p:grpSp>
        <p:nvGrpSpPr>
          <p:cNvPr id="28" name="c1-card-2"/>
          <p:cNvGrpSpPr/>
          <p:nvPr/>
        </p:nvGrpSpPr>
        <p:grpSpPr>
          <a:xfrm>
            <a:off x="533400" y="4041458"/>
            <a:ext cx="5626418" cy="1574482"/>
            <a:chOff x="533400" y="4041458"/>
            <a:chExt cx="5626418" cy="1574482"/>
          </a:xfrm>
        </p:grpSpPr>
        <p:sp>
          <p:nvSpPr>
            <p:cNvPr id="21" name="Rectangle 21"/>
            <p:cNvSpPr/>
            <p:nvPr/>
          </p:nvSpPr>
          <p:spPr>
            <a:xfrm>
              <a:off x="533400" y="4041458"/>
              <a:ext cx="5626418" cy="1574482"/>
            </a:xfrm>
            <a:prstGeom prst="roundRect">
              <a:avLst>
                <a:gd name="adj" fmla="val 846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542925" y="4174808"/>
              <a:ext cx="47625" cy="1307782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775335" y="4245292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865543" y="428101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问题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376744" y="4285774"/>
              <a:ext cx="135260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光靠约定挡不住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68096" y="4637246"/>
              <a:ext cx="4901692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把“请不要再创建一个”写进注释或开发规范，只要有人忘了，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第二个实例照样建得出来。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69239" y="5224462"/>
              <a:ext cx="340461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需要的是语法上就做不到，而不是文档上不允许</a:t>
              </a:r>
            </a:p>
          </p:txBody>
        </p:sp>
      </p:grpSp>
      <p:grpSp>
        <p:nvGrpSpPr>
          <p:cNvPr id="41" name="c2-card-1"/>
          <p:cNvGrpSpPr/>
          <p:nvPr/>
        </p:nvGrpSpPr>
        <p:grpSpPr>
          <a:xfrm>
            <a:off x="6464618" y="1954530"/>
            <a:ext cx="5193982" cy="1844040"/>
            <a:chOff x="6464618" y="1954530"/>
            <a:chExt cx="5193982" cy="1844040"/>
          </a:xfrm>
        </p:grpSpPr>
        <p:sp>
          <p:nvSpPr>
            <p:cNvPr id="29" name="Rectangle 29"/>
            <p:cNvSpPr/>
            <p:nvPr/>
          </p:nvSpPr>
          <p:spPr>
            <a:xfrm>
              <a:off x="6464618" y="1954530"/>
              <a:ext cx="5193982" cy="1844040"/>
            </a:xfrm>
            <a:prstGeom prst="roundRect">
              <a:avLst>
                <a:gd name="adj" fmla="val 723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6474142" y="2087880"/>
              <a:ext cx="47625" cy="1577340"/>
            </a:xfrm>
            <a:prstGeom prst="roundRect">
              <a:avLst>
                <a:gd name="adj" fmla="val 50000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6706552" y="215836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797713" y="219408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目标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307961" y="2197894"/>
              <a:ext cx="173492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两个要求要同时满足</a:t>
              </a:r>
            </a:p>
          </p:txBody>
        </p:sp>
        <p:sp>
          <p:nvSpPr>
            <p:cNvPr id="34" name="Ellipse 34"/>
            <p:cNvSpPr/>
            <p:nvPr/>
          </p:nvSpPr>
          <p:spPr>
            <a:xfrm>
              <a:off x="6707505" y="2537460"/>
              <a:ext cx="201930" cy="20193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765850" y="2577798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997446" y="2550319"/>
              <a:ext cx="255691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这个类的实例 </a:t>
              </a:r>
              <a:r>
                <a:rPr lang="zh-CN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有且只有一个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6707505" y="2857500"/>
              <a:ext cx="201930" cy="20193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765850" y="2897838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997446" y="2870359"/>
              <a:ext cx="307304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这个实例要能被随时、方便地取到。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700456" y="3186112"/>
              <a:ext cx="443179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陈伟老师课件还补了两条：保留类原有的行为能力；能够从外部以</a:t>
              </a:r>
              <a:br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一致的方式访问</a:t>
              </a:r>
            </a:p>
          </p:txBody>
        </p:sp>
      </p:grpSp>
      <p:grpSp>
        <p:nvGrpSpPr>
          <p:cNvPr id="47" name="c2-card-2"/>
          <p:cNvGrpSpPr/>
          <p:nvPr/>
        </p:nvGrpSpPr>
        <p:grpSpPr>
          <a:xfrm>
            <a:off x="6464618" y="3984308"/>
            <a:ext cx="5193982" cy="1632585"/>
            <a:chOff x="6464618" y="3984308"/>
            <a:chExt cx="5193982" cy="1632585"/>
          </a:xfrm>
        </p:grpSpPr>
        <p:sp>
          <p:nvSpPr>
            <p:cNvPr id="42" name="Rectangle 42"/>
            <p:cNvSpPr/>
            <p:nvPr/>
          </p:nvSpPr>
          <p:spPr>
            <a:xfrm>
              <a:off x="6464618" y="3984308"/>
              <a:ext cx="5193982" cy="1632585"/>
            </a:xfrm>
            <a:prstGeom prst="roundRect">
              <a:avLst>
                <a:gd name="adj" fmla="val 8168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6668452" y="4188142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462F80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759613" y="422386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出路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7269861" y="4227671"/>
              <a:ext cx="269072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让类自身负责保存它的唯一实例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661214" y="4579144"/>
              <a:ext cx="4522978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这个类保证没有其他实例被创建，同时提供一个访问该实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例的方法。把创建权和访问权都收回类自己手里，就是单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例模式的模式动机。</a:t>
              </a:r>
            </a:p>
          </p:txBody>
        </p:sp>
      </p:grpSp>
      <p:grpSp>
        <p:nvGrpSpPr>
          <p:cNvPr id="54" name="takeaway"/>
          <p:cNvGrpSpPr/>
          <p:nvPr/>
        </p:nvGrpSpPr>
        <p:grpSpPr>
          <a:xfrm>
            <a:off x="533400" y="5844540"/>
            <a:ext cx="11125200" cy="518160"/>
            <a:chOff x="533400" y="5844540"/>
            <a:chExt cx="11125200" cy="518160"/>
          </a:xfrm>
        </p:grpSpPr>
        <p:sp>
          <p:nvSpPr>
            <p:cNvPr id="48" name="Rectangle 48"/>
            <p:cNvSpPr/>
            <p:nvPr/>
          </p:nvSpPr>
          <p:spPr>
            <a:xfrm>
              <a:off x="533400" y="5844540"/>
              <a:ext cx="11125200" cy="518160"/>
            </a:xfrm>
            <a:prstGeom prst="roundRect">
              <a:avLst>
                <a:gd name="adj" fmla="val 2205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52" name="Group 52"/>
            <p:cNvGrpSpPr/>
            <p:nvPr/>
          </p:nvGrpSpPr>
          <p:grpSpPr>
            <a:xfrm>
              <a:off x="738188" y="6003608"/>
              <a:ext cx="200026" cy="200026"/>
              <a:chOff x="738188" y="6003608"/>
              <a:chExt cx="200026" cy="200026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738188" y="600360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838200" y="607028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827088" y="610362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53" name="TextBox 53"/>
            <p:cNvSpPr txBox="1"/>
            <p:nvPr/>
          </p:nvSpPr>
          <p:spPr>
            <a:xfrm>
              <a:off x="1040511" y="6004084"/>
              <a:ext cx="651393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判断标准：这个对象代表的资源只有一份，那么代表它的实例也只该有一份。</a:t>
              </a:r>
            </a:p>
          </p:txBody>
        </p:sp>
      </p:grpSp>
      <p:grpSp>
        <p:nvGrpSpPr>
          <p:cNvPr id="5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5" name="TextBox 55"/>
            <p:cNvSpPr txBox="1"/>
            <p:nvPr/>
          </p:nvSpPr>
          <p:spPr>
            <a:xfrm>
              <a:off x="528447" y="6581299"/>
              <a:ext cx="14808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单例模式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488561" cy="909257"/>
            <a:chOff x="520446" y="342900"/>
            <a:chExt cx="448856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069782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7331" y="407194"/>
              <a:ext cx="19228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15 单例 · 动机、定义与结构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48856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先问一句：用全局变量行不行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5847474" cy="264033"/>
            <a:chOff x="526542" y="1545907"/>
            <a:chExt cx="5847474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584747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全局变量确实能让对象随时被访问，但它解决不了“只有一个”这半件事。</a:t>
              </a:r>
            </a:p>
          </p:txBody>
        </p:sp>
      </p:grpSp>
      <p:grpSp>
        <p:nvGrpSpPr>
          <p:cNvPr id="12" name="c1-code-1"/>
          <p:cNvGrpSpPr/>
          <p:nvPr/>
        </p:nvGrpSpPr>
        <p:grpSpPr>
          <a:xfrm>
            <a:off x="533400" y="1928812"/>
            <a:ext cx="5410200" cy="858202"/>
            <a:chOff x="533400" y="1928812"/>
            <a:chExt cx="5410200" cy="858202"/>
          </a:xfrm>
        </p:grpSpPr>
        <p:sp>
          <p:nvSpPr>
            <p:cNvPr id="9" name="Rectangle 9"/>
            <p:cNvSpPr/>
            <p:nvPr/>
          </p:nvSpPr>
          <p:spPr>
            <a:xfrm>
              <a:off x="533400" y="1928812"/>
              <a:ext cx="5410200" cy="858202"/>
            </a:xfrm>
            <a:prstGeom prst="roundRect">
              <a:avLst>
                <a:gd name="adj" fmla="val 11099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61797" y="2080736"/>
              <a:ext cx="162041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陈伟老师课件第 4 页的写法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61797" y="2340769"/>
              <a:ext cx="3152521" cy="3669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extern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Singleton instance;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全局变量声明 */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Singleton instance;       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全局变量定义 */</a:t>
              </a:r>
            </a:p>
          </p:txBody>
        </p:sp>
      </p:grpSp>
      <p:grpSp>
        <p:nvGrpSpPr>
          <p:cNvPr id="16" name="c1-code-2"/>
          <p:cNvGrpSpPr/>
          <p:nvPr/>
        </p:nvGrpSpPr>
        <p:grpSpPr>
          <a:xfrm>
            <a:off x="533400" y="2956560"/>
            <a:ext cx="5410200" cy="1737360"/>
            <a:chOff x="533400" y="2956560"/>
            <a:chExt cx="5410200" cy="1737360"/>
          </a:xfrm>
        </p:grpSpPr>
        <p:sp>
          <p:nvSpPr>
            <p:cNvPr id="13" name="Rectangle 13"/>
            <p:cNvSpPr/>
            <p:nvPr/>
          </p:nvSpPr>
          <p:spPr>
            <a:xfrm>
              <a:off x="533400" y="2956560"/>
              <a:ext cx="5410200" cy="1737360"/>
            </a:xfrm>
            <a:prstGeom prst="roundRect">
              <a:avLst>
                <a:gd name="adj" fmla="val 5482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61797" y="3108484"/>
              <a:ext cx="11526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 里等价的写法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61797" y="3368516"/>
              <a:ext cx="3637915" cy="12479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Config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谁都能取到它 */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static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final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Config CONFIG =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Config();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但也挡不住这一行 */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Config another =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Config();</a:t>
              </a:r>
            </a:p>
          </p:txBody>
        </p:sp>
      </p:grpSp>
      <p:grpSp>
        <p:nvGrpSpPr>
          <p:cNvPr id="23" name="c1-card-3"/>
          <p:cNvGrpSpPr/>
          <p:nvPr/>
        </p:nvGrpSpPr>
        <p:grpSpPr>
          <a:xfrm>
            <a:off x="533400" y="4863465"/>
            <a:ext cx="5410200" cy="1459230"/>
            <a:chOff x="533400" y="4863465"/>
            <a:chExt cx="5410200" cy="1459230"/>
          </a:xfrm>
        </p:grpSpPr>
        <p:sp>
          <p:nvSpPr>
            <p:cNvPr id="17" name="Rectangle 17"/>
            <p:cNvSpPr/>
            <p:nvPr/>
          </p:nvSpPr>
          <p:spPr>
            <a:xfrm>
              <a:off x="533400" y="4863465"/>
              <a:ext cx="5410200" cy="1459230"/>
            </a:xfrm>
            <a:prstGeom prst="roundRect">
              <a:avLst>
                <a:gd name="adj" fmla="val 913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542925" y="4996815"/>
              <a:ext cx="47625" cy="1192530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758190" y="5050155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850862" y="5083016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反例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323784" y="5085398"/>
              <a:ext cx="313141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常见的三种“全局”写法，毛病是一样的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51332" y="5411152"/>
              <a:ext cx="4771454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en-US" sz="135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public static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字段谁都能读、谁也都能改；常量类只放得下不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可变的值；在 main 里建好一个对象再层层传下去，参数列表会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越来越长。</a:t>
              </a:r>
            </a:p>
          </p:txBody>
        </p:sp>
      </p:grpSp>
      <p:grpSp>
        <p:nvGrpSpPr>
          <p:cNvPr id="35" name="c2-kv-1"/>
          <p:cNvGrpSpPr/>
          <p:nvPr/>
        </p:nvGrpSpPr>
        <p:grpSpPr>
          <a:xfrm>
            <a:off x="6241542" y="1950720"/>
            <a:ext cx="5417058" cy="2202371"/>
            <a:chOff x="6241542" y="1950720"/>
            <a:chExt cx="5417058" cy="2202371"/>
          </a:xfrm>
        </p:grpSpPr>
        <p:sp>
          <p:nvSpPr>
            <p:cNvPr id="24" name="TextBox 24"/>
            <p:cNvSpPr txBox="1"/>
            <p:nvPr/>
          </p:nvSpPr>
          <p:spPr>
            <a:xfrm>
              <a:off x="6241542" y="195072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存储位置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560754" y="1950720"/>
              <a:ext cx="3785616" cy="5173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全局对象放在数据区而不是堆区，大对象从程序启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动起就占着内存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48400" y="249078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241542" y="2597468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生命周期控制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560754" y="2597468"/>
              <a:ext cx="3785616" cy="5173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启动时构造、退出时析构，不能按需释放，也不能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重新实例化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48400" y="313753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241542" y="3243262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实例化安全性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560754" y="3243262"/>
              <a:ext cx="3785616" cy="5173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多线程同时初始化、构造过程中抛异常，都没有一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个统一的把关点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248400" y="378333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241542" y="3889058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挡不住第二个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560754" y="3889058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构造函数是公开的，任何人都可以再创建一个出来</a:t>
              </a:r>
            </a:p>
          </p:txBody>
        </p:sp>
      </p:grpSp>
      <p:grpSp>
        <p:nvGrpSpPr>
          <p:cNvPr id="41" name="c2-card-2"/>
          <p:cNvGrpSpPr/>
          <p:nvPr/>
        </p:nvGrpSpPr>
        <p:grpSpPr>
          <a:xfrm>
            <a:off x="6248400" y="4270058"/>
            <a:ext cx="5410200" cy="2052638"/>
            <a:chOff x="6248400" y="4270058"/>
            <a:chExt cx="5410200" cy="2052638"/>
          </a:xfrm>
        </p:grpSpPr>
        <p:sp>
          <p:nvSpPr>
            <p:cNvPr id="36" name="Rectangle 36"/>
            <p:cNvSpPr/>
            <p:nvPr/>
          </p:nvSpPr>
          <p:spPr>
            <a:xfrm>
              <a:off x="6248400" y="4270058"/>
              <a:ext cx="5410200" cy="2052638"/>
            </a:xfrm>
            <a:prstGeom prst="roundRect">
              <a:avLst>
                <a:gd name="adj" fmla="val 6497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6435090" y="4456748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462F8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527762" y="4489609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结论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000684" y="4491990"/>
              <a:ext cx="355690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前三条是 C++ 才操心的，第四条谁都躲不掉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428232" y="4817745"/>
              <a:ext cx="4822888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Java 有垃圾回收，存储位置和生命周期不用手工管。但“别人还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能再造一个”这条，在任何语言里都成立，它正是单例要解决的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那一条。</a:t>
              </a:r>
            </a:p>
          </p:txBody>
        </p:sp>
      </p:grpSp>
      <p:grpSp>
        <p:nvGrpSpPr>
          <p:cNvPr id="4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2" name="TextBox 42"/>
            <p:cNvSpPr txBox="1"/>
            <p:nvPr/>
          </p:nvSpPr>
          <p:spPr>
            <a:xfrm>
              <a:off x="528447" y="6581299"/>
              <a:ext cx="14808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单例模式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234809" cy="909257"/>
            <a:chOff x="520446" y="342900"/>
            <a:chExt cx="723480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069782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7331" y="407194"/>
              <a:ext cx="19228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15 单例 · 动机、定义与结构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23480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定义：确保只有一个实例，并自行向系统提供它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7" name="c1-card-1"/>
          <p:cNvGrpSpPr/>
          <p:nvPr/>
        </p:nvGrpSpPr>
        <p:grpSpPr>
          <a:xfrm>
            <a:off x="533400" y="1524000"/>
            <a:ext cx="5951220" cy="2291715"/>
            <a:chOff x="533400" y="1524000"/>
            <a:chExt cx="5951220" cy="229171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951220" cy="2291715"/>
            </a:xfrm>
            <a:prstGeom prst="roundRect">
              <a:avLst>
                <a:gd name="adj" fmla="val 581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2025015"/>
            </a:xfrm>
            <a:prstGeom prst="roundRect">
              <a:avLst>
                <a:gd name="adj" fmla="val 50000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7125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82078" y="1768792"/>
              <a:ext cx="30631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单例模式（Singleton Pattern）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73430" y="2129790"/>
              <a:ext cx="5158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确保某一个类只有一个实例，而且自行实例化并向整个系统提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供这个实例。这个类称为 </a:t>
              </a:r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单例类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，它提供全局访问的方法。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86765" y="2813685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44880" y="2750820"/>
              <a:ext cx="47872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英文原话：Ensure a class has only one instance, and</a:t>
              </a:r>
              <a:br/>
              <a:r>
                <a:rPr lang="en-US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provide a global point of access to it.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86765" y="3434715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4880" y="3371850"/>
              <a:ext cx="2438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别名：单件模式、单态模式</a:t>
              </a:r>
            </a:p>
          </p:txBody>
        </p:sp>
      </p:grpSp>
      <p:grpSp>
        <p:nvGrpSpPr>
          <p:cNvPr id="28" name="c1-bullets-2"/>
          <p:cNvGrpSpPr/>
          <p:nvPr/>
        </p:nvGrpSpPr>
        <p:grpSpPr>
          <a:xfrm>
            <a:off x="525780" y="4030980"/>
            <a:ext cx="3554730" cy="1337310"/>
            <a:chOff x="525780" y="4030980"/>
            <a:chExt cx="3554730" cy="1337310"/>
          </a:xfrm>
        </p:grpSpPr>
        <p:sp>
          <p:nvSpPr>
            <p:cNvPr id="18" name="TextBox 18"/>
            <p:cNvSpPr txBox="1"/>
            <p:nvPr/>
          </p:nvSpPr>
          <p:spPr>
            <a:xfrm>
              <a:off x="525780" y="403098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三个要点，缺一不可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533400" y="4371975"/>
              <a:ext cx="213360" cy="2133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595249" y="441426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34390" y="4385310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某个类只能有一个实例</a:t>
              </a:r>
            </a:p>
          </p:txBody>
        </p:sp>
        <p:sp>
          <p:nvSpPr>
            <p:cNvPr id="22" name="Ellipse 22"/>
            <p:cNvSpPr/>
            <p:nvPr/>
          </p:nvSpPr>
          <p:spPr>
            <a:xfrm>
              <a:off x="533400" y="4716780"/>
              <a:ext cx="213360" cy="2133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95249" y="475907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4390" y="4730115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它必须自行创建这个实例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533400" y="5061585"/>
              <a:ext cx="213360" cy="2133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595249" y="510387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34390" y="5074920"/>
              <a:ext cx="32461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它必须自行向整个系统提供这个实例</a:t>
              </a:r>
            </a:p>
          </p:txBody>
        </p:sp>
      </p:grpSp>
      <p:grpSp>
        <p:nvGrpSpPr>
          <p:cNvPr id="40" name="c2-kv-1"/>
          <p:cNvGrpSpPr/>
          <p:nvPr/>
        </p:nvGrpSpPr>
        <p:grpSpPr>
          <a:xfrm>
            <a:off x="6781800" y="1548765"/>
            <a:ext cx="4876800" cy="1613535"/>
            <a:chOff x="6781800" y="1548765"/>
            <a:chExt cx="4876800" cy="1613535"/>
          </a:xfrm>
        </p:grpSpPr>
        <p:sp>
          <p:nvSpPr>
            <p:cNvPr id="29" name="TextBox 29"/>
            <p:cNvSpPr txBox="1"/>
            <p:nvPr/>
          </p:nvSpPr>
          <p:spPr>
            <a:xfrm>
              <a:off x="6781800" y="1548765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按目的分类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490585" y="1548765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创建型模式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789420" y="1868805"/>
              <a:ext cx="486918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781800" y="1988820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按范围分类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8490585" y="198882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对象模式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789420" y="2308860"/>
              <a:ext cx="486918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781800" y="242887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角色个数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8490585" y="2428875"/>
              <a:ext cx="29997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只有一个，就是单例类 Singleton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789420" y="2748915"/>
              <a:ext cx="486918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781800" y="2868930"/>
              <a:ext cx="151995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在 GoF 里的位置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8490585" y="2868930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创建型五个模式中最简单的一个</a:t>
              </a:r>
            </a:p>
          </p:txBody>
        </p:sp>
      </p:grpSp>
      <p:grpSp>
        <p:nvGrpSpPr>
          <p:cNvPr id="50" name="c2-card-2"/>
          <p:cNvGrpSpPr/>
          <p:nvPr/>
        </p:nvGrpSpPr>
        <p:grpSpPr>
          <a:xfrm>
            <a:off x="6789420" y="3293745"/>
            <a:ext cx="4869180" cy="2016442"/>
            <a:chOff x="6789420" y="3293745"/>
            <a:chExt cx="4869180" cy="2016442"/>
          </a:xfrm>
        </p:grpSpPr>
        <p:sp>
          <p:nvSpPr>
            <p:cNvPr id="41" name="Rectangle 41"/>
            <p:cNvSpPr/>
            <p:nvPr/>
          </p:nvSpPr>
          <p:spPr>
            <a:xfrm>
              <a:off x="6789420" y="3293745"/>
              <a:ext cx="4869180" cy="2016442"/>
            </a:xfrm>
            <a:prstGeom prst="roundRect">
              <a:avLst>
                <a:gd name="adj" fmla="val 661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6798945" y="3427095"/>
              <a:ext cx="47625" cy="1749742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7037070" y="3503295"/>
              <a:ext cx="636270" cy="25717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7123328" y="3539014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怎么记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7780020" y="3538538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三个要点各对应一行代码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7029450" y="3899535"/>
              <a:ext cx="288264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第一点靠 </a:t>
              </a:r>
              <a:r>
                <a:rPr lang="en-US" sz="150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private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构造函数落实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7029450" y="4234815"/>
              <a:ext cx="380142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第二点靠静态私有成员变量 </a:t>
              </a:r>
              <a:r>
                <a:rPr lang="en-US" sz="150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instance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落实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7029450" y="4570095"/>
              <a:ext cx="396004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第三点靠静态公有方法 </a:t>
              </a:r>
              <a:r>
                <a:rPr lang="en-US" sz="150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getInstance()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落实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7030593" y="4902041"/>
              <a:ext cx="225303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默写时按这个顺序写，不会漏</a:t>
              </a:r>
            </a:p>
          </p:txBody>
        </p:sp>
      </p:grpSp>
      <p:grpSp>
        <p:nvGrpSpPr>
          <p:cNvPr id="5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1" name="TextBox 51"/>
            <p:cNvSpPr txBox="1"/>
            <p:nvPr/>
          </p:nvSpPr>
          <p:spPr>
            <a:xfrm>
              <a:off x="528447" y="6581299"/>
              <a:ext cx="14808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单例模式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145280" cy="909257"/>
            <a:chOff x="520446" y="342900"/>
            <a:chExt cx="414528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069782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7331" y="407194"/>
              <a:ext cx="19228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15 单例 · 动机、定义与结构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14528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结构：一个角色，三样东西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6617113" cy="264033"/>
            <a:chOff x="526542" y="1545907"/>
            <a:chExt cx="6617113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661711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单例模式是 GoF 二十三个模式里唯一只有一个角色的模式，结构图上只有一个类。</a:t>
              </a:r>
            </a:p>
          </p:txBody>
        </p:sp>
      </p:grpSp>
      <p:grpSp>
        <p:nvGrpSpPr>
          <p:cNvPr id="30" name="c1-uml-1"/>
          <p:cNvGrpSpPr/>
          <p:nvPr/>
        </p:nvGrpSpPr>
        <p:grpSpPr>
          <a:xfrm>
            <a:off x="1368742" y="2727008"/>
            <a:ext cx="4223385" cy="1402079"/>
            <a:chOff x="1368742" y="2727008"/>
            <a:chExt cx="4223385" cy="1402079"/>
          </a:xfrm>
        </p:grpSpPr>
        <p:sp>
          <p:nvSpPr>
            <p:cNvPr id="9" name="Freeform 9"/>
            <p:cNvSpPr/>
            <p:nvPr/>
          </p:nvSpPr>
          <p:spPr>
            <a:xfrm>
              <a:off x="2511742" y="3264218"/>
              <a:ext cx="1402080" cy="9525"/>
            </a:xfrm>
            <a:custGeom>
              <a:avLst/>
              <a:gdLst/>
              <a:ahLst/>
              <a:cxnLst/>
              <a:rect l="l" t="t" r="r" b="b"/>
              <a:pathLst>
                <a:path w="1402080" h="9525">
                  <a:moveTo>
                    <a:pt x="0" y="0"/>
                  </a:moveTo>
                  <a:lnTo>
                    <a:pt x="140208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  <a:custDash>
                <a:ds d="375000" sp="250000"/>
              </a:custDash>
            </a:ln>
          </p:spPr>
        </p:sp>
        <p:sp>
          <p:nvSpPr>
            <p:cNvPr id="10" name="Freeform 10"/>
            <p:cNvSpPr/>
            <p:nvPr/>
          </p:nvSpPr>
          <p:spPr>
            <a:xfrm>
              <a:off x="3809048" y="3207068"/>
              <a:ext cx="104775" cy="115253"/>
            </a:xfrm>
            <a:custGeom>
              <a:avLst/>
              <a:gdLst/>
              <a:ahLst/>
              <a:cxnLst/>
              <a:rect l="l" t="t" r="r" b="b"/>
              <a:pathLst>
                <a:path w="104775" h="115253">
                  <a:moveTo>
                    <a:pt x="0" y="115253"/>
                  </a:moveTo>
                  <a:lnTo>
                    <a:pt x="104775" y="57150"/>
                  </a:ln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11" name="Freeform 11"/>
            <p:cNvSpPr/>
            <p:nvPr/>
          </p:nvSpPr>
          <p:spPr>
            <a:xfrm>
              <a:off x="4384358" y="3802380"/>
              <a:ext cx="738187" cy="323850"/>
            </a:xfrm>
            <a:custGeom>
              <a:avLst/>
              <a:gdLst/>
              <a:ahLst/>
              <a:cxnLst/>
              <a:rect l="l" t="t" r="r" b="b"/>
              <a:pathLst>
                <a:path w="738187" h="323850">
                  <a:moveTo>
                    <a:pt x="0" y="0"/>
                  </a:moveTo>
                  <a:lnTo>
                    <a:pt x="0" y="323850"/>
                  </a:lnTo>
                  <a:lnTo>
                    <a:pt x="738187" y="323850"/>
                  </a:lnTo>
                  <a:lnTo>
                    <a:pt x="738187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5065395" y="3802380"/>
              <a:ext cx="115253" cy="104775"/>
            </a:xfrm>
            <a:custGeom>
              <a:avLst/>
              <a:gdLst/>
              <a:ahLst/>
              <a:cxnLst/>
              <a:rect l="l" t="t" r="r" b="b"/>
              <a:pathLst>
                <a:path w="115253" h="104775">
                  <a:moveTo>
                    <a:pt x="115253" y="104775"/>
                  </a:moveTo>
                  <a:lnTo>
                    <a:pt x="57150" y="0"/>
                  </a:lnTo>
                  <a:lnTo>
                    <a:pt x="0" y="104775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13" name="Rectangle 13"/>
            <p:cNvSpPr/>
            <p:nvPr/>
          </p:nvSpPr>
          <p:spPr>
            <a:xfrm>
              <a:off x="1368742" y="2970848"/>
              <a:ext cx="1143000" cy="587692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1375410" y="2977515"/>
              <a:ext cx="1128712" cy="227648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1368742" y="3201352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1368742" y="3296602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3913822" y="2727008"/>
              <a:ext cx="1678305" cy="1075372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3921442" y="2734628"/>
              <a:ext cx="1664018" cy="227648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3913822" y="2957512"/>
              <a:ext cx="1678305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3913822" y="3214688"/>
              <a:ext cx="1678305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739526" y="3026569"/>
              <a:ext cx="40143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Client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440180" y="3366135"/>
              <a:ext cx="67606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doWork()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437868" y="2782729"/>
              <a:ext cx="63021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Singleton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3985260" y="3027045"/>
              <a:ext cx="129807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- instance : Singleton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3985260" y="3284220"/>
              <a:ext cx="1535430" cy="50006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275"/>
                </a:lnSpc>
              </a:pPr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- Singleton()</a:t>
              </a:r>
              <a:br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getInstance() : Singleton</a:t>
              </a:r>
              <a:br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operation() : void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2993708" y="3068002"/>
              <a:ext cx="438150" cy="165735"/>
            </a:xfrm>
            <a:prstGeom prst="roundRect">
              <a:avLst>
                <a:gd name="adj" fmla="val 22989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3026283" y="3090862"/>
              <a:ext cx="37299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取实例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4468178" y="3930015"/>
              <a:ext cx="569595" cy="165735"/>
            </a:xfrm>
            <a:prstGeom prst="roundRect">
              <a:avLst>
                <a:gd name="adj" fmla="val 22989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4496810" y="3952875"/>
              <a:ext cx="51233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instance</a:t>
              </a:r>
            </a:p>
          </p:txBody>
        </p:sp>
      </p:grpSp>
      <p:grpSp>
        <p:nvGrpSpPr>
          <p:cNvPr id="37" name="c1-callout-2"/>
          <p:cNvGrpSpPr/>
          <p:nvPr/>
        </p:nvGrpSpPr>
        <p:grpSpPr>
          <a:xfrm>
            <a:off x="533400" y="4765358"/>
            <a:ext cx="5626418" cy="1228725"/>
            <a:chOff x="533400" y="4765358"/>
            <a:chExt cx="5626418" cy="1228725"/>
          </a:xfrm>
        </p:grpSpPr>
        <p:sp>
          <p:nvSpPr>
            <p:cNvPr id="31" name="Rectangle 31"/>
            <p:cNvSpPr/>
            <p:nvPr/>
          </p:nvSpPr>
          <p:spPr>
            <a:xfrm>
              <a:off x="533400" y="4765358"/>
              <a:ext cx="5626418" cy="1228725"/>
            </a:xfrm>
            <a:prstGeom prst="roundRect">
              <a:avLst>
                <a:gd name="adj" fmla="val 9302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35" name="Group 35"/>
            <p:cNvGrpSpPr/>
            <p:nvPr/>
          </p:nvGrpSpPr>
          <p:grpSpPr>
            <a:xfrm>
              <a:off x="738188" y="5279708"/>
              <a:ext cx="200026" cy="200025"/>
              <a:chOff x="738188" y="5279708"/>
              <a:chExt cx="200026" cy="200025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738188" y="527970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777926" y="532415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812642" y="543528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36" name="TextBox 36"/>
            <p:cNvSpPr txBox="1"/>
            <p:nvPr/>
          </p:nvSpPr>
          <p:spPr>
            <a:xfrm>
              <a:off x="1041273" y="5173504"/>
              <a:ext cx="4727194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下方那条指向自己的关联线，表示单例类持有自己的唯一实例，角</a:t>
              </a:r>
              <a:br/>
              <a:r>
                <a:rPr lang="zh-CN" sz="128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色名就叫 instance。</a:t>
              </a:r>
            </a:p>
          </p:txBody>
        </p:sp>
      </p:grpSp>
      <p:grpSp>
        <p:nvGrpSpPr>
          <p:cNvPr id="49" name="c2-kv-1"/>
          <p:cNvGrpSpPr/>
          <p:nvPr/>
        </p:nvGrpSpPr>
        <p:grpSpPr>
          <a:xfrm>
            <a:off x="6458141" y="1949291"/>
            <a:ext cx="5200459" cy="2330577"/>
            <a:chOff x="6458141" y="1949291"/>
            <a:chExt cx="5200459" cy="2330577"/>
          </a:xfrm>
        </p:grpSpPr>
        <p:sp>
          <p:nvSpPr>
            <p:cNvPr id="38" name="TextBox 38"/>
            <p:cNvSpPr txBox="1"/>
            <p:nvPr/>
          </p:nvSpPr>
          <p:spPr>
            <a:xfrm>
              <a:off x="6458141" y="1949291"/>
              <a:ext cx="19371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- instance : Singleton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8590788" y="1949291"/>
              <a:ext cx="2776474" cy="48939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90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静态私有成员变量，保存唯一实例。静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态才能在一个对象都没有时存在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464618" y="2461260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458141" y="2563654"/>
              <a:ext cx="117818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- Singleton()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590788" y="2563654"/>
              <a:ext cx="2776474" cy="48939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90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私有构造函数，外部创建不出来，只有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类自己能调用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6464618" y="3074670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458141" y="3177064"/>
              <a:ext cx="14223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+ getInstance()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8590788" y="3177064"/>
              <a:ext cx="2776474" cy="48939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90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静态公有工厂方法，检验实例是否存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在，不存在就创建并存进上面那个变量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6464618" y="3689032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6458141" y="3790474"/>
              <a:ext cx="12161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+ operation()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8590788" y="3790474"/>
              <a:ext cx="2776474" cy="48939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90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单例类本身的业务方法，和普通类没有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区别</a:t>
              </a:r>
            </a:p>
          </p:txBody>
        </p:sp>
      </p:grpSp>
      <p:grpSp>
        <p:nvGrpSpPr>
          <p:cNvPr id="57" name="c2-card-2"/>
          <p:cNvGrpSpPr/>
          <p:nvPr/>
        </p:nvGrpSpPr>
        <p:grpSpPr>
          <a:xfrm>
            <a:off x="6464618" y="4394835"/>
            <a:ext cx="5193982" cy="1600200"/>
            <a:chOff x="6464618" y="4394835"/>
            <a:chExt cx="5193982" cy="1600200"/>
          </a:xfrm>
        </p:grpSpPr>
        <p:sp>
          <p:nvSpPr>
            <p:cNvPr id="50" name="Rectangle 50"/>
            <p:cNvSpPr/>
            <p:nvPr/>
          </p:nvSpPr>
          <p:spPr>
            <a:xfrm>
              <a:off x="6464618" y="4394835"/>
              <a:ext cx="5193982" cy="1600200"/>
            </a:xfrm>
            <a:prstGeom prst="roundRect">
              <a:avLst>
                <a:gd name="adj" fmla="val 833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1" name="Rectangle 51"/>
            <p:cNvSpPr/>
            <p:nvPr/>
          </p:nvSpPr>
          <p:spPr>
            <a:xfrm>
              <a:off x="6474142" y="4528185"/>
              <a:ext cx="47625" cy="1333500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52" name="Rectangle 52"/>
            <p:cNvSpPr/>
            <p:nvPr/>
          </p:nvSpPr>
          <p:spPr>
            <a:xfrm>
              <a:off x="6683692" y="4575810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6776364" y="460867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易错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7250620" y="4615339"/>
              <a:ext cx="215618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getInstance 必须是静态的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6677216" y="4931569"/>
              <a:ext cx="4580890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它要在“一个实例都还没有”的时候被调用，所以不能写成实例方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法。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6678359" y="5455920"/>
              <a:ext cx="4604576" cy="3987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22"/>
                </a:lnSpc>
              </a:pPr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同理，</a:t>
              </a:r>
              <a:r>
                <a:rPr lang="en-US" sz="105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instance</a:t>
              </a:r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 xml:space="preserve"> 也必须是静态字段，否则它会跟着实例走，根本起不到看门的</a:t>
              </a:r>
              <a:br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作用</a:t>
              </a:r>
            </a:p>
          </p:txBody>
        </p:sp>
      </p:grpSp>
      <p:grpSp>
        <p:nvGrpSpPr>
          <p:cNvPr id="6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8" name="TextBox 58"/>
            <p:cNvSpPr txBox="1"/>
            <p:nvPr/>
          </p:nvSpPr>
          <p:spPr>
            <a:xfrm>
              <a:off x="528447" y="6581299"/>
              <a:ext cx="14808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单例模式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175123" cy="909257"/>
            <a:chOff x="520446" y="342900"/>
            <a:chExt cx="517512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069782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7331" y="407194"/>
              <a:ext cx="19228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15 单例 · 动机、定义与结构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17512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最小实现：把三个要点翻译成代码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6755469" cy="308039"/>
            <a:chOff x="525399" y="1550194"/>
            <a:chExt cx="6755469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6755469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张欣佳老师课件第 8 页给的原始代码，本来就是 Java，这里原样保留。</a:t>
              </a:r>
            </a:p>
          </p:txBody>
        </p:sp>
      </p:grpSp>
      <p:grpSp>
        <p:nvGrpSpPr>
          <p:cNvPr id="15" name="c1-code-1"/>
          <p:cNvGrpSpPr/>
          <p:nvPr/>
        </p:nvGrpSpPr>
        <p:grpSpPr>
          <a:xfrm>
            <a:off x="533400" y="1967865"/>
            <a:ext cx="6059805" cy="3545205"/>
            <a:chOff x="533400" y="1967865"/>
            <a:chExt cx="6059805" cy="3545205"/>
          </a:xfrm>
        </p:grpSpPr>
        <p:sp>
          <p:nvSpPr>
            <p:cNvPr id="9" name="Rectangle 9"/>
            <p:cNvSpPr/>
            <p:nvPr/>
          </p:nvSpPr>
          <p:spPr>
            <a:xfrm>
              <a:off x="533400" y="1967865"/>
              <a:ext cx="6059805" cy="3545205"/>
            </a:xfrm>
            <a:prstGeom prst="roundRect">
              <a:avLst>
                <a:gd name="adj" fmla="val 2687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61797" y="2119789"/>
              <a:ext cx="3189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52450" y="2745105"/>
              <a:ext cx="6021705" cy="20288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2" name="Rectangle 12"/>
            <p:cNvSpPr/>
            <p:nvPr/>
          </p:nvSpPr>
          <p:spPr>
            <a:xfrm>
              <a:off x="552450" y="3353752"/>
              <a:ext cx="6021705" cy="20288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552450" y="4165282"/>
              <a:ext cx="6021705" cy="20288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61035" y="2381726"/>
              <a:ext cx="3531870" cy="3060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Singleton {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静态私有成员变量 */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static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Singleton instance =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null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私有构造函数 */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Singleton() { 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静态公有工厂方法，返回唯一实例 */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static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Singleton getInstance() {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(instance ==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null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 {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instance =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Singleton();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instance;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23" name="c2-bullets-1"/>
          <p:cNvGrpSpPr/>
          <p:nvPr/>
        </p:nvGrpSpPr>
        <p:grpSpPr>
          <a:xfrm>
            <a:off x="6890385" y="1992630"/>
            <a:ext cx="3302317" cy="1337310"/>
            <a:chOff x="6890385" y="1992630"/>
            <a:chExt cx="3302317" cy="1337310"/>
          </a:xfrm>
        </p:grpSpPr>
        <p:sp>
          <p:nvSpPr>
            <p:cNvPr id="16" name="TextBox 16"/>
            <p:cNvSpPr txBox="1"/>
            <p:nvPr/>
          </p:nvSpPr>
          <p:spPr>
            <a:xfrm>
              <a:off x="6890385" y="199263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实现过程中注意三点</a:t>
              </a:r>
            </a:p>
          </p:txBody>
        </p:sp>
        <p:sp>
          <p:nvSpPr>
            <p:cNvPr id="17" name="Freeform 17"/>
            <p:cNvSpPr/>
            <p:nvPr/>
          </p:nvSpPr>
          <p:spPr>
            <a:xfrm>
              <a:off x="6898005" y="2378392"/>
              <a:ext cx="143827" cy="116205"/>
            </a:xfrm>
            <a:custGeom>
              <a:avLst/>
              <a:gdLst/>
              <a:ahLst/>
              <a:cxnLst/>
              <a:rect l="l" t="t" r="r" b="b"/>
              <a:pathLst>
                <a:path w="143827" h="116205">
                  <a:moveTo>
                    <a:pt x="0" y="61912"/>
                  </a:moveTo>
                  <a:lnTo>
                    <a:pt x="54292" y="116205"/>
                  </a:lnTo>
                  <a:lnTo>
                    <a:pt x="143827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7148512" y="2346960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单例类的构造函数为私有</a:t>
              </a:r>
            </a:p>
          </p:txBody>
        </p:sp>
        <p:sp>
          <p:nvSpPr>
            <p:cNvPr id="19" name="Freeform 19"/>
            <p:cNvSpPr/>
            <p:nvPr/>
          </p:nvSpPr>
          <p:spPr>
            <a:xfrm>
              <a:off x="6898005" y="2723198"/>
              <a:ext cx="143827" cy="116205"/>
            </a:xfrm>
            <a:custGeom>
              <a:avLst/>
              <a:gdLst/>
              <a:ahLst/>
              <a:cxnLst/>
              <a:rect l="l" t="t" r="r" b="b"/>
              <a:pathLst>
                <a:path w="143827" h="116205">
                  <a:moveTo>
                    <a:pt x="0" y="61912"/>
                  </a:moveTo>
                  <a:lnTo>
                    <a:pt x="54292" y="116205"/>
                  </a:lnTo>
                  <a:lnTo>
                    <a:pt x="143827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148512" y="2691765"/>
              <a:ext cx="30441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提供一个自身的静态私有成员变量</a:t>
              </a:r>
            </a:p>
          </p:txBody>
        </p:sp>
        <p:sp>
          <p:nvSpPr>
            <p:cNvPr id="21" name="Freeform 21"/>
            <p:cNvSpPr/>
            <p:nvPr/>
          </p:nvSpPr>
          <p:spPr>
            <a:xfrm>
              <a:off x="6898005" y="3068002"/>
              <a:ext cx="143827" cy="116205"/>
            </a:xfrm>
            <a:custGeom>
              <a:avLst/>
              <a:gdLst/>
              <a:ahLst/>
              <a:cxnLst/>
              <a:rect l="l" t="t" r="r" b="b"/>
              <a:pathLst>
                <a:path w="143827" h="116205">
                  <a:moveTo>
                    <a:pt x="0" y="61912"/>
                  </a:moveTo>
                  <a:lnTo>
                    <a:pt x="54292" y="116205"/>
                  </a:lnTo>
                  <a:lnTo>
                    <a:pt x="143827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7148512" y="3036570"/>
              <a:ext cx="26403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提供一个公有的静态工厂方法</a:t>
              </a:r>
            </a:p>
          </p:txBody>
        </p:sp>
      </p:grpSp>
      <p:grpSp>
        <p:nvGrpSpPr>
          <p:cNvPr id="30" name="c2-card-2"/>
          <p:cNvGrpSpPr/>
          <p:nvPr/>
        </p:nvGrpSpPr>
        <p:grpSpPr>
          <a:xfrm>
            <a:off x="6898005" y="3461385"/>
            <a:ext cx="4760595" cy="2051685"/>
            <a:chOff x="6898005" y="3461385"/>
            <a:chExt cx="4760595" cy="2051685"/>
          </a:xfrm>
        </p:grpSpPr>
        <p:sp>
          <p:nvSpPr>
            <p:cNvPr id="24" name="Rectangle 24"/>
            <p:cNvSpPr/>
            <p:nvPr/>
          </p:nvSpPr>
          <p:spPr>
            <a:xfrm>
              <a:off x="6898005" y="3461385"/>
              <a:ext cx="4760595" cy="2051685"/>
            </a:xfrm>
            <a:prstGeom prst="roundRect">
              <a:avLst>
                <a:gd name="adj" fmla="val 650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6907530" y="3594735"/>
              <a:ext cx="47625" cy="1784985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7145655" y="367093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7235863" y="370665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限制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745730" y="3706178"/>
              <a:ext cx="2438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这段代码只在单线程下正确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138035" y="4067175"/>
              <a:ext cx="40443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en-US" sz="150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if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判断和赋值之间可能被别的线程插进来，两个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线程会各建一个实例。第二部分就从这里展开。</a:t>
              </a:r>
            </a:p>
          </p:txBody>
        </p:sp>
      </p:grpSp>
      <p:grpSp>
        <p:nvGrpSpPr>
          <p:cNvPr id="36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31" name="Rectangle 31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34" name="Group 34"/>
            <p:cNvGrpSpPr/>
            <p:nvPr/>
          </p:nvGrpSpPr>
          <p:grpSpPr>
            <a:xfrm>
              <a:off x="738188" y="5995990"/>
              <a:ext cx="200023" cy="200023"/>
              <a:chOff x="738188" y="5995990"/>
              <a:chExt cx="200023" cy="200023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738188" y="599599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871538" y="6062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35" name="TextBox 35"/>
            <p:cNvSpPr txBox="1"/>
            <p:nvPr/>
          </p:nvSpPr>
          <p:spPr>
            <a:xfrm>
              <a:off x="1040130" y="5991225"/>
              <a:ext cx="93040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工厂方法负责检验实例的存在性并实例化自己，再存储在静态成员变量中，以确保只有一个实例被创建。</a:t>
              </a:r>
            </a:p>
          </p:txBody>
        </p:sp>
      </p:grpSp>
      <p:grpSp>
        <p:nvGrpSpPr>
          <p:cNvPr id="3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7" name="TextBox 37"/>
            <p:cNvSpPr txBox="1"/>
            <p:nvPr/>
          </p:nvSpPr>
          <p:spPr>
            <a:xfrm>
              <a:off x="528447" y="6581299"/>
              <a:ext cx="14808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单例模式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5B3FA0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EEAF7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3420085" cy="3351847"/>
            <a:chOff x="667512" y="1835468"/>
            <a:chExt cx="3420085" cy="335184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第二部分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3420085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六种 Java 写法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223799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线程安全到底是谁给的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饿汉与裸懒汉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同步方法与双重检查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静态内部类与枚举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怎么选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14808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单例模式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801999" cy="909257"/>
            <a:chOff x="520446" y="342900"/>
            <a:chExt cx="380199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91928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7905" y="407194"/>
              <a:ext cx="17693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15 单例 · 六种 Java 写法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80199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六种写法，先看一张全表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7481758" cy="308039"/>
            <a:chOff x="525399" y="1550194"/>
            <a:chExt cx="7481758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7481758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后面每一页展开一种。表里的“延迟创建”指实例是不是等到第一次调用时才建。</a:t>
              </a:r>
            </a:p>
          </p:txBody>
        </p:sp>
      </p:grpSp>
      <p:grpSp>
        <p:nvGrpSpPr>
          <p:cNvPr id="69" name="c1-table-1"/>
          <p:cNvGrpSpPr/>
          <p:nvPr/>
        </p:nvGrpSpPr>
        <p:grpSpPr>
          <a:xfrm>
            <a:off x="533400" y="1967865"/>
            <a:ext cx="11125200" cy="3141345"/>
            <a:chOff x="533400" y="1967865"/>
            <a:chExt cx="11125200" cy="3141345"/>
          </a:xfrm>
        </p:grpSpPr>
        <p:sp>
          <p:nvSpPr>
            <p:cNvPr id="9" name="Rectangle 9"/>
            <p:cNvSpPr/>
            <p:nvPr/>
          </p:nvSpPr>
          <p:spPr>
            <a:xfrm>
              <a:off x="533400" y="1967865"/>
              <a:ext cx="11125200" cy="448628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467129" y="210264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写法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018841" y="210264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延迟创建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4242803" y="210264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线程安全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497678" y="2102644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防反射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579286" y="210264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防序列化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335300" y="2102644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关键点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41223" y="2551271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饿汉式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866263" y="2551271"/>
              <a:ext cx="1852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否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090226" y="2551271"/>
              <a:ext cx="1852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是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314188" y="2551271"/>
              <a:ext cx="1852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否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426708" y="2551271"/>
              <a:ext cx="1852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否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49718" y="2551271"/>
              <a:ext cx="316141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类初始化阶段就建好，JVM 保证只建一次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533400" y="286035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533400" y="2865120"/>
              <a:ext cx="11125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41223" y="3000851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懒汉式（裸写）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2866263" y="3000851"/>
              <a:ext cx="1852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是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3991928" y="2874645"/>
              <a:ext cx="1204912" cy="429578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090226" y="3000851"/>
              <a:ext cx="1852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否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314188" y="3000851"/>
              <a:ext cx="1852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否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26708" y="3000851"/>
              <a:ext cx="1852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否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649718" y="3000851"/>
              <a:ext cx="276997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教学反例，多线程下会建出两个实例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533400" y="3308985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41223" y="3449479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同步方法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2866263" y="3449479"/>
              <a:ext cx="1852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是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4090226" y="3449479"/>
              <a:ext cx="1852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是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5314188" y="3449479"/>
              <a:ext cx="1852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否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426708" y="3449479"/>
              <a:ext cx="1852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否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649718" y="3449479"/>
              <a:ext cx="294228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正确，但实例建好后每次取用仍要抢锁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533400" y="375761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533400" y="3762375"/>
              <a:ext cx="11125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41223" y="3898106"/>
              <a:ext cx="158919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双重检查加 volatile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2866263" y="3898106"/>
              <a:ext cx="1852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是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4090226" y="3898106"/>
              <a:ext cx="1852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是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5314188" y="3898106"/>
              <a:ext cx="1852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否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426708" y="3898106"/>
              <a:ext cx="1852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否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7649718" y="3898106"/>
              <a:ext cx="276135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只有首次创建走锁，volatile 不能省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533400" y="420719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641223" y="4346734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静态内部类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2866263" y="4346734"/>
              <a:ext cx="1852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是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4090226" y="4346734"/>
              <a:ext cx="1852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是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5314188" y="4346734"/>
              <a:ext cx="1852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否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6426708" y="4346734"/>
              <a:ext cx="1852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否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7649718" y="4346734"/>
              <a:ext cx="259765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不写一行同步代码，靠类初始化锁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533400" y="4655820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4" name="Rectangle 54"/>
            <p:cNvSpPr/>
            <p:nvPr/>
          </p:nvSpPr>
          <p:spPr>
            <a:xfrm>
              <a:off x="533400" y="4660582"/>
              <a:ext cx="11125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641223" y="479536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枚举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2866263" y="4795361"/>
              <a:ext cx="1852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否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4090226" y="4795361"/>
              <a:ext cx="1852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是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5215890" y="4670108"/>
              <a:ext cx="1093470" cy="429578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5314188" y="4795361"/>
              <a:ext cx="1852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是</a:t>
              </a:r>
            </a:p>
          </p:txBody>
        </p:sp>
        <p:sp>
          <p:nvSpPr>
            <p:cNvPr id="60" name="Rectangle 60"/>
            <p:cNvSpPr/>
            <p:nvPr/>
          </p:nvSpPr>
          <p:spPr>
            <a:xfrm>
              <a:off x="6328410" y="4670108"/>
              <a:ext cx="1204912" cy="429578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6426708" y="4795361"/>
              <a:ext cx="1852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是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7649718" y="4795361"/>
              <a:ext cx="195522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JVM 从语言层面保证唯一</a:t>
              </a:r>
            </a:p>
          </p:txBody>
        </p:sp>
        <p:sp>
          <p:nvSpPr>
            <p:cNvPr id="63" name="Rectangle 63"/>
            <p:cNvSpPr/>
            <p:nvPr/>
          </p:nvSpPr>
          <p:spPr>
            <a:xfrm>
              <a:off x="533400" y="1967865"/>
              <a:ext cx="11125200" cy="314134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64" name="Rectangle 64"/>
            <p:cNvSpPr/>
            <p:nvPr/>
          </p:nvSpPr>
          <p:spPr>
            <a:xfrm>
              <a:off x="2753678" y="1967865"/>
              <a:ext cx="9525" cy="314134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5" name="Rectangle 65"/>
            <p:cNvSpPr/>
            <p:nvPr/>
          </p:nvSpPr>
          <p:spPr>
            <a:xfrm>
              <a:off x="3977640" y="1967865"/>
              <a:ext cx="9525" cy="314134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6" name="Rectangle 66"/>
            <p:cNvSpPr/>
            <p:nvPr/>
          </p:nvSpPr>
          <p:spPr>
            <a:xfrm>
              <a:off x="5201602" y="1967865"/>
              <a:ext cx="9525" cy="314134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7" name="Rectangle 67"/>
            <p:cNvSpPr/>
            <p:nvPr/>
          </p:nvSpPr>
          <p:spPr>
            <a:xfrm>
              <a:off x="6314122" y="1967865"/>
              <a:ext cx="9525" cy="314134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8" name="Rectangle 68"/>
            <p:cNvSpPr/>
            <p:nvPr/>
          </p:nvSpPr>
          <p:spPr>
            <a:xfrm>
              <a:off x="7537132" y="1967865"/>
              <a:ext cx="9525" cy="314134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76" name="c1-callout-2"/>
          <p:cNvGrpSpPr/>
          <p:nvPr/>
        </p:nvGrpSpPr>
        <p:grpSpPr>
          <a:xfrm>
            <a:off x="533400" y="5299710"/>
            <a:ext cx="11125200" cy="1062990"/>
            <a:chOff x="533400" y="5299710"/>
            <a:chExt cx="11125200" cy="1062990"/>
          </a:xfrm>
        </p:grpSpPr>
        <p:sp>
          <p:nvSpPr>
            <p:cNvPr id="70" name="Rectangle 70"/>
            <p:cNvSpPr/>
            <p:nvPr/>
          </p:nvSpPr>
          <p:spPr>
            <a:xfrm>
              <a:off x="533400" y="5299710"/>
              <a:ext cx="11125200" cy="1062990"/>
            </a:xfrm>
            <a:prstGeom prst="roundRect">
              <a:avLst>
                <a:gd name="adj" fmla="val 10753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74" name="Group 74"/>
            <p:cNvGrpSpPr/>
            <p:nvPr/>
          </p:nvGrpSpPr>
          <p:grpSpPr>
            <a:xfrm>
              <a:off x="738188" y="5731193"/>
              <a:ext cx="200026" cy="200026"/>
              <a:chOff x="738188" y="5731193"/>
              <a:chExt cx="200026" cy="200026"/>
            </a:xfrm>
          </p:grpSpPr>
          <p:sp>
            <p:nvSpPr>
              <p:cNvPr id="71" name="Freeform 71"/>
              <p:cNvSpPr/>
              <p:nvPr/>
            </p:nvSpPr>
            <p:spPr>
              <a:xfrm>
                <a:off x="738188" y="573119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72" name="Freeform 72"/>
              <p:cNvSpPr/>
              <p:nvPr/>
            </p:nvSpPr>
            <p:spPr>
              <a:xfrm>
                <a:off x="838200" y="579786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73" name="Freeform 73"/>
              <p:cNvSpPr/>
              <p:nvPr/>
            </p:nvSpPr>
            <p:spPr>
              <a:xfrm>
                <a:off x="827088" y="5831205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75" name="TextBox 75"/>
            <p:cNvSpPr txBox="1"/>
            <p:nvPr/>
          </p:nvSpPr>
          <p:spPr>
            <a:xfrm>
              <a:off x="1040130" y="5588318"/>
              <a:ext cx="99212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陈伟老师课件把它们归成饥饿式、注册式、延迟式三类，延迟式下面再分同步方法、双重检查、静态内部类。枚举写法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课件没有讲，这里补上。</a:t>
              </a:r>
            </a:p>
          </p:txBody>
        </p:sp>
      </p:grpSp>
      <p:grpSp>
        <p:nvGrpSpPr>
          <p:cNvPr id="7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7" name="TextBox 77"/>
            <p:cNvSpPr txBox="1"/>
            <p:nvPr/>
          </p:nvSpPr>
          <p:spPr>
            <a:xfrm>
              <a:off x="528447" y="6581299"/>
              <a:ext cx="14808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单例模式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831842" cy="909257"/>
            <a:chOff x="520446" y="342900"/>
            <a:chExt cx="483184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91928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7905" y="407194"/>
              <a:ext cx="17693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15 单例 · 六种 Java 写法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83184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饿汉式：类一加载就把实例建好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ode-1"/>
          <p:cNvGrpSpPr/>
          <p:nvPr/>
        </p:nvGrpSpPr>
        <p:grpSpPr>
          <a:xfrm>
            <a:off x="533400" y="1524000"/>
            <a:ext cx="5842635" cy="2586990"/>
            <a:chOff x="533400" y="1524000"/>
            <a:chExt cx="5842635" cy="258699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842635" cy="2586990"/>
            </a:xfrm>
            <a:prstGeom prst="roundRect">
              <a:avLst>
                <a:gd name="adj" fmla="val 3682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10153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EagerSingleton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552450" y="2276475"/>
              <a:ext cx="5804535" cy="18954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552450" y="2465070"/>
              <a:ext cx="5804535" cy="18954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61416" y="1937385"/>
              <a:ext cx="3631121" cy="210083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92"/>
                </a:lnSpc>
              </a:pP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EagerSingleton {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zh-CN" sz="105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类加载时就完成实例化 */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static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final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EagerSingleton INSTANCE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=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EagerSingleton();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EagerSingleton() { }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static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EagerSingleton getInstance() {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INSTANCE;   </a:t>
              </a:r>
              <a:r>
                <a:rPr lang="zh-CN" sz="105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没有判断，直接返回 */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20" name="c2-card-1"/>
          <p:cNvGrpSpPr/>
          <p:nvPr/>
        </p:nvGrpSpPr>
        <p:grpSpPr>
          <a:xfrm>
            <a:off x="6680835" y="1524000"/>
            <a:ext cx="4977765" cy="1819275"/>
            <a:chOff x="6680835" y="1524000"/>
            <a:chExt cx="4977765" cy="1819275"/>
          </a:xfrm>
        </p:grpSpPr>
        <p:sp>
          <p:nvSpPr>
            <p:cNvPr id="13" name="Rectangle 13"/>
            <p:cNvSpPr/>
            <p:nvPr/>
          </p:nvSpPr>
          <p:spPr>
            <a:xfrm>
              <a:off x="6680835" y="1524000"/>
              <a:ext cx="4977765" cy="1819275"/>
            </a:xfrm>
            <a:prstGeom prst="roundRect">
              <a:avLst>
                <a:gd name="adj" fmla="val 733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6690360" y="1657350"/>
              <a:ext cx="47625" cy="155257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6917055" y="1722120"/>
              <a:ext cx="876300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996494" y="1756410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为什么安全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900416" y="1756886"/>
              <a:ext cx="192608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交给类初始化阶段去做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909816" y="2100739"/>
              <a:ext cx="4378706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静态字段的赋值发生在类初始化阶段，由 JVM 执行类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初始化方法 &lt;clinit&gt;()。JVM 对同一个类的初始化加了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一把锁，多个线程同时触发也只会执行一次。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910959" y="2957512"/>
              <a:ext cx="162763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一行同步代码都不用写</a:t>
              </a:r>
            </a:p>
          </p:txBody>
        </p:sp>
      </p:grpSp>
      <p:grpSp>
        <p:nvGrpSpPr>
          <p:cNvPr id="29" name="c2-card-2"/>
          <p:cNvGrpSpPr/>
          <p:nvPr/>
        </p:nvGrpSpPr>
        <p:grpSpPr>
          <a:xfrm>
            <a:off x="6680835" y="3523298"/>
            <a:ext cx="4977765" cy="2129790"/>
            <a:chOff x="6680835" y="3523298"/>
            <a:chExt cx="4977765" cy="2129790"/>
          </a:xfrm>
        </p:grpSpPr>
        <p:sp>
          <p:nvSpPr>
            <p:cNvPr id="21" name="Rectangle 21"/>
            <p:cNvSpPr/>
            <p:nvPr/>
          </p:nvSpPr>
          <p:spPr>
            <a:xfrm>
              <a:off x="6680835" y="3523298"/>
              <a:ext cx="4977765" cy="2129790"/>
            </a:xfrm>
            <a:prstGeom prst="roundRect">
              <a:avLst>
                <a:gd name="adj" fmla="val 626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6690360" y="3656648"/>
              <a:ext cx="47625" cy="1863090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6917055" y="3721418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008495" y="3755708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代价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500366" y="3757136"/>
              <a:ext cx="154376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建了不一定用得上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909816" y="4100036"/>
              <a:ext cx="4324604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类一被加载实例就存在，哪怕整个运行期都没人调用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getInstance()。对象大或者构造代价高时，这笔开销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就白花了。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6924675" y="5020627"/>
              <a:ext cx="60960" cy="609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7081266" y="4961096"/>
              <a:ext cx="416229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创建时机也不可控：不能带参数，也不能等运行期读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到配置再建</a:t>
              </a:r>
            </a:p>
          </p:txBody>
        </p:sp>
      </p:grpSp>
      <p:grpSp>
        <p:nvGrpSpPr>
          <p:cNvPr id="36" name="takeaway"/>
          <p:cNvGrpSpPr/>
          <p:nvPr/>
        </p:nvGrpSpPr>
        <p:grpSpPr>
          <a:xfrm>
            <a:off x="533400" y="5858828"/>
            <a:ext cx="11125200" cy="503872"/>
            <a:chOff x="533400" y="5858828"/>
            <a:chExt cx="11125200" cy="503872"/>
          </a:xfrm>
        </p:grpSpPr>
        <p:sp>
          <p:nvSpPr>
            <p:cNvPr id="30" name="Rectangle 30"/>
            <p:cNvSpPr/>
            <p:nvPr/>
          </p:nvSpPr>
          <p:spPr>
            <a:xfrm>
              <a:off x="533400" y="5858828"/>
              <a:ext cx="11125200" cy="503872"/>
            </a:xfrm>
            <a:prstGeom prst="roundRect">
              <a:avLst>
                <a:gd name="adj" fmla="val 22684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34" name="Group 34"/>
            <p:cNvGrpSpPr/>
            <p:nvPr/>
          </p:nvGrpSpPr>
          <p:grpSpPr>
            <a:xfrm>
              <a:off x="738188" y="6011228"/>
              <a:ext cx="200026" cy="200026"/>
              <a:chOff x="738188" y="6011228"/>
              <a:chExt cx="200026" cy="200026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738188" y="601122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838200" y="607790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827088" y="611124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35" name="TextBox 35"/>
            <p:cNvSpPr txBox="1"/>
            <p:nvPr/>
          </p:nvSpPr>
          <p:spPr>
            <a:xfrm>
              <a:off x="1040511" y="6011704"/>
              <a:ext cx="839030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更正：陈伟老师课件第 15 页写成 </a:t>
              </a:r>
              <a:r>
                <a:rPr lang="en-US" sz="142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= new Singleton;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，漏了一对括号；返回类型误写成 </a:t>
              </a:r>
              <a:r>
                <a:rPr lang="en-US" sz="142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Signleton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</p:grpSp>
      <p:grpSp>
        <p:nvGrpSpPr>
          <p:cNvPr id="3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7" name="TextBox 37"/>
            <p:cNvSpPr txBox="1"/>
            <p:nvPr/>
          </p:nvSpPr>
          <p:spPr>
            <a:xfrm>
              <a:off x="528447" y="6581299"/>
              <a:ext cx="14808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单例模式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175123" cy="909257"/>
            <a:chOff x="520446" y="342900"/>
            <a:chExt cx="517512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91928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7905" y="407194"/>
              <a:ext cx="17693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15 单例 · 六种 Java 写法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17512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懒汉式：省了内存，丢了线程安全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6556248" cy="264033"/>
            <a:chOff x="526542" y="1545907"/>
            <a:chExt cx="6556248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655624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把创建推迟到第一次调用。单线程下没问题，多线程下检查和赋值之间会被插队。</a:t>
              </a:r>
            </a:p>
          </p:txBody>
        </p:sp>
      </p:grpSp>
      <p:grpSp>
        <p:nvGrpSpPr>
          <p:cNvPr id="14" name="c1-code-1"/>
          <p:cNvGrpSpPr/>
          <p:nvPr/>
        </p:nvGrpSpPr>
        <p:grpSpPr>
          <a:xfrm>
            <a:off x="533400" y="1928812"/>
            <a:ext cx="5193982" cy="2616518"/>
            <a:chOff x="533400" y="1928812"/>
            <a:chExt cx="5193982" cy="2616518"/>
          </a:xfrm>
        </p:grpSpPr>
        <p:sp>
          <p:nvSpPr>
            <p:cNvPr id="9" name="Rectangle 9"/>
            <p:cNvSpPr/>
            <p:nvPr/>
          </p:nvSpPr>
          <p:spPr>
            <a:xfrm>
              <a:off x="533400" y="1928812"/>
              <a:ext cx="5193982" cy="2616518"/>
            </a:xfrm>
            <a:prstGeom prst="roundRect">
              <a:avLst>
                <a:gd name="adj" fmla="val 3640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61797" y="2080736"/>
              <a:ext cx="93911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LazySingleton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52450" y="3358515"/>
              <a:ext cx="5155882" cy="17621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2" name="Rectangle 12"/>
            <p:cNvSpPr/>
            <p:nvPr/>
          </p:nvSpPr>
          <p:spPr>
            <a:xfrm>
              <a:off x="552450" y="3534728"/>
              <a:ext cx="5155882" cy="17621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61797" y="2340769"/>
              <a:ext cx="3202305" cy="2129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Singleton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static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Singleton instance;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Singleton() {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static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Singleton getInstance()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(instance ==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null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) {   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检查 */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instance =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Singleton();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instance;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21" name="c1-card-2"/>
          <p:cNvGrpSpPr/>
          <p:nvPr/>
        </p:nvGrpSpPr>
        <p:grpSpPr>
          <a:xfrm>
            <a:off x="533400" y="4714875"/>
            <a:ext cx="5193982" cy="1459230"/>
            <a:chOff x="533400" y="4714875"/>
            <a:chExt cx="5193982" cy="1459230"/>
          </a:xfrm>
        </p:grpSpPr>
        <p:sp>
          <p:nvSpPr>
            <p:cNvPr id="15" name="Rectangle 15"/>
            <p:cNvSpPr/>
            <p:nvPr/>
          </p:nvSpPr>
          <p:spPr>
            <a:xfrm>
              <a:off x="533400" y="4714875"/>
              <a:ext cx="5193982" cy="1459230"/>
            </a:xfrm>
            <a:prstGeom prst="roundRect">
              <a:avLst>
                <a:gd name="adj" fmla="val 913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542925" y="4848225"/>
              <a:ext cx="47625" cy="1192530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58190" y="4901565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50862" y="4934426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后果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323784" y="4936808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两个实例，还丢了一个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51332" y="5262562"/>
              <a:ext cx="4488561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两个线程各拿到一个对象，“唯一”已经不成立。先建的那个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被覆盖后成了垃圾，如果它已经占了端口或文件句柄，就泄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漏了。</a:t>
              </a:r>
            </a:p>
          </p:txBody>
        </p:sp>
      </p:grpSp>
      <p:grpSp>
        <p:nvGrpSpPr>
          <p:cNvPr id="59" name="c2-table-1"/>
          <p:cNvGrpSpPr/>
          <p:nvPr/>
        </p:nvGrpSpPr>
        <p:grpSpPr>
          <a:xfrm>
            <a:off x="6032182" y="1928812"/>
            <a:ext cx="5626418" cy="2400300"/>
            <a:chOff x="6032182" y="1928812"/>
            <a:chExt cx="5626418" cy="2400300"/>
          </a:xfrm>
        </p:grpSpPr>
        <p:sp>
          <p:nvSpPr>
            <p:cNvPr id="22" name="Rectangle 22"/>
            <p:cNvSpPr/>
            <p:nvPr/>
          </p:nvSpPr>
          <p:spPr>
            <a:xfrm>
              <a:off x="6032182" y="1928812"/>
              <a:ext cx="5626418" cy="400050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212878" y="205025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时刻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407659" y="2050256"/>
              <a:ext cx="45516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线程 A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265034" y="2050256"/>
              <a:ext cx="45516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线程 B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0705260" y="2050256"/>
              <a:ext cx="6684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instance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129338" y="2450306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t1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804660" y="2450306"/>
              <a:ext cx="148148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读到 instance 为 null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661082" y="245030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还没开始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517505" y="2450306"/>
              <a:ext cx="3478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None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032182" y="2724150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6032182" y="2728912"/>
              <a:ext cx="5626418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129338" y="2850356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t2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804660" y="2850356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被调度器挂起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661082" y="2850356"/>
              <a:ext cx="16322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也读到 instance 为 null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0517505" y="2850356"/>
              <a:ext cx="3478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None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032182" y="3124200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129338" y="3250406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t3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804660" y="3250406"/>
              <a:ext cx="1240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创建对象 1 并赋值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8661082" y="325040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仍在挂起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0517505" y="3250406"/>
              <a:ext cx="4411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 1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032182" y="3524250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6032182" y="3529012"/>
              <a:ext cx="5626418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129338" y="3650456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t4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804660" y="3650456"/>
              <a:ext cx="7426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返回对象 1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8661082" y="3650456"/>
              <a:ext cx="1240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创建对象 2 并覆盖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10429875" y="3538538"/>
              <a:ext cx="1219200" cy="381000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10517505" y="3650456"/>
              <a:ext cx="4411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 2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6032182" y="3924300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6129338" y="4050506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t5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6804660" y="4050506"/>
              <a:ext cx="8934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手里是对象 1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8661082" y="4050506"/>
              <a:ext cx="8934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手里是对象 2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10429875" y="3938588"/>
              <a:ext cx="1219200" cy="381000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10517505" y="4050506"/>
              <a:ext cx="4411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 2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6032182" y="1928812"/>
              <a:ext cx="5626418" cy="240030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6" name="Rectangle 56"/>
            <p:cNvSpPr/>
            <p:nvPr/>
          </p:nvSpPr>
          <p:spPr>
            <a:xfrm>
              <a:off x="6702742" y="1928812"/>
              <a:ext cx="9525" cy="24003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7" name="Rectangle 57"/>
            <p:cNvSpPr/>
            <p:nvPr/>
          </p:nvSpPr>
          <p:spPr>
            <a:xfrm>
              <a:off x="8559165" y="1928812"/>
              <a:ext cx="9525" cy="24003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8" name="Rectangle 58"/>
            <p:cNvSpPr/>
            <p:nvPr/>
          </p:nvSpPr>
          <p:spPr>
            <a:xfrm>
              <a:off x="10415588" y="1928812"/>
              <a:ext cx="9525" cy="24003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2" name="c2-image-2"/>
          <p:cNvGrpSpPr/>
          <p:nvPr/>
        </p:nvGrpSpPr>
        <p:grpSpPr>
          <a:xfrm>
            <a:off x="6032182" y="4498658"/>
            <a:ext cx="5626418" cy="1883758"/>
            <a:chOff x="6032182" y="4498658"/>
            <a:chExt cx="5626418" cy="1883758"/>
          </a:xfrm>
        </p:grpSpPr>
        <p:pic>
          <p:nvPicPr>
            <p:cNvPr id="60" name="Image 60"/>
            <p:cNvPicPr>
              <a:picLocks noChangeAspect="1"/>
            </p:cNvPicPr>
            <p:nvPr/>
          </p:nvPicPr>
          <p:blipFill>
            <a:blip r:embed="rId2"/>
            <a:srcRect l="0" t="31040" r="0" b="31039"/>
            <a:stretch>
              <a:fillRect/>
            </a:stretch>
          </p:blipFill>
          <p:spPr>
            <a:xfrm>
              <a:off x="6032182" y="4498658"/>
              <a:ext cx="5626418" cy="1600200"/>
            </a:xfrm>
            <a:prstGeom prst="roundRect">
              <a:avLst>
                <a:gd name="adj" fmla="val 8333"/>
              </a:avLst>
            </a:prstGeom>
          </p:spPr>
        </p:pic>
        <p:sp>
          <p:nvSpPr>
            <p:cNvPr id="61" name="TextBox 61"/>
            <p:cNvSpPr txBox="1"/>
            <p:nvPr/>
          </p:nvSpPr>
          <p:spPr>
            <a:xfrm>
              <a:off x="7454722" y="6191726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两个人都看到那个空位是空的，于是各放了一个</a:t>
              </a:r>
            </a:p>
          </p:txBody>
        </p:sp>
      </p:grpSp>
      <p:grpSp>
        <p:nvGrpSpPr>
          <p:cNvPr id="6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3" name="TextBox 63"/>
            <p:cNvSpPr txBox="1"/>
            <p:nvPr/>
          </p:nvSpPr>
          <p:spPr>
            <a:xfrm>
              <a:off x="528447" y="6581299"/>
              <a:ext cx="14808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单例模式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198959" cy="909257"/>
            <a:chOff x="520446" y="342900"/>
            <a:chExt cx="619895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91928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7905" y="407194"/>
              <a:ext cx="17693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15 单例 · 六种 Java 写法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19895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加 synchronized：对是对了，代价也大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1" name="c1-code-1"/>
          <p:cNvGrpSpPr/>
          <p:nvPr/>
        </p:nvGrpSpPr>
        <p:grpSpPr>
          <a:xfrm>
            <a:off x="533400" y="1524000"/>
            <a:ext cx="6276022" cy="3139440"/>
            <a:chOff x="533400" y="1524000"/>
            <a:chExt cx="6276022" cy="313944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276022" cy="3139440"/>
            </a:xfrm>
            <a:prstGeom prst="roundRect">
              <a:avLst>
                <a:gd name="adj" fmla="val 3034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3189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552450" y="3112770"/>
              <a:ext cx="6237922" cy="20288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61035" y="1937861"/>
              <a:ext cx="4392422" cy="26546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Singleton {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static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Singleton instance;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Singleton() { 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锁的是 Singleton.class 这把类锁 */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static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synchronized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Singleton getInstance() {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(instance ==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null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 {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instance =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Singleton();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instance;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18" name="c2-card-1"/>
          <p:cNvGrpSpPr/>
          <p:nvPr/>
        </p:nvGrpSpPr>
        <p:grpSpPr>
          <a:xfrm>
            <a:off x="7114222" y="1524000"/>
            <a:ext cx="4544378" cy="1621155"/>
            <a:chOff x="7114222" y="1524000"/>
            <a:chExt cx="4544378" cy="1621155"/>
          </a:xfrm>
        </p:grpSpPr>
        <p:sp>
          <p:nvSpPr>
            <p:cNvPr id="12" name="Rectangle 12"/>
            <p:cNvSpPr/>
            <p:nvPr/>
          </p:nvSpPr>
          <p:spPr>
            <a:xfrm>
              <a:off x="7114222" y="1524000"/>
              <a:ext cx="4544378" cy="1621155"/>
            </a:xfrm>
            <a:prstGeom prst="roundRect">
              <a:avLst>
                <a:gd name="adj" fmla="val 822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3" name="Rectangle 13"/>
            <p:cNvSpPr/>
            <p:nvPr/>
          </p:nvSpPr>
          <p:spPr>
            <a:xfrm>
              <a:off x="7123748" y="1657350"/>
              <a:ext cx="47625" cy="135445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7361872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452081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正确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961948" y="1768792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互斥保证了只建一次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354252" y="2129790"/>
              <a:ext cx="380619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同一时刻只有一个线程能进入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getInstance()，检查和创建合成了一个不可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分割的动作。</a:t>
              </a:r>
            </a:p>
          </p:txBody>
        </p:sp>
      </p:grpSp>
      <p:grpSp>
        <p:nvGrpSpPr>
          <p:cNvPr id="26" name="c2-card-2"/>
          <p:cNvGrpSpPr/>
          <p:nvPr/>
        </p:nvGrpSpPr>
        <p:grpSpPr>
          <a:xfrm>
            <a:off x="7114222" y="3335655"/>
            <a:ext cx="4544378" cy="1631632"/>
            <a:chOff x="7114222" y="3335655"/>
            <a:chExt cx="4544378" cy="1631632"/>
          </a:xfrm>
        </p:grpSpPr>
        <p:sp>
          <p:nvSpPr>
            <p:cNvPr id="19" name="Rectangle 19"/>
            <p:cNvSpPr/>
            <p:nvPr/>
          </p:nvSpPr>
          <p:spPr>
            <a:xfrm>
              <a:off x="7114222" y="3335655"/>
              <a:ext cx="4544378" cy="1631632"/>
            </a:xfrm>
            <a:prstGeom prst="roundRect">
              <a:avLst>
                <a:gd name="adj" fmla="val 817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7123748" y="3469005"/>
              <a:ext cx="47625" cy="1364932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7361872" y="354520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7452081" y="358092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代价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961948" y="3580448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锁的范围太大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354252" y="3941445"/>
              <a:ext cx="3825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真正需要互斥的只有第一次创建。实例建好之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后，每次调用还要获取和释放这把类锁。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355396" y="4559141"/>
              <a:ext cx="397616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这个方法被频繁调用时，它会变成整个程序的串行点</a:t>
              </a:r>
            </a:p>
          </p:txBody>
        </p:sp>
      </p:grpSp>
      <p:grpSp>
        <p:nvGrpSpPr>
          <p:cNvPr id="33" name="takeaway"/>
          <p:cNvGrpSpPr/>
          <p:nvPr/>
        </p:nvGrpSpPr>
        <p:grpSpPr>
          <a:xfrm>
            <a:off x="533400" y="5579745"/>
            <a:ext cx="11125200" cy="782955"/>
            <a:chOff x="533400" y="5579745"/>
            <a:chExt cx="11125200" cy="782955"/>
          </a:xfrm>
        </p:grpSpPr>
        <p:sp>
          <p:nvSpPr>
            <p:cNvPr id="27" name="Rectangle 27"/>
            <p:cNvSpPr/>
            <p:nvPr/>
          </p:nvSpPr>
          <p:spPr>
            <a:xfrm>
              <a:off x="533400" y="5579745"/>
              <a:ext cx="11125200" cy="782955"/>
            </a:xfrm>
            <a:prstGeom prst="roundRect">
              <a:avLst>
                <a:gd name="adj" fmla="val 1459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31" name="Group 31"/>
            <p:cNvGrpSpPr/>
            <p:nvPr/>
          </p:nvGrpSpPr>
          <p:grpSpPr>
            <a:xfrm>
              <a:off x="738188" y="5871210"/>
              <a:ext cx="200026" cy="200026"/>
              <a:chOff x="738188" y="5871210"/>
              <a:chExt cx="200026" cy="200026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738188" y="587121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838200" y="593788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827088" y="5971223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32" name="TextBox 32"/>
            <p:cNvSpPr txBox="1"/>
            <p:nvPr/>
          </p:nvSpPr>
          <p:spPr>
            <a:xfrm>
              <a:off x="1040130" y="5728335"/>
              <a:ext cx="94259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更正：陈伟老师课件第 19 页 </a:t>
              </a:r>
              <a:r>
                <a:rPr lang="en-US" sz="150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instance = new Singleton;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漏了括号；张欣佳老师课件第 24 页把方法名印成 </a:t>
              </a:r>
              <a:r>
                <a:rPr lang="en-US" sz="150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get</a:t>
              </a:r>
              <a:br/>
              <a:r>
                <a:rPr lang="en-US" sz="150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Instance()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，中间多了一个空格。</a:t>
              </a:r>
            </a:p>
          </p:txBody>
        </p:sp>
      </p:grpSp>
      <p:grpSp>
        <p:nvGrpSpPr>
          <p:cNvPr id="3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4" name="TextBox 34"/>
            <p:cNvSpPr txBox="1"/>
            <p:nvPr/>
          </p:nvSpPr>
          <p:spPr>
            <a:xfrm>
              <a:off x="528447" y="6581299"/>
              <a:ext cx="14808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单例模式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518404" cy="909257"/>
            <a:chOff x="520446" y="342900"/>
            <a:chExt cx="551840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91928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7905" y="407194"/>
              <a:ext cx="17693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15 单例 · 六种 Java 写法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51840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双重检查锁定：只让第一次创建走锁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code-1"/>
          <p:cNvGrpSpPr/>
          <p:nvPr/>
        </p:nvGrpSpPr>
        <p:grpSpPr>
          <a:xfrm>
            <a:off x="533400" y="1524000"/>
            <a:ext cx="6059805" cy="3950970"/>
            <a:chOff x="533400" y="1524000"/>
            <a:chExt cx="6059805" cy="395097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059805" cy="3950970"/>
            </a:xfrm>
            <a:prstGeom prst="roundRect">
              <a:avLst>
                <a:gd name="adj" fmla="val 2411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3189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552450" y="2301240"/>
              <a:ext cx="6021705" cy="20288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552450" y="3518535"/>
              <a:ext cx="6021705" cy="20288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552450" y="3721418"/>
              <a:ext cx="6021705" cy="20288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661035" y="1937861"/>
              <a:ext cx="3972814" cy="34661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Singleton {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volatile 不能省，理由见下一页 */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static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volatile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Singleton instance;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Singleton() { 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static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Singleton getInstance() {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(instance ==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null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) {      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一检 */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synchronized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(Singleton.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 {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(instance ==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null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) {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二检 */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        instance =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Singleton();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    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instance;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27" name="c2-steps-1"/>
          <p:cNvGrpSpPr/>
          <p:nvPr/>
        </p:nvGrpSpPr>
        <p:grpSpPr>
          <a:xfrm>
            <a:off x="6898005" y="1533525"/>
            <a:ext cx="4463796" cy="1790128"/>
            <a:chOff x="6898005" y="1533525"/>
            <a:chExt cx="4463796" cy="1790128"/>
          </a:xfrm>
        </p:grpSpPr>
        <p:sp>
          <p:nvSpPr>
            <p:cNvPr id="14" name="Rectangle 14"/>
            <p:cNvSpPr/>
            <p:nvPr/>
          </p:nvSpPr>
          <p:spPr>
            <a:xfrm>
              <a:off x="7031355" y="1676400"/>
              <a:ext cx="19050" cy="124206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Ellipse 15"/>
            <p:cNvSpPr/>
            <p:nvPr/>
          </p:nvSpPr>
          <p:spPr>
            <a:xfrm>
              <a:off x="6898005" y="1533525"/>
              <a:ext cx="285750" cy="2857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991629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6898005" y="2154555"/>
              <a:ext cx="285750" cy="2857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991629" y="222837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6898005" y="2775585"/>
              <a:ext cx="285750" cy="2857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991629" y="284940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309866" y="1566386"/>
              <a:ext cx="9702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第一次检查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311009" y="1846898"/>
              <a:ext cx="275844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实例已经存在时直接返回，根本不进锁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309866" y="2187416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加锁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311009" y="2467927"/>
              <a:ext cx="296844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只有还看到 null 的线程才去竞争这把类锁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309866" y="2808446"/>
              <a:ext cx="9702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第二次检查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311009" y="3088957"/>
              <a:ext cx="405079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排队等到锁的线程要再看一眼，前面的人可能已经建好了</a:t>
              </a:r>
            </a:p>
          </p:txBody>
        </p:sp>
      </p:grpSp>
      <p:grpSp>
        <p:nvGrpSpPr>
          <p:cNvPr id="38" name="c2-card-2"/>
          <p:cNvGrpSpPr/>
          <p:nvPr/>
        </p:nvGrpSpPr>
        <p:grpSpPr>
          <a:xfrm>
            <a:off x="6898005" y="3499485"/>
            <a:ext cx="4760595" cy="2476500"/>
            <a:chOff x="6898005" y="3499485"/>
            <a:chExt cx="4760595" cy="2476500"/>
          </a:xfrm>
        </p:grpSpPr>
        <p:sp>
          <p:nvSpPr>
            <p:cNvPr id="28" name="Rectangle 28"/>
            <p:cNvSpPr/>
            <p:nvPr/>
          </p:nvSpPr>
          <p:spPr>
            <a:xfrm>
              <a:off x="6898005" y="3499485"/>
              <a:ext cx="4760595" cy="2476500"/>
            </a:xfrm>
            <a:prstGeom prst="roundRect">
              <a:avLst>
                <a:gd name="adj" fmla="val 538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6907530" y="3632835"/>
              <a:ext cx="47625" cy="220980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7139940" y="370332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230148" y="373903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740396" y="3743801"/>
              <a:ext cx="192608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课件这段同步块写错了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132701" y="4095274"/>
              <a:ext cx="4081145" cy="109308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陈伟老师课件第 20、21 页写成</a:t>
              </a:r>
              <a:br/>
              <a:r>
                <a:rPr lang="en-US" sz="142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synchronized(Singleton.class );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后面直接跟分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号。这在 Java 里是一条 </a:t>
              </a:r>
              <a:r>
                <a:rPr lang="zh-CN" sz="14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空语句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，后面的 </a:t>
              </a:r>
              <a:r>
                <a:rPr lang="en-US" sz="142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if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和赋值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根本没被锁保护，双重检查名存实亡。</a:t>
              </a:r>
            </a:p>
          </p:txBody>
        </p:sp>
        <p:sp>
          <p:nvSpPr>
            <p:cNvPr id="34" name="Ellipse 34"/>
            <p:cNvSpPr/>
            <p:nvPr/>
          </p:nvSpPr>
          <p:spPr>
            <a:xfrm>
              <a:off x="7147560" y="5289232"/>
              <a:ext cx="60960" cy="609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7304151" y="5229701"/>
              <a:ext cx="422000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正确写法要用花括号把二次检查和创建一起包进去</a:t>
              </a:r>
            </a:p>
          </p:txBody>
        </p:sp>
        <p:sp>
          <p:nvSpPr>
            <p:cNvPr id="36" name="Ellipse 36"/>
            <p:cNvSpPr/>
            <p:nvPr/>
          </p:nvSpPr>
          <p:spPr>
            <a:xfrm>
              <a:off x="7147560" y="5609272"/>
              <a:ext cx="60960" cy="609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7304151" y="5549741"/>
              <a:ext cx="322286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同一段里 </a:t>
              </a:r>
              <a:r>
                <a:rPr lang="en-US" sz="142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new Singleton;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也漏了括号</a:t>
              </a:r>
            </a:p>
          </p:txBody>
        </p:sp>
      </p:grpSp>
      <p:grpSp>
        <p:nvGrpSpPr>
          <p:cNvPr id="4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9" name="TextBox 39"/>
            <p:cNvSpPr txBox="1"/>
            <p:nvPr/>
          </p:nvSpPr>
          <p:spPr>
            <a:xfrm>
              <a:off x="528447" y="6581299"/>
              <a:ext cx="14808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单例模式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138690" cy="909257"/>
            <a:chOff x="520446" y="342900"/>
            <a:chExt cx="713869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91928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7905" y="407194"/>
              <a:ext cx="17693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15 单例 · 六种 Java 写法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13869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为什么 volatile 不能省：new 不是一步完成的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7217496" cy="264033"/>
            <a:chOff x="526542" y="1545907"/>
            <a:chExt cx="7217496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721749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一句 instance = new Singleton() 在字节码层面至少是三步，其中两步允许被调换顺序。</a:t>
              </a:r>
            </a:p>
          </p:txBody>
        </p:sp>
      </p:grpSp>
      <p:grpSp>
        <p:nvGrpSpPr>
          <p:cNvPr id="22" name="c1-steps-1"/>
          <p:cNvGrpSpPr/>
          <p:nvPr/>
        </p:nvGrpSpPr>
        <p:grpSpPr>
          <a:xfrm>
            <a:off x="533400" y="1938338"/>
            <a:ext cx="2466956" cy="1596009"/>
            <a:chOff x="533400" y="1938338"/>
            <a:chExt cx="2466956" cy="1596009"/>
          </a:xfrm>
        </p:grpSpPr>
        <p:sp>
          <p:nvSpPr>
            <p:cNvPr id="9" name="Rectangle 9"/>
            <p:cNvSpPr/>
            <p:nvPr/>
          </p:nvSpPr>
          <p:spPr>
            <a:xfrm>
              <a:off x="666750" y="2081212"/>
              <a:ext cx="19050" cy="110585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" name="Ellipse 10"/>
            <p:cNvSpPr/>
            <p:nvPr/>
          </p:nvSpPr>
          <p:spPr>
            <a:xfrm>
              <a:off x="533400" y="1938338"/>
              <a:ext cx="285750" cy="2857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27024" y="201215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33400" y="2490788"/>
              <a:ext cx="285750" cy="2857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27024" y="256460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33400" y="3044190"/>
              <a:ext cx="285750" cy="2857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27024" y="311800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46023" y="1968341"/>
              <a:ext cx="56565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1 步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47166" y="2223135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在堆上分配一块内存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46023" y="2521744"/>
              <a:ext cx="56565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2 步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7166" y="2776538"/>
              <a:ext cx="198958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执行构造函数，把字段初始化好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46023" y="3075146"/>
              <a:ext cx="56565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3 步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47166" y="3328988"/>
              <a:ext cx="205319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把这块内存的地址赋给 instance</a:t>
              </a:r>
            </a:p>
          </p:txBody>
        </p:sp>
      </p:grpSp>
      <p:grpSp>
        <p:nvGrpSpPr>
          <p:cNvPr id="29" name="c1-card-2"/>
          <p:cNvGrpSpPr/>
          <p:nvPr/>
        </p:nvGrpSpPr>
        <p:grpSpPr>
          <a:xfrm>
            <a:off x="533400" y="3696652"/>
            <a:ext cx="4544378" cy="1992630"/>
            <a:chOff x="533400" y="3696652"/>
            <a:chExt cx="4544378" cy="1992630"/>
          </a:xfrm>
        </p:grpSpPr>
        <p:sp>
          <p:nvSpPr>
            <p:cNvPr id="23" name="Rectangle 23"/>
            <p:cNvSpPr/>
            <p:nvPr/>
          </p:nvSpPr>
          <p:spPr>
            <a:xfrm>
              <a:off x="533400" y="3696652"/>
              <a:ext cx="4544378" cy="1992630"/>
            </a:xfrm>
            <a:prstGeom prst="roundRect">
              <a:avLst>
                <a:gd name="adj" fmla="val 669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542925" y="3830002"/>
              <a:ext cx="47625" cy="1725930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752475" y="3877628"/>
              <a:ext cx="582930" cy="23812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841096" y="3910489"/>
              <a:ext cx="40568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重排序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443228" y="3917156"/>
              <a:ext cx="197991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2 步和第 3 步可以对调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45998" y="4233386"/>
              <a:ext cx="3914394" cy="7351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在单线程里，先构造再赋值和先赋值再构造，看到的结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果一样。所以编译器和处理器被允许把顺序改成第 1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步、第 3 步、第 2 步，这符合 as-if-serial 语义。</a:t>
              </a:r>
            </a:p>
          </p:txBody>
        </p:sp>
      </p:grpSp>
      <p:grpSp>
        <p:nvGrpSpPr>
          <p:cNvPr id="57" name="c2-table-1"/>
          <p:cNvGrpSpPr/>
          <p:nvPr/>
        </p:nvGrpSpPr>
        <p:grpSpPr>
          <a:xfrm>
            <a:off x="5382578" y="1928812"/>
            <a:ext cx="6276022" cy="1906905"/>
            <a:chOff x="5382578" y="1928812"/>
            <a:chExt cx="6276022" cy="1906905"/>
          </a:xfrm>
        </p:grpSpPr>
        <p:sp>
          <p:nvSpPr>
            <p:cNvPr id="30" name="Rectangle 30"/>
            <p:cNvSpPr/>
            <p:nvPr/>
          </p:nvSpPr>
          <p:spPr>
            <a:xfrm>
              <a:off x="5382578" y="1928812"/>
              <a:ext cx="6276022" cy="381000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5613083" y="204597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时刻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729630" y="2045970"/>
              <a:ext cx="169882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线程 A（持锁，正在创建）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9632278" y="2045970"/>
              <a:ext cx="141612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线程 B（第一次检查）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5477256" y="242697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t1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230684" y="2426970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分配内存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9117711" y="2426970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还没到达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5382578" y="2687002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5382578" y="2691765"/>
              <a:ext cx="6276022" cy="38100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5477256" y="2808923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t2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145530" y="2701290"/>
              <a:ext cx="2867978" cy="361950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230684" y="2808923"/>
              <a:ext cx="247724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把地址写进 instance（对象还没构造）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9117711" y="2808923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还没到达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5382578" y="3068002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5477256" y="3189923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t3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230684" y="3189923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还在执行构造函数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9032558" y="3082290"/>
              <a:ext cx="2616518" cy="361950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9117711" y="3189923"/>
              <a:ext cx="223694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看到 instance 不为 null，直接返回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5382578" y="3449002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9" name="Rectangle 49"/>
            <p:cNvSpPr/>
            <p:nvPr/>
          </p:nvSpPr>
          <p:spPr>
            <a:xfrm>
              <a:off x="5382578" y="3453765"/>
              <a:ext cx="6276022" cy="38100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5477256" y="35718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t4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6230684" y="3571875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构造完成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9032558" y="3463290"/>
              <a:ext cx="2616518" cy="361950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9117711" y="3571875"/>
              <a:ext cx="241363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正在使用一个字段全是默认值的半成品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5382578" y="1928812"/>
              <a:ext cx="6276022" cy="190690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5" name="Rectangle 55"/>
            <p:cNvSpPr/>
            <p:nvPr/>
          </p:nvSpPr>
          <p:spPr>
            <a:xfrm>
              <a:off x="6131242" y="1928812"/>
              <a:ext cx="9525" cy="190690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6" name="Rectangle 56"/>
            <p:cNvSpPr/>
            <p:nvPr/>
          </p:nvSpPr>
          <p:spPr>
            <a:xfrm>
              <a:off x="9018270" y="1928812"/>
              <a:ext cx="9525" cy="190690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8" name="c2-card-2"/>
          <p:cNvGrpSpPr/>
          <p:nvPr/>
        </p:nvGrpSpPr>
        <p:grpSpPr>
          <a:xfrm>
            <a:off x="5382578" y="4000500"/>
            <a:ext cx="6276022" cy="1687830"/>
            <a:chOff x="5382578" y="4000500"/>
            <a:chExt cx="6276022" cy="1687830"/>
          </a:xfrm>
        </p:grpSpPr>
        <p:sp>
          <p:nvSpPr>
            <p:cNvPr id="58" name="Rectangle 58"/>
            <p:cNvSpPr/>
            <p:nvPr/>
          </p:nvSpPr>
          <p:spPr>
            <a:xfrm>
              <a:off x="5382578" y="4000500"/>
              <a:ext cx="6276022" cy="1687830"/>
            </a:xfrm>
            <a:prstGeom prst="roundRect">
              <a:avLst>
                <a:gd name="adj" fmla="val 7901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59" name="Rectangle 59"/>
            <p:cNvSpPr/>
            <p:nvPr/>
          </p:nvSpPr>
          <p:spPr>
            <a:xfrm>
              <a:off x="5563552" y="4181475"/>
              <a:ext cx="686752" cy="238125"/>
            </a:xfrm>
            <a:prstGeom prst="roundRect">
              <a:avLst>
                <a:gd name="adj" fmla="val 50000"/>
              </a:avLst>
            </a:prstGeom>
            <a:solidFill>
              <a:srgbClr val="462F80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5649646" y="4214336"/>
              <a:ext cx="51551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volatile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6358128" y="4221004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它做了两件事</a:t>
              </a:r>
            </a:p>
          </p:txBody>
        </p:sp>
        <p:sp>
          <p:nvSpPr>
            <p:cNvPr id="62" name="Ellipse 62"/>
            <p:cNvSpPr/>
            <p:nvPr/>
          </p:nvSpPr>
          <p:spPr>
            <a:xfrm>
              <a:off x="5563552" y="4526280"/>
              <a:ext cx="180975" cy="18097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5615459" y="4561904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5834253" y="4537234"/>
              <a:ext cx="537743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禁止这一处的重排序。写它之前的操作不会被排到写之后，别的线程看到它</a:t>
              </a:r>
              <a:br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不为 null 时，对象一定构造完了。</a:t>
              </a:r>
            </a:p>
          </p:txBody>
        </p:sp>
        <p:sp>
          <p:nvSpPr>
            <p:cNvPr id="65" name="Ellipse 65"/>
            <p:cNvSpPr/>
            <p:nvPr/>
          </p:nvSpPr>
          <p:spPr>
            <a:xfrm>
              <a:off x="5563552" y="5053965"/>
              <a:ext cx="180975" cy="18097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5615459" y="5089588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5834253" y="5065871"/>
              <a:ext cx="537743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保证可见性。一个线程写完，其他线程读到的就是新值，不会读到缓存里那</a:t>
              </a:r>
              <a:br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个旧的 null。</a:t>
              </a:r>
            </a:p>
          </p:txBody>
        </p:sp>
      </p:grpSp>
      <p:grpSp>
        <p:nvGrpSpPr>
          <p:cNvPr id="75" name="takeaway"/>
          <p:cNvGrpSpPr/>
          <p:nvPr/>
        </p:nvGrpSpPr>
        <p:grpSpPr>
          <a:xfrm>
            <a:off x="533400" y="5895022"/>
            <a:ext cx="11125200" cy="467678"/>
            <a:chOff x="533400" y="5895022"/>
            <a:chExt cx="11125200" cy="467678"/>
          </a:xfrm>
        </p:grpSpPr>
        <p:sp>
          <p:nvSpPr>
            <p:cNvPr id="69" name="Rectangle 69"/>
            <p:cNvSpPr/>
            <p:nvPr/>
          </p:nvSpPr>
          <p:spPr>
            <a:xfrm>
              <a:off x="533400" y="5895022"/>
              <a:ext cx="11125200" cy="467678"/>
            </a:xfrm>
            <a:prstGeom prst="roundRect">
              <a:avLst>
                <a:gd name="adj" fmla="val 24440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73" name="Group 73"/>
            <p:cNvGrpSpPr/>
            <p:nvPr/>
          </p:nvGrpSpPr>
          <p:grpSpPr>
            <a:xfrm>
              <a:off x="738188" y="6028373"/>
              <a:ext cx="200026" cy="200026"/>
              <a:chOff x="738188" y="6028373"/>
              <a:chExt cx="200026" cy="200026"/>
            </a:xfrm>
          </p:grpSpPr>
          <p:sp>
            <p:nvSpPr>
              <p:cNvPr id="70" name="Freeform 70"/>
              <p:cNvSpPr/>
              <p:nvPr/>
            </p:nvSpPr>
            <p:spPr>
              <a:xfrm>
                <a:off x="738188" y="602837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71" name="Freeform 71"/>
              <p:cNvSpPr/>
              <p:nvPr/>
            </p:nvSpPr>
            <p:spPr>
              <a:xfrm>
                <a:off x="838200" y="609504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72" name="Freeform 72"/>
              <p:cNvSpPr/>
              <p:nvPr/>
            </p:nvSpPr>
            <p:spPr>
              <a:xfrm>
                <a:off x="827088" y="6128385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74" name="TextBox 74"/>
            <p:cNvSpPr txBox="1"/>
            <p:nvPr/>
          </p:nvSpPr>
          <p:spPr>
            <a:xfrm>
              <a:off x="1041273" y="6039326"/>
              <a:ext cx="105975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这条语义是 Java 5 的新内存模型（JSR-133）才确立的。早年的书上说双重检查锁定在 Java 里不可靠，说的是 Java 1.4 及以前的情况。</a:t>
              </a:r>
            </a:p>
          </p:txBody>
        </p:sp>
      </p:grpSp>
      <p:grpSp>
        <p:nvGrpSpPr>
          <p:cNvPr id="7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6" name="TextBox 76"/>
            <p:cNvSpPr txBox="1"/>
            <p:nvPr/>
          </p:nvSpPr>
          <p:spPr>
            <a:xfrm>
              <a:off x="528447" y="6581299"/>
              <a:ext cx="14808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单例模式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548247" cy="909257"/>
            <a:chOff x="520446" y="342900"/>
            <a:chExt cx="654824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91928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7905" y="407194"/>
              <a:ext cx="17693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15 单例 · 六种 Java 写法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54824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静态内部类：不写同步代码，也能延迟创建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code-1"/>
          <p:cNvGrpSpPr/>
          <p:nvPr/>
        </p:nvGrpSpPr>
        <p:grpSpPr>
          <a:xfrm>
            <a:off x="533400" y="1524000"/>
            <a:ext cx="5842635" cy="3342322"/>
            <a:chOff x="533400" y="1524000"/>
            <a:chExt cx="5842635" cy="334232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842635" cy="3342322"/>
            </a:xfrm>
            <a:prstGeom prst="roundRect">
              <a:avLst>
                <a:gd name="adj" fmla="val 2850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3189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552450" y="2909888"/>
              <a:ext cx="5804535" cy="20288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552450" y="3112770"/>
              <a:ext cx="5804535" cy="20288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552450" y="3315652"/>
              <a:ext cx="5804535" cy="20288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661035" y="1937861"/>
              <a:ext cx="3375406" cy="28575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Singleton {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Singleton() { 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静态内部类，第一次被用到时才初始化 */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static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InstanceHolder {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static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final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Singleton INSTANCE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    =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Singleton();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static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Singleton getInstance() {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InstanceHolder.INSTANCE;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31" name="c2-steps-1"/>
          <p:cNvGrpSpPr/>
          <p:nvPr/>
        </p:nvGrpSpPr>
        <p:grpSpPr>
          <a:xfrm>
            <a:off x="6680835" y="1533525"/>
            <a:ext cx="4273435" cy="2411159"/>
            <a:chOff x="6680835" y="1533525"/>
            <a:chExt cx="4273435" cy="2411159"/>
          </a:xfrm>
        </p:grpSpPr>
        <p:sp>
          <p:nvSpPr>
            <p:cNvPr id="14" name="Rectangle 14"/>
            <p:cNvSpPr/>
            <p:nvPr/>
          </p:nvSpPr>
          <p:spPr>
            <a:xfrm>
              <a:off x="6814185" y="1676400"/>
              <a:ext cx="19050" cy="186213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Ellipse 15"/>
            <p:cNvSpPr/>
            <p:nvPr/>
          </p:nvSpPr>
          <p:spPr>
            <a:xfrm>
              <a:off x="6680835" y="1533525"/>
              <a:ext cx="285750" cy="2857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774459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6680835" y="2154555"/>
              <a:ext cx="285750" cy="2857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774459" y="222837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6680835" y="2775585"/>
              <a:ext cx="285750" cy="2857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774459" y="284940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6680835" y="3395662"/>
              <a:ext cx="285750" cy="2857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774459" y="346948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092696" y="1566386"/>
              <a:ext cx="9702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加载外层类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093839" y="1846898"/>
              <a:ext cx="33336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不会连带初始化 InstanceHolder，实例还没建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092696" y="2187416"/>
              <a:ext cx="9702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首次取实例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093839" y="2467927"/>
              <a:ext cx="386043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读 InstanceHolder.INSTANCE 才触发内部类的初始化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092696" y="2808446"/>
              <a:ext cx="58795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初始化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093839" y="3088957"/>
              <a:ext cx="280233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JVM 用类初始化锁保证这段只执行一次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092696" y="3429476"/>
              <a:ext cx="116144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之后每次调用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093839" y="3709988"/>
              <a:ext cx="308152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只是一次普通的静态字段读取，没有任何锁</a:t>
              </a:r>
            </a:p>
          </p:txBody>
        </p:sp>
      </p:grpSp>
      <p:grpSp>
        <p:nvGrpSpPr>
          <p:cNvPr id="38" name="c2-card-2"/>
          <p:cNvGrpSpPr/>
          <p:nvPr/>
        </p:nvGrpSpPr>
        <p:grpSpPr>
          <a:xfrm>
            <a:off x="6680835" y="4120515"/>
            <a:ext cx="4977765" cy="1293495"/>
            <a:chOff x="6680835" y="4120515"/>
            <a:chExt cx="4977765" cy="1293495"/>
          </a:xfrm>
        </p:grpSpPr>
        <p:sp>
          <p:nvSpPr>
            <p:cNvPr id="32" name="Rectangle 32"/>
            <p:cNvSpPr/>
            <p:nvPr/>
          </p:nvSpPr>
          <p:spPr>
            <a:xfrm>
              <a:off x="6680835" y="4120515"/>
              <a:ext cx="4977765" cy="1293495"/>
            </a:xfrm>
            <a:prstGeom prst="roundRect">
              <a:avLst>
                <a:gd name="adj" fmla="val 1030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6690360" y="4253865"/>
              <a:ext cx="47625" cy="102679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6922770" y="43243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7013931" y="43600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推荐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524179" y="4363879"/>
              <a:ext cx="211724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延迟和线程安全同时拿到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915531" y="4716304"/>
              <a:ext cx="4243451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效果和双重检查锁定一样，但正确性由 JVM 的类初始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化规则保证，写法上几乎没有出错的余地。</a:t>
              </a:r>
            </a:p>
          </p:txBody>
        </p:sp>
      </p:grpSp>
      <p:grpSp>
        <p:nvGrpSpPr>
          <p:cNvPr id="45" name="takeaway"/>
          <p:cNvGrpSpPr/>
          <p:nvPr/>
        </p:nvGrpSpPr>
        <p:grpSpPr>
          <a:xfrm>
            <a:off x="533400" y="5844540"/>
            <a:ext cx="11125200" cy="518160"/>
            <a:chOff x="533400" y="5844540"/>
            <a:chExt cx="11125200" cy="518160"/>
          </a:xfrm>
        </p:grpSpPr>
        <p:sp>
          <p:nvSpPr>
            <p:cNvPr id="39" name="Rectangle 39"/>
            <p:cNvSpPr/>
            <p:nvPr/>
          </p:nvSpPr>
          <p:spPr>
            <a:xfrm>
              <a:off x="533400" y="5844540"/>
              <a:ext cx="11125200" cy="518160"/>
            </a:xfrm>
            <a:prstGeom prst="roundRect">
              <a:avLst>
                <a:gd name="adj" fmla="val 2205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43" name="Group 43"/>
            <p:cNvGrpSpPr/>
            <p:nvPr/>
          </p:nvGrpSpPr>
          <p:grpSpPr>
            <a:xfrm>
              <a:off x="738188" y="6003608"/>
              <a:ext cx="200026" cy="200026"/>
              <a:chOff x="738188" y="6003608"/>
              <a:chExt cx="200026" cy="200026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738188" y="600360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838200" y="607028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827088" y="610362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44" name="TextBox 44"/>
            <p:cNvSpPr txBox="1"/>
            <p:nvPr/>
          </p:nvSpPr>
          <p:spPr>
            <a:xfrm>
              <a:off x="1040511" y="6004084"/>
              <a:ext cx="1035625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更正：陈伟老师课件把内部类的字段写成 </a:t>
              </a:r>
              <a:r>
                <a:rPr lang="en-US" sz="142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public static final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。内部类本身已经是 </a:t>
              </a:r>
              <a:r>
                <a:rPr lang="en-US" sz="142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private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，字段写 </a:t>
              </a:r>
              <a:r>
                <a:rPr lang="en-US" sz="142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static final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就够了。</a:t>
              </a:r>
            </a:p>
          </p:txBody>
        </p:sp>
      </p:grpSp>
      <p:grpSp>
        <p:nvGrpSpPr>
          <p:cNvPr id="4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6" name="TextBox 46"/>
            <p:cNvSpPr txBox="1"/>
            <p:nvPr/>
          </p:nvSpPr>
          <p:spPr>
            <a:xfrm>
              <a:off x="528447" y="6581299"/>
              <a:ext cx="14808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单例模式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620821" cy="909257"/>
            <a:chOff x="520446" y="342900"/>
            <a:chExt cx="462082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91928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7905" y="407194"/>
              <a:ext cx="17693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15 单例 · 六种 Java 写法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62082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枚举单例：把唯一性交给 JVM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8060055" cy="293370"/>
            <a:chOff x="525780" y="1548765"/>
            <a:chExt cx="8060055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80600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两位老师的课件都没有讲这种写法，但它在 Java 里最省事，也是考试和面试常问的一种。</a:t>
              </a:r>
            </a:p>
          </p:txBody>
        </p:sp>
      </p:grpSp>
      <p:grpSp>
        <p:nvGrpSpPr>
          <p:cNvPr id="13" name="c1-code-1"/>
          <p:cNvGrpSpPr/>
          <p:nvPr/>
        </p:nvGrpSpPr>
        <p:grpSpPr>
          <a:xfrm>
            <a:off x="533400" y="1954530"/>
            <a:ext cx="5410200" cy="3723322"/>
            <a:chOff x="533400" y="1954530"/>
            <a:chExt cx="5410200" cy="3723322"/>
          </a:xfrm>
        </p:grpSpPr>
        <p:sp>
          <p:nvSpPr>
            <p:cNvPr id="9" name="Rectangle 9"/>
            <p:cNvSpPr/>
            <p:nvPr/>
          </p:nvSpPr>
          <p:spPr>
            <a:xfrm>
              <a:off x="533400" y="1954530"/>
              <a:ext cx="5410200" cy="3723322"/>
            </a:xfrm>
            <a:prstGeom prst="roundRect">
              <a:avLst>
                <a:gd name="adj" fmla="val 2558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61797" y="2106454"/>
              <a:ext cx="3189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52450" y="2517458"/>
              <a:ext cx="5372100" cy="18954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661416" y="2367915"/>
              <a:ext cx="3217736" cy="323811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92"/>
                </a:lnSpc>
              </a:pP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enum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Singleton {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INSTANCE;            </a:t>
              </a:r>
              <a:r>
                <a:rPr lang="zh-CN" sz="105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唯一的枚举常量 */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count;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addCount() {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count++;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getCount() {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count;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105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使用 */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Singleton.INSTANCE.addCount();</a:t>
              </a:r>
              <a:br/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n = Singleton.INSTANCE.getCount();</a:t>
              </a:r>
            </a:p>
          </p:txBody>
        </p:sp>
      </p:grpSp>
      <p:grpSp>
        <p:nvGrpSpPr>
          <p:cNvPr id="21" name="c2-bullets-1"/>
          <p:cNvGrpSpPr/>
          <p:nvPr/>
        </p:nvGrpSpPr>
        <p:grpSpPr>
          <a:xfrm>
            <a:off x="6241161" y="1977866"/>
            <a:ext cx="5427269" cy="1811274"/>
            <a:chOff x="6241161" y="1977866"/>
            <a:chExt cx="5427269" cy="1811274"/>
          </a:xfrm>
        </p:grpSpPr>
        <p:sp>
          <p:nvSpPr>
            <p:cNvPr id="14" name="TextBox 14"/>
            <p:cNvSpPr txBox="1"/>
            <p:nvPr/>
          </p:nvSpPr>
          <p:spPr>
            <a:xfrm>
              <a:off x="6241161" y="1977866"/>
              <a:ext cx="173492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天生具备的三条保证</a:t>
              </a:r>
            </a:p>
          </p:txBody>
        </p:sp>
        <p:sp>
          <p:nvSpPr>
            <p:cNvPr id="15" name="Freeform 15"/>
            <p:cNvSpPr/>
            <p:nvPr/>
          </p:nvSpPr>
          <p:spPr>
            <a:xfrm>
              <a:off x="6248400" y="2344102"/>
              <a:ext cx="137160" cy="110490"/>
            </a:xfrm>
            <a:custGeom>
              <a:avLst/>
              <a:gdLst/>
              <a:ahLst/>
              <a:cxnLst/>
              <a:rect l="l" t="t" r="r" b="b"/>
              <a:pathLst>
                <a:path w="137160" h="110490">
                  <a:moveTo>
                    <a:pt x="0" y="58102"/>
                  </a:moveTo>
                  <a:lnTo>
                    <a:pt x="52388" y="110490"/>
                  </a:lnTo>
                  <a:lnTo>
                    <a:pt x="137160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492621" y="2314099"/>
              <a:ext cx="517580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枚举常量在类初始化方法里创建，线程安全由类初始化锁保证</a:t>
              </a:r>
            </a:p>
          </p:txBody>
        </p:sp>
        <p:sp>
          <p:nvSpPr>
            <p:cNvPr id="17" name="Freeform 17"/>
            <p:cNvSpPr/>
            <p:nvPr/>
          </p:nvSpPr>
          <p:spPr>
            <a:xfrm>
              <a:off x="6248400" y="2670810"/>
              <a:ext cx="137160" cy="110490"/>
            </a:xfrm>
            <a:custGeom>
              <a:avLst/>
              <a:gdLst/>
              <a:ahLst/>
              <a:cxnLst/>
              <a:rect l="l" t="t" r="r" b="b"/>
              <a:pathLst>
                <a:path w="137160" h="110490">
                  <a:moveTo>
                    <a:pt x="0" y="58103"/>
                  </a:moveTo>
                  <a:lnTo>
                    <a:pt x="52388" y="110490"/>
                  </a:lnTo>
                  <a:lnTo>
                    <a:pt x="137160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492621" y="2640806"/>
              <a:ext cx="4964811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反射调用枚举的构造函数会抛 IllegalArgumentException，走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不通</a:t>
              </a:r>
            </a:p>
          </p:txBody>
        </p:sp>
        <p:sp>
          <p:nvSpPr>
            <p:cNvPr id="19" name="Freeform 19"/>
            <p:cNvSpPr/>
            <p:nvPr/>
          </p:nvSpPr>
          <p:spPr>
            <a:xfrm>
              <a:off x="6248400" y="3268980"/>
              <a:ext cx="137160" cy="110490"/>
            </a:xfrm>
            <a:custGeom>
              <a:avLst/>
              <a:gdLst/>
              <a:ahLst/>
              <a:cxnLst/>
              <a:rect l="l" t="t" r="r" b="b"/>
              <a:pathLst>
                <a:path w="137160" h="110490">
                  <a:moveTo>
                    <a:pt x="0" y="58103"/>
                  </a:moveTo>
                  <a:lnTo>
                    <a:pt x="52388" y="110490"/>
                  </a:lnTo>
                  <a:lnTo>
                    <a:pt x="137160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492621" y="3238976"/>
              <a:ext cx="488365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序列化只写常量的名字，反序列化按名字查回同一个常量，不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会造出新对象</a:t>
              </a:r>
            </a:p>
          </p:txBody>
        </p:sp>
      </p:grpSp>
      <p:grpSp>
        <p:nvGrpSpPr>
          <p:cNvPr id="31" name="c2-card-2"/>
          <p:cNvGrpSpPr/>
          <p:nvPr/>
        </p:nvGrpSpPr>
        <p:grpSpPr>
          <a:xfrm>
            <a:off x="6248400" y="3912870"/>
            <a:ext cx="5410200" cy="1764982"/>
            <a:chOff x="6248400" y="3912870"/>
            <a:chExt cx="5410200" cy="1764982"/>
          </a:xfrm>
        </p:grpSpPr>
        <p:sp>
          <p:nvSpPr>
            <p:cNvPr id="22" name="Rectangle 22"/>
            <p:cNvSpPr/>
            <p:nvPr/>
          </p:nvSpPr>
          <p:spPr>
            <a:xfrm>
              <a:off x="6248400" y="3912870"/>
              <a:ext cx="5410200" cy="1764982"/>
            </a:xfrm>
            <a:prstGeom prst="roundRect">
              <a:avLst>
                <a:gd name="adj" fmla="val 755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6257925" y="4046220"/>
              <a:ext cx="47625" cy="1498282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6484620" y="4110990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576060" y="414528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代价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067931" y="4145756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两个限制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6492240" y="4550092"/>
              <a:ext cx="60960" cy="609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648831" y="4489609"/>
              <a:ext cx="441116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不能延迟创建：枚举类一加载，全部常量就都建好了</a:t>
              </a:r>
            </a:p>
          </p:txBody>
        </p:sp>
        <p:sp>
          <p:nvSpPr>
            <p:cNvPr id="29" name="Ellipse 29"/>
            <p:cNvSpPr/>
            <p:nvPr/>
          </p:nvSpPr>
          <p:spPr>
            <a:xfrm>
              <a:off x="6492240" y="4867275"/>
              <a:ext cx="60960" cy="609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648831" y="4807744"/>
              <a:ext cx="474308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不能继承别的类：枚举已经隐式继承了 java.lang.Enum</a:t>
              </a:r>
            </a:p>
          </p:txBody>
        </p:sp>
      </p:grpSp>
      <p:grpSp>
        <p:nvGrpSpPr>
          <p:cNvPr id="37" name="takeaway"/>
          <p:cNvGrpSpPr/>
          <p:nvPr/>
        </p:nvGrpSpPr>
        <p:grpSpPr>
          <a:xfrm>
            <a:off x="533400" y="5858828"/>
            <a:ext cx="11125200" cy="503872"/>
            <a:chOff x="533400" y="5858828"/>
            <a:chExt cx="11125200" cy="503872"/>
          </a:xfrm>
        </p:grpSpPr>
        <p:sp>
          <p:nvSpPr>
            <p:cNvPr id="32" name="Rectangle 32"/>
            <p:cNvSpPr/>
            <p:nvPr/>
          </p:nvSpPr>
          <p:spPr>
            <a:xfrm>
              <a:off x="533400" y="5858828"/>
              <a:ext cx="11125200" cy="503872"/>
            </a:xfrm>
            <a:prstGeom prst="roundRect">
              <a:avLst>
                <a:gd name="adj" fmla="val 22684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35" name="Group 35"/>
            <p:cNvGrpSpPr/>
            <p:nvPr/>
          </p:nvGrpSpPr>
          <p:grpSpPr>
            <a:xfrm>
              <a:off x="738188" y="6011230"/>
              <a:ext cx="200023" cy="200023"/>
              <a:chOff x="738188" y="6011230"/>
              <a:chExt cx="200023" cy="200023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738188" y="601123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871538" y="607790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36" name="TextBox 36"/>
            <p:cNvSpPr txBox="1"/>
            <p:nvPr/>
          </p:nvSpPr>
          <p:spPr>
            <a:xfrm>
              <a:off x="1040511" y="6011704"/>
              <a:ext cx="732879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《Effective Java》把单元素枚举列为实现单例的首选写法，前提是不需要延迟加载。</a:t>
              </a:r>
            </a:p>
          </p:txBody>
        </p:sp>
      </p:grpSp>
      <p:grpSp>
        <p:nvGrpSpPr>
          <p:cNvPr id="4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8" name="TextBox 38"/>
            <p:cNvSpPr txBox="1"/>
            <p:nvPr/>
          </p:nvSpPr>
          <p:spPr>
            <a:xfrm>
              <a:off x="528447" y="6581299"/>
              <a:ext cx="14808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单例模式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428875" cy="909257"/>
            <a:chOff x="520446" y="342900"/>
            <a:chExt cx="242887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91928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7905" y="407194"/>
              <a:ext cx="17693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15 单例 · 六种 Java 写法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42887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六种写法怎么选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41" name="c1-table-1"/>
          <p:cNvGrpSpPr/>
          <p:nvPr/>
        </p:nvGrpSpPr>
        <p:grpSpPr>
          <a:xfrm>
            <a:off x="533400" y="1524000"/>
            <a:ext cx="6059805" cy="4048125"/>
            <a:chOff x="533400" y="1524000"/>
            <a:chExt cx="6059805" cy="404812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059805" cy="448628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384262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场景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969311" y="165973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选哪一种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141874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理由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41223" y="2108359"/>
              <a:ext cx="163855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对象不大，启动时建也</a:t>
              </a:r>
              <a:br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无所谓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701480" y="2221706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枚举或饿汉式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155948" y="2221706"/>
              <a:ext cx="19084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代码最短，几乎不会写错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643188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647950"/>
              <a:ext cx="6059805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41223" y="2783681"/>
              <a:ext cx="163855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构造代价大，未必用得</a:t>
              </a:r>
              <a:br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上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701480" y="2897029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静态内部类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155948" y="2897029"/>
              <a:ext cx="208071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延迟创建且不用写同步代码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3319462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41223" y="3459004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要防住反射和序列化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701480" y="345900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枚举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155948" y="3459004"/>
              <a:ext cx="19084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其他写法都得另外打补丁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3768090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533400" y="3772852"/>
              <a:ext cx="6059805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41223" y="3907631"/>
              <a:ext cx="163855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老代码里已经是双重检</a:t>
              </a:r>
              <a:br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查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2701480" y="4020979"/>
              <a:ext cx="103822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补上 volatile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4155948" y="4020979"/>
              <a:ext cx="208071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缺了它可能拿到半成品对象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33400" y="4443412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41223" y="4583906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要按名字管理多个单例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2701480" y="4583906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注册式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155948" y="4583906"/>
              <a:ext cx="225303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容器持有一张名字到实例的表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533400" y="4892040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533400" y="4896802"/>
              <a:ext cx="6059805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41223" y="5145881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跨进程要求唯一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2603182" y="4906328"/>
              <a:ext cx="1435418" cy="656272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2701480" y="5145881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单例做不到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4155948" y="5032534"/>
              <a:ext cx="1606042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改用数据库、Redis 或</a:t>
              </a:r>
              <a:br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ZooKeeper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533400" y="1524000"/>
              <a:ext cx="6059805" cy="404812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9" name="Rectangle 39"/>
            <p:cNvSpPr/>
            <p:nvPr/>
          </p:nvSpPr>
          <p:spPr>
            <a:xfrm>
              <a:off x="2588895" y="1524000"/>
              <a:ext cx="9525" cy="40481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043362" y="1524000"/>
              <a:ext cx="9525" cy="40481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2" name="c2-compare-1"/>
          <p:cNvGrpSpPr/>
          <p:nvPr/>
        </p:nvGrpSpPr>
        <p:grpSpPr>
          <a:xfrm>
            <a:off x="6898005" y="1524000"/>
            <a:ext cx="4760595" cy="4048125"/>
            <a:chOff x="6898005" y="1524000"/>
            <a:chExt cx="4760595" cy="4048125"/>
          </a:xfrm>
        </p:grpSpPr>
        <p:sp>
          <p:nvSpPr>
            <p:cNvPr id="42" name="Rectangle 42"/>
            <p:cNvSpPr/>
            <p:nvPr/>
          </p:nvSpPr>
          <p:spPr>
            <a:xfrm>
              <a:off x="6898005" y="1524000"/>
              <a:ext cx="2132648" cy="4048125"/>
            </a:xfrm>
            <a:prstGeom prst="roundRect">
              <a:avLst>
                <a:gd name="adj" fmla="val 625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3" name="Rectangle 43"/>
            <p:cNvSpPr/>
            <p:nvPr/>
          </p:nvSpPr>
          <p:spPr>
            <a:xfrm>
              <a:off x="6907530" y="1657350"/>
              <a:ext cx="47625" cy="378142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7138035" y="1758315"/>
              <a:ext cx="137182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靠 JVM 保证的</a:t>
              </a:r>
            </a:p>
          </p:txBody>
        </p:sp>
        <p:sp>
          <p:nvSpPr>
            <p:cNvPr id="45" name="Ellipse 45"/>
            <p:cNvSpPr/>
            <p:nvPr/>
          </p:nvSpPr>
          <p:spPr>
            <a:xfrm>
              <a:off x="7151370" y="2175510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7309485" y="2112645"/>
              <a:ext cx="1348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饿汉式：类初始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化锁</a:t>
              </a:r>
            </a:p>
          </p:txBody>
        </p:sp>
        <p:sp>
          <p:nvSpPr>
            <p:cNvPr id="47" name="Ellipse 47"/>
            <p:cNvSpPr/>
            <p:nvPr/>
          </p:nvSpPr>
          <p:spPr>
            <a:xfrm>
              <a:off x="7151370" y="2796540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7309485" y="2733675"/>
              <a:ext cx="1348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静态内部类：类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初始化锁</a:t>
              </a:r>
            </a:p>
          </p:txBody>
        </p:sp>
        <p:sp>
          <p:nvSpPr>
            <p:cNvPr id="49" name="Ellipse 49"/>
            <p:cNvSpPr/>
            <p:nvPr/>
          </p:nvSpPr>
          <p:spPr>
            <a:xfrm>
              <a:off x="7151370" y="3417570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7309485" y="3354705"/>
              <a:ext cx="1348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枚举：类初始化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锁加语言规则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9525952" y="1524000"/>
              <a:ext cx="2132648" cy="4048125"/>
            </a:xfrm>
            <a:prstGeom prst="roundRect">
              <a:avLst>
                <a:gd name="adj" fmla="val 625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2" name="Rectangle 52"/>
            <p:cNvSpPr/>
            <p:nvPr/>
          </p:nvSpPr>
          <p:spPr>
            <a:xfrm>
              <a:off x="9535478" y="1657350"/>
              <a:ext cx="47625" cy="3781425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9765982" y="1758315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靠自己写锁的</a:t>
              </a:r>
            </a:p>
          </p:txBody>
        </p:sp>
        <p:sp>
          <p:nvSpPr>
            <p:cNvPr id="54" name="Ellipse 54"/>
            <p:cNvSpPr/>
            <p:nvPr/>
          </p:nvSpPr>
          <p:spPr>
            <a:xfrm>
              <a:off x="9779317" y="2175510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9937432" y="2112645"/>
              <a:ext cx="1348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同步方法：锁住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整个方法</a:t>
              </a:r>
            </a:p>
          </p:txBody>
        </p:sp>
        <p:sp>
          <p:nvSpPr>
            <p:cNvPr id="56" name="Ellipse 56"/>
            <p:cNvSpPr/>
            <p:nvPr/>
          </p:nvSpPr>
          <p:spPr>
            <a:xfrm>
              <a:off x="9779317" y="2796540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9937432" y="2733675"/>
              <a:ext cx="1348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双重检查：锁加</a:t>
              </a:r>
              <a:br/>
              <a:r>
                <a:rPr lang="en-US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volatile</a:t>
              </a:r>
            </a:p>
          </p:txBody>
        </p:sp>
        <p:sp>
          <p:nvSpPr>
            <p:cNvPr id="58" name="Ellipse 58"/>
            <p:cNvSpPr/>
            <p:nvPr/>
          </p:nvSpPr>
          <p:spPr>
            <a:xfrm>
              <a:off x="9779317" y="3417570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9937432" y="3354705"/>
              <a:ext cx="1348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裸懒汉式：没有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锁，是错的</a:t>
              </a:r>
            </a:p>
          </p:txBody>
        </p:sp>
        <p:sp>
          <p:nvSpPr>
            <p:cNvPr id="60" name="Ellipse 60"/>
            <p:cNvSpPr/>
            <p:nvPr/>
          </p:nvSpPr>
          <p:spPr>
            <a:xfrm>
              <a:off x="9078278" y="3348038"/>
              <a:ext cx="400050" cy="40005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9131618" y="3483293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归类</a:t>
              </a:r>
            </a:p>
          </p:txBody>
        </p:sp>
      </p:grpSp>
      <p:grpSp>
        <p:nvGrpSpPr>
          <p:cNvPr id="68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63" name="Rectangle 63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66" name="Group 66"/>
            <p:cNvGrpSpPr/>
            <p:nvPr/>
          </p:nvGrpSpPr>
          <p:grpSpPr>
            <a:xfrm>
              <a:off x="738188" y="5995990"/>
              <a:ext cx="200023" cy="200023"/>
              <a:chOff x="738188" y="5995990"/>
              <a:chExt cx="200023" cy="200023"/>
            </a:xfrm>
          </p:grpSpPr>
          <p:sp>
            <p:nvSpPr>
              <p:cNvPr id="64" name="Freeform 64"/>
              <p:cNvSpPr/>
              <p:nvPr/>
            </p:nvSpPr>
            <p:spPr>
              <a:xfrm>
                <a:off x="738188" y="599599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65" name="Freeform 65"/>
              <p:cNvSpPr/>
              <p:nvPr/>
            </p:nvSpPr>
            <p:spPr>
              <a:xfrm>
                <a:off x="871538" y="6062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67" name="TextBox 67"/>
            <p:cNvSpPr txBox="1"/>
            <p:nvPr/>
          </p:nvSpPr>
          <p:spPr>
            <a:xfrm>
              <a:off x="1040130" y="5991225"/>
              <a:ext cx="720166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三种靠 JVM 的写法都不需要你判断锁的范围，这也是它们更不容易写错的原因。</a:t>
              </a:r>
            </a:p>
          </p:txBody>
        </p:sp>
      </p:grpSp>
      <p:grpSp>
        <p:nvGrpSpPr>
          <p:cNvPr id="7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9" name="TextBox 69"/>
            <p:cNvSpPr txBox="1"/>
            <p:nvPr/>
          </p:nvSpPr>
          <p:spPr>
            <a:xfrm>
              <a:off x="528447" y="6581299"/>
              <a:ext cx="14808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单例模式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5B3FA0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EEAF7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2944368" cy="2997517"/>
            <a:chOff x="667512" y="1835468"/>
            <a:chExt cx="2944368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第三部分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2944368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谁会破坏单例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268224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私有构造函数并不是万能的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反射与序列化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克隆与多个类加载器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集群部署下的失效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14808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单例模式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801999" cy="909257"/>
            <a:chOff x="520446" y="342900"/>
            <a:chExt cx="380199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78593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5231" y="407194"/>
              <a:ext cx="16213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15 单例 · 谁会破坏单例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80199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反射能绕过私有构造函数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ode-1"/>
          <p:cNvGrpSpPr/>
          <p:nvPr/>
        </p:nvGrpSpPr>
        <p:grpSpPr>
          <a:xfrm>
            <a:off x="533400" y="1524000"/>
            <a:ext cx="5626418" cy="2327910"/>
            <a:chOff x="533400" y="1524000"/>
            <a:chExt cx="5626418" cy="232791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2327910"/>
            </a:xfrm>
            <a:prstGeom prst="roundRect">
              <a:avLst>
                <a:gd name="adj" fmla="val 4092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破坏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552450" y="2504122"/>
              <a:ext cx="5588318" cy="20288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552450" y="3112770"/>
              <a:ext cx="5588318" cy="20288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61035" y="1937861"/>
              <a:ext cx="3844798" cy="1843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反射把 private 构造函数打开 */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Constructor&lt;Singleton&gt; c =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Singleton.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.getDeclaredConstructor();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c.setAccessible(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true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Singleton a = Singleton.getInstance();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Singleton b = c.newInstance();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System.out.println(a == b);   </a:t>
              </a:r>
              <a:r>
                <a:rPr lang="en-US" sz="1120" dirty="0">
                  <a:solidFill>
                    <a:srgbClr val="0F7A68"/>
                  </a:solidFill>
                  <a:latin typeface="Consolas"/>
                  <a:ea typeface="Consolas"/>
                  <a:cs typeface="Consolas"/>
                </a:rPr>
                <a:t>/* false */</a:t>
              </a:r>
            </a:p>
          </p:txBody>
        </p:sp>
      </p:grpSp>
      <p:grpSp>
        <p:nvGrpSpPr>
          <p:cNvPr id="16" name="c1-code-2"/>
          <p:cNvGrpSpPr/>
          <p:nvPr/>
        </p:nvGrpSpPr>
        <p:grpSpPr>
          <a:xfrm>
            <a:off x="533400" y="4042410"/>
            <a:ext cx="5626418" cy="1719262"/>
            <a:chOff x="533400" y="4042410"/>
            <a:chExt cx="5626418" cy="1719262"/>
          </a:xfrm>
        </p:grpSpPr>
        <p:sp>
          <p:nvSpPr>
            <p:cNvPr id="13" name="Rectangle 13"/>
            <p:cNvSpPr/>
            <p:nvPr/>
          </p:nvSpPr>
          <p:spPr>
            <a:xfrm>
              <a:off x="533400" y="4042410"/>
              <a:ext cx="5626418" cy="1719262"/>
            </a:xfrm>
            <a:prstGeom prst="roundRect">
              <a:avLst>
                <a:gd name="adj" fmla="val 5540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61797" y="4194334"/>
              <a:ext cx="106532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在构造函数里设防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61035" y="4456271"/>
              <a:ext cx="3140710" cy="1234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Singleton() {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(INSTANCE !=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null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 {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throw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IllegalStateException(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    </a:t>
              </a:r>
              <a:r>
                <a:rPr lang="zh-CN" sz="1120" dirty="0">
                  <a:solidFill>
                    <a:srgbClr val="C2410C"/>
                  </a:solidFill>
                  <a:latin typeface="Consolas"/>
                  <a:ea typeface="Microsoft YaHei"/>
                  <a:cs typeface="Consolas"/>
                </a:rPr>
                <a:t>"单例类不允许重复实例化"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19" name="c2-image-1"/>
          <p:cNvGrpSpPr/>
          <p:nvPr/>
        </p:nvGrpSpPr>
        <p:grpSpPr>
          <a:xfrm>
            <a:off x="6464618" y="1524000"/>
            <a:ext cx="5193982" cy="1981677"/>
            <a:chOff x="6464618" y="1524000"/>
            <a:chExt cx="5193982" cy="1981677"/>
          </a:xfrm>
        </p:grpSpPr>
        <p:pic>
          <p:nvPicPr>
            <p:cNvPr id="17" name="Image 17"/>
            <p:cNvPicPr>
              <a:picLocks noChangeAspect="1"/>
            </p:cNvPicPr>
            <p:nvPr/>
          </p:nvPicPr>
          <p:blipFill>
            <a:blip r:embed="rId2"/>
            <a:srcRect l="0" t="28605" r="0" b="28605"/>
            <a:stretch>
              <a:fillRect/>
            </a:stretch>
          </p:blipFill>
          <p:spPr>
            <a:xfrm>
              <a:off x="6464618" y="1524000"/>
              <a:ext cx="5193982" cy="1666875"/>
            </a:xfrm>
            <a:prstGeom prst="roundRect">
              <a:avLst>
                <a:gd name="adj" fmla="val 8000"/>
              </a:avLst>
            </a:prstGeom>
          </p:spPr>
        </p:pic>
        <p:sp>
          <p:nvSpPr>
            <p:cNvPr id="18" name="TextBox 18"/>
            <p:cNvSpPr txBox="1"/>
            <p:nvPr/>
          </p:nvSpPr>
          <p:spPr>
            <a:xfrm>
              <a:off x="7774788" y="3285649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前台只发一张牌，侧门却能再进来一个</a:t>
              </a:r>
            </a:p>
          </p:txBody>
        </p:sp>
      </p:grpSp>
      <p:grpSp>
        <p:nvGrpSpPr>
          <p:cNvPr id="28" name="c2-card-2"/>
          <p:cNvGrpSpPr/>
          <p:nvPr/>
        </p:nvGrpSpPr>
        <p:grpSpPr>
          <a:xfrm>
            <a:off x="6464618" y="3670935"/>
            <a:ext cx="5193982" cy="2538412"/>
            <a:chOff x="6464618" y="3670935"/>
            <a:chExt cx="5193982" cy="2538412"/>
          </a:xfrm>
        </p:grpSpPr>
        <p:sp>
          <p:nvSpPr>
            <p:cNvPr id="20" name="Rectangle 20"/>
            <p:cNvSpPr/>
            <p:nvPr/>
          </p:nvSpPr>
          <p:spPr>
            <a:xfrm>
              <a:off x="6464618" y="3670935"/>
              <a:ext cx="5193982" cy="2538412"/>
            </a:xfrm>
            <a:prstGeom prst="roundRect">
              <a:avLst>
                <a:gd name="adj" fmla="val 525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6474142" y="3804285"/>
              <a:ext cx="47625" cy="2271712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6712268" y="388048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803428" y="391620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注意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313295" y="3915728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这道防线只对饿汉式可靠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704648" y="4276725"/>
              <a:ext cx="45396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饿汉式的 INSTANCE 在类初始化时就赋好了，之后任何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反射调用都会撞上这个判断。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704648" y="4897755"/>
              <a:ext cx="4539615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懒汉式的 instance 是构造函数返回之后才赋值的。先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反射建一个、再调 getInstance()，这个判断拦不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住。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705791" y="5801201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想彻底挡住，用枚举</a:t>
              </a:r>
            </a:p>
          </p:txBody>
        </p:sp>
      </p:grpSp>
      <p:grpSp>
        <p:nvGrpSpPr>
          <p:cNvPr id="3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29" name="TextBox 29"/>
            <p:cNvSpPr txBox="1"/>
            <p:nvPr/>
          </p:nvSpPr>
          <p:spPr>
            <a:xfrm>
              <a:off x="528447" y="6581299"/>
              <a:ext cx="14808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单例模式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518404" cy="909257"/>
            <a:chOff x="520446" y="342900"/>
            <a:chExt cx="551840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78593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5231" y="407194"/>
              <a:ext cx="16213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15 单例 · 谁会破坏单例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51840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序列化和反序列化会造出第二个实例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8023162" cy="308039"/>
            <a:chOff x="525399" y="1550194"/>
            <a:chExt cx="8023162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8023162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ObjectInputStream 还原对象时不走构造函数，而是直接分配空间再按字段填回去。</a:t>
              </a:r>
            </a:p>
          </p:txBody>
        </p:sp>
      </p:grpSp>
      <p:grpSp>
        <p:nvGrpSpPr>
          <p:cNvPr id="15" name="c1-code-1"/>
          <p:cNvGrpSpPr/>
          <p:nvPr/>
        </p:nvGrpSpPr>
        <p:grpSpPr>
          <a:xfrm>
            <a:off x="533400" y="1967865"/>
            <a:ext cx="5951220" cy="3545205"/>
            <a:chOff x="533400" y="1967865"/>
            <a:chExt cx="5951220" cy="3545205"/>
          </a:xfrm>
        </p:grpSpPr>
        <p:sp>
          <p:nvSpPr>
            <p:cNvPr id="9" name="Rectangle 9"/>
            <p:cNvSpPr/>
            <p:nvPr/>
          </p:nvSpPr>
          <p:spPr>
            <a:xfrm>
              <a:off x="533400" y="1967865"/>
              <a:ext cx="5951220" cy="3545205"/>
            </a:xfrm>
            <a:prstGeom prst="roundRect">
              <a:avLst>
                <a:gd name="adj" fmla="val 2687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61797" y="2119789"/>
              <a:ext cx="3189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52450" y="4368165"/>
              <a:ext cx="5913120" cy="20288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2" name="Rectangle 12"/>
            <p:cNvSpPr/>
            <p:nvPr/>
          </p:nvSpPr>
          <p:spPr>
            <a:xfrm>
              <a:off x="552450" y="4571048"/>
              <a:ext cx="5913120" cy="20288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552450" y="4773930"/>
              <a:ext cx="5913120" cy="20288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61035" y="2381726"/>
              <a:ext cx="3766566" cy="3060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Singleton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implements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Serializable {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static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final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Singleton INSTANCE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=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Singleton();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Singleton() { 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static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Singleton getInstance() {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INSTANCE;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反序列化时用它替换刚读出来的新对象 */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Object readResolve() {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INSTANCE;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33" name="c2-steps-1"/>
          <p:cNvGrpSpPr/>
          <p:nvPr/>
        </p:nvGrpSpPr>
        <p:grpSpPr>
          <a:xfrm>
            <a:off x="6789420" y="1977390"/>
            <a:ext cx="4219727" cy="2529173"/>
            <a:chOff x="6789420" y="1977390"/>
            <a:chExt cx="4219727" cy="2529173"/>
          </a:xfrm>
        </p:grpSpPr>
        <p:sp>
          <p:nvSpPr>
            <p:cNvPr id="16" name="Rectangle 16"/>
            <p:cNvSpPr/>
            <p:nvPr/>
          </p:nvSpPr>
          <p:spPr>
            <a:xfrm>
              <a:off x="6922770" y="2120265"/>
              <a:ext cx="19050" cy="19526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Ellipse 17"/>
            <p:cNvSpPr/>
            <p:nvPr/>
          </p:nvSpPr>
          <p:spPr>
            <a:xfrm>
              <a:off x="6789420" y="1977390"/>
              <a:ext cx="285750" cy="2857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883044" y="205120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6789420" y="2627948"/>
              <a:ext cx="285750" cy="2857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883044" y="270176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6789420" y="3278505"/>
              <a:ext cx="285750" cy="2857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883044" y="335232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6789420" y="3929062"/>
              <a:ext cx="285750" cy="2857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883044" y="400288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200900" y="2011680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写出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202043" y="2304574"/>
              <a:ext cx="322652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ObjectOutputStream 把字段写进字节流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200900" y="2662238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读回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202043" y="2955131"/>
              <a:ext cx="34592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分配对象、逐个填字段，构造函数完全不执行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200900" y="3312795"/>
              <a:ext cx="171911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没有 readResolve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202043" y="3606641"/>
              <a:ext cx="38071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得到的是一个全新对象，和 INSTANCE 不是同一个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200900" y="3963352"/>
              <a:ext cx="151718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 readResolve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202043" y="4257199"/>
              <a:ext cx="363154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序列化机制调用它，用返回值替换刚读出的对象</a:t>
              </a:r>
            </a:p>
          </p:txBody>
        </p:sp>
      </p:grpSp>
      <p:grpSp>
        <p:nvGrpSpPr>
          <p:cNvPr id="40" name="c2-card-2"/>
          <p:cNvGrpSpPr/>
          <p:nvPr/>
        </p:nvGrpSpPr>
        <p:grpSpPr>
          <a:xfrm>
            <a:off x="6789420" y="4684395"/>
            <a:ext cx="4869180" cy="1631632"/>
            <a:chOff x="6789420" y="4684395"/>
            <a:chExt cx="4869180" cy="1631632"/>
          </a:xfrm>
        </p:grpSpPr>
        <p:sp>
          <p:nvSpPr>
            <p:cNvPr id="34" name="Rectangle 34"/>
            <p:cNvSpPr/>
            <p:nvPr/>
          </p:nvSpPr>
          <p:spPr>
            <a:xfrm>
              <a:off x="6789420" y="4684395"/>
              <a:ext cx="4869180" cy="1631632"/>
            </a:xfrm>
            <a:prstGeom prst="roundRect">
              <a:avLst>
                <a:gd name="adj" fmla="val 8173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6998970" y="4893945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462F80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081279" y="492966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签名要求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883842" y="4929188"/>
              <a:ext cx="232490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readResolve 必须这样写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991350" y="5290185"/>
              <a:ext cx="41205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返回类型 </a:t>
              </a:r>
              <a:r>
                <a:rPr lang="en-US" sz="1500" dirty="0">
                  <a:solidFill>
                    <a:srgbClr val="EEEAF7"/>
                  </a:solidFill>
                  <a:latin typeface="+mn-lt"/>
                  <a:ea typeface="+mn-ea"/>
                  <a:cs typeface="+mn-cs"/>
                </a:rPr>
                <a:t>Object</a:t>
              </a: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，没有参数，方法名固定。可以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声明成 </a:t>
              </a:r>
              <a:r>
                <a:rPr lang="en-US" sz="1500" dirty="0">
                  <a:solidFill>
                    <a:srgbClr val="EEEAF7"/>
                  </a:solidFill>
                  <a:latin typeface="+mn-lt"/>
                  <a:ea typeface="+mn-ea"/>
                  <a:cs typeface="+mn-cs"/>
                </a:rPr>
                <a:t>private</a:t>
              </a: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，序列化机制通过反射调用它。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992493" y="5907881"/>
              <a:ext cx="247216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枚举不用写，JVM 已经这么做了</a:t>
              </a:r>
            </a:p>
          </p:txBody>
        </p:sp>
      </p:grpSp>
      <p:grpSp>
        <p:nvGrpSpPr>
          <p:cNvPr id="4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1" name="TextBox 41"/>
            <p:cNvSpPr txBox="1"/>
            <p:nvPr/>
          </p:nvSpPr>
          <p:spPr>
            <a:xfrm>
              <a:off x="528447" y="6581299"/>
              <a:ext cx="14808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单例模式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175123" cy="909257"/>
            <a:chOff x="520446" y="342900"/>
            <a:chExt cx="517512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78593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5231" y="407194"/>
              <a:ext cx="16213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15 单例 · 谁会破坏单例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17512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还有两条路：克隆和多个类加载器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5" name="c1-card-1"/>
          <p:cNvGrpSpPr/>
          <p:nvPr/>
        </p:nvGrpSpPr>
        <p:grpSpPr>
          <a:xfrm>
            <a:off x="533400" y="1524000"/>
            <a:ext cx="5410200" cy="1529715"/>
            <a:chOff x="533400" y="1524000"/>
            <a:chExt cx="5410200" cy="152971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529715"/>
            </a:xfrm>
            <a:prstGeom prst="roundRect">
              <a:avLst>
                <a:gd name="adj" fmla="val 871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263015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3905" y="1716405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5345" y="1750695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克隆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47597" y="1756410"/>
              <a:ext cx="219798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单例类不要实现 Cloneable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57047" y="2090738"/>
              <a:ext cx="407708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en-US" sz="135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Object.clone()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也不走构造函数。单例类只要不实现</a:t>
              </a:r>
              <a:br/>
              <a:r>
                <a:rPr lang="en-US" sz="135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Cloneable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，就没有这个口子。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72478" y="2706052"/>
              <a:ext cx="59055" cy="5905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28497" y="2649855"/>
              <a:ext cx="386654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如果父类已经实现了，就覆盖 </a:t>
              </a:r>
              <a:r>
                <a:rPr lang="en-US" sz="135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clone()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把它堵上</a:t>
              </a:r>
            </a:p>
          </p:txBody>
        </p:sp>
      </p:grpSp>
      <p:grpSp>
        <p:nvGrpSpPr>
          <p:cNvPr id="19" name="c1-code-2"/>
          <p:cNvGrpSpPr/>
          <p:nvPr/>
        </p:nvGrpSpPr>
        <p:grpSpPr>
          <a:xfrm>
            <a:off x="533400" y="3228022"/>
            <a:ext cx="5410200" cy="1640205"/>
            <a:chOff x="533400" y="3228022"/>
            <a:chExt cx="5410200" cy="1640205"/>
          </a:xfrm>
        </p:grpSpPr>
        <p:sp>
          <p:nvSpPr>
            <p:cNvPr id="16" name="Rectangle 16"/>
            <p:cNvSpPr/>
            <p:nvPr/>
          </p:nvSpPr>
          <p:spPr>
            <a:xfrm>
              <a:off x="533400" y="3228022"/>
              <a:ext cx="5410200" cy="1640205"/>
            </a:xfrm>
            <a:prstGeom prst="roundRect">
              <a:avLst>
                <a:gd name="adj" fmla="val 5807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61797" y="3379946"/>
              <a:ext cx="3189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61416" y="3641408"/>
              <a:ext cx="3164396" cy="11530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92"/>
                </a:lnSpc>
              </a:pP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@Override</a:t>
              </a:r>
              <a:br/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protected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Object clone()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throws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CloneNotSupportedException {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throw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CloneNotSupportedException(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</a:t>
              </a:r>
              <a:r>
                <a:rPr lang="zh-CN" sz="1050" dirty="0">
                  <a:solidFill>
                    <a:srgbClr val="C2410C"/>
                  </a:solidFill>
                  <a:latin typeface="Consolas"/>
                  <a:ea typeface="Microsoft YaHei"/>
                  <a:cs typeface="Consolas"/>
                </a:rPr>
                <a:t>"单例类不支持克隆"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26" name="c1-card-3"/>
          <p:cNvGrpSpPr/>
          <p:nvPr/>
        </p:nvGrpSpPr>
        <p:grpSpPr>
          <a:xfrm>
            <a:off x="533400" y="5043488"/>
            <a:ext cx="5410200" cy="1226820"/>
            <a:chOff x="533400" y="5043488"/>
            <a:chExt cx="5410200" cy="1226820"/>
          </a:xfrm>
        </p:grpSpPr>
        <p:sp>
          <p:nvSpPr>
            <p:cNvPr id="20" name="Rectangle 20"/>
            <p:cNvSpPr/>
            <p:nvPr/>
          </p:nvSpPr>
          <p:spPr>
            <a:xfrm>
              <a:off x="533400" y="5043488"/>
              <a:ext cx="5410200" cy="1226820"/>
            </a:xfrm>
            <a:prstGeom prst="roundRect">
              <a:avLst>
                <a:gd name="adj" fmla="val 1087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542925" y="5176838"/>
              <a:ext cx="47625" cy="96012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763905" y="5235892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55345" y="5270183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小结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347597" y="5275898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三条后门的共同点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57047" y="5610225"/>
              <a:ext cx="46428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反射、反序列化、克隆都绕过了构造函数。把构造函数设成私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有只挡住了正门，这三扇侧门要一扇一扇单独堵。</a:t>
              </a:r>
            </a:p>
          </p:txBody>
        </p:sp>
      </p:grpSp>
      <p:grpSp>
        <p:nvGrpSpPr>
          <p:cNvPr id="37" name="c2-card-1"/>
          <p:cNvGrpSpPr/>
          <p:nvPr/>
        </p:nvGrpSpPr>
        <p:grpSpPr>
          <a:xfrm>
            <a:off x="6248400" y="1524000"/>
            <a:ext cx="5410200" cy="2346008"/>
            <a:chOff x="6248400" y="1524000"/>
            <a:chExt cx="5410200" cy="2346008"/>
          </a:xfrm>
        </p:grpSpPr>
        <p:sp>
          <p:nvSpPr>
            <p:cNvPr id="27" name="Rectangle 27"/>
            <p:cNvSpPr/>
            <p:nvPr/>
          </p:nvSpPr>
          <p:spPr>
            <a:xfrm>
              <a:off x="6248400" y="1524000"/>
              <a:ext cx="5410200" cy="2346008"/>
            </a:xfrm>
            <a:prstGeom prst="roundRect">
              <a:avLst>
                <a:gd name="adj" fmla="val 568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257925" y="1657350"/>
              <a:ext cx="47625" cy="2079308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6478905" y="1716405"/>
              <a:ext cx="742950" cy="247650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562344" y="1750695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类加载器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329297" y="175641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唯一性只在一个命名空间里成立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472047" y="2090738"/>
              <a:ext cx="466001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同一个 class 文件被两个类加载器分别加载，会得到两个不同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 Class 对象，各有一份静态变量，于是有两个实例。</a:t>
              </a:r>
            </a:p>
          </p:txBody>
        </p:sp>
        <p:sp>
          <p:nvSpPr>
            <p:cNvPr id="33" name="Ellipse 33"/>
            <p:cNvSpPr/>
            <p:nvPr/>
          </p:nvSpPr>
          <p:spPr>
            <a:xfrm>
              <a:off x="6487478" y="2706052"/>
              <a:ext cx="59055" cy="5905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643497" y="2649855"/>
              <a:ext cx="449713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Web 容器给每个应用一个类加载器，同一个 jar 被多个应用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各加载一次就会这样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6487478" y="3266122"/>
              <a:ext cx="59055" cy="5905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643497" y="3209925"/>
              <a:ext cx="44714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对策是把这个类交给共同的父加载器，或者在取实例时显式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指定线程上下文类加载器</a:t>
              </a:r>
            </a:p>
          </p:txBody>
        </p:sp>
      </p:grpSp>
      <p:grpSp>
        <p:nvGrpSpPr>
          <p:cNvPr id="46" name="c2-kv-2"/>
          <p:cNvGrpSpPr/>
          <p:nvPr/>
        </p:nvGrpSpPr>
        <p:grpSpPr>
          <a:xfrm>
            <a:off x="6241542" y="4067175"/>
            <a:ext cx="5417058" cy="2074735"/>
            <a:chOff x="6241542" y="4067175"/>
            <a:chExt cx="5417058" cy="2074735"/>
          </a:xfrm>
        </p:grpSpPr>
        <p:sp>
          <p:nvSpPr>
            <p:cNvPr id="38" name="TextBox 38"/>
            <p:cNvSpPr txBox="1"/>
            <p:nvPr/>
          </p:nvSpPr>
          <p:spPr>
            <a:xfrm>
              <a:off x="6241542" y="40671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常见场景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560754" y="4067175"/>
              <a:ext cx="3785616" cy="5173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同一个 jar 被容器里的两个应用各加载一次，热部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署也会这样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248400" y="461010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241542" y="471963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怎么确认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560754" y="4719638"/>
              <a:ext cx="3845624" cy="77076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打印两个实例的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getClass().getClassLoader()，不同就是加载器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问题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6248400" y="551592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241542" y="5624512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和反射的区别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7560754" y="5624512"/>
              <a:ext cx="3785616" cy="5173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反射是绕过构造函数；类加载器是两个实例根本不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属于同一个类</a:t>
              </a:r>
            </a:p>
          </p:txBody>
        </p:sp>
      </p:grpSp>
      <p:grpSp>
        <p:nvGrpSpPr>
          <p:cNvPr id="4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7" name="TextBox 47"/>
            <p:cNvSpPr txBox="1"/>
            <p:nvPr/>
          </p:nvSpPr>
          <p:spPr>
            <a:xfrm>
              <a:off x="528447" y="6581299"/>
              <a:ext cx="14808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单例模式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831842" cy="909257"/>
            <a:chOff x="520446" y="342900"/>
            <a:chExt cx="483184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78593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5231" y="407194"/>
              <a:ext cx="16213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15 单例 · 谁会破坏单例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83184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集群部署之后，单例就不再唯一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7373000" cy="308039"/>
            <a:chOff x="525399" y="1550194"/>
            <a:chExt cx="7373000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7373000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单例的作用域是一个 JVM 进程。同一个应用部署到三个节点，就有三个实例。</a:t>
              </a:r>
            </a:p>
          </p:txBody>
        </p:sp>
      </p:grpSp>
      <p:grpSp>
        <p:nvGrpSpPr>
          <p:cNvPr id="23" name="c1-flow-1"/>
          <p:cNvGrpSpPr/>
          <p:nvPr/>
        </p:nvGrpSpPr>
        <p:grpSpPr>
          <a:xfrm>
            <a:off x="666750" y="2152650"/>
            <a:ext cx="4493895" cy="1629727"/>
            <a:chOff x="666750" y="2152650"/>
            <a:chExt cx="4493895" cy="1629727"/>
          </a:xfrm>
        </p:grpSpPr>
        <p:sp>
          <p:nvSpPr>
            <p:cNvPr id="9" name="Freeform 9"/>
            <p:cNvSpPr/>
            <p:nvPr/>
          </p:nvSpPr>
          <p:spPr>
            <a:xfrm>
              <a:off x="1326832" y="2782252"/>
              <a:ext cx="1586865" cy="265747"/>
            </a:xfrm>
            <a:custGeom>
              <a:avLst/>
              <a:gdLst/>
              <a:ahLst/>
              <a:cxnLst/>
              <a:rect l="l" t="t" r="r" b="b"/>
              <a:pathLst>
                <a:path w="1586865" h="265747">
                  <a:moveTo>
                    <a:pt x="0" y="0"/>
                  </a:moveTo>
                  <a:lnTo>
                    <a:pt x="0" y="185738"/>
                  </a:lnTo>
                  <a:lnTo>
                    <a:pt x="1586865" y="185738"/>
                  </a:lnTo>
                  <a:lnTo>
                    <a:pt x="1586865" y="265747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2861310" y="304800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2913698" y="2782252"/>
              <a:ext cx="9525" cy="265747"/>
            </a:xfrm>
            <a:custGeom>
              <a:avLst/>
              <a:gdLst/>
              <a:ahLst/>
              <a:cxnLst/>
              <a:rect l="l" t="t" r="r" b="b"/>
              <a:pathLst>
                <a:path w="9525" h="265747">
                  <a:moveTo>
                    <a:pt x="0" y="0"/>
                  </a:moveTo>
                  <a:lnTo>
                    <a:pt x="0" y="265747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2861310" y="304800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2913698" y="2782252"/>
              <a:ext cx="1586865" cy="265747"/>
            </a:xfrm>
            <a:custGeom>
              <a:avLst/>
              <a:gdLst/>
              <a:ahLst/>
              <a:cxnLst/>
              <a:rect l="l" t="t" r="r" b="b"/>
              <a:pathLst>
                <a:path w="1586865" h="265747">
                  <a:moveTo>
                    <a:pt x="1586865" y="0"/>
                  </a:moveTo>
                  <a:lnTo>
                    <a:pt x="1586865" y="185738"/>
                  </a:lnTo>
                  <a:lnTo>
                    <a:pt x="0" y="185738"/>
                  </a:lnTo>
                  <a:lnTo>
                    <a:pt x="0" y="265747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2861310" y="304800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666750" y="2152650"/>
              <a:ext cx="1320165" cy="629602"/>
            </a:xfrm>
            <a:prstGeom prst="roundRect">
              <a:avLst>
                <a:gd name="adj" fmla="val 15129"/>
              </a:avLst>
            </a:prstGeom>
            <a:solidFill>
              <a:srgbClr val="FFFFFF"/>
            </a:solidFill>
            <a:ln w="15240">
              <a:solidFill>
                <a:srgbClr val="5B3FA0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2253615" y="2152650"/>
              <a:ext cx="1320165" cy="629602"/>
            </a:xfrm>
            <a:prstGeom prst="roundRect">
              <a:avLst>
                <a:gd name="adj" fmla="val 15129"/>
              </a:avLst>
            </a:prstGeom>
            <a:solidFill>
              <a:srgbClr val="FFFFFF"/>
            </a:solidFill>
            <a:ln w="15240">
              <a:solidFill>
                <a:srgbClr val="5B3FA0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3840480" y="2152650"/>
              <a:ext cx="1320165" cy="629602"/>
            </a:xfrm>
            <a:prstGeom prst="roundRect">
              <a:avLst>
                <a:gd name="adj" fmla="val 15129"/>
              </a:avLst>
            </a:prstGeom>
            <a:solidFill>
              <a:srgbClr val="FFFFFF"/>
            </a:solidFill>
            <a:ln w="15240">
              <a:solidFill>
                <a:srgbClr val="5B3FA0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2253615" y="3152775"/>
              <a:ext cx="1320165" cy="629602"/>
            </a:xfrm>
            <a:prstGeom prst="roundRect">
              <a:avLst>
                <a:gd name="adj" fmla="val 15129"/>
              </a:avLst>
            </a:prstGeom>
            <a:solidFill>
              <a:srgbClr val="EEEAF7"/>
            </a:solidFill>
            <a:ln w="19050">
              <a:solidFill>
                <a:srgbClr val="5B3FA0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95236" y="2269331"/>
              <a:ext cx="663194" cy="468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2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节点 1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一个实例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582100" y="2269331"/>
              <a:ext cx="663194" cy="468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2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节点 2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一个实例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168966" y="2269331"/>
              <a:ext cx="663194" cy="468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2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节点 3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一个实例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2500820" y="3269456"/>
              <a:ext cx="825754" cy="468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2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共享的数据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库</a:t>
              </a:r>
            </a:p>
          </p:txBody>
        </p:sp>
      </p:grpSp>
      <p:grpSp>
        <p:nvGrpSpPr>
          <p:cNvPr id="30" name="c1-callout-2"/>
          <p:cNvGrpSpPr/>
          <p:nvPr/>
        </p:nvGrpSpPr>
        <p:grpSpPr>
          <a:xfrm>
            <a:off x="533400" y="4158615"/>
            <a:ext cx="4760595" cy="1367790"/>
            <a:chOff x="533400" y="4158615"/>
            <a:chExt cx="4760595" cy="1367790"/>
          </a:xfrm>
        </p:grpSpPr>
        <p:sp>
          <p:nvSpPr>
            <p:cNvPr id="24" name="Rectangle 24"/>
            <p:cNvSpPr/>
            <p:nvPr/>
          </p:nvSpPr>
          <p:spPr>
            <a:xfrm>
              <a:off x="533400" y="4158615"/>
              <a:ext cx="4760595" cy="1367790"/>
            </a:xfrm>
            <a:prstGeom prst="roundRect">
              <a:avLst>
                <a:gd name="adj" fmla="val 8357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28" name="Group 28"/>
            <p:cNvGrpSpPr/>
            <p:nvPr/>
          </p:nvGrpSpPr>
          <p:grpSpPr>
            <a:xfrm>
              <a:off x="726129" y="4738806"/>
              <a:ext cx="224134" cy="192560"/>
              <a:chOff x="726129" y="4738806"/>
              <a:chExt cx="224134" cy="192560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838200" y="480917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26" name="Freeform 26"/>
              <p:cNvSpPr/>
              <p:nvPr/>
            </p:nvSpPr>
            <p:spPr>
              <a:xfrm>
                <a:off x="726129" y="473880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838200" y="488696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29" name="TextBox 29"/>
            <p:cNvSpPr txBox="1"/>
            <p:nvPr/>
          </p:nvSpPr>
          <p:spPr>
            <a:xfrm>
              <a:off x="1040130" y="4599622"/>
              <a:ext cx="384429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三个节点各有一个“唯一实例”，从整个系统看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就是三个。</a:t>
              </a:r>
            </a:p>
          </p:txBody>
        </p:sp>
      </p:grpSp>
      <p:grpSp>
        <p:nvGrpSpPr>
          <p:cNvPr id="40" name="c2-bullets-1"/>
          <p:cNvGrpSpPr/>
          <p:nvPr/>
        </p:nvGrpSpPr>
        <p:grpSpPr>
          <a:xfrm>
            <a:off x="5591175" y="1992630"/>
            <a:ext cx="5916930" cy="1682115"/>
            <a:chOff x="5591175" y="1992630"/>
            <a:chExt cx="5916930" cy="1682115"/>
          </a:xfrm>
        </p:grpSpPr>
        <p:sp>
          <p:nvSpPr>
            <p:cNvPr id="31" name="TextBox 31"/>
            <p:cNvSpPr txBox="1"/>
            <p:nvPr/>
          </p:nvSpPr>
          <p:spPr>
            <a:xfrm>
              <a:off x="5591175" y="1992630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集群下会出问题的用法</a:t>
              </a:r>
            </a:p>
          </p:txBody>
        </p:sp>
        <p:sp>
          <p:nvSpPr>
            <p:cNvPr id="32" name="Freeform 32"/>
            <p:cNvSpPr/>
            <p:nvPr/>
          </p:nvSpPr>
          <p:spPr>
            <a:xfrm>
              <a:off x="5598795" y="2383155"/>
              <a:ext cx="114300" cy="114300"/>
            </a:xfrm>
            <a:custGeom>
              <a:avLst/>
              <a:gdLst/>
              <a:ahLst/>
              <a:cxnLst/>
              <a:rect l="l" t="t" r="r" b="b"/>
              <a:pathLst>
                <a:path w="114300" h="114300">
                  <a:moveTo>
                    <a:pt x="0" y="0"/>
                  </a:moveTo>
                  <a:lnTo>
                    <a:pt x="114300" y="114300"/>
                  </a:lnTo>
                  <a:moveTo>
                    <a:pt x="114300" y="0"/>
                  </a:moveTo>
                  <a:lnTo>
                    <a:pt x="0" y="114300"/>
                  </a:lnTo>
                </a:path>
              </a:pathLst>
            </a:custGeom>
            <a:noFill/>
            <a:ln w="24765" cap="rnd">
              <a:solidFill>
                <a:srgbClr val="B42318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5838825" y="2346960"/>
              <a:ext cx="56692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本地缓存：三份各缓存各的，更新了一份，另外两份还是旧数据</a:t>
              </a:r>
            </a:p>
          </p:txBody>
        </p:sp>
        <p:sp>
          <p:nvSpPr>
            <p:cNvPr id="34" name="Freeform 34"/>
            <p:cNvSpPr/>
            <p:nvPr/>
          </p:nvSpPr>
          <p:spPr>
            <a:xfrm>
              <a:off x="5598795" y="2727960"/>
              <a:ext cx="114300" cy="114300"/>
            </a:xfrm>
            <a:custGeom>
              <a:avLst/>
              <a:gdLst/>
              <a:ahLst/>
              <a:cxnLst/>
              <a:rect l="l" t="t" r="r" b="b"/>
              <a:pathLst>
                <a:path w="114300" h="114300">
                  <a:moveTo>
                    <a:pt x="0" y="0"/>
                  </a:moveTo>
                  <a:lnTo>
                    <a:pt x="114300" y="114300"/>
                  </a:lnTo>
                  <a:moveTo>
                    <a:pt x="114300" y="0"/>
                  </a:moveTo>
                  <a:lnTo>
                    <a:pt x="0" y="114300"/>
                  </a:lnTo>
                </a:path>
              </a:pathLst>
            </a:custGeom>
            <a:noFill/>
            <a:ln w="24765" cap="rnd">
              <a:solidFill>
                <a:srgbClr val="B42318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5838825" y="2691765"/>
              <a:ext cx="38519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计数器：各数各的，三个数加起来才是总数</a:t>
              </a:r>
            </a:p>
          </p:txBody>
        </p:sp>
        <p:sp>
          <p:nvSpPr>
            <p:cNvPr id="36" name="Freeform 36"/>
            <p:cNvSpPr/>
            <p:nvPr/>
          </p:nvSpPr>
          <p:spPr>
            <a:xfrm>
              <a:off x="5598795" y="3072765"/>
              <a:ext cx="114300" cy="114300"/>
            </a:xfrm>
            <a:custGeom>
              <a:avLst/>
              <a:gdLst/>
              <a:ahLst/>
              <a:cxnLst/>
              <a:rect l="l" t="t" r="r" b="b"/>
              <a:pathLst>
                <a:path w="114300" h="114300">
                  <a:moveTo>
                    <a:pt x="0" y="0"/>
                  </a:moveTo>
                  <a:lnTo>
                    <a:pt x="114300" y="114300"/>
                  </a:lnTo>
                  <a:moveTo>
                    <a:pt x="114300" y="0"/>
                  </a:moveTo>
                  <a:lnTo>
                    <a:pt x="0" y="114300"/>
                  </a:lnTo>
                </a:path>
              </a:pathLst>
            </a:custGeom>
            <a:noFill/>
            <a:ln w="24765" cap="rnd">
              <a:solidFill>
                <a:srgbClr val="B42318"/>
              </a:solidFill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5838825" y="3036570"/>
              <a:ext cx="44577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定时任务：三个节点同时触发，同一件事做了三遍</a:t>
              </a:r>
            </a:p>
          </p:txBody>
        </p:sp>
        <p:sp>
          <p:nvSpPr>
            <p:cNvPr id="38" name="Freeform 38"/>
            <p:cNvSpPr/>
            <p:nvPr/>
          </p:nvSpPr>
          <p:spPr>
            <a:xfrm>
              <a:off x="5598795" y="3417570"/>
              <a:ext cx="114300" cy="114300"/>
            </a:xfrm>
            <a:custGeom>
              <a:avLst/>
              <a:gdLst/>
              <a:ahLst/>
              <a:cxnLst/>
              <a:rect l="l" t="t" r="r" b="b"/>
              <a:pathLst>
                <a:path w="114300" h="114300">
                  <a:moveTo>
                    <a:pt x="0" y="0"/>
                  </a:moveTo>
                  <a:lnTo>
                    <a:pt x="114300" y="114300"/>
                  </a:lnTo>
                  <a:moveTo>
                    <a:pt x="114300" y="0"/>
                  </a:moveTo>
                  <a:lnTo>
                    <a:pt x="0" y="114300"/>
                  </a:lnTo>
                </a:path>
              </a:pathLst>
            </a:custGeom>
            <a:noFill/>
            <a:ln w="24765" cap="rnd">
              <a:solidFill>
                <a:srgbClr val="B42318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5838825" y="3381375"/>
              <a:ext cx="42860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自增主键生成器：各自从 1 开始，主键必然重复</a:t>
              </a:r>
            </a:p>
          </p:txBody>
        </p:sp>
      </p:grpSp>
      <p:grpSp>
        <p:nvGrpSpPr>
          <p:cNvPr id="51" name="c2-card-2"/>
          <p:cNvGrpSpPr/>
          <p:nvPr/>
        </p:nvGrpSpPr>
        <p:grpSpPr>
          <a:xfrm>
            <a:off x="5598795" y="3806190"/>
            <a:ext cx="6059805" cy="1720215"/>
            <a:chOff x="5598795" y="3806190"/>
            <a:chExt cx="6059805" cy="1720215"/>
          </a:xfrm>
        </p:grpSpPr>
        <p:sp>
          <p:nvSpPr>
            <p:cNvPr id="41" name="Rectangle 41"/>
            <p:cNvSpPr/>
            <p:nvPr/>
          </p:nvSpPr>
          <p:spPr>
            <a:xfrm>
              <a:off x="5598795" y="3806190"/>
              <a:ext cx="6059805" cy="1720215"/>
            </a:xfrm>
            <a:prstGeom prst="roundRect">
              <a:avLst>
                <a:gd name="adj" fmla="val 7752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5808345" y="401574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462F80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5899506" y="405145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对策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409373" y="4050982"/>
              <a:ext cx="226776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把“唯一”下沉到进程外面</a:t>
              </a:r>
            </a:p>
          </p:txBody>
        </p:sp>
        <p:sp>
          <p:nvSpPr>
            <p:cNvPr id="45" name="Ellipse 45"/>
            <p:cNvSpPr/>
            <p:nvPr/>
          </p:nvSpPr>
          <p:spPr>
            <a:xfrm>
              <a:off x="5814060" y="4474845"/>
              <a:ext cx="64770" cy="6477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5972175" y="4411980"/>
              <a:ext cx="409262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发号：数据库序列、Redis 的 </a:t>
              </a:r>
              <a:r>
                <a:rPr lang="en-US" sz="1500" dirty="0">
                  <a:solidFill>
                    <a:srgbClr val="EEEAF7"/>
                  </a:solidFill>
                  <a:latin typeface="+mn-lt"/>
                  <a:ea typeface="+mn-ea"/>
                  <a:cs typeface="+mn-cs"/>
                </a:rPr>
                <a:t>INCR</a:t>
              </a: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、雪花算法</a:t>
              </a:r>
            </a:p>
          </p:txBody>
        </p:sp>
        <p:sp>
          <p:nvSpPr>
            <p:cNvPr id="47" name="Ellipse 47"/>
            <p:cNvSpPr/>
            <p:nvPr/>
          </p:nvSpPr>
          <p:spPr>
            <a:xfrm>
              <a:off x="5814060" y="4810125"/>
              <a:ext cx="64770" cy="6477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5972175" y="4747260"/>
              <a:ext cx="529525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互斥：数据库行锁、Redis 分布式锁、ZooKeeper 临时节点</a:t>
              </a:r>
            </a:p>
          </p:txBody>
        </p:sp>
        <p:sp>
          <p:nvSpPr>
            <p:cNvPr id="49" name="Ellipse 49"/>
            <p:cNvSpPr/>
            <p:nvPr/>
          </p:nvSpPr>
          <p:spPr>
            <a:xfrm>
              <a:off x="5814060" y="5145405"/>
              <a:ext cx="64770" cy="6477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5972175" y="5082540"/>
              <a:ext cx="54673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或者把单例做成无状态的，只当工具用，多几个实例也没关系</a:t>
              </a:r>
            </a:p>
          </p:txBody>
        </p:sp>
      </p:grpSp>
      <p:grpSp>
        <p:nvGrpSpPr>
          <p:cNvPr id="58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52" name="Rectangle 52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56" name="Group 56"/>
            <p:cNvGrpSpPr/>
            <p:nvPr/>
          </p:nvGrpSpPr>
          <p:grpSpPr>
            <a:xfrm>
              <a:off x="738188" y="5995988"/>
              <a:ext cx="200026" cy="200026"/>
              <a:chOff x="738188" y="5995988"/>
              <a:chExt cx="200026" cy="200026"/>
            </a:xfrm>
          </p:grpSpPr>
          <p:sp>
            <p:nvSpPr>
              <p:cNvPr id="53" name="Freeform 53"/>
              <p:cNvSpPr/>
              <p:nvPr/>
            </p:nvSpPr>
            <p:spPr>
              <a:xfrm>
                <a:off x="738188" y="599598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4" name="Freeform 54"/>
              <p:cNvSpPr/>
              <p:nvPr/>
            </p:nvSpPr>
            <p:spPr>
              <a:xfrm>
                <a:off x="838200" y="6062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5" name="Freeform 55"/>
              <p:cNvSpPr/>
              <p:nvPr/>
            </p:nvSpPr>
            <p:spPr>
              <a:xfrm>
                <a:off x="827088" y="609600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57" name="TextBox 57"/>
            <p:cNvSpPr txBox="1"/>
            <p:nvPr/>
          </p:nvSpPr>
          <p:spPr>
            <a:xfrm>
              <a:off x="1040130" y="5991225"/>
              <a:ext cx="80924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张欣佳老师课件举的自动编号主键生成器，在单机上成立，上了集群就要换成上面的方案。</a:t>
              </a:r>
            </a:p>
          </p:txBody>
        </p:sp>
      </p:grpSp>
      <p:grpSp>
        <p:nvGrpSpPr>
          <p:cNvPr id="6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9" name="TextBox 59"/>
            <p:cNvSpPr txBox="1"/>
            <p:nvPr/>
          </p:nvSpPr>
          <p:spPr>
            <a:xfrm>
              <a:off x="528447" y="6581299"/>
              <a:ext cx="14808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单例模式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5B3FA0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EEAF7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4024884" cy="3351847"/>
            <a:chOff x="667512" y="1835468"/>
            <a:chExt cx="4024884" cy="335184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第四部分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2944368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课件中的实例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401497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四个例子，从最简单的写到工程里真用的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身份证号码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打印池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注册式单例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大富翁的菜单管理器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14808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单例模式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488561" cy="909257"/>
            <a:chOff x="520446" y="342900"/>
            <a:chExt cx="448856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78593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5231" y="407194"/>
              <a:ext cx="16213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15 单例 · 课件中的实例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48856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实例一：身份证号码只发一次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8698230" cy="293370"/>
            <a:chOff x="525780" y="1548765"/>
            <a:chExt cx="8698230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86982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居民身份证号码具有唯一性。第一次申请时分配一个号码，之后因遗失补办，还是用原来的号码。</a:t>
              </a:r>
            </a:p>
          </p:txBody>
        </p:sp>
      </p:grpSp>
      <p:grpSp>
        <p:nvGrpSpPr>
          <p:cNvPr id="20" name="c1-uml-1"/>
          <p:cNvGrpSpPr/>
          <p:nvPr/>
        </p:nvGrpSpPr>
        <p:grpSpPr>
          <a:xfrm>
            <a:off x="2098358" y="2264092"/>
            <a:ext cx="3713796" cy="1598295"/>
            <a:chOff x="2098358" y="2264092"/>
            <a:chExt cx="3713796" cy="1598295"/>
          </a:xfrm>
        </p:grpSpPr>
        <p:sp>
          <p:nvSpPr>
            <p:cNvPr id="9" name="Freeform 9"/>
            <p:cNvSpPr/>
            <p:nvPr/>
          </p:nvSpPr>
          <p:spPr>
            <a:xfrm>
              <a:off x="4811078" y="2711768"/>
              <a:ext cx="323850" cy="702945"/>
            </a:xfrm>
            <a:custGeom>
              <a:avLst/>
              <a:gdLst/>
              <a:ahLst/>
              <a:cxnLst/>
              <a:rect l="l" t="t" r="r" b="b"/>
              <a:pathLst>
                <a:path w="323850" h="702945">
                  <a:moveTo>
                    <a:pt x="0" y="0"/>
                  </a:moveTo>
                  <a:lnTo>
                    <a:pt x="323850" y="0"/>
                  </a:lnTo>
                  <a:lnTo>
                    <a:pt x="323850" y="702945"/>
                  </a:lnTo>
                  <a:lnTo>
                    <a:pt x="0" y="702945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4811078" y="3357562"/>
              <a:ext cx="104775" cy="115253"/>
            </a:xfrm>
            <a:custGeom>
              <a:avLst/>
              <a:gdLst/>
              <a:ahLst/>
              <a:cxnLst/>
              <a:rect l="l" t="t" r="r" b="b"/>
              <a:pathLst>
                <a:path w="104775" h="115253">
                  <a:moveTo>
                    <a:pt x="104775" y="0"/>
                  </a:moveTo>
                  <a:lnTo>
                    <a:pt x="0" y="57150"/>
                  </a:lnTo>
                  <a:lnTo>
                    <a:pt x="104775" y="115253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11" name="Rectangle 11"/>
            <p:cNvSpPr/>
            <p:nvPr/>
          </p:nvSpPr>
          <p:spPr>
            <a:xfrm>
              <a:off x="2098358" y="2264092"/>
              <a:ext cx="2712720" cy="1598295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2105978" y="2271712"/>
              <a:ext cx="2698432" cy="26479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2098358" y="2530792"/>
              <a:ext cx="271272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2098358" y="3005138"/>
              <a:ext cx="271272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2872162" y="2328386"/>
              <a:ext cx="11651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IdentityCardNo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2169224" y="2603182"/>
              <a:ext cx="1790891" cy="39490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92"/>
                </a:lnSpc>
              </a:pPr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- instance : IdentityCardNo</a:t>
              </a:r>
            </a:p>
            <a:p>
              <a:pPr algn="l">
                <a:lnSpc>
                  <a:spcPts val="1492"/>
                </a:lnSpc>
              </a:pPr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- no : String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169224" y="3077528"/>
              <a:ext cx="2570988" cy="77400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92"/>
                </a:lnSpc>
              </a:pPr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- IdentityCardNo()</a:t>
              </a:r>
              <a:br/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getInstance() : IdentityCardNo</a:t>
              </a:r>
            </a:p>
            <a:p>
              <a:pPr algn="l">
                <a:lnSpc>
                  <a:spcPts val="1492"/>
                </a:lnSpc>
              </a:pPr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- setIdentityCardNo(no : String) : void</a:t>
              </a:r>
              <a:br/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getIdentityCardNo() : String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5163502" y="2970848"/>
              <a:ext cx="648652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5186744" y="2997518"/>
              <a:ext cx="59727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instance</a:t>
              </a:r>
            </a:p>
          </p:txBody>
        </p:sp>
      </p:grpSp>
      <p:grpSp>
        <p:nvGrpSpPr>
          <p:cNvPr id="27" name="c1-callout-2"/>
          <p:cNvGrpSpPr/>
          <p:nvPr/>
        </p:nvGrpSpPr>
        <p:grpSpPr>
          <a:xfrm>
            <a:off x="533400" y="4357688"/>
            <a:ext cx="5842635" cy="1658302"/>
            <a:chOff x="533400" y="4357688"/>
            <a:chExt cx="5842635" cy="1658302"/>
          </a:xfrm>
        </p:grpSpPr>
        <p:sp>
          <p:nvSpPr>
            <p:cNvPr id="21" name="Rectangle 21"/>
            <p:cNvSpPr/>
            <p:nvPr/>
          </p:nvSpPr>
          <p:spPr>
            <a:xfrm>
              <a:off x="533400" y="4357688"/>
              <a:ext cx="5842635" cy="1658302"/>
            </a:xfrm>
            <a:prstGeom prst="roundRect">
              <a:avLst>
                <a:gd name="adj" fmla="val 6893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25" name="Group 25"/>
            <p:cNvGrpSpPr/>
            <p:nvPr/>
          </p:nvGrpSpPr>
          <p:grpSpPr>
            <a:xfrm>
              <a:off x="738188" y="5086350"/>
              <a:ext cx="200026" cy="200026"/>
              <a:chOff x="738188" y="5086350"/>
              <a:chExt cx="200026" cy="200026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738188" y="508635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838200" y="515302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827088" y="5186363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26" name="TextBox 26"/>
            <p:cNvSpPr txBox="1"/>
            <p:nvPr/>
          </p:nvSpPr>
          <p:spPr>
            <a:xfrm>
              <a:off x="1040511" y="4955381"/>
              <a:ext cx="4829556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类图取自张欣佳老师课件第 11 页，右边那条线是指向自身的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关联。</a:t>
              </a:r>
            </a:p>
          </p:txBody>
        </p:sp>
      </p:grpSp>
      <p:grpSp>
        <p:nvGrpSpPr>
          <p:cNvPr id="39" name="c2-kv-1"/>
          <p:cNvGrpSpPr/>
          <p:nvPr/>
        </p:nvGrpSpPr>
        <p:grpSpPr>
          <a:xfrm>
            <a:off x="6673596" y="1977866"/>
            <a:ext cx="4985004" cy="2615184"/>
            <a:chOff x="6673596" y="1977866"/>
            <a:chExt cx="4985004" cy="2615184"/>
          </a:xfrm>
        </p:grpSpPr>
        <p:sp>
          <p:nvSpPr>
            <p:cNvPr id="28" name="TextBox 28"/>
            <p:cNvSpPr txBox="1"/>
            <p:nvPr/>
          </p:nvSpPr>
          <p:spPr>
            <a:xfrm>
              <a:off x="6673596" y="1977866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现实规则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884348" y="1977866"/>
              <a:ext cx="2539238" cy="5463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一个人只有一个身份证号码，补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办时沿用原号，不产生新号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680835" y="2551748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673596" y="2667476"/>
              <a:ext cx="9702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对应到代码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884348" y="2667476"/>
              <a:ext cx="2449068" cy="5463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IdentityCardNo 只允许一个实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例，号码存在 no 字段里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680835" y="3241358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673596" y="3357086"/>
              <a:ext cx="140656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getInstance()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884348" y="3357086"/>
              <a:ext cx="2539238" cy="5463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第一次调用时分配号码，之后直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接返回已经存在的那个实例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6680835" y="3930968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673596" y="4046696"/>
              <a:ext cx="203157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setIdentityCardNo()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884348" y="4046696"/>
              <a:ext cx="2539238" cy="5463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私有方法，只在第一次创建时由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类自己调用，外部改不了</a:t>
              </a:r>
            </a:p>
          </p:txBody>
        </p:sp>
      </p:grpSp>
      <p:grpSp>
        <p:nvGrpSpPr>
          <p:cNvPr id="46" name="c2-card-2"/>
          <p:cNvGrpSpPr/>
          <p:nvPr/>
        </p:nvGrpSpPr>
        <p:grpSpPr>
          <a:xfrm>
            <a:off x="6680835" y="4722495"/>
            <a:ext cx="4977765" cy="1293495"/>
            <a:chOff x="6680835" y="4722495"/>
            <a:chExt cx="4977765" cy="1293495"/>
          </a:xfrm>
        </p:grpSpPr>
        <p:sp>
          <p:nvSpPr>
            <p:cNvPr id="40" name="Rectangle 40"/>
            <p:cNvSpPr/>
            <p:nvPr/>
          </p:nvSpPr>
          <p:spPr>
            <a:xfrm>
              <a:off x="6680835" y="4722495"/>
              <a:ext cx="4977765" cy="1293495"/>
            </a:xfrm>
            <a:prstGeom prst="roundRect">
              <a:avLst>
                <a:gd name="adj" fmla="val 1030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1" name="Rectangle 41"/>
            <p:cNvSpPr/>
            <p:nvPr/>
          </p:nvSpPr>
          <p:spPr>
            <a:xfrm>
              <a:off x="6690360" y="4855845"/>
              <a:ext cx="47625" cy="1026795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6922770" y="4926330"/>
              <a:ext cx="636270" cy="25717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7009028" y="4962049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观察点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7666101" y="4965859"/>
              <a:ext cx="307304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号码存在哪里，决定了唯一性从哪来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915531" y="5317331"/>
              <a:ext cx="416229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号码是实例字段，不是静态字段。全系统只有一个号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码，是因为全系统只有一个 IdentityCardNo 对象。</a:t>
              </a:r>
            </a:p>
          </p:txBody>
        </p:sp>
      </p:grpSp>
      <p:grpSp>
        <p:nvGrpSpPr>
          <p:cNvPr id="4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7" name="TextBox 47"/>
            <p:cNvSpPr txBox="1"/>
            <p:nvPr/>
          </p:nvSpPr>
          <p:spPr>
            <a:xfrm>
              <a:off x="528447" y="6581299"/>
              <a:ext cx="14808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单例模式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801999" cy="909257"/>
            <a:chOff x="520446" y="342900"/>
            <a:chExt cx="380199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78593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5231" y="407194"/>
              <a:ext cx="16213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15 单例 · 课件中的实例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80199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实例一的代码与运行结果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ode-1"/>
          <p:cNvGrpSpPr/>
          <p:nvPr/>
        </p:nvGrpSpPr>
        <p:grpSpPr>
          <a:xfrm>
            <a:off x="533400" y="1524000"/>
            <a:ext cx="6167438" cy="4022408"/>
            <a:chOff x="533400" y="1524000"/>
            <a:chExt cx="6167438" cy="402240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167438" cy="4022408"/>
            </a:xfrm>
            <a:prstGeom prst="roundRect">
              <a:avLst>
                <a:gd name="adj" fmla="val 2368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40568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单例类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552450" y="3129915"/>
              <a:ext cx="6129338" cy="17621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552450" y="3833812"/>
              <a:ext cx="6129338" cy="17621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61797" y="1935956"/>
              <a:ext cx="4185539" cy="35387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IdentityCardNo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static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IdentityCardNo instance =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null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String no;            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身份证号码 */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IdentityCardNo() {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static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IdentityCardNo getInstance()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(instance ==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null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 {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System.out.println(</a:t>
              </a:r>
              <a:r>
                <a:rPr lang="zh-CN" sz="980" dirty="0">
                  <a:solidFill>
                    <a:srgbClr val="C2410C"/>
                  </a:solidFill>
                  <a:latin typeface="Consolas"/>
                  <a:ea typeface="Microsoft YaHei"/>
                  <a:cs typeface="Consolas"/>
                </a:rPr>
                <a:t>"第一次办理，分配新号码。"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instance =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IdentityCardNo();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instance.setIdentityCardNo(</a:t>
              </a:r>
              <a:r>
                <a:rPr lang="en-US" sz="98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"JL0001"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}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else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{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System.out.println(</a:t>
              </a:r>
              <a:r>
                <a:rPr lang="zh-CN" sz="980" dirty="0">
                  <a:solidFill>
                    <a:srgbClr val="C2410C"/>
                  </a:solidFill>
                  <a:latin typeface="Consolas"/>
                  <a:ea typeface="Microsoft YaHei"/>
                  <a:cs typeface="Consolas"/>
                </a:rPr>
                <a:t>"重复办理，使用原号码。"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instance;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setIdentityCardNo(String n) {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.no = n;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String getIdentityCardNo() {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.no;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16" name="c2-code-1"/>
          <p:cNvGrpSpPr/>
          <p:nvPr/>
        </p:nvGrpSpPr>
        <p:grpSpPr>
          <a:xfrm>
            <a:off x="7005638" y="1524000"/>
            <a:ext cx="4652962" cy="1561148"/>
            <a:chOff x="7005638" y="1524000"/>
            <a:chExt cx="4652962" cy="1561148"/>
          </a:xfrm>
        </p:grpSpPr>
        <p:sp>
          <p:nvSpPr>
            <p:cNvPr id="13" name="Rectangle 13"/>
            <p:cNvSpPr/>
            <p:nvPr/>
          </p:nvSpPr>
          <p:spPr>
            <a:xfrm>
              <a:off x="7005638" y="1524000"/>
              <a:ext cx="4652962" cy="1561148"/>
            </a:xfrm>
            <a:prstGeom prst="roundRect">
              <a:avLst>
                <a:gd name="adj" fmla="val 6101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7134034" y="1675924"/>
              <a:ext cx="40568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客户端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134034" y="1935956"/>
              <a:ext cx="2884932" cy="10717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IdentityCardNo a =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IdentityCardNo.getInstance();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IdentityCardNo b =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IdentityCardNo.getInstance();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System.out.println(a == b);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System.out.println(a.getIdentityCardNo());</a:t>
              </a:r>
            </a:p>
          </p:txBody>
        </p:sp>
      </p:grpSp>
      <p:grpSp>
        <p:nvGrpSpPr>
          <p:cNvPr id="27" name="c2-card-2"/>
          <p:cNvGrpSpPr/>
          <p:nvPr/>
        </p:nvGrpSpPr>
        <p:grpSpPr>
          <a:xfrm>
            <a:off x="7005638" y="3254692"/>
            <a:ext cx="4652962" cy="2291715"/>
            <a:chOff x="7005638" y="3254692"/>
            <a:chExt cx="4652962" cy="2291715"/>
          </a:xfrm>
        </p:grpSpPr>
        <p:sp>
          <p:nvSpPr>
            <p:cNvPr id="17" name="Rectangle 17"/>
            <p:cNvSpPr/>
            <p:nvPr/>
          </p:nvSpPr>
          <p:spPr>
            <a:xfrm>
              <a:off x="7005638" y="3254692"/>
              <a:ext cx="4652962" cy="2291715"/>
            </a:xfrm>
            <a:prstGeom prst="roundRect">
              <a:avLst>
                <a:gd name="adj" fmla="val 581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015162" y="3388042"/>
              <a:ext cx="47625" cy="202501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7230428" y="3441382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323099" y="3474244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输出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796974" y="3476625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控制台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224712" y="3799046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第一次办理，分配新号码。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224712" y="4060031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重复办理，使用原号码。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224712" y="4321969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true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224712" y="4582954"/>
              <a:ext cx="5371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JL0001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223570" y="4848225"/>
              <a:ext cx="39570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两次拿到的是同一个引用，所以比较结果为真，取到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的也是同一个号码。</a:t>
              </a:r>
            </a:p>
          </p:txBody>
        </p:sp>
      </p:grpSp>
      <p:grpSp>
        <p:nvGrpSpPr>
          <p:cNvPr id="34" name="takeaway"/>
          <p:cNvGrpSpPr/>
          <p:nvPr/>
        </p:nvGrpSpPr>
        <p:grpSpPr>
          <a:xfrm>
            <a:off x="533400" y="5881688"/>
            <a:ext cx="11125200" cy="481012"/>
            <a:chOff x="533400" y="5881688"/>
            <a:chExt cx="11125200" cy="481012"/>
          </a:xfrm>
        </p:grpSpPr>
        <p:sp>
          <p:nvSpPr>
            <p:cNvPr id="28" name="Rectangle 28"/>
            <p:cNvSpPr/>
            <p:nvPr/>
          </p:nvSpPr>
          <p:spPr>
            <a:xfrm>
              <a:off x="533400" y="5881688"/>
              <a:ext cx="11125200" cy="481012"/>
            </a:xfrm>
            <a:prstGeom prst="roundRect">
              <a:avLst>
                <a:gd name="adj" fmla="val 23762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32" name="Group 32"/>
            <p:cNvGrpSpPr/>
            <p:nvPr/>
          </p:nvGrpSpPr>
          <p:grpSpPr>
            <a:xfrm>
              <a:off x="738188" y="6022658"/>
              <a:ext cx="200026" cy="200026"/>
              <a:chOff x="738188" y="6022658"/>
              <a:chExt cx="200026" cy="200026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738188" y="602265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838200" y="608933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827088" y="612267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33" name="TextBox 33"/>
            <p:cNvSpPr txBox="1"/>
            <p:nvPr/>
          </p:nvSpPr>
          <p:spPr>
            <a:xfrm>
              <a:off x="1040892" y="6028373"/>
              <a:ext cx="730514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号码 JL0001 是虚构的示例值，课件里同样只是一个占位字符串，不代表真实的号码格式。</a:t>
              </a:r>
            </a:p>
          </p:txBody>
        </p:sp>
      </p:grpSp>
      <p:grpSp>
        <p:nvGrpSpPr>
          <p:cNvPr id="3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5" name="TextBox 35"/>
            <p:cNvSpPr txBox="1"/>
            <p:nvPr/>
          </p:nvSpPr>
          <p:spPr>
            <a:xfrm>
              <a:off x="528447" y="6581299"/>
              <a:ext cx="14808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单例模式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204966" cy="909257"/>
            <a:chOff x="520446" y="342900"/>
            <a:chExt cx="620496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78593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5231" y="407194"/>
              <a:ext cx="16213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15 单例 · 课件中的实例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20496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实例二：一个系统只允许运行一个打印池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7646670" cy="264033"/>
            <a:chOff x="526542" y="1545907"/>
            <a:chExt cx="7646670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764667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打印池管理打印任务，用户可以删除、中止或改变任务优先级。课件要求重复创建时抛出异常。</a:t>
              </a:r>
            </a:p>
          </p:txBody>
        </p:sp>
      </p:grpSp>
      <p:grpSp>
        <p:nvGrpSpPr>
          <p:cNvPr id="30" name="c1-uml-1"/>
          <p:cNvGrpSpPr/>
          <p:nvPr/>
        </p:nvGrpSpPr>
        <p:grpSpPr>
          <a:xfrm>
            <a:off x="1817370" y="2009775"/>
            <a:ext cx="3103245" cy="2066925"/>
            <a:chOff x="1817370" y="2009775"/>
            <a:chExt cx="3103245" cy="2066925"/>
          </a:xfrm>
        </p:grpSpPr>
        <p:sp>
          <p:nvSpPr>
            <p:cNvPr id="9" name="Freeform 9"/>
            <p:cNvSpPr/>
            <p:nvPr/>
          </p:nvSpPr>
          <p:spPr>
            <a:xfrm>
              <a:off x="2967990" y="3084195"/>
              <a:ext cx="9525" cy="404812"/>
            </a:xfrm>
            <a:custGeom>
              <a:avLst/>
              <a:gdLst/>
              <a:ahLst/>
              <a:cxnLst/>
              <a:rect l="l" t="t" r="r" b="b"/>
              <a:pathLst>
                <a:path w="9525" h="404812">
                  <a:moveTo>
                    <a:pt x="0" y="0"/>
                  </a:moveTo>
                  <a:lnTo>
                    <a:pt x="0" y="404812"/>
                  </a:lnTo>
                </a:path>
              </a:pathLst>
            </a:custGeom>
            <a:noFill/>
            <a:ln w="15240">
              <a:solidFill>
                <a:srgbClr val="1F2937"/>
              </a:solidFill>
              <a:custDash>
                <a:ds d="375000" sp="250000"/>
              </a:custDash>
            </a:ln>
          </p:spPr>
        </p:sp>
        <p:sp>
          <p:nvSpPr>
            <p:cNvPr id="10" name="Freeform 10"/>
            <p:cNvSpPr/>
            <p:nvPr/>
          </p:nvSpPr>
          <p:spPr>
            <a:xfrm>
              <a:off x="2910840" y="3384232"/>
              <a:ext cx="115252" cy="104775"/>
            </a:xfrm>
            <a:custGeom>
              <a:avLst/>
              <a:gdLst/>
              <a:ahLst/>
              <a:cxnLst/>
              <a:rect l="l" t="t" r="r" b="b"/>
              <a:pathLst>
                <a:path w="115252" h="104775">
                  <a:moveTo>
                    <a:pt x="0" y="0"/>
                  </a:moveTo>
                  <a:lnTo>
                    <a:pt x="57150" y="104775"/>
                  </a:lnTo>
                  <a:lnTo>
                    <a:pt x="115252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11" name="Freeform 11"/>
            <p:cNvSpPr/>
            <p:nvPr/>
          </p:nvSpPr>
          <p:spPr>
            <a:xfrm>
              <a:off x="3998595" y="2310765"/>
              <a:ext cx="323850" cy="472440"/>
            </a:xfrm>
            <a:custGeom>
              <a:avLst/>
              <a:gdLst/>
              <a:ahLst/>
              <a:cxnLst/>
              <a:rect l="l" t="t" r="r" b="b"/>
              <a:pathLst>
                <a:path w="323850" h="472440">
                  <a:moveTo>
                    <a:pt x="0" y="0"/>
                  </a:moveTo>
                  <a:lnTo>
                    <a:pt x="323850" y="0"/>
                  </a:lnTo>
                  <a:lnTo>
                    <a:pt x="323850" y="472440"/>
                  </a:lnTo>
                  <a:lnTo>
                    <a:pt x="0" y="47244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3998595" y="2726055"/>
              <a:ext cx="104775" cy="115253"/>
            </a:xfrm>
            <a:custGeom>
              <a:avLst/>
              <a:gdLst/>
              <a:ahLst/>
              <a:cxnLst/>
              <a:rect l="l" t="t" r="r" b="b"/>
              <a:pathLst>
                <a:path w="104775" h="115253">
                  <a:moveTo>
                    <a:pt x="104775" y="0"/>
                  </a:moveTo>
                  <a:lnTo>
                    <a:pt x="0" y="57150"/>
                  </a:lnTo>
                  <a:lnTo>
                    <a:pt x="104775" y="115253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13" name="Rectangle 13"/>
            <p:cNvSpPr/>
            <p:nvPr/>
          </p:nvSpPr>
          <p:spPr>
            <a:xfrm>
              <a:off x="1937385" y="2009775"/>
              <a:ext cx="2061210" cy="1075372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1944052" y="2016442"/>
              <a:ext cx="2046922" cy="227648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1937385" y="2240280"/>
              <a:ext cx="206121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1937385" y="2497455"/>
              <a:ext cx="206121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1817370" y="3489008"/>
              <a:ext cx="2301240" cy="587692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1824038" y="3496628"/>
              <a:ext cx="2286952" cy="227648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1817370" y="3719512"/>
              <a:ext cx="230124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1817370" y="3814762"/>
              <a:ext cx="230124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2226414" y="2065496"/>
              <a:ext cx="148315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PrintSpoolerSingleton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2008822" y="2309812"/>
              <a:ext cx="204471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- instance : PrintSpoolerSingleton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008822" y="2566988"/>
              <a:ext cx="1438275" cy="50006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275"/>
                </a:lnSpc>
              </a:pPr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- PrintSpoolerSingleton()</a:t>
              </a:r>
              <a:br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getInstance()</a:t>
              </a:r>
              <a:br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manageJobs() : void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208959" y="3544729"/>
              <a:ext cx="151806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PrintSpoolerException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888808" y="3884295"/>
              <a:ext cx="230448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PrintSpoolerException(msg : String)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2996565" y="3208020"/>
              <a:ext cx="323850" cy="165735"/>
            </a:xfrm>
            <a:prstGeom prst="roundRect">
              <a:avLst>
                <a:gd name="adj" fmla="val 22989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3020378" y="3230880"/>
              <a:ext cx="25184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抛出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4351020" y="2467928"/>
              <a:ext cx="569595" cy="165735"/>
            </a:xfrm>
            <a:prstGeom prst="roundRect">
              <a:avLst>
                <a:gd name="adj" fmla="val 22989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4374832" y="2490788"/>
              <a:ext cx="51233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instance</a:t>
              </a:r>
            </a:p>
          </p:txBody>
        </p:sp>
      </p:grpSp>
      <p:grpSp>
        <p:nvGrpSpPr>
          <p:cNvPr id="37" name="c2-code-1"/>
          <p:cNvGrpSpPr/>
          <p:nvPr/>
        </p:nvGrpSpPr>
        <p:grpSpPr>
          <a:xfrm>
            <a:off x="5707380" y="1928812"/>
            <a:ext cx="5951220" cy="4198620"/>
            <a:chOff x="5707380" y="1928812"/>
            <a:chExt cx="5951220" cy="4198620"/>
          </a:xfrm>
        </p:grpSpPr>
        <p:sp>
          <p:nvSpPr>
            <p:cNvPr id="31" name="Rectangle 31"/>
            <p:cNvSpPr/>
            <p:nvPr/>
          </p:nvSpPr>
          <p:spPr>
            <a:xfrm>
              <a:off x="5707380" y="1928812"/>
              <a:ext cx="5951220" cy="4198620"/>
            </a:xfrm>
            <a:prstGeom prst="roundRect">
              <a:avLst>
                <a:gd name="adj" fmla="val 2269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5835777" y="2080736"/>
              <a:ext cx="40568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单例类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5726430" y="3358515"/>
              <a:ext cx="5913120" cy="17621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5726430" y="3534728"/>
              <a:ext cx="5913120" cy="17621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5726430" y="3710940"/>
              <a:ext cx="5913120" cy="17621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5835777" y="2340769"/>
              <a:ext cx="3637915" cy="37149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PrintSpoolerSingleton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static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PrintSpoolerSingleton instance;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私有构造函数：已经有实例时抛异常 */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PrintSpoolerSingleton()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throws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PrintSpoolerException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(instance !=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null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throw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PrintSpoolerException(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        </a:t>
              </a:r>
              <a:r>
                <a:rPr lang="zh-CN" sz="980" dirty="0">
                  <a:solidFill>
                    <a:srgbClr val="C2410C"/>
                  </a:solidFill>
                  <a:latin typeface="Consolas"/>
                  <a:ea typeface="Microsoft YaHei"/>
                  <a:cs typeface="Consolas"/>
                </a:rPr>
                <a:t>"只允许创建一个打印池对象！"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}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System.out.println(</a:t>
              </a:r>
              <a:r>
                <a:rPr lang="zh-CN" sz="980" dirty="0">
                  <a:solidFill>
                    <a:srgbClr val="C2410C"/>
                  </a:solidFill>
                  <a:latin typeface="Consolas"/>
                  <a:ea typeface="Microsoft YaHei"/>
                  <a:cs typeface="Consolas"/>
                </a:rPr>
                <a:t>"打印池创建成功。"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static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PrintSpoolerSingleton getInstance()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throws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PrintSpoolerException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(instance ==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null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 {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instance =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PrintSpoolerSingleton();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instance;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4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8" name="TextBox 38"/>
            <p:cNvSpPr txBox="1"/>
            <p:nvPr/>
          </p:nvSpPr>
          <p:spPr>
            <a:xfrm>
              <a:off x="528447" y="6581299"/>
              <a:ext cx="14808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单例模式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518404" cy="909257"/>
            <a:chOff x="520446" y="342900"/>
            <a:chExt cx="551840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78593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5231" y="407194"/>
              <a:ext cx="16213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15 单例 · 课件中的实例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51840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打印池的客户端，以及那条异常分支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0" name="c1-code-1"/>
          <p:cNvGrpSpPr/>
          <p:nvPr/>
        </p:nvGrpSpPr>
        <p:grpSpPr>
          <a:xfrm>
            <a:off x="533400" y="1524000"/>
            <a:ext cx="5626418" cy="2264092"/>
            <a:chOff x="533400" y="1524000"/>
            <a:chExt cx="5626418" cy="226409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2264092"/>
            </a:xfrm>
            <a:prstGeom prst="roundRect">
              <a:avLst>
                <a:gd name="adj" fmla="val 4207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106532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异常类与业务方法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61797" y="1935956"/>
              <a:ext cx="3706368" cy="17766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PrintSpoolerException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extends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Exception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PrintSpoolerException(String message)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super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(message);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单例类里的业务方法 */</a:t>
              </a:r>
              <a:br/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manageJobs() {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System.out.println(</a:t>
              </a:r>
              <a:r>
                <a:rPr lang="zh-CN" sz="980" dirty="0">
                  <a:solidFill>
                    <a:srgbClr val="C2410C"/>
                  </a:solidFill>
                  <a:latin typeface="Consolas"/>
                  <a:ea typeface="Microsoft YaHei"/>
                  <a:cs typeface="Consolas"/>
                </a:rPr>
                <a:t>"打印池管理打印任务。"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14" name="c1-code-2"/>
          <p:cNvGrpSpPr/>
          <p:nvPr/>
        </p:nvGrpSpPr>
        <p:grpSpPr>
          <a:xfrm>
            <a:off x="533400" y="3958590"/>
            <a:ext cx="5626418" cy="2264092"/>
            <a:chOff x="533400" y="3958590"/>
            <a:chExt cx="5626418" cy="2264092"/>
          </a:xfrm>
        </p:grpSpPr>
        <p:sp>
          <p:nvSpPr>
            <p:cNvPr id="11" name="Rectangle 11"/>
            <p:cNvSpPr/>
            <p:nvPr/>
          </p:nvSpPr>
          <p:spPr>
            <a:xfrm>
              <a:off x="533400" y="3958590"/>
              <a:ext cx="5626418" cy="2264092"/>
            </a:xfrm>
            <a:prstGeom prst="roundRect">
              <a:avLst>
                <a:gd name="adj" fmla="val 4207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661797" y="4110514"/>
              <a:ext cx="40568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客户端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61797" y="4370546"/>
              <a:ext cx="3295650" cy="17766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try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{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PrintSpoolerSingleton sp1 =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PrintSpoolerSingleton.getInstance();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PrintSpoolerSingleton sp2 =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PrintSpoolerSingleton.getInstance();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System.out.println(sp1 == sp2);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sp1.manageJobs();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}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catch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(PrintSpoolerException e) {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System.out.println(e.getMessage());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23" name="c2-card-1"/>
          <p:cNvGrpSpPr/>
          <p:nvPr/>
        </p:nvGrpSpPr>
        <p:grpSpPr>
          <a:xfrm>
            <a:off x="6464618" y="1524000"/>
            <a:ext cx="5193982" cy="1428750"/>
            <a:chOff x="6464618" y="1524000"/>
            <a:chExt cx="5193982" cy="1428750"/>
          </a:xfrm>
        </p:grpSpPr>
        <p:sp>
          <p:nvSpPr>
            <p:cNvPr id="15" name="Rectangle 15"/>
            <p:cNvSpPr/>
            <p:nvPr/>
          </p:nvSpPr>
          <p:spPr>
            <a:xfrm>
              <a:off x="6464618" y="1524000"/>
              <a:ext cx="5193982" cy="1428750"/>
            </a:xfrm>
            <a:prstGeom prst="roundRect">
              <a:avLst>
                <a:gd name="adj" fmla="val 933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6474142" y="1657350"/>
              <a:ext cx="47625" cy="116205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6689408" y="1710690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782079" y="174355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输出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255954" y="1745932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控制台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683692" y="2068354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打印池创建成功。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683692" y="2329339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true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683692" y="2590324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打印池管理打印任务。</a:t>
              </a:r>
            </a:p>
          </p:txBody>
        </p:sp>
      </p:grpSp>
      <p:grpSp>
        <p:nvGrpSpPr>
          <p:cNvPr id="31" name="c2-card-2"/>
          <p:cNvGrpSpPr/>
          <p:nvPr/>
        </p:nvGrpSpPr>
        <p:grpSpPr>
          <a:xfrm>
            <a:off x="6464618" y="3123248"/>
            <a:ext cx="5193982" cy="3099435"/>
            <a:chOff x="6464618" y="3123248"/>
            <a:chExt cx="5193982" cy="3099435"/>
          </a:xfrm>
        </p:grpSpPr>
        <p:sp>
          <p:nvSpPr>
            <p:cNvPr id="24" name="Rectangle 24"/>
            <p:cNvSpPr/>
            <p:nvPr/>
          </p:nvSpPr>
          <p:spPr>
            <a:xfrm>
              <a:off x="6464618" y="3123248"/>
              <a:ext cx="5193982" cy="3099435"/>
            </a:xfrm>
            <a:prstGeom prst="roundRect">
              <a:avLst>
                <a:gd name="adj" fmla="val 430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6474142" y="3256598"/>
              <a:ext cx="47625" cy="283273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6689408" y="3309938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782079" y="3342799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255954" y="334518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那条异常分支，正常调用时走不到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682549" y="3670935"/>
              <a:ext cx="4505706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课件说“重复创建打印池则抛出异常”。按这段代码，只要都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走 </a:t>
              </a:r>
              <a:r>
                <a:rPr lang="en-US" sz="135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getInstance()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，第二次根本进不了构造函数，异常永远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不会触发。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682549" y="4485322"/>
              <a:ext cx="4501420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构造函数里那句判断真正挡住的是 </a:t>
              </a:r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绕过 getInstance() 的</a:t>
              </a:r>
              <a:br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调用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，例如反射。把它理解成防反射的那道防线，才说得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通。</a:t>
              </a:r>
            </a:p>
          </p:txBody>
        </p:sp>
      </p:grpSp>
      <p:grpSp>
        <p:nvGrpSpPr>
          <p:cNvPr id="3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2" name="TextBox 32"/>
            <p:cNvSpPr txBox="1"/>
            <p:nvPr/>
          </p:nvSpPr>
          <p:spPr>
            <a:xfrm>
              <a:off x="528447" y="6581299"/>
              <a:ext cx="14808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单例模式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518404" cy="909257"/>
            <a:chOff x="520446" y="342900"/>
            <a:chExt cx="551840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78593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5231" y="407194"/>
              <a:ext cx="16213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15 单例 · 课件中的实例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51840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注册式单例：用一张表管住多个单例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8210062" cy="264033"/>
            <a:chOff x="526542" y="1545907"/>
            <a:chExt cx="8210062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821006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陈伟老师课件的第三种写法。容器持有一张名字到实例的表，Spring 的 BeanFactory 就是这个思路。</a:t>
              </a:r>
            </a:p>
          </p:txBody>
        </p:sp>
      </p:grpSp>
      <p:grpSp>
        <p:nvGrpSpPr>
          <p:cNvPr id="14" name="c1-code-1"/>
          <p:cNvGrpSpPr/>
          <p:nvPr/>
        </p:nvGrpSpPr>
        <p:grpSpPr>
          <a:xfrm>
            <a:off x="533400" y="1928812"/>
            <a:ext cx="6492240" cy="4022408"/>
            <a:chOff x="533400" y="1928812"/>
            <a:chExt cx="6492240" cy="4022408"/>
          </a:xfrm>
        </p:grpSpPr>
        <p:sp>
          <p:nvSpPr>
            <p:cNvPr id="9" name="Rectangle 9"/>
            <p:cNvSpPr/>
            <p:nvPr/>
          </p:nvSpPr>
          <p:spPr>
            <a:xfrm>
              <a:off x="533400" y="1928812"/>
              <a:ext cx="6492240" cy="4022408"/>
            </a:xfrm>
            <a:prstGeom prst="roundRect">
              <a:avLst>
                <a:gd name="adj" fmla="val 2368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61797" y="2080736"/>
              <a:ext cx="119482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按 Java 重写并更正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52450" y="3710940"/>
              <a:ext cx="6454140" cy="17621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2" name="Rectangle 12"/>
            <p:cNvSpPr/>
            <p:nvPr/>
          </p:nvSpPr>
          <p:spPr>
            <a:xfrm>
              <a:off x="552450" y="4941570"/>
              <a:ext cx="6454140" cy="17621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61797" y="2340769"/>
              <a:ext cx="4117086" cy="35387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RegSingleton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static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final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Map&lt;String, RegSingleton&gt; REG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=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HashMap&lt;&gt;();   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名字到实例的表 */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static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{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REG.put(</a:t>
              </a:r>
              <a:r>
                <a:rPr lang="en-US" sz="98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"default"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,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RegSingleton());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protected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RegSingleton() { } 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留给子类 */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static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synchronized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RegSingleton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getInstance(String name)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throws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Exception {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String key = (name ==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null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) ? </a:t>
              </a:r>
              <a:r>
                <a:rPr lang="en-US" sz="98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"default"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: name;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RegSingleton obj = REG.get(key);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(obj ==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null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 {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obj = (RegSingleton) Class.forName(key)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        .getDeclaredConstructor().newInstance();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REG.put(key, obj);   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原课件漏了 key */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obj;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29" name="c2-card-1"/>
          <p:cNvGrpSpPr/>
          <p:nvPr/>
        </p:nvGrpSpPr>
        <p:grpSpPr>
          <a:xfrm>
            <a:off x="7330440" y="1928812"/>
            <a:ext cx="4328160" cy="2702242"/>
            <a:chOff x="7330440" y="1928812"/>
            <a:chExt cx="4328160" cy="2702242"/>
          </a:xfrm>
        </p:grpSpPr>
        <p:sp>
          <p:nvSpPr>
            <p:cNvPr id="15" name="Rectangle 15"/>
            <p:cNvSpPr/>
            <p:nvPr/>
          </p:nvSpPr>
          <p:spPr>
            <a:xfrm>
              <a:off x="7330440" y="1928812"/>
              <a:ext cx="4328160" cy="2702242"/>
            </a:xfrm>
            <a:prstGeom prst="roundRect">
              <a:avLst>
                <a:gd name="adj" fmla="val 493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339965" y="2062162"/>
              <a:ext cx="47625" cy="2435542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549515" y="2109788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7642187" y="2142649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8115491" y="2149316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原课件这段有四处问题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7549515" y="2454592"/>
              <a:ext cx="180975" cy="18097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7601422" y="2490216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819263" y="2465546"/>
              <a:ext cx="3516122" cy="7351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en-US" sz="128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reg.put(Class.forName(name).newInstance</a:t>
              </a:r>
              <a:br/>
              <a:r>
                <a:rPr lang="zh-CN" sz="128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();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只给了一个参数，还少一个右括号。</a:t>
              </a:r>
              <a:r>
                <a:rPr lang="en-US" sz="128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put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要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键和值两个参数。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7549515" y="3225165"/>
              <a:ext cx="180975" cy="18097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601422" y="3260788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19263" y="3237071"/>
              <a:ext cx="3085338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en-US" sz="128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new Singleton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漏了括号，返回类型写成了</a:t>
              </a:r>
              <a:br/>
              <a:r>
                <a:rPr lang="en-US" sz="128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Signleton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  <p:sp>
          <p:nvSpPr>
            <p:cNvPr id="26" name="Ellipse 26"/>
            <p:cNvSpPr/>
            <p:nvPr/>
          </p:nvSpPr>
          <p:spPr>
            <a:xfrm>
              <a:off x="7549515" y="3753802"/>
              <a:ext cx="180975" cy="18097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7601422" y="3788474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819263" y="3764756"/>
              <a:ext cx="3361690" cy="7351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en-US" sz="128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newInstance()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自 Java 9 起已废弃，改用</a:t>
              </a:r>
              <a:br/>
              <a:r>
                <a:rPr lang="en-US" sz="128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getDeclaredConstructor().newInstance()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</p:grpSp>
      <p:grpSp>
        <p:nvGrpSpPr>
          <p:cNvPr id="36" name="c2-card-2"/>
          <p:cNvGrpSpPr/>
          <p:nvPr/>
        </p:nvGrpSpPr>
        <p:grpSpPr>
          <a:xfrm>
            <a:off x="7330440" y="4794885"/>
            <a:ext cx="4328160" cy="1403032"/>
            <a:chOff x="7330440" y="4794885"/>
            <a:chExt cx="4328160" cy="1403032"/>
          </a:xfrm>
        </p:grpSpPr>
        <p:sp>
          <p:nvSpPr>
            <p:cNvPr id="30" name="Rectangle 30"/>
            <p:cNvSpPr/>
            <p:nvPr/>
          </p:nvSpPr>
          <p:spPr>
            <a:xfrm>
              <a:off x="7330440" y="4794885"/>
              <a:ext cx="4328160" cy="1403032"/>
            </a:xfrm>
            <a:prstGeom prst="roundRect">
              <a:avLst>
                <a:gd name="adj" fmla="val 950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7339965" y="4928235"/>
              <a:ext cx="47625" cy="1136332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7549515" y="4975860"/>
              <a:ext cx="582930" cy="23812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38136" y="5008721"/>
              <a:ext cx="40568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设计点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240268" y="5016341"/>
              <a:ext cx="234134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构造函数为什么是 protected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543038" y="5332571"/>
              <a:ext cx="3751834" cy="7351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注册式故意留这个口子，让子类也能被创建并登记进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表里。代价是子类可以被外部实例化，唯一性只靠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“只通过这张表取”维持。</a:t>
              </a:r>
            </a:p>
          </p:txBody>
        </p:sp>
      </p:grpSp>
      <p:grpSp>
        <p:nvGrpSpPr>
          <p:cNvPr id="3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7" name="TextBox 37"/>
            <p:cNvSpPr txBox="1"/>
            <p:nvPr/>
          </p:nvSpPr>
          <p:spPr>
            <a:xfrm>
              <a:off x="528447" y="6581299"/>
              <a:ext cx="14808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单例模式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204966" cy="909257"/>
            <a:chOff x="520446" y="342900"/>
            <a:chExt cx="620496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78593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5231" y="407194"/>
              <a:ext cx="16213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15 单例 · 课件中的实例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20496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实例三：把大富翁里的全局对象换成单例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8092440" cy="293370"/>
            <a:chOff x="525780" y="1548765"/>
            <a:chExt cx="8092440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80924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陈伟老师课件用一个大富翁游戏收尾。菜单管理器原本是一个全局对象，改造后变成单例。</a:t>
              </a:r>
            </a:p>
          </p:txBody>
        </p:sp>
      </p:grpSp>
      <p:grpSp>
        <p:nvGrpSpPr>
          <p:cNvPr id="33" name="c1-compare-1"/>
          <p:cNvGrpSpPr/>
          <p:nvPr/>
        </p:nvGrpSpPr>
        <p:grpSpPr>
          <a:xfrm>
            <a:off x="533400" y="1954530"/>
            <a:ext cx="5626418" cy="3288982"/>
            <a:chOff x="533400" y="1954530"/>
            <a:chExt cx="5626418" cy="3288982"/>
          </a:xfrm>
        </p:grpSpPr>
        <p:sp>
          <p:nvSpPr>
            <p:cNvPr id="9" name="Rectangle 9"/>
            <p:cNvSpPr/>
            <p:nvPr/>
          </p:nvSpPr>
          <p:spPr>
            <a:xfrm>
              <a:off x="533400" y="1954530"/>
              <a:ext cx="2574608" cy="3288982"/>
            </a:xfrm>
            <a:prstGeom prst="roundRect">
              <a:avLst>
                <a:gd name="adj" fmla="val 517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42925" y="2087880"/>
              <a:ext cx="47625" cy="3022282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762381" y="2175986"/>
              <a:ext cx="58795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改造前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77240" y="2571750"/>
              <a:ext cx="60960" cy="609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33831" y="2512219"/>
              <a:ext cx="1808861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App 里定义了一个全局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 menuMgr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77240" y="3161348"/>
              <a:ext cx="60960" cy="609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33831" y="3100864"/>
              <a:ext cx="181787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各个菜单类直接引用这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个全局名字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77240" y="3749992"/>
              <a:ext cx="60960" cy="609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33831" y="3690461"/>
              <a:ext cx="181787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谁都可以再定义一个菜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单管理器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777240" y="4339590"/>
              <a:ext cx="60960" cy="609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33831" y="4279106"/>
              <a:ext cx="181787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初始化顺序依赖链接顺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序，不可控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3585210" y="1954530"/>
              <a:ext cx="2574608" cy="3288982"/>
            </a:xfrm>
            <a:prstGeom prst="roundRect">
              <a:avLst>
                <a:gd name="adj" fmla="val 517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3594735" y="2087880"/>
              <a:ext cx="47625" cy="3022282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3814191" y="2175986"/>
              <a:ext cx="58795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改造后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3829050" y="2571750"/>
              <a:ext cx="60960" cy="609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3985641" y="2512219"/>
              <a:ext cx="181787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删掉全局对象的定义和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各处声明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3829050" y="3161348"/>
              <a:ext cx="60960" cy="609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3985641" y="3100864"/>
              <a:ext cx="181787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构造函数私有，只留静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态的取实例方法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3829050" y="3749992"/>
              <a:ext cx="60960" cy="609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3985641" y="3690461"/>
              <a:ext cx="1826895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所有用法换成</a:t>
              </a:r>
              <a:br/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MenuMgr.getInstanc</a:t>
              </a:r>
              <a:br/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e()</a:t>
              </a:r>
            </a:p>
          </p:txBody>
        </p:sp>
        <p:sp>
          <p:nvSpPr>
            <p:cNvPr id="29" name="Ellipse 29"/>
            <p:cNvSpPr/>
            <p:nvPr/>
          </p:nvSpPr>
          <p:spPr>
            <a:xfrm>
              <a:off x="3829050" y="4611052"/>
              <a:ext cx="60960" cy="609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3985641" y="4550569"/>
              <a:ext cx="163753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第一次取用时才初始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化，时机明确</a:t>
              </a:r>
            </a:p>
          </p:txBody>
        </p:sp>
        <p:sp>
          <p:nvSpPr>
            <p:cNvPr id="31" name="Ellipse 31"/>
            <p:cNvSpPr/>
            <p:nvPr/>
          </p:nvSpPr>
          <p:spPr>
            <a:xfrm>
              <a:off x="3155632" y="3407092"/>
              <a:ext cx="382905" cy="38290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3210204" y="353806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改造</a:t>
              </a:r>
            </a:p>
          </p:txBody>
        </p:sp>
      </p:grpSp>
      <p:grpSp>
        <p:nvGrpSpPr>
          <p:cNvPr id="40" name="c1-callout-2"/>
          <p:cNvGrpSpPr/>
          <p:nvPr/>
        </p:nvGrpSpPr>
        <p:grpSpPr>
          <a:xfrm>
            <a:off x="533400" y="5423535"/>
            <a:ext cx="5626418" cy="929640"/>
            <a:chOff x="533400" y="5423535"/>
            <a:chExt cx="5626418" cy="929640"/>
          </a:xfrm>
        </p:grpSpPr>
        <p:sp>
          <p:nvSpPr>
            <p:cNvPr id="34" name="Rectangle 34"/>
            <p:cNvSpPr/>
            <p:nvPr/>
          </p:nvSpPr>
          <p:spPr>
            <a:xfrm>
              <a:off x="533400" y="5423535"/>
              <a:ext cx="5626418" cy="929640"/>
            </a:xfrm>
            <a:prstGeom prst="roundRect">
              <a:avLst>
                <a:gd name="adj" fmla="val 12295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38" name="Group 38"/>
            <p:cNvGrpSpPr/>
            <p:nvPr/>
          </p:nvGrpSpPr>
          <p:grpSpPr>
            <a:xfrm>
              <a:off x="738188" y="5788343"/>
              <a:ext cx="200026" cy="200025"/>
              <a:chOff x="738188" y="5788343"/>
              <a:chExt cx="200026" cy="200025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738188" y="5788343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777926" y="5832793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812642" y="5943918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39" name="TextBox 39"/>
            <p:cNvSpPr txBox="1"/>
            <p:nvPr/>
          </p:nvSpPr>
          <p:spPr>
            <a:xfrm>
              <a:off x="1040511" y="5657374"/>
              <a:ext cx="4721352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全局对象的毛病不在“全局”，在于谁都能再造一个、谁都能</a:t>
              </a:r>
              <a:br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改它。</a:t>
              </a:r>
            </a:p>
          </p:txBody>
        </p:sp>
      </p:grpSp>
      <p:grpSp>
        <p:nvGrpSpPr>
          <p:cNvPr id="58" name="c2-steps-1"/>
          <p:cNvGrpSpPr/>
          <p:nvPr/>
        </p:nvGrpSpPr>
        <p:grpSpPr>
          <a:xfrm>
            <a:off x="6464618" y="1964055"/>
            <a:ext cx="4464188" cy="2398776"/>
            <a:chOff x="6464618" y="1964055"/>
            <a:chExt cx="4464188" cy="2398776"/>
          </a:xfrm>
        </p:grpSpPr>
        <p:sp>
          <p:nvSpPr>
            <p:cNvPr id="41" name="Rectangle 41"/>
            <p:cNvSpPr/>
            <p:nvPr/>
          </p:nvSpPr>
          <p:spPr>
            <a:xfrm>
              <a:off x="6597968" y="2106930"/>
              <a:ext cx="19050" cy="185070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Ellipse 42"/>
            <p:cNvSpPr/>
            <p:nvPr/>
          </p:nvSpPr>
          <p:spPr>
            <a:xfrm>
              <a:off x="6464618" y="1964055"/>
              <a:ext cx="285750" cy="2857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558241" y="203787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4" name="Ellipse 44"/>
            <p:cNvSpPr/>
            <p:nvPr/>
          </p:nvSpPr>
          <p:spPr>
            <a:xfrm>
              <a:off x="6464618" y="2581275"/>
              <a:ext cx="285750" cy="2857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558241" y="265509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6" name="Ellipse 46"/>
            <p:cNvSpPr/>
            <p:nvPr/>
          </p:nvSpPr>
          <p:spPr>
            <a:xfrm>
              <a:off x="6464618" y="3197542"/>
              <a:ext cx="285750" cy="2857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6558241" y="327136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8" name="Ellipse 48"/>
            <p:cNvSpPr/>
            <p:nvPr/>
          </p:nvSpPr>
          <p:spPr>
            <a:xfrm>
              <a:off x="6464618" y="3814762"/>
              <a:ext cx="285750" cy="2857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6558241" y="388858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6876479" y="1996916"/>
              <a:ext cx="58795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第一步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6877622" y="2277428"/>
              <a:ext cx="340461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删掉全局对象的定义，以及各文件里对它的声明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6876479" y="2614136"/>
              <a:ext cx="58795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第二步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6877622" y="2894648"/>
              <a:ext cx="391598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给 MenuMgr 加私有构造函数和静态的 getInstance()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6876479" y="3230404"/>
              <a:ext cx="58795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第三步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6877622" y="3510915"/>
              <a:ext cx="40511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把所有 menuMgr 的用法换成 MenuMgr.getInstance()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6876479" y="3847624"/>
              <a:ext cx="58795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第四步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6877622" y="4128135"/>
              <a:ext cx="356616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原来依赖链接顺序的初始化，挪到第一次取用时做</a:t>
              </a:r>
            </a:p>
          </p:txBody>
        </p:sp>
      </p:grpSp>
      <p:grpSp>
        <p:nvGrpSpPr>
          <p:cNvPr id="66" name="c2-card-2"/>
          <p:cNvGrpSpPr/>
          <p:nvPr/>
        </p:nvGrpSpPr>
        <p:grpSpPr>
          <a:xfrm>
            <a:off x="6464618" y="4533900"/>
            <a:ext cx="5193982" cy="1819275"/>
            <a:chOff x="6464618" y="4533900"/>
            <a:chExt cx="5193982" cy="1819275"/>
          </a:xfrm>
        </p:grpSpPr>
        <p:sp>
          <p:nvSpPr>
            <p:cNvPr id="59" name="Rectangle 59"/>
            <p:cNvSpPr/>
            <p:nvPr/>
          </p:nvSpPr>
          <p:spPr>
            <a:xfrm>
              <a:off x="6464618" y="4533900"/>
              <a:ext cx="5193982" cy="1819275"/>
            </a:xfrm>
            <a:prstGeom prst="roundRect">
              <a:avLst>
                <a:gd name="adj" fmla="val 733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60" name="Rectangle 60"/>
            <p:cNvSpPr/>
            <p:nvPr/>
          </p:nvSpPr>
          <p:spPr>
            <a:xfrm>
              <a:off x="6474142" y="4667250"/>
              <a:ext cx="47625" cy="1552575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61" name="Rectangle 61"/>
            <p:cNvSpPr/>
            <p:nvPr/>
          </p:nvSpPr>
          <p:spPr>
            <a:xfrm>
              <a:off x="6700838" y="4732020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6792278" y="476631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代价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7284148" y="4766786"/>
              <a:ext cx="230840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改完之后多了一处隐式依赖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6693598" y="5110639"/>
              <a:ext cx="4577080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每个调用 MenuMgr.getInstance() 的类，源码里都写死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了 MenuMgr 这个类名，编译期就耦合上了。想在测试里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换成一个假的菜单管理器，没有办法。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6694742" y="5967412"/>
              <a:ext cx="374385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这就是“没有抽象层、难以扩展”那条缺点的具体表现</a:t>
              </a:r>
            </a:p>
          </p:txBody>
        </p:sp>
      </p:grpSp>
      <p:grpSp>
        <p:nvGrpSpPr>
          <p:cNvPr id="6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7" name="TextBox 67"/>
            <p:cNvSpPr txBox="1"/>
            <p:nvPr/>
          </p:nvSpPr>
          <p:spPr>
            <a:xfrm>
              <a:off x="528447" y="6581299"/>
              <a:ext cx="14808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单例模式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368996" cy="909257"/>
            <a:chOff x="520446" y="342900"/>
            <a:chExt cx="636899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78593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5231" y="407194"/>
              <a:ext cx="16213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15 单例 · 课件中的实例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36899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课件里的 C++ 写法，对应到 Java 是什么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161" y="1547336"/>
            <a:ext cx="8217694" cy="278702"/>
            <a:chOff x="526161" y="1547336"/>
            <a:chExt cx="8217694" cy="278702"/>
          </a:xfrm>
        </p:grpSpPr>
        <p:sp>
          <p:nvSpPr>
            <p:cNvPr id="7" name="TextBox 7"/>
            <p:cNvSpPr txBox="1"/>
            <p:nvPr/>
          </p:nvSpPr>
          <p:spPr>
            <a:xfrm>
              <a:off x="526161" y="1547336"/>
              <a:ext cx="821769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陈伟老师课件前半段用 C++ 讲了四种写法，并按三条标准逐一评价。Java 里只剩一条需要操心。</a:t>
              </a:r>
            </a:p>
          </p:txBody>
        </p:sp>
      </p:grpSp>
      <p:grpSp>
        <p:nvGrpSpPr>
          <p:cNvPr id="33" name="c1-table-1"/>
          <p:cNvGrpSpPr/>
          <p:nvPr/>
        </p:nvGrpSpPr>
        <p:grpSpPr>
          <a:xfrm>
            <a:off x="533400" y="1941195"/>
            <a:ext cx="11125200" cy="2228850"/>
            <a:chOff x="533400" y="1941195"/>
            <a:chExt cx="11125200" cy="2228850"/>
          </a:xfrm>
        </p:grpSpPr>
        <p:sp>
          <p:nvSpPr>
            <p:cNvPr id="9" name="Rectangle 9"/>
            <p:cNvSpPr/>
            <p:nvPr/>
          </p:nvSpPr>
          <p:spPr>
            <a:xfrm>
              <a:off x="533400" y="1941195"/>
              <a:ext cx="11125200" cy="40576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464658" y="2065496"/>
              <a:ext cx="11416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课件的 C++ 写法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5772823" y="206549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要点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9481864" y="2065496"/>
              <a:ext cx="10159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Java 里的对应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33412" y="2571274"/>
              <a:ext cx="242382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最简单形式：函数内的静态局部对象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637598" y="2471261"/>
              <a:ext cx="4285742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C++11 起静态局部对象的初始化是线程安全的；对象在数据区，不能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释放后重建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421052" y="2571274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静态内部类持有者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294798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533400" y="2952750"/>
              <a:ext cx="11125200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33412" y="3077051"/>
              <a:ext cx="25356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指针形式：new 加 releaseInstance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3637598" y="3077051"/>
              <a:ext cx="4082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能控制生命周期，但必须记得手工释放，多线程还要自己加锁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8421052" y="3077051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不需要，交给垃圾回收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533400" y="335375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33412" y="3482816"/>
              <a:ext cx="12311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shared_ptr 形式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637598" y="3482816"/>
              <a:ext cx="33284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大对象放在堆区，作用域结束自动析构，异常安全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421052" y="3482816"/>
              <a:ext cx="19014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Java 的引用本来就是托管的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33400" y="375951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533400" y="3764280"/>
              <a:ext cx="11125200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33412" y="3888581"/>
              <a:ext cx="14939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类模板加 friend 声明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3637598" y="3888581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一套代码给多个类复用，子类把模板特化成自己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421052" y="3888581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泛型会被擦除，改用一张类到实例的注册表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533400" y="1941195"/>
              <a:ext cx="11125200" cy="222885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3532822" y="1941195"/>
              <a:ext cx="9525" cy="22288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8316278" y="1941195"/>
              <a:ext cx="9525" cy="22288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2" name="c1-kv-2"/>
          <p:cNvGrpSpPr/>
          <p:nvPr/>
        </p:nvGrpSpPr>
        <p:grpSpPr>
          <a:xfrm>
            <a:off x="526542" y="4368165"/>
            <a:ext cx="11132058" cy="1059370"/>
            <a:chOff x="526542" y="4368165"/>
            <a:chExt cx="11132058" cy="1059370"/>
          </a:xfrm>
        </p:grpSpPr>
        <p:sp>
          <p:nvSpPr>
            <p:cNvPr id="34" name="TextBox 34"/>
            <p:cNvSpPr txBox="1"/>
            <p:nvPr/>
          </p:nvSpPr>
          <p:spPr>
            <a:xfrm>
              <a:off x="526542" y="436816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存储位置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845754" y="4368165"/>
              <a:ext cx="53923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C++ 要区分数据区和堆区；Java 对象一律在堆上，这一条不用操心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533400" y="465677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526542" y="4765358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生命周期控制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845754" y="4765358"/>
              <a:ext cx="55740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C++ 的全局对象不能随时释放重建；Java 把引用置空后交给垃圾回收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533400" y="505491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526542" y="5163502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安全性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845754" y="5163502"/>
              <a:ext cx="629007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课件拆成多线程实例化安全性和异常安全性；Java 只剩前一条，且有现成写法</a:t>
              </a:r>
            </a:p>
          </p:txBody>
        </p:sp>
      </p:grpSp>
      <p:grpSp>
        <p:nvGrpSpPr>
          <p:cNvPr id="49" name="takeaway"/>
          <p:cNvGrpSpPr/>
          <p:nvPr/>
        </p:nvGrpSpPr>
        <p:grpSpPr>
          <a:xfrm>
            <a:off x="533400" y="5633085"/>
            <a:ext cx="11125200" cy="729615"/>
            <a:chOff x="533400" y="5633085"/>
            <a:chExt cx="11125200" cy="729615"/>
          </a:xfrm>
        </p:grpSpPr>
        <p:sp>
          <p:nvSpPr>
            <p:cNvPr id="43" name="Rectangle 43"/>
            <p:cNvSpPr/>
            <p:nvPr/>
          </p:nvSpPr>
          <p:spPr>
            <a:xfrm>
              <a:off x="533400" y="5633085"/>
              <a:ext cx="11125200" cy="729615"/>
            </a:xfrm>
            <a:prstGeom prst="roundRect">
              <a:avLst>
                <a:gd name="adj" fmla="val 15666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47" name="Group 47"/>
            <p:cNvGrpSpPr/>
            <p:nvPr/>
          </p:nvGrpSpPr>
          <p:grpSpPr>
            <a:xfrm>
              <a:off x="738188" y="5897880"/>
              <a:ext cx="200026" cy="200026"/>
              <a:chOff x="738188" y="5897880"/>
              <a:chExt cx="200026" cy="200026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738188" y="589788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838200" y="596455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827088" y="5997893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48" name="TextBox 48"/>
            <p:cNvSpPr txBox="1"/>
            <p:nvPr/>
          </p:nvSpPr>
          <p:spPr>
            <a:xfrm>
              <a:off x="1040892" y="5779770"/>
              <a:ext cx="9992106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本讲其余代码按系列约定统一改写成 Java。课件第 26 页的类模板里，</a:t>
              </a:r>
              <a:r>
                <a:rPr lang="en-US" sz="135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if (!instance)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之后的赋值没有加锁，多线程下仍然可能创建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两次。</a:t>
              </a:r>
            </a:p>
          </p:txBody>
        </p:sp>
      </p:grpSp>
      <p:grpSp>
        <p:nvGrpSpPr>
          <p:cNvPr id="5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0" name="TextBox 50"/>
            <p:cNvSpPr txBox="1"/>
            <p:nvPr/>
          </p:nvSpPr>
          <p:spPr>
            <a:xfrm>
              <a:off x="528447" y="6581299"/>
              <a:ext cx="14808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单例模式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5B3FA0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EEAF7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3913632" cy="3351847"/>
            <a:chOff x="667512" y="1835468"/>
            <a:chExt cx="3913632" cy="335184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第五部分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3913632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效果、应用与扩展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357073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优点、缺点、用在哪、以及多例模式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三条优点与六条缺点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适用与不适用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真实系统里的单例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从单例到多例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14808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单例模式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642941" cy="909257"/>
            <a:chOff x="520446" y="342900"/>
            <a:chExt cx="664294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069782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7331" y="407194"/>
              <a:ext cx="19228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15 单例 · 效果、应用与扩展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64294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优点：受控访问、省资源、还能推广到 N 个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0" name="c1-bullets-1"/>
          <p:cNvGrpSpPr/>
          <p:nvPr/>
        </p:nvGrpSpPr>
        <p:grpSpPr>
          <a:xfrm>
            <a:off x="526161" y="1547336"/>
            <a:ext cx="5636895" cy="2430685"/>
            <a:chOff x="526161" y="1547336"/>
            <a:chExt cx="5636895" cy="2430685"/>
          </a:xfrm>
        </p:grpSpPr>
        <p:sp>
          <p:nvSpPr>
            <p:cNvPr id="7" name="TextBox 7"/>
            <p:cNvSpPr txBox="1"/>
            <p:nvPr/>
          </p:nvSpPr>
          <p:spPr>
            <a:xfrm>
              <a:off x="526161" y="1547336"/>
              <a:ext cx="116144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课件给的三条</a:t>
              </a:r>
            </a:p>
          </p:txBody>
        </p:sp>
        <p:sp>
          <p:nvSpPr>
            <p:cNvPr id="8" name="Freeform 8"/>
            <p:cNvSpPr/>
            <p:nvPr/>
          </p:nvSpPr>
          <p:spPr>
            <a:xfrm>
              <a:off x="533400" y="1913572"/>
              <a:ext cx="137160" cy="110490"/>
            </a:xfrm>
            <a:custGeom>
              <a:avLst/>
              <a:gdLst/>
              <a:ahLst/>
              <a:cxnLst/>
              <a:rect l="l" t="t" r="r" b="b"/>
              <a:pathLst>
                <a:path w="137160" h="110490">
                  <a:moveTo>
                    <a:pt x="0" y="58102"/>
                  </a:moveTo>
                  <a:lnTo>
                    <a:pt x="52388" y="110490"/>
                  </a:lnTo>
                  <a:lnTo>
                    <a:pt x="137160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777621" y="1883569"/>
              <a:ext cx="249956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提供了对唯一实例的受控访问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784860" y="2229802"/>
              <a:ext cx="68580" cy="19050"/>
            </a:xfrm>
            <a:prstGeom prst="rect">
              <a:avLst/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69264" y="2161222"/>
              <a:ext cx="519379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单例类封装了唯一实例，可以严格控制客户怎样以及何时访问它，并提供共享</a:t>
              </a:r>
              <a:br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的机制</a:t>
              </a:r>
            </a:p>
          </p:txBody>
        </p:sp>
        <p:sp>
          <p:nvSpPr>
            <p:cNvPr id="12" name="Freeform 12"/>
            <p:cNvSpPr/>
            <p:nvPr/>
          </p:nvSpPr>
          <p:spPr>
            <a:xfrm>
              <a:off x="533400" y="2704148"/>
              <a:ext cx="137160" cy="110490"/>
            </a:xfrm>
            <a:custGeom>
              <a:avLst/>
              <a:gdLst/>
              <a:ahLst/>
              <a:cxnLst/>
              <a:rect l="l" t="t" r="r" b="b"/>
              <a:pathLst>
                <a:path w="137160" h="110490">
                  <a:moveTo>
                    <a:pt x="0" y="58103"/>
                  </a:moveTo>
                  <a:lnTo>
                    <a:pt x="52388" y="110490"/>
                  </a:lnTo>
                  <a:lnTo>
                    <a:pt x="137160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777621" y="2674144"/>
              <a:ext cx="116144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节约系统资源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784860" y="3020378"/>
              <a:ext cx="68580" cy="19050"/>
            </a:xfrm>
            <a:prstGeom prst="rect">
              <a:avLst/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69264" y="2951798"/>
              <a:ext cx="519379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内存中只存在一个对象；对频繁创建和销毁的对象，省下的是反复分配回收的</a:t>
              </a:r>
              <a:br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开销</a:t>
              </a:r>
            </a:p>
          </p:txBody>
        </p:sp>
        <p:sp>
          <p:nvSpPr>
            <p:cNvPr id="16" name="Freeform 16"/>
            <p:cNvSpPr/>
            <p:nvPr/>
          </p:nvSpPr>
          <p:spPr>
            <a:xfrm>
              <a:off x="533400" y="3494722"/>
              <a:ext cx="137160" cy="110490"/>
            </a:xfrm>
            <a:custGeom>
              <a:avLst/>
              <a:gdLst/>
              <a:ahLst/>
              <a:cxnLst/>
              <a:rect l="l" t="t" r="r" b="b"/>
              <a:pathLst>
                <a:path w="137160" h="110490">
                  <a:moveTo>
                    <a:pt x="0" y="59055"/>
                  </a:moveTo>
                  <a:lnTo>
                    <a:pt x="52388" y="110490"/>
                  </a:lnTo>
                  <a:lnTo>
                    <a:pt x="137160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77621" y="3464719"/>
              <a:ext cx="173492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允许可变数目的实例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84860" y="3810952"/>
              <a:ext cx="68580" cy="19050"/>
            </a:xfrm>
            <a:prstGeom prst="rect">
              <a:avLst/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69264" y="3743325"/>
              <a:ext cx="46024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把“至多一个”放宽成“至多 N 个”，就是多例模式，手法完全一样</a:t>
              </a:r>
            </a:p>
          </p:txBody>
        </p:sp>
      </p:grpSp>
      <p:grpSp>
        <p:nvGrpSpPr>
          <p:cNvPr id="27" name="c1-card-2"/>
          <p:cNvGrpSpPr/>
          <p:nvPr/>
        </p:nvGrpSpPr>
        <p:grpSpPr>
          <a:xfrm>
            <a:off x="533400" y="4110990"/>
            <a:ext cx="5842635" cy="2201228"/>
            <a:chOff x="533400" y="4110990"/>
            <a:chExt cx="5842635" cy="2201228"/>
          </a:xfrm>
        </p:grpSpPr>
        <p:sp>
          <p:nvSpPr>
            <p:cNvPr id="21" name="Rectangle 21"/>
            <p:cNvSpPr/>
            <p:nvPr/>
          </p:nvSpPr>
          <p:spPr>
            <a:xfrm>
              <a:off x="533400" y="4110990"/>
              <a:ext cx="5842635" cy="2201228"/>
            </a:xfrm>
            <a:prstGeom prst="roundRect">
              <a:avLst>
                <a:gd name="adj" fmla="val 605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542925" y="4244340"/>
              <a:ext cx="47625" cy="1934528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769620" y="4309110"/>
              <a:ext cx="742950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853059" y="4343400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受控在哪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619631" y="4343876"/>
              <a:ext cx="326420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同样是全局能取到，差别在有没有入口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62381" y="4687729"/>
              <a:ext cx="5063998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全局变量的读写直接发生在使用方，单例的取用必须经过一个方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法。有了这个方法，就能在里面加计数、加日志、做延迟初始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化，甚至悄悄换掉背后的实现。</a:t>
              </a:r>
            </a:p>
          </p:txBody>
        </p:sp>
      </p:grpSp>
      <p:grpSp>
        <p:nvGrpSpPr>
          <p:cNvPr id="33" name="c2-card-1"/>
          <p:cNvGrpSpPr/>
          <p:nvPr/>
        </p:nvGrpSpPr>
        <p:grpSpPr>
          <a:xfrm>
            <a:off x="6680835" y="1524000"/>
            <a:ext cx="4977765" cy="1540192"/>
            <a:chOff x="6680835" y="1524000"/>
            <a:chExt cx="4977765" cy="1540192"/>
          </a:xfrm>
        </p:grpSpPr>
        <p:sp>
          <p:nvSpPr>
            <p:cNvPr id="28" name="Rectangle 28"/>
            <p:cNvSpPr/>
            <p:nvPr/>
          </p:nvSpPr>
          <p:spPr>
            <a:xfrm>
              <a:off x="6680835" y="1524000"/>
              <a:ext cx="4977765" cy="1540192"/>
            </a:xfrm>
            <a:prstGeom prst="roundRect">
              <a:avLst>
                <a:gd name="adj" fmla="val 8658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6878955" y="1722120"/>
              <a:ext cx="742950" cy="247650"/>
            </a:xfrm>
            <a:prstGeom prst="roundRect">
              <a:avLst>
                <a:gd name="adj" fmla="val 50000"/>
              </a:avLst>
            </a:prstGeom>
            <a:solidFill>
              <a:srgbClr val="462F80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962394" y="1756410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关键区别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728966" y="1756886"/>
              <a:ext cx="211724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单例比全局变量多了什么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871716" y="2100739"/>
              <a:ext cx="4279519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全局变量只做到了“随时能访问”，单例还做到了“别人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造不出第二个”。后面这一条是语法层面的保证，不是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一条约定。</a:t>
              </a:r>
            </a:p>
          </p:txBody>
        </p:sp>
      </p:grpSp>
      <p:grpSp>
        <p:nvGrpSpPr>
          <p:cNvPr id="42" name="c2-kv-2"/>
          <p:cNvGrpSpPr/>
          <p:nvPr/>
        </p:nvGrpSpPr>
        <p:grpSpPr>
          <a:xfrm>
            <a:off x="6673596" y="3268504"/>
            <a:ext cx="4985004" cy="1378839"/>
            <a:chOff x="6673596" y="3268504"/>
            <a:chExt cx="4985004" cy="1378839"/>
          </a:xfrm>
        </p:grpSpPr>
        <p:sp>
          <p:nvSpPr>
            <p:cNvPr id="34" name="TextBox 34"/>
            <p:cNvSpPr txBox="1"/>
            <p:nvPr/>
          </p:nvSpPr>
          <p:spPr>
            <a:xfrm>
              <a:off x="6673596" y="3268504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受控访问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672768" y="3268504"/>
              <a:ext cx="3621278" cy="5463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可以在取实例的方法里加日志、加计数、加权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限判断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6680835" y="3839528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673596" y="3952399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延迟创建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672768" y="3952399"/>
              <a:ext cx="249956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真正用到时才付出构造的代价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6680835" y="4255770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673596" y="4368641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统一入口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7672768" y="4368641"/>
              <a:ext cx="345536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要换实现只改一处，调用方一行都不用动</a:t>
              </a:r>
            </a:p>
          </p:txBody>
        </p:sp>
      </p:grpSp>
      <p:grpSp>
        <p:nvGrpSpPr>
          <p:cNvPr id="49" name="c2-card-3"/>
          <p:cNvGrpSpPr/>
          <p:nvPr/>
        </p:nvGrpSpPr>
        <p:grpSpPr>
          <a:xfrm>
            <a:off x="6680835" y="4771072"/>
            <a:ext cx="4977765" cy="1540192"/>
            <a:chOff x="6680835" y="4771072"/>
            <a:chExt cx="4977765" cy="1540192"/>
          </a:xfrm>
        </p:grpSpPr>
        <p:sp>
          <p:nvSpPr>
            <p:cNvPr id="43" name="Rectangle 43"/>
            <p:cNvSpPr/>
            <p:nvPr/>
          </p:nvSpPr>
          <p:spPr>
            <a:xfrm>
              <a:off x="6680835" y="4771072"/>
              <a:ext cx="4977765" cy="1540192"/>
            </a:xfrm>
            <a:prstGeom prst="roundRect">
              <a:avLst>
                <a:gd name="adj" fmla="val 865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4" name="Rectangle 44"/>
            <p:cNvSpPr/>
            <p:nvPr/>
          </p:nvSpPr>
          <p:spPr>
            <a:xfrm>
              <a:off x="6690360" y="4904422"/>
              <a:ext cx="47625" cy="1273492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6917055" y="4969192"/>
              <a:ext cx="609600" cy="247650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7004495" y="5003483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第三条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7633716" y="5004911"/>
              <a:ext cx="307304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同一套控制手法，换个数字就是多例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6909816" y="5347811"/>
              <a:ext cx="4360672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课件特意把“允许可变数目的实例”列成优点：判断条件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从“有没有”改成“够不够 N 个”，代码结构完全不用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动。</a:t>
              </a:r>
            </a:p>
          </p:txBody>
        </p:sp>
      </p:grpSp>
      <p:grpSp>
        <p:nvGrpSpPr>
          <p:cNvPr id="5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0" name="TextBox 50"/>
            <p:cNvSpPr txBox="1"/>
            <p:nvPr/>
          </p:nvSpPr>
          <p:spPr>
            <a:xfrm>
              <a:off x="528447" y="6581299"/>
              <a:ext cx="14808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单例模式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548247" cy="909257"/>
            <a:chOff x="520446" y="342900"/>
            <a:chExt cx="654824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069782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7331" y="407194"/>
              <a:ext cx="19228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15 单例 · 效果、应用与扩展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54824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缺点：没有抽象层、职责过重、容易被滥用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0" name="c1-bullets-1"/>
          <p:cNvGrpSpPr/>
          <p:nvPr/>
        </p:nvGrpSpPr>
        <p:grpSpPr>
          <a:xfrm>
            <a:off x="526542" y="1545907"/>
            <a:ext cx="5264074" cy="2092166"/>
            <a:chOff x="526542" y="1545907"/>
            <a:chExt cx="5264074" cy="2092166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课件给的三条</a:t>
              </a:r>
            </a:p>
          </p:txBody>
        </p:sp>
        <p:sp>
          <p:nvSpPr>
            <p:cNvPr id="8" name="Freeform 8"/>
            <p:cNvSpPr/>
            <p:nvPr/>
          </p:nvSpPr>
          <p:spPr>
            <a:xfrm>
              <a:off x="533400" y="1898332"/>
              <a:ext cx="102870" cy="102870"/>
            </a:xfrm>
            <a:custGeom>
              <a:avLst/>
              <a:gdLst/>
              <a:ahLst/>
              <a:cxnLst/>
              <a:rect l="l" t="t" r="r" b="b"/>
              <a:pathLst>
                <a:path w="102870" h="102870">
                  <a:moveTo>
                    <a:pt x="0" y="0"/>
                  </a:moveTo>
                  <a:lnTo>
                    <a:pt x="102870" y="102870"/>
                  </a:lnTo>
                  <a:moveTo>
                    <a:pt x="102870" y="0"/>
                  </a:moveTo>
                  <a:lnTo>
                    <a:pt x="0" y="102870"/>
                  </a:lnTo>
                </a:path>
              </a:pathLst>
            </a:custGeom>
            <a:noFill/>
            <a:ln w="24765" cap="rnd">
              <a:solidFill>
                <a:srgbClr val="B42318"/>
              </a:solidFill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762762" y="1865947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没有抽象层，扩展困难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769620" y="2193608"/>
              <a:ext cx="64770" cy="19050"/>
            </a:xfrm>
            <a:prstGeom prst="rect">
              <a:avLst/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54405" y="2130266"/>
              <a:ext cx="48362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取实例的方法是静态的，子类覆盖不了；想换实现只能回头改单例类本身</a:t>
              </a:r>
            </a:p>
          </p:txBody>
        </p:sp>
        <p:sp>
          <p:nvSpPr>
            <p:cNvPr id="12" name="Freeform 12"/>
            <p:cNvSpPr/>
            <p:nvPr/>
          </p:nvSpPr>
          <p:spPr>
            <a:xfrm>
              <a:off x="533400" y="2438400"/>
              <a:ext cx="102870" cy="102870"/>
            </a:xfrm>
            <a:custGeom>
              <a:avLst/>
              <a:gdLst/>
              <a:ahLst/>
              <a:cxnLst/>
              <a:rect l="l" t="t" r="r" b="b"/>
              <a:pathLst>
                <a:path w="102870" h="102870">
                  <a:moveTo>
                    <a:pt x="0" y="0"/>
                  </a:moveTo>
                  <a:lnTo>
                    <a:pt x="102870" y="102870"/>
                  </a:lnTo>
                  <a:moveTo>
                    <a:pt x="102870" y="0"/>
                  </a:moveTo>
                  <a:lnTo>
                    <a:pt x="0" y="102870"/>
                  </a:lnTo>
                </a:path>
              </a:pathLst>
            </a:custGeom>
            <a:noFill/>
            <a:ln w="24765" cap="rnd">
              <a:solidFill>
                <a:srgbClr val="B42318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762762" y="2406015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职责过重，违背单一职责原则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769620" y="2733675"/>
              <a:ext cx="64770" cy="19050"/>
            </a:xfrm>
            <a:prstGeom prst="rect">
              <a:avLst/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54405" y="2670334"/>
              <a:ext cx="48362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既当工厂提供了工厂方法，又当产品包含业务方法，创建和功能揉在一起</a:t>
              </a:r>
            </a:p>
          </p:txBody>
        </p:sp>
        <p:sp>
          <p:nvSpPr>
            <p:cNvPr id="16" name="Freeform 16"/>
            <p:cNvSpPr/>
            <p:nvPr/>
          </p:nvSpPr>
          <p:spPr>
            <a:xfrm>
              <a:off x="533400" y="2979420"/>
              <a:ext cx="102870" cy="102870"/>
            </a:xfrm>
            <a:custGeom>
              <a:avLst/>
              <a:gdLst/>
              <a:ahLst/>
              <a:cxnLst/>
              <a:rect l="l" t="t" r="r" b="b"/>
              <a:pathLst>
                <a:path w="102870" h="102870">
                  <a:moveTo>
                    <a:pt x="0" y="0"/>
                  </a:moveTo>
                  <a:lnTo>
                    <a:pt x="102870" y="102870"/>
                  </a:lnTo>
                  <a:moveTo>
                    <a:pt x="102870" y="0"/>
                  </a:moveTo>
                  <a:lnTo>
                    <a:pt x="0" y="102870"/>
                  </a:lnTo>
                </a:path>
              </a:pathLst>
            </a:custGeom>
            <a:noFill/>
            <a:ln w="24765" cap="rnd">
              <a:solidFill>
                <a:srgbClr val="B42318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62762" y="2946082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滥用会带来负面问题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9620" y="3273742"/>
              <a:ext cx="64770" cy="19050"/>
            </a:xfrm>
            <a:prstGeom prst="rect">
              <a:avLst/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54405" y="3210401"/>
              <a:ext cx="4705350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把数据库连接池设计成单例，共享这个连接池的程序过多时会出现连接池溢</a:t>
              </a:r>
              <a:br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出</a:t>
              </a:r>
            </a:p>
          </p:txBody>
        </p:sp>
      </p:grpSp>
      <p:grpSp>
        <p:nvGrpSpPr>
          <p:cNvPr id="27" name="c1-card-2"/>
          <p:cNvGrpSpPr/>
          <p:nvPr/>
        </p:nvGrpSpPr>
        <p:grpSpPr>
          <a:xfrm>
            <a:off x="533400" y="3768090"/>
            <a:ext cx="5410200" cy="1483995"/>
            <a:chOff x="533400" y="3768090"/>
            <a:chExt cx="5410200" cy="1483995"/>
          </a:xfrm>
        </p:grpSpPr>
        <p:sp>
          <p:nvSpPr>
            <p:cNvPr id="21" name="Rectangle 21"/>
            <p:cNvSpPr/>
            <p:nvPr/>
          </p:nvSpPr>
          <p:spPr>
            <a:xfrm>
              <a:off x="533400" y="3768090"/>
              <a:ext cx="5410200" cy="1483995"/>
            </a:xfrm>
            <a:prstGeom prst="roundRect">
              <a:avLst>
                <a:gd name="adj" fmla="val 898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542925" y="3901440"/>
              <a:ext cx="47625" cy="1217295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763905" y="3960495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855345" y="3994785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举例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347597" y="40005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连接池溢出是怎么发生的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57047" y="4334828"/>
              <a:ext cx="4642866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池做成单例后所有模块共用同一个。模块数量涨上去，并发请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求数超过池容量，后来的请求只能排队甚至超时，对外表现成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“数据库连不上”。</a:t>
              </a:r>
            </a:p>
          </p:txBody>
        </p:sp>
      </p:grpSp>
      <p:grpSp>
        <p:nvGrpSpPr>
          <p:cNvPr id="41" name="c2-bullets-1"/>
          <p:cNvGrpSpPr/>
          <p:nvPr/>
        </p:nvGrpSpPr>
        <p:grpSpPr>
          <a:xfrm>
            <a:off x="6241542" y="1545907"/>
            <a:ext cx="5133213" cy="2092167"/>
            <a:chOff x="6241542" y="1545907"/>
            <a:chExt cx="5133213" cy="2092167"/>
          </a:xfrm>
        </p:grpSpPr>
        <p:sp>
          <p:nvSpPr>
            <p:cNvPr id="28" name="TextBox 28"/>
            <p:cNvSpPr txBox="1"/>
            <p:nvPr/>
          </p:nvSpPr>
          <p:spPr>
            <a:xfrm>
              <a:off x="6241542" y="1545907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自学时还要知道三条</a:t>
              </a:r>
            </a:p>
          </p:txBody>
        </p:sp>
        <p:sp>
          <p:nvSpPr>
            <p:cNvPr id="29" name="Freeform 29"/>
            <p:cNvSpPr/>
            <p:nvPr/>
          </p:nvSpPr>
          <p:spPr>
            <a:xfrm>
              <a:off x="6248400" y="1898332"/>
              <a:ext cx="102870" cy="102870"/>
            </a:xfrm>
            <a:custGeom>
              <a:avLst/>
              <a:gdLst/>
              <a:ahLst/>
              <a:cxnLst/>
              <a:rect l="l" t="t" r="r" b="b"/>
              <a:pathLst>
                <a:path w="102870" h="102870">
                  <a:moveTo>
                    <a:pt x="0" y="0"/>
                  </a:moveTo>
                  <a:lnTo>
                    <a:pt x="102870" y="102870"/>
                  </a:lnTo>
                  <a:moveTo>
                    <a:pt x="102870" y="0"/>
                  </a:moveTo>
                  <a:lnTo>
                    <a:pt x="0" y="102870"/>
                  </a:lnTo>
                </a:path>
              </a:pathLst>
            </a:custGeom>
            <a:noFill/>
            <a:ln w="24765" cap="rnd">
              <a:solidFill>
                <a:srgbClr val="B42318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77762" y="1865947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带状态的单例就是隐藏的全局变量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484620" y="2193608"/>
              <a:ext cx="64770" cy="19050"/>
            </a:xfrm>
            <a:prstGeom prst="rect">
              <a:avLst/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669405" y="2130266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任何地方都能改它，出了问题很难查清是谁改的</a:t>
              </a:r>
            </a:p>
          </p:txBody>
        </p:sp>
        <p:sp>
          <p:nvSpPr>
            <p:cNvPr id="33" name="Freeform 33"/>
            <p:cNvSpPr/>
            <p:nvPr/>
          </p:nvSpPr>
          <p:spPr>
            <a:xfrm>
              <a:off x="6248400" y="2438400"/>
              <a:ext cx="102870" cy="102870"/>
            </a:xfrm>
            <a:custGeom>
              <a:avLst/>
              <a:gdLst/>
              <a:ahLst/>
              <a:cxnLst/>
              <a:rect l="l" t="t" r="r" b="b"/>
              <a:pathLst>
                <a:path w="102870" h="102870">
                  <a:moveTo>
                    <a:pt x="0" y="0"/>
                  </a:moveTo>
                  <a:lnTo>
                    <a:pt x="102870" y="102870"/>
                  </a:lnTo>
                  <a:moveTo>
                    <a:pt x="102870" y="0"/>
                  </a:moveTo>
                  <a:lnTo>
                    <a:pt x="0" y="102870"/>
                  </a:lnTo>
                </a:path>
              </a:pathLst>
            </a:custGeom>
            <a:noFill/>
            <a:ln w="24765" cap="rnd">
              <a:solidFill>
                <a:srgbClr val="B42318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477762" y="240601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难以做单元测试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484620" y="2733675"/>
              <a:ext cx="64770" cy="19050"/>
            </a:xfrm>
            <a:prstGeom prst="rect">
              <a:avLst/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669405" y="2670334"/>
              <a:ext cx="4705350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静态字段会跨测试用例残留，也注入不了替身；对策是让业务类通过构造函</a:t>
              </a:r>
              <a:br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数接收依赖</a:t>
              </a:r>
            </a:p>
          </p:txBody>
        </p:sp>
        <p:sp>
          <p:nvSpPr>
            <p:cNvPr id="37" name="Freeform 37"/>
            <p:cNvSpPr/>
            <p:nvPr/>
          </p:nvSpPr>
          <p:spPr>
            <a:xfrm>
              <a:off x="6248400" y="3186112"/>
              <a:ext cx="102870" cy="102870"/>
            </a:xfrm>
            <a:custGeom>
              <a:avLst/>
              <a:gdLst/>
              <a:ahLst/>
              <a:cxnLst/>
              <a:rect l="l" t="t" r="r" b="b"/>
              <a:pathLst>
                <a:path w="102870" h="102870">
                  <a:moveTo>
                    <a:pt x="0" y="0"/>
                  </a:moveTo>
                  <a:lnTo>
                    <a:pt x="102870" y="102870"/>
                  </a:lnTo>
                  <a:moveTo>
                    <a:pt x="102870" y="0"/>
                  </a:moveTo>
                  <a:lnTo>
                    <a:pt x="0" y="102870"/>
                  </a:lnTo>
                </a:path>
              </a:pathLst>
            </a:custGeom>
            <a:noFill/>
            <a:ln w="24765" cap="rnd">
              <a:solidFill>
                <a:srgbClr val="B42318"/>
              </a:solidFill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477762" y="3153727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生命周期等于整个进程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6484620" y="3481388"/>
              <a:ext cx="64770" cy="19050"/>
            </a:xfrm>
            <a:prstGeom prst="rect">
              <a:avLst/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669405" y="3418046"/>
              <a:ext cx="38695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实例一旦建好就占着内存直到 JVM 退出，不参与垃圾回收</a:t>
              </a:r>
            </a:p>
          </p:txBody>
        </p:sp>
      </p:grpSp>
      <p:grpSp>
        <p:nvGrpSpPr>
          <p:cNvPr id="48" name="c2-card-2"/>
          <p:cNvGrpSpPr/>
          <p:nvPr/>
        </p:nvGrpSpPr>
        <p:grpSpPr>
          <a:xfrm>
            <a:off x="6248400" y="3768090"/>
            <a:ext cx="5410200" cy="1483995"/>
            <a:chOff x="6248400" y="3768090"/>
            <a:chExt cx="5410200" cy="1483995"/>
          </a:xfrm>
        </p:grpSpPr>
        <p:sp>
          <p:nvSpPr>
            <p:cNvPr id="42" name="Rectangle 42"/>
            <p:cNvSpPr/>
            <p:nvPr/>
          </p:nvSpPr>
          <p:spPr>
            <a:xfrm>
              <a:off x="6248400" y="3768090"/>
              <a:ext cx="5410200" cy="1483995"/>
            </a:xfrm>
            <a:prstGeom prst="roundRect">
              <a:avLst>
                <a:gd name="adj" fmla="val 898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3" name="Rectangle 43"/>
            <p:cNvSpPr/>
            <p:nvPr/>
          </p:nvSpPr>
          <p:spPr>
            <a:xfrm>
              <a:off x="6257925" y="3901440"/>
              <a:ext cx="47625" cy="1217295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6478905" y="3960495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570345" y="3994785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对策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7062597" y="4000500"/>
              <a:ext cx="276794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让单例只负责“唯一”，别负责业务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472047" y="4334828"/>
              <a:ext cx="46428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业务逻辑放在普通类里，单例只做入口和持有者。职责分开之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后，测试时直接创建那个普通类就能验证逻辑。</a:t>
              </a:r>
            </a:p>
          </p:txBody>
        </p:sp>
      </p:grpSp>
      <p:grpSp>
        <p:nvGrpSpPr>
          <p:cNvPr id="54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49" name="Rectangle 49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52" name="Group 52"/>
            <p:cNvGrpSpPr/>
            <p:nvPr/>
          </p:nvGrpSpPr>
          <p:grpSpPr>
            <a:xfrm>
              <a:off x="738188" y="6017897"/>
              <a:ext cx="200023" cy="200023"/>
              <a:chOff x="738188" y="6017897"/>
              <a:chExt cx="200023" cy="200023"/>
            </a:xfrm>
          </p:grpSpPr>
          <p:sp>
            <p:nvSpPr>
              <p:cNvPr id="50" name="Freeform 50"/>
              <p:cNvSpPr/>
              <p:nvPr/>
            </p:nvSpPr>
            <p:spPr>
              <a:xfrm>
                <a:off x="738188" y="6017897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871538" y="608457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3" name="TextBox 53"/>
            <p:cNvSpPr txBox="1"/>
            <p:nvPr/>
          </p:nvSpPr>
          <p:spPr>
            <a:xfrm>
              <a:off x="1040892" y="6023610"/>
              <a:ext cx="85402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Spring 的做法值得借鉴：Bean 类本身是普通类，唯一性由容器保证，于是测试时可以直接创建一个出来。</a:t>
              </a:r>
            </a:p>
          </p:txBody>
        </p:sp>
      </p:grpSp>
      <p:grpSp>
        <p:nvGrpSpPr>
          <p:cNvPr id="5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5" name="TextBox 55"/>
            <p:cNvSpPr txBox="1"/>
            <p:nvPr/>
          </p:nvSpPr>
          <p:spPr>
            <a:xfrm>
              <a:off x="528447" y="6581299"/>
              <a:ext cx="14808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单例模式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488561" cy="909257"/>
            <a:chOff x="520446" y="342900"/>
            <a:chExt cx="448856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069782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7331" y="407194"/>
              <a:ext cx="19228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15 单例 · 效果、应用与扩展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48856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什么时候该用，什么时候别用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4" name="c1-bullets-1"/>
          <p:cNvGrpSpPr/>
          <p:nvPr/>
        </p:nvGrpSpPr>
        <p:grpSpPr>
          <a:xfrm>
            <a:off x="525780" y="1548765"/>
            <a:ext cx="5035868" cy="2480310"/>
            <a:chOff x="525780" y="1548765"/>
            <a:chExt cx="5035868" cy="248031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适用环境（课件原文）</a:t>
              </a:r>
            </a:p>
          </p:txBody>
        </p:sp>
        <p:sp>
          <p:nvSpPr>
            <p:cNvPr id="8" name="Freeform 8"/>
            <p:cNvSpPr/>
            <p:nvPr/>
          </p:nvSpPr>
          <p:spPr>
            <a:xfrm>
              <a:off x="533400" y="1934528"/>
              <a:ext cx="143827" cy="117158"/>
            </a:xfrm>
            <a:custGeom>
              <a:avLst/>
              <a:gdLst/>
              <a:ahLst/>
              <a:cxnLst/>
              <a:rect l="l" t="t" r="r" b="b"/>
              <a:pathLst>
                <a:path w="143827" h="117158">
                  <a:moveTo>
                    <a:pt x="0" y="61912"/>
                  </a:moveTo>
                  <a:lnTo>
                    <a:pt x="55245" y="117158"/>
                  </a:lnTo>
                  <a:lnTo>
                    <a:pt x="143827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783908" y="1903095"/>
              <a:ext cx="47777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系统只需要一个实例对象。例如要求提供一个唯一的序列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号生成器，或者需要考虑资源消耗太大而只允许创建一个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</a:t>
              </a:r>
            </a:p>
          </p:txBody>
        </p:sp>
        <p:sp>
          <p:nvSpPr>
            <p:cNvPr id="10" name="Freeform 10"/>
            <p:cNvSpPr/>
            <p:nvPr/>
          </p:nvSpPr>
          <p:spPr>
            <a:xfrm>
              <a:off x="533400" y="2850832"/>
              <a:ext cx="143827" cy="117158"/>
            </a:xfrm>
            <a:custGeom>
              <a:avLst/>
              <a:gdLst/>
              <a:ahLst/>
              <a:cxnLst/>
              <a:rect l="l" t="t" r="r" b="b"/>
              <a:pathLst>
                <a:path w="143827" h="117158">
                  <a:moveTo>
                    <a:pt x="0" y="61912"/>
                  </a:moveTo>
                  <a:lnTo>
                    <a:pt x="55245" y="117158"/>
                  </a:lnTo>
                  <a:lnTo>
                    <a:pt x="143827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783908" y="2819400"/>
              <a:ext cx="4777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客户调用类的单个实例只允许使用一个公共访问点，除了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该公共访问点，不能通过其他途径访问该实例</a:t>
              </a:r>
            </a:p>
          </p:txBody>
        </p:sp>
        <p:sp>
          <p:nvSpPr>
            <p:cNvPr id="12" name="Freeform 12"/>
            <p:cNvSpPr/>
            <p:nvPr/>
          </p:nvSpPr>
          <p:spPr>
            <a:xfrm>
              <a:off x="533400" y="3481388"/>
              <a:ext cx="143827" cy="117158"/>
            </a:xfrm>
            <a:custGeom>
              <a:avLst/>
              <a:gdLst/>
              <a:ahLst/>
              <a:cxnLst/>
              <a:rect l="l" t="t" r="r" b="b"/>
              <a:pathLst>
                <a:path w="143827" h="117158">
                  <a:moveTo>
                    <a:pt x="0" y="61912"/>
                  </a:moveTo>
                  <a:lnTo>
                    <a:pt x="55245" y="117158"/>
                  </a:lnTo>
                  <a:lnTo>
                    <a:pt x="143827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783908" y="3449955"/>
              <a:ext cx="4777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一个系统中要求一个类只有一个实例时才应当使用单例模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式；如果一个类可以有几个实例共存，就改成多例模式</a:t>
              </a:r>
            </a:p>
          </p:txBody>
        </p:sp>
      </p:grpSp>
      <p:grpSp>
        <p:nvGrpSpPr>
          <p:cNvPr id="21" name="c1-card-2"/>
          <p:cNvGrpSpPr/>
          <p:nvPr/>
        </p:nvGrpSpPr>
        <p:grpSpPr>
          <a:xfrm>
            <a:off x="533400" y="4160520"/>
            <a:ext cx="5410200" cy="1621155"/>
            <a:chOff x="533400" y="4160520"/>
            <a:chExt cx="5410200" cy="1621155"/>
          </a:xfrm>
        </p:grpSpPr>
        <p:sp>
          <p:nvSpPr>
            <p:cNvPr id="15" name="Rectangle 15"/>
            <p:cNvSpPr/>
            <p:nvPr/>
          </p:nvSpPr>
          <p:spPr>
            <a:xfrm>
              <a:off x="533400" y="4160520"/>
              <a:ext cx="5410200" cy="1621155"/>
            </a:xfrm>
            <a:prstGeom prst="roundRect">
              <a:avLst>
                <a:gd name="adj" fmla="val 822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542925" y="4293870"/>
              <a:ext cx="47625" cy="135445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81050" y="437007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71258" y="440578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补充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382078" y="4405312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第三条的言外之意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73430" y="4766310"/>
              <a:ext cx="4692015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课件特意写了“如果一个类可以有几个实例共存，就需要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对单例模式进行改进，使之成为多例模式”。选单例还是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多例，看的是数量约束，不是访问方不方便。</a:t>
              </a:r>
            </a:p>
          </p:txBody>
        </p:sp>
      </p:grpSp>
      <p:grpSp>
        <p:nvGrpSpPr>
          <p:cNvPr id="33" name="c2-bullets-1"/>
          <p:cNvGrpSpPr/>
          <p:nvPr/>
        </p:nvGrpSpPr>
        <p:grpSpPr>
          <a:xfrm>
            <a:off x="6240780" y="1548765"/>
            <a:ext cx="4503420" cy="2026920"/>
            <a:chOff x="6240780" y="1548765"/>
            <a:chExt cx="4503420" cy="2026920"/>
          </a:xfrm>
        </p:grpSpPr>
        <p:sp>
          <p:nvSpPr>
            <p:cNvPr id="22" name="TextBox 22"/>
            <p:cNvSpPr txBox="1"/>
            <p:nvPr/>
          </p:nvSpPr>
          <p:spPr>
            <a:xfrm>
              <a:off x="6240780" y="1548765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这些情况别用</a:t>
              </a:r>
            </a:p>
          </p:txBody>
        </p:sp>
        <p:sp>
          <p:nvSpPr>
            <p:cNvPr id="23" name="Freeform 23"/>
            <p:cNvSpPr/>
            <p:nvPr/>
          </p:nvSpPr>
          <p:spPr>
            <a:xfrm>
              <a:off x="6248400" y="1939290"/>
              <a:ext cx="114300" cy="114300"/>
            </a:xfrm>
            <a:custGeom>
              <a:avLst/>
              <a:gdLst/>
              <a:ahLst/>
              <a:cxnLst/>
              <a:rect l="l" t="t" r="r" b="b"/>
              <a:pathLst>
                <a:path w="114300" h="114300">
                  <a:moveTo>
                    <a:pt x="0" y="0"/>
                  </a:moveTo>
                  <a:lnTo>
                    <a:pt x="114300" y="114300"/>
                  </a:lnTo>
                  <a:moveTo>
                    <a:pt x="114300" y="0"/>
                  </a:moveTo>
                  <a:lnTo>
                    <a:pt x="0" y="114300"/>
                  </a:lnTo>
                </a:path>
              </a:pathLst>
            </a:custGeom>
            <a:noFill/>
            <a:ln w="24765" cap="rnd">
              <a:solidFill>
                <a:srgbClr val="B42318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488430" y="1903095"/>
              <a:ext cx="40538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只是嫌参数传着麻烦，想找个地方放全局数据</a:t>
              </a:r>
            </a:p>
          </p:txBody>
        </p:sp>
        <p:sp>
          <p:nvSpPr>
            <p:cNvPr id="25" name="Freeform 25"/>
            <p:cNvSpPr/>
            <p:nvPr/>
          </p:nvSpPr>
          <p:spPr>
            <a:xfrm>
              <a:off x="6248400" y="2284095"/>
              <a:ext cx="114300" cy="114300"/>
            </a:xfrm>
            <a:custGeom>
              <a:avLst/>
              <a:gdLst/>
              <a:ahLst/>
              <a:cxnLst/>
              <a:rect l="l" t="t" r="r" b="b"/>
              <a:pathLst>
                <a:path w="114300" h="114300">
                  <a:moveTo>
                    <a:pt x="0" y="0"/>
                  </a:moveTo>
                  <a:lnTo>
                    <a:pt x="114300" y="114300"/>
                  </a:lnTo>
                  <a:moveTo>
                    <a:pt x="114300" y="0"/>
                  </a:moveTo>
                  <a:lnTo>
                    <a:pt x="0" y="114300"/>
                  </a:lnTo>
                </a:path>
              </a:pathLst>
            </a:custGeom>
            <a:noFill/>
            <a:ln w="24765" cap="rnd">
              <a:solidFill>
                <a:srgbClr val="B42318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488430" y="2247900"/>
              <a:ext cx="40538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以后可能需要多份配置、多个连接、多套实现</a:t>
              </a:r>
            </a:p>
          </p:txBody>
        </p:sp>
        <p:sp>
          <p:nvSpPr>
            <p:cNvPr id="27" name="Freeform 27"/>
            <p:cNvSpPr/>
            <p:nvPr/>
          </p:nvSpPr>
          <p:spPr>
            <a:xfrm>
              <a:off x="6248400" y="2628900"/>
              <a:ext cx="114300" cy="114300"/>
            </a:xfrm>
            <a:custGeom>
              <a:avLst/>
              <a:gdLst/>
              <a:ahLst/>
              <a:cxnLst/>
              <a:rect l="l" t="t" r="r" b="b"/>
              <a:pathLst>
                <a:path w="114300" h="114300">
                  <a:moveTo>
                    <a:pt x="0" y="0"/>
                  </a:moveTo>
                  <a:lnTo>
                    <a:pt x="114300" y="114300"/>
                  </a:lnTo>
                  <a:moveTo>
                    <a:pt x="114300" y="0"/>
                  </a:moveTo>
                  <a:lnTo>
                    <a:pt x="0" y="114300"/>
                  </a:lnTo>
                </a:path>
              </a:pathLst>
            </a:custGeom>
            <a:noFill/>
            <a:ln w="24765" cap="rnd">
              <a:solidFill>
                <a:srgbClr val="B42318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488430" y="2592705"/>
              <a:ext cx="42557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这个类有可变状态，而且会被多个线程同时读写</a:t>
              </a:r>
            </a:p>
          </p:txBody>
        </p:sp>
        <p:sp>
          <p:nvSpPr>
            <p:cNvPr id="29" name="Freeform 29"/>
            <p:cNvSpPr/>
            <p:nvPr/>
          </p:nvSpPr>
          <p:spPr>
            <a:xfrm>
              <a:off x="6248400" y="2973705"/>
              <a:ext cx="114300" cy="114300"/>
            </a:xfrm>
            <a:custGeom>
              <a:avLst/>
              <a:gdLst/>
              <a:ahLst/>
              <a:cxnLst/>
              <a:rect l="l" t="t" r="r" b="b"/>
              <a:pathLst>
                <a:path w="114300" h="114300">
                  <a:moveTo>
                    <a:pt x="0" y="0"/>
                  </a:moveTo>
                  <a:lnTo>
                    <a:pt x="114300" y="114300"/>
                  </a:lnTo>
                  <a:moveTo>
                    <a:pt x="114300" y="0"/>
                  </a:moveTo>
                  <a:lnTo>
                    <a:pt x="0" y="114300"/>
                  </a:lnTo>
                </a:path>
              </a:pathLst>
            </a:custGeom>
            <a:noFill/>
            <a:ln w="24765" cap="rnd">
              <a:solidFill>
                <a:srgbClr val="B42318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88430" y="2937510"/>
              <a:ext cx="34480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需要在单元测试里把它替换成假的实现</a:t>
              </a:r>
            </a:p>
          </p:txBody>
        </p:sp>
        <p:sp>
          <p:nvSpPr>
            <p:cNvPr id="31" name="Freeform 31"/>
            <p:cNvSpPr/>
            <p:nvPr/>
          </p:nvSpPr>
          <p:spPr>
            <a:xfrm>
              <a:off x="6248400" y="3318510"/>
              <a:ext cx="114300" cy="114300"/>
            </a:xfrm>
            <a:custGeom>
              <a:avLst/>
              <a:gdLst/>
              <a:ahLst/>
              <a:cxnLst/>
              <a:rect l="l" t="t" r="r" b="b"/>
              <a:pathLst>
                <a:path w="114300" h="114300">
                  <a:moveTo>
                    <a:pt x="0" y="0"/>
                  </a:moveTo>
                  <a:lnTo>
                    <a:pt x="114300" y="114300"/>
                  </a:lnTo>
                  <a:moveTo>
                    <a:pt x="114300" y="0"/>
                  </a:moveTo>
                  <a:lnTo>
                    <a:pt x="0" y="114300"/>
                  </a:lnTo>
                </a:path>
              </a:pathLst>
            </a:custGeom>
            <a:noFill/>
            <a:ln w="24765" cap="rnd">
              <a:solidFill>
                <a:srgbClr val="B42318"/>
              </a:solidFill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488430" y="3282315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跨进程、跨节点要求唯一</a:t>
              </a:r>
            </a:p>
          </p:txBody>
        </p:sp>
      </p:grpSp>
      <p:grpSp>
        <p:nvGrpSpPr>
          <p:cNvPr id="39" name="c2-card-2"/>
          <p:cNvGrpSpPr/>
          <p:nvPr/>
        </p:nvGrpSpPr>
        <p:grpSpPr>
          <a:xfrm>
            <a:off x="6248400" y="3707130"/>
            <a:ext cx="5410200" cy="2074545"/>
            <a:chOff x="6248400" y="3707130"/>
            <a:chExt cx="5410200" cy="2074545"/>
          </a:xfrm>
        </p:grpSpPr>
        <p:sp>
          <p:nvSpPr>
            <p:cNvPr id="34" name="Rectangle 34"/>
            <p:cNvSpPr/>
            <p:nvPr/>
          </p:nvSpPr>
          <p:spPr>
            <a:xfrm>
              <a:off x="6248400" y="3707130"/>
              <a:ext cx="5410200" cy="2074545"/>
            </a:xfrm>
            <a:prstGeom prst="roundRect">
              <a:avLst>
                <a:gd name="adj" fmla="val 6428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6457950" y="3916680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462F80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540259" y="395239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判断标准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342823" y="3951922"/>
              <a:ext cx="408513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问一句，“只能有一个”是业务规则还是图省事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450330" y="4312920"/>
              <a:ext cx="46920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打印池、主键分配器是业务规则。“我不想把它一路传下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去”不是，那种情况该用依赖注入。</a:t>
              </a:r>
            </a:p>
          </p:txBody>
        </p:sp>
      </p:grpSp>
      <p:grpSp>
        <p:nvGrpSpPr>
          <p:cNvPr id="4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0" name="TextBox 40"/>
            <p:cNvSpPr txBox="1"/>
            <p:nvPr/>
          </p:nvSpPr>
          <p:spPr>
            <a:xfrm>
              <a:off x="528447" y="6581299"/>
              <a:ext cx="14808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单例模式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772156" cy="909257"/>
            <a:chOff x="520446" y="342900"/>
            <a:chExt cx="277215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069782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7331" y="407194"/>
              <a:ext cx="19228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15 单例 · 效果、应用与扩展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77215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真实系统里的单例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0" name="c1-code-1"/>
          <p:cNvGrpSpPr/>
          <p:nvPr/>
        </p:nvGrpSpPr>
        <p:grpSpPr>
          <a:xfrm>
            <a:off x="533400" y="1524000"/>
            <a:ext cx="5193982" cy="2440305"/>
            <a:chOff x="533400" y="1524000"/>
            <a:chExt cx="5193982" cy="244030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193982" cy="2440305"/>
            </a:xfrm>
            <a:prstGeom prst="roundRect">
              <a:avLst>
                <a:gd name="adj" fmla="val 3903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189315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java.lang.Runtime（饿汉式）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61797" y="1935956"/>
              <a:ext cx="2816479" cy="19528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Runtime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static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Runtime currentRuntime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=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Runtime();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static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Runtime getRuntime()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currentRuntime;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Runtime() {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Consolas"/>
                  <a:cs typeface="Consolas"/>
                </a:rPr>
                <a:t>/* ...... */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17" name="c1-card-2"/>
          <p:cNvGrpSpPr/>
          <p:nvPr/>
        </p:nvGrpSpPr>
        <p:grpSpPr>
          <a:xfrm>
            <a:off x="533400" y="4133850"/>
            <a:ext cx="5193982" cy="1459230"/>
            <a:chOff x="533400" y="4133850"/>
            <a:chExt cx="5193982" cy="1459230"/>
          </a:xfrm>
        </p:grpSpPr>
        <p:sp>
          <p:nvSpPr>
            <p:cNvPr id="11" name="Rectangle 11"/>
            <p:cNvSpPr/>
            <p:nvPr/>
          </p:nvSpPr>
          <p:spPr>
            <a:xfrm>
              <a:off x="533400" y="4133850"/>
              <a:ext cx="5193982" cy="1459230"/>
            </a:xfrm>
            <a:prstGeom prst="roundRect">
              <a:avLst>
                <a:gd name="adj" fmla="val 913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542925" y="4267200"/>
              <a:ext cx="47625" cy="119253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758190" y="4320540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850862" y="435340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例三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323784" y="4355782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自动编号主键生成器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51332" y="4681538"/>
              <a:ext cx="4471416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一张带自动编号主键的表可以有多个用户同时使用，但数据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库中只能有一个地方分配下一个主键编号，否则会出现主键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重复。单机部署时用单例实现。</a:t>
              </a:r>
            </a:p>
          </p:txBody>
        </p:sp>
      </p:grpSp>
      <p:grpSp>
        <p:nvGrpSpPr>
          <p:cNvPr id="25" name="c2-card-1"/>
          <p:cNvGrpSpPr/>
          <p:nvPr/>
        </p:nvGrpSpPr>
        <p:grpSpPr>
          <a:xfrm>
            <a:off x="6032182" y="1524000"/>
            <a:ext cx="5626418" cy="2017395"/>
            <a:chOff x="6032182" y="1524000"/>
            <a:chExt cx="5626418" cy="2017395"/>
          </a:xfrm>
        </p:grpSpPr>
        <p:sp>
          <p:nvSpPr>
            <p:cNvPr id="18" name="Rectangle 18"/>
            <p:cNvSpPr/>
            <p:nvPr/>
          </p:nvSpPr>
          <p:spPr>
            <a:xfrm>
              <a:off x="6032182" y="1524000"/>
              <a:ext cx="5626418" cy="2017395"/>
            </a:xfrm>
            <a:prstGeom prst="roundRect">
              <a:avLst>
                <a:gd name="adj" fmla="val 661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6041708" y="1657350"/>
              <a:ext cx="47625" cy="1750695"/>
            </a:xfrm>
            <a:prstGeom prst="roundRect">
              <a:avLst>
                <a:gd name="adj" fmla="val 50000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6256972" y="1710690"/>
              <a:ext cx="607695" cy="238125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342625" y="1743551"/>
              <a:ext cx="43639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Spring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972110" y="1745932"/>
              <a:ext cx="290833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默认的 bean 作用域就是 singleton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250114" y="2071688"/>
              <a:ext cx="329698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en-US" sz="135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&lt;bean id="date" class="java.util.Date"</a:t>
              </a:r>
              <a:br/>
              <a:r>
                <a:rPr lang="en-US" sz="135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scope="singleton"/&gt;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250114" y="2628900"/>
              <a:ext cx="4917186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en-US" sz="135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scope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是 bean 在时间和空间维度上的范围。</a:t>
              </a:r>
              <a:r>
                <a:rPr lang="en-US" sz="135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singleton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表示这个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bean 存在于应用的整个生命期内，全局共享一个实例；</a:t>
              </a:r>
              <a:br/>
              <a:r>
                <a:rPr lang="en-US" sz="135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prototype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表示每次注入都新建一个。</a:t>
              </a:r>
            </a:p>
          </p:txBody>
        </p:sp>
      </p:grpSp>
      <p:grpSp>
        <p:nvGrpSpPr>
          <p:cNvPr id="32" name="c2-card-2"/>
          <p:cNvGrpSpPr/>
          <p:nvPr/>
        </p:nvGrpSpPr>
        <p:grpSpPr>
          <a:xfrm>
            <a:off x="6032182" y="3710940"/>
            <a:ext cx="5626418" cy="1883092"/>
            <a:chOff x="6032182" y="3710940"/>
            <a:chExt cx="5626418" cy="1883092"/>
          </a:xfrm>
        </p:grpSpPr>
        <p:sp>
          <p:nvSpPr>
            <p:cNvPr id="26" name="Rectangle 26"/>
            <p:cNvSpPr/>
            <p:nvPr/>
          </p:nvSpPr>
          <p:spPr>
            <a:xfrm>
              <a:off x="6032182" y="3710940"/>
              <a:ext cx="5626418" cy="1883092"/>
            </a:xfrm>
            <a:prstGeom prst="roundRect">
              <a:avLst>
                <a:gd name="adj" fmla="val 708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6041708" y="3844290"/>
              <a:ext cx="47625" cy="1616392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6256972" y="3897630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348692" y="393049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注意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822567" y="3932872"/>
              <a:ext cx="328540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Spring 的单例和 GoF 的单例不是一回事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250114" y="4258628"/>
              <a:ext cx="4917186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Bean 类本身没有私有构造函数，也没有取实例的静态方法。唯一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性由容器维护，作用域是一个 </a:t>
              </a:r>
              <a:r>
                <a:rPr lang="en-US" sz="135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ApplicationContext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，同一个 JVM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里建两个容器就有两个实例。</a:t>
              </a:r>
            </a:p>
          </p:txBody>
        </p:sp>
      </p:grpSp>
      <p:grpSp>
        <p:nvGrpSpPr>
          <p:cNvPr id="39" name="takeaway"/>
          <p:cNvGrpSpPr/>
          <p:nvPr/>
        </p:nvGrpSpPr>
        <p:grpSpPr>
          <a:xfrm>
            <a:off x="533400" y="5881688"/>
            <a:ext cx="11125200" cy="481012"/>
            <a:chOff x="533400" y="5881688"/>
            <a:chExt cx="11125200" cy="481012"/>
          </a:xfrm>
        </p:grpSpPr>
        <p:sp>
          <p:nvSpPr>
            <p:cNvPr id="33" name="Rectangle 33"/>
            <p:cNvSpPr/>
            <p:nvPr/>
          </p:nvSpPr>
          <p:spPr>
            <a:xfrm>
              <a:off x="533400" y="5881688"/>
              <a:ext cx="11125200" cy="481012"/>
            </a:xfrm>
            <a:prstGeom prst="roundRect">
              <a:avLst>
                <a:gd name="adj" fmla="val 23762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37" name="Group 37"/>
            <p:cNvGrpSpPr/>
            <p:nvPr/>
          </p:nvGrpSpPr>
          <p:grpSpPr>
            <a:xfrm>
              <a:off x="738188" y="6022658"/>
              <a:ext cx="200026" cy="200026"/>
              <a:chOff x="738188" y="6022658"/>
              <a:chExt cx="200026" cy="200026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738188" y="602265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838200" y="608933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827088" y="612267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38" name="TextBox 38"/>
            <p:cNvSpPr txBox="1"/>
            <p:nvPr/>
          </p:nvSpPr>
          <p:spPr>
            <a:xfrm>
              <a:off x="1040892" y="6028373"/>
              <a:ext cx="99435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其他常见例子：日志记录器、配置读取器、窗口管理器、MVC 里的控制器；陈伟老师课件还举了 VB 的 Screen 和 Cursor。</a:t>
              </a:r>
            </a:p>
          </p:txBody>
        </p:sp>
      </p:grpSp>
      <p:grpSp>
        <p:nvGrpSpPr>
          <p:cNvPr id="4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0" name="TextBox 40"/>
            <p:cNvSpPr txBox="1"/>
            <p:nvPr/>
          </p:nvSpPr>
          <p:spPr>
            <a:xfrm>
              <a:off x="528447" y="6581299"/>
              <a:ext cx="14808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单例模式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548247" cy="909257"/>
            <a:chOff x="520446" y="342900"/>
            <a:chExt cx="654824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069782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7331" y="407194"/>
              <a:ext cx="19228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15 单例 · 效果、应用与扩展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54824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扩展：从单例到多例，本质是控制实例数目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6595339" cy="264033"/>
            <a:chOff x="526542" y="1545907"/>
            <a:chExt cx="6595339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659533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单例模式的本质是控制实例数目。数目不一定是一个，放宽到 N 个就是多例模式。</a:t>
              </a:r>
            </a:p>
          </p:txBody>
        </p:sp>
      </p:grpSp>
      <p:grpSp>
        <p:nvGrpSpPr>
          <p:cNvPr id="21" name="c1-card-1"/>
          <p:cNvGrpSpPr/>
          <p:nvPr/>
        </p:nvGrpSpPr>
        <p:grpSpPr>
          <a:xfrm>
            <a:off x="533400" y="1928812"/>
            <a:ext cx="4544378" cy="2015490"/>
            <a:chOff x="533400" y="1928812"/>
            <a:chExt cx="4544378" cy="2015490"/>
          </a:xfrm>
        </p:grpSpPr>
        <p:sp>
          <p:nvSpPr>
            <p:cNvPr id="9" name="Rectangle 9"/>
            <p:cNvSpPr/>
            <p:nvPr/>
          </p:nvSpPr>
          <p:spPr>
            <a:xfrm>
              <a:off x="533400" y="1928812"/>
              <a:ext cx="4544378" cy="2015490"/>
            </a:xfrm>
            <a:prstGeom prst="roundRect">
              <a:avLst>
                <a:gd name="adj" fmla="val 661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42925" y="2062162"/>
              <a:ext cx="47625" cy="1748790"/>
            </a:xfrm>
            <a:prstGeom prst="roundRect">
              <a:avLst>
                <a:gd name="adj" fmla="val 50000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52475" y="2109788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45147" y="2142649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18450" y="214931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多例模式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45998" y="2465546"/>
              <a:ext cx="315166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限定某个类具体实例的数量至多为 N 个。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62000" y="2803208"/>
              <a:ext cx="57150" cy="571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17448" y="2751296"/>
              <a:ext cx="31145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创建和销毁这样的实例对象非常耗费资源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762000" y="3088005"/>
              <a:ext cx="57150" cy="571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17448" y="3036094"/>
              <a:ext cx="225303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实例对象的总数量应受到限制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762000" y="3373755"/>
              <a:ext cx="57150" cy="571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17448" y="3320891"/>
              <a:ext cx="375183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一个实例用完后通常不释放，只标记为空闲，可为下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一个请求分配</a:t>
              </a:r>
            </a:p>
          </p:txBody>
        </p:sp>
      </p:grpSp>
      <p:grpSp>
        <p:nvGrpSpPr>
          <p:cNvPr id="27" name="c1-kv-2"/>
          <p:cNvGrpSpPr/>
          <p:nvPr/>
        </p:nvGrpSpPr>
        <p:grpSpPr>
          <a:xfrm>
            <a:off x="526923" y="4129564"/>
            <a:ext cx="4550879" cy="623696"/>
            <a:chOff x="526923" y="4129564"/>
            <a:chExt cx="4550879" cy="623696"/>
          </a:xfrm>
        </p:grpSpPr>
        <p:sp>
          <p:nvSpPr>
            <p:cNvPr id="22" name="TextBox 22"/>
            <p:cNvSpPr txBox="1"/>
            <p:nvPr/>
          </p:nvSpPr>
          <p:spPr>
            <a:xfrm>
              <a:off x="526923" y="412956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常见例子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790890" y="4129564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线程池、数据库连接池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533400" y="4401502"/>
              <a:ext cx="454437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526923" y="4503896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和单例的关系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790890" y="4503896"/>
              <a:ext cx="328691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池对象本身是单例，池里装的元素才是多例</a:t>
              </a:r>
            </a:p>
          </p:txBody>
        </p:sp>
      </p:grpSp>
      <p:grpSp>
        <p:nvGrpSpPr>
          <p:cNvPr id="33" name="c1-card-3"/>
          <p:cNvGrpSpPr/>
          <p:nvPr/>
        </p:nvGrpSpPr>
        <p:grpSpPr>
          <a:xfrm>
            <a:off x="533400" y="4868228"/>
            <a:ext cx="4544378" cy="1435418"/>
            <a:chOff x="533400" y="4868228"/>
            <a:chExt cx="4544378" cy="1435418"/>
          </a:xfrm>
        </p:grpSpPr>
        <p:sp>
          <p:nvSpPr>
            <p:cNvPr id="28" name="Rectangle 28"/>
            <p:cNvSpPr/>
            <p:nvPr/>
          </p:nvSpPr>
          <p:spPr>
            <a:xfrm>
              <a:off x="533400" y="4868228"/>
              <a:ext cx="4544378" cy="1435418"/>
            </a:xfrm>
            <a:prstGeom prst="roundRect">
              <a:avLst>
                <a:gd name="adj" fmla="val 9290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714375" y="5049202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462F80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807047" y="5082064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记法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280350" y="5088731"/>
              <a:ext cx="178362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单例是 N 等于一的特例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07898" y="5404961"/>
              <a:ext cx="391439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一个类可以有几个实例共存时，就该改成多例。控制手</a:t>
              </a:r>
              <a:br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法一样，判断从“有没有”变成“够不够”。</a:t>
              </a:r>
            </a:p>
          </p:txBody>
        </p:sp>
      </p:grpSp>
      <p:grpSp>
        <p:nvGrpSpPr>
          <p:cNvPr id="39" name="c2-code-1"/>
          <p:cNvGrpSpPr/>
          <p:nvPr/>
        </p:nvGrpSpPr>
        <p:grpSpPr>
          <a:xfrm>
            <a:off x="5382578" y="1928812"/>
            <a:ext cx="6276022" cy="4374832"/>
            <a:chOff x="5382578" y="1928812"/>
            <a:chExt cx="6276022" cy="4374832"/>
          </a:xfrm>
        </p:grpSpPr>
        <p:sp>
          <p:nvSpPr>
            <p:cNvPr id="34" name="Rectangle 34"/>
            <p:cNvSpPr/>
            <p:nvPr/>
          </p:nvSpPr>
          <p:spPr>
            <a:xfrm>
              <a:off x="5382578" y="1928812"/>
              <a:ext cx="6276022" cy="4374832"/>
            </a:xfrm>
            <a:prstGeom prst="roundRect">
              <a:avLst>
                <a:gd name="adj" fmla="val 2177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5510974" y="2080736"/>
              <a:ext cx="20542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线程池示意（按课件的 C++ 改写）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5401628" y="2655570"/>
              <a:ext cx="6237922" cy="17621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5401628" y="2831782"/>
              <a:ext cx="6237922" cy="17621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5510974" y="2340769"/>
              <a:ext cx="3973957" cy="38911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ThreadPool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static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final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MAX = 10;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static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ThreadPool pool;   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池本身是单例 */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final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List&lt;Worker&gt; workers;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池里是多例 */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ThreadPool(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max) {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workers =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ArrayList&lt;&gt;(max);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预建 max 个 */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static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synchronized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ThreadPool getPool()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(pool ==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null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) { pool =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ThreadPool(MAX);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pool;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取一个空闲的；没有空闲就返回 null */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synchronized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Worker acquire()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for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(Worker w : workers)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(w.isIdle()) {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w;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null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4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0" name="TextBox 40"/>
            <p:cNvSpPr txBox="1"/>
            <p:nvPr/>
          </p:nvSpPr>
          <p:spPr>
            <a:xfrm>
              <a:off x="528447" y="6581299"/>
              <a:ext cx="14808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单例模式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145280" cy="909257"/>
            <a:chOff x="520446" y="342900"/>
            <a:chExt cx="414528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069782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7331" y="407194"/>
              <a:ext cx="19228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15 单例 · 效果、应用与扩展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14528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模式本质与常见的滥用信号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5193982" cy="1621155"/>
            <a:chOff x="533400" y="1524000"/>
            <a:chExt cx="5193982" cy="162115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193982" cy="1621155"/>
            </a:xfrm>
            <a:prstGeom prst="roundRect">
              <a:avLst>
                <a:gd name="adj" fmla="val 8226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42950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462F80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3315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本质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43978" y="1768792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控制实例数目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35330" y="2129790"/>
              <a:ext cx="45872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单例模式是为了在运行期间控制某些类的实例数目只能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有一个。同样的手法可以把数目控制成两个、三个或任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意需要的个数，目的都是节省资源。</a:t>
              </a:r>
            </a:p>
          </p:txBody>
        </p:sp>
      </p:grpSp>
      <p:grpSp>
        <p:nvGrpSpPr>
          <p:cNvPr id="22" name="c1-bullets-2"/>
          <p:cNvGrpSpPr/>
          <p:nvPr/>
        </p:nvGrpSpPr>
        <p:grpSpPr>
          <a:xfrm>
            <a:off x="525780" y="3360420"/>
            <a:ext cx="5109210" cy="2253615"/>
            <a:chOff x="525780" y="3360420"/>
            <a:chExt cx="5109210" cy="2253615"/>
          </a:xfrm>
        </p:grpSpPr>
        <p:sp>
          <p:nvSpPr>
            <p:cNvPr id="13" name="TextBox 13"/>
            <p:cNvSpPr txBox="1"/>
            <p:nvPr/>
          </p:nvSpPr>
          <p:spPr>
            <a:xfrm>
              <a:off x="525780" y="3360420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滥用的四个信号</a:t>
              </a:r>
            </a:p>
          </p:txBody>
        </p:sp>
        <p:sp>
          <p:nvSpPr>
            <p:cNvPr id="14" name="Freeform 14"/>
            <p:cNvSpPr/>
            <p:nvPr/>
          </p:nvSpPr>
          <p:spPr>
            <a:xfrm>
              <a:off x="533400" y="3750945"/>
              <a:ext cx="114300" cy="114300"/>
            </a:xfrm>
            <a:custGeom>
              <a:avLst/>
              <a:gdLst/>
              <a:ahLst/>
              <a:cxnLst/>
              <a:rect l="l" t="t" r="r" b="b"/>
              <a:pathLst>
                <a:path w="114300" h="114300">
                  <a:moveTo>
                    <a:pt x="0" y="0"/>
                  </a:moveTo>
                  <a:lnTo>
                    <a:pt x="114300" y="114300"/>
                  </a:lnTo>
                  <a:moveTo>
                    <a:pt x="114300" y="0"/>
                  </a:moveTo>
                  <a:lnTo>
                    <a:pt x="0" y="114300"/>
                  </a:lnTo>
                </a:path>
              </a:pathLst>
            </a:custGeom>
            <a:noFill/>
            <a:ln w="24765" cap="rnd">
              <a:solidFill>
                <a:srgbClr val="B42318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73430" y="3714750"/>
              <a:ext cx="46062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为了“到处都能取到”而用单例，实际是全局变量换了个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写法</a:t>
              </a:r>
            </a:p>
          </p:txBody>
        </p:sp>
        <p:sp>
          <p:nvSpPr>
            <p:cNvPr id="16" name="Freeform 16"/>
            <p:cNvSpPr/>
            <p:nvPr/>
          </p:nvSpPr>
          <p:spPr>
            <a:xfrm>
              <a:off x="533400" y="4381500"/>
              <a:ext cx="114300" cy="114300"/>
            </a:xfrm>
            <a:custGeom>
              <a:avLst/>
              <a:gdLst/>
              <a:ahLst/>
              <a:cxnLst/>
              <a:rect l="l" t="t" r="r" b="b"/>
              <a:pathLst>
                <a:path w="114300" h="114300">
                  <a:moveTo>
                    <a:pt x="0" y="0"/>
                  </a:moveTo>
                  <a:lnTo>
                    <a:pt x="114300" y="114300"/>
                  </a:lnTo>
                  <a:moveTo>
                    <a:pt x="114300" y="0"/>
                  </a:moveTo>
                  <a:lnTo>
                    <a:pt x="0" y="114300"/>
                  </a:lnTo>
                </a:path>
              </a:pathLst>
            </a:custGeom>
            <a:noFill/>
            <a:ln w="24765" cap="rnd">
              <a:solidFill>
                <a:srgbClr val="B42318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73430" y="4345305"/>
              <a:ext cx="4587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单例里放可变的业务状态，并发时要自己加锁，出了问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题很难排查</a:t>
              </a:r>
            </a:p>
          </p:txBody>
        </p:sp>
        <p:sp>
          <p:nvSpPr>
            <p:cNvPr id="18" name="Freeform 18"/>
            <p:cNvSpPr/>
            <p:nvPr/>
          </p:nvSpPr>
          <p:spPr>
            <a:xfrm>
              <a:off x="533400" y="5012055"/>
              <a:ext cx="114300" cy="114300"/>
            </a:xfrm>
            <a:custGeom>
              <a:avLst/>
              <a:gdLst/>
              <a:ahLst/>
              <a:cxnLst/>
              <a:rect l="l" t="t" r="r" b="b"/>
              <a:pathLst>
                <a:path w="114300" h="114300">
                  <a:moveTo>
                    <a:pt x="0" y="0"/>
                  </a:moveTo>
                  <a:lnTo>
                    <a:pt x="114300" y="114300"/>
                  </a:lnTo>
                  <a:moveTo>
                    <a:pt x="114300" y="0"/>
                  </a:moveTo>
                  <a:lnTo>
                    <a:pt x="0" y="114300"/>
                  </a:lnTo>
                </a:path>
              </a:pathLst>
            </a:custGeom>
            <a:noFill/>
            <a:ln w="24765" cap="rnd">
              <a:solidFill>
                <a:srgbClr val="B42318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773430" y="4975860"/>
              <a:ext cx="48615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把连接池、缓存做成单例又不限容量，最后连接池溢出</a:t>
              </a:r>
            </a:p>
          </p:txBody>
        </p:sp>
        <p:sp>
          <p:nvSpPr>
            <p:cNvPr id="20" name="Freeform 20"/>
            <p:cNvSpPr/>
            <p:nvPr/>
          </p:nvSpPr>
          <p:spPr>
            <a:xfrm>
              <a:off x="533400" y="5356860"/>
              <a:ext cx="114300" cy="114300"/>
            </a:xfrm>
            <a:custGeom>
              <a:avLst/>
              <a:gdLst/>
              <a:ahLst/>
              <a:cxnLst/>
              <a:rect l="l" t="t" r="r" b="b"/>
              <a:pathLst>
                <a:path w="114300" h="114300">
                  <a:moveTo>
                    <a:pt x="0" y="0"/>
                  </a:moveTo>
                  <a:lnTo>
                    <a:pt x="114300" y="114300"/>
                  </a:lnTo>
                  <a:moveTo>
                    <a:pt x="114300" y="0"/>
                  </a:moveTo>
                  <a:lnTo>
                    <a:pt x="0" y="114300"/>
                  </a:lnTo>
                </a:path>
              </a:pathLst>
            </a:custGeom>
            <a:noFill/>
            <a:ln w="24765" cap="rnd">
              <a:solidFill>
                <a:srgbClr val="B42318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773430" y="5320665"/>
              <a:ext cx="44577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测试里造不出替身，说明依赖被硬编码进了调用方</a:t>
              </a:r>
            </a:p>
          </p:txBody>
        </p:sp>
      </p:grpSp>
      <p:grpSp>
        <p:nvGrpSpPr>
          <p:cNvPr id="34" name="c2-kv-1"/>
          <p:cNvGrpSpPr/>
          <p:nvPr/>
        </p:nvGrpSpPr>
        <p:grpSpPr>
          <a:xfrm>
            <a:off x="6024562" y="1548765"/>
            <a:ext cx="5634038" cy="2741295"/>
            <a:chOff x="6024562" y="1548765"/>
            <a:chExt cx="5634038" cy="2741295"/>
          </a:xfrm>
        </p:grpSpPr>
        <p:sp>
          <p:nvSpPr>
            <p:cNvPr id="23" name="TextBox 23"/>
            <p:cNvSpPr txBox="1"/>
            <p:nvPr/>
          </p:nvSpPr>
          <p:spPr>
            <a:xfrm>
              <a:off x="6024562" y="1548765"/>
              <a:ext cx="246969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“只能有一个”是业务规则吗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683942" y="1548765"/>
              <a:ext cx="26822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是就用单例；只是图省事的话，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改成依赖注入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032182" y="2150745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024562" y="2270760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这个对象有可变状态吗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683942" y="2270760"/>
              <a:ext cx="26822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有就要自己保证线程安全；无状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态的可以放心共享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032182" y="2872740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024562" y="2992755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以后可能要多份实现吗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683942" y="2992755"/>
              <a:ext cx="26822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可能的话先抽接口，别把类名写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死在调用方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032182" y="3594735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024562" y="3714750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需要跨进程唯一吗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8683942" y="3714750"/>
              <a:ext cx="26822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需要的话单例解决不了，回到集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群那一页</a:t>
              </a:r>
            </a:p>
          </p:txBody>
        </p:sp>
      </p:grpSp>
      <p:grpSp>
        <p:nvGrpSpPr>
          <p:cNvPr id="41" name="c2-card-2"/>
          <p:cNvGrpSpPr/>
          <p:nvPr/>
        </p:nvGrpSpPr>
        <p:grpSpPr>
          <a:xfrm>
            <a:off x="6032182" y="4421505"/>
            <a:ext cx="5626418" cy="1621155"/>
            <a:chOff x="6032182" y="4421505"/>
            <a:chExt cx="5626418" cy="1621155"/>
          </a:xfrm>
        </p:grpSpPr>
        <p:sp>
          <p:nvSpPr>
            <p:cNvPr id="35" name="Rectangle 35"/>
            <p:cNvSpPr/>
            <p:nvPr/>
          </p:nvSpPr>
          <p:spPr>
            <a:xfrm>
              <a:off x="6032182" y="4421505"/>
              <a:ext cx="5626418" cy="1621155"/>
            </a:xfrm>
            <a:prstGeom prst="roundRect">
              <a:avLst>
                <a:gd name="adj" fmla="val 822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6041708" y="4554855"/>
              <a:ext cx="47625" cy="135445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6279832" y="4631055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361189" y="466677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实用建议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164705" y="4666298"/>
              <a:ext cx="229906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把“唯一”和“好取到”分开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272212" y="5027295"/>
              <a:ext cx="49682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让业务类保持普通写法，通过构造函数接收它需要的依赖；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唯一性交给容器或者工厂去保证。这样既拿到了单例的好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处，又不会被静态方法钉死。</a:t>
              </a:r>
            </a:p>
          </p:txBody>
        </p:sp>
      </p:grpSp>
      <p:grpSp>
        <p:nvGrpSpPr>
          <p:cNvPr id="4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2" name="TextBox 42"/>
            <p:cNvSpPr txBox="1"/>
            <p:nvPr/>
          </p:nvSpPr>
          <p:spPr>
            <a:xfrm>
              <a:off x="528447" y="6581299"/>
              <a:ext cx="14808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单例模式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5B3FA0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EEAF7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3136392" cy="3351847"/>
            <a:chOff x="667512" y="1835468"/>
            <a:chExt cx="3136392" cy="335184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第六部分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2459736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辨析与自测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312648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和别的模式、别的写法划清界线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与相关模式的关系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单例与静态工具类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八个易错点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110566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 道自测题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14808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单例模式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772156" cy="909257"/>
            <a:chOff x="520446" y="342900"/>
            <a:chExt cx="277215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643062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20133" y="407194"/>
              <a:ext cx="14705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15 单例 · 辨析与自测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77215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和其他模式的关系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44" name="c1-table-1"/>
          <p:cNvGrpSpPr/>
          <p:nvPr/>
        </p:nvGrpSpPr>
        <p:grpSpPr>
          <a:xfrm>
            <a:off x="533400" y="1524000"/>
            <a:ext cx="11125200" cy="3246120"/>
            <a:chOff x="533400" y="1524000"/>
            <a:chExt cx="11125200" cy="324612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11125200" cy="40576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600873" y="164830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模式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4823714" y="1648301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它解决什么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086964" y="1648301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和单例的关系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33412" y="2054066"/>
              <a:ext cx="14867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工厂方法（第 11 讲）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081338" y="2054066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由工厂子类决定造哪一个产品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531417" y="2054066"/>
              <a:ext cx="242382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具体工厂通常没有状态，常做成单例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33076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335530"/>
              <a:ext cx="11125200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33412" y="2459831"/>
              <a:ext cx="14867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抽象工厂（第 12 讲）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081338" y="2459831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造一族配套的产品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531417" y="2459831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抽象工厂的实现类多数也是单例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273653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33412" y="2865596"/>
              <a:ext cx="13359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建造者（第 13 讲）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081338" y="2865596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分步骤装配一个复杂对象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531417" y="2865596"/>
              <a:ext cx="20896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指挥者 Director 可以做成单例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314229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533400" y="3147060"/>
              <a:ext cx="11125200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33412" y="3271361"/>
              <a:ext cx="11852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原型（第 14 讲）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3081338" y="3271361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复制样板对象得到新实例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531417" y="3271361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目的正相反：一个要多份，一个只要一份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33400" y="354806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33412" y="3677126"/>
              <a:ext cx="11852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享元（第 25 讲）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3081338" y="3677126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共享大量细粒度对象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531417" y="3677126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享元工厂是单例，池里存的是多例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533400" y="395382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533400" y="3958590"/>
              <a:ext cx="11125200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33412" y="4082891"/>
              <a:ext cx="11852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外观（第 24 讲）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3081338" y="4082891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给子系统一个统一入口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531417" y="4082891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外观对象常实现为单例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533400" y="435959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33412" y="4488656"/>
              <a:ext cx="11852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状态（第 37 讲）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3081338" y="4488656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行为随内部状态变化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531417" y="4488656"/>
              <a:ext cx="242382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没有状态的状态对象常做成单例共享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533400" y="1524000"/>
              <a:ext cx="11125200" cy="324612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2976562" y="1524000"/>
              <a:ext cx="9525" cy="324612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7426642" y="1524000"/>
              <a:ext cx="9525" cy="324612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1" name="c1-compare-2"/>
          <p:cNvGrpSpPr/>
          <p:nvPr/>
        </p:nvGrpSpPr>
        <p:grpSpPr>
          <a:xfrm>
            <a:off x="533400" y="4945380"/>
            <a:ext cx="11125200" cy="1417320"/>
            <a:chOff x="533400" y="4945380"/>
            <a:chExt cx="11125200" cy="1417320"/>
          </a:xfrm>
        </p:grpSpPr>
        <p:sp>
          <p:nvSpPr>
            <p:cNvPr id="45" name="Rectangle 45"/>
            <p:cNvSpPr/>
            <p:nvPr/>
          </p:nvSpPr>
          <p:spPr>
            <a:xfrm>
              <a:off x="533400" y="4945380"/>
              <a:ext cx="5323522" cy="1417320"/>
            </a:xfrm>
            <a:prstGeom prst="roundRect">
              <a:avLst>
                <a:gd name="adj" fmla="val 940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6" name="Rectangle 46"/>
            <p:cNvSpPr/>
            <p:nvPr/>
          </p:nvSpPr>
          <p:spPr>
            <a:xfrm>
              <a:off x="542925" y="5078730"/>
              <a:ext cx="47625" cy="115062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757047" y="5159692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单例与工厂的联系</a:t>
              </a:r>
            </a:p>
          </p:txBody>
        </p:sp>
        <p:sp>
          <p:nvSpPr>
            <p:cNvPr id="48" name="Ellipse 48"/>
            <p:cNvSpPr/>
            <p:nvPr/>
          </p:nvSpPr>
          <p:spPr>
            <a:xfrm>
              <a:off x="772478" y="5535930"/>
              <a:ext cx="59055" cy="5905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928497" y="5479733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工厂类往往没有自己的状态</a:t>
              </a:r>
            </a:p>
          </p:txBody>
        </p:sp>
        <p:sp>
          <p:nvSpPr>
            <p:cNvPr id="50" name="Ellipse 50"/>
            <p:cNvSpPr/>
            <p:nvPr/>
          </p:nvSpPr>
          <p:spPr>
            <a:xfrm>
              <a:off x="772478" y="5838825"/>
              <a:ext cx="59055" cy="5905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928497" y="5782628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做成单例可以省掉反复创建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6335078" y="4945380"/>
              <a:ext cx="5323522" cy="1417320"/>
            </a:xfrm>
            <a:prstGeom prst="roundRect">
              <a:avLst>
                <a:gd name="adj" fmla="val 940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3" name="Rectangle 53"/>
            <p:cNvSpPr/>
            <p:nvPr/>
          </p:nvSpPr>
          <p:spPr>
            <a:xfrm>
              <a:off x="6344602" y="5078730"/>
              <a:ext cx="47625" cy="115062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6558724" y="5159692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单例与享元的区别</a:t>
              </a:r>
            </a:p>
          </p:txBody>
        </p:sp>
        <p:sp>
          <p:nvSpPr>
            <p:cNvPr id="55" name="Ellipse 55"/>
            <p:cNvSpPr/>
            <p:nvPr/>
          </p:nvSpPr>
          <p:spPr>
            <a:xfrm>
              <a:off x="6574155" y="5535930"/>
              <a:ext cx="59055" cy="5905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6730174" y="5479733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单例把实例总数限定为一个</a:t>
              </a:r>
            </a:p>
          </p:txBody>
        </p:sp>
        <p:sp>
          <p:nvSpPr>
            <p:cNvPr id="57" name="Ellipse 57"/>
            <p:cNvSpPr/>
            <p:nvPr/>
          </p:nvSpPr>
          <p:spPr>
            <a:xfrm>
              <a:off x="6574155" y="5838825"/>
              <a:ext cx="59055" cy="5905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6730174" y="5782628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享元不限总数，只共享相同的部分</a:t>
              </a:r>
            </a:p>
          </p:txBody>
        </p:sp>
        <p:sp>
          <p:nvSpPr>
            <p:cNvPr id="59" name="Ellipse 59"/>
            <p:cNvSpPr/>
            <p:nvPr/>
          </p:nvSpPr>
          <p:spPr>
            <a:xfrm>
              <a:off x="5904548" y="5462588"/>
              <a:ext cx="382905" cy="38290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5959119" y="5593556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常考</a:t>
              </a:r>
            </a:p>
          </p:txBody>
        </p:sp>
      </p:grpSp>
      <p:grpSp>
        <p:nvGrpSpPr>
          <p:cNvPr id="6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2" name="TextBox 62"/>
            <p:cNvSpPr txBox="1"/>
            <p:nvPr/>
          </p:nvSpPr>
          <p:spPr>
            <a:xfrm>
              <a:off x="528447" y="6581299"/>
              <a:ext cx="14808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单例模式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518404" cy="909257"/>
            <a:chOff x="520446" y="342900"/>
            <a:chExt cx="551840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643062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20133" y="407194"/>
              <a:ext cx="14705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15 单例 · 辨析与自测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51840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单例、静态工具类、全局变量的分界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4503964" cy="308039"/>
            <a:chOff x="525399" y="1550194"/>
            <a:chExt cx="4503964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4503964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三者都能做到“随处可取”，差别在于可控程度。</a:t>
              </a:r>
            </a:p>
          </p:txBody>
        </p:sp>
      </p:grpSp>
      <p:grpSp>
        <p:nvGrpSpPr>
          <p:cNvPr id="53" name="c1-table-1"/>
          <p:cNvGrpSpPr/>
          <p:nvPr/>
        </p:nvGrpSpPr>
        <p:grpSpPr>
          <a:xfrm>
            <a:off x="533400" y="1967865"/>
            <a:ext cx="11125200" cy="3141345"/>
            <a:chOff x="533400" y="1967865"/>
            <a:chExt cx="11125200" cy="3141345"/>
          </a:xfrm>
        </p:grpSpPr>
        <p:sp>
          <p:nvSpPr>
            <p:cNvPr id="9" name="Rectangle 9"/>
            <p:cNvSpPr/>
            <p:nvPr/>
          </p:nvSpPr>
          <p:spPr>
            <a:xfrm>
              <a:off x="533400" y="1967865"/>
              <a:ext cx="11125200" cy="448628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911947" y="210264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维度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4520933" y="210264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全局变量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018477" y="2102644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全静态工具类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144404" y="210264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单例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41223" y="2551271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能阻止别人再造一个吗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755898" y="2551271"/>
              <a:ext cx="1852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否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203823" y="2551271"/>
              <a:ext cx="24253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没有实例可造，但类本身换不掉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8998268" y="2426018"/>
              <a:ext cx="2650808" cy="429578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096566" y="2551271"/>
              <a:ext cx="1852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是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286035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533400" y="2865120"/>
              <a:ext cx="11125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41223" y="3000851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能延迟到用时再创建吗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755898" y="3000851"/>
              <a:ext cx="1852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否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203823" y="3000851"/>
              <a:ext cx="1852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否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096566" y="3000851"/>
              <a:ext cx="1852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是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33400" y="3308985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41223" y="3449479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能实现接口、被继承吗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755898" y="3449479"/>
              <a:ext cx="1852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否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203823" y="3449479"/>
              <a:ext cx="1852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否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8998268" y="3323272"/>
              <a:ext cx="2650808" cy="429578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9096566" y="3449479"/>
              <a:ext cx="1852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是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533400" y="375761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533400" y="3762375"/>
              <a:ext cx="11125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41223" y="3898106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能作为参数传给别人吗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3755898" y="3898106"/>
              <a:ext cx="1852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是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203823" y="3898106"/>
              <a:ext cx="1852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否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9096566" y="3898106"/>
              <a:ext cx="1852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是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533400" y="420719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41223" y="4346734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能在测试里替换吗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3755898" y="4346734"/>
              <a:ext cx="1852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难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203823" y="4346734"/>
              <a:ext cx="1852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难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8998268" y="4221480"/>
              <a:ext cx="2650808" cy="429578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9096566" y="4346734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可以，配合接口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533400" y="4655820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533400" y="4660582"/>
              <a:ext cx="11125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41223" y="4795361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有自己的生命周期吗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3755898" y="4795361"/>
              <a:ext cx="1852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否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203823" y="4795361"/>
              <a:ext cx="1852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否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9096566" y="4795361"/>
              <a:ext cx="1852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是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533400" y="1967865"/>
              <a:ext cx="11125200" cy="314134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0" name="Rectangle 50"/>
            <p:cNvSpPr/>
            <p:nvPr/>
          </p:nvSpPr>
          <p:spPr>
            <a:xfrm>
              <a:off x="3643312" y="1967865"/>
              <a:ext cx="9525" cy="314134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1" name="Rectangle 51"/>
            <p:cNvSpPr/>
            <p:nvPr/>
          </p:nvSpPr>
          <p:spPr>
            <a:xfrm>
              <a:off x="6091238" y="1967865"/>
              <a:ext cx="9525" cy="314134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2" name="Rectangle 52"/>
            <p:cNvSpPr/>
            <p:nvPr/>
          </p:nvSpPr>
          <p:spPr>
            <a:xfrm>
              <a:off x="8983980" y="1967865"/>
              <a:ext cx="9525" cy="314134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9" name="c1-callout-2"/>
          <p:cNvGrpSpPr/>
          <p:nvPr/>
        </p:nvGrpSpPr>
        <p:grpSpPr>
          <a:xfrm>
            <a:off x="533400" y="5299710"/>
            <a:ext cx="11125200" cy="1062990"/>
            <a:chOff x="533400" y="5299710"/>
            <a:chExt cx="11125200" cy="1062990"/>
          </a:xfrm>
        </p:grpSpPr>
        <p:sp>
          <p:nvSpPr>
            <p:cNvPr id="54" name="Rectangle 54"/>
            <p:cNvSpPr/>
            <p:nvPr/>
          </p:nvSpPr>
          <p:spPr>
            <a:xfrm>
              <a:off x="533400" y="5299710"/>
              <a:ext cx="11125200" cy="1062990"/>
            </a:xfrm>
            <a:prstGeom prst="roundRect">
              <a:avLst>
                <a:gd name="adj" fmla="val 10753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57" name="Group 57"/>
            <p:cNvGrpSpPr/>
            <p:nvPr/>
          </p:nvGrpSpPr>
          <p:grpSpPr>
            <a:xfrm>
              <a:off x="738188" y="5731195"/>
              <a:ext cx="200023" cy="200023"/>
              <a:chOff x="738188" y="5731195"/>
              <a:chExt cx="200023" cy="200023"/>
            </a:xfrm>
          </p:grpSpPr>
          <p:sp>
            <p:nvSpPr>
              <p:cNvPr id="55" name="Freeform 55"/>
              <p:cNvSpPr/>
              <p:nvPr/>
            </p:nvSpPr>
            <p:spPr>
              <a:xfrm>
                <a:off x="738188" y="5731195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6" name="Freeform 56"/>
              <p:cNvSpPr/>
              <p:nvPr/>
            </p:nvSpPr>
            <p:spPr>
              <a:xfrm>
                <a:off x="871538" y="579786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8" name="TextBox 58"/>
            <p:cNvSpPr txBox="1"/>
            <p:nvPr/>
          </p:nvSpPr>
          <p:spPr>
            <a:xfrm>
              <a:off x="1040130" y="5726430"/>
              <a:ext cx="86982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只要这个对象需要实现接口、需要延迟创建，或者以后可能换实现，就用单例，别用静态工具类。</a:t>
              </a:r>
            </a:p>
          </p:txBody>
        </p:sp>
      </p:grpSp>
      <p:grpSp>
        <p:nvGrpSpPr>
          <p:cNvPr id="6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0" name="TextBox 60"/>
            <p:cNvSpPr txBox="1"/>
            <p:nvPr/>
          </p:nvSpPr>
          <p:spPr>
            <a:xfrm>
              <a:off x="528447" y="6581299"/>
              <a:ext cx="14808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单例模式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458718" cy="909257"/>
            <a:chOff x="520446" y="342900"/>
            <a:chExt cx="345871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643062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20133" y="407194"/>
              <a:ext cx="14705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15 单例 · 辨析与自测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45871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写单例时的八个易错点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0" name="c1-bullets-1"/>
          <p:cNvGrpSpPr/>
          <p:nvPr/>
        </p:nvGrpSpPr>
        <p:grpSpPr>
          <a:xfrm>
            <a:off x="525780" y="1548765"/>
            <a:ext cx="4635056" cy="1682115"/>
            <a:chOff x="525780" y="1548765"/>
            <a:chExt cx="4635056" cy="1682115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语法和结构</a:t>
              </a:r>
            </a:p>
          </p:txBody>
        </p:sp>
        <p:sp>
          <p:nvSpPr>
            <p:cNvPr id="8" name="Ellipse 8"/>
            <p:cNvSpPr/>
            <p:nvPr/>
          </p:nvSpPr>
          <p:spPr>
            <a:xfrm>
              <a:off x="533400" y="1889760"/>
              <a:ext cx="213360" cy="2133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595249" y="193205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34390" y="1903095"/>
              <a:ext cx="403364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构造函数忘了写 </a:t>
              </a:r>
              <a:r>
                <a:rPr lang="en-US" sz="150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private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，外面直接就能创建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533400" y="2234565"/>
              <a:ext cx="213360" cy="2133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595249" y="227685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834390" y="2247900"/>
              <a:ext cx="432644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取实例的方法忘了 </a:t>
              </a:r>
              <a:r>
                <a:rPr lang="en-US" sz="150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static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，取实例前先得有实例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33400" y="2579370"/>
              <a:ext cx="213360" cy="2133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95249" y="262166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834390" y="2592705"/>
              <a:ext cx="401345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instance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字段忘了 </a:t>
              </a:r>
              <a:r>
                <a:rPr lang="en-US" sz="150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static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，它会跟着实例走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533400" y="2924175"/>
              <a:ext cx="213360" cy="2133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595249" y="296646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834390" y="2937510"/>
              <a:ext cx="374765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new Singleton;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漏了括号，编译都过不去</a:t>
              </a:r>
            </a:p>
          </p:txBody>
        </p:sp>
      </p:grpSp>
      <p:grpSp>
        <p:nvGrpSpPr>
          <p:cNvPr id="28" name="c1-card-2"/>
          <p:cNvGrpSpPr/>
          <p:nvPr/>
        </p:nvGrpSpPr>
        <p:grpSpPr>
          <a:xfrm>
            <a:off x="533400" y="3362325"/>
            <a:ext cx="5410200" cy="1956435"/>
            <a:chOff x="533400" y="3362325"/>
            <a:chExt cx="5410200" cy="1956435"/>
          </a:xfrm>
        </p:grpSpPr>
        <p:sp>
          <p:nvSpPr>
            <p:cNvPr id="21" name="Rectangle 21"/>
            <p:cNvSpPr/>
            <p:nvPr/>
          </p:nvSpPr>
          <p:spPr>
            <a:xfrm>
              <a:off x="533400" y="3362325"/>
              <a:ext cx="5410200" cy="1956435"/>
            </a:xfrm>
            <a:prstGeom prst="roundRect">
              <a:avLst>
                <a:gd name="adj" fmla="val 681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542925" y="3495675"/>
              <a:ext cx="47625" cy="168973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781050" y="3571875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863359" y="360759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课件原错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665922" y="3607118"/>
              <a:ext cx="26403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这两处在源课件里真的出现过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73430" y="3968115"/>
              <a:ext cx="44348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漏括号的 </a:t>
              </a:r>
              <a:r>
                <a:rPr lang="en-US" sz="150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new Singleton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出现在陈伟老师课件的饥饿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式、注册式、同步方法、双重检查四页上。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73430" y="4589145"/>
              <a:ext cx="47301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en-US" sz="150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Signleton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这个拼写出现在饥饿式和注册式两页的返回类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型上。</a:t>
              </a:r>
            </a:p>
          </p:txBody>
        </p:sp>
      </p:grpSp>
      <p:grpSp>
        <p:nvGrpSpPr>
          <p:cNvPr id="42" name="c2-bullets-1"/>
          <p:cNvGrpSpPr/>
          <p:nvPr/>
        </p:nvGrpSpPr>
        <p:grpSpPr>
          <a:xfrm>
            <a:off x="6240780" y="1548765"/>
            <a:ext cx="4756214" cy="1682115"/>
            <a:chOff x="6240780" y="1548765"/>
            <a:chExt cx="4756214" cy="1682115"/>
          </a:xfrm>
        </p:grpSpPr>
        <p:sp>
          <p:nvSpPr>
            <p:cNvPr id="29" name="TextBox 29"/>
            <p:cNvSpPr txBox="1"/>
            <p:nvPr/>
          </p:nvSpPr>
          <p:spPr>
            <a:xfrm>
              <a:off x="6240780" y="1548765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并发和序列化</a:t>
              </a:r>
            </a:p>
          </p:txBody>
        </p:sp>
        <p:sp>
          <p:nvSpPr>
            <p:cNvPr id="30" name="Ellipse 30"/>
            <p:cNvSpPr/>
            <p:nvPr/>
          </p:nvSpPr>
          <p:spPr>
            <a:xfrm>
              <a:off x="6248400" y="1889760"/>
              <a:ext cx="213360" cy="2133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310249" y="193205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549390" y="1903095"/>
              <a:ext cx="444760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双重检查少了 </a:t>
              </a:r>
              <a:r>
                <a:rPr lang="en-US" sz="150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volatile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，别人可能拿到半成品对象</a:t>
              </a:r>
            </a:p>
          </p:txBody>
        </p:sp>
        <p:sp>
          <p:nvSpPr>
            <p:cNvPr id="33" name="Ellipse 33"/>
            <p:cNvSpPr/>
            <p:nvPr/>
          </p:nvSpPr>
          <p:spPr>
            <a:xfrm>
              <a:off x="6248400" y="2234565"/>
              <a:ext cx="213360" cy="2133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310249" y="227685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549390" y="2247900"/>
              <a:ext cx="42557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锁里面没有第二次检查，等于加了一把没用的锁</a:t>
              </a:r>
            </a:p>
          </p:txBody>
        </p:sp>
        <p:sp>
          <p:nvSpPr>
            <p:cNvPr id="36" name="Ellipse 36"/>
            <p:cNvSpPr/>
            <p:nvPr/>
          </p:nvSpPr>
          <p:spPr>
            <a:xfrm>
              <a:off x="6248400" y="2579370"/>
              <a:ext cx="213360" cy="2133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310249" y="262166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549390" y="2592705"/>
              <a:ext cx="42557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同步块后面多写一个分号，同步块就成了空语句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6248400" y="2924175"/>
              <a:ext cx="213360" cy="2133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310249" y="296646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549390" y="2937510"/>
              <a:ext cx="39451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实现了 </a:t>
              </a:r>
              <a:r>
                <a:rPr lang="en-US" sz="150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Serializable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却没写 </a:t>
              </a:r>
              <a:r>
                <a:rPr lang="en-US" sz="150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readResolve()</a:t>
              </a:r>
            </a:p>
          </p:txBody>
        </p:sp>
      </p:grpSp>
      <p:grpSp>
        <p:nvGrpSpPr>
          <p:cNvPr id="49" name="c2-card-2"/>
          <p:cNvGrpSpPr/>
          <p:nvPr/>
        </p:nvGrpSpPr>
        <p:grpSpPr>
          <a:xfrm>
            <a:off x="6248400" y="3362325"/>
            <a:ext cx="5410200" cy="1956435"/>
            <a:chOff x="6248400" y="3362325"/>
            <a:chExt cx="5410200" cy="1956435"/>
          </a:xfrm>
        </p:grpSpPr>
        <p:sp>
          <p:nvSpPr>
            <p:cNvPr id="43" name="Rectangle 43"/>
            <p:cNvSpPr/>
            <p:nvPr/>
          </p:nvSpPr>
          <p:spPr>
            <a:xfrm>
              <a:off x="6248400" y="3362325"/>
              <a:ext cx="5410200" cy="1956435"/>
            </a:xfrm>
            <a:prstGeom prst="roundRect">
              <a:avLst>
                <a:gd name="adj" fmla="val 681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4" name="Rectangle 44"/>
            <p:cNvSpPr/>
            <p:nvPr/>
          </p:nvSpPr>
          <p:spPr>
            <a:xfrm>
              <a:off x="6257925" y="3495675"/>
              <a:ext cx="47625" cy="1689735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6496050" y="3571875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578359" y="360759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自查顺序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7380923" y="3607118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三步默写，两处复查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6488430" y="3968115"/>
              <a:ext cx="45872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先写私有构造函数，再写静态字段，最后写静态方法。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写完回头只看两处：锁的范围对不对，要不要补</a:t>
              </a:r>
              <a:br/>
              <a:r>
                <a:rPr lang="en-US" sz="150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readResolve()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</p:grpSp>
      <p:grpSp>
        <p:nvGrpSpPr>
          <p:cNvPr id="5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0" name="TextBox 50"/>
            <p:cNvSpPr txBox="1"/>
            <p:nvPr/>
          </p:nvSpPr>
          <p:spPr>
            <a:xfrm>
              <a:off x="528447" y="6581299"/>
              <a:ext cx="14808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单例模式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1742313" cy="909257"/>
            <a:chOff x="520446" y="342900"/>
            <a:chExt cx="174231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55149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52183" y="40719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自测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174231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自测（一）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5410200" cy="1254442"/>
            <a:chOff x="533400" y="1524000"/>
            <a:chExt cx="5410200" cy="125444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254442"/>
            </a:xfrm>
            <a:prstGeom prst="roundRect">
              <a:avLst>
                <a:gd name="adj" fmla="val 1063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25805" y="1716405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14753" y="1750695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18947" y="207264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单例按目的和范围各属哪类？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18947" y="2375535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创建型模式加对象模式</a:t>
              </a:r>
            </a:p>
          </p:txBody>
        </p:sp>
      </p:grpSp>
      <p:grpSp>
        <p:nvGrpSpPr>
          <p:cNvPr id="18" name="c1-card-2"/>
          <p:cNvGrpSpPr/>
          <p:nvPr/>
        </p:nvGrpSpPr>
        <p:grpSpPr>
          <a:xfrm>
            <a:off x="533400" y="2953702"/>
            <a:ext cx="5410200" cy="1254442"/>
            <a:chOff x="533400" y="2953702"/>
            <a:chExt cx="5410200" cy="1254442"/>
          </a:xfrm>
        </p:grpSpPr>
        <p:sp>
          <p:nvSpPr>
            <p:cNvPr id="13" name="Rectangle 13"/>
            <p:cNvSpPr/>
            <p:nvPr/>
          </p:nvSpPr>
          <p:spPr>
            <a:xfrm>
              <a:off x="533400" y="2953702"/>
              <a:ext cx="5410200" cy="1254442"/>
            </a:xfrm>
            <a:prstGeom prst="roundRect">
              <a:avLst>
                <a:gd name="adj" fmla="val 1063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725805" y="3146108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14753" y="3180398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18947" y="3503295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构造函数为什么必须私有？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18947" y="3805238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挡住外部创建，只允许类自己建</a:t>
              </a:r>
            </a:p>
          </p:txBody>
        </p:sp>
      </p:grpSp>
      <p:grpSp>
        <p:nvGrpSpPr>
          <p:cNvPr id="24" name="c1-card-3"/>
          <p:cNvGrpSpPr/>
          <p:nvPr/>
        </p:nvGrpSpPr>
        <p:grpSpPr>
          <a:xfrm>
            <a:off x="533400" y="4383405"/>
            <a:ext cx="5410200" cy="1254442"/>
            <a:chOff x="533400" y="4383405"/>
            <a:chExt cx="5410200" cy="1254442"/>
          </a:xfrm>
        </p:grpSpPr>
        <p:sp>
          <p:nvSpPr>
            <p:cNvPr id="19" name="Rectangle 19"/>
            <p:cNvSpPr/>
            <p:nvPr/>
          </p:nvSpPr>
          <p:spPr>
            <a:xfrm>
              <a:off x="533400" y="4383405"/>
              <a:ext cx="5410200" cy="1254442"/>
            </a:xfrm>
            <a:prstGeom prst="roundRect">
              <a:avLst>
                <a:gd name="adj" fmla="val 1063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725805" y="4575810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14753" y="4610100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18947" y="4932998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裸懒汉式在多线程下错在哪？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18947" y="523494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检查与创建不原子，可能建出两个</a:t>
              </a:r>
            </a:p>
          </p:txBody>
        </p:sp>
      </p:grpSp>
      <p:grpSp>
        <p:nvGrpSpPr>
          <p:cNvPr id="30" name="c2-card-1"/>
          <p:cNvGrpSpPr/>
          <p:nvPr/>
        </p:nvGrpSpPr>
        <p:grpSpPr>
          <a:xfrm>
            <a:off x="6248400" y="1524000"/>
            <a:ext cx="5410200" cy="1254442"/>
            <a:chOff x="6248400" y="1524000"/>
            <a:chExt cx="5410200" cy="1254442"/>
          </a:xfrm>
        </p:grpSpPr>
        <p:sp>
          <p:nvSpPr>
            <p:cNvPr id="25" name="Rectangle 25"/>
            <p:cNvSpPr/>
            <p:nvPr/>
          </p:nvSpPr>
          <p:spPr>
            <a:xfrm>
              <a:off x="6248400" y="1524000"/>
              <a:ext cx="5410200" cy="1254442"/>
            </a:xfrm>
            <a:prstGeom prst="roundRect">
              <a:avLst>
                <a:gd name="adj" fmla="val 1063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6440805" y="1716405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529753" y="1750695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Q2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33947" y="207264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单例模式的三个要点是什么？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33947" y="2375535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唯一实例、自行创建、自行提供</a:t>
              </a:r>
            </a:p>
          </p:txBody>
        </p:sp>
      </p:grpSp>
      <p:grpSp>
        <p:nvGrpSpPr>
          <p:cNvPr id="36" name="c2-card-2"/>
          <p:cNvGrpSpPr/>
          <p:nvPr/>
        </p:nvGrpSpPr>
        <p:grpSpPr>
          <a:xfrm>
            <a:off x="6248400" y="2953702"/>
            <a:ext cx="5410200" cy="1254442"/>
            <a:chOff x="6248400" y="2953702"/>
            <a:chExt cx="5410200" cy="1254442"/>
          </a:xfrm>
        </p:grpSpPr>
        <p:sp>
          <p:nvSpPr>
            <p:cNvPr id="31" name="Rectangle 31"/>
            <p:cNvSpPr/>
            <p:nvPr/>
          </p:nvSpPr>
          <p:spPr>
            <a:xfrm>
              <a:off x="6248400" y="2953702"/>
              <a:ext cx="5410200" cy="1254442"/>
            </a:xfrm>
            <a:prstGeom prst="roundRect">
              <a:avLst>
                <a:gd name="adj" fmla="val 1063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6440805" y="3146108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529753" y="3180398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Q4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433947" y="3503295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饿汉式为什么天生线程安全？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433947" y="3805238"/>
              <a:ext cx="35160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类初始化阶段建好，JVM 保证只跑一次</a:t>
              </a:r>
            </a:p>
          </p:txBody>
        </p:sp>
      </p:grpSp>
      <p:grpSp>
        <p:nvGrpSpPr>
          <p:cNvPr id="42" name="c2-card-3"/>
          <p:cNvGrpSpPr/>
          <p:nvPr/>
        </p:nvGrpSpPr>
        <p:grpSpPr>
          <a:xfrm>
            <a:off x="6248400" y="4383405"/>
            <a:ext cx="5410200" cy="1254442"/>
            <a:chOff x="6248400" y="4383405"/>
            <a:chExt cx="5410200" cy="1254442"/>
          </a:xfrm>
        </p:grpSpPr>
        <p:sp>
          <p:nvSpPr>
            <p:cNvPr id="37" name="Rectangle 37"/>
            <p:cNvSpPr/>
            <p:nvPr/>
          </p:nvSpPr>
          <p:spPr>
            <a:xfrm>
              <a:off x="6248400" y="4383405"/>
              <a:ext cx="5410200" cy="1254442"/>
            </a:xfrm>
            <a:prstGeom prst="roundRect">
              <a:avLst>
                <a:gd name="adj" fmla="val 1063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6440805" y="4575810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529753" y="4610100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Q6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433947" y="4932998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整个方法加锁的代价是什么？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433947" y="523494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实例建好后每次取用仍要抢锁</a:t>
              </a:r>
            </a:p>
          </p:txBody>
        </p:sp>
      </p:grpSp>
      <p:grpSp>
        <p:nvGrpSpPr>
          <p:cNvPr id="49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43" name="Rectangle 43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47" name="Group 47"/>
            <p:cNvGrpSpPr/>
            <p:nvPr/>
          </p:nvGrpSpPr>
          <p:grpSpPr>
            <a:xfrm>
              <a:off x="738188" y="6017895"/>
              <a:ext cx="200026" cy="200026"/>
              <a:chOff x="738188" y="6017895"/>
              <a:chExt cx="200026" cy="200026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738188" y="601789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838200" y="608457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827088" y="6117908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48" name="TextBox 48"/>
            <p:cNvSpPr txBox="1"/>
            <p:nvPr/>
          </p:nvSpPr>
          <p:spPr>
            <a:xfrm>
              <a:off x="1040892" y="6023610"/>
              <a:ext cx="510235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答不上来的题，回到对应正文页再读一遍那一页的代码或类图。</a:t>
              </a:r>
            </a:p>
          </p:txBody>
        </p:sp>
      </p:grpSp>
      <p:grpSp>
        <p:nvGrpSpPr>
          <p:cNvPr id="5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0" name="TextBox 50"/>
            <p:cNvSpPr txBox="1"/>
            <p:nvPr/>
          </p:nvSpPr>
          <p:spPr>
            <a:xfrm>
              <a:off x="528447" y="6581299"/>
              <a:ext cx="14808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单例模式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1742313" cy="909257"/>
            <a:chOff x="520446" y="342900"/>
            <a:chExt cx="174231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55149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52183" y="40719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自测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174231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自测（二）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5410200" cy="1254442"/>
            <a:chOff x="533400" y="1524000"/>
            <a:chExt cx="5410200" cy="125444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254442"/>
            </a:xfrm>
            <a:prstGeom prst="roundRect">
              <a:avLst>
                <a:gd name="adj" fmla="val 1063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25805" y="1716405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14753" y="1750695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18947" y="2072640"/>
              <a:ext cx="300556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双重检查里 volatile 为什么不能省？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18947" y="2375535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禁止重排序，防止别人拿到半成品</a:t>
              </a:r>
            </a:p>
          </p:txBody>
        </p:sp>
      </p:grpSp>
      <p:grpSp>
        <p:nvGrpSpPr>
          <p:cNvPr id="18" name="c1-card-2"/>
          <p:cNvGrpSpPr/>
          <p:nvPr/>
        </p:nvGrpSpPr>
        <p:grpSpPr>
          <a:xfrm>
            <a:off x="533400" y="2953702"/>
            <a:ext cx="5410200" cy="1254442"/>
            <a:chOff x="533400" y="2953702"/>
            <a:chExt cx="5410200" cy="1254442"/>
          </a:xfrm>
        </p:grpSpPr>
        <p:sp>
          <p:nvSpPr>
            <p:cNvPr id="13" name="Rectangle 13"/>
            <p:cNvSpPr/>
            <p:nvPr/>
          </p:nvSpPr>
          <p:spPr>
            <a:xfrm>
              <a:off x="533400" y="2953702"/>
              <a:ext cx="5410200" cy="1254442"/>
            </a:xfrm>
            <a:prstGeom prst="roundRect">
              <a:avLst>
                <a:gd name="adj" fmla="val 1063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725805" y="3146108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14753" y="3180398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18947" y="3503295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静态内部类为什么既延迟又安全？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18947" y="3805238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首次用到才初始化，靠类初始化锁</a:t>
              </a:r>
            </a:p>
          </p:txBody>
        </p:sp>
      </p:grpSp>
      <p:grpSp>
        <p:nvGrpSpPr>
          <p:cNvPr id="24" name="c1-card-3"/>
          <p:cNvGrpSpPr/>
          <p:nvPr/>
        </p:nvGrpSpPr>
        <p:grpSpPr>
          <a:xfrm>
            <a:off x="533400" y="4383405"/>
            <a:ext cx="5410200" cy="1254442"/>
            <a:chOff x="533400" y="4383405"/>
            <a:chExt cx="5410200" cy="1254442"/>
          </a:xfrm>
        </p:grpSpPr>
        <p:sp>
          <p:nvSpPr>
            <p:cNvPr id="19" name="Rectangle 19"/>
            <p:cNvSpPr/>
            <p:nvPr/>
          </p:nvSpPr>
          <p:spPr>
            <a:xfrm>
              <a:off x="533400" y="4383405"/>
              <a:ext cx="5410200" cy="1254442"/>
            </a:xfrm>
            <a:prstGeom prst="roundRect">
              <a:avLst>
                <a:gd name="adj" fmla="val 1063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725805" y="4575810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14753" y="4610100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18947" y="4932998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序列化破坏了单例怎么修？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18947" y="5234940"/>
              <a:ext cx="300018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写 readResolve 返回已有的实例</a:t>
              </a:r>
            </a:p>
          </p:txBody>
        </p:sp>
      </p:grpSp>
      <p:grpSp>
        <p:nvGrpSpPr>
          <p:cNvPr id="30" name="c2-card-1"/>
          <p:cNvGrpSpPr/>
          <p:nvPr/>
        </p:nvGrpSpPr>
        <p:grpSpPr>
          <a:xfrm>
            <a:off x="6248400" y="1524000"/>
            <a:ext cx="5410200" cy="1254442"/>
            <a:chOff x="6248400" y="1524000"/>
            <a:chExt cx="5410200" cy="1254442"/>
          </a:xfrm>
        </p:grpSpPr>
        <p:sp>
          <p:nvSpPr>
            <p:cNvPr id="25" name="Rectangle 25"/>
            <p:cNvSpPr/>
            <p:nvPr/>
          </p:nvSpPr>
          <p:spPr>
            <a:xfrm>
              <a:off x="6248400" y="1524000"/>
              <a:ext cx="5410200" cy="1254442"/>
            </a:xfrm>
            <a:prstGeom prst="roundRect">
              <a:avLst>
                <a:gd name="adj" fmla="val 1063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6440805" y="1716405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529753" y="1750695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Q2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33947" y="207264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同步块后面多写一个分号会怎样？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33947" y="2375535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变成空语句，临界区根本没加锁</a:t>
              </a:r>
            </a:p>
          </p:txBody>
        </p:sp>
      </p:grpSp>
      <p:grpSp>
        <p:nvGrpSpPr>
          <p:cNvPr id="36" name="c2-card-2"/>
          <p:cNvGrpSpPr/>
          <p:nvPr/>
        </p:nvGrpSpPr>
        <p:grpSpPr>
          <a:xfrm>
            <a:off x="6248400" y="2953702"/>
            <a:ext cx="5410200" cy="1254442"/>
            <a:chOff x="6248400" y="2953702"/>
            <a:chExt cx="5410200" cy="1254442"/>
          </a:xfrm>
        </p:grpSpPr>
        <p:sp>
          <p:nvSpPr>
            <p:cNvPr id="31" name="Rectangle 31"/>
            <p:cNvSpPr/>
            <p:nvPr/>
          </p:nvSpPr>
          <p:spPr>
            <a:xfrm>
              <a:off x="6248400" y="2953702"/>
              <a:ext cx="5410200" cy="1254442"/>
            </a:xfrm>
            <a:prstGeom prst="roundRect">
              <a:avLst>
                <a:gd name="adj" fmla="val 1063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6440805" y="3146108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529753" y="3180398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Q4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433947" y="3503295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枚举能防住反射和序列化吗？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433947" y="3805238"/>
              <a:ext cx="26074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都能，JVM 从语言层面保证</a:t>
              </a:r>
            </a:p>
          </p:txBody>
        </p:sp>
      </p:grpSp>
      <p:grpSp>
        <p:nvGrpSpPr>
          <p:cNvPr id="42" name="c2-card-3"/>
          <p:cNvGrpSpPr/>
          <p:nvPr/>
        </p:nvGrpSpPr>
        <p:grpSpPr>
          <a:xfrm>
            <a:off x="6248400" y="4383405"/>
            <a:ext cx="5410200" cy="1254442"/>
            <a:chOff x="6248400" y="4383405"/>
            <a:chExt cx="5410200" cy="1254442"/>
          </a:xfrm>
        </p:grpSpPr>
        <p:sp>
          <p:nvSpPr>
            <p:cNvPr id="37" name="Rectangle 37"/>
            <p:cNvSpPr/>
            <p:nvPr/>
          </p:nvSpPr>
          <p:spPr>
            <a:xfrm>
              <a:off x="6248400" y="4383405"/>
              <a:ext cx="5410200" cy="1254442"/>
            </a:xfrm>
            <a:prstGeom prst="roundRect">
              <a:avLst>
                <a:gd name="adj" fmla="val 1063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6440805" y="4575810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529753" y="4610100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Q6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433947" y="4932998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集群部署后单例还唯一吗？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433947" y="5234940"/>
              <a:ext cx="30284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不唯一，每个 JVM 进程各有一个</a:t>
              </a:r>
            </a:p>
          </p:txBody>
        </p:sp>
      </p:grpSp>
      <p:grpSp>
        <p:nvGrpSpPr>
          <p:cNvPr id="48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43" name="Rectangle 43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46" name="Group 46"/>
            <p:cNvGrpSpPr/>
            <p:nvPr/>
          </p:nvGrpSpPr>
          <p:grpSpPr>
            <a:xfrm>
              <a:off x="738188" y="6017897"/>
              <a:ext cx="200023" cy="200023"/>
              <a:chOff x="738188" y="6017897"/>
              <a:chExt cx="200023" cy="200023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738188" y="6017897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871538" y="608457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47" name="TextBox 47"/>
            <p:cNvSpPr txBox="1"/>
            <p:nvPr/>
          </p:nvSpPr>
          <p:spPr>
            <a:xfrm>
              <a:off x="1040892" y="6023610"/>
              <a:ext cx="522956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第 12 题是最容易答错的一道：单例的作用域是进程，不是系统。</a:t>
              </a:r>
            </a:p>
          </p:txBody>
        </p:sp>
      </p:grpSp>
      <p:grpSp>
        <p:nvGrpSpPr>
          <p:cNvPr id="5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9" name="TextBox 49"/>
            <p:cNvSpPr txBox="1"/>
            <p:nvPr/>
          </p:nvSpPr>
          <p:spPr>
            <a:xfrm>
              <a:off x="528447" y="6581299"/>
              <a:ext cx="14808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单例模式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1399032" cy="909257"/>
            <a:chOff x="520446" y="342900"/>
            <a:chExt cx="139903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760095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46139" y="407194"/>
              <a:ext cx="5346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15 单例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139903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本讲小结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2" name="c1-bullets-1"/>
          <p:cNvGrpSpPr/>
          <p:nvPr/>
        </p:nvGrpSpPr>
        <p:grpSpPr>
          <a:xfrm>
            <a:off x="533400" y="1535430"/>
            <a:ext cx="7751069" cy="1607916"/>
            <a:chOff x="533400" y="1535430"/>
            <a:chExt cx="7751069" cy="1607916"/>
          </a:xfrm>
        </p:grpSpPr>
        <p:sp>
          <p:nvSpPr>
            <p:cNvPr id="7" name="Ellipse 7"/>
            <p:cNvSpPr/>
            <p:nvPr/>
          </p:nvSpPr>
          <p:spPr>
            <a:xfrm>
              <a:off x="533400" y="1535430"/>
              <a:ext cx="201930" cy="20193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591745" y="1574816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824293" y="1547336"/>
              <a:ext cx="670509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单例等于私有构造函数加静态私有实例加静态公有的取实例方法，三者缺一不可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33400" y="1864043"/>
              <a:ext cx="201930" cy="20193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91745" y="1904381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824293" y="1876901"/>
              <a:ext cx="746017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六种写法：饿汉、裸懒汉（反例）、同步方法、双重检查加 volatile、静态内部类、枚举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533400" y="2193608"/>
              <a:ext cx="201930" cy="20193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591745" y="2233946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24293" y="2206466"/>
              <a:ext cx="709697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volatile 挡的是“先写引用再构造”的重排序，静态内部类用类初始化锁做到同样的事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533400" y="2523172"/>
              <a:ext cx="201930" cy="20193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591745" y="2563511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824293" y="2535079"/>
              <a:ext cx="670509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反射、序列化、克隆、多个类加载器都能造出第二个实例，枚举一次挡住前三个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533400" y="2852738"/>
              <a:ext cx="201930" cy="20193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591745" y="2892123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24293" y="2864644"/>
              <a:ext cx="705614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单例的作用域是一个 JVM 进程，集群里的“唯一”要靠数据库、Redis 或 ZooKeeper</a:t>
              </a:r>
            </a:p>
          </p:txBody>
        </p:sp>
      </p:grpSp>
      <p:grpSp>
        <p:nvGrpSpPr>
          <p:cNvPr id="43" name="c1-card-2"/>
          <p:cNvGrpSpPr/>
          <p:nvPr/>
        </p:nvGrpSpPr>
        <p:grpSpPr>
          <a:xfrm>
            <a:off x="533400" y="3272790"/>
            <a:ext cx="11125200" cy="2400300"/>
            <a:chOff x="533400" y="3272790"/>
            <a:chExt cx="11125200" cy="2400300"/>
          </a:xfrm>
        </p:grpSpPr>
        <p:sp>
          <p:nvSpPr>
            <p:cNvPr id="23" name="Rectangle 23"/>
            <p:cNvSpPr/>
            <p:nvPr/>
          </p:nvSpPr>
          <p:spPr>
            <a:xfrm>
              <a:off x="533400" y="3272790"/>
              <a:ext cx="11125200" cy="24003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542925" y="3406140"/>
              <a:ext cx="47625" cy="213360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775335" y="3476625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857644" y="351234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更正汇总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660588" y="3516154"/>
              <a:ext cx="192608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本讲订正的源课件问题</a:t>
              </a:r>
            </a:p>
          </p:txBody>
        </p:sp>
        <p:sp>
          <p:nvSpPr>
            <p:cNvPr id="28" name="Ellipse 28"/>
            <p:cNvSpPr/>
            <p:nvPr/>
          </p:nvSpPr>
          <p:spPr>
            <a:xfrm>
              <a:off x="775335" y="3855720"/>
              <a:ext cx="201930" cy="20193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833680" y="3896058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66228" y="3867626"/>
              <a:ext cx="927321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双重检查一段写成 </a:t>
              </a:r>
              <a:r>
                <a:rPr lang="en-US" sz="142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synchronized(Singleton.class );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加分号，同步块成了空语句，临界区完全没有被保护。</a:t>
              </a:r>
            </a:p>
          </p:txBody>
        </p:sp>
        <p:sp>
          <p:nvSpPr>
            <p:cNvPr id="31" name="Ellipse 31"/>
            <p:cNvSpPr/>
            <p:nvPr/>
          </p:nvSpPr>
          <p:spPr>
            <a:xfrm>
              <a:off x="775335" y="4175760"/>
              <a:ext cx="201930" cy="20193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833680" y="4216098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066228" y="4187666"/>
              <a:ext cx="913457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new Singleton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漏括号出现在饥饿式、注册式、同步方法、双重检查四页；返回类型两处误写成 </a:t>
              </a:r>
              <a:r>
                <a:rPr lang="en-US" sz="142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Signleton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  <p:sp>
          <p:nvSpPr>
            <p:cNvPr id="34" name="Ellipse 34"/>
            <p:cNvSpPr/>
            <p:nvPr/>
          </p:nvSpPr>
          <p:spPr>
            <a:xfrm>
              <a:off x="775335" y="4495800"/>
              <a:ext cx="201930" cy="20193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833680" y="4536138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066228" y="4507706"/>
              <a:ext cx="935636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注册式的 </a:t>
              </a:r>
              <a:r>
                <a:rPr lang="en-US" sz="142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reg.put(Class.forName(name).newInstance();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参数和括号都不对，</a:t>
              </a:r>
              <a:r>
                <a:rPr lang="en-US" sz="142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put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需要键和值两个参数。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775335" y="4815840"/>
              <a:ext cx="201930" cy="20193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33680" y="4856178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066228" y="4827746"/>
              <a:ext cx="655924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张欣佳老师课件第 24 页把方法名印成 </a:t>
              </a:r>
              <a:r>
                <a:rPr lang="en-US" sz="142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get Instance()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，中间多了一个空格。</a:t>
              </a:r>
            </a:p>
          </p:txBody>
        </p:sp>
        <p:sp>
          <p:nvSpPr>
            <p:cNvPr id="40" name="Ellipse 40"/>
            <p:cNvSpPr/>
            <p:nvPr/>
          </p:nvSpPr>
          <p:spPr>
            <a:xfrm>
              <a:off x="775335" y="5135880"/>
              <a:ext cx="201930" cy="20193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33680" y="5176218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066228" y="5147786"/>
              <a:ext cx="710652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打印池例“重复创建则抛异常”在正常调用路径上走不到，那句判断真正挡的是反射。</a:t>
              </a:r>
            </a:p>
          </p:txBody>
        </p:sp>
      </p:grpSp>
      <p:grpSp>
        <p:nvGrpSpPr>
          <p:cNvPr id="49" name="takeaway"/>
          <p:cNvGrpSpPr/>
          <p:nvPr/>
        </p:nvGrpSpPr>
        <p:grpSpPr>
          <a:xfrm>
            <a:off x="533400" y="5844540"/>
            <a:ext cx="11125200" cy="518160"/>
            <a:chOff x="533400" y="5844540"/>
            <a:chExt cx="11125200" cy="518160"/>
          </a:xfrm>
        </p:grpSpPr>
        <p:sp>
          <p:nvSpPr>
            <p:cNvPr id="44" name="Rectangle 44"/>
            <p:cNvSpPr/>
            <p:nvPr/>
          </p:nvSpPr>
          <p:spPr>
            <a:xfrm>
              <a:off x="533400" y="5844540"/>
              <a:ext cx="11125200" cy="518160"/>
            </a:xfrm>
            <a:prstGeom prst="roundRect">
              <a:avLst>
                <a:gd name="adj" fmla="val 22059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47" name="Group 47"/>
            <p:cNvGrpSpPr/>
            <p:nvPr/>
          </p:nvGrpSpPr>
          <p:grpSpPr>
            <a:xfrm>
              <a:off x="738188" y="6003610"/>
              <a:ext cx="200023" cy="200023"/>
              <a:chOff x="738188" y="6003610"/>
              <a:chExt cx="200023" cy="200023"/>
            </a:xfrm>
          </p:grpSpPr>
          <p:sp>
            <p:nvSpPr>
              <p:cNvPr id="45" name="Freeform 45"/>
              <p:cNvSpPr/>
              <p:nvPr/>
            </p:nvSpPr>
            <p:spPr>
              <a:xfrm>
                <a:off x="738188" y="600361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871538" y="607028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48" name="TextBox 48"/>
            <p:cNvSpPr txBox="1"/>
            <p:nvPr/>
          </p:nvSpPr>
          <p:spPr>
            <a:xfrm>
              <a:off x="1040511" y="6004084"/>
              <a:ext cx="768001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遇到“这个东西全系统只该有一份”的场景，先确认它是不是业务规则，再决定用不用单例。</a:t>
              </a:r>
            </a:p>
          </p:txBody>
        </p:sp>
      </p:grpSp>
      <p:grpSp>
        <p:nvGrpSpPr>
          <p:cNvPr id="5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0" name="TextBox 50"/>
            <p:cNvSpPr txBox="1"/>
            <p:nvPr/>
          </p:nvSpPr>
          <p:spPr>
            <a:xfrm>
              <a:off x="528447" y="6581299"/>
              <a:ext cx="14808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单例模式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sdp_15">
  <a:themeElements>
    <a:clrScheme name="sdp_15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sdp_15">
      <a:maj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dp_15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45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2026-09-19T08:19:30Z</dcterms:created>
  <dcterms:modified xsi:type="dcterms:W3CDTF">2026-09-19T08:19:30Z</dcterms:modified>
  <cp:category/>
  <cp:contentStatus/>
</cp:coreProperties>
</file>