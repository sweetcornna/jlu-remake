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892c4e1543fabb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825437a9b09c98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d04ecd84e39e839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第二十二讲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把对象之间的一张网收拢成一颗星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从网状结构到星形结构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虚拟聊天室完整实例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与外观、观察者的分界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165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QQ 群和电话总机，都是在一堆两两直连的线中间插进一个转发的人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用一个中介对象封装一系列的对象交互，定义里的三句话逐句拆开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1099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Mediator、ConcreteMediator、Colleague、ConcreteColleague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413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骨架四个类，再看中转与协调这两项职责落在哪几行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虚拟聊天室：过滤敏感字符、限制图片大小、区分两种会员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评价与分界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优缺点、适用环境，以及和外观、观察者、代理的区别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算得出 n 个同事两两直连要多少条联系，以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及引入中介者后剩几条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默画出标准类图，同事到抽象中介者的关联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线不能连到具体中介者上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写全四个角色，并指出哪一句是自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身方法、哪一句是依赖方法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独立写出虚拟聊天室的五个类，说清过滤和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大小检查该写在谁身上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说出中介者与外观模式的三处区别，判断一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段需求该用哪一个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37376" cy="3923347"/>
            <a:chOff x="667512" y="1835468"/>
            <a:chExt cx="6437376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动机：对象两两相连，改一处牵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动全身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29529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QQ 群讲到网状结构的边数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群替你转发消息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两两直连的边数按平方涨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网状变星形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动机：对象两两相连，改一处牵动全身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一条消息发给很多人，靠的是中间那一层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804509" cy="308039"/>
            <a:chOff x="525399" y="1550194"/>
            <a:chExt cx="880450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8045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张欣佳老师的课件从 QQ 聊天讲起。两种聊天方式的差别，全在“谁来负责转发”这一件事上。</a:t>
              </a:r>
            </a:p>
          </p:txBody>
        </p:sp>
      </p:grpSp>
      <p:grpSp>
        <p:nvGrpSpPr>
          <p:cNvPr id="18" name="c1-bullets-1"/>
          <p:cNvGrpSpPr/>
          <p:nvPr/>
        </p:nvGrpSpPr>
        <p:grpSpPr>
          <a:xfrm>
            <a:off x="525780" y="1992630"/>
            <a:ext cx="5269753" cy="1499520"/>
            <a:chOff x="525780" y="1992630"/>
            <a:chExt cx="5269753" cy="1499520"/>
          </a:xfrm>
        </p:grpSpPr>
        <p:sp>
          <p:nvSpPr>
            <p:cNvPr id="9" name="TextBox 9"/>
            <p:cNvSpPr txBox="1"/>
            <p:nvPr/>
          </p:nvSpPr>
          <p:spPr>
            <a:xfrm>
              <a:off x="525780" y="1992630"/>
              <a:ext cx="2033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QQ 里的两种聊天方式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911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7230" y="2346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加好友之后一对一发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0485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8873" y="2639854"/>
              <a:ext cx="4906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要发给谁，就得先认识谁，把同一份文件发给 10 个人要发 10 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9115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7230" y="29498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把消息发到群里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8873" y="324278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发送者只和群打交道，群负责把消息转给每一个接收者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32835"/>
            <a:ext cx="5626418" cy="2093595"/>
            <a:chOff x="533400" y="3632835"/>
            <a:chExt cx="5626418" cy="2093595"/>
          </a:xfrm>
        </p:grpSpPr>
        <p:sp>
          <p:nvSpPr>
            <p:cNvPr id="19" name="Rectangle 19"/>
            <p:cNvSpPr/>
            <p:nvPr/>
          </p:nvSpPr>
          <p:spPr>
            <a:xfrm>
              <a:off x="533400" y="3632835"/>
              <a:ext cx="5626418" cy="2093595"/>
            </a:xfrm>
            <a:prstGeom prst="roundRect">
              <a:avLst>
                <a:gd name="adj" fmla="val 63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766185"/>
              <a:ext cx="47625" cy="18268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8423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8457" y="38781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群做了什么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08797" y="3877628"/>
              <a:ext cx="2469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它把“发给谁”这件事接管了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23862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群的作用就是把发送者交来的信息和文件，转发给群里的每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一个接收者用户。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430" y="485965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发送者不用再维护一份好友名单，接收者换了人，发送者那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边一行都不用改。</a:t>
              </a:r>
            </a:p>
          </p:txBody>
        </p:sp>
      </p:grpSp>
      <p:grpSp>
        <p:nvGrpSpPr>
          <p:cNvPr id="29" name="c2-image-1"/>
          <p:cNvGrpSpPr/>
          <p:nvPr/>
        </p:nvGrpSpPr>
        <p:grpSpPr>
          <a:xfrm>
            <a:off x="6464618" y="1967865"/>
            <a:ext cx="5193982" cy="2810352"/>
            <a:chOff x="6464618" y="1967865"/>
            <a:chExt cx="5193982" cy="2810352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rcRect l="0" t="17968" r="0" b="17969"/>
            <a:stretch>
              <a:fillRect/>
            </a:stretch>
          </p:blipFill>
          <p:spPr>
            <a:xfrm>
              <a:off x="6464618" y="1967865"/>
              <a:ext cx="5193982" cy="2495550"/>
            </a:xfrm>
            <a:prstGeom prst="roundRect">
              <a:avLst>
                <a:gd name="adj" fmla="val 5343"/>
              </a:avLst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6568592" y="4558189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早期电话之间并没有两两相连的线，任意两部电话通话都由总机接线员接通</a:t>
              </a:r>
            </a:p>
          </p:txBody>
        </p:sp>
      </p:grpSp>
      <p:grpSp>
        <p:nvGrpSpPr>
          <p:cNvPr id="36" name="c2-callout-2"/>
          <p:cNvGrpSpPr/>
          <p:nvPr/>
        </p:nvGrpSpPr>
        <p:grpSpPr>
          <a:xfrm>
            <a:off x="6464618" y="4943475"/>
            <a:ext cx="5193982" cy="782955"/>
            <a:chOff x="6464618" y="4943475"/>
            <a:chExt cx="5193982" cy="782955"/>
          </a:xfrm>
        </p:grpSpPr>
        <p:sp>
          <p:nvSpPr>
            <p:cNvPr id="30" name="Rectangle 30"/>
            <p:cNvSpPr/>
            <p:nvPr/>
          </p:nvSpPr>
          <p:spPr>
            <a:xfrm>
              <a:off x="6464618" y="494347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69405" y="5234940"/>
              <a:ext cx="200026" cy="200025"/>
              <a:chOff x="6669405" y="5234940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669405" y="52349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709144" y="52793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43859" y="53905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1348" y="5092065"/>
              <a:ext cx="4253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总机和 QQ 群做的是同一件事：把 n 个人之间的联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系，收到一个中间人身上。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动机：对象两两相连，改一处牵动全身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两两直连：同事一多，联系数按平方涨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把对象之间的引用画成图。如果每个对象都直接持有要打交道的对象，得到的就是一张网。</a:t>
              </a:r>
            </a:p>
          </p:txBody>
        </p:sp>
      </p:grpSp>
      <p:grpSp>
        <p:nvGrpSpPr>
          <p:cNvPr id="36" name="c1-graph-1"/>
          <p:cNvGrpSpPr/>
          <p:nvPr/>
        </p:nvGrpSpPr>
        <p:grpSpPr>
          <a:xfrm>
            <a:off x="978218" y="2021205"/>
            <a:ext cx="4088130" cy="2256473"/>
            <a:chOff x="978218" y="2021205"/>
            <a:chExt cx="4088130" cy="2256473"/>
          </a:xfrm>
        </p:grpSpPr>
        <p:sp>
          <p:nvSpPr>
            <p:cNvPr id="9" name="Freeform 9"/>
            <p:cNvSpPr/>
            <p:nvPr/>
          </p:nvSpPr>
          <p:spPr>
            <a:xfrm>
              <a:off x="3178492" y="2216468"/>
              <a:ext cx="1578292" cy="425767"/>
            </a:xfrm>
            <a:custGeom>
              <a:avLst/>
              <a:gdLst/>
              <a:ahLst/>
              <a:cxnLst/>
              <a:rect l="l" t="t" r="r" b="b"/>
              <a:pathLst>
                <a:path w="1578292" h="425767">
                  <a:moveTo>
                    <a:pt x="0" y="0"/>
                  </a:moveTo>
                  <a:lnTo>
                    <a:pt x="1578292" y="4257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48965" y="2273618"/>
              <a:ext cx="1637347" cy="1286828"/>
            </a:xfrm>
            <a:custGeom>
              <a:avLst/>
              <a:gdLst/>
              <a:ahLst/>
              <a:cxnLst/>
              <a:rect l="l" t="t" r="r" b="b"/>
              <a:pathLst>
                <a:path w="1637347" h="1286828">
                  <a:moveTo>
                    <a:pt x="0" y="0"/>
                  </a:moveTo>
                  <a:lnTo>
                    <a:pt x="1637347" y="12868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2335530"/>
              <a:ext cx="9525" cy="1627823"/>
            </a:xfrm>
            <a:custGeom>
              <a:avLst/>
              <a:gdLst/>
              <a:ahLst/>
              <a:cxnLst/>
              <a:rect l="l" t="t" r="r" b="b"/>
              <a:pathLst>
                <a:path w="9525" h="1627823">
                  <a:moveTo>
                    <a:pt x="0" y="0"/>
                  </a:moveTo>
                  <a:lnTo>
                    <a:pt x="0" y="16278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58252" y="2273618"/>
              <a:ext cx="1636395" cy="1286828"/>
            </a:xfrm>
            <a:custGeom>
              <a:avLst/>
              <a:gdLst/>
              <a:ahLst/>
              <a:cxnLst/>
              <a:rect l="l" t="t" r="r" b="b"/>
              <a:pathLst>
                <a:path w="1636395" h="1286828">
                  <a:moveTo>
                    <a:pt x="1636395" y="0"/>
                  </a:moveTo>
                  <a:lnTo>
                    <a:pt x="0" y="12868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86828" y="2216468"/>
              <a:ext cx="1579245" cy="425767"/>
            </a:xfrm>
            <a:custGeom>
              <a:avLst/>
              <a:gdLst/>
              <a:ahLst/>
              <a:cxnLst/>
              <a:rect l="l" t="t" r="r" b="b"/>
              <a:pathLst>
                <a:path w="1579245" h="425767">
                  <a:moveTo>
                    <a:pt x="1579245" y="0"/>
                  </a:moveTo>
                  <a:lnTo>
                    <a:pt x="0" y="4257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913948" y="2847022"/>
              <a:ext cx="9525" cy="651510"/>
            </a:xfrm>
            <a:custGeom>
              <a:avLst/>
              <a:gdLst/>
              <a:ahLst/>
              <a:cxnLst/>
              <a:rect l="l" t="t" r="r" b="b"/>
              <a:pathLst>
                <a:path w="9525" h="651510">
                  <a:moveTo>
                    <a:pt x="0" y="0"/>
                  </a:moveTo>
                  <a:lnTo>
                    <a:pt x="0" y="6515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50870" y="2783205"/>
              <a:ext cx="1633538" cy="1243965"/>
            </a:xfrm>
            <a:custGeom>
              <a:avLst/>
              <a:gdLst/>
              <a:ahLst/>
              <a:cxnLst/>
              <a:rect l="l" t="t" r="r" b="b"/>
              <a:pathLst>
                <a:path w="1633538" h="1243965">
                  <a:moveTo>
                    <a:pt x="1633538" y="0"/>
                  </a:moveTo>
                  <a:lnTo>
                    <a:pt x="0" y="12439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87780" y="2725102"/>
              <a:ext cx="3469005" cy="895350"/>
            </a:xfrm>
            <a:custGeom>
              <a:avLst/>
              <a:gdLst/>
              <a:ahLst/>
              <a:cxnLst/>
              <a:rect l="l" t="t" r="r" b="b"/>
              <a:pathLst>
                <a:path w="3469005" h="895350">
                  <a:moveTo>
                    <a:pt x="3469005" y="0"/>
                  </a:moveTo>
                  <a:lnTo>
                    <a:pt x="0" y="8953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292542" y="2685098"/>
              <a:ext cx="3459480" cy="9525"/>
            </a:xfrm>
            <a:custGeom>
              <a:avLst/>
              <a:gdLst/>
              <a:ahLst/>
              <a:cxnLst/>
              <a:rect l="l" t="t" r="r" b="b"/>
              <a:pathLst>
                <a:path w="3459480" h="9525">
                  <a:moveTo>
                    <a:pt x="345948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79445" y="3699510"/>
              <a:ext cx="1576388" cy="386715"/>
            </a:xfrm>
            <a:custGeom>
              <a:avLst/>
              <a:gdLst/>
              <a:ahLst/>
              <a:cxnLst/>
              <a:rect l="l" t="t" r="r" b="b"/>
              <a:pathLst>
                <a:path w="1576388" h="386715">
                  <a:moveTo>
                    <a:pt x="1576388" y="0"/>
                  </a:moveTo>
                  <a:lnTo>
                    <a:pt x="0" y="3867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292542" y="3660458"/>
              <a:ext cx="3459480" cy="9525"/>
            </a:xfrm>
            <a:custGeom>
              <a:avLst/>
              <a:gdLst/>
              <a:ahLst/>
              <a:cxnLst/>
              <a:rect l="l" t="t" r="r" b="b"/>
              <a:pathLst>
                <a:path w="3459480" h="9525">
                  <a:moveTo>
                    <a:pt x="345948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87780" y="2725102"/>
              <a:ext cx="3469005" cy="895350"/>
            </a:xfrm>
            <a:custGeom>
              <a:avLst/>
              <a:gdLst/>
              <a:ahLst/>
              <a:cxnLst/>
              <a:rect l="l" t="t" r="r" b="b"/>
              <a:pathLst>
                <a:path w="3469005" h="895350">
                  <a:moveTo>
                    <a:pt x="3469005" y="8953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287780" y="3699510"/>
              <a:ext cx="1577340" cy="386715"/>
            </a:xfrm>
            <a:custGeom>
              <a:avLst/>
              <a:gdLst/>
              <a:ahLst/>
              <a:cxnLst/>
              <a:rect l="l" t="t" r="r" b="b"/>
              <a:pathLst>
                <a:path w="1577340" h="386715">
                  <a:moveTo>
                    <a:pt x="1577340" y="3867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259205" y="2783205"/>
              <a:ext cx="1634490" cy="1243965"/>
            </a:xfrm>
            <a:custGeom>
              <a:avLst/>
              <a:gdLst/>
              <a:ahLst/>
              <a:cxnLst/>
              <a:rect l="l" t="t" r="r" b="b"/>
              <a:pathLst>
                <a:path w="1634490" h="1243965">
                  <a:moveTo>
                    <a:pt x="1634490" y="12439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30618" y="2847022"/>
              <a:ext cx="9525" cy="651510"/>
            </a:xfrm>
            <a:custGeom>
              <a:avLst/>
              <a:gdLst/>
              <a:ahLst/>
              <a:cxnLst/>
              <a:rect l="l" t="t" r="r" b="b"/>
              <a:pathLst>
                <a:path w="9525" h="651510">
                  <a:moveTo>
                    <a:pt x="0" y="65151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869882" y="20212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761548" y="253269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761548" y="35080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869882" y="39728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78218" y="35080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978218" y="253269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77079" y="21131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8744" y="26246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68744" y="35999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77079" y="406479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5414" y="359997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5414" y="26246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8" name="c1-text-2"/>
          <p:cNvGrpSpPr/>
          <p:nvPr/>
        </p:nvGrpSpPr>
        <p:grpSpPr>
          <a:xfrm>
            <a:off x="1693522" y="4458176"/>
            <a:ext cx="2657521" cy="220028"/>
            <a:chOff x="1693522" y="4458176"/>
            <a:chExt cx="2657521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1693522" y="4458176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个同事对象两两直连，一共 15 条联系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7"/>
              <p:cNvSpPr txBox="1">
                <a:spLocks noGrp="1"/>
              </p:cNvSpPr>
              <p:nvPr/>
            </p:nvSpPr>
            <p:spPr>
              <a:xfrm>
                <a:off x="533400" y="4809172"/>
                <a:ext cx="4977765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66" name="c2-table-1"/>
          <p:cNvGrpSpPr/>
          <p:nvPr/>
        </p:nvGrpSpPr>
        <p:grpSpPr>
          <a:xfrm>
            <a:off x="5815965" y="1941195"/>
            <a:ext cx="5842635" cy="2028825"/>
            <a:chOff x="5815965" y="1941195"/>
            <a:chExt cx="5842635" cy="2028825"/>
          </a:xfrm>
        </p:grpSpPr>
        <p:sp>
          <p:nvSpPr>
            <p:cNvPr id="40" name="Rectangle 40"/>
            <p:cNvSpPr/>
            <p:nvPr/>
          </p:nvSpPr>
          <p:spPr>
            <a:xfrm>
              <a:off x="5815965" y="1941195"/>
              <a:ext cx="584263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33923" y="20654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同事个数 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239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两两直连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7582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都连中介者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9219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84481" y="24712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13294" y="247126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7479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15965" y="275272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59219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43018" y="287702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条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13294" y="287702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1537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59219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43018" y="328279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13294" y="328279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条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559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5642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15683" y="368855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809548" y="3573780"/>
              <a:ext cx="183927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01555" y="368855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190 条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67875" y="3573780"/>
              <a:ext cx="198120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471831" y="368855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941195"/>
              <a:ext cx="584263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795260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9653588" y="194119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5815965" y="4145280"/>
            <a:ext cx="5842635" cy="1281112"/>
            <a:chOff x="5815965" y="4145280"/>
            <a:chExt cx="5842635" cy="1281112"/>
          </a:xfrm>
        </p:grpSpPr>
        <p:sp>
          <p:nvSpPr>
            <p:cNvPr id="67" name="Rectangle 67"/>
            <p:cNvSpPr/>
            <p:nvPr/>
          </p:nvSpPr>
          <p:spPr>
            <a:xfrm>
              <a:off x="5815965" y="4145280"/>
              <a:ext cx="5842635" cy="1281112"/>
            </a:xfrm>
            <a:prstGeom prst="roundRect">
              <a:avLst>
                <a:gd name="adj" fmla="val 104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5825490" y="4278630"/>
              <a:ext cx="47625" cy="10144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046470" y="433768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25908" y="43719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真正的代价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030212" y="437769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新来一个对象，要改的不止一处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39612" y="4712018"/>
              <a:ext cx="5520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每个对象既影响别的对象，也被别的对象影响，它们叫做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同事对象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039612" y="5013960"/>
              <a:ext cx="45777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新增一个同事 X，所有要和 X 打交道的同事都得改一次。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5" name="Rectangle 7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5956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边数按 n² 量级涨，耦合度也跟着涨。对象一多，这种结构就没人能理清。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动机：对象两两相连，改一处牵动全身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把交互搬进中介者，网状就变成星形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698230" cy="293370"/>
            <a:chOff x="525780" y="1548765"/>
            <a:chExt cx="86982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698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同事之间的交互行为，从各个同事类里分离出来，集中封装到一个中介者对象里，由它统一协调。</a:t>
              </a:r>
            </a:p>
          </p:txBody>
        </p:sp>
      </p:grpSp>
      <p:grpSp>
        <p:nvGrpSpPr>
          <p:cNvPr id="29" name="c1-graph-1"/>
          <p:cNvGrpSpPr/>
          <p:nvPr/>
        </p:nvGrpSpPr>
        <p:grpSpPr>
          <a:xfrm>
            <a:off x="978218" y="2000250"/>
            <a:ext cx="4088130" cy="2385060"/>
            <a:chOff x="978218" y="2000250"/>
            <a:chExt cx="4088130" cy="2385060"/>
          </a:xfrm>
        </p:grpSpPr>
        <p:sp>
          <p:nvSpPr>
            <p:cNvPr id="9" name="Freeform 9"/>
            <p:cNvSpPr/>
            <p:nvPr/>
          </p:nvSpPr>
          <p:spPr>
            <a:xfrm>
              <a:off x="3022282" y="2314575"/>
              <a:ext cx="9525" cy="656272"/>
            </a:xfrm>
            <a:custGeom>
              <a:avLst/>
              <a:gdLst/>
              <a:ahLst/>
              <a:cxnLst/>
              <a:rect l="l" t="t" r="r" b="b"/>
              <a:pathLst>
                <a:path w="9525" h="656272">
                  <a:moveTo>
                    <a:pt x="0" y="65627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31882" y="2738438"/>
              <a:ext cx="1124902" cy="294322"/>
            </a:xfrm>
            <a:custGeom>
              <a:avLst/>
              <a:gdLst/>
              <a:ahLst/>
              <a:cxnLst/>
              <a:rect l="l" t="t" r="r" b="b"/>
              <a:pathLst>
                <a:path w="1124902" h="294322">
                  <a:moveTo>
                    <a:pt x="0" y="294322"/>
                  </a:moveTo>
                  <a:lnTo>
                    <a:pt x="11249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631882" y="3368040"/>
              <a:ext cx="1125855" cy="324802"/>
            </a:xfrm>
            <a:custGeom>
              <a:avLst/>
              <a:gdLst/>
              <a:ahLst/>
              <a:cxnLst/>
              <a:rect l="l" t="t" r="r" b="b"/>
              <a:pathLst>
                <a:path w="1125855" h="324802">
                  <a:moveTo>
                    <a:pt x="0" y="0"/>
                  </a:moveTo>
                  <a:lnTo>
                    <a:pt x="1125855" y="3248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22282" y="3414712"/>
              <a:ext cx="9525" cy="656272"/>
            </a:xfrm>
            <a:custGeom>
              <a:avLst/>
              <a:gdLst/>
              <a:ahLst/>
              <a:cxnLst/>
              <a:rect l="l" t="t" r="r" b="b"/>
              <a:pathLst>
                <a:path w="9525" h="656272">
                  <a:moveTo>
                    <a:pt x="0" y="0"/>
                  </a:moveTo>
                  <a:lnTo>
                    <a:pt x="0" y="6562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285875" y="3368040"/>
              <a:ext cx="1126808" cy="324802"/>
            </a:xfrm>
            <a:custGeom>
              <a:avLst/>
              <a:gdLst/>
              <a:ahLst/>
              <a:cxnLst/>
              <a:rect l="l" t="t" r="r" b="b"/>
              <a:pathLst>
                <a:path w="1126808" h="324802">
                  <a:moveTo>
                    <a:pt x="1126808" y="0"/>
                  </a:moveTo>
                  <a:lnTo>
                    <a:pt x="0" y="32480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287780" y="2738438"/>
              <a:ext cx="1124903" cy="294322"/>
            </a:xfrm>
            <a:custGeom>
              <a:avLst/>
              <a:gdLst/>
              <a:ahLst/>
              <a:cxnLst/>
              <a:rect l="l" t="t" r="r" b="b"/>
              <a:pathLst>
                <a:path w="1124903" h="294322">
                  <a:moveTo>
                    <a:pt x="1124903" y="29432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12682" y="2970848"/>
              <a:ext cx="1219200" cy="443865"/>
            </a:xfrm>
            <a:prstGeom prst="roundRect">
              <a:avLst>
                <a:gd name="adj" fmla="val 2145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869882" y="20002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761548" y="25450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761548" y="35852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869882" y="40805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978218" y="358521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78218" y="254508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91854" y="3127058"/>
              <a:ext cx="660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Mediator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73823" y="20869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5488" y="263175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5488" y="3671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73823" y="41671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82158" y="3671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82158" y="263175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1" name="c1-text-2"/>
          <p:cNvGrpSpPr/>
          <p:nvPr/>
        </p:nvGrpSpPr>
        <p:grpSpPr>
          <a:xfrm>
            <a:off x="1735950" y="4635818"/>
            <a:ext cx="2572664" cy="234696"/>
            <a:chOff x="1735950" y="4635818"/>
            <a:chExt cx="2572664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1735950" y="4635818"/>
              <a:ext cx="25726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同一批对象，联系从 15 条降到 6 条</a:t>
              </a:r>
            </a:p>
          </p:txBody>
        </p:sp>
      </p:grpSp>
      <p:grpSp>
        <p:nvGrpSpPr>
          <p:cNvPr id="48" name="c2-bullets-1"/>
          <p:cNvGrpSpPr/>
          <p:nvPr/>
        </p:nvGrpSpPr>
        <p:grpSpPr>
          <a:xfrm>
            <a:off x="5808726" y="1977866"/>
            <a:ext cx="3893439" cy="2000155"/>
            <a:chOff x="5808726" y="1977866"/>
            <a:chExt cx="3893439" cy="2000155"/>
          </a:xfrm>
        </p:grpSpPr>
        <p:sp>
          <p:nvSpPr>
            <p:cNvPr id="32" name="TextBox 32"/>
            <p:cNvSpPr txBox="1"/>
            <p:nvPr/>
          </p:nvSpPr>
          <p:spPr>
            <a:xfrm>
              <a:off x="5808726" y="197786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这一步换来了什么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230409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74310" y="234443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05906" y="231695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多对多变成一对多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113145" y="266414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97549" y="259556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中介者和同事之间是一对多，同事之间不再有线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815965" y="287750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74310" y="29178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05906" y="289036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同事之间不再直接耦合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13145" y="323754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97549" y="316992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同事要找别人，先找中介者，由中介者去转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815965" y="3450907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874310" y="349124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05906" y="346376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协作规则集中到一处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13145" y="381095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97549" y="3743325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改规则只动中介者，同事类不用重新编译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5815965" y="4115752"/>
            <a:ext cx="5842635" cy="756285"/>
            <a:chOff x="5815965" y="4115752"/>
            <a:chExt cx="5842635" cy="756285"/>
          </a:xfrm>
        </p:grpSpPr>
        <p:sp>
          <p:nvSpPr>
            <p:cNvPr id="49" name="Rectangle 49"/>
            <p:cNvSpPr/>
            <p:nvPr/>
          </p:nvSpPr>
          <p:spPr>
            <a:xfrm>
              <a:off x="5815965" y="411575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020753" y="4393885"/>
              <a:ext cx="200023" cy="200023"/>
              <a:chOff x="6020753" y="4393885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43938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54103" y="4460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323076" y="4262914"/>
              <a:ext cx="482955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中介者模式是迪米特法则（第 02 讲）的一个典型应用：只和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你的直接朋友通信。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5815965" y="5057775"/>
            <a:ext cx="5842635" cy="1293495"/>
            <a:chOff x="5815965" y="5057775"/>
            <a:chExt cx="5842635" cy="1293495"/>
          </a:xfrm>
        </p:grpSpPr>
        <p:sp>
          <p:nvSpPr>
            <p:cNvPr id="55" name="Rectangle 55"/>
            <p:cNvSpPr/>
            <p:nvPr/>
          </p:nvSpPr>
          <p:spPr>
            <a:xfrm>
              <a:off x="5815965" y="5057775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25490" y="519112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57900" y="526161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9256" y="52973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读图要点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43154" y="530113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星形不等于中介者什么都管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50661" y="5652611"/>
              <a:ext cx="51181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中介者接管的是同事之间的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交互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，不是同事自己的业务。每个同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事仍然保留处理自己行为的方法。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9281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024" y="407194"/>
              <a:ext cx="3430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动机：对象两两相连，改一处牵动全身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定义：用一个中介对象封装一系列的对象交互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730692"/>
            <a:chOff x="533400" y="1524000"/>
            <a:chExt cx="5951220" cy="17306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768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中介者模式（Mediator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用一个中介对象来封装一系列的对象交互，中介者使各对象不需要显式地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相互引用，从而使其耦合松散，而且可以独立地改变它们之间的交互。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 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调停者模式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92703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874169"/>
              <a:ext cx="16671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6" name="c1-kv-2"/>
          <p:cNvGrpSpPr/>
          <p:nvPr/>
        </p:nvGrpSpPr>
        <p:grpSpPr>
          <a:xfrm>
            <a:off x="526923" y="3439954"/>
            <a:ext cx="5957697" cy="1238059"/>
            <a:chOff x="526923" y="3439954"/>
            <a:chExt cx="5957697" cy="1238059"/>
          </a:xfrm>
        </p:grpSpPr>
        <p:sp>
          <p:nvSpPr>
            <p:cNvPr id="18" name="TextBox 18"/>
            <p:cNvSpPr txBox="1"/>
            <p:nvPr/>
          </p:nvSpPr>
          <p:spPr>
            <a:xfrm>
              <a:off x="526923" y="343995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封装一系列的对象交互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69095" y="34399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被封装的是交互过程，不是某个对象的数据或算法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7118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923" y="38142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不需要显式地相互引用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69095" y="381428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同事类的字段和参数里不再出现别的同事类的类型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8622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923" y="4188619"/>
              <a:ext cx="18011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独立地改变它们之间的交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69095" y="418861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改协作规则只动中介者，同事类不必跟着改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792028"/>
            <a:ext cx="5951220" cy="917258"/>
            <a:chOff x="533400" y="4792028"/>
            <a:chExt cx="5951220" cy="917258"/>
          </a:xfrm>
        </p:grpSpPr>
        <p:sp>
          <p:nvSpPr>
            <p:cNvPr id="27" name="Rectangle 27"/>
            <p:cNvSpPr/>
            <p:nvPr/>
          </p:nvSpPr>
          <p:spPr>
            <a:xfrm>
              <a:off x="533400" y="4792028"/>
              <a:ext cx="5951220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925378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2475" y="49730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3946" y="50058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名字的由来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91830" y="50125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为什么又叫调停者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532876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同事之间的往来全部交给中间那个对象居中调停。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789420" y="1524000"/>
            <a:ext cx="4869180" cy="1687830"/>
            <a:chOff x="6789420" y="1524000"/>
            <a:chExt cx="4869180" cy="1687830"/>
          </a:xfrm>
        </p:grpSpPr>
        <p:sp>
          <p:nvSpPr>
            <p:cNvPr id="34" name="Rectangle 34"/>
            <p:cNvSpPr/>
            <p:nvPr/>
          </p:nvSpPr>
          <p:spPr>
            <a:xfrm>
              <a:off x="6789420" y="1524000"/>
              <a:ext cx="486918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9894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08495" y="17049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74713" y="17378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陈伟老师课件的说法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6008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同一个定义的另一种表述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02018" y="206168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降低各类或对象之间的耦合度，使各类可以独立地变化，提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高复用性。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02018" y="258937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使用一个中介对象封装各对象间的交互，并集中处理交互过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程。</a:t>
              </a:r>
            </a:p>
          </p:txBody>
        </p:sp>
      </p:grpSp>
      <p:grpSp>
        <p:nvGrpSpPr>
          <p:cNvPr id="62" name="c2-compare-2"/>
          <p:cNvGrpSpPr/>
          <p:nvPr/>
        </p:nvGrpSpPr>
        <p:grpSpPr>
          <a:xfrm>
            <a:off x="6789420" y="3376612"/>
            <a:ext cx="4869180" cy="2332672"/>
            <a:chOff x="6789420" y="3376612"/>
            <a:chExt cx="4869180" cy="2332672"/>
          </a:xfrm>
        </p:grpSpPr>
        <p:sp>
          <p:nvSpPr>
            <p:cNvPr id="42" name="Rectangle 42"/>
            <p:cNvSpPr/>
            <p:nvPr/>
          </p:nvSpPr>
          <p:spPr>
            <a:xfrm>
              <a:off x="6789420" y="3376612"/>
              <a:ext cx="2225040" cy="2332672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798945" y="3509962"/>
              <a:ext cx="47625" cy="20659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2018" y="357901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没有中介者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18020" y="393287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73468" y="3880009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同事持有别的同事的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18020" y="44605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3468" y="4407694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协作规则散在各个同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事类里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18020" y="498824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73468" y="493633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换一条规则要改好几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个类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433560" y="3376612"/>
              <a:ext cx="2225040" cy="2332672"/>
            </a:xfrm>
            <a:prstGeom prst="roundRect">
              <a:avLst>
                <a:gd name="adj" fmla="val 59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43085" y="3509962"/>
              <a:ext cx="47625" cy="20659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46158" y="35790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有中介者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9662160" y="393287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817608" y="3880009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同事只持有中介者的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引用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662160" y="44605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17608" y="4407694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协作规则集中在中介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者里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9662160" y="498824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817608" y="493633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换一条规则只改中介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9062085" y="438150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45318" y="448722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判定题眼：一组对象通信复杂、互相引用成网，而你想把这些交互单独拿出来管。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5852160" cy="3706177"/>
            <a:chOff x="667512" y="1835468"/>
            <a:chExt cx="5852160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结构、四个角色与骨架代码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从类图读到每个角色该写哪几行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四个角色的职责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中转与协调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334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骨架代码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实现时要定的四件事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结构：同事只认识抽象中介者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07790" cy="308039"/>
            <a:chOff x="525399" y="1550194"/>
            <a:chExt cx="106077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077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同事那条关联线连到抽象中介者 Mediator，不连到 ConcreteMediator，换一个具体中介者时同事类才不用改。</a:t>
              </a:r>
            </a:p>
          </p:txBody>
        </p:sp>
      </p:grpSp>
      <p:grpSp>
        <p:nvGrpSpPr>
          <p:cNvPr id="55" name="c1-uml-1"/>
          <p:cNvGrpSpPr/>
          <p:nvPr/>
        </p:nvGrpSpPr>
        <p:grpSpPr>
          <a:xfrm>
            <a:off x="1364932" y="2469832"/>
            <a:ext cx="9236393" cy="2686051"/>
            <a:chOff x="1364932" y="2469832"/>
            <a:chExt cx="9236393" cy="2686051"/>
          </a:xfrm>
        </p:grpSpPr>
        <p:sp>
          <p:nvSpPr>
            <p:cNvPr id="9" name="Freeform 9"/>
            <p:cNvSpPr/>
            <p:nvPr/>
          </p:nvSpPr>
          <p:spPr>
            <a:xfrm>
              <a:off x="2387918" y="3436620"/>
              <a:ext cx="9525" cy="878205"/>
            </a:xfrm>
            <a:custGeom>
              <a:avLst/>
              <a:gdLst/>
              <a:ahLst/>
              <a:cxnLst/>
              <a:rect l="l" t="t" r="r" b="b"/>
              <a:pathLst>
                <a:path w="9525" h="878205">
                  <a:moveTo>
                    <a:pt x="0" y="87820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14575" y="33108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6096000" y="3436620"/>
              <a:ext cx="3612832" cy="878205"/>
            </a:xfrm>
            <a:custGeom>
              <a:avLst/>
              <a:gdLst/>
              <a:ahLst/>
              <a:cxnLst/>
              <a:rect l="l" t="t" r="r" b="b"/>
              <a:pathLst>
                <a:path w="3612832" h="878205">
                  <a:moveTo>
                    <a:pt x="0" y="878205"/>
                  </a:moveTo>
                  <a:lnTo>
                    <a:pt x="0" y="376238"/>
                  </a:lnTo>
                  <a:lnTo>
                    <a:pt x="3612832" y="376238"/>
                  </a:lnTo>
                  <a:lnTo>
                    <a:pt x="361283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635490" y="33108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804082" y="3436620"/>
              <a:ext cx="95250" cy="878205"/>
            </a:xfrm>
            <a:custGeom>
              <a:avLst/>
              <a:gdLst/>
              <a:ahLst/>
              <a:cxnLst/>
              <a:rect l="l" t="t" r="r" b="b"/>
              <a:pathLst>
                <a:path w="95250" h="878205">
                  <a:moveTo>
                    <a:pt x="0" y="878205"/>
                  </a:moveTo>
                  <a:lnTo>
                    <a:pt x="0" y="376238"/>
                  </a:lnTo>
                  <a:lnTo>
                    <a:pt x="95250" y="376238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825990" y="331089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67062" y="2889885"/>
              <a:ext cx="5867400" cy="9525"/>
            </a:xfrm>
            <a:custGeom>
              <a:avLst/>
              <a:gdLst/>
              <a:ahLst/>
              <a:cxnLst/>
              <a:rect l="l" t="t" r="r" b="b"/>
              <a:pathLst>
                <a:path w="5867400" h="9525">
                  <a:moveTo>
                    <a:pt x="586740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67062" y="283273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7150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10902" y="4658678"/>
              <a:ext cx="1887855" cy="76200"/>
            </a:xfrm>
            <a:custGeom>
              <a:avLst/>
              <a:gdLst/>
              <a:ahLst/>
              <a:cxnLst/>
              <a:rect l="l" t="t" r="r" b="b"/>
              <a:pathLst>
                <a:path w="1887855" h="76200">
                  <a:moveTo>
                    <a:pt x="0" y="0"/>
                  </a:moveTo>
                  <a:lnTo>
                    <a:pt x="943927" y="0"/>
                  </a:lnTo>
                  <a:lnTo>
                    <a:pt x="943927" y="76200"/>
                  </a:lnTo>
                  <a:lnTo>
                    <a:pt x="1887855" y="7620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93982" y="467772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410902" y="4734878"/>
              <a:ext cx="5595938" cy="76200"/>
            </a:xfrm>
            <a:custGeom>
              <a:avLst/>
              <a:gdLst/>
              <a:ahLst/>
              <a:cxnLst/>
              <a:rect l="l" t="t" r="r" b="b"/>
              <a:pathLst>
                <a:path w="5595938" h="76200">
                  <a:moveTo>
                    <a:pt x="0" y="76200"/>
                  </a:moveTo>
                  <a:lnTo>
                    <a:pt x="2798445" y="76200"/>
                  </a:lnTo>
                  <a:lnTo>
                    <a:pt x="2798445" y="0"/>
                  </a:lnTo>
                  <a:lnTo>
                    <a:pt x="559593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902065" y="467772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07820" y="2469832"/>
              <a:ext cx="1559242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15440" y="2476500"/>
              <a:ext cx="1544955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607820" y="2736532"/>
              <a:ext cx="15592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07820" y="2831782"/>
              <a:ext cx="15592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034462" y="2469832"/>
              <a:ext cx="153924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042082" y="2476500"/>
              <a:ext cx="152495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034462" y="2736532"/>
              <a:ext cx="1539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034462" y="3021330"/>
              <a:ext cx="1539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364932" y="4314825"/>
              <a:ext cx="2045970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71600" y="4322445"/>
              <a:ext cx="203168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364932" y="4581525"/>
              <a:ext cx="20459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64932" y="4866322"/>
              <a:ext cx="20459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98758" y="4314825"/>
              <a:ext cx="1594485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06378" y="4322445"/>
              <a:ext cx="158019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98758" y="4581525"/>
              <a:ext cx="15944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98758" y="4676775"/>
              <a:ext cx="15944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006840" y="4314825"/>
              <a:ext cx="1594485" cy="84105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014460" y="4322445"/>
              <a:ext cx="1580198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006840" y="4581525"/>
              <a:ext cx="15944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006840" y="4676775"/>
              <a:ext cx="159448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035435" y="2534126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Mediator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78686" y="2904173"/>
              <a:ext cx="141751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register(Colleague)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43905" y="2534126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Colleague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05328" y="2808923"/>
              <a:ext cx="1485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mediator: Mediator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05328" y="309372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84682" y="4379119"/>
              <a:ext cx="1406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ConcreteMediator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35798" y="4653915"/>
              <a:ext cx="2027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colleagues: List&lt;Colleague&gt;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435798" y="4938712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39194" y="4379119"/>
              <a:ext cx="1513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ConcreteColleagueA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69624" y="4749165"/>
              <a:ext cx="81076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method2()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47276" y="4379119"/>
              <a:ext cx="1513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ConcreteColleagueB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77706" y="4749165"/>
              <a:ext cx="810768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method2()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63578" y="2673668"/>
              <a:ext cx="67532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87990" y="2700338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mediator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91514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陈伟老师课件把中介者与同事画成 Mediator ◇—— 0..* Colleague 的聚合，说的是同一件事的另一端。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94254" cy="909257"/>
            <a:chOff x="520446" y="342900"/>
            <a:chExt cx="2794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708458" cy="2800350"/>
            <a:chOff x="533400" y="1524000"/>
            <a:chExt cx="6708458" cy="28003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275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4653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它是什么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19064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里面有什么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704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Mediator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43188" y="2045494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抽象中介者，声明同事与中介者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通信的接口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58728" y="214550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抽象业务方法 operation()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745581"/>
              <a:ext cx="14064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ConcreteMediator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43188" y="2645569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具体中介者，协调各同事实现协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作行为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58728" y="27455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维持对所有同事对象的引用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345656"/>
              <a:ext cx="7203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Colleague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3188" y="3245644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抽象同事类，定义同事公有的方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58728" y="3345656"/>
              <a:ext cx="18184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Mediator 类型的字段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71951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724275"/>
              <a:ext cx="670845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945731"/>
              <a:ext cx="1421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ConcreteColleague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3188" y="3845719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具体同事类，实现抽象同事声明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58728" y="39457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自身方法与依赖方法各若干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6708458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4127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681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493895"/>
            <a:ext cx="6708458" cy="1202055"/>
            <a:chOff x="533400" y="4493895"/>
            <a:chExt cx="6708458" cy="1202055"/>
          </a:xfrm>
        </p:grpSpPr>
        <p:sp>
          <p:nvSpPr>
            <p:cNvPr id="32" name="Rectangle 32"/>
            <p:cNvSpPr/>
            <p:nvPr/>
          </p:nvSpPr>
          <p:spPr>
            <a:xfrm>
              <a:off x="533400" y="4493895"/>
              <a:ext cx="670845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627245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8190" y="468058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9660" y="471344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记住这一条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97164" y="471582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只有具体中介者知道全局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1332" y="5041583"/>
              <a:ext cx="59030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四个角色里，同事谁也不认识别的同事，只有 ConcreteMediator 手上握着全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部同事对象的引用。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546658" y="1524000"/>
            <a:ext cx="4111942" cy="2017395"/>
            <a:chOff x="7546658" y="1524000"/>
            <a:chExt cx="4111942" cy="2017395"/>
          </a:xfrm>
        </p:grpSpPr>
        <p:sp>
          <p:nvSpPr>
            <p:cNvPr id="39" name="Rectangle 39"/>
            <p:cNvSpPr/>
            <p:nvPr/>
          </p:nvSpPr>
          <p:spPr>
            <a:xfrm>
              <a:off x="7546658" y="1524000"/>
              <a:ext cx="4111942" cy="2017395"/>
            </a:xfrm>
            <a:prstGeom prst="roundRect">
              <a:avLst>
                <a:gd name="adj" fmla="val 661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733348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99565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同事类里的两种方法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70480" y="174593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自身方法与依赖方法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6489" y="2071688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自身方法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（Self-Method）：处理自己的行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为，不涉及别的同事，也不用找中介者。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6489" y="2628900"/>
              <a:ext cx="35027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依赖方法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（Depend-Method）：调用中介者里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定义的方法，依赖中介者去完成和别的同事有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关的事。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7546658" y="3710940"/>
            <a:ext cx="4111942" cy="1985962"/>
            <a:chOff x="7546658" y="3710940"/>
            <a:chExt cx="4111942" cy="1985962"/>
          </a:xfrm>
        </p:grpSpPr>
        <p:sp>
          <p:nvSpPr>
            <p:cNvPr id="46" name="Rectangle 46"/>
            <p:cNvSpPr/>
            <p:nvPr/>
          </p:nvSpPr>
          <p:spPr>
            <a:xfrm>
              <a:off x="7546658" y="3710940"/>
              <a:ext cx="4111942" cy="1985962"/>
            </a:xfrm>
            <a:prstGeom prst="roundRect">
              <a:avLst>
                <a:gd name="adj" fmla="val 575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739387" y="4599741"/>
              <a:ext cx="224134" cy="192560"/>
              <a:chOff x="7739387" y="4599741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851458" y="46701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739387" y="45997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51458" y="47478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054149" y="4360545"/>
              <a:ext cx="327983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同事持有的是抽象中介者类型。写成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ConcreteMediator 就把具体实现钉死在同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事类里了。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6028373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抽象中介者里通常还会放一个注册方法，把同事对象加进集合，具体写法见下一页的骨架代码。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中介者承担两方面职责：中转和协调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496300" cy="293370"/>
            <a:chOff x="525780" y="1548765"/>
            <a:chExt cx="84963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源课件把中介者类的职责拆成结构上的支持和行为上的支持两条，正好对应代码里的两种写法。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54530"/>
            <a:ext cx="5627370" cy="3593782"/>
            <a:chOff x="533400" y="1954530"/>
            <a:chExt cx="5627370" cy="35937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2604135" cy="3593782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33270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8096" y="21817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中转作用（结构性）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52079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同事不再显式引用其他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11229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要通信时调用中介者的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70379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中介者按名字或下标找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到目标同事转过去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2955" y="43548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546" y="4295299"/>
              <a:ext cx="17367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这一条解决的是“连不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连线”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6635" y="1954530"/>
              <a:ext cx="2604135" cy="3593782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66160" y="2087880"/>
              <a:ext cx="47625" cy="33270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91331" y="218170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协调作用（行为性）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06190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62781" y="252079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中介者对同事之间的关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系再做一层封装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06190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62781" y="311229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同事只说要做什么，不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说该怎么做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06190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62781" y="370379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中介者按自己内部的逻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辑处理请求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06190" y="43548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62781" y="4295299"/>
              <a:ext cx="17367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这一条解决的是“按什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么规则转”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85160" y="358997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55500" y="36861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464618" y="1954530"/>
            <a:ext cx="5193982" cy="2115502"/>
            <a:chOff x="6464618" y="1954530"/>
            <a:chExt cx="5193982" cy="2115502"/>
          </a:xfrm>
        </p:grpSpPr>
        <p:sp>
          <p:nvSpPr>
            <p:cNvPr id="34" name="Rectangle 34"/>
            <p:cNvSpPr/>
            <p:nvPr/>
          </p:nvSpPr>
          <p:spPr>
            <a:xfrm>
              <a:off x="6464618" y="1954530"/>
              <a:ext cx="5193982" cy="2115502"/>
            </a:xfrm>
            <a:prstGeom prst="roundRect">
              <a:avLst>
                <a:gd name="adj" fmla="val 63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4142" y="2087880"/>
              <a:ext cx="47625" cy="18488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6552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71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07961" y="2197894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同一次转发，两项职责各做了什么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99314" y="255031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聊天室把张三的消息交给李四，这是中转。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314" y="287035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交之前先把消息里的敏感字符换掉、先看看图片是不是超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了大小，这是协调。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00456" y="3457575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只有中转没有协调时，中介者退化成一张转发表；协调逻辑越多，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中介者越容易变胖。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4255770"/>
            <a:ext cx="5193982" cy="1293495"/>
            <a:chOff x="6464618" y="4255770"/>
            <a:chExt cx="5193982" cy="1293495"/>
          </a:xfrm>
        </p:grpSpPr>
        <p:sp>
          <p:nvSpPr>
            <p:cNvPr id="43" name="Rectangle 43"/>
            <p:cNvSpPr/>
            <p:nvPr/>
          </p:nvSpPr>
          <p:spPr>
            <a:xfrm>
              <a:off x="6464618" y="4255770"/>
              <a:ext cx="5193982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38912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44596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8861" y="44953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一个反例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92758" y="449913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中转要是写回同事类里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9314" y="4850606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同事自己按名字找到对方再调用，中介者就只剩一个空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壳。类图看着还是星形，实际耦合仍然是网状。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6004084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做题时看中介者的方法体：有条件判断或加工逻辑就是协调，只有一句转调就是纯中转。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骨架代码（一）：抽象中介者与具体中介者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229100"/>
            <a:chOff x="533400" y="1524000"/>
            <a:chExt cx="6059805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229100"/>
            </a:xfrm>
            <a:prstGeom prst="roundRect">
              <a:avLst>
                <a:gd name="adj" fmla="val 2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530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Mediator 与 ConcreteMediator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226" y="1938099"/>
              <a:ext cx="5520563" cy="37445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45"/>
                </a:lnSpc>
              </a:pP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java.util.List;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Mediator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更正：原课件只声明不初始化，register 一调就空指针 */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List&lt;Colleague&gt; colleagues =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ArrayList&lt;Colleague&gt;();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register(Colleague colleague) {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注册同事对象 */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colleagues.add(colleague);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operation();       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声明抽象业务方法 */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ConcreteMediator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Mediator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operation() {               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封装同事之间的调用 */</a:t>
              </a:r>
              <a:br/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colleagues.get(0).method1();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bullets-1"/>
          <p:cNvGrpSpPr/>
          <p:nvPr/>
        </p:nvGrpSpPr>
        <p:grpSpPr>
          <a:xfrm>
            <a:off x="6890385" y="1548765"/>
            <a:ext cx="4456303" cy="1734789"/>
            <a:chOff x="6890385" y="1548765"/>
            <a:chExt cx="4456303" cy="1734789"/>
          </a:xfrm>
        </p:grpSpPr>
        <p:sp>
          <p:nvSpPr>
            <p:cNvPr id="11" name="TextBox 11"/>
            <p:cNvSpPr txBox="1"/>
            <p:nvPr/>
          </p:nvSpPr>
          <p:spPr>
            <a:xfrm>
              <a:off x="6890385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这两个类的分工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6903720" y="196596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061835" y="190309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抽象中介者放共性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069455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53478" y="21969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同事集合、注册方法，还有一个抽象的业务方法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903720" y="2568893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61835" y="25060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具体中介者放规则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9455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53478" y="2799874"/>
              <a:ext cx="40932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operation() 里决定调用哪些同事的哪些方法，顺序由它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898005" y="3424238"/>
            <a:ext cx="4760595" cy="2813685"/>
            <a:chOff x="6898005" y="3424238"/>
            <a:chExt cx="4760595" cy="2813685"/>
          </a:xfrm>
        </p:grpSpPr>
        <p:sp>
          <p:nvSpPr>
            <p:cNvPr id="21" name="Rectangle 21"/>
            <p:cNvSpPr/>
            <p:nvPr/>
          </p:nvSpPr>
          <p:spPr>
            <a:xfrm>
              <a:off x="6898005" y="3424238"/>
              <a:ext cx="4760595" cy="2813685"/>
            </a:xfrm>
            <a:prstGeom prst="roundRect">
              <a:avLst>
                <a:gd name="adj" fmla="val 4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7530" y="3557588"/>
              <a:ext cx="47625" cy="2546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45655" y="36337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35863" y="3669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45730" y="366903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原课件这两页的两处写法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145655" y="4016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07504" y="4058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46645" y="4030028"/>
              <a:ext cx="37966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protected ArrayList&lt;Colleague&gt;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colleagues;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只声明没有初始化，调用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register() 必定抛 NullPointerException，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补上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= new ArrayList&lt;Colleague&gt;()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145655" y="520922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07504" y="525151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46645" y="5222558"/>
              <a:ext cx="3844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((Colleague)(colleagues.get(0))).metho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d1();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里的强制转换是 JDK 1.4 的遗留写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法，集合已经带了泛型参数，转换可以去掉。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骨架代码（二）：抽象同事类与具体同事类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4550092"/>
            <a:chOff x="533400" y="1524000"/>
            <a:chExt cx="6059805" cy="45500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550092"/>
            </a:xfrm>
            <a:prstGeom prst="roundRect">
              <a:avLst>
                <a:gd name="adj" fmla="val 20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0798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Colleague 与 ConcreteColleague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415915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4583811" cy="40673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Colleague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Mediator mediator;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维持一个抽象中介者的引用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Colleague(Mediator mediator)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.mediator = mediator;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method1();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自身方法，处理自己的行为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ConcreteColleagueA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Colleague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ConcreteColleagueA(Mediator mediator)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(mediator);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method1() {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自身方法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"同事 A 处理自己的事"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method2() {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依赖方法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mediator.operation();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要找别的同事，先找中介者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kv-1"/>
          <p:cNvGrpSpPr/>
          <p:nvPr/>
        </p:nvGrpSpPr>
        <p:grpSpPr>
          <a:xfrm>
            <a:off x="6891147" y="1545907"/>
            <a:ext cx="4767453" cy="1556576"/>
            <a:chOff x="6891147" y="1545907"/>
            <a:chExt cx="4767453" cy="1556576"/>
          </a:xfrm>
        </p:grpSpPr>
        <p:sp>
          <p:nvSpPr>
            <p:cNvPr id="12" name="TextBox 12"/>
            <p:cNvSpPr txBox="1"/>
            <p:nvPr/>
          </p:nvSpPr>
          <p:spPr>
            <a:xfrm>
              <a:off x="6891147" y="1545907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method1()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04632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自身方法，方法体里只有自己的业务，和中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介者无关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98005" y="208597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91147" y="2192655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method2()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04632" y="219265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依赖方法，方法体里只有一句转调中介者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98005" y="24784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91147" y="258508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构造函数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04632" y="2585085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把中介者注入进来，同事对象一建好就知道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找谁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898005" y="3219450"/>
            <a:ext cx="4760595" cy="2854642"/>
            <a:chOff x="6898005" y="3219450"/>
            <a:chExt cx="4760595" cy="2854642"/>
          </a:xfrm>
        </p:grpSpPr>
        <p:sp>
          <p:nvSpPr>
            <p:cNvPr id="21" name="Rectangle 21"/>
            <p:cNvSpPr/>
            <p:nvPr/>
          </p:nvSpPr>
          <p:spPr>
            <a:xfrm>
              <a:off x="6898005" y="3219450"/>
              <a:ext cx="4760595" cy="2854642"/>
            </a:xfrm>
            <a:prstGeom prst="roundRect">
              <a:avLst>
                <a:gd name="adj" fmla="val 4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7530" y="3352800"/>
              <a:ext cx="47625" cy="25879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22795" y="34061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14514" y="34390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88389" y="344138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依赖方法里不要写业务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5937" y="3767138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依赖方法的作用是把请求交出去。把转发对象、过滤规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则写进同事类，中介者就形同虚设，同事之间又耦合回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去了。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一次通信在对象之间怎么走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291529" cy="264033"/>
            <a:chOff x="526542" y="1545907"/>
            <a:chExt cx="629152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2915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 A 想让同事 B 做点事。整个过程里，A 的代码中没有出现过 B 这个类型。</a:t>
              </a:r>
            </a:p>
          </p:txBody>
        </p:sp>
      </p:grpSp>
      <p:grpSp>
        <p:nvGrpSpPr>
          <p:cNvPr id="23" name="c1-flow-1"/>
          <p:cNvGrpSpPr/>
          <p:nvPr/>
        </p:nvGrpSpPr>
        <p:grpSpPr>
          <a:xfrm>
            <a:off x="721042" y="2143125"/>
            <a:ext cx="5034916" cy="944880"/>
            <a:chOff x="721042" y="2143125"/>
            <a:chExt cx="5034916" cy="944880"/>
          </a:xfrm>
        </p:grpSpPr>
        <p:sp>
          <p:nvSpPr>
            <p:cNvPr id="9" name="Freeform 9"/>
            <p:cNvSpPr/>
            <p:nvPr/>
          </p:nvSpPr>
          <p:spPr>
            <a:xfrm>
              <a:off x="2149792" y="2722245"/>
              <a:ext cx="269558" cy="9525"/>
            </a:xfrm>
            <a:custGeom>
              <a:avLst/>
              <a:gdLst/>
              <a:ahLst/>
              <a:cxnLst/>
              <a:rect l="l" t="t" r="r" b="b"/>
              <a:pathLst>
                <a:path w="269558" h="9525">
                  <a:moveTo>
                    <a:pt x="0" y="0"/>
                  </a:moveTo>
                  <a:lnTo>
                    <a:pt x="26955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19350" y="2669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952875" y="2722245"/>
              <a:ext cx="269558" cy="9525"/>
            </a:xfrm>
            <a:custGeom>
              <a:avLst/>
              <a:gdLst/>
              <a:ahLst/>
              <a:cxnLst/>
              <a:rect l="l" t="t" r="r" b="b"/>
              <a:pathLst>
                <a:path w="269558" h="9525">
                  <a:moveTo>
                    <a:pt x="0" y="0"/>
                  </a:moveTo>
                  <a:lnTo>
                    <a:pt x="26955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22432" y="266985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1042" y="2356485"/>
              <a:ext cx="1428750" cy="731520"/>
            </a:xfrm>
            <a:prstGeom prst="roundRect">
              <a:avLst>
                <a:gd name="adj" fmla="val 1302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524125" y="2356485"/>
              <a:ext cx="1428750" cy="731520"/>
            </a:xfrm>
            <a:prstGeom prst="roundRect">
              <a:avLst>
                <a:gd name="adj" fmla="val 13021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27208" y="2356485"/>
              <a:ext cx="1428750" cy="731520"/>
            </a:xfrm>
            <a:prstGeom prst="roundRect">
              <a:avLst>
                <a:gd name="adj" fmla="val 1302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3352" y="2468880"/>
              <a:ext cx="1044131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 A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ConcreteColleag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ueA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23102" y="2468880"/>
              <a:ext cx="1030796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ConcreteMediat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19517" y="2468880"/>
              <a:ext cx="1044131" cy="5654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 B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ConcreteColleag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ueB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11680" y="2143125"/>
              <a:ext cx="6496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37912" y="2165985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依赖方法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5715" y="2143125"/>
              <a:ext cx="64960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841947" y="2165985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自身方法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3680460"/>
            <a:ext cx="5410200" cy="467678"/>
            <a:chOff x="533400" y="3680460"/>
            <a:chExt cx="5410200" cy="467678"/>
          </a:xfrm>
        </p:grpSpPr>
        <p:sp>
          <p:nvSpPr>
            <p:cNvPr id="24" name="Rectangle 24"/>
            <p:cNvSpPr/>
            <p:nvPr/>
          </p:nvSpPr>
          <p:spPr>
            <a:xfrm>
              <a:off x="533400" y="3680460"/>
              <a:ext cx="5410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3813812"/>
              <a:ext cx="200023" cy="200023"/>
              <a:chOff x="738188" y="3813812"/>
              <a:chExt cx="200023" cy="20002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38138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71538" y="38804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3824764"/>
              <a:ext cx="39956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和 B 之间没有连线，两边谁都不知道对方的存在。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4312920"/>
            <a:ext cx="5410200" cy="1202055"/>
            <a:chOff x="533400" y="4312920"/>
            <a:chExt cx="5410200" cy="1202055"/>
          </a:xfrm>
        </p:grpSpPr>
        <p:sp>
          <p:nvSpPr>
            <p:cNvPr id="30" name="Rectangle 30"/>
            <p:cNvSpPr/>
            <p:nvPr/>
          </p:nvSpPr>
          <p:spPr>
            <a:xfrm>
              <a:off x="533400" y="431292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444627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2475" y="449389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37044" y="452675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对上代码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68006" y="453342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这两条箭头各是哪一行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5998" y="4850606"/>
              <a:ext cx="3062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① 就是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mediator.operation();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这一句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135404"/>
              <a:ext cx="3726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② 就是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colleagues.get(0).method1();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这一句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6248400" y="1938338"/>
            <a:ext cx="4742707" cy="2149411"/>
            <a:chOff x="6248400" y="1938338"/>
            <a:chExt cx="4742707" cy="2149411"/>
          </a:xfrm>
        </p:grpSpPr>
        <p:sp>
          <p:nvSpPr>
            <p:cNvPr id="38" name="Rectangle 38"/>
            <p:cNvSpPr/>
            <p:nvPr/>
          </p:nvSpPr>
          <p:spPr>
            <a:xfrm>
              <a:off x="6381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248400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2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248400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2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48400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023" y="19683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客户端装配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2166" y="2223135"/>
              <a:ext cx="43289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先创建中介者，再创建同事并把中介者传进去，然后逐个 register()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1023" y="2521744"/>
              <a:ext cx="1037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调依赖方法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2166" y="2776538"/>
              <a:ext cx="3339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a.method2() 内部只有一句 mediator.operation()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023" y="30751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中介者做协调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2166" y="3328988"/>
              <a:ext cx="36999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operation() 按自己的规则决定该通知谁、按什么顺序通知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1023" y="3627596"/>
              <a:ext cx="1209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执行自身方法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2166" y="3882390"/>
              <a:ext cx="30423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中介者从同事集合里取出 B，调用 b.method1()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248400" y="4249102"/>
            <a:ext cx="5410200" cy="1265872"/>
            <a:chOff x="6248400" y="4249102"/>
            <a:chExt cx="5410200" cy="1265872"/>
          </a:xfrm>
        </p:grpSpPr>
        <p:sp>
          <p:nvSpPr>
            <p:cNvPr id="56" name="Rectangle 56"/>
            <p:cNvSpPr/>
            <p:nvPr/>
          </p:nvSpPr>
          <p:spPr>
            <a:xfrm>
              <a:off x="6248400" y="4249102"/>
              <a:ext cx="5410200" cy="1265872"/>
            </a:xfrm>
            <a:prstGeom prst="roundRect">
              <a:avLst>
                <a:gd name="adj" fmla="val 105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4382452"/>
              <a:ext cx="47625" cy="9991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67475" y="443007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44894" y="446293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与直接调用比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31608" y="446960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多绕一层换来了什么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0998" y="4786789"/>
              <a:ext cx="4775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直接调用只要一步，但 A 的代码里必须出现 B 这个类型。绕一层以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后多了一次方法调用，换来的是 A 和 B 都能各自独立替换。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判断一段代码是不是中介者模式，就看同事类的字段和参数里有没有出现别的同事类型。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结构、四个角色与骨架代码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动手实现前要先定下来的四件事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83196" cy="264033"/>
            <a:chOff x="526542" y="1545907"/>
            <a:chExt cx="72831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陈伟老师课件把实现中介者模式时的四个选择单列了一页，每一条都会影响类图长什么样。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923" y="1949291"/>
            <a:ext cx="5849112" cy="2330577"/>
            <a:chOff x="526923" y="1949291"/>
            <a:chExt cx="5849112" cy="233057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双向关联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90890" y="194929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同事持有中介者的引用，中介者持有同事集合。两边都要找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得到对方，这条关联通常是双向的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46126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5636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创建与销毁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90890" y="2563654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一般由客户端创建同事再注册进中介者；同事销毁时要从中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介者的集合里注销，否则集合里留下失效引用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30746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31770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要不要抽象层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0890" y="3177064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系统里只有一个中介者实现时，可以省掉抽象中介者，让同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事直接持有具体中介者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6890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923" y="37904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通信方式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90890" y="3790474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同事直接调用中介者的方法；也可以让中介者充当观察者，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同事状态一变就发通知（第 36 讲）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94835"/>
            <a:ext cx="5842635" cy="1160145"/>
            <a:chOff x="533400" y="4394835"/>
            <a:chExt cx="5842635" cy="1160145"/>
          </a:xfrm>
        </p:grpSpPr>
        <p:sp>
          <p:nvSpPr>
            <p:cNvPr id="21" name="Rectangle 21"/>
            <p:cNvSpPr/>
            <p:nvPr/>
          </p:nvSpPr>
          <p:spPr>
            <a:xfrm>
              <a:off x="533400" y="4394835"/>
              <a:ext cx="584263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52818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5758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5147" y="46086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18450" y="461533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下一节的聊天室是怎么定的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5998" y="4931569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双向关联在 register() 里建好；会员由客户端创建；只有一个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ChatGroup 但仍保留抽象层；通信靠同事直接调中介者。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680835" y="1928812"/>
            <a:ext cx="4977765" cy="1843088"/>
            <a:chOff x="6680835" y="1928812"/>
            <a:chExt cx="4977765" cy="1843088"/>
          </a:xfrm>
        </p:grpSpPr>
        <p:sp>
          <p:nvSpPr>
            <p:cNvPr id="28" name="Rectangle 28"/>
            <p:cNvSpPr/>
            <p:nvPr/>
          </p:nvSpPr>
          <p:spPr>
            <a:xfrm>
              <a:off x="6680835" y="1928812"/>
              <a:ext cx="4977765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0360" y="2062162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99910" y="210978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74230" y="21426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关于省略抽象层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8820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什么时候可以只留一个中介者类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3433" y="246554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抽象中介者存在的意义是让同事类不依赖某个具体实现。如果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一个系统里中介者只可能有一种，抽象层就只剩下形式上的作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94576" y="3232785"/>
              <a:ext cx="42778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课本给出的判据：同事类是否需要在运行时换一个中介者。需要就留，不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需要就省。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680835" y="3935730"/>
            <a:ext cx="4977765" cy="1618298"/>
            <a:chOff x="6680835" y="3935730"/>
            <a:chExt cx="4977765" cy="1618298"/>
          </a:xfrm>
        </p:grpSpPr>
        <p:sp>
          <p:nvSpPr>
            <p:cNvPr id="36" name="Rectangle 36"/>
            <p:cNvSpPr/>
            <p:nvPr/>
          </p:nvSpPr>
          <p:spPr>
            <a:xfrm>
              <a:off x="6680835" y="3935730"/>
              <a:ext cx="4977765" cy="1618298"/>
            </a:xfrm>
            <a:prstGeom prst="roundRect">
              <a:avLst>
                <a:gd name="adj" fmla="val 706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873564" y="4641651"/>
              <a:ext cx="224134" cy="192560"/>
              <a:chOff x="6873564" y="4641651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985635" y="47120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73564" y="46416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985635" y="47898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7188708" y="453913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注销这一步最容易漏。同事对象已经不用了，中介者还攥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着它的引用，对象就回收不掉。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这四件事都会落到类图上：关联线的方向、有没有注销方法、画不画抽象层、以及两端的重数。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完整实例：虚拟聊天室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一个五个类的例子，从需求写到运行结果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需求与角色对应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三段实现代码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实例需求：虚拟聊天室要管三件事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2057400"/>
            <a:chOff x="533400" y="1524000"/>
            <a:chExt cx="4977765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论坛的虚拟聊天室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某论坛系统要增加一个虚拟聊天室，会员通过聊天室交流。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46484"/>
              <a:ext cx="2477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普通会员可以给其他会员发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文本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68414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631281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钻石会员既能发文本，也能发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图片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296894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2916079"/>
              <a:ext cx="2979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聊天室要过滤指定字符，例如把 C 换掉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325374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320087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聊天室要限制发送的图片大小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746182"/>
            <a:ext cx="4977765" cy="702945"/>
            <a:chOff x="533400" y="3746182"/>
            <a:chExt cx="4977765" cy="702945"/>
          </a:xfrm>
        </p:grpSpPr>
        <p:sp>
          <p:nvSpPr>
            <p:cNvPr id="22" name="Rectangle 22"/>
            <p:cNvSpPr/>
            <p:nvPr/>
          </p:nvSpPr>
          <p:spPr>
            <a:xfrm>
              <a:off x="533400" y="3746182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3997643"/>
              <a:ext cx="200026" cy="200025"/>
              <a:chOff x="738188" y="3997643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39976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40420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41532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1273" y="3891439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先问一句：过滤和限制该写在谁身上？写在会员类里，每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个会员类都得写一遍。</a:t>
              </a:r>
            </a:p>
          </p:txBody>
        </p:sp>
      </p:grpSp>
      <p:grpSp>
        <p:nvGrpSpPr>
          <p:cNvPr id="35" name="c1-card-3"/>
          <p:cNvGrpSpPr/>
          <p:nvPr/>
        </p:nvGrpSpPr>
        <p:grpSpPr>
          <a:xfrm>
            <a:off x="533400" y="4613910"/>
            <a:ext cx="4977765" cy="1403032"/>
            <a:chOff x="533400" y="4613910"/>
            <a:chExt cx="4977765" cy="1403032"/>
          </a:xfrm>
        </p:grpSpPr>
        <p:sp>
          <p:nvSpPr>
            <p:cNvPr id="29" name="Rectangle 29"/>
            <p:cNvSpPr/>
            <p:nvPr/>
          </p:nvSpPr>
          <p:spPr>
            <a:xfrm>
              <a:off x="533400" y="4613910"/>
              <a:ext cx="497776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74726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79488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4642" y="482774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为什么两边都留抽象层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14766" y="48344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聊天室和会员都还会扩展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998" y="5150644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聊天室以后可能换成分组聊天室或者带日志的聊天室，会员等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级也还会往上加。两边都留一个抽象类，扩展时新增子类就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815965" y="1524000"/>
            <a:ext cx="5842635" cy="2847975"/>
            <a:chOff x="5815965" y="1524000"/>
            <a:chExt cx="5842635" cy="2847975"/>
          </a:xfrm>
        </p:grpSpPr>
        <p:sp>
          <p:nvSpPr>
            <p:cNvPr id="36" name="Rectangle 36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470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模式角色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615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本例中的类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60699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它负责什么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910644" y="2116455"/>
              <a:ext cx="660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Mediator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05141" y="2116455"/>
              <a:ext cx="12918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AbstractChatroom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4898" y="2023110"/>
              <a:ext cx="18775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声明注册会员、转发文本、转发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图片三个接口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46888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473642"/>
              <a:ext cx="584263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0644" y="2684145"/>
              <a:ext cx="1318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ConcreteMediator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519988" y="2483168"/>
              <a:ext cx="1850708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05141" y="2684145"/>
              <a:ext cx="719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ChatGroup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74898" y="2590800"/>
              <a:ext cx="191757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Hashtable 存会员，转发前做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过滤和大小检查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30365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10644" y="3251835"/>
              <a:ext cx="675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Colleague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05141" y="3251835"/>
              <a:ext cx="5386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Member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4898" y="3158490"/>
              <a:ext cx="187756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抽象会员，持有聊天室引用，实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现收消息的方法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815965" y="36052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15965" y="360997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0644" y="3727132"/>
              <a:ext cx="1332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ConcreteColleague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05141" y="3727132"/>
              <a:ext cx="1066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CommonMember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74898" y="372713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普通会员，只能发文本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39862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10644" y="4108132"/>
              <a:ext cx="1332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ConcreteColleague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05141" y="4108132"/>
              <a:ext cx="1080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DiamondMember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74898" y="410813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钻石会员，文本和图片都能发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1524000"/>
              <a:ext cx="5842635" cy="2847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05700" y="1524000"/>
              <a:ext cx="9525" cy="2847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375458" y="1524000"/>
              <a:ext cx="9525" cy="2847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2" name="c2-card-2"/>
          <p:cNvGrpSpPr/>
          <p:nvPr/>
        </p:nvGrpSpPr>
        <p:grpSpPr>
          <a:xfrm>
            <a:off x="5815965" y="4536758"/>
            <a:ext cx="5842635" cy="1479232"/>
            <a:chOff x="5815965" y="4536758"/>
            <a:chExt cx="5842635" cy="1479232"/>
          </a:xfrm>
        </p:grpSpPr>
        <p:sp>
          <p:nvSpPr>
            <p:cNvPr id="66" name="Rectangle 66"/>
            <p:cNvSpPr/>
            <p:nvPr/>
          </p:nvSpPr>
          <p:spPr>
            <a:xfrm>
              <a:off x="5815965" y="4536758"/>
              <a:ext cx="5842635" cy="1479232"/>
            </a:xfrm>
            <a:prstGeom prst="roundRect">
              <a:avLst>
                <a:gd name="adj" fmla="val 90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25490" y="4670108"/>
              <a:ext cx="47625" cy="12125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35040" y="471773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19609" y="475059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对应关系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849618" y="47582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会员之间没有任何联系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28563" y="507444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张三给李四发消息，张三的代码里没有李四这个对象，只有一个聊天室引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用和一个收信人的名字。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实例类图：两条继承线加一条关联线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801990" cy="308039"/>
            <a:chOff x="525399" y="1550194"/>
            <a:chExt cx="9801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801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左边是中介者这一支，右边是同事这一支。两支之间只有 Member 到 AbstractChatroom 的一条关联。</a:t>
              </a:r>
            </a:p>
          </p:txBody>
        </p:sp>
      </p:grpSp>
      <p:grpSp>
        <p:nvGrpSpPr>
          <p:cNvPr id="51" name="c1-uml-1"/>
          <p:cNvGrpSpPr/>
          <p:nvPr/>
        </p:nvGrpSpPr>
        <p:grpSpPr>
          <a:xfrm>
            <a:off x="609600" y="2506980"/>
            <a:ext cx="6464618" cy="3066098"/>
            <a:chOff x="609600" y="2506980"/>
            <a:chExt cx="6464618" cy="3066098"/>
          </a:xfrm>
        </p:grpSpPr>
        <p:sp>
          <p:nvSpPr>
            <p:cNvPr id="9" name="Freeform 9"/>
            <p:cNvSpPr/>
            <p:nvPr/>
          </p:nvSpPr>
          <p:spPr>
            <a:xfrm>
              <a:off x="1651635" y="3626168"/>
              <a:ext cx="9525" cy="1196340"/>
            </a:xfrm>
            <a:custGeom>
              <a:avLst/>
              <a:gdLst/>
              <a:ahLst/>
              <a:cxnLst/>
              <a:rect l="l" t="t" r="r" b="b"/>
              <a:pathLst>
                <a:path w="9525" h="1196340">
                  <a:moveTo>
                    <a:pt x="0" y="119634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78292" y="350043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888105" y="3707130"/>
              <a:ext cx="2140268" cy="1115378"/>
            </a:xfrm>
            <a:custGeom>
              <a:avLst/>
              <a:gdLst/>
              <a:ahLst/>
              <a:cxnLst/>
              <a:rect l="l" t="t" r="r" b="b"/>
              <a:pathLst>
                <a:path w="2140268" h="1115378">
                  <a:moveTo>
                    <a:pt x="0" y="1115378"/>
                  </a:moveTo>
                  <a:lnTo>
                    <a:pt x="0" y="495300"/>
                  </a:lnTo>
                  <a:lnTo>
                    <a:pt x="2140268" y="495300"/>
                  </a:lnTo>
                  <a:lnTo>
                    <a:pt x="214026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955030" y="35814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23622" y="3707130"/>
              <a:ext cx="95250" cy="1115378"/>
            </a:xfrm>
            <a:custGeom>
              <a:avLst/>
              <a:gdLst/>
              <a:ahLst/>
              <a:cxnLst/>
              <a:rect l="l" t="t" r="r" b="b"/>
              <a:pathLst>
                <a:path w="95250" h="1115378">
                  <a:moveTo>
                    <a:pt x="0" y="1115378"/>
                  </a:moveTo>
                  <a:lnTo>
                    <a:pt x="0" y="495300"/>
                  </a:lnTo>
                  <a:lnTo>
                    <a:pt x="95250" y="495300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145530" y="358140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693670" y="3044190"/>
              <a:ext cx="2479358" cy="9525"/>
            </a:xfrm>
            <a:custGeom>
              <a:avLst/>
              <a:gdLst/>
              <a:ahLst/>
              <a:cxnLst/>
              <a:rect l="l" t="t" r="r" b="b"/>
              <a:pathLst>
                <a:path w="2479358" h="9525">
                  <a:moveTo>
                    <a:pt x="2479358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93670" y="298704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2587942"/>
              <a:ext cx="208407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7220" y="2594610"/>
              <a:ext cx="20697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2818448"/>
              <a:ext cx="2084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2913698"/>
              <a:ext cx="2084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73028" y="2506980"/>
              <a:ext cx="1901190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180648" y="2513648"/>
              <a:ext cx="188690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73028" y="2737485"/>
              <a:ext cx="19011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73028" y="3157538"/>
              <a:ext cx="19011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4822508"/>
              <a:ext cx="208407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17220" y="4830128"/>
              <a:ext cx="206978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9600" y="5053012"/>
              <a:ext cx="2084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5311140"/>
              <a:ext cx="2084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23235" y="4822508"/>
              <a:ext cx="172974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029902" y="4830128"/>
              <a:ext cx="17154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23235" y="5053012"/>
              <a:ext cx="17297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023235" y="5148262"/>
              <a:ext cx="17297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258752" y="4822508"/>
              <a:ext cx="172974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66372" y="4830128"/>
              <a:ext cx="17154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258752" y="5053012"/>
              <a:ext cx="17297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58752" y="5148262"/>
              <a:ext cx="17297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8914" y="2643664"/>
              <a:ext cx="12654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AbstractChatroom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1038" y="2983230"/>
              <a:ext cx="2032635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register(Member)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sendText(String, String, String)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sendImage(String, String, String)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59983" y="2562701"/>
              <a:ext cx="527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Member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44465" y="2807018"/>
              <a:ext cx="175831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chatroom: AbstractChatroom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name: String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44465" y="3227070"/>
              <a:ext cx="168973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sendText(String, String)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receiveText(String, String)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99523" y="4878229"/>
              <a:ext cx="7042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ChatGroup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1038" y="5122545"/>
              <a:ext cx="13044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members: Hashtable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1038" y="5380672"/>
              <a:ext cx="2111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sendText(String, String, String)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365778" y="4878229"/>
              <a:ext cx="10446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CommonMember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94672" y="5217795"/>
              <a:ext cx="158686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sendText(String, String)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sendImage(String, String)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94681" y="4878229"/>
              <a:ext cx="1057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DiamondMember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30190" y="5217795"/>
              <a:ext cx="158686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sendText(String, String)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sendImage(String, String)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579495" y="2827972"/>
              <a:ext cx="70866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603384" y="2854643"/>
              <a:ext cx="660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chatroom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7546658" y="1967865"/>
            <a:ext cx="4111942" cy="2242185"/>
            <a:chOff x="7546658" y="1967865"/>
            <a:chExt cx="4111942" cy="2242185"/>
          </a:xfrm>
        </p:grpSpPr>
        <p:sp>
          <p:nvSpPr>
            <p:cNvPr id="52" name="Rectangle 52"/>
            <p:cNvSpPr/>
            <p:nvPr/>
          </p:nvSpPr>
          <p:spPr>
            <a:xfrm>
              <a:off x="7546658" y="1967865"/>
              <a:ext cx="4111942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56182" y="210121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9430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8546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95335" y="22126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原类图里的构造函数名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86688" y="2573655"/>
              <a:ext cx="33966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源课件在 Member 类里把构造函数写成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ChatMember(String name)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，和类名对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不上，Java 里这会被当成一个没有返回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类型的方法而编译失败。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86688" y="3766185"/>
              <a:ext cx="3634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本讲统一写成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Member(String name)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7" name="c2-bullets-2"/>
          <p:cNvGrpSpPr/>
          <p:nvPr/>
        </p:nvGrpSpPr>
        <p:grpSpPr>
          <a:xfrm>
            <a:off x="7539038" y="4425315"/>
            <a:ext cx="4116387" cy="1908810"/>
            <a:chOff x="7539038" y="4425315"/>
            <a:chExt cx="4116387" cy="1908810"/>
          </a:xfrm>
        </p:grpSpPr>
        <p:sp>
          <p:nvSpPr>
            <p:cNvPr id="60" name="TextBox 60"/>
            <p:cNvSpPr txBox="1"/>
            <p:nvPr/>
          </p:nvSpPr>
          <p:spPr>
            <a:xfrm>
              <a:off x="7539038" y="44253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读这张图的三个落点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7546658" y="481107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97165" y="477964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两个具体会员都继承 Member，接口一样，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能力不一样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7546658" y="544163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97165" y="5410200"/>
              <a:ext cx="3858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Hashtable 字段就是中介者持有的同事集合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7546658" y="578643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97165" y="5755005"/>
              <a:ext cx="3558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Member 到 AbstractChatroom 的关联就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是同事持有的中介者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实例代码（一）：抽象聊天室与注册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87484" cy="308039"/>
            <a:chOff x="525399" y="1550194"/>
            <a:chExt cx="95874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874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注册这一步同时做了两件事：把会员存进集合，再把聊天室塞给会员。双向关联就是在这里建起来的。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6276022" cy="3847148"/>
            <a:chOff x="533400" y="1967865"/>
            <a:chExt cx="6276022" cy="38471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3847148"/>
            </a:xfrm>
            <a:prstGeom prst="roundRect">
              <a:avLst>
                <a:gd name="adj" fmla="val 24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613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AbstractChatroom 与 ChatGroup 的注册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98062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79821"/>
              <a:ext cx="4870069" cy="33625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java.util.Hashtable;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AbstractChatroom {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抽象中介者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register(Member member);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sendText(String from, String to, String msg);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sendImage(String from, String to, String img);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ChatGroup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AbstractChatroom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Hashtable&lt;String, Member&gt; members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Hashtable&lt;String, Member&gt;();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同事集合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register(Member member)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(!members.containsKey(member.getName()))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members.put(member.getName(), member);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member.setChatroom(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双向关联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bullets-1"/>
          <p:cNvGrpSpPr/>
          <p:nvPr/>
        </p:nvGrpSpPr>
        <p:grpSpPr>
          <a:xfrm>
            <a:off x="7106602" y="1992630"/>
            <a:ext cx="4264343" cy="1623060"/>
            <a:chOff x="7106602" y="1992630"/>
            <a:chExt cx="4264343" cy="1623060"/>
          </a:xfrm>
        </p:grpSpPr>
        <p:sp>
          <p:nvSpPr>
            <p:cNvPr id="14" name="TextBox 14"/>
            <p:cNvSpPr txBox="1"/>
            <p:nvPr/>
          </p:nvSpPr>
          <p:spPr>
            <a:xfrm>
              <a:off x="7106602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对照骨架代码看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11422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64730" y="2346960"/>
              <a:ext cx="4006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AbstractChatroom 就是 Mediator，三个抽象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方法是通信接口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114222" y="30089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4730" y="2977515"/>
              <a:ext cx="3858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Hashtable 字段就是骨架里的那个同事集合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7114222" y="335375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64730" y="3322320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register() 比骨架多做了去重和回填两件事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114222" y="3747135"/>
            <a:ext cx="4544378" cy="2067878"/>
            <a:chOff x="7114222" y="3747135"/>
            <a:chExt cx="4544378" cy="2067878"/>
          </a:xfrm>
        </p:grpSpPr>
        <p:sp>
          <p:nvSpPr>
            <p:cNvPr id="22" name="Rectangle 22"/>
            <p:cNvSpPr/>
            <p:nvPr/>
          </p:nvSpPr>
          <p:spPr>
            <a:xfrm>
              <a:off x="7114222" y="3747135"/>
              <a:ext cx="4544378" cy="2067878"/>
            </a:xfrm>
            <a:prstGeom prst="roundRect">
              <a:avLst>
                <a:gd name="adj" fmla="val 6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23748" y="3880485"/>
              <a:ext cx="47625" cy="180117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61872" y="3956685"/>
              <a:ext cx="152495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18337" y="3992404"/>
              <a:ext cx="1411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为什么用 Hashtable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93505" y="39919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转发要按名字找人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4252" y="4352925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会员是按名字寻址的，用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名字到会员对象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射比用列表省掉一次遍历。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5396" y="4969669"/>
              <a:ext cx="3776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源课件类图里写的 member : Hashtable 就是这个字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段。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实例代码（二）：两个转发方法里的协调逻辑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过滤敏感字符和检查图片大小都写在这里。两个会员类一行都不用关心这两条规则。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6276022" cy="3319462"/>
            <a:chOff x="533400" y="1967865"/>
            <a:chExt cx="6276022" cy="33194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3319462"/>
            </a:xfrm>
            <a:prstGeom prst="roundRect">
              <a:avLst>
                <a:gd name="adj" fmla="val 2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0655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ChatGroup 的转发方法（接上页）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4609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10146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79821"/>
              <a:ext cx="4048633" cy="2833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sendText(String from, String to, String msg)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Member member = members.get(to);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(member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"[聊天室] 过滤敏感字符"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member.receiveText(from, msg.replace(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"*"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sendImage(String from, String to, String img)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Member member = members.get(to);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(member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(img.length() &gt; 10) {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图片大小控制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"[聊天室] 图片太大，发送失败"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member.receiveImage(from, img);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5477828"/>
            <a:ext cx="6276022" cy="782955"/>
            <a:chOff x="533400" y="5477828"/>
            <a:chExt cx="6276022" cy="782955"/>
          </a:xfrm>
        </p:grpSpPr>
        <p:sp>
          <p:nvSpPr>
            <p:cNvPr id="15" name="Rectangle 15"/>
            <p:cNvSpPr/>
            <p:nvPr/>
          </p:nvSpPr>
          <p:spPr>
            <a:xfrm>
              <a:off x="533400" y="5477828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769293"/>
              <a:ext cx="200026" cy="200026"/>
              <a:chOff x="738188" y="576929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57692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58359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586930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626418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两个方法的骨架一样：先按名字查到人，再决定转不转，最后调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收信人的接收方法。</a:t>
              </a:r>
            </a:p>
          </p:txBody>
        </p:sp>
      </p:grpSp>
      <p:grpSp>
        <p:nvGrpSpPr>
          <p:cNvPr id="43" name="c2-bullets-1"/>
          <p:cNvGrpSpPr/>
          <p:nvPr/>
        </p:nvGrpSpPr>
        <p:grpSpPr>
          <a:xfrm>
            <a:off x="7106602" y="1992630"/>
            <a:ext cx="4535105" cy="2940654"/>
            <a:chOff x="7106602" y="1992630"/>
            <a:chExt cx="4535105" cy="2940654"/>
          </a:xfrm>
        </p:grpSpPr>
        <p:sp>
          <p:nvSpPr>
            <p:cNvPr id="22" name="TextBox 22"/>
            <p:cNvSpPr txBox="1"/>
            <p:nvPr/>
          </p:nvSpPr>
          <p:spPr>
            <a:xfrm>
              <a:off x="7106602" y="199263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两个方法里的四个动作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114222" y="2333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6072" y="2375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15212" y="234696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42283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06856" y="2639854"/>
              <a:ext cx="4034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按收信人名字取出 Member 对象，取不到就直接返回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14222" y="2936558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76072" y="2978848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15212" y="294989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过滤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42283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06856" y="3242786"/>
              <a:ext cx="29793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把文本里的 C 换成星号，属于协调作用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14222" y="353949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76072" y="35817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15212" y="3552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42283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06856" y="3846671"/>
              <a:ext cx="35798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图片串长度超过 10 就拒发，同样属于协调作用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14222" y="4142423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76072" y="4184713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15212" y="41557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22832" y="452247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06856" y="4449604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调用收信人的 receiveText 或 receiveImage，属于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中转作用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7114222" y="5073968"/>
            <a:ext cx="4544378" cy="1186815"/>
            <a:chOff x="7114222" y="5073968"/>
            <a:chExt cx="4544378" cy="1186815"/>
          </a:xfrm>
        </p:grpSpPr>
        <p:sp>
          <p:nvSpPr>
            <p:cNvPr id="44" name="Rectangle 44"/>
            <p:cNvSpPr/>
            <p:nvPr/>
          </p:nvSpPr>
          <p:spPr>
            <a:xfrm>
              <a:off x="7114222" y="5073968"/>
              <a:ext cx="4544378" cy="1186815"/>
            </a:xfrm>
            <a:prstGeom prst="roundRect">
              <a:avLst>
                <a:gd name="adj" fmla="val 963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19010" y="5567365"/>
              <a:ext cx="200023" cy="200023"/>
              <a:chOff x="7319010" y="5567365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19010" y="55673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452360" y="5634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620952" y="5424488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规则要改只动这一个类，两个会员类和客户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端都不用重新编译。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3943" cy="909257"/>
            <a:chOff x="520446" y="342900"/>
            <a:chExt cx="59439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39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实例代码（三）：抽象同事类 Member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492240" cy="4726305"/>
            <a:chOff x="533400" y="1524000"/>
            <a:chExt cx="6492240" cy="4726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726305"/>
            </a:xfrm>
            <a:prstGeom prst="roundRect">
              <a:avLst>
                <a:gd name="adj" fmla="val 20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272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Member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5137658" cy="4243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Member {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抽象同事类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AbstractChatroom chatroom;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中介者引用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Member(String name) {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更正：原写作 ChatMember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getName()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setChatroom(AbstractChatroom c)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.chatroom = c;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依赖方法：发出去都要过聊天室，由子类决定发不发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sendText(String to, String message);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sendImage(String to, String image);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自身方法：收到以后怎么显示，和别的会员无关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receiveText(String from, String message)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System.out.println(from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对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说："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message);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receiveImage(String from, String image)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System.out.println(from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发给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图片："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image);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2-card-1"/>
          <p:cNvGrpSpPr/>
          <p:nvPr/>
        </p:nvGrpSpPr>
        <p:grpSpPr>
          <a:xfrm>
            <a:off x="7330440" y="1524000"/>
            <a:ext cx="4328160" cy="1956435"/>
            <a:chOff x="7330440" y="1524000"/>
            <a:chExt cx="4328160" cy="1956435"/>
          </a:xfrm>
        </p:grpSpPr>
        <p:sp>
          <p:nvSpPr>
            <p:cNvPr id="11" name="Rectangle 11"/>
            <p:cNvSpPr/>
            <p:nvPr/>
          </p:nvSpPr>
          <p:spPr>
            <a:xfrm>
              <a:off x="7330440" y="1524000"/>
              <a:ext cx="4328160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3999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229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对照骨架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24862" y="1768792"/>
              <a:ext cx="2038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这个类就是 Colleague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32370" y="212979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chatroom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字段对应骨架里的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mediator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的是抽象中介者类型。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2370" y="275082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sendText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sendImage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是依赖方法，</a:t>
              </a:r>
              <a:br/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receiveText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receiveImage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是自身方法。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7330440" y="3670935"/>
            <a:ext cx="4328160" cy="2579370"/>
            <a:chOff x="7330440" y="3670935"/>
            <a:chExt cx="4328160" cy="2579370"/>
          </a:xfrm>
        </p:grpSpPr>
        <p:sp>
          <p:nvSpPr>
            <p:cNvPr id="18" name="Rectangle 18"/>
            <p:cNvSpPr/>
            <p:nvPr/>
          </p:nvSpPr>
          <p:spPr>
            <a:xfrm>
              <a:off x="7330440" y="3670935"/>
              <a:ext cx="4328160" cy="2579370"/>
            </a:xfrm>
            <a:prstGeom prst="roundRect">
              <a:avLst>
                <a:gd name="adj" fmla="val 51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39965" y="3804285"/>
              <a:ext cx="47625" cy="23126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78090" y="388048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34796" y="391620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为什么收消息不用抽象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0" y="42576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两种会员收消息的行为一样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0" y="461200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差别只出现在发送端：谁能发图片、发出去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要不要被拦。收到之后怎么显示，两种会员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完全相同，放在抽象类里实现一次就够。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" name="TextBox 2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实例代码（四）：两个具体会员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999595" cy="308039"/>
            <a:chOff x="525399" y="1550194"/>
            <a:chExt cx="799959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999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两个类的接口一模一样，差别只有一处：普通会员的 sendImage 根本不往聊天室送。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6276022" cy="4374832"/>
            <a:chOff x="533400" y="1967865"/>
            <a:chExt cx="6276022" cy="437483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23084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CommonMember 与 DiamondMember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57378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68356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79821"/>
              <a:ext cx="4509135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CommonMember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Member {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普通会员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CommonMember(String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sendText(String to, String message)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"普通会员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发送文本："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chatroom.sendText(name, to, message);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不直接找收信人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sendImage(String to, String image)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"普通会员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不能发送图片"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DiamondMember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Member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钻石会员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DiamondMember(String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sendText(String to, String message)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"钻石会员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发送文本："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chatroom.sendText(name, to, message);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sendImage(String to, String image)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"钻石会员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发送图片："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chatroom.sendImage(name, to, image);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bullets-1"/>
          <p:cNvGrpSpPr/>
          <p:nvPr/>
        </p:nvGrpSpPr>
        <p:grpSpPr>
          <a:xfrm>
            <a:off x="7106602" y="1992630"/>
            <a:ext cx="4339261" cy="1499520"/>
            <a:chOff x="7106602" y="1992630"/>
            <a:chExt cx="4339261" cy="1499520"/>
          </a:xfrm>
        </p:grpSpPr>
        <p:sp>
          <p:nvSpPr>
            <p:cNvPr id="15" name="TextBox 15"/>
            <p:cNvSpPr txBox="1"/>
            <p:nvPr/>
          </p:nvSpPr>
          <p:spPr>
            <a:xfrm>
              <a:off x="7106602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两处权限分别拦在哪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52" y="2346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会员等级拦在同事类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8567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9696" y="263985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能不能发图是这个会员自己的性质，写在会员类里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993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78052" y="29498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内容规则拦在中介者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8567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9696" y="32427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敏感字符和图片大小是聊天室的规则，和谁发的无关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114222" y="3632835"/>
            <a:ext cx="4544378" cy="2708910"/>
            <a:chOff x="7114222" y="3632835"/>
            <a:chExt cx="4544378" cy="2708910"/>
          </a:xfrm>
        </p:grpSpPr>
        <p:sp>
          <p:nvSpPr>
            <p:cNvPr id="25" name="Rectangle 25"/>
            <p:cNvSpPr/>
            <p:nvPr/>
          </p:nvSpPr>
          <p:spPr>
            <a:xfrm>
              <a:off x="7114222" y="3632835"/>
              <a:ext cx="4544378" cy="2708910"/>
            </a:xfrm>
            <a:prstGeom prst="roundRect">
              <a:avLst>
                <a:gd name="adj" fmla="val 49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23748" y="3766185"/>
              <a:ext cx="47625" cy="244221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361872" y="38423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52081" y="38781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61948" y="3877628"/>
              <a:ext cx="27578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别把等级判断搬进 ChatGroup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54252" y="4238625"/>
              <a:ext cx="3920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 ChatGroup 里判断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member instanceof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DiamondMember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，每加一种会员等级都要改中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介者，扩展性反而比现在差。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完整实例：虚拟聊天室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客户端装配与运行结果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143250"/>
            <a:chOff x="533400" y="1524000"/>
            <a:chExt cx="5410200" cy="3143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614926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AbstractChatroom room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ChatGroup();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建中介者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Member zhang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CommonMember(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Member li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DiamondMember(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room.register(zhang);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注册同事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room.register(li);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zhang.sendText(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"C 语言作业写完了吗"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li.sendText(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"写完了"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li.sendImage(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"hi.jpg"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li.sendImage(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"张三"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"vacation2026.png"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zhang.sendImage(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"李四"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"hi.jpg"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57750"/>
            <a:ext cx="5410200" cy="782955"/>
            <a:chOff x="533400" y="4857750"/>
            <a:chExt cx="5410200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85775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149215"/>
              <a:ext cx="200026" cy="200026"/>
              <a:chOff x="738188" y="514921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49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215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249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006340"/>
              <a:ext cx="4491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public 类各放一个同名 .java 文件，讲义为了对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照把它们排在一起。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2440305"/>
            <a:chOff x="6248400" y="1524000"/>
            <a:chExt cx="5410200" cy="244030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797" y="1935956"/>
              <a:ext cx="221907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普通会员 张三 发送文本：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[聊天室] 过滤敏感字符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张三 对 李四 说：* 语言作业写完了吗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钻石会员 李四 发送文本：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[聊天室] 过滤敏感字符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李四 对 张三 说：写完了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钻石会员 李四 发送图片：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李四 发给 张三 一张图片：hi.jpg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钻石会员 李四 发送图片：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[聊天室] 图片太大，发送失败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普通会员 张三 不能发送图片</a:t>
              </a:r>
            </a:p>
          </p:txBody>
        </p:sp>
      </p:grpSp>
      <p:grpSp>
        <p:nvGrpSpPr>
          <p:cNvPr id="27" name="c2-kv-2"/>
          <p:cNvGrpSpPr/>
          <p:nvPr/>
        </p:nvGrpSpPr>
        <p:grpSpPr>
          <a:xfrm>
            <a:off x="6240780" y="4179570"/>
            <a:ext cx="5417820" cy="733425"/>
            <a:chOff x="6240780" y="4179570"/>
            <a:chExt cx="5417820" cy="733425"/>
          </a:xfrm>
        </p:grpSpPr>
        <p:sp>
          <p:nvSpPr>
            <p:cNvPr id="22" name="TextBox 22"/>
            <p:cNvSpPr txBox="1"/>
            <p:nvPr/>
          </p:nvSpPr>
          <p:spPr>
            <a:xfrm>
              <a:off x="6240780" y="4179570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hi.jpg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9605" y="4179570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6，正常转发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44996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40780" y="4619625"/>
              <a:ext cx="1828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vacation2026.png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9605" y="46196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16，被中介者拦下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8" name="Rectangle 2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5991225"/>
              <a:ext cx="6584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最后一行没有经过聊天室：普通会员的 sendImage 在同事类里就返回了。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效果、适用环境与工程中的应用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它换来了什么，又付出了什么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过度集中化的代价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三种适用场合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386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 与 MVC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优点：三条都是从“把交互挪走”这一步来的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5682615" cy="2103405"/>
            <a:chOff x="525780" y="1548765"/>
            <a:chExt cx="5682615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源课件给出的三条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松散耦合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同事之间基本互不依赖，可以独立变化和复用，不再牵一发而动全身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92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34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060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集中控制交互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279987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交互行为要改，只改中介者；已上线的系统就扩展一个中介者子类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95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137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10896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多对多变成一对多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033" y="340280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中介者与同事之间是一对多，关系更容易理解和实现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3792855"/>
            <a:ext cx="5842635" cy="1621155"/>
            <a:chOff x="533400" y="3792855"/>
            <a:chExt cx="5842635" cy="1621155"/>
          </a:xfrm>
        </p:grpSpPr>
        <p:sp>
          <p:nvSpPr>
            <p:cNvPr id="24" name="Rectangle 24"/>
            <p:cNvSpPr/>
            <p:nvPr/>
          </p:nvSpPr>
          <p:spPr>
            <a:xfrm>
              <a:off x="533400" y="3792855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262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002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258" y="4038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2078" y="4037648"/>
              <a:ext cx="185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还提到的第四条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398645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中介者把原本分散在多个同事里的协作行为集中起来，想换一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套协作方式，生成 Mediator 的子类就行，同事类本身可以照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原样复用。</a:t>
              </a:r>
            </a:p>
          </p:txBody>
        </p:sp>
      </p:grpSp>
      <p:grpSp>
        <p:nvGrpSpPr>
          <p:cNvPr id="33" name="c2-image-1"/>
          <p:cNvGrpSpPr/>
          <p:nvPr/>
        </p:nvGrpSpPr>
        <p:grpSpPr>
          <a:xfrm>
            <a:off x="6680835" y="1524000"/>
            <a:ext cx="4977765" cy="2696052"/>
            <a:chOff x="6680835" y="1524000"/>
            <a:chExt cx="4977765" cy="2696052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18108" r="0" b="18108"/>
            <a:stretch>
              <a:fillRect/>
            </a:stretch>
          </p:blipFill>
          <p:spPr>
            <a:xfrm>
              <a:off x="6680835" y="1524000"/>
              <a:ext cx="4977765" cy="2381250"/>
            </a:xfrm>
            <a:prstGeom prst="roundRect">
              <a:avLst>
                <a:gd name="adj" fmla="val 5600"/>
              </a:avLst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6751612" y="4000024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路口的车不互相商量走法，都看中间那根信号灯杆，这就是集中控制交互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680835" y="4385310"/>
            <a:ext cx="4977765" cy="1028700"/>
            <a:chOff x="6680835" y="4385310"/>
            <a:chExt cx="4977765" cy="1028700"/>
          </a:xfrm>
        </p:grpSpPr>
        <p:sp>
          <p:nvSpPr>
            <p:cNvPr id="34" name="Rectangle 34"/>
            <p:cNvSpPr/>
            <p:nvPr/>
          </p:nvSpPr>
          <p:spPr>
            <a:xfrm>
              <a:off x="6680835" y="4385310"/>
              <a:ext cx="4977765" cy="1028700"/>
            </a:xfrm>
            <a:prstGeom prst="roundRect">
              <a:avLst>
                <a:gd name="adj" fmla="val 11111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85623" y="4799650"/>
              <a:ext cx="200023" cy="200023"/>
              <a:chOff x="6885623" y="479965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885623" y="479965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18973" y="48663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87565" y="4656772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三条优点其实是一条：交互从同事身上搬走以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后，改交互就不用动同事。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079052" cy="909257"/>
            <a:chOff x="520446" y="342900"/>
            <a:chExt cx="30790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483995"/>
            <a:chOff x="533400" y="1524000"/>
            <a:chExt cx="4977765" cy="1483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过度集中化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同事之间的交互非常多又比较复杂时，这些交互全都集中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到中介者，中介者对象会变得十分复杂，难于管理和维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护。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183255"/>
            <a:ext cx="4977765" cy="2509838"/>
            <a:chOff x="533400" y="3183255"/>
            <a:chExt cx="4977765" cy="2509838"/>
          </a:xfrm>
        </p:grpSpPr>
        <p:sp>
          <p:nvSpPr>
            <p:cNvPr id="14" name="Rectangle 14"/>
            <p:cNvSpPr/>
            <p:nvPr/>
          </p:nvSpPr>
          <p:spPr>
            <a:xfrm>
              <a:off x="533400" y="3183255"/>
              <a:ext cx="4977765" cy="2509838"/>
            </a:xfrm>
            <a:prstGeom prst="roundRect">
              <a:avLst>
                <a:gd name="adj" fmla="val 53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316605"/>
              <a:ext cx="47625" cy="22431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3756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1344" y="34099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80947" y="341566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中介者类难以复用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374904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中介者里写的是这一组同事的协作规则，换一个系统这些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规则基本用不上，所以中介者类通常是一次性的。</a:t>
              </a:r>
            </a:p>
          </p:txBody>
        </p:sp>
      </p:grpSp>
      <p:grpSp>
        <p:nvGrpSpPr>
          <p:cNvPr id="34" name="c2-bullets-1"/>
          <p:cNvGrpSpPr/>
          <p:nvPr/>
        </p:nvGrpSpPr>
        <p:grpSpPr>
          <a:xfrm>
            <a:off x="5809107" y="1545907"/>
            <a:ext cx="4367047" cy="1884522"/>
            <a:chOff x="5809107" y="1545907"/>
            <a:chExt cx="4367047" cy="1884522"/>
          </a:xfrm>
        </p:grpSpPr>
        <p:sp>
          <p:nvSpPr>
            <p:cNvPr id="21" name="TextBox 21"/>
            <p:cNvSpPr txBox="1"/>
            <p:nvPr/>
          </p:nvSpPr>
          <p:spPr>
            <a:xfrm>
              <a:off x="5809107" y="154590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什么时候该用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815965" y="18945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52947" y="186594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一组对象通信方式复杂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5980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44590" y="213026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相互依赖、结构混乱、不易理解，想把这些交互统一管起来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815965" y="24345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52947" y="240601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一个对象引用了很多对象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5980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44590" y="267033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并且直接和它们交互，导致这个对象难以复用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5815965" y="297465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8578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52947" y="294608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一个行为要多个对象参与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5980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44590" y="3210401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但又不愿意为此生成过多的子类，就把协作放进中介者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5815965" y="3561398"/>
            <a:ext cx="5842635" cy="729615"/>
            <a:chOff x="5815965" y="3561398"/>
            <a:chExt cx="5842635" cy="729615"/>
          </a:xfrm>
        </p:grpSpPr>
        <p:sp>
          <p:nvSpPr>
            <p:cNvPr id="35" name="Rectangle 35"/>
            <p:cNvSpPr/>
            <p:nvPr/>
          </p:nvSpPr>
          <p:spPr>
            <a:xfrm>
              <a:off x="5815965" y="3561398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008694" y="3822501"/>
              <a:ext cx="224134" cy="192560"/>
              <a:chOff x="6008694" y="3822501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120765" y="38928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008694" y="38225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120765" y="39706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323457" y="370713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中介者变成上帝对象时，说明该把它按业务拆成几个中介者，而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不是继续往里堆代码。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5815965" y="4466272"/>
            <a:ext cx="5842635" cy="1226820"/>
            <a:chOff x="5815965" y="4466272"/>
            <a:chExt cx="5842635" cy="1226820"/>
          </a:xfrm>
        </p:grpSpPr>
        <p:sp>
          <p:nvSpPr>
            <p:cNvPr id="42" name="Rectangle 42"/>
            <p:cNvSpPr/>
            <p:nvPr/>
          </p:nvSpPr>
          <p:spPr>
            <a:xfrm>
              <a:off x="5815965" y="4466272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25490" y="4599622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6470" y="465867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9909" y="4692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96862" y="46977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9612" y="503205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对象之间本来只有两三条固定联系时，引入中介者只是多加一个类，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调用链还变长了，跟踪问题反而更费劲。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这组交互本身的复杂度拆不掉，只能挪地方。中介者模式挪的是位置，不是总量。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81700" cy="909257"/>
            <a:chOff x="520446" y="342900"/>
            <a:chExt cx="45817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效果、适用环境与工程中的应用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817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工程里的中介者：GUI 与 MVC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中介者模式在事件驱动类软件里用得最多，界面组件之间的联动是它最常见的落点。</a:t>
              </a:r>
            </a:p>
          </p:txBody>
        </p:sp>
      </p:grpSp>
      <p:grpSp>
        <p:nvGrpSpPr>
          <p:cNvPr id="31" name="c1-flow-1"/>
          <p:cNvGrpSpPr/>
          <p:nvPr/>
        </p:nvGrpSpPr>
        <p:grpSpPr>
          <a:xfrm>
            <a:off x="789622" y="2165985"/>
            <a:ext cx="4681538" cy="1560767"/>
            <a:chOff x="789622" y="2165985"/>
            <a:chExt cx="4681538" cy="1560767"/>
          </a:xfrm>
        </p:grpSpPr>
        <p:sp>
          <p:nvSpPr>
            <p:cNvPr id="9" name="Freeform 9"/>
            <p:cNvSpPr/>
            <p:nvPr/>
          </p:nvSpPr>
          <p:spPr>
            <a:xfrm>
              <a:off x="2008822" y="2958465"/>
              <a:ext cx="359092" cy="9525"/>
            </a:xfrm>
            <a:custGeom>
              <a:avLst/>
              <a:gdLst/>
              <a:ahLst/>
              <a:cxnLst/>
              <a:rect l="l" t="t" r="r" b="b"/>
              <a:pathLst>
                <a:path w="359092" h="9525">
                  <a:moveTo>
                    <a:pt x="0" y="0"/>
                  </a:moveTo>
                  <a:lnTo>
                    <a:pt x="35909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67915" y="2906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87140" y="2958465"/>
              <a:ext cx="360045" cy="9525"/>
            </a:xfrm>
            <a:custGeom>
              <a:avLst/>
              <a:gdLst/>
              <a:ahLst/>
              <a:cxnLst/>
              <a:rect l="l" t="t" r="r" b="b"/>
              <a:pathLst>
                <a:path w="360045" h="9525">
                  <a:moveTo>
                    <a:pt x="0" y="0"/>
                  </a:moveTo>
                  <a:lnTo>
                    <a:pt x="3600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147185" y="29060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3272790"/>
              <a:ext cx="1731645" cy="438150"/>
            </a:xfrm>
            <a:custGeom>
              <a:avLst/>
              <a:gdLst/>
              <a:ahLst/>
              <a:cxnLst/>
              <a:rect l="l" t="t" r="r" b="b"/>
              <a:pathLst>
                <a:path w="1731645" h="438150">
                  <a:moveTo>
                    <a:pt x="1731645" y="0"/>
                  </a:moveTo>
                  <a:lnTo>
                    <a:pt x="1731645" y="209550"/>
                  </a:lnTo>
                  <a:lnTo>
                    <a:pt x="1731645" y="438150"/>
                  </a:lnTo>
                  <a:lnTo>
                    <a:pt x="0" y="43815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77528" y="3272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99222" y="2165985"/>
              <a:ext cx="1730693" cy="477202"/>
            </a:xfrm>
            <a:custGeom>
              <a:avLst/>
              <a:gdLst/>
              <a:ahLst/>
              <a:cxnLst/>
              <a:rect l="l" t="t" r="r" b="b"/>
              <a:pathLst>
                <a:path w="1730693" h="477202">
                  <a:moveTo>
                    <a:pt x="1730693" y="477202"/>
                  </a:moveTo>
                  <a:lnTo>
                    <a:pt x="1730693" y="267652"/>
                  </a:lnTo>
                  <a:lnTo>
                    <a:pt x="1730693" y="0"/>
                  </a:lnTo>
                  <a:lnTo>
                    <a:pt x="847725" y="0"/>
                  </a:lnTo>
                  <a:lnTo>
                    <a:pt x="0" y="0"/>
                  </a:lnTo>
                  <a:lnTo>
                    <a:pt x="0" y="267652"/>
                  </a:lnTo>
                  <a:lnTo>
                    <a:pt x="0" y="3724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346835" y="25384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9622" y="2643188"/>
              <a:ext cx="12192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472690" y="2643188"/>
              <a:ext cx="1314450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51960" y="2643188"/>
              <a:ext cx="12192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17994" y="2759869"/>
              <a:ext cx="36245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View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17038" y="275986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Controller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35627" y="2759869"/>
              <a:ext cx="45186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Model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926908" y="240220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53196" y="2428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用户请求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705225" y="240220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31514" y="2428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调用业务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681412" y="349472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707702" y="35213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返回数据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374582" y="219932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400872" y="222599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选择视图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4139565"/>
            <a:ext cx="5193982" cy="2053590"/>
            <a:chOff x="533400" y="4139565"/>
            <a:chExt cx="5193982" cy="2053590"/>
          </a:xfrm>
        </p:grpSpPr>
        <p:sp>
          <p:nvSpPr>
            <p:cNvPr id="32" name="Rectangle 32"/>
            <p:cNvSpPr/>
            <p:nvPr/>
          </p:nvSpPr>
          <p:spPr>
            <a:xfrm>
              <a:off x="533400" y="4139565"/>
              <a:ext cx="5193982" cy="2053590"/>
            </a:xfrm>
            <a:prstGeom prst="roundRect">
              <a:avLst>
                <a:gd name="adj" fmla="val 6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42950" y="43491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5259" y="43848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读这张图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27822" y="4384358"/>
              <a:ext cx="2663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View 与 Model 之间没有连线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5330" y="47453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视图不直接读模型，模型也不直接刷新视图，两边的来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往都从控制器过一道。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5330" y="53663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换一套视图只改控制器里选视图那一句，模型一行都不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用动。</a:t>
              </a:r>
            </a:p>
          </p:txBody>
        </p:sp>
      </p:grpSp>
      <p:grpSp>
        <p:nvGrpSpPr>
          <p:cNvPr id="52" name="c2-bullets-1"/>
          <p:cNvGrpSpPr/>
          <p:nvPr/>
        </p:nvGrpSpPr>
        <p:grpSpPr>
          <a:xfrm>
            <a:off x="6024562" y="1992630"/>
            <a:ext cx="4762510" cy="2103405"/>
            <a:chOff x="6024562" y="1992630"/>
            <a:chExt cx="4762510" cy="2103405"/>
          </a:xfrm>
        </p:grpSpPr>
        <p:sp>
          <p:nvSpPr>
            <p:cNvPr id="39" name="TextBox 39"/>
            <p:cNvSpPr txBox="1"/>
            <p:nvPr/>
          </p:nvSpPr>
          <p:spPr>
            <a:xfrm>
              <a:off x="6024562" y="19926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三处常见的用法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789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96012" y="2346960"/>
              <a:ext cx="1185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GUI 组件协调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0363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656" y="263985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一个组件的改变会影响相关组件，交给窗体这一级去协调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789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96012" y="2949892"/>
              <a:ext cx="1483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MVC 中的控制器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0363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7656" y="3242786"/>
              <a:ext cx="43994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Controller 作为中介者，控制 View 和 Model 之间的交互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037898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96012" y="3552825"/>
              <a:ext cx="1835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Struts 里的 Action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0363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87656" y="3846671"/>
              <a:ext cx="35900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Action 充当 JSP 页面与业务对象之间的中介者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032182" y="4235768"/>
            <a:ext cx="5626418" cy="1956435"/>
            <a:chOff x="6032182" y="4235768"/>
            <a:chExt cx="5626418" cy="1956435"/>
          </a:xfrm>
        </p:grpSpPr>
        <p:sp>
          <p:nvSpPr>
            <p:cNvPr id="53" name="Rectangle 53"/>
            <p:cNvSpPr/>
            <p:nvPr/>
          </p:nvSpPr>
          <p:spPr>
            <a:xfrm>
              <a:off x="6032182" y="4235768"/>
              <a:ext cx="562641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4369118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79832" y="444531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3289" y="44810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一个具体场景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49502" y="44805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下拉框一变，另外三个控件都得改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72212" y="484155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省份下拉框选了值，城市下拉框要重填，邮编要清空，提交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按钮要变灰。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2212" y="546258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让省份下拉框自己去改另外三个控件，四个控件就互相认识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了；交给所在窗体去做，四个控件谁也不认识谁。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与相关模式的分界，以及自测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最容易混的是外观模式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与外观模式的三处区别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与观察者、代理、命令的分界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最容易混的一组：中介者与外观模式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两个模式都在一堆类中间加了一个类，差别在于这个类站在什么位置、朝哪个方向工作。</a:t>
              </a:r>
            </a:p>
          </p:txBody>
        </p:sp>
      </p:grpSp>
      <p:grpSp>
        <p:nvGrpSpPr>
          <p:cNvPr id="39" name="c1-table-1"/>
          <p:cNvGrpSpPr/>
          <p:nvPr/>
        </p:nvGrpSpPr>
        <p:grpSpPr>
          <a:xfrm>
            <a:off x="533400" y="1954530"/>
            <a:ext cx="11125200" cy="2581275"/>
            <a:chOff x="533400" y="1954530"/>
            <a:chExt cx="11125200" cy="25812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6736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73524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中介者模式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104376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封装的是什么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63787" y="251555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多个平等同事对象之间的交互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13866" y="251555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一个子系统内部的多个模块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站在什么位置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63787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子系统内部，用在实现上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13866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子系统边界，对外提供入口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767965" y="3254692"/>
              <a:ext cx="44310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63787" y="337661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内部多个模块之间的多向交互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18045" y="3254692"/>
              <a:ext cx="443103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13866" y="3376612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单向：从子系统外部调进内部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3787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松散同事之间的耦合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3866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简化客户端的调用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8746" y="423672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被封装者知不知道它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63787" y="423672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同事持有中介者引用，知道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13866" y="423672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子系统类不知道外观的存在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1954530"/>
              <a:ext cx="11125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53678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203758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1-compare-2"/>
          <p:cNvGrpSpPr/>
          <p:nvPr/>
        </p:nvGrpSpPr>
        <p:grpSpPr>
          <a:xfrm>
            <a:off x="533400" y="4720590"/>
            <a:ext cx="11125200" cy="1642110"/>
            <a:chOff x="533400" y="4720590"/>
            <a:chExt cx="11125200" cy="1642110"/>
          </a:xfrm>
        </p:grpSpPr>
        <p:sp>
          <p:nvSpPr>
            <p:cNvPr id="40" name="Rectangle 40"/>
            <p:cNvSpPr/>
            <p:nvPr/>
          </p:nvSpPr>
          <p:spPr>
            <a:xfrm>
              <a:off x="533400" y="4720590"/>
              <a:ext cx="535305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42925" y="485394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8096" y="494776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看见这种描述就是中介者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2955" y="534638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39546" y="528685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一组对象互相通信、关系成网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2955" y="566642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39546" y="56068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想统一管理它们之间的交互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2955" y="59864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9546" y="592693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协作规则以后还要改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05550" y="4720590"/>
              <a:ext cx="5353050" cy="1642110"/>
            </a:xfrm>
            <a:prstGeom prst="roundRect">
              <a:avLst>
                <a:gd name="adj" fmla="val 8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15075" y="4853940"/>
              <a:ext cx="47625" cy="13754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40246" y="494776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看见这种描述就是外观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55105" y="534638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11696" y="528685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一个子系统内部模块太多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55105" y="566642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1696" y="56068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外部调用它要写一长串步骤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55105" y="598646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11696" y="592693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只想给外面一个简单入口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934075" y="53797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04415" y="54759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与其他几个模式的分界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492240" cy="3826192"/>
            <a:chOff x="533400" y="1524000"/>
            <a:chExt cx="6492240" cy="3826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32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791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它封装什么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53038" y="16597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和中介者的分界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外观（第 24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8593" y="22217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子系统对外的入口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06456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单向调用，子系统不知道外观存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897029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观察者（第 36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8593" y="289702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一对多的状态通知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6456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中介者常用它实现同事与中介者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的通信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72351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代理（第 26 讲）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58593" y="357235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一个对象的替身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06456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代理接口与被代理者相同，是一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247674"/>
              <a:ext cx="135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命令（第 31 讲）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58593" y="42476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一次请求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06456" y="4134326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中介者封装的是一组对象之间的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701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923949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职责链（第 30 讲）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58593" y="492394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请求沿链传递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06456" y="481060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链上节点彼此相连，中介者是星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形集中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492240" cy="382619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46008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93870" y="1524000"/>
              <a:ext cx="9525" cy="382619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1"/>
          <p:cNvGrpSpPr/>
          <p:nvPr/>
        </p:nvGrpSpPr>
        <p:grpSpPr>
          <a:xfrm>
            <a:off x="7330440" y="1524000"/>
            <a:ext cx="4328160" cy="2242185"/>
            <a:chOff x="7330440" y="1524000"/>
            <a:chExt cx="4328160" cy="2242185"/>
          </a:xfrm>
        </p:grpSpPr>
        <p:sp>
          <p:nvSpPr>
            <p:cNvPr id="36" name="Rectangle 36"/>
            <p:cNvSpPr/>
            <p:nvPr/>
          </p:nvSpPr>
          <p:spPr>
            <a:xfrm>
              <a:off x="7330440" y="1524000"/>
              <a:ext cx="4328160" cy="2242185"/>
            </a:xfrm>
            <a:prstGeom prst="roundRect">
              <a:avLst>
                <a:gd name="adj" fmla="val 594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53999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344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最常考的一处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09660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中介者与观察者不是对立的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2370" y="212979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同事怎么把变化告诉中介者，有两种做法：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直接调用中介者的方法；或者让中介者当观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察者，订阅同事的状态变化。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2370" y="30365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第二种做法里两个模式同时出现，中介者负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责协调，观察者负责通知。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7330440" y="3956685"/>
            <a:ext cx="4328160" cy="1393508"/>
            <a:chOff x="7330440" y="3956685"/>
            <a:chExt cx="4328160" cy="1393508"/>
          </a:xfrm>
        </p:grpSpPr>
        <p:sp>
          <p:nvSpPr>
            <p:cNvPr id="43" name="Rectangle 43"/>
            <p:cNvSpPr/>
            <p:nvPr/>
          </p:nvSpPr>
          <p:spPr>
            <a:xfrm>
              <a:off x="7330440" y="3956685"/>
              <a:ext cx="4328160" cy="1393508"/>
            </a:xfrm>
            <a:prstGeom prst="roundRect">
              <a:avLst>
                <a:gd name="adj" fmla="val 820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535228" y="4553903"/>
              <a:ext cx="200026" cy="200025"/>
              <a:chOff x="7535228" y="455390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535228" y="45539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574966" y="45983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609682" y="47094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837170" y="4411028"/>
              <a:ext cx="3444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判断口诀：一对一看代理，一对多看观察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者，多对多看中介者。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 · 与相关模式的分界，以及自测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模式本质：封装交互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956435"/>
            <a:chOff x="533400" y="1524000"/>
            <a:chExt cx="4977765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中介者模式就是封装交互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它用来封装多个对象之间的交互，这些交互的处理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大多写在中介者对象里面。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7508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所以中介者对象的复杂程度，取决于它封装的交互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的复杂程度。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670935"/>
            <a:ext cx="4977765" cy="2240280"/>
            <a:chOff x="533400" y="3670935"/>
            <a:chExt cx="4977765" cy="2240280"/>
          </a:xfrm>
        </p:grpSpPr>
        <p:sp>
          <p:nvSpPr>
            <p:cNvPr id="14" name="Rectangle 14"/>
            <p:cNvSpPr/>
            <p:nvPr/>
          </p:nvSpPr>
          <p:spPr>
            <a:xfrm>
              <a:off x="533400" y="3670935"/>
              <a:ext cx="4977765" cy="2240280"/>
            </a:xfrm>
            <a:prstGeom prst="roundRect">
              <a:avLst>
                <a:gd name="adj" fmla="val 59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804285"/>
              <a:ext cx="47625" cy="19735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804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3359" y="39162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反过来用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5922" y="391572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拿这句话做设计检查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27672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中介者写得又臭又长时，先看是不是把本该属于某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个同事自己的业务也搬了进来。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48977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交互属于中介者，业务属于同事。这条界线一模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糊，中介者就开始膨胀。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5815965" y="1524000"/>
            <a:ext cx="5842635" cy="1335405"/>
            <a:chOff x="5815965" y="1524000"/>
            <a:chExt cx="5842635" cy="1335405"/>
          </a:xfrm>
        </p:grpSpPr>
        <p:sp>
          <p:nvSpPr>
            <p:cNvPr id="22" name="Rectangle 22"/>
            <p:cNvSpPr/>
            <p:nvPr/>
          </p:nvSpPr>
          <p:spPr>
            <a:xfrm>
              <a:off x="5815965" y="152400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25490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63615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49873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6565" y="176879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把同事的自身方法也搬进中介者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5995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中介者只管同事之间怎么配合。同事自己能独立完成的事留在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同事类里，否则同事会退化成只有数据的壳。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5815965" y="3049905"/>
            <a:ext cx="5842635" cy="1335405"/>
            <a:chOff x="5815965" y="3049905"/>
            <a:chExt cx="5842635" cy="1335405"/>
          </a:xfrm>
        </p:grpSpPr>
        <p:sp>
          <p:nvSpPr>
            <p:cNvPr id="29" name="Rectangle 29"/>
            <p:cNvSpPr/>
            <p:nvPr/>
          </p:nvSpPr>
          <p:spPr>
            <a:xfrm>
              <a:off x="5815965" y="3049905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25490" y="3183255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63615" y="32594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49873" y="32951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06565" y="329469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同事类里写具体中介者类型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5995" y="365569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关联线要连到抽象中介者。写成具体类型，换一个协作方案就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得改所有同事类。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5815965" y="4575810"/>
            <a:ext cx="5842635" cy="1335405"/>
            <a:chOff x="5815965" y="4575810"/>
            <a:chExt cx="5842635" cy="1335405"/>
          </a:xfrm>
        </p:grpSpPr>
        <p:sp>
          <p:nvSpPr>
            <p:cNvPr id="36" name="Rectangle 36"/>
            <p:cNvSpPr/>
            <p:nvPr/>
          </p:nvSpPr>
          <p:spPr>
            <a:xfrm>
              <a:off x="5815965" y="457581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25490" y="470916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63615" y="478536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49873" y="48210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易错三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06565" y="482060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以为中介者一定要有抽象层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55995" y="518160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系统里中介者只有一种实现时，可以省掉抽象中介者。类图里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画不画抽象层，看同事要不要换中介者。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用一个中介对象封装一系列的对象交互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四个角色分别是什么？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抽象中介者、具体中介者、抽象同事、具体同事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中介者承担哪两方面职责？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中转（结构性）与协调（行为性）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它的别名和分类是什么？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调停者模式；对象行为型模式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同事类里为什么不写别的同事？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交互交给中介者，同事之间不互相引用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它是哪条设计原则的典型应用？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迪米特法则，见第 02 讲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答不上来的题，回到对应正文页把那张类图或那段代码再读一遍。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自身方法和依赖方法差在哪？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自身方法处理自己的事，依赖方法转调中介者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中介者模式最大的缺点是什么？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过度集中化，中介者变胖且难以复用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聊天室实例里谁是具体中介者？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468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ChatGroup，存会员并负责过滤和限制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个同事两两直连有多少条联系？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n(n−1)/2 条，改用中介者后是 n 条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和外观模式的头一处区别是什么？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外观单向对外，中介者是内部多向交互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中介者与同事之间怎么关联？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双向：同事持中介者，中介者持同事集合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判题题眼：一组对象之间通信复杂成网，而且这些协作规则以后还要单独改。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34 中介者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7354995" cy="1520380"/>
            <a:chOff x="533400" y="1534478"/>
            <a:chExt cx="7354995" cy="15203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同事两两直连的联系数是 n(n−1)/2，引入中介者以后降到 n 条，网状结构变成星形结构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定义：用一个中介对象封装一系列的对象交互，使各对象不必显式相互引用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6298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四个角色：Mediator、ConcreteMediator、Colleague、ConcreteColleague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中介者有中转和协调两项职责；同事类里的方法分自身方法和依赖方法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优点是解耦与集中控制，代价是中介者自己变胖、难以复用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199448"/>
            <a:ext cx="11132058" cy="662177"/>
            <a:chOff x="526542" y="3199448"/>
            <a:chExt cx="11132058" cy="662177"/>
          </a:xfrm>
        </p:grpSpPr>
        <p:sp>
          <p:nvSpPr>
            <p:cNvPr id="23" name="TextBox 23"/>
            <p:cNvSpPr txBox="1"/>
            <p:nvPr/>
          </p:nvSpPr>
          <p:spPr>
            <a:xfrm>
              <a:off x="526542" y="31994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实例落点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8567" y="3199448"/>
              <a:ext cx="6493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虚拟聊天室：过滤和大小限制写在 ChatGroup，会员等级写在两个 Member 子类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880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3597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四个近邻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8567" y="3597592"/>
              <a:ext cx="6519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外观（第 24 讲）、观察者（第 36 讲）、代理（第 26 讲）、职责链（第 30 讲）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3983355"/>
            <a:ext cx="11125200" cy="1719262"/>
            <a:chOff x="533400" y="3983355"/>
            <a:chExt cx="11125200" cy="1719262"/>
          </a:xfrm>
        </p:grpSpPr>
        <p:sp>
          <p:nvSpPr>
            <p:cNvPr id="29" name="Rectangle 29"/>
            <p:cNvSpPr/>
            <p:nvPr/>
          </p:nvSpPr>
          <p:spPr>
            <a:xfrm>
              <a:off x="533400" y="3983355"/>
              <a:ext cx="11125200" cy="1719262"/>
            </a:xfrm>
            <a:prstGeom prst="roundRect">
              <a:avLst>
                <a:gd name="adj" fmla="val 77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6705"/>
              <a:ext cx="47625" cy="14525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1757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7344" y="4210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14297" y="421576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3905" y="453771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9583" y="45760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702" y="4549140"/>
              <a:ext cx="8972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14 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protected ArrayList&lt;Colleague&gt; colleagues;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只声明未初始化，register() 一调用就空指针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3905" y="4839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9583" y="4878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4702" y="4852035"/>
              <a:ext cx="9479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15 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((Colleague)(colleagues.get(0))).method1()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在泛型集合上做强制转换，是 JDK 1.4 的遗留写法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3905" y="514254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9583" y="51809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4702" y="5154930"/>
              <a:ext cx="877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19 页实例类图把 Member 的构造函数写成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ChatMember(String name)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，与类名对不上，编译不过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本质是封装交互。中介者有多复杂，取决于它封装的那组交互有多复杂。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中介者模式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4">
  <a:themeElements>
    <a:clrScheme name="sdp_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2026-09-19T09:16:56Z</dcterms:created>
  <dcterms:modified xsi:type="dcterms:W3CDTF">2026-09-19T09:16:56Z</dcterms:modified>
  <cp:category/>
  <cp:contentStatus/>
</cp:coreProperties>
</file>