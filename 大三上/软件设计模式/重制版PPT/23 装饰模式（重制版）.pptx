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2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2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456c44125dc8433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1999cbe04244865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772c70652f48cb0.png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第十四讲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在不改原有类的前提下，运行时一层层加功能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双重关系的类图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多层包装与调用顺序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透明式与半透明式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04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java.io 的流包装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给已有对象加功能，单用继承或单用组合各差一口气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装饰器同时继承抽象构件并持有抽象构件，两条关系缺一不可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559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Component、ConcreteComponent、Decorator、ConcreteDecorator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068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骨架、多层包装的运行时对象链、调用顺序推演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变形金刚、多重加密、吃饭睡觉的狗、给图形加边框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5242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透明式与半透明式、两种简化写法、java.io、与四个近邻模式的分界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421505"/>
            <a:chOff x="7114222" y="1524000"/>
            <a:chExt cx="4544378" cy="442150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21505"/>
            </a:xfrm>
            <a:prstGeom prst="roundRect">
              <a:avLst>
                <a:gd name="adj" fmla="val 3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5480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说清装饰器为什么必须既继承抽象构件又持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有抽象构件，去掉任一条会坏在哪里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画出标准类图，空心三角从子类指向父类或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接口，空心菱形在装饰器一端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写全四个角色，并给出前置装饰、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后置装饰和完全替换三种写法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给定一串嵌套的 new 表达式，写出调用与返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回的完整顺序和输出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判断一段包装代码是透明式还是半透明式，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说出半透明式在多层包装后失效的原因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7588" y="527875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5702" y="52158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说出装饰与适配器、代理、组合、策略的分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界，并在 java.io 里指认各个角色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4247197"/>
            <a:chOff x="667512" y="1835468"/>
            <a:chExt cx="6437376" cy="42471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动机：给一个已经能用的对象加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先看单用组合和单用继承各自卡在哪里，装饰模式是把两者拼起来的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78345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7263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装修与相框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513778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508063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只用组合丢了亲缘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49211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4349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只用继承子类爆炸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84644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7892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两条路合起来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动机：给一个已经能用的对象加功能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生活里的加法：不动原件，外面再包一层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654538" cy="541592"/>
            <a:chOff x="526161" y="1547336"/>
            <a:chExt cx="10654538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6545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毛坯房能住，装修之后还是那间房，只是多了好看和实用；纸板照片能看，套上相框之后还是那张照片，只是多了防潮和耐久。软件里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给对象加功能，也有这种做法。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2204085"/>
            <a:ext cx="4760595" cy="2361819"/>
            <a:chOff x="533400" y="2204085"/>
            <a:chExt cx="4760595" cy="2361819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1108" r="0" b="21109"/>
            <a:stretch>
              <a:fillRect/>
            </a:stretch>
          </p:blipFill>
          <p:spPr>
            <a:xfrm>
              <a:off x="533400" y="2204085"/>
              <a:ext cx="4760595" cy="2063115"/>
            </a:xfrm>
            <a:prstGeom prst="roundRect">
              <a:avLst>
                <a:gd name="adj" fmla="val 6463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141476" y="4360545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衬衫外面套毛衣，毛衣外面套外套，里面那个人一直没变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718685"/>
            <a:ext cx="4760595" cy="1319212"/>
            <a:chOff x="533400" y="4718685"/>
            <a:chExt cx="4760595" cy="1319212"/>
          </a:xfrm>
        </p:grpSpPr>
        <p:sp>
          <p:nvSpPr>
            <p:cNvPr id="12" name="Rectangle 12"/>
            <p:cNvSpPr/>
            <p:nvPr/>
          </p:nvSpPr>
          <p:spPr>
            <a:xfrm>
              <a:off x="533400" y="4718685"/>
              <a:ext cx="4760595" cy="1319212"/>
            </a:xfrm>
            <a:prstGeom prst="roundRect">
              <a:avLst>
                <a:gd name="adj" fmla="val 86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277803"/>
              <a:ext cx="200026" cy="200025"/>
              <a:chOff x="738188" y="5277803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2778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3222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4333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5159692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相框还可以在小相框外面再套一个大相框，这一点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后面会反复用到。</a:t>
              </a:r>
            </a:p>
          </p:txBody>
        </p:sp>
      </p:grpSp>
      <p:grpSp>
        <p:nvGrpSpPr>
          <p:cNvPr id="24" name="c2-kv-1"/>
          <p:cNvGrpSpPr/>
          <p:nvPr/>
        </p:nvGrpSpPr>
        <p:grpSpPr>
          <a:xfrm>
            <a:off x="5591937" y="2225992"/>
            <a:ext cx="6066663" cy="1422273"/>
            <a:chOff x="5591937" y="2225992"/>
            <a:chExt cx="6066663" cy="1422273"/>
          </a:xfrm>
        </p:grpSpPr>
        <p:sp>
          <p:nvSpPr>
            <p:cNvPr id="19" name="TextBox 19"/>
            <p:cNvSpPr txBox="1"/>
            <p:nvPr/>
          </p:nvSpPr>
          <p:spPr>
            <a:xfrm>
              <a:off x="5591937" y="22259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继承机制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3962" y="2225992"/>
              <a:ext cx="48143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写一个子类，在子类里补上新方法或重写老方法。子类同时拥有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父类的方法和自己的方法，是给现有类加功能的一条有效途径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98795" y="27689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91937" y="28775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关联机制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53962" y="2877502"/>
              <a:ext cx="48143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把一个类的对象嵌进另一个对象里，由外面这个对象调用嵌入对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象的行为，同时扩展它。外面这个对象就叫装饰器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（Decorator）</a:t>
              </a:r>
            </a:p>
          </p:txBody>
        </p:sp>
      </p:grpSp>
      <p:grpSp>
        <p:nvGrpSpPr>
          <p:cNvPr id="30" name="c2-bullets-2"/>
          <p:cNvGrpSpPr/>
          <p:nvPr/>
        </p:nvGrpSpPr>
        <p:grpSpPr>
          <a:xfrm>
            <a:off x="5591937" y="3793808"/>
            <a:ext cx="5702046" cy="894587"/>
            <a:chOff x="5591937" y="3793808"/>
            <a:chExt cx="5702046" cy="894587"/>
          </a:xfrm>
        </p:grpSpPr>
        <p:sp>
          <p:nvSpPr>
            <p:cNvPr id="25" name="TextBox 25"/>
            <p:cNvSpPr txBox="1"/>
            <p:nvPr/>
          </p:nvSpPr>
          <p:spPr>
            <a:xfrm>
              <a:off x="5591937" y="379380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继承这条路的两处短板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598795" y="4146232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28157" y="411384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组合关系在编译期就写死了，用户控制不了加功能的方式和时机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598795" y="445674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28157" y="442436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一旦继承，所有子类都带上同一套功能，想要不同的搭配只能再派生</a:t>
              </a:r>
            </a:p>
          </p:txBody>
        </p:sp>
      </p:grpSp>
      <p:grpSp>
        <p:nvGrpSpPr>
          <p:cNvPr id="36" name="c2-card-3"/>
          <p:cNvGrpSpPr/>
          <p:nvPr/>
        </p:nvGrpSpPr>
        <p:grpSpPr>
          <a:xfrm>
            <a:off x="5598795" y="4811078"/>
            <a:ext cx="6059805" cy="1226820"/>
            <a:chOff x="5598795" y="4811078"/>
            <a:chExt cx="6059805" cy="1226820"/>
          </a:xfrm>
        </p:grpSpPr>
        <p:sp>
          <p:nvSpPr>
            <p:cNvPr id="31" name="Rectangle 31"/>
            <p:cNvSpPr/>
            <p:nvPr/>
          </p:nvSpPr>
          <p:spPr>
            <a:xfrm>
              <a:off x="5598795" y="4811078"/>
              <a:ext cx="6059805" cy="1226820"/>
            </a:xfrm>
            <a:prstGeom prst="roundRect">
              <a:avLst>
                <a:gd name="adj" fmla="val 1087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91200" y="500253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74639" y="503777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本讲主线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41592" y="504253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用关联关系取代继承关系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84342" y="5376862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装饰器里既能调用原有类的方法，也能加上新的方法。它用一种无须定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义子类的方式给对象动态增加职责，正好落在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合成复用原则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上。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动机：给一个已经能用的对象加功能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第一条老路：只用组合，包完就不是同一个类型了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880408" cy="293370"/>
            <a:chOff x="525780" y="1548765"/>
            <a:chExt cx="1088040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880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想给 Dog 的 eat() 加点动作。第一种做法是写一个 NewDog，把原来的 Dog 对象放进去，方法里先转调再补自己的动作。</a:t>
              </a:r>
            </a:p>
          </p:txBody>
        </p:sp>
      </p:grpSp>
      <p:grpSp>
        <p:nvGrpSpPr>
          <p:cNvPr id="42" name="c1-uml-1"/>
          <p:cNvGrpSpPr/>
          <p:nvPr/>
        </p:nvGrpSpPr>
        <p:grpSpPr>
          <a:xfrm>
            <a:off x="638175" y="2124075"/>
            <a:ext cx="5200650" cy="1922145"/>
            <a:chOff x="638175" y="2124075"/>
            <a:chExt cx="5200650" cy="1922145"/>
          </a:xfrm>
        </p:grpSpPr>
        <p:sp>
          <p:nvSpPr>
            <p:cNvPr id="9" name="Freeform 9"/>
            <p:cNvSpPr/>
            <p:nvPr/>
          </p:nvSpPr>
          <p:spPr>
            <a:xfrm>
              <a:off x="1209675" y="3000375"/>
              <a:ext cx="1352550" cy="214312"/>
            </a:xfrm>
            <a:custGeom>
              <a:avLst/>
              <a:gdLst/>
              <a:ahLst/>
              <a:cxnLst/>
              <a:rect l="l" t="t" r="r" b="b"/>
              <a:pathLst>
                <a:path w="1352550" h="214312">
                  <a:moveTo>
                    <a:pt x="0" y="214312"/>
                  </a:moveTo>
                  <a:lnTo>
                    <a:pt x="0" y="44767"/>
                  </a:lnTo>
                  <a:lnTo>
                    <a:pt x="1352550" y="44767"/>
                  </a:lnTo>
                  <a:lnTo>
                    <a:pt x="13525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88882" y="28746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562225" y="3000375"/>
              <a:ext cx="1352550" cy="214312"/>
            </a:xfrm>
            <a:custGeom>
              <a:avLst/>
              <a:gdLst/>
              <a:ahLst/>
              <a:cxnLst/>
              <a:rect l="l" t="t" r="r" b="b"/>
              <a:pathLst>
                <a:path w="1352550" h="214312">
                  <a:moveTo>
                    <a:pt x="1352550" y="214312"/>
                  </a:moveTo>
                  <a:lnTo>
                    <a:pt x="1352550" y="44767"/>
                  </a:lnTo>
                  <a:lnTo>
                    <a:pt x="0" y="4476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88882" y="28746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486275" y="358997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86275" y="3531870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209550" y="58102"/>
                  </a:moveTo>
                  <a:lnTo>
                    <a:pt x="104775" y="115252"/>
                  </a:lnTo>
                  <a:lnTo>
                    <a:pt x="0" y="5810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90725" y="2124075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998345" y="2131695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90725" y="23545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90725" y="24498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8175" y="3214688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" y="322135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8175" y="34451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38175" y="35404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43275" y="3214688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50895" y="322135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43275" y="34451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43275" y="35404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95825" y="3133725"/>
              <a:ext cx="114300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703445" y="314039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95825" y="33642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95825" y="36214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347526" y="2179796"/>
              <a:ext cx="429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Animal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62162" y="2519362"/>
              <a:ext cx="51816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sleep()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9607" y="3270409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Tiger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612" y="3609975"/>
              <a:ext cx="51816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sleep()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93383" y="3270409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14712" y="3609975"/>
              <a:ext cx="51816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sleep()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15381" y="3189446"/>
              <a:ext cx="5038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NewDog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67262" y="3433762"/>
              <a:ext cx="7297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aDog : Dog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67262" y="3690938"/>
              <a:ext cx="51816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sleep()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396740" y="3373755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28030" y="3400425"/>
              <a:ext cx="326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aDog</a:t>
              </a:r>
            </a:p>
          </p:txBody>
        </p:sp>
      </p:grpSp>
      <p:grpSp>
        <p:nvGrpSpPr>
          <p:cNvPr id="49" name="c1-callout-2"/>
          <p:cNvGrpSpPr/>
          <p:nvPr/>
        </p:nvGrpSpPr>
        <p:grpSpPr>
          <a:xfrm>
            <a:off x="533400" y="4320540"/>
            <a:ext cx="5410200" cy="1806892"/>
            <a:chOff x="533400" y="4320540"/>
            <a:chExt cx="5410200" cy="1806892"/>
          </a:xfrm>
        </p:grpSpPr>
        <p:sp>
          <p:nvSpPr>
            <p:cNvPr id="43" name="Rectangle 43"/>
            <p:cNvSpPr/>
            <p:nvPr/>
          </p:nvSpPr>
          <p:spPr>
            <a:xfrm>
              <a:off x="533400" y="4320540"/>
              <a:ext cx="5410200" cy="1806892"/>
            </a:xfrm>
            <a:prstGeom prst="roundRect">
              <a:avLst>
                <a:gd name="adj" fmla="val 632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5119806"/>
              <a:ext cx="224134" cy="192560"/>
              <a:chOff x="726129" y="5119806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51901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51198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52679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4993481"/>
              <a:ext cx="423443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NewDog 和 Animal 之间一条线都没有，这正是问题所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在。</a:t>
              </a:r>
            </a:p>
          </p:txBody>
        </p:sp>
      </p:grpSp>
      <p:grpSp>
        <p:nvGrpSpPr>
          <p:cNvPr id="53" name="c2-code-1"/>
          <p:cNvGrpSpPr/>
          <p:nvPr/>
        </p:nvGrpSpPr>
        <p:grpSpPr>
          <a:xfrm>
            <a:off x="6248400" y="1954530"/>
            <a:ext cx="5410200" cy="2530792"/>
            <a:chOff x="6248400" y="1954530"/>
            <a:chExt cx="5410200" cy="2530792"/>
          </a:xfrm>
        </p:grpSpPr>
        <p:sp>
          <p:nvSpPr>
            <p:cNvPr id="50" name="Rectangle 50"/>
            <p:cNvSpPr/>
            <p:nvPr/>
          </p:nvSpPr>
          <p:spPr>
            <a:xfrm>
              <a:off x="6248400" y="1954530"/>
              <a:ext cx="541020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76797" y="2106454"/>
              <a:ext cx="1337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NewDog 靠转调加功能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76035" y="2368391"/>
              <a:ext cx="3844798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NewDog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aDog;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NewDog(Dog aDog)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.aDog = aDog;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aDog.eat();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转调原有实现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myAddedFunc();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补上新动作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9" name="c2-bullets-2"/>
          <p:cNvGrpSpPr/>
          <p:nvPr/>
        </p:nvGrpSpPr>
        <p:grpSpPr>
          <a:xfrm>
            <a:off x="6241161" y="4694396"/>
            <a:ext cx="5125593" cy="1489329"/>
            <a:chOff x="6241161" y="4694396"/>
            <a:chExt cx="5125593" cy="1489329"/>
          </a:xfrm>
        </p:grpSpPr>
        <p:sp>
          <p:nvSpPr>
            <p:cNvPr id="54" name="TextBox 54"/>
            <p:cNvSpPr txBox="1"/>
            <p:nvPr/>
          </p:nvSpPr>
          <p:spPr>
            <a:xfrm>
              <a:off x="6241161" y="469439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两处硬伤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6248400" y="506730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83096" y="5032534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NewDog 与 Animal 不再有父子关系，就算它组合了 Animal 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一样，原来收 Animal 的方法收不了它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248400" y="5667375"/>
              <a:ext cx="108585" cy="109538"/>
            </a:xfrm>
            <a:custGeom>
              <a:avLst/>
              <a:gdLst/>
              <a:ahLst/>
              <a:cxnLst/>
              <a:rect l="l" t="t" r="r" b="b"/>
              <a:pathLst>
                <a:path w="108585" h="109538">
                  <a:moveTo>
                    <a:pt x="0" y="0"/>
                  </a:moveTo>
                  <a:lnTo>
                    <a:pt x="108585" y="109538"/>
                  </a:lnTo>
                  <a:moveTo>
                    <a:pt x="108585" y="0"/>
                  </a:moveTo>
                  <a:lnTo>
                    <a:pt x="0" y="109538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83096" y="5633561"/>
              <a:ext cx="482053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客户端凡是声明成 Animal 或 Dog 的地方都要改成 NewDog，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改动扩散出去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动机：给一个已经能用的对象加功能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第二条老路：只用继承，子类个数按组合数翻番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039954" cy="278702"/>
            <a:chOff x="526161" y="1547336"/>
            <a:chExt cx="903995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039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第二种做法是让 NewDog 继承 Dog，在子类里重写 eat()。类型问题解决了，但扩展一多，子类就收不住。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085398" cy="1829752"/>
            <a:chOff x="533400" y="1941195"/>
            <a:chExt cx="5085398" cy="182975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085398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085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NewDog 继承 Dog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3391091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NewDog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.eat();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调父类实现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myAddedFunc();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bullets-2"/>
          <p:cNvGrpSpPr/>
          <p:nvPr/>
        </p:nvGrpSpPr>
        <p:grpSpPr>
          <a:xfrm>
            <a:off x="526542" y="3968115"/>
            <a:ext cx="4887658" cy="1721358"/>
            <a:chOff x="526542" y="3968115"/>
            <a:chExt cx="4887658" cy="1721358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39681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三条不足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432054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762" y="4288155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eat 和 sleep 同时要扩展、还允许自由搭配时，子类数量成倍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4889182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762" y="4856798"/>
              <a:ext cx="4342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只能改单个类，这里改的是 Dog，Tiger 一点也没沾到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520065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762" y="5168265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想让全部动物都在原有 eat 之后加一次喝水，没有统一的地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方可写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918264" y="1941195"/>
            <a:ext cx="5740336" cy="2309432"/>
            <a:chOff x="5918264" y="1941195"/>
            <a:chExt cx="5740336" cy="2309432"/>
          </a:xfrm>
        </p:grpSpPr>
        <p:sp>
          <p:nvSpPr>
            <p:cNvPr id="21" name="Rectangle 21"/>
            <p:cNvSpPr/>
            <p:nvPr/>
          </p:nvSpPr>
          <p:spPr>
            <a:xfrm>
              <a:off x="5923598" y="1941195"/>
              <a:ext cx="5735002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6148" y="2065496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可选扩展数 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56880" y="20654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继承方案要写的子类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67760" y="20654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装饰方案要写的类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23610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8580" y="247126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1 = 2 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4558" y="247126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+ 1 = 3 个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923598" y="274796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923598" y="2752725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23610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8580" y="287702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3 = 6 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94558" y="287702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+ 2 = 4 个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923598" y="315372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23610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88580" y="3282791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7 = 14 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94558" y="328279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+ 3 = 5 个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923598" y="355949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23598" y="3564255"/>
              <a:ext cx="573500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23610" y="3688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98092" y="3573780"/>
              <a:ext cx="208692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88580" y="3688556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15 = 30 个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704070" y="3573780"/>
              <a:ext cx="194500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94558" y="36885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+ 4 = 6 个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923598" y="1941195"/>
              <a:ext cx="573500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83805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8978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8264" y="4045268"/>
              <a:ext cx="3227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具体构件 n = 2（Dog、Tiger），两个抽象类未计入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923598" y="4384358"/>
            <a:ext cx="5735002" cy="1954530"/>
            <a:chOff x="5923598" y="4384358"/>
            <a:chExt cx="5735002" cy="1954530"/>
          </a:xfrm>
        </p:grpSpPr>
        <p:sp>
          <p:nvSpPr>
            <p:cNvPr id="49" name="Rectangle 49"/>
            <p:cNvSpPr/>
            <p:nvPr/>
          </p:nvSpPr>
          <p:spPr>
            <a:xfrm>
              <a:off x="5923598" y="4384358"/>
              <a:ext cx="5735002" cy="1954530"/>
            </a:xfrm>
            <a:prstGeom prst="roundRect">
              <a:avLst>
                <a:gd name="adj" fmla="val 6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933122" y="4517708"/>
              <a:ext cx="47625" cy="16878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154102" y="457676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25540" y="46110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这张表怎么算的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04544" y="461581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一边是指数，一边是加法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47244" y="4950142"/>
              <a:ext cx="50200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个类各要支持 k 处可选扩展，扩展之间可以任意搭配，继承方案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的子类数是 n × (2ᵏ − 1)；装饰方案只要 n 个具体构件加 k 个装饰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类，是 n + k。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48388" y="5763101"/>
              <a:ext cx="50040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4 时前者 30 个后者 6 个，而且装饰方案的 16 种搭配是运行时拼出来的，一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个也不用提前写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动机：给一个已经能用的对象加功能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两条路合起来：继承接口，持有实例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341589" cy="264033"/>
            <a:chOff x="526542" y="1545907"/>
            <a:chExt cx="113415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341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装饰器同时做两件事：继承抽象构件，所以装饰之后仍然是一个 Animal；持有一个抽象构件对象，所以能先把活转给它，再补上自己的动作。</a:t>
              </a:r>
            </a:p>
          </p:txBody>
        </p:sp>
      </p:grpSp>
      <p:grpSp>
        <p:nvGrpSpPr>
          <p:cNvPr id="52" name="c1-uml-1"/>
          <p:cNvGrpSpPr/>
          <p:nvPr/>
        </p:nvGrpSpPr>
        <p:grpSpPr>
          <a:xfrm>
            <a:off x="1352550" y="2067878"/>
            <a:ext cx="10083165" cy="2671762"/>
            <a:chOff x="1352550" y="2067878"/>
            <a:chExt cx="10083165" cy="2671762"/>
          </a:xfrm>
        </p:grpSpPr>
        <p:sp>
          <p:nvSpPr>
            <p:cNvPr id="9" name="Freeform 9"/>
            <p:cNvSpPr/>
            <p:nvPr/>
          </p:nvSpPr>
          <p:spPr>
            <a:xfrm>
              <a:off x="1924050" y="2898458"/>
              <a:ext cx="2781300" cy="153352"/>
            </a:xfrm>
            <a:custGeom>
              <a:avLst/>
              <a:gdLst/>
              <a:ahLst/>
              <a:cxnLst/>
              <a:rect l="l" t="t" r="r" b="b"/>
              <a:pathLst>
                <a:path w="2781300" h="153352">
                  <a:moveTo>
                    <a:pt x="0" y="153352"/>
                  </a:moveTo>
                  <a:lnTo>
                    <a:pt x="0" y="13335"/>
                  </a:lnTo>
                  <a:lnTo>
                    <a:pt x="2781300" y="13335"/>
                  </a:lnTo>
                  <a:lnTo>
                    <a:pt x="2781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32008" y="27727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2874645"/>
              <a:ext cx="2781300" cy="101917"/>
            </a:xfrm>
            <a:custGeom>
              <a:avLst/>
              <a:gdLst/>
              <a:ahLst/>
              <a:cxnLst/>
              <a:rect l="l" t="t" r="r" b="b"/>
              <a:pathLst>
                <a:path w="2781300" h="101917">
                  <a:moveTo>
                    <a:pt x="2781300" y="101917"/>
                  </a:moveTo>
                  <a:lnTo>
                    <a:pt x="2781300" y="0"/>
                  </a:lnTo>
                  <a:lnTo>
                    <a:pt x="0" y="0"/>
                  </a:lnTo>
                  <a:lnTo>
                    <a:pt x="0" y="2381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32008" y="27727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276850" y="2420302"/>
              <a:ext cx="6158865" cy="983932"/>
            </a:xfrm>
            <a:custGeom>
              <a:avLst/>
              <a:gdLst/>
              <a:ahLst/>
              <a:cxnLst/>
              <a:rect l="l" t="t" r="r" b="b"/>
              <a:pathLst>
                <a:path w="6158865" h="983932">
                  <a:moveTo>
                    <a:pt x="0" y="0"/>
                  </a:moveTo>
                  <a:lnTo>
                    <a:pt x="209550" y="0"/>
                  </a:lnTo>
                  <a:lnTo>
                    <a:pt x="209550" y="9525"/>
                  </a:lnTo>
                  <a:lnTo>
                    <a:pt x="6158865" y="9525"/>
                  </a:lnTo>
                  <a:lnTo>
                    <a:pt x="6158865" y="983932"/>
                  </a:lnTo>
                  <a:lnTo>
                    <a:pt x="2991802" y="983932"/>
                  </a:lnTo>
                  <a:lnTo>
                    <a:pt x="2991802" y="98393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059102" y="334613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05350" y="3932872"/>
              <a:ext cx="2781300" cy="101918"/>
            </a:xfrm>
            <a:custGeom>
              <a:avLst/>
              <a:gdLst/>
              <a:ahLst/>
              <a:cxnLst/>
              <a:rect l="l" t="t" r="r" b="b"/>
              <a:pathLst>
                <a:path w="2781300" h="101918">
                  <a:moveTo>
                    <a:pt x="0" y="101918"/>
                  </a:moveTo>
                  <a:lnTo>
                    <a:pt x="0" y="0"/>
                  </a:lnTo>
                  <a:lnTo>
                    <a:pt x="2781300" y="0"/>
                  </a:lnTo>
                  <a:lnTo>
                    <a:pt x="2781300" y="2381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13308" y="38309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86650" y="3932872"/>
              <a:ext cx="2781300" cy="101918"/>
            </a:xfrm>
            <a:custGeom>
              <a:avLst/>
              <a:gdLst/>
              <a:ahLst/>
              <a:cxnLst/>
              <a:rect l="l" t="t" r="r" b="b"/>
              <a:pathLst>
                <a:path w="2781300" h="101918">
                  <a:moveTo>
                    <a:pt x="2781300" y="101918"/>
                  </a:moveTo>
                  <a:lnTo>
                    <a:pt x="2781300" y="0"/>
                  </a:lnTo>
                  <a:lnTo>
                    <a:pt x="0" y="0"/>
                  </a:lnTo>
                  <a:lnTo>
                    <a:pt x="0" y="2381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413308" y="38309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33850" y="2067878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41470" y="2074545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33850" y="22802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33850" y="23755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352550" y="305181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60170" y="305847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52550" y="32642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52550" y="33594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14198" y="2976562"/>
              <a:ext cx="1144905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21818" y="2984182"/>
              <a:ext cx="1130618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14198" y="3188970"/>
              <a:ext cx="11449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14198" y="3433762"/>
              <a:ext cx="11449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33850" y="403479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141470" y="404241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33850" y="4247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33850" y="43424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696450" y="403479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704070" y="404241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696450" y="4247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696450" y="43424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07963" y="2119312"/>
              <a:ext cx="3947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Animal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05288" y="2443639"/>
              <a:ext cx="472948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sleep()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12354" y="3103245"/>
              <a:ext cx="2233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23988" y="3427571"/>
              <a:ext cx="472948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sleep()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72388" y="3027998"/>
              <a:ext cx="10285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AnimalDecorator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85635" y="3257074"/>
              <a:ext cx="8967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animal : Animal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85635" y="3501866"/>
              <a:ext cx="472948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sleep()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41500" y="4086225"/>
              <a:ext cx="9277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EatDecorator1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05288" y="4410551"/>
              <a:ext cx="780161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eat()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drinkWater()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85476" y="4086225"/>
              <a:ext cx="964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SleepDecorator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67888" y="4410551"/>
              <a:ext cx="74891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sleep()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washTeeth()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41982" y="2233612"/>
              <a:ext cx="4381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74558" y="22564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animal</a:t>
              </a:r>
            </a:p>
          </p:txBody>
        </p:sp>
      </p:grpSp>
      <p:grpSp>
        <p:nvGrpSpPr>
          <p:cNvPr id="57" name="c1-card-2"/>
          <p:cNvGrpSpPr/>
          <p:nvPr/>
        </p:nvGrpSpPr>
        <p:grpSpPr>
          <a:xfrm>
            <a:off x="533400" y="5044440"/>
            <a:ext cx="11125200" cy="1318260"/>
            <a:chOff x="533400" y="5044440"/>
            <a:chExt cx="11125200" cy="1318260"/>
          </a:xfrm>
        </p:grpSpPr>
        <p:sp>
          <p:nvSpPr>
            <p:cNvPr id="53" name="Rectangle 53"/>
            <p:cNvSpPr/>
            <p:nvPr/>
          </p:nvSpPr>
          <p:spPr>
            <a:xfrm>
              <a:off x="533400" y="5044440"/>
              <a:ext cx="11125200" cy="1318260"/>
            </a:xfrm>
            <a:prstGeom prst="roundRect">
              <a:avLst>
                <a:gd name="adj" fmla="val 10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925" y="5177790"/>
              <a:ext cx="47625" cy="10515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5998" y="52458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读这张图的顺序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5998" y="5546884"/>
              <a:ext cx="10221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向上那条空心三角说明它是一个 Animal，能顶替 Dog 出现在任何地方；向右绕回去那条空心菱形说明它握着一个 Animal，握的可以是 Dog，也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可以是另一个装饰器。把类名换成 Component、ConcreteComponent、Decorator、ConcreteDecorator，就是下一节的标准结构图。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定义、结构与四个角色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把上一节的做法写成一条定义、一张类图和四份职责说明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定义与两个别名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标准类图与两条关键连线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双重关系各保证了什么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四个角色的分工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定义：动态地给一个对象增加额外的职责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10850" cy="597598"/>
            <a:chOff x="525399" y="1550194"/>
            <a:chExt cx="10610850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10850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装饰模式（Decorator Pattern）：动态地给一个对象增加一些额外的职责（Responsibility）。就增加对象功能来说，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装饰模式比生成子类实现更为灵活。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2257425"/>
            <a:ext cx="5842635" cy="2626995"/>
            <a:chOff x="533400" y="2257425"/>
            <a:chExt cx="5842635" cy="2626995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842635" cy="2626995"/>
            </a:xfrm>
            <a:prstGeom prst="roundRect">
              <a:avLst>
                <a:gd name="adj" fmla="val 5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90775"/>
              <a:ext cx="47625" cy="236029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4669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502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502218"/>
              <a:ext cx="28301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装饰模式 Decorator Pattern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86321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动态地给一个对象增加一些额外的职责。就增加对象功能来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说，装饰模式比生成子类实现更为灵活。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5471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48424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对象结构型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8823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819525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别名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（Wrapper），与适配器模式的别名相同，但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两者用在不同场合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5034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440555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按翻译的不同，也有人叫它“油漆工模式”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5074920"/>
            <a:ext cx="5842635" cy="1059180"/>
            <a:chOff x="533400" y="5074920"/>
            <a:chExt cx="5842635" cy="1059180"/>
          </a:xfrm>
        </p:grpSpPr>
        <p:sp>
          <p:nvSpPr>
            <p:cNvPr id="22" name="Rectangle 22"/>
            <p:cNvSpPr/>
            <p:nvPr/>
          </p:nvSpPr>
          <p:spPr>
            <a:xfrm>
              <a:off x="533400" y="507492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504500"/>
              <a:ext cx="200023" cy="200023"/>
              <a:chOff x="738188" y="5504500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5045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5711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223510"/>
              <a:ext cx="4777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为了让系统更灵活，实现时通常定义一个抽象装饰类，把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具体装饰类做成它的子类，同时还要引入一个抽象构件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</p:grpSp>
      <p:grpSp>
        <p:nvGrpSpPr>
          <p:cNvPr id="35" name="c2-bullets-1"/>
          <p:cNvGrpSpPr/>
          <p:nvPr/>
        </p:nvGrpSpPr>
        <p:grpSpPr>
          <a:xfrm>
            <a:off x="6673215" y="2282190"/>
            <a:ext cx="4655820" cy="1908810"/>
            <a:chOff x="6673215" y="2282190"/>
            <a:chExt cx="4655820" cy="1908810"/>
          </a:xfrm>
        </p:grpSpPr>
        <p:sp>
          <p:nvSpPr>
            <p:cNvPr id="28" name="TextBox 28"/>
            <p:cNvSpPr txBox="1"/>
            <p:nvPr/>
          </p:nvSpPr>
          <p:spPr>
            <a:xfrm>
              <a:off x="6673215" y="228219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定义里的三个词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680835" y="2667952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32295" y="263652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：包装发生在运行期，同一个对象这次套两层、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下次套三层都行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680835" y="329850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32295" y="326707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：加职责的是某一个对象，同类的其他对象不受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680835" y="392906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32295" y="38976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额外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：原有职责一点不动，新职责加在外面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680835" y="4322445"/>
            <a:ext cx="4977765" cy="1811655"/>
            <a:chOff x="6680835" y="4322445"/>
            <a:chExt cx="4977765" cy="1811655"/>
          </a:xfrm>
        </p:grpSpPr>
        <p:sp>
          <p:nvSpPr>
            <p:cNvPr id="36" name="Rectangle 36"/>
            <p:cNvSpPr/>
            <p:nvPr/>
          </p:nvSpPr>
          <p:spPr>
            <a:xfrm>
              <a:off x="6680835" y="4322445"/>
              <a:ext cx="4977765" cy="1811655"/>
            </a:xfrm>
            <a:prstGeom prst="roundRect">
              <a:avLst>
                <a:gd name="adj" fmla="val 7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4455795"/>
              <a:ext cx="47625" cy="15449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28485" y="45319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19646" y="45677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29512" y="4567238"/>
              <a:ext cx="2267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和“生成子类”比灵活在哪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20865" y="492823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生成子类是编译期的事，一旦派生，这个子类的全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部实例都带着那套功能。装饰是运行期的事，包几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层、按什么顺序包，由 new 的那一行决定。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结构：一条继承线，一条绕回去的聚合线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281410" cy="264033"/>
            <a:chOff x="526542" y="1545907"/>
            <a:chExt cx="112814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281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四个角色排成三层。中间一层的左边是具体构件，右边是抽象装饰类，两者都直接继承抽象构件；抽象装饰类还额外持有一个抽象构件对象。</a:t>
              </a:r>
            </a:p>
          </p:txBody>
        </p:sp>
      </p:grpSp>
      <p:grpSp>
        <p:nvGrpSpPr>
          <p:cNvPr id="53" name="c1-uml-1"/>
          <p:cNvGrpSpPr/>
          <p:nvPr/>
        </p:nvGrpSpPr>
        <p:grpSpPr>
          <a:xfrm>
            <a:off x="1255395" y="2069782"/>
            <a:ext cx="10180320" cy="2309813"/>
            <a:chOff x="1255395" y="2069782"/>
            <a:chExt cx="10180320" cy="2309813"/>
          </a:xfrm>
        </p:grpSpPr>
        <p:sp>
          <p:nvSpPr>
            <p:cNvPr id="9" name="Freeform 9"/>
            <p:cNvSpPr/>
            <p:nvPr/>
          </p:nvSpPr>
          <p:spPr>
            <a:xfrm>
              <a:off x="1924050" y="2751772"/>
              <a:ext cx="2781300" cy="158115"/>
            </a:xfrm>
            <a:custGeom>
              <a:avLst/>
              <a:gdLst/>
              <a:ahLst/>
              <a:cxnLst/>
              <a:rect l="l" t="t" r="r" b="b"/>
              <a:pathLst>
                <a:path w="2781300" h="158115">
                  <a:moveTo>
                    <a:pt x="0" y="158115"/>
                  </a:moveTo>
                  <a:lnTo>
                    <a:pt x="0" y="16193"/>
                  </a:lnTo>
                  <a:lnTo>
                    <a:pt x="2781300" y="16193"/>
                  </a:lnTo>
                  <a:lnTo>
                    <a:pt x="2781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32008" y="2626995"/>
              <a:ext cx="146685" cy="124777"/>
            </a:xfrm>
            <a:custGeom>
              <a:avLst/>
              <a:gdLst/>
              <a:ahLst/>
              <a:cxnLst/>
              <a:rect l="l" t="t" r="r" b="b"/>
              <a:pathLst>
                <a:path w="146685" h="124777">
                  <a:moveTo>
                    <a:pt x="73342" y="0"/>
                  </a:moveTo>
                  <a:lnTo>
                    <a:pt x="146685" y="124777"/>
                  </a:lnTo>
                  <a:lnTo>
                    <a:pt x="0" y="124777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2730818"/>
              <a:ext cx="2781300" cy="103823"/>
            </a:xfrm>
            <a:custGeom>
              <a:avLst/>
              <a:gdLst/>
              <a:ahLst/>
              <a:cxnLst/>
              <a:rect l="l" t="t" r="r" b="b"/>
              <a:pathLst>
                <a:path w="2781300" h="103823">
                  <a:moveTo>
                    <a:pt x="2781300" y="103823"/>
                  </a:moveTo>
                  <a:lnTo>
                    <a:pt x="2781300" y="0"/>
                  </a:lnTo>
                  <a:lnTo>
                    <a:pt x="0" y="0"/>
                  </a:lnTo>
                  <a:lnTo>
                    <a:pt x="0" y="2095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32008" y="2626995"/>
              <a:ext cx="146685" cy="124777"/>
            </a:xfrm>
            <a:custGeom>
              <a:avLst/>
              <a:gdLst/>
              <a:ahLst/>
              <a:cxnLst/>
              <a:rect l="l" t="t" r="r" b="b"/>
              <a:pathLst>
                <a:path w="146685" h="124777">
                  <a:moveTo>
                    <a:pt x="73342" y="0"/>
                  </a:moveTo>
                  <a:lnTo>
                    <a:pt x="146685" y="124777"/>
                  </a:lnTo>
                  <a:lnTo>
                    <a:pt x="0" y="124777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276850" y="2347912"/>
              <a:ext cx="6158865" cy="840105"/>
            </a:xfrm>
            <a:custGeom>
              <a:avLst/>
              <a:gdLst/>
              <a:ahLst/>
              <a:cxnLst/>
              <a:rect l="l" t="t" r="r" b="b"/>
              <a:pathLst>
                <a:path w="6158865" h="840105">
                  <a:moveTo>
                    <a:pt x="0" y="0"/>
                  </a:moveTo>
                  <a:lnTo>
                    <a:pt x="209550" y="0"/>
                  </a:lnTo>
                  <a:lnTo>
                    <a:pt x="209550" y="8573"/>
                  </a:lnTo>
                  <a:lnTo>
                    <a:pt x="6158865" y="8573"/>
                  </a:lnTo>
                  <a:lnTo>
                    <a:pt x="6158865" y="840105"/>
                  </a:lnTo>
                  <a:lnTo>
                    <a:pt x="3135630" y="840105"/>
                  </a:lnTo>
                  <a:lnTo>
                    <a:pt x="3135630" y="84010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202930" y="3129915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05350" y="3607118"/>
              <a:ext cx="2781300" cy="67628"/>
            </a:xfrm>
            <a:custGeom>
              <a:avLst/>
              <a:gdLst/>
              <a:ahLst/>
              <a:cxnLst/>
              <a:rect l="l" t="t" r="r" b="b"/>
              <a:pathLst>
                <a:path w="2781300" h="67628">
                  <a:moveTo>
                    <a:pt x="0" y="67628"/>
                  </a:moveTo>
                  <a:lnTo>
                    <a:pt x="0" y="0"/>
                  </a:lnTo>
                  <a:lnTo>
                    <a:pt x="2781300" y="0"/>
                  </a:lnTo>
                  <a:lnTo>
                    <a:pt x="2781300" y="5905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13308" y="354044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86650" y="3607118"/>
              <a:ext cx="2781300" cy="67628"/>
            </a:xfrm>
            <a:custGeom>
              <a:avLst/>
              <a:gdLst/>
              <a:ahLst/>
              <a:cxnLst/>
              <a:rect l="l" t="t" r="r" b="b"/>
              <a:pathLst>
                <a:path w="2781300" h="67628">
                  <a:moveTo>
                    <a:pt x="2781300" y="67628"/>
                  </a:moveTo>
                  <a:lnTo>
                    <a:pt x="2781300" y="0"/>
                  </a:lnTo>
                  <a:lnTo>
                    <a:pt x="0" y="0"/>
                  </a:lnTo>
                  <a:lnTo>
                    <a:pt x="0" y="5905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413308" y="354044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33850" y="206978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41470" y="2077402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33850" y="22821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33850" y="23774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55395" y="2909888"/>
              <a:ext cx="1336358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63015" y="2916555"/>
              <a:ext cx="132207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55395" y="3122295"/>
              <a:ext cx="13363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55395" y="3217545"/>
              <a:ext cx="13363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70370" y="2834640"/>
              <a:ext cx="143351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77038" y="2842260"/>
              <a:ext cx="1419225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70370" y="3047048"/>
              <a:ext cx="14335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70370" y="3291840"/>
              <a:ext cx="14335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015740" y="3674745"/>
              <a:ext cx="1378268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023360" y="3681412"/>
              <a:ext cx="136398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15740" y="3887152"/>
              <a:ext cx="13782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15740" y="4130992"/>
              <a:ext cx="13782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78340" y="3674745"/>
              <a:ext cx="1378268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85960" y="3681412"/>
              <a:ext cx="136398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578340" y="3887152"/>
              <a:ext cx="13782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78340" y="3982402"/>
              <a:ext cx="13782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70946" y="2121218"/>
              <a:ext cx="6688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05288" y="244554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07786" y="2961323"/>
              <a:ext cx="1232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ConcreteComponent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26832" y="3285649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65048" y="2886075"/>
              <a:ext cx="643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Decorator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41808" y="3115151"/>
              <a:ext cx="13715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component : Component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41808" y="335994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64928" y="3726180"/>
              <a:ext cx="12808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ConcreteDecoratorA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87178" y="3955256"/>
              <a:ext cx="7144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addedState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7178" y="4199096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27528" y="3726180"/>
              <a:ext cx="12808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ConcreteDecoratorB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49778" y="4050506"/>
              <a:ext cx="931164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addedBehavior()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119110" y="2160270"/>
              <a:ext cx="68389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144313" y="2183130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</p:grpSp>
      <p:grpSp>
        <p:nvGrpSpPr>
          <p:cNvPr id="60" name="c1-callout-2"/>
          <p:cNvGrpSpPr/>
          <p:nvPr/>
        </p:nvGrpSpPr>
        <p:grpSpPr>
          <a:xfrm>
            <a:off x="533400" y="4616768"/>
            <a:ext cx="11125200" cy="844868"/>
            <a:chOff x="533400" y="4616768"/>
            <a:chExt cx="11125200" cy="844868"/>
          </a:xfrm>
        </p:grpSpPr>
        <p:sp>
          <p:nvSpPr>
            <p:cNvPr id="54" name="Rectangle 54"/>
            <p:cNvSpPr/>
            <p:nvPr/>
          </p:nvSpPr>
          <p:spPr>
            <a:xfrm>
              <a:off x="533400" y="4616768"/>
              <a:ext cx="11125200" cy="844868"/>
            </a:xfrm>
            <a:prstGeom prst="roundRect">
              <a:avLst>
                <a:gd name="adj" fmla="val 135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4938713"/>
              <a:ext cx="200026" cy="200025"/>
              <a:chOff x="738188" y="4938713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49387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49831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50942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4820602"/>
              <a:ext cx="99749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ConcreteDecoratorA 用新增的状态 addedState 扩展职责，ConcreteDecoratorB 用新增的方法 addedBehavior() 扩展职责，两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种做法都算具体装饰类。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1" name="Rectangle 61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5779770"/>
              <a:ext cx="99149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更正：源课件类图里抽象装饰类与抽象构件之间只画了继承，没有标出那条聚合线；实际上抽象装饰类里的 component 字段就是聚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合关系，两条线都要画。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456" cy="909257"/>
            <a:chOff x="520446" y="342900"/>
            <a:chExt cx="6601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为什么必须“既继承又持有”同一个抽象构件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98587" cy="308039"/>
            <a:chOff x="525399" y="1550194"/>
            <a:chExt cx="80985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985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这两条关系各管一件事。抽象装饰类的骨架只有四行有用的代码，正好对应这两条线。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67865"/>
            <a:ext cx="5735002" cy="3139440"/>
            <a:chOff x="533400" y="1967865"/>
            <a:chExt cx="5735002" cy="313944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735002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抽象装饰类的骨架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339340"/>
              <a:ext cx="569690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2745105"/>
              <a:ext cx="569690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2381726"/>
              <a:ext cx="5110734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Decorator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component;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聚合线：持有一个构件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Decorator(Component component)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.component = component;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注入被包装的对象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component.operation();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只转发，不加职责  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5297805"/>
            <a:ext cx="5735002" cy="782955"/>
            <a:chOff x="533400" y="5297805"/>
            <a:chExt cx="5735002" cy="782955"/>
          </a:xfrm>
        </p:grpSpPr>
        <p:sp>
          <p:nvSpPr>
            <p:cNvPr id="15" name="Rectangle 15"/>
            <p:cNvSpPr/>
            <p:nvPr/>
          </p:nvSpPr>
          <p:spPr>
            <a:xfrm>
              <a:off x="533400" y="5297805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6129" y="5585578"/>
              <a:ext cx="224134" cy="192560"/>
              <a:chOff x="726129" y="5585578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8200" y="56559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6129" y="55855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57337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44639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类名前的 abstract 不能省。抽象装饰类什么职责都不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加，直接 new 出来只是一层空壳。</a:t>
              </a:r>
            </a:p>
          </p:txBody>
        </p:sp>
      </p:grpSp>
      <p:grpSp>
        <p:nvGrpSpPr>
          <p:cNvPr id="27" name="c2-kv-1"/>
          <p:cNvGrpSpPr/>
          <p:nvPr/>
        </p:nvGrpSpPr>
        <p:grpSpPr>
          <a:xfrm>
            <a:off x="6565583" y="1992630"/>
            <a:ext cx="5093017" cy="2143125"/>
            <a:chOff x="6565583" y="1992630"/>
            <a:chExt cx="5093017" cy="2143125"/>
          </a:xfrm>
        </p:grpSpPr>
        <p:sp>
          <p:nvSpPr>
            <p:cNvPr id="22" name="TextBox 22"/>
            <p:cNvSpPr txBox="1"/>
            <p:nvPr/>
          </p:nvSpPr>
          <p:spPr>
            <a:xfrm>
              <a:off x="6565583" y="19926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继承这条线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04785" y="1992630"/>
              <a:ext cx="363474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保证装饰后的对象仍然是一个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Component。客户端不用改声明，别的装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饰器也能接着把它包进去，包多少层都还是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73202" y="315849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5583" y="32785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聚合这条线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4785" y="3278505"/>
              <a:ext cx="3634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保证装饰器手里那个被包装的对象可以是任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 Component。可以是具体构件，也可以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是另一个装饰器，多层包装就是这么来的</a:t>
              </a:r>
            </a:p>
          </p:txBody>
        </p:sp>
      </p:grpSp>
      <p:grpSp>
        <p:nvGrpSpPr>
          <p:cNvPr id="33" name="c2-bullets-2"/>
          <p:cNvGrpSpPr/>
          <p:nvPr/>
        </p:nvGrpSpPr>
        <p:grpSpPr>
          <a:xfrm>
            <a:off x="6565583" y="4291965"/>
            <a:ext cx="4907280" cy="1278255"/>
            <a:chOff x="6565583" y="4291965"/>
            <a:chExt cx="4907280" cy="1278255"/>
          </a:xfrm>
        </p:grpSpPr>
        <p:sp>
          <p:nvSpPr>
            <p:cNvPr id="28" name="TextBox 28"/>
            <p:cNvSpPr txBox="1"/>
            <p:nvPr/>
          </p:nvSpPr>
          <p:spPr>
            <a:xfrm>
              <a:off x="6565583" y="42919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去掉任意一条会坏在哪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573202" y="46824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13233" y="464629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只继承不持有，就退回成普通子类，还是编译期定死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573202" y="502729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13233" y="4991100"/>
              <a:ext cx="4577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只持有不继承，就是第 5 页那个 NewDog，包完换了类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型，既顶替不了原件也套不上第二层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6067425" cy="3869055"/>
            <a:chOff x="525780" y="1548765"/>
            <a:chExt cx="6067425" cy="386905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抽象构件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77352" y="1548765"/>
              <a:ext cx="46158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Component。具体构件和抽象装饰类的共同父类，声明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在具体构件中实现的业务方法。有了它，客户端才能用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一致的方式处理未装饰的对象和装饰之后的对象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具体构件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7352" y="2552700"/>
              <a:ext cx="4587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ConcreteComponent。抽象构件的子类，定义具体的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构件对象，实现抽象构件中声明的方法。装饰器给它增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加额外职责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4366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556635"/>
              <a:ext cx="77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抽象装饰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7352" y="3556635"/>
              <a:ext cx="4587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Decorator。也是抽象构件的子类，用于给具体构件增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加职责，具体职责留给它的子类。它维护一个指向抽象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构件对象的引用，通过这个引用调用装饰之前的方法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4405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4560570"/>
              <a:ext cx="77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具体装饰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77352" y="4560570"/>
              <a:ext cx="46539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ConcreteDecorator。抽象装饰类的子类，负责向构件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添加新职责。每个具体装饰类都定义一些新行为，可以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调用抽象装饰类中定义的方法，也可以新增自己的方法</a:t>
              </a:r>
            </a:p>
          </p:txBody>
        </p:sp>
      </p:grpSp>
      <p:grpSp>
        <p:nvGrpSpPr>
          <p:cNvPr id="26" name="c2-bullets-1"/>
          <p:cNvGrpSpPr/>
          <p:nvPr/>
        </p:nvGrpSpPr>
        <p:grpSpPr>
          <a:xfrm>
            <a:off x="6890385" y="1548765"/>
            <a:ext cx="4540567" cy="2194560"/>
            <a:chOff x="6890385" y="1548765"/>
            <a:chExt cx="4540567" cy="2194560"/>
          </a:xfrm>
        </p:grpSpPr>
        <p:sp>
          <p:nvSpPr>
            <p:cNvPr id="19" name="TextBox 19"/>
            <p:cNvSpPr txBox="1"/>
            <p:nvPr/>
          </p:nvSpPr>
          <p:spPr>
            <a:xfrm>
              <a:off x="6890385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三条容易记混的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898005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48512" y="190309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抽象装饰类是抽象构件的子类，不是具体构件的子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898005" y="256508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48512" y="253365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抽象装饰类持有的是抽象构件类型，不是某个具体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构件类型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898005" y="319563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48512" y="3164205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具体装饰类调的是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super.operation()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，转发那一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步写在抽象装饰类里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3874770"/>
            <a:ext cx="4760595" cy="1621155"/>
            <a:chOff x="6898005" y="3874770"/>
            <a:chExt cx="4760595" cy="1621155"/>
          </a:xfrm>
        </p:grpSpPr>
        <p:sp>
          <p:nvSpPr>
            <p:cNvPr id="27" name="Rectangle 27"/>
            <p:cNvSpPr/>
            <p:nvPr/>
          </p:nvSpPr>
          <p:spPr>
            <a:xfrm>
              <a:off x="6898005" y="3874770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07555" y="408432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84961" y="41200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一句话分工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34350" y="411956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三层各说一句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9935" y="448056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抽象构件定规矩，具体构件干原来的活，抽象装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饰类只管转发，具体装饰类在转发的前后加自己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的动作。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568192" cy="3351847"/>
            <a:chOff x="667512" y="1835468"/>
            <a:chExt cx="65681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1730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代码实现与运行时推演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5582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四个角色的骨架、嵌套 new 出来的对象链、调用与返回的完整顺序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抽象构件与具体构件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抽象装饰类与具体装饰类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多层包装的运行时对象链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装饰点放前放后还是替换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279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189" y="407194"/>
              <a:ext cx="2628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Java 代码实现与运行时推演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代码骨架（一）：抽象构件与具体构件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抽象构件只声明业务方法。具体构件把原来的活做完，它不知道自己将来会被谁包住。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2264092"/>
            <a:chOff x="533400" y="1928812"/>
            <a:chExt cx="5842635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275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Component 与 ConcreteComponent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637915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ConcreteComponent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"原始业务方法"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363402"/>
            <a:ext cx="5842635" cy="1033462"/>
            <a:chOff x="533400" y="4363402"/>
            <a:chExt cx="5842635" cy="1033462"/>
          </a:xfrm>
        </p:grpSpPr>
        <p:sp>
          <p:nvSpPr>
            <p:cNvPr id="13" name="Rectangle 13"/>
            <p:cNvSpPr/>
            <p:nvPr/>
          </p:nvSpPr>
          <p:spPr>
            <a:xfrm>
              <a:off x="533400" y="4363402"/>
              <a:ext cx="584263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515326"/>
              <a:ext cx="2431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等价的抽象类形式（两边改写 extends）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797" y="4775359"/>
              <a:ext cx="2542667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5566410"/>
            <a:ext cx="5842635" cy="729615"/>
            <a:chOff x="533400" y="5566410"/>
            <a:chExt cx="5842635" cy="729615"/>
          </a:xfrm>
        </p:grpSpPr>
        <p:sp>
          <p:nvSpPr>
            <p:cNvPr id="17" name="Rectangle 17"/>
            <p:cNvSpPr/>
            <p:nvPr/>
          </p:nvSpPr>
          <p:spPr>
            <a:xfrm>
              <a:off x="533400" y="556641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831205"/>
              <a:ext cx="200026" cy="200025"/>
              <a:chOff x="738188" y="5831205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8312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8756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9867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5713095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抽象构件里声明几个方法，每一层装饰器就要转发几个方法，所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以它不宜太胖。</a:t>
              </a:r>
            </a:p>
          </p:txBody>
        </p:sp>
      </p:grpSp>
      <p:grpSp>
        <p:nvGrpSpPr>
          <p:cNvPr id="31" name="c2-bullets-1"/>
          <p:cNvGrpSpPr/>
          <p:nvPr/>
        </p:nvGrpSpPr>
        <p:grpSpPr>
          <a:xfrm>
            <a:off x="6673977" y="1950720"/>
            <a:ext cx="4800981" cy="1455611"/>
            <a:chOff x="6673977" y="1950720"/>
            <a:chExt cx="4800981" cy="1455611"/>
          </a:xfrm>
        </p:grpSpPr>
        <p:sp>
          <p:nvSpPr>
            <p:cNvPr id="24" name="TextBox 24"/>
            <p:cNvSpPr txBox="1"/>
            <p:nvPr/>
          </p:nvSpPr>
          <p:spPr>
            <a:xfrm>
              <a:off x="6673977" y="195072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这一段的三个约定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680835" y="229647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17817" y="226790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抽象构件里只放公共业务方法，具体装饰类新增的方法不往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这里塞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680835" y="286226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17817" y="283368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具体构件里不出现任何装饰类的名字，它对装饰一无所知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680835" y="317087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17817" y="3142298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具体构件要写成“轻”类，行为多了就该拆成几个装饰器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680835" y="3523298"/>
            <a:ext cx="4977765" cy="2772728"/>
            <a:chOff x="6680835" y="3523298"/>
            <a:chExt cx="4977765" cy="2772728"/>
          </a:xfrm>
        </p:grpSpPr>
        <p:sp>
          <p:nvSpPr>
            <p:cNvPr id="32" name="Rectangle 32"/>
            <p:cNvSpPr/>
            <p:nvPr/>
          </p:nvSpPr>
          <p:spPr>
            <a:xfrm>
              <a:off x="6680835" y="3523298"/>
              <a:ext cx="4977765" cy="2772728"/>
            </a:xfrm>
            <a:prstGeom prst="roundRect">
              <a:avLst>
                <a:gd name="adj" fmla="val 48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0360" y="3656648"/>
              <a:ext cx="47625" cy="2506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05625" y="370998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71843" y="37428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写成接口还是抽象类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42757" y="374523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两种都行，区别在有没有默认实现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8767" y="4070985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只声明方法就用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interface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，装饰类和具体构件都写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implements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；如果要共享字段或默认实现，就写成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 class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，两边改成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extends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9910" y="4882039"/>
              <a:ext cx="4378198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更正：源课件典型代码写 </a:t>
              </a: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class Decorator extends</a:t>
              </a:r>
              <a:br/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Component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，正文却说“Decorator 类实现了抽象构件 Component 接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口”。</a:t>
              </a: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extends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与“实现接口”对不上，按接口写应是 </a:t>
              </a: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implements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279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189" y="407194"/>
              <a:ext cx="2628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Java 代码实现与运行时推演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代码骨架（二）：抽象装饰类与具体装饰类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191881" cy="264033"/>
            <a:chOff x="526542" y="1545907"/>
            <a:chExt cx="819188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抽象装饰类只做转发，不实施任何装饰，它提供的是一个统一的接口；真正的装饰放在具体装饰类里。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951220" cy="3319462"/>
            <a:chOff x="533400" y="1928812"/>
            <a:chExt cx="5951220" cy="3319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7971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Decorator 与两个具体装饰类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5006975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Decorator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 component;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Decorator(Component component)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.component = component;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 component.operation();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ConcreteDecoratorA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addedState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"A 的新状态"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ConcreteDecoratorA(Component c)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(c);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.operation();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调用原有业务方法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System.out.println(addedState);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新增的状态    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789420" y="1928812"/>
            <a:ext cx="4869180" cy="2440305"/>
            <a:chOff x="6789420" y="1928812"/>
            <a:chExt cx="4869180" cy="2440305"/>
          </a:xfrm>
        </p:grpSpPr>
        <p:sp>
          <p:nvSpPr>
            <p:cNvPr id="13" name="Rectangle 13"/>
            <p:cNvSpPr/>
            <p:nvPr/>
          </p:nvSpPr>
          <p:spPr>
            <a:xfrm>
              <a:off x="6789420" y="1928812"/>
              <a:ext cx="486918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17817" y="20807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另一个具体装饰类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7817" y="2340769"/>
              <a:ext cx="3843274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ConcreteDecoratorB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ConcreteDecoratorB(Component c)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(c);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.operation();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addedBehavior();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新增业务方法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addedBehavior()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"B 的新行为"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6789420" y="4538662"/>
            <a:ext cx="4869180" cy="1716405"/>
            <a:chOff x="6789420" y="4538662"/>
            <a:chExt cx="4869180" cy="1716405"/>
          </a:xfrm>
        </p:grpSpPr>
        <p:sp>
          <p:nvSpPr>
            <p:cNvPr id="17" name="Rectangle 17"/>
            <p:cNvSpPr/>
            <p:nvPr/>
          </p:nvSpPr>
          <p:spPr>
            <a:xfrm>
              <a:off x="6789420" y="4538662"/>
              <a:ext cx="4869180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4672012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14210" y="4725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06882" y="4758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9804" y="4760595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转发不等于“没实现”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07352" y="5086350"/>
              <a:ext cx="422281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源课件说“在 Decorator 中并未真正实现 operation()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方法”。实际上它实现了，只是方法体里只有一行转发，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没有添加任何职责。准确的说法是：它不实施装饰，只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提供统一接口，把具体装饰过程交给子类。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279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189" y="407194"/>
              <a:ext cx="2628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Java 代码实现与运行时推演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多层包装：运行时是一串对象，调用像剥洋葱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474198" cy="541592"/>
            <a:chOff x="526161" y="1547336"/>
            <a:chExt cx="10474198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4741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抽象装饰类里注入的是抽象构件类型，所以既可以注入一个具体构件，也可以注入一个已经装饰过的对象，从而对原有功能做多次扩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204085"/>
            <a:ext cx="5626418" cy="1261110"/>
            <a:chOff x="533400" y="2204085"/>
            <a:chExt cx="5626418" cy="1261110"/>
          </a:xfrm>
        </p:grpSpPr>
        <p:sp>
          <p:nvSpPr>
            <p:cNvPr id="9" name="Rectangle 9"/>
            <p:cNvSpPr/>
            <p:nvPr/>
          </p:nvSpPr>
          <p:spPr>
            <a:xfrm>
              <a:off x="533400" y="2204085"/>
              <a:ext cx="5626418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35600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客户端：从里往外包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617470"/>
              <a:ext cx="3531108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Component c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ConcreteDecoratorB(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ConcreteDecoratorA(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ConcreteComponent()));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c.operation();</a:t>
              </a:r>
            </a:p>
          </p:txBody>
        </p:sp>
      </p:grpSp>
      <p:grpSp>
        <p:nvGrpSpPr>
          <p:cNvPr id="27" name="c1-flow-2"/>
          <p:cNvGrpSpPr/>
          <p:nvPr/>
        </p:nvGrpSpPr>
        <p:grpSpPr>
          <a:xfrm>
            <a:off x="666750" y="3989070"/>
            <a:ext cx="5359717" cy="405766"/>
            <a:chOff x="666750" y="3989070"/>
            <a:chExt cx="5359717" cy="405766"/>
          </a:xfrm>
        </p:grpSpPr>
        <p:sp>
          <p:nvSpPr>
            <p:cNvPr id="13" name="Freeform 13"/>
            <p:cNvSpPr/>
            <p:nvPr/>
          </p:nvSpPr>
          <p:spPr>
            <a:xfrm>
              <a:off x="2275522" y="419481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37448" y="41424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50995" y="419481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12920" y="41424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3995738"/>
              <a:ext cx="1608772" cy="399098"/>
            </a:xfrm>
            <a:prstGeom prst="roundRect">
              <a:avLst>
                <a:gd name="adj" fmla="val 2386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42222" y="3995738"/>
              <a:ext cx="16087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17695" y="3995738"/>
              <a:ext cx="16087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5180" y="4116229"/>
              <a:ext cx="832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b：装饰器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30652" y="4116229"/>
              <a:ext cx="832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a：装饰器 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98444" y="4116229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o：具体构件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41208" y="3989070"/>
              <a:ext cx="73628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064206" y="4013359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916680" y="3989070"/>
              <a:ext cx="73628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39678" y="4013359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4925378"/>
            <a:ext cx="5626418" cy="1260158"/>
            <a:chOff x="533400" y="4925378"/>
            <a:chExt cx="5626418" cy="1260158"/>
          </a:xfrm>
        </p:grpSpPr>
        <p:sp>
          <p:nvSpPr>
            <p:cNvPr id="28" name="Rectangle 28"/>
            <p:cNvSpPr/>
            <p:nvPr/>
          </p:nvSpPr>
          <p:spPr>
            <a:xfrm>
              <a:off x="533400" y="4925378"/>
              <a:ext cx="5626418" cy="1260158"/>
            </a:xfrm>
            <a:prstGeom prst="roundRect">
              <a:avLst>
                <a:gd name="adj" fmla="val 907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454968"/>
              <a:ext cx="200026" cy="200025"/>
              <a:chOff x="738188" y="545496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4549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4994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6105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336858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类图上只有五个类，运行时却是三个对象串成一条链，链的长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度由客户端决定。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6464618" y="2204085"/>
            <a:ext cx="5193982" cy="2397442"/>
            <a:chOff x="6464618" y="2204085"/>
            <a:chExt cx="5193982" cy="2397442"/>
          </a:xfrm>
        </p:grpSpPr>
        <p:sp>
          <p:nvSpPr>
            <p:cNvPr id="35" name="Rectangle 35"/>
            <p:cNvSpPr/>
            <p:nvPr/>
          </p:nvSpPr>
          <p:spPr>
            <a:xfrm>
              <a:off x="6464618" y="2204085"/>
              <a:ext cx="5193982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93015" y="235600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调用与返回的顺序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92634" y="2617470"/>
              <a:ext cx="3777806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c.operation()                      c 的动态类型是 B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└ B.operation()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└ super.operation()            进到 Decorator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└ component.operation()     component 是 a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└ A.operation()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└ super.operation()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└ component.operation()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       └ o.operation() 输出：原始业务方法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 ← 输出：A 的新状态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← 输出：B 的新行为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4776788"/>
            <a:ext cx="5193982" cy="1408748"/>
            <a:chOff x="6464618" y="4776788"/>
            <a:chExt cx="5193982" cy="1408748"/>
          </a:xfrm>
        </p:grpSpPr>
        <p:sp>
          <p:nvSpPr>
            <p:cNvPr id="39" name="Rectangle 39"/>
            <p:cNvSpPr/>
            <p:nvPr/>
          </p:nvSpPr>
          <p:spPr>
            <a:xfrm>
              <a:off x="6464618" y="4776788"/>
              <a:ext cx="5193982" cy="1408748"/>
            </a:xfrm>
            <a:prstGeom prst="roundRect">
              <a:avLst>
                <a:gd name="adj" fmla="val 94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4910138"/>
              <a:ext cx="47625" cy="11420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88264" y="4991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88264" y="5311140"/>
              <a:ext cx="4780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原始业务方法 / A 的新状态 / B 的新行为，三行依次打印。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89408" y="5609749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越靠里的对象越先执行原始逻辑，越靠外的装饰器越后收尾，顺序和函数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调用栈一致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279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189" y="407194"/>
              <a:ext cx="2628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Java 代码实现与运行时推演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装饰点可以放在前、放在后，也可以不放行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550652" cy="597598"/>
            <a:chOff x="525399" y="1550194"/>
            <a:chExt cx="1055065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55065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具体装饰类重写的是 operation()，什么时候调 super.operation()、调不调，完全由它自己决定。四种写法覆盖了装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饰模式能做的全部事情。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257425"/>
            <a:ext cx="5626418" cy="3950970"/>
            <a:chOff x="533400" y="2257425"/>
            <a:chExt cx="5626418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626418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4093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672239"/>
              <a:ext cx="4399534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@Override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 前置装饰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before();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.operation();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@Override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二 后置装饰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.operation();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after();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@Override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 前后都加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before();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.operation();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after();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@Override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四 控制访问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(allowed())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.operation();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"已拦截"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kv-1"/>
          <p:cNvGrpSpPr/>
          <p:nvPr/>
        </p:nvGrpSpPr>
        <p:grpSpPr>
          <a:xfrm>
            <a:off x="6456998" y="2282190"/>
            <a:ext cx="5201602" cy="1737360"/>
            <a:chOff x="6456998" y="2282190"/>
            <a:chExt cx="5201602" cy="1737360"/>
          </a:xfrm>
        </p:grpSpPr>
        <p:sp>
          <p:nvSpPr>
            <p:cNvPr id="13" name="TextBox 13"/>
            <p:cNvSpPr txBox="1"/>
            <p:nvPr/>
          </p:nvSpPr>
          <p:spPr>
            <a:xfrm>
              <a:off x="6456998" y="22821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增加功能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9033" y="22821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在原有方法前后补动作，这是最常见的用法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64618" y="26022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56998" y="27222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控制访问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9033" y="2722245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满足条件才调原方法，不满足就拦下来，比如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权限检查、限流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64618" y="332422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56998" y="34442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完全替换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9033" y="3444240"/>
              <a:ext cx="39014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干脆不调 super.operation()，用全新的实现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顶掉原来的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464618" y="4150995"/>
            <a:ext cx="5193982" cy="2152650"/>
            <a:chOff x="6464618" y="4150995"/>
            <a:chExt cx="5193982" cy="2152650"/>
          </a:xfrm>
        </p:grpSpPr>
        <p:sp>
          <p:nvSpPr>
            <p:cNvPr id="22" name="Rectangle 22"/>
            <p:cNvSpPr/>
            <p:nvPr/>
          </p:nvSpPr>
          <p:spPr>
            <a:xfrm>
              <a:off x="6464618" y="4150995"/>
              <a:ext cx="5193982" cy="2152650"/>
            </a:xfrm>
            <a:prstGeom prst="roundRect">
              <a:avLst>
                <a:gd name="adj" fmla="val 619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74168" y="436054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6476" y="43962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模式本质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992" y="439578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6548" y="475678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动态是手段，组合才是目的。这里的组合有两层意思：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一层是动态进行装饰器的组合，另一层是对象组合，通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过对象组合为被装饰对象透明地增加功能。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7691" y="5660231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装饰模式把复杂功能拆小、分散到各个装饰器，再在运行期间按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需要拼起来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课件中的四个实例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四个例子分别落在半透明、透明、多层包装和练手这四个位置上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变形金刚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多重加密系统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吃饭睡觉的狗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给图形加边框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实例一：变形金刚，一辆车可以变机器人也可以变飞机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597598"/>
            <a:chOff x="525399" y="1550194"/>
            <a:chExt cx="1065098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变形金刚变形之前是一辆汽车，能在陆地上移动。变成机器人之后除了能移动还能说话；变成飞机之后除了能移动还能飞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翔。</a:t>
              </a:r>
            </a:p>
          </p:txBody>
        </p:sp>
      </p:grpSp>
      <p:grpSp>
        <p:nvGrpSpPr>
          <p:cNvPr id="53" name="c1-uml-1"/>
          <p:cNvGrpSpPr/>
          <p:nvPr/>
        </p:nvGrpSpPr>
        <p:grpSpPr>
          <a:xfrm>
            <a:off x="1352550" y="2365058"/>
            <a:ext cx="10083165" cy="2750820"/>
            <a:chOff x="1352550" y="2365058"/>
            <a:chExt cx="10083165" cy="2750820"/>
          </a:xfrm>
        </p:grpSpPr>
        <p:sp>
          <p:nvSpPr>
            <p:cNvPr id="9" name="Freeform 9"/>
            <p:cNvSpPr/>
            <p:nvPr/>
          </p:nvSpPr>
          <p:spPr>
            <a:xfrm>
              <a:off x="1924050" y="3234690"/>
              <a:ext cx="2781300" cy="100965"/>
            </a:xfrm>
            <a:custGeom>
              <a:avLst/>
              <a:gdLst/>
              <a:ahLst/>
              <a:cxnLst/>
              <a:rect l="l" t="t" r="r" b="b"/>
              <a:pathLst>
                <a:path w="2781300" h="100965">
                  <a:moveTo>
                    <a:pt x="0" y="100965"/>
                  </a:moveTo>
                  <a:lnTo>
                    <a:pt x="0" y="0"/>
                  </a:lnTo>
                  <a:lnTo>
                    <a:pt x="2781300" y="0"/>
                  </a:lnTo>
                  <a:lnTo>
                    <a:pt x="2781300" y="24765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632008" y="313372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3234690"/>
              <a:ext cx="2781300" cy="100965"/>
            </a:xfrm>
            <a:custGeom>
              <a:avLst/>
              <a:gdLst/>
              <a:ahLst/>
              <a:cxnLst/>
              <a:rect l="l" t="t" r="r" b="b"/>
              <a:pathLst>
                <a:path w="2781300" h="100965">
                  <a:moveTo>
                    <a:pt x="2781300" y="100965"/>
                  </a:moveTo>
                  <a:lnTo>
                    <a:pt x="2781300" y="0"/>
                  </a:lnTo>
                  <a:lnTo>
                    <a:pt x="0" y="0"/>
                  </a:lnTo>
                  <a:lnTo>
                    <a:pt x="0" y="24765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632008" y="313372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276850" y="2749868"/>
              <a:ext cx="6158865" cy="983933"/>
            </a:xfrm>
            <a:custGeom>
              <a:avLst/>
              <a:gdLst/>
              <a:ahLst/>
              <a:cxnLst/>
              <a:rect l="l" t="t" r="r" b="b"/>
              <a:pathLst>
                <a:path w="6158865" h="983933">
                  <a:moveTo>
                    <a:pt x="0" y="0"/>
                  </a:moveTo>
                  <a:lnTo>
                    <a:pt x="209550" y="0"/>
                  </a:lnTo>
                  <a:lnTo>
                    <a:pt x="209550" y="9525"/>
                  </a:lnTo>
                  <a:lnTo>
                    <a:pt x="6158865" y="9525"/>
                  </a:lnTo>
                  <a:lnTo>
                    <a:pt x="6158865" y="983933"/>
                  </a:lnTo>
                  <a:lnTo>
                    <a:pt x="3261360" y="983933"/>
                  </a:lnTo>
                  <a:lnTo>
                    <a:pt x="3261360" y="98393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328660" y="367665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05350" y="4226242"/>
              <a:ext cx="2781300" cy="94298"/>
            </a:xfrm>
            <a:custGeom>
              <a:avLst/>
              <a:gdLst/>
              <a:ahLst/>
              <a:cxnLst/>
              <a:rect l="l" t="t" r="r" b="b"/>
              <a:pathLst>
                <a:path w="2781300" h="94298">
                  <a:moveTo>
                    <a:pt x="0" y="94298"/>
                  </a:moveTo>
                  <a:lnTo>
                    <a:pt x="0" y="0"/>
                  </a:lnTo>
                  <a:lnTo>
                    <a:pt x="2781300" y="0"/>
                  </a:lnTo>
                  <a:lnTo>
                    <a:pt x="2781300" y="3143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13308" y="41319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86650" y="4226242"/>
              <a:ext cx="2781300" cy="94298"/>
            </a:xfrm>
            <a:custGeom>
              <a:avLst/>
              <a:gdLst/>
              <a:ahLst/>
              <a:cxnLst/>
              <a:rect l="l" t="t" r="r" b="b"/>
              <a:pathLst>
                <a:path w="2781300" h="94298">
                  <a:moveTo>
                    <a:pt x="2781300" y="94298"/>
                  </a:moveTo>
                  <a:lnTo>
                    <a:pt x="2781300" y="0"/>
                  </a:lnTo>
                  <a:lnTo>
                    <a:pt x="0" y="0"/>
                  </a:lnTo>
                  <a:lnTo>
                    <a:pt x="0" y="3143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413308" y="41319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33850" y="2365058"/>
              <a:ext cx="1143000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41470" y="2372678"/>
              <a:ext cx="1128712" cy="39433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33850" y="27622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33850" y="28575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352550" y="3335655"/>
              <a:ext cx="1143000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60170" y="334327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52550" y="35852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52550" y="36804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44640" y="3335655"/>
              <a:ext cx="1683068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52260" y="3343275"/>
              <a:ext cx="1668780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44640" y="3584258"/>
              <a:ext cx="16830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44640" y="3855720"/>
              <a:ext cx="16830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963352" y="4320540"/>
              <a:ext cx="1483995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970020" y="4327208"/>
              <a:ext cx="1469708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963352" y="4569142"/>
              <a:ext cx="14839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963352" y="4664392"/>
              <a:ext cx="14839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454515" y="4320540"/>
              <a:ext cx="1626870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461182" y="4327208"/>
              <a:ext cx="161258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454515" y="4569142"/>
              <a:ext cx="16268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454515" y="4664392"/>
              <a:ext cx="16268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49229" y="242220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15435" y="2573655"/>
              <a:ext cx="779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Transform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05097" y="2928461"/>
              <a:ext cx="583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move()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93960" y="3395662"/>
              <a:ext cx="26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23797" y="3751421"/>
              <a:ext cx="551307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Car()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move()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3300" y="3395662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Changer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15887" y="3655219"/>
              <a:ext cx="1637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transform : Transform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5887" y="3926681"/>
              <a:ext cx="583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move()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93630" y="438054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Robot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34600" y="4735354"/>
              <a:ext cx="1341628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Robot(Transform t)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say()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71152" y="4380548"/>
              <a:ext cx="593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Airplane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25762" y="4735354"/>
              <a:ext cx="1484757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Airplane(Transform t)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fly()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70532" y="2543175"/>
              <a:ext cx="78200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91745" y="2569845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transform</a:t>
              </a:r>
            </a:p>
          </p:txBody>
        </p:sp>
      </p:grpSp>
      <p:grpSp>
        <p:nvGrpSpPr>
          <p:cNvPr id="59" name="c1-kv-2"/>
          <p:cNvGrpSpPr/>
          <p:nvPr/>
        </p:nvGrpSpPr>
        <p:grpSpPr>
          <a:xfrm>
            <a:off x="525780" y="5425440"/>
            <a:ext cx="11201263" cy="733425"/>
            <a:chOff x="525780" y="5425440"/>
            <a:chExt cx="11201263" cy="733425"/>
          </a:xfrm>
        </p:grpSpPr>
        <p:sp>
          <p:nvSpPr>
            <p:cNvPr id="54" name="TextBox 54"/>
            <p:cNvSpPr txBox="1"/>
            <p:nvPr/>
          </p:nvSpPr>
          <p:spPr>
            <a:xfrm>
              <a:off x="525780" y="5425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角色对照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65935" y="5425440"/>
              <a:ext cx="9156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Transform 是抽象构件，Car 是具体构件，Changer 是抽象装饰类，Robot 和 Airplane 是具体装饰类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57454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5780" y="58654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新增的方法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765935" y="5865495"/>
              <a:ext cx="99611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say() 只有 Robot 有，fly() 只有 Airplane 有，它们都没有写进 Transform，这一点决定了本例是半透明装饰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变形金刚：代码与运行结果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28483" cy="264033"/>
            <a:chOff x="526542" y="1545907"/>
            <a:chExt cx="762848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28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Changer 的 move() 只做转发，Robot 和 Airplane 都没有重写它，它们各自只新增一个方法。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951220" cy="3495675"/>
            <a:chOff x="533400" y="1928812"/>
            <a:chExt cx="5951220" cy="34956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5343017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Transform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Transform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"变形金刚变成汽车！"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"在陆地上移动。"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Transform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Transform transform;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Changer(Transform transform)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.transform = transform;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 { transform.move();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Robot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Robot(Transform t)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(t);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"变成机器人！"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say()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"说话！"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789420" y="1928812"/>
            <a:ext cx="4869180" cy="1384935"/>
            <a:chOff x="6789420" y="1928812"/>
            <a:chExt cx="4869180" cy="1384935"/>
          </a:xfrm>
        </p:grpSpPr>
        <p:sp>
          <p:nvSpPr>
            <p:cNvPr id="13" name="Rectangle 13"/>
            <p:cNvSpPr/>
            <p:nvPr/>
          </p:nvSpPr>
          <p:spPr>
            <a:xfrm>
              <a:off x="6789420" y="1928812"/>
              <a:ext cx="486918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17817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7817" y="2340769"/>
              <a:ext cx="2474214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Transform camaro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camaro.move();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Robot bumblebee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Robot(camaro);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bumblebee.move();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bumblebee.say();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789420" y="3484245"/>
            <a:ext cx="4869180" cy="2849880"/>
            <a:chOff x="6789420" y="3484245"/>
            <a:chExt cx="4869180" cy="2849880"/>
          </a:xfrm>
        </p:grpSpPr>
        <p:sp>
          <p:nvSpPr>
            <p:cNvPr id="17" name="Rectangle 17"/>
            <p:cNvSpPr/>
            <p:nvPr/>
          </p:nvSpPr>
          <p:spPr>
            <a:xfrm>
              <a:off x="6789420" y="3484245"/>
              <a:ext cx="4869180" cy="2849880"/>
            </a:xfrm>
            <a:prstGeom prst="roundRect">
              <a:avLst>
                <a:gd name="adj" fmla="val 46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3617595"/>
              <a:ext cx="47625" cy="2583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07352" y="36928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运行结果，五行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014210" y="39976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69888" y="40360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95007" y="40100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变形金刚变成汽车！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014210" y="429768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69888" y="43360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5007" y="431006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在陆地上移动。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014210" y="45977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69888" y="46370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95007" y="46101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变成机器人！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014210" y="489870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69888" y="49370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95007" y="4910138"/>
              <a:ext cx="35713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在陆地上移动。（Robot 没重写 move，转发给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014210" y="545592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69888" y="54943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95007" y="546830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说话！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08495" y="5764054"/>
              <a:ext cx="40154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bumblebee 声明成了 Robot 而不是 Transform，否则第 5 行的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say() 编译不过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实例二：多重加密，同一段密文可以再加密一次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597598"/>
            <a:chOff x="525399" y="1550194"/>
            <a:chExt cx="1065098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系统提供三种加密：最简单的移位加密、稍复杂的逆向输出加密、更高级的求模加密。用户可以对已经加密过的结果再用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另一种算法加密，第三次也行。</a:t>
              </a:r>
            </a:p>
          </p:txBody>
        </p:sp>
      </p:grpSp>
      <p:grpSp>
        <p:nvGrpSpPr>
          <p:cNvPr id="53" name="c1-uml-1"/>
          <p:cNvGrpSpPr/>
          <p:nvPr/>
        </p:nvGrpSpPr>
        <p:grpSpPr>
          <a:xfrm>
            <a:off x="1035368" y="2365058"/>
            <a:ext cx="10400348" cy="2750820"/>
            <a:chOff x="1035368" y="2365058"/>
            <a:chExt cx="10400348" cy="2750820"/>
          </a:xfrm>
        </p:grpSpPr>
        <p:sp>
          <p:nvSpPr>
            <p:cNvPr id="9" name="Freeform 9"/>
            <p:cNvSpPr/>
            <p:nvPr/>
          </p:nvSpPr>
          <p:spPr>
            <a:xfrm>
              <a:off x="1924050" y="3259455"/>
              <a:ext cx="2781300" cy="164783"/>
            </a:xfrm>
            <a:custGeom>
              <a:avLst/>
              <a:gdLst/>
              <a:ahLst/>
              <a:cxnLst/>
              <a:rect l="l" t="t" r="r" b="b"/>
              <a:pathLst>
                <a:path w="2781300" h="164783">
                  <a:moveTo>
                    <a:pt x="0" y="164783"/>
                  </a:moveTo>
                  <a:lnTo>
                    <a:pt x="0" y="19050"/>
                  </a:lnTo>
                  <a:lnTo>
                    <a:pt x="2781300" y="19050"/>
                  </a:lnTo>
                  <a:lnTo>
                    <a:pt x="2781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632008" y="313372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3234690"/>
              <a:ext cx="2781300" cy="100965"/>
            </a:xfrm>
            <a:custGeom>
              <a:avLst/>
              <a:gdLst/>
              <a:ahLst/>
              <a:cxnLst/>
              <a:rect l="l" t="t" r="r" b="b"/>
              <a:pathLst>
                <a:path w="2781300" h="100965">
                  <a:moveTo>
                    <a:pt x="2781300" y="100965"/>
                  </a:moveTo>
                  <a:lnTo>
                    <a:pt x="2781300" y="0"/>
                  </a:lnTo>
                  <a:lnTo>
                    <a:pt x="0" y="0"/>
                  </a:lnTo>
                  <a:lnTo>
                    <a:pt x="0" y="24765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632008" y="313372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889308" y="2749868"/>
              <a:ext cx="5546408" cy="983933"/>
            </a:xfrm>
            <a:custGeom>
              <a:avLst/>
              <a:gdLst/>
              <a:ahLst/>
              <a:cxnLst/>
              <a:rect l="l" t="t" r="r" b="b"/>
              <a:pathLst>
                <a:path w="5546408" h="983933">
                  <a:moveTo>
                    <a:pt x="0" y="0"/>
                  </a:moveTo>
                  <a:lnTo>
                    <a:pt x="209550" y="0"/>
                  </a:lnTo>
                  <a:lnTo>
                    <a:pt x="209550" y="9525"/>
                  </a:lnTo>
                  <a:lnTo>
                    <a:pt x="5546408" y="9525"/>
                  </a:lnTo>
                  <a:lnTo>
                    <a:pt x="5546408" y="983933"/>
                  </a:lnTo>
                  <a:lnTo>
                    <a:pt x="2695575" y="983933"/>
                  </a:lnTo>
                  <a:lnTo>
                    <a:pt x="2695575" y="98393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375332" y="367665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05350" y="4226242"/>
              <a:ext cx="2781300" cy="94298"/>
            </a:xfrm>
            <a:custGeom>
              <a:avLst/>
              <a:gdLst/>
              <a:ahLst/>
              <a:cxnLst/>
              <a:rect l="l" t="t" r="r" b="b"/>
              <a:pathLst>
                <a:path w="2781300" h="94298">
                  <a:moveTo>
                    <a:pt x="0" y="94298"/>
                  </a:moveTo>
                  <a:lnTo>
                    <a:pt x="0" y="0"/>
                  </a:lnTo>
                  <a:lnTo>
                    <a:pt x="2781300" y="0"/>
                  </a:lnTo>
                  <a:lnTo>
                    <a:pt x="2781300" y="3143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13308" y="41319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86650" y="4226242"/>
              <a:ext cx="2781300" cy="94298"/>
            </a:xfrm>
            <a:custGeom>
              <a:avLst/>
              <a:gdLst/>
              <a:ahLst/>
              <a:cxnLst/>
              <a:rect l="l" t="t" r="r" b="b"/>
              <a:pathLst>
                <a:path w="2781300" h="94298">
                  <a:moveTo>
                    <a:pt x="2781300" y="94298"/>
                  </a:moveTo>
                  <a:lnTo>
                    <a:pt x="2781300" y="0"/>
                  </a:lnTo>
                  <a:lnTo>
                    <a:pt x="0" y="0"/>
                  </a:lnTo>
                  <a:lnTo>
                    <a:pt x="0" y="3143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413308" y="41319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21392" y="2365058"/>
              <a:ext cx="2367915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29012" y="2372678"/>
              <a:ext cx="2353628" cy="39433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21392" y="2762250"/>
              <a:ext cx="23679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521392" y="2857500"/>
              <a:ext cx="23679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5368" y="3424238"/>
              <a:ext cx="1776412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42988" y="3430905"/>
              <a:ext cx="176212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35368" y="3672840"/>
              <a:ext cx="17764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35368" y="3768090"/>
              <a:ext cx="17764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597968" y="3335655"/>
              <a:ext cx="177641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05588" y="3343275"/>
              <a:ext cx="1762125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97968" y="3584258"/>
              <a:ext cx="17764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597968" y="3855720"/>
              <a:ext cx="17764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6668" y="4320540"/>
              <a:ext cx="177641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824288" y="4327208"/>
              <a:ext cx="176212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16668" y="4569142"/>
              <a:ext cx="17764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16668" y="4664392"/>
              <a:ext cx="17764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379268" y="4320540"/>
              <a:ext cx="177641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386888" y="4327208"/>
              <a:ext cx="176212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379268" y="4569142"/>
              <a:ext cx="17764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379268" y="4664392"/>
              <a:ext cx="177641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49229" y="242220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71542" y="2573655"/>
              <a:ext cx="467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Cipher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92640" y="2928461"/>
              <a:ext cx="2372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encrypt(String plainText) : String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65514" y="3484245"/>
              <a:ext cx="917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SimpleCipher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6614" y="3839051"/>
              <a:ext cx="1741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encrypt(String) : String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3161" y="3395662"/>
              <a:ext cx="1206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CipherDecorator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9215" y="3655219"/>
              <a:ext cx="1083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cipher : Cipher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9215" y="3926681"/>
              <a:ext cx="1741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encrypt(String) : String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87256" y="4380548"/>
              <a:ext cx="1036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ComplexCipher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87914" y="4735354"/>
              <a:ext cx="1634109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encrypt(String) : String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reverse(String) : String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05286" y="4380548"/>
              <a:ext cx="11253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AdvancedCipher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50514" y="4735354"/>
              <a:ext cx="1634109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encrypt(String) : String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mod(String) : String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16302" y="2543175"/>
              <a:ext cx="50196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46868" y="2569845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cipher</a:t>
              </a:r>
            </a:p>
          </p:txBody>
        </p:sp>
      </p:grpSp>
      <p:grpSp>
        <p:nvGrpSpPr>
          <p:cNvPr id="60" name="c1-callout-2"/>
          <p:cNvGrpSpPr/>
          <p:nvPr/>
        </p:nvGrpSpPr>
        <p:grpSpPr>
          <a:xfrm>
            <a:off x="533400" y="5400675"/>
            <a:ext cx="11125200" cy="962025"/>
            <a:chOff x="533400" y="5400675"/>
            <a:chExt cx="11125200" cy="962025"/>
          </a:xfrm>
        </p:grpSpPr>
        <p:sp>
          <p:nvSpPr>
            <p:cNvPr id="54" name="Rectangle 54"/>
            <p:cNvSpPr/>
            <p:nvPr/>
          </p:nvSpPr>
          <p:spPr>
            <a:xfrm>
              <a:off x="533400" y="5400675"/>
              <a:ext cx="11125200" cy="962025"/>
            </a:xfrm>
            <a:prstGeom prst="roundRect">
              <a:avLst>
                <a:gd name="adj" fmla="val 1188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781675"/>
              <a:ext cx="200026" cy="200026"/>
              <a:chOff x="738188" y="578167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7816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5848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58816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638800"/>
              <a:ext cx="9987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更正：源课件把 reverse() 和 mod() 标成公有。它们只服务于本类的 encrypt()，对外暴露反而破坏透明性，本讲改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成私有。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多重加密：三个加密类的代码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具体构件做移位，两个具体装饰类都是先拿到内层的密文，再在上面做一次自己的变换。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3916680"/>
            <a:chOff x="533400" y="1928812"/>
            <a:chExt cx="6059805" cy="391668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916680"/>
            </a:xfrm>
            <a:prstGeom prst="roundRect">
              <a:avLst>
                <a:gd name="adj" fmla="val 243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具体构件与抽象装饰类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40292"/>
              <a:ext cx="5541645" cy="3414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 { String encrypt(String plainText); }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SimpleCipher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 {      </a:t>
              </a:r>
              <a:r>
                <a:rPr lang="zh-CN" sz="9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移位 3 位 */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encrypt(String plainText) {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StringBuilder sb =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StringBuilder();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: plainText.toCharArray()) {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 &gt;= </a:t>
              </a:r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c &lt;= </a:t>
              </a:r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'z'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     sb.append((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((c - </a:t>
              </a:r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+ 3) % 26 + </a:t>
              </a:r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 &gt;= </a:t>
              </a:r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c &lt;= </a:t>
              </a:r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'Z'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sb.append((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((c - </a:t>
              </a:r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+ 3) % 26 + </a:t>
              </a:r>
              <a:r>
                <a:rPr lang="en-US" sz="9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sb.append(c);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sb.toString();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CipherDecorator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 {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 cipher;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CipherDecorator(Cipher cipher) {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.cipher = cipher; }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encrypt(String plainText) {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0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cipher.encrypt(plainText);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898005" y="1928812"/>
            <a:ext cx="4760595" cy="4198620"/>
            <a:chOff x="6898005" y="1928812"/>
            <a:chExt cx="4760595" cy="4198620"/>
          </a:xfrm>
        </p:grpSpPr>
        <p:sp>
          <p:nvSpPr>
            <p:cNvPr id="13" name="Rectangle 13"/>
            <p:cNvSpPr/>
            <p:nvPr/>
          </p:nvSpPr>
          <p:spPr>
            <a:xfrm>
              <a:off x="6898005" y="1928812"/>
              <a:ext cx="4760595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26402" y="20807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两个具体装饰类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26402" y="2340769"/>
              <a:ext cx="3911727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ComplexCipher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CipherDecorator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ComplexCipher(Cipher c)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(c);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encrypt(String plainText)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reverse(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.encrypt(plainText));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reverse(String 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StringBuilder(t).reverse().toString();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AdvancedCipher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CipherDecorator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AdvancedCipher(Cipher c)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(c);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encrypt(String plainText)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.encrypt(plainText));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mod(String 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StringBuilder sb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: t.toCharArray()) sb.append(c % 10);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sb.toString();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14021" cy="909257"/>
            <a:chOff x="520446" y="342900"/>
            <a:chExt cx="62140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140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多重加密：把 Hello 加密三次，逐步核对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704157" cy="308039"/>
            <a:chOff x="525399" y="1550194"/>
            <a:chExt cx="1070415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7041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客户端把三个对象从里往外套好，只调一次 encrypt()，三层变换依次发生。下面这三行结果是逐字符算出来的。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410200" cy="1313498"/>
            <a:chOff x="533400" y="1967865"/>
            <a:chExt cx="5410200" cy="131349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客户端（透明写法）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23595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Cipher sc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SimpleCipher();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Cipher cc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ComplexCipher(sc);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Cipher ac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AdvancedCipher(cc);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System.out.println(ac.encrypt(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41145 */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27685" y="3471862"/>
            <a:ext cx="5415915" cy="2543652"/>
            <a:chOff x="527685" y="3471862"/>
            <a:chExt cx="5415915" cy="2543652"/>
          </a:xfrm>
        </p:grpSpPr>
        <p:sp>
          <p:nvSpPr>
            <p:cNvPr id="13" name="Rectangle 13"/>
            <p:cNvSpPr/>
            <p:nvPr/>
          </p:nvSpPr>
          <p:spPr>
            <a:xfrm>
              <a:off x="533400" y="3471862"/>
              <a:ext cx="5410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6984" y="36066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3042" y="36066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这一层做的事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62654" y="36066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61864" y="36066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41686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3658" y="4055269"/>
              <a:ext cx="20205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SimpleCipher 每个字母后移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54908" y="4168616"/>
              <a:ext cx="405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4580" y="4168616"/>
              <a:ext cx="49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Khoor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5910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59581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7315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3658" y="4731544"/>
              <a:ext cx="2117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ComplexCipher 把整串逆置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54908" y="4731544"/>
              <a:ext cx="49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Khoor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4580" y="4731544"/>
              <a:ext cx="49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roohK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0396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529351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3658" y="5180171"/>
              <a:ext cx="1760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AdvancedCipher 每字符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ASCII 对 10 取模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54908" y="5293519"/>
              <a:ext cx="49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roohK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46282" y="5053965"/>
              <a:ext cx="1387792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44580" y="529351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41145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471862"/>
              <a:ext cx="5410200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61072" y="3471862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42322" y="3471862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31995" y="3471862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685" y="5795486"/>
              <a:ext cx="4858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最外层先被调用，但它要等内层算完才动手，所以变换是从第 1 层开始的</a:t>
              </a:r>
            </a:p>
          </p:txBody>
        </p:sp>
      </p:grpSp>
      <p:grpSp>
        <p:nvGrpSpPr>
          <p:cNvPr id="73" name="c2-cells-1"/>
          <p:cNvGrpSpPr/>
          <p:nvPr/>
        </p:nvGrpSpPr>
        <p:grpSpPr>
          <a:xfrm>
            <a:off x="6241923" y="1967865"/>
            <a:ext cx="4151757" cy="1600200"/>
            <a:chOff x="6241923" y="1967865"/>
            <a:chExt cx="4151757" cy="1600200"/>
          </a:xfrm>
        </p:grpSpPr>
        <p:sp>
          <p:nvSpPr>
            <p:cNvPr id="40" name="TextBox 40"/>
            <p:cNvSpPr txBox="1"/>
            <p:nvPr/>
          </p:nvSpPr>
          <p:spPr>
            <a:xfrm>
              <a:off x="6241923" y="20978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69430" y="196786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6562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74280" y="196786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7047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279130" y="196786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7532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83980" y="196786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80172" y="20978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688830" y="196786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982206" y="209788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41923" y="2688431"/>
              <a:ext cx="443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ASCII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69430" y="255841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66111" y="26884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574280" y="255841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70961" y="26884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279130" y="255841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75811" y="26884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983980" y="255841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80661" y="26884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688830" y="255841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935267" y="26884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41923" y="32789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取模后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869430" y="3148965"/>
              <a:ext cx="7048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65622" y="32789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74280" y="3148965"/>
              <a:ext cx="7048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70472" y="32789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279130" y="3148965"/>
              <a:ext cx="7048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575322" y="32789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983980" y="3148965"/>
              <a:ext cx="7048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80172" y="32789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688830" y="3148965"/>
              <a:ext cx="7048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985022" y="32789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248400" y="3758565"/>
            <a:ext cx="5410200" cy="1621155"/>
            <a:chOff x="6248400" y="3758565"/>
            <a:chExt cx="5410200" cy="1621155"/>
          </a:xfrm>
        </p:grpSpPr>
        <p:sp>
          <p:nvSpPr>
            <p:cNvPr id="74" name="Rectangle 74"/>
            <p:cNvSpPr/>
            <p:nvPr/>
          </p:nvSpPr>
          <p:spPr>
            <a:xfrm>
              <a:off x="6248400" y="375856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57925" y="389191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96050" y="3968115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68151" y="4003834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层的明细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95248" y="4003358"/>
              <a:ext cx="2023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Hello 怎么变成 Khoor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88430" y="4364355"/>
              <a:ext cx="4711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H→K、e→h、l→o、l→o、o→r，每个字母在字母表里向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后数 3 个；ComplexCipher 再把 Khoor 整串倒过来写成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roohK。</a:t>
              </a:r>
            </a:p>
          </p:txBody>
        </p:sp>
      </p:grpSp>
      <p:grpSp>
        <p:nvGrpSpPr>
          <p:cNvPr id="86" name="c2-callout-3"/>
          <p:cNvGrpSpPr/>
          <p:nvPr/>
        </p:nvGrpSpPr>
        <p:grpSpPr>
          <a:xfrm>
            <a:off x="6248400" y="5570220"/>
            <a:ext cx="5410200" cy="782955"/>
            <a:chOff x="6248400" y="5570220"/>
            <a:chExt cx="5410200" cy="782955"/>
          </a:xfrm>
        </p:grpSpPr>
        <p:sp>
          <p:nvSpPr>
            <p:cNvPr id="81" name="Rectangle 81"/>
            <p:cNvSpPr/>
            <p:nvPr/>
          </p:nvSpPr>
          <p:spPr>
            <a:xfrm>
              <a:off x="6248400" y="557022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453188" y="5861687"/>
              <a:ext cx="200023" cy="200023"/>
              <a:chOff x="6453188" y="5861687"/>
              <a:chExt cx="200023" cy="20002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6453188" y="58616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586538" y="59283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755130" y="5718810"/>
              <a:ext cx="4463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三个变量都声明成 Cipher，客户端从头到尾没提过任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何具体类名，这就是透明装饰模式。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实例三：饭前洗两次爪、饭后喝水、睡前刷牙的狗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827514" cy="264033"/>
            <a:chOff x="526542" y="1545907"/>
            <a:chExt cx="982751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827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这一个例子把多层包装、前置装饰和后置装饰放在了一起。同一个装饰类可以重复使用两次，包出来的效果就是洗两次爪。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626418" cy="3495675"/>
            <a:chOff x="533400" y="1928812"/>
            <a:chExt cx="5626418" cy="34956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三个具体装饰类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683379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EatDecorator1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AnimalDecorator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饭后喝水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EatDecorator1(Animal a)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(a);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.eat();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drinkWater();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后置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drinkWater()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"喝水"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EatDecorator2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AnimalDecorator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饭前洗爪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EatDecorator2(Animal a)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(a);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washPaws();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.eat();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washPaws() {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"洗爪"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464618" y="1928812"/>
            <a:ext cx="5193982" cy="1737360"/>
            <a:chOff x="6464618" y="1928812"/>
            <a:chExt cx="5193982" cy="1737360"/>
          </a:xfrm>
        </p:grpSpPr>
        <p:sp>
          <p:nvSpPr>
            <p:cNvPr id="13" name="Rectangle 13"/>
            <p:cNvSpPr/>
            <p:nvPr/>
          </p:nvSpPr>
          <p:spPr>
            <a:xfrm>
              <a:off x="6464618" y="1928812"/>
              <a:ext cx="5193982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93015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客户端与输出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93015" y="2340769"/>
              <a:ext cx="4042410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Animal pet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SleepDecorator(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睡前刷牙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EatDecorator1(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饭后喝一次水 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EatDecorator2(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饭前洗一次爪 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EatDecorator2(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再洗一次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Dog()))));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pet.eat();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洗爪 → 洗爪 → 狗吃饭 → 喝水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pet.sleep();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刷牙 → 狗睡觉             */</a:t>
              </a:r>
            </a:p>
          </p:txBody>
        </p:sp>
      </p:grpSp>
      <p:grpSp>
        <p:nvGrpSpPr>
          <p:cNvPr id="24" name="c2-bullets-2"/>
          <p:cNvGrpSpPr/>
          <p:nvPr/>
        </p:nvGrpSpPr>
        <p:grpSpPr>
          <a:xfrm>
            <a:off x="6457760" y="3857625"/>
            <a:ext cx="5021367" cy="1455610"/>
            <a:chOff x="6457760" y="3857625"/>
            <a:chExt cx="5021367" cy="1455610"/>
          </a:xfrm>
        </p:grpSpPr>
        <p:sp>
          <p:nvSpPr>
            <p:cNvPr id="17" name="TextBox 17"/>
            <p:cNvSpPr txBox="1"/>
            <p:nvPr/>
          </p:nvSpPr>
          <p:spPr>
            <a:xfrm>
              <a:off x="6457760" y="385762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从这段输出能看出三件事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464618" y="420338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01599" y="4174808"/>
              <a:ext cx="4777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SleepDecorator 没重写 eat()，调 eat() 时原样转发下去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464618" y="451199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01599" y="4483418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EatDecorator2 是同一个类的两个对象，装饰器能重复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464618" y="507777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01599" y="504920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前置动作从外往里打印，后置动作从里往外打印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25" name="Rectangle 2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5779770"/>
              <a:ext cx="100178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更正：源课件注释框里把类名写成 EatDecorator1l、EatDecorator2l 多了一个字母 l，方法名 Eat 后面漏了括号，刷牙方法在正文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WashTeeth 而在类图里写成 WashTeech。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实例四：给图形加边框，圆形套菱形框，三角形套矩形框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455021" cy="512636"/>
            <a:chOff x="526542" y="1545907"/>
            <a:chExt cx="10455021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45502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原来的 Circle 和 Triangle 各自会画自己。现在要求在正常绘制之外，还要在图形外边画一个边框，圆形外边画菱形框，三角形外边画矩形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框。</a:t>
              </a:r>
            </a:p>
          </p:txBody>
        </p:sp>
      </p:grpSp>
      <p:grpSp>
        <p:nvGrpSpPr>
          <p:cNvPr id="52" name="c1-uml-1"/>
          <p:cNvGrpSpPr/>
          <p:nvPr/>
        </p:nvGrpSpPr>
        <p:grpSpPr>
          <a:xfrm>
            <a:off x="679132" y="2318385"/>
            <a:ext cx="5474018" cy="2235517"/>
            <a:chOff x="679132" y="2318385"/>
            <a:chExt cx="5474018" cy="2235517"/>
          </a:xfrm>
        </p:grpSpPr>
        <p:sp>
          <p:nvSpPr>
            <p:cNvPr id="9" name="Freeform 9"/>
            <p:cNvSpPr/>
            <p:nvPr/>
          </p:nvSpPr>
          <p:spPr>
            <a:xfrm>
              <a:off x="1250632" y="3000375"/>
              <a:ext cx="1433512" cy="158115"/>
            </a:xfrm>
            <a:custGeom>
              <a:avLst/>
              <a:gdLst/>
              <a:ahLst/>
              <a:cxnLst/>
              <a:rect l="l" t="t" r="r" b="b"/>
              <a:pathLst>
                <a:path w="1433512" h="158115">
                  <a:moveTo>
                    <a:pt x="0" y="158115"/>
                  </a:moveTo>
                  <a:lnTo>
                    <a:pt x="0" y="16192"/>
                  </a:lnTo>
                  <a:lnTo>
                    <a:pt x="1433512" y="16192"/>
                  </a:lnTo>
                  <a:lnTo>
                    <a:pt x="143351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10802" y="28746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84145" y="2979420"/>
              <a:ext cx="1433512" cy="103822"/>
            </a:xfrm>
            <a:custGeom>
              <a:avLst/>
              <a:gdLst/>
              <a:ahLst/>
              <a:cxnLst/>
              <a:rect l="l" t="t" r="r" b="b"/>
              <a:pathLst>
                <a:path w="1433512" h="103822">
                  <a:moveTo>
                    <a:pt x="1433512" y="103822"/>
                  </a:moveTo>
                  <a:lnTo>
                    <a:pt x="1433512" y="0"/>
                  </a:lnTo>
                  <a:lnTo>
                    <a:pt x="0" y="0"/>
                  </a:lnTo>
                  <a:lnTo>
                    <a:pt x="0" y="2095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10802" y="28746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55645" y="2596515"/>
              <a:ext cx="2897505" cy="840105"/>
            </a:xfrm>
            <a:custGeom>
              <a:avLst/>
              <a:gdLst/>
              <a:ahLst/>
              <a:cxnLst/>
              <a:rect l="l" t="t" r="r" b="b"/>
              <a:pathLst>
                <a:path w="2897505" h="840105">
                  <a:moveTo>
                    <a:pt x="0" y="0"/>
                  </a:moveTo>
                  <a:lnTo>
                    <a:pt x="209550" y="0"/>
                  </a:lnTo>
                  <a:lnTo>
                    <a:pt x="209550" y="8572"/>
                  </a:lnTo>
                  <a:lnTo>
                    <a:pt x="2897505" y="8572"/>
                  </a:lnTo>
                  <a:lnTo>
                    <a:pt x="2897505" y="840105"/>
                  </a:lnTo>
                  <a:lnTo>
                    <a:pt x="1643062" y="840105"/>
                  </a:lnTo>
                  <a:lnTo>
                    <a:pt x="1643062" y="84010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89158" y="337851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684145" y="3892868"/>
              <a:ext cx="1433512" cy="104775"/>
            </a:xfrm>
            <a:custGeom>
              <a:avLst/>
              <a:gdLst/>
              <a:ahLst/>
              <a:cxnLst/>
              <a:rect l="l" t="t" r="r" b="b"/>
              <a:pathLst>
                <a:path w="1433512" h="104775">
                  <a:moveTo>
                    <a:pt x="0" y="104775"/>
                  </a:moveTo>
                  <a:lnTo>
                    <a:pt x="0" y="0"/>
                  </a:lnTo>
                  <a:lnTo>
                    <a:pt x="1433512" y="0"/>
                  </a:lnTo>
                  <a:lnTo>
                    <a:pt x="1433512" y="2190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044315" y="37890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17658" y="3892868"/>
              <a:ext cx="1433512" cy="104775"/>
            </a:xfrm>
            <a:custGeom>
              <a:avLst/>
              <a:gdLst/>
              <a:ahLst/>
              <a:cxnLst/>
              <a:rect l="l" t="t" r="r" b="b"/>
              <a:pathLst>
                <a:path w="1433512" h="104775">
                  <a:moveTo>
                    <a:pt x="1433512" y="104775"/>
                  </a:moveTo>
                  <a:lnTo>
                    <a:pt x="1433512" y="0"/>
                  </a:lnTo>
                  <a:lnTo>
                    <a:pt x="0" y="0"/>
                  </a:lnTo>
                  <a:lnTo>
                    <a:pt x="0" y="2190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044315" y="37890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112645" y="231838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19312" y="2326005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112645" y="25307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112645" y="26260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9132" y="315849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5800" y="316515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9132" y="33708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9132" y="34661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46158" y="3083242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53778" y="3090862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46158" y="32956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46158" y="35404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64068" y="3997642"/>
              <a:ext cx="1240155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070735" y="4004310"/>
              <a:ext cx="122682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64068" y="4210050"/>
              <a:ext cx="12401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064068" y="4305300"/>
              <a:ext cx="12401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960620" y="3997642"/>
              <a:ext cx="11811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968240" y="4004310"/>
              <a:ext cx="11668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60620" y="4210050"/>
              <a:ext cx="11811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960620" y="4305300"/>
              <a:ext cx="11811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502480" y="2369820"/>
              <a:ext cx="3633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84082" y="2694146"/>
              <a:ext cx="489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6088" y="3209925"/>
              <a:ext cx="369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Circle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0570" y="3534251"/>
              <a:ext cx="489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19153" y="3134678"/>
              <a:ext cx="997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DecoratorShape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617595" y="3363754"/>
              <a:ext cx="8421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shape : Shape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17595" y="3608546"/>
              <a:ext cx="489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18875" y="4049078"/>
              <a:ext cx="11305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DiamondDecorator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35505" y="4373404"/>
              <a:ext cx="489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17681" y="4049078"/>
              <a:ext cx="10669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BorderDecorator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32058" y="4373404"/>
              <a:ext cx="4897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04385" y="2408872"/>
              <a:ext cx="40957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37818" y="243173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</p:grpSp>
      <p:grpSp>
        <p:nvGrpSpPr>
          <p:cNvPr id="59" name="c1-card-2"/>
          <p:cNvGrpSpPr/>
          <p:nvPr/>
        </p:nvGrpSpPr>
        <p:grpSpPr>
          <a:xfrm>
            <a:off x="533400" y="4865370"/>
            <a:ext cx="5735002" cy="1459230"/>
            <a:chOff x="533400" y="4865370"/>
            <a:chExt cx="5735002" cy="1459230"/>
          </a:xfrm>
        </p:grpSpPr>
        <p:sp>
          <p:nvSpPr>
            <p:cNvPr id="53" name="Rectangle 53"/>
            <p:cNvSpPr/>
            <p:nvPr/>
          </p:nvSpPr>
          <p:spPr>
            <a:xfrm>
              <a:off x="533400" y="4865370"/>
              <a:ext cx="573500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925" y="499872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8190" y="505206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2759" y="508492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角色对照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573340" y="508730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五个类各是什么角色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1332" y="5413058"/>
              <a:ext cx="44285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Shape 是抽象构件，Circle 和 Triangle 是具体构件，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DecoratorShape 是抽象装饰类，DiamondDecorator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BorderDecorator 是具体装饰类。图中省略了 Triangle。</a:t>
              </a:r>
            </a:p>
          </p:txBody>
        </p:sp>
      </p:grpSp>
      <p:grpSp>
        <p:nvGrpSpPr>
          <p:cNvPr id="63" name="c2-code-1"/>
          <p:cNvGrpSpPr/>
          <p:nvPr/>
        </p:nvGrpSpPr>
        <p:grpSpPr>
          <a:xfrm>
            <a:off x="6573202" y="2177415"/>
            <a:ext cx="5085398" cy="2264092"/>
            <a:chOff x="6573202" y="2177415"/>
            <a:chExt cx="5085398" cy="2264092"/>
          </a:xfrm>
        </p:grpSpPr>
        <p:sp>
          <p:nvSpPr>
            <p:cNvPr id="60" name="Rectangle 60"/>
            <p:cNvSpPr/>
            <p:nvPr/>
          </p:nvSpPr>
          <p:spPr>
            <a:xfrm>
              <a:off x="6573202" y="2177415"/>
              <a:ext cx="5085398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01600" y="232933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一个具体装饰类与客户端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01600" y="2589371"/>
              <a:ext cx="3706368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DiamondDecorator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DecoratorShape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DiamondDecorator(Shape s)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(s);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.draw();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先画原来的图形  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drawDiamond();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再在外边画菱形框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drawDiamond()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Shape c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DiamondDecorator(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Circle());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573202" y="4612005"/>
            <a:ext cx="5085398" cy="1713548"/>
            <a:chOff x="6573202" y="4612005"/>
            <a:chExt cx="5085398" cy="1713548"/>
          </a:xfrm>
        </p:grpSpPr>
        <p:sp>
          <p:nvSpPr>
            <p:cNvPr id="64" name="Rectangle 64"/>
            <p:cNvSpPr/>
            <p:nvPr/>
          </p:nvSpPr>
          <p:spPr>
            <a:xfrm>
              <a:off x="6573202" y="4612005"/>
              <a:ext cx="5085398" cy="1713548"/>
            </a:xfrm>
            <a:prstGeom prst="roundRect">
              <a:avLst>
                <a:gd name="adj" fmla="val 77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582728" y="4745355"/>
              <a:ext cx="47625" cy="14468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797992" y="479869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78510" y="483155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读这个例子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36967" y="483298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边框和图形是两件事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91134" y="5159692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加边框的逻辑写在装饰器里，Circle 和 Triangle 一行都不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用改。想给三角形也加菱形框，只要换一个 new 的组合。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68237" cy="3923347"/>
            <a:chOff x="667512" y="1835468"/>
            <a:chExt cx="6468237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透明式、半透明式与工程中的装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客户端怎么声明变量，决定了这套装饰是彻底透明还是只透明一半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透明装饰模式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半透明装饰模式与取舍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两种简化写法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5668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java.io 与 Swing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透明式、半透明式与工程中的装饰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透明装饰模式：客户端只认抽象构件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597598"/>
            <a:chOff x="525399" y="1550194"/>
            <a:chExt cx="1065098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透明性要求客户端程序不声明具体构件类型，也不声明具体装饰类型，一律声明为抽象构件类型。多重加密系统就是这种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2257425"/>
            <a:ext cx="5626418" cy="1516380"/>
            <a:chOff x="533400" y="2257425"/>
            <a:chExt cx="5626418" cy="1516380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62641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409349"/>
              <a:ext cx="1137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全部声明成 Cipher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628900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672239"/>
              <a:ext cx="314071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Cipher sc, cc, ac;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SimpleCipher();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ComplexCipher(sc);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AdvancedCipher(cc);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System.out.println(ac.encrypt(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964305"/>
            <a:ext cx="5626418" cy="2322195"/>
            <a:chOff x="533400" y="3964305"/>
            <a:chExt cx="5626418" cy="2322195"/>
          </a:xfrm>
        </p:grpSpPr>
        <p:sp>
          <p:nvSpPr>
            <p:cNvPr id="14" name="Rectangle 14"/>
            <p:cNvSpPr/>
            <p:nvPr/>
          </p:nvSpPr>
          <p:spPr>
            <a:xfrm>
              <a:off x="533400" y="3964305"/>
              <a:ext cx="5626418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097655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3430" y="41986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换来的好处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6158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55295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装饰前后的对象在客户端眼里完全一样，加几层都不用改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523684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517398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任何一层都可以继续被包进下一层，包装可以无限嵌套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55721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5509260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一个方法的参数写成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Cipher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，传原件还是传包了三层的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对象都收</a:t>
              </a:r>
            </a:p>
          </p:txBody>
        </p:sp>
      </p:grpSp>
      <p:grpSp>
        <p:nvGrpSpPr>
          <p:cNvPr id="29" name="c2-bullets-1"/>
          <p:cNvGrpSpPr/>
          <p:nvPr/>
        </p:nvGrpSpPr>
        <p:grpSpPr>
          <a:xfrm>
            <a:off x="6456998" y="2282190"/>
            <a:ext cx="5109210" cy="1278255"/>
            <a:chOff x="6456998" y="2282190"/>
            <a:chExt cx="5109210" cy="1278255"/>
          </a:xfrm>
        </p:grpSpPr>
        <p:sp>
          <p:nvSpPr>
            <p:cNvPr id="24" name="TextBox 24"/>
            <p:cNvSpPr txBox="1"/>
            <p:nvPr/>
          </p:nvSpPr>
          <p:spPr>
            <a:xfrm>
              <a:off x="6456998" y="228219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要付的代价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464618" y="267271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04648" y="263652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具体装饰类不能对外新增方法，新增了客户端也调不到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464618" y="301752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04648" y="2981325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新职责只能体现为对已有方法的增强，做不到“多一个操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作”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691890"/>
            <a:ext cx="5193982" cy="1621155"/>
            <a:chOff x="6464618" y="3691890"/>
            <a:chExt cx="5193982" cy="1621155"/>
          </a:xfrm>
        </p:grpSpPr>
        <p:sp>
          <p:nvSpPr>
            <p:cNvPr id="30" name="Rectangle 30"/>
            <p:cNvSpPr/>
            <p:nvPr/>
          </p:nvSpPr>
          <p:spPr>
            <a:xfrm>
              <a:off x="6464618" y="3691890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74168" y="39014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65328" y="39371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5195" y="393668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想新增操作又要保持透明怎么办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6548" y="429768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把这个操作提到抽象构件里去声明，具体构件给一个空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实现或默认实现，装饰类再重写它。代价是抽象构件会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变胖，所以只对确实属于这一族的操作才这么做。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464618" y="5503545"/>
            <a:ext cx="5193982" cy="782955"/>
            <a:chOff x="6464618" y="5503545"/>
            <a:chExt cx="5193982" cy="782955"/>
          </a:xfrm>
        </p:grpSpPr>
        <p:sp>
          <p:nvSpPr>
            <p:cNvPr id="36" name="Rectangle 36"/>
            <p:cNvSpPr/>
            <p:nvPr/>
          </p:nvSpPr>
          <p:spPr>
            <a:xfrm>
              <a:off x="6464618" y="550354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5795010"/>
              <a:ext cx="200026" cy="200025"/>
              <a:chOff x="6669405" y="5795010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669405" y="57950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09144" y="58394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43859" y="59505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348" y="565213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能用透明式就用透明式，这是源课件给的第一条建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议。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透明式、半透明式与工程中的装饰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半透明装饰模式：为了调新方法，只好声明具体类型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099673" cy="264033"/>
            <a:chOff x="526542" y="1545907"/>
            <a:chExt cx="1109967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099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大多数装饰模式的用法都是半透明的，而不是完全透明的。半透明允许在客户端声明具体装饰类型的对象，调用具体装饰类里新增的方法。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5410200" cy="1384935"/>
            <a:chOff x="533400" y="1928812"/>
            <a:chExt cx="5410200" cy="1384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变形金刚：第三行换了类型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65557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007042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832731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Transform camaro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Car();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抽象构件类型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camaro.move();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Robot bumblebee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Robot(camaro);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具体装饰类型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bumblebee.move();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bumblebee.say();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新增方法，靠具体类型才调得到 */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478530"/>
            <a:ext cx="5410200" cy="1209675"/>
            <a:chOff x="533400" y="3478530"/>
            <a:chExt cx="5410200" cy="1209675"/>
          </a:xfrm>
        </p:grpSpPr>
        <p:sp>
          <p:nvSpPr>
            <p:cNvPr id="15" name="Rectangle 15"/>
            <p:cNvSpPr/>
            <p:nvPr/>
          </p:nvSpPr>
          <p:spPr>
            <a:xfrm>
              <a:off x="533400" y="3478530"/>
              <a:ext cx="541020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630454"/>
              <a:ext cx="1751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再包一层，say() 就够不着了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797" y="3891439"/>
              <a:ext cx="3861943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Transform 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Airplane(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Robot(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Car()));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t.fly();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编译不过：Transform 里没有 fly() */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就算写成 Airplane a = new Airplane(new Robot(...)); */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a.say() 也调不到，Airplane 里没有 say()          */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852988"/>
            <a:ext cx="5410200" cy="1403032"/>
            <a:chOff x="533400" y="4852988"/>
            <a:chExt cx="5410200" cy="1403032"/>
          </a:xfrm>
        </p:grpSpPr>
        <p:sp>
          <p:nvSpPr>
            <p:cNvPr id="19" name="Rectangle 19"/>
            <p:cNvSpPr/>
            <p:nvPr/>
          </p:nvSpPr>
          <p:spPr>
            <a:xfrm>
              <a:off x="533400" y="4852988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986338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50339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147" y="50668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18450" y="507349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半透明式装不了第二层新方法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5390674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新增方法只写在某一个具体装饰类里，一旦它被别的装饰器包住，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外层的静态类型就看不到这个方法。想两层的新方法都调得到，只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能让外层也把它转发一遍，这时又回到了修改接口的老问题。</a:t>
              </a:r>
            </a:p>
          </p:txBody>
        </p:sp>
      </p:grpSp>
      <p:grpSp>
        <p:nvGrpSpPr>
          <p:cNvPr id="50" name="c2-compare-1"/>
          <p:cNvGrpSpPr/>
          <p:nvPr/>
        </p:nvGrpSpPr>
        <p:grpSpPr>
          <a:xfrm>
            <a:off x="6248400" y="1928812"/>
            <a:ext cx="5410200" cy="1981200"/>
            <a:chOff x="6248400" y="1928812"/>
            <a:chExt cx="5410200" cy="1981200"/>
          </a:xfrm>
        </p:grpSpPr>
        <p:sp>
          <p:nvSpPr>
            <p:cNvPr id="26" name="Rectangle 26"/>
            <p:cNvSpPr/>
            <p:nvPr/>
          </p:nvSpPr>
          <p:spPr>
            <a:xfrm>
              <a:off x="6248400" y="1928812"/>
              <a:ext cx="2476500" cy="19812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2062162"/>
              <a:ext cx="47625" cy="17145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60998" y="21302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透明式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77000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32448" y="243220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客户端只写抽象构件类型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77000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32448" y="27170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可以无限层嵌套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77000" y="305466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32448" y="30018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新职责只能增强已有方法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77000" y="333946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32448" y="328660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加新操作要改抽象构件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82100" y="1928812"/>
              <a:ext cx="2476500" cy="19812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191625" y="2062162"/>
              <a:ext cx="47625" cy="17145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94698" y="21302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半透明式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410700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66148" y="2432209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客户端要写出具体装饰类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410700" y="301180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66148" y="295989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新方法调得到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410700" y="32975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66148" y="324469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多包一层新方法就失效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410700" y="358235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66148" y="35294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客户端与具体装饰类耦合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772525" y="2738438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27580" y="286321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4074795"/>
            <a:ext cx="5410200" cy="2181225"/>
            <a:chOff x="6248400" y="4074795"/>
            <a:chExt cx="5410200" cy="2181225"/>
          </a:xfrm>
        </p:grpSpPr>
        <p:sp>
          <p:nvSpPr>
            <p:cNvPr id="51" name="Rectangle 51"/>
            <p:cNvSpPr/>
            <p:nvPr/>
          </p:nvSpPr>
          <p:spPr>
            <a:xfrm>
              <a:off x="6248400" y="4074795"/>
              <a:ext cx="5410200" cy="2181225"/>
            </a:xfrm>
            <a:prstGeom prst="roundRect">
              <a:avLst>
                <a:gd name="adj" fmla="val 611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29375" y="425577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13944" y="42886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44906" y="429529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看客户端变量的声明类型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22898" y="4611529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只要有一处把变量声明成了具体装饰类，这套用法就是半透明的。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半透明不是错，它只是把“能调新方法”和“能继续嵌套”这两件事换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了一下。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透明式、半透明式与工程中的装饰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两种简化写法，以及简化之前要想清楚的事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50322" cy="597598"/>
            <a:chOff x="525399" y="1550194"/>
            <a:chExt cx="1045032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5032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角色不是非凑齐四个不可。只有一个具体构件时可以省掉抽象构件类，只有一个具体装饰类时可以把两层装饰类合成一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层。</a:t>
              </a:r>
            </a:p>
          </p:txBody>
        </p:sp>
      </p:grpSp>
      <p:grpSp>
        <p:nvGrpSpPr>
          <p:cNvPr id="45" name="c1-uml-1"/>
          <p:cNvGrpSpPr/>
          <p:nvPr/>
        </p:nvGrpSpPr>
        <p:grpSpPr>
          <a:xfrm>
            <a:off x="1921803" y="2443162"/>
            <a:ext cx="3985944" cy="2484120"/>
            <a:chOff x="1921803" y="2443162"/>
            <a:chExt cx="3985944" cy="2484120"/>
          </a:xfrm>
        </p:grpSpPr>
        <p:sp>
          <p:nvSpPr>
            <p:cNvPr id="9" name="Freeform 9"/>
            <p:cNvSpPr/>
            <p:nvPr/>
          </p:nvSpPr>
          <p:spPr>
            <a:xfrm>
              <a:off x="2562225" y="3125152"/>
              <a:ext cx="1352550" cy="170497"/>
            </a:xfrm>
            <a:custGeom>
              <a:avLst/>
              <a:gdLst/>
              <a:ahLst/>
              <a:cxnLst/>
              <a:rect l="l" t="t" r="r" b="b"/>
              <a:pathLst>
                <a:path w="1352550" h="170497">
                  <a:moveTo>
                    <a:pt x="1352550" y="170497"/>
                  </a:moveTo>
                  <a:lnTo>
                    <a:pt x="1352550" y="21907"/>
                  </a:lnTo>
                  <a:lnTo>
                    <a:pt x="0" y="2190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88882" y="29994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62300" y="2721292"/>
              <a:ext cx="2672715" cy="926783"/>
            </a:xfrm>
            <a:custGeom>
              <a:avLst/>
              <a:gdLst/>
              <a:ahLst/>
              <a:cxnLst/>
              <a:rect l="l" t="t" r="r" b="b"/>
              <a:pathLst>
                <a:path w="2672715" h="926783">
                  <a:moveTo>
                    <a:pt x="0" y="0"/>
                  </a:moveTo>
                  <a:lnTo>
                    <a:pt x="209550" y="0"/>
                  </a:lnTo>
                  <a:lnTo>
                    <a:pt x="209550" y="8573"/>
                  </a:lnTo>
                  <a:lnTo>
                    <a:pt x="2672715" y="8573"/>
                  </a:lnTo>
                  <a:lnTo>
                    <a:pt x="2672715" y="926783"/>
                  </a:lnTo>
                  <a:lnTo>
                    <a:pt x="1533525" y="926783"/>
                  </a:lnTo>
                  <a:lnTo>
                    <a:pt x="1533525" y="92678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86275" y="359092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562225" y="4111942"/>
              <a:ext cx="1352550" cy="110490"/>
            </a:xfrm>
            <a:custGeom>
              <a:avLst/>
              <a:gdLst/>
              <a:ahLst/>
              <a:cxnLst/>
              <a:rect l="l" t="t" r="r" b="b"/>
              <a:pathLst>
                <a:path w="1352550" h="110490">
                  <a:moveTo>
                    <a:pt x="0" y="110490"/>
                  </a:moveTo>
                  <a:lnTo>
                    <a:pt x="0" y="0"/>
                  </a:lnTo>
                  <a:lnTo>
                    <a:pt x="1352550" y="0"/>
                  </a:lnTo>
                  <a:lnTo>
                    <a:pt x="1352550" y="1428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41432" y="40005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914775" y="4126230"/>
              <a:ext cx="1352550" cy="170498"/>
            </a:xfrm>
            <a:custGeom>
              <a:avLst/>
              <a:gdLst/>
              <a:ahLst/>
              <a:cxnLst/>
              <a:rect l="l" t="t" r="r" b="b"/>
              <a:pathLst>
                <a:path w="1352550" h="170498">
                  <a:moveTo>
                    <a:pt x="1352550" y="170498"/>
                  </a:moveTo>
                  <a:lnTo>
                    <a:pt x="1352550" y="22860"/>
                  </a:lnTo>
                  <a:lnTo>
                    <a:pt x="0" y="2286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41432" y="40005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62150" y="2443162"/>
              <a:ext cx="120015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69770" y="2449830"/>
              <a:ext cx="118586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962150" y="2655570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62150" y="2750820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43275" y="329565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50895" y="3302318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43275" y="350805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43275" y="37518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62150" y="4222432"/>
              <a:ext cx="120015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969770" y="4230052"/>
              <a:ext cx="118586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62150" y="4434840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62150" y="4678680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67250" y="4296728"/>
              <a:ext cx="120015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74870" y="4304348"/>
              <a:ext cx="118586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67250" y="4509135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67250" y="4604385"/>
              <a:ext cx="12001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45961" y="2494598"/>
              <a:ext cx="1232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ConcreteComponent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33588" y="281892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93173" y="3347085"/>
              <a:ext cx="643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Decorator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14712" y="357616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component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14712" y="3820001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21803" y="4273868"/>
              <a:ext cx="12808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ConcreteDecoratorA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33588" y="4502944"/>
              <a:ext cx="7144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addedState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33588" y="474678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26903" y="4348162"/>
              <a:ext cx="12808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ConcreteDecoratorB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38688" y="4672489"/>
              <a:ext cx="9907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addedBehavior()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212908" y="2513648"/>
              <a:ext cx="78200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234120" y="2540318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</p:grpSp>
      <p:grpSp>
        <p:nvGrpSpPr>
          <p:cNvPr id="52" name="c1-callout-2"/>
          <p:cNvGrpSpPr/>
          <p:nvPr/>
        </p:nvGrpSpPr>
        <p:grpSpPr>
          <a:xfrm>
            <a:off x="533400" y="5229225"/>
            <a:ext cx="5410200" cy="1000125"/>
            <a:chOff x="533400" y="5229225"/>
            <a:chExt cx="5410200" cy="1000125"/>
          </a:xfrm>
        </p:grpSpPr>
        <p:sp>
          <p:nvSpPr>
            <p:cNvPr id="46" name="Rectangle 46"/>
            <p:cNvSpPr/>
            <p:nvPr/>
          </p:nvSpPr>
          <p:spPr>
            <a:xfrm>
              <a:off x="533400" y="5229225"/>
              <a:ext cx="5410200" cy="1000125"/>
            </a:xfrm>
            <a:prstGeom prst="roundRect">
              <a:avLst>
                <a:gd name="adj" fmla="val 1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629275"/>
              <a:ext cx="200026" cy="200026"/>
              <a:chOff x="738188" y="562927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6292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5695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57292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48640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没有抽象构件类的装饰模式：抽象装饰类直接继承唯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一的那个具体构件类。</a:t>
              </a:r>
            </a:p>
          </p:txBody>
        </p:sp>
      </p:grpSp>
      <p:grpSp>
        <p:nvGrpSpPr>
          <p:cNvPr id="63" name="c2-bullets-1"/>
          <p:cNvGrpSpPr/>
          <p:nvPr/>
        </p:nvGrpSpPr>
        <p:grpSpPr>
          <a:xfrm>
            <a:off x="6240780" y="2282190"/>
            <a:ext cx="5105400" cy="2480310"/>
            <a:chOff x="6240780" y="2282190"/>
            <a:chExt cx="5105400" cy="2480310"/>
          </a:xfrm>
        </p:grpSpPr>
        <p:sp>
          <p:nvSpPr>
            <p:cNvPr id="53" name="TextBox 53"/>
            <p:cNvSpPr txBox="1"/>
            <p:nvPr/>
          </p:nvSpPr>
          <p:spPr>
            <a:xfrm>
              <a:off x="6240780" y="228219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源课件给的三条注意事项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248400" y="26231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10249" y="26654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49390" y="26365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尽量让装饰类的接口与被装饰类的接口相同，客户端才能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一致对待装饰前后的对象，所以在可能的情况下优先用透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明装饰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248400" y="353949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10249" y="35817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49390" y="3552825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尽量让具体构件类保持“轻”，不要把太多行为放进去，能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拆成装饰器的就拆出去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48400" y="417004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10249" y="4212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49390" y="418338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如果只有一个具体构件类，抽象装饰类可以直接作为它的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子类，抽象构件类就省掉了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4893945"/>
            <a:ext cx="5410200" cy="1335405"/>
            <a:chOff x="6248400" y="4893945"/>
            <a:chExt cx="5410200" cy="1335405"/>
          </a:xfrm>
        </p:grpSpPr>
        <p:sp>
          <p:nvSpPr>
            <p:cNvPr id="64" name="Rectangle 64"/>
            <p:cNvSpPr/>
            <p:nvPr/>
          </p:nvSpPr>
          <p:spPr>
            <a:xfrm>
              <a:off x="6248400" y="4893945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502729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96050" y="510349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73456" y="51392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简化的代价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23798" y="513873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省掉抽象构件之后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8430" y="549973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装饰器绑死在那一个具体构件上，将来再出现第二种构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件就得把抽象层补回去。类少了，扩展的余地也少了。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52959" cy="909257"/>
            <a:chOff x="520446" y="342900"/>
            <a:chExt cx="65529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透明式、半透明式与工程中的装饰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529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java.io：装饰模式在 JDK 里最经典的落地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609326" cy="512636"/>
            <a:chOff x="526542" y="1545907"/>
            <a:chExt cx="10609326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6093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 FileInputStream 只会一个字节一个字节地读。想要带缓冲就在外面包一层 BufferedInputStream，想要按 Java 基本类型读就再包一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 DataInputStream。</a:t>
              </a:r>
            </a:p>
          </p:txBody>
        </p:sp>
      </p:grpSp>
      <p:grpSp>
        <p:nvGrpSpPr>
          <p:cNvPr id="52" name="c1-uml-1"/>
          <p:cNvGrpSpPr/>
          <p:nvPr/>
        </p:nvGrpSpPr>
        <p:grpSpPr>
          <a:xfrm>
            <a:off x="651510" y="2316480"/>
            <a:ext cx="5297804" cy="2300288"/>
            <a:chOff x="651510" y="2316480"/>
            <a:chExt cx="5297804" cy="2300288"/>
          </a:xfrm>
        </p:grpSpPr>
        <p:sp>
          <p:nvSpPr>
            <p:cNvPr id="9" name="Freeform 9"/>
            <p:cNvSpPr/>
            <p:nvPr/>
          </p:nvSpPr>
          <p:spPr>
            <a:xfrm>
              <a:off x="1223010" y="2998470"/>
              <a:ext cx="1380172" cy="152400"/>
            </a:xfrm>
            <a:custGeom>
              <a:avLst/>
              <a:gdLst/>
              <a:ahLst/>
              <a:cxnLst/>
              <a:rect l="l" t="t" r="r" b="b"/>
              <a:pathLst>
                <a:path w="1380172" h="152400">
                  <a:moveTo>
                    <a:pt x="0" y="152400"/>
                  </a:moveTo>
                  <a:lnTo>
                    <a:pt x="0" y="13335"/>
                  </a:lnTo>
                  <a:lnTo>
                    <a:pt x="1380172" y="13335"/>
                  </a:lnTo>
                  <a:lnTo>
                    <a:pt x="138017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29840" y="28727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03182" y="2974658"/>
              <a:ext cx="1379220" cy="101917"/>
            </a:xfrm>
            <a:custGeom>
              <a:avLst/>
              <a:gdLst/>
              <a:ahLst/>
              <a:cxnLst/>
              <a:rect l="l" t="t" r="r" b="b"/>
              <a:pathLst>
                <a:path w="1379220" h="101917">
                  <a:moveTo>
                    <a:pt x="1379220" y="101917"/>
                  </a:moveTo>
                  <a:lnTo>
                    <a:pt x="1379220" y="0"/>
                  </a:lnTo>
                  <a:lnTo>
                    <a:pt x="0" y="0"/>
                  </a:lnTo>
                  <a:lnTo>
                    <a:pt x="0" y="2381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29840" y="28727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74682" y="2594610"/>
              <a:ext cx="2767012" cy="834390"/>
            </a:xfrm>
            <a:custGeom>
              <a:avLst/>
              <a:gdLst/>
              <a:ahLst/>
              <a:cxnLst/>
              <a:rect l="l" t="t" r="r" b="b"/>
              <a:pathLst>
                <a:path w="2767012" h="834390">
                  <a:moveTo>
                    <a:pt x="0" y="0"/>
                  </a:moveTo>
                  <a:lnTo>
                    <a:pt x="209550" y="0"/>
                  </a:lnTo>
                  <a:lnTo>
                    <a:pt x="209550" y="8573"/>
                  </a:lnTo>
                  <a:lnTo>
                    <a:pt x="2767012" y="8573"/>
                  </a:lnTo>
                  <a:lnTo>
                    <a:pt x="2767012" y="834390"/>
                  </a:lnTo>
                  <a:lnTo>
                    <a:pt x="1630680" y="834390"/>
                  </a:lnTo>
                  <a:lnTo>
                    <a:pt x="1630680" y="83439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95812" y="337185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603182" y="3847148"/>
              <a:ext cx="1379220" cy="64770"/>
            </a:xfrm>
            <a:custGeom>
              <a:avLst/>
              <a:gdLst/>
              <a:ahLst/>
              <a:cxnLst/>
              <a:rect l="l" t="t" r="r" b="b"/>
              <a:pathLst>
                <a:path w="1379220" h="64770">
                  <a:moveTo>
                    <a:pt x="0" y="64770"/>
                  </a:moveTo>
                  <a:lnTo>
                    <a:pt x="0" y="0"/>
                  </a:lnTo>
                  <a:lnTo>
                    <a:pt x="1379220" y="0"/>
                  </a:lnTo>
                  <a:lnTo>
                    <a:pt x="1379220" y="6096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09060" y="378237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82402" y="3847148"/>
              <a:ext cx="1379220" cy="64770"/>
            </a:xfrm>
            <a:custGeom>
              <a:avLst/>
              <a:gdLst/>
              <a:ahLst/>
              <a:cxnLst/>
              <a:rect l="l" t="t" r="r" b="b"/>
              <a:pathLst>
                <a:path w="1379220" h="64770">
                  <a:moveTo>
                    <a:pt x="1379220" y="64770"/>
                  </a:moveTo>
                  <a:lnTo>
                    <a:pt x="1379220" y="0"/>
                  </a:lnTo>
                  <a:lnTo>
                    <a:pt x="0" y="0"/>
                  </a:lnTo>
                  <a:lnTo>
                    <a:pt x="0" y="6096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909060" y="378237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031682" y="231648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38350" y="2323148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031682" y="25288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031682" y="26241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51510" y="315087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9130" y="315849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51510" y="33632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51510" y="34585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68992" y="3076575"/>
              <a:ext cx="122682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75660" y="3084195"/>
              <a:ext cx="121253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368992" y="3288982"/>
              <a:ext cx="12268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68992" y="3532822"/>
              <a:ext cx="12268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88820" y="3911918"/>
              <a:ext cx="122682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96440" y="3918585"/>
              <a:ext cx="121253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88820" y="4124325"/>
              <a:ext cx="12268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88820" y="4219575"/>
              <a:ext cx="12268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774882" y="3911918"/>
              <a:ext cx="117443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81550" y="3918585"/>
              <a:ext cx="116014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774882" y="4124325"/>
              <a:ext cx="11744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774882" y="4219575"/>
              <a:ext cx="11744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212845" y="2367915"/>
              <a:ext cx="7806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InputStream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03120" y="2692241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read()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2922" y="3202305"/>
              <a:ext cx="10001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FileInputStream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2948" y="3526631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read()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12299" y="3128010"/>
              <a:ext cx="11402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FilterInputStream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40430" y="3357086"/>
              <a:ext cx="9949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in : InputStream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40430" y="3600926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read()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30985" y="3963352"/>
              <a:ext cx="1344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BufferedInputStream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60258" y="4287679"/>
              <a:ext cx="498983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mark()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reset()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29370" y="3963352"/>
              <a:ext cx="1064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DataInputStream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46320" y="4287679"/>
              <a:ext cx="613537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readInt()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readUTF()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566285" y="2406968"/>
              <a:ext cx="19240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06233" y="2429828"/>
              <a:ext cx="1125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</a:t>
              </a:r>
            </a:p>
          </p:txBody>
        </p:sp>
      </p:grpSp>
      <p:grpSp>
        <p:nvGrpSpPr>
          <p:cNvPr id="59" name="c1-callout-2"/>
          <p:cNvGrpSpPr/>
          <p:nvPr/>
        </p:nvGrpSpPr>
        <p:grpSpPr>
          <a:xfrm>
            <a:off x="533400" y="4846320"/>
            <a:ext cx="5518785" cy="1453515"/>
            <a:chOff x="533400" y="4846320"/>
            <a:chExt cx="5518785" cy="1453515"/>
          </a:xfrm>
        </p:grpSpPr>
        <p:sp>
          <p:nvSpPr>
            <p:cNvPr id="53" name="Rectangle 53"/>
            <p:cNvSpPr/>
            <p:nvPr/>
          </p:nvSpPr>
          <p:spPr>
            <a:xfrm>
              <a:off x="533400" y="4846320"/>
              <a:ext cx="5518785" cy="1453515"/>
            </a:xfrm>
            <a:prstGeom prst="roundRect">
              <a:avLst>
                <a:gd name="adj" fmla="val 78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473065"/>
              <a:ext cx="200026" cy="200025"/>
              <a:chOff x="738188" y="547306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4730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55175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56286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5366861"/>
              <a:ext cx="45321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FilterInputStream 没有声明成 abstract，只是把构造方法设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 protected，包外拿不到实例，效果上仍是抽象装饰类。</a:t>
              </a:r>
            </a:p>
          </p:txBody>
        </p:sp>
      </p:grpSp>
      <p:grpSp>
        <p:nvGrpSpPr>
          <p:cNvPr id="71" name="c2-kv-1"/>
          <p:cNvGrpSpPr/>
          <p:nvPr/>
        </p:nvGrpSpPr>
        <p:grpSpPr>
          <a:xfrm>
            <a:off x="6350508" y="2197894"/>
            <a:ext cx="5308092" cy="1851469"/>
            <a:chOff x="6350508" y="2197894"/>
            <a:chExt cx="5308092" cy="1851469"/>
          </a:xfrm>
        </p:grpSpPr>
        <p:sp>
          <p:nvSpPr>
            <p:cNvPr id="60" name="TextBox 60"/>
            <p:cNvSpPr txBox="1"/>
            <p:nvPr/>
          </p:nvSpPr>
          <p:spPr>
            <a:xfrm>
              <a:off x="6350508" y="21978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抽象构件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43978" y="2197894"/>
              <a:ext cx="2091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InputStream，一个抽象类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356985" y="2469832"/>
              <a:ext cx="53016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50508" y="25722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具体构件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43978" y="2572226"/>
              <a:ext cx="336981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FileInputStream、ByteArrayInputStream、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ObjectInputStream 等直接子类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356985" y="3084195"/>
              <a:ext cx="53016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50508" y="31856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抽象装饰类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43978" y="3185636"/>
              <a:ext cx="4129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FilterInputStream，封装其它输入流并提供额外功能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356985" y="3457575"/>
              <a:ext cx="53016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50508" y="355996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具体装饰类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43978" y="3559969"/>
              <a:ext cx="33454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BufferedInputStream 提供缓冲和 mark()、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reset()，DataInputStream 按基本类型读</a:t>
              </a:r>
            </a:p>
          </p:txBody>
        </p:sp>
      </p:grpSp>
      <p:grpSp>
        <p:nvGrpSpPr>
          <p:cNvPr id="75" name="c2-code-2"/>
          <p:cNvGrpSpPr/>
          <p:nvPr/>
        </p:nvGrpSpPr>
        <p:grpSpPr>
          <a:xfrm>
            <a:off x="6356985" y="4163378"/>
            <a:ext cx="5301615" cy="1033462"/>
            <a:chOff x="6356985" y="4163378"/>
            <a:chExt cx="5301615" cy="1033462"/>
          </a:xfrm>
        </p:grpSpPr>
        <p:sp>
          <p:nvSpPr>
            <p:cNvPr id="72" name="Rectangle 72"/>
            <p:cNvSpPr/>
            <p:nvPr/>
          </p:nvSpPr>
          <p:spPr>
            <a:xfrm>
              <a:off x="6356985" y="4163378"/>
              <a:ext cx="530161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85382" y="4315301"/>
              <a:ext cx="19427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FilterInputStream 的关键三行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85382" y="4576286"/>
              <a:ext cx="4185539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volatile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InputStream in;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FilterInputStream(InputStream in)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.in = in;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read()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in.read(); }</a:t>
              </a:r>
            </a:p>
          </p:txBody>
        </p:sp>
      </p:grpSp>
      <p:grpSp>
        <p:nvGrpSpPr>
          <p:cNvPr id="82" name="c2-callout-3"/>
          <p:cNvGrpSpPr/>
          <p:nvPr/>
        </p:nvGrpSpPr>
        <p:grpSpPr>
          <a:xfrm>
            <a:off x="6356985" y="5362575"/>
            <a:ext cx="5301615" cy="937260"/>
            <a:chOff x="6356985" y="5362575"/>
            <a:chExt cx="5301615" cy="937260"/>
          </a:xfrm>
        </p:grpSpPr>
        <p:sp>
          <p:nvSpPr>
            <p:cNvPr id="76" name="Rectangle 76"/>
            <p:cNvSpPr/>
            <p:nvPr/>
          </p:nvSpPr>
          <p:spPr>
            <a:xfrm>
              <a:off x="6356985" y="5362575"/>
              <a:ext cx="5301615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561773" y="5731193"/>
              <a:ext cx="200026" cy="200026"/>
              <a:chOff x="6561773" y="5731193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561773" y="57311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661785" y="5797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650673" y="58312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864858" y="5506879"/>
              <a:ext cx="435330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更正：源课件的 java.io 结构图只画了继承层次，没有标出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FilterInputStream 持有 InputStream 的那条聚合线，双重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关系只看得见一半。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透明式、半透明式与工程中的装饰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流包装的客户端写法，以及一个常被认错的邻居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91114" cy="278702"/>
            <a:chOff x="526161" y="1547336"/>
            <a:chExt cx="679111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911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包装的顺序就是 new 的嵌套顺序，读的时候数据从最里层的文件流一路往外传。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41195"/>
            <a:ext cx="5410200" cy="2050352"/>
            <a:chOff x="533400" y="1941195"/>
            <a:chExt cx="5410200" cy="2050352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8427" r="0" b="28427"/>
            <a:stretch>
              <a:fillRect/>
            </a:stretch>
          </p:blipFill>
          <p:spPr>
            <a:xfrm>
              <a:off x="533400" y="1941195"/>
              <a:ext cx="5410200" cy="1750695"/>
            </a:xfrm>
            <a:prstGeom prst="roundRect">
              <a:avLst>
                <a:gd name="adj" fmla="val 7616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183576" y="378618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一根管子上串三个滤芯，水从最左端进，出来时已经过了三道处理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4144328"/>
            <a:ext cx="5410200" cy="1261110"/>
            <a:chOff x="533400" y="4144328"/>
            <a:chExt cx="5410200" cy="1261110"/>
          </a:xfrm>
        </p:grpSpPr>
        <p:sp>
          <p:nvSpPr>
            <p:cNvPr id="12" name="Rectangle 12"/>
            <p:cNvSpPr/>
            <p:nvPr/>
          </p:nvSpPr>
          <p:spPr>
            <a:xfrm>
              <a:off x="533400" y="4144328"/>
              <a:ext cx="5410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2962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透明写法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416" y="4557712"/>
              <a:ext cx="419119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InputStream in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"temp/fileSrc.txt"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BufferedInputStream(in);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加缓冲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DataInputStream dis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DataInputStream(in);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dis.readInt();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这一行是半透明 */</a:t>
              </a:r>
            </a:p>
          </p:txBody>
        </p:sp>
      </p:grpSp>
      <p:grpSp>
        <p:nvGrpSpPr>
          <p:cNvPr id="19" name="c2-code-1"/>
          <p:cNvGrpSpPr/>
          <p:nvPr/>
        </p:nvGrpSpPr>
        <p:grpSpPr>
          <a:xfrm>
            <a:off x="6248400" y="1941195"/>
            <a:ext cx="5410200" cy="1261110"/>
            <a:chOff x="6248400" y="1941195"/>
            <a:chExt cx="5410200" cy="1261110"/>
          </a:xfrm>
        </p:grpSpPr>
        <p:sp>
          <p:nvSpPr>
            <p:cNvPr id="16" name="Rectangle 16"/>
            <p:cNvSpPr/>
            <p:nvPr/>
          </p:nvSpPr>
          <p:spPr>
            <a:xfrm>
              <a:off x="6248400" y="1941195"/>
              <a:ext cx="5410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76797" y="209311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源课件的写法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76416" y="2354580"/>
              <a:ext cx="4631246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FileInputStream inFS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"temp/fileSrc.txt"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BufferedInputStream inBS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BufferedInputStream(inFS);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data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[1024];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inBS.read(data);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248400" y="3378518"/>
            <a:ext cx="5410200" cy="1226820"/>
            <a:chOff x="6248400" y="3378518"/>
            <a:chExt cx="5410200" cy="1226820"/>
          </a:xfrm>
        </p:grpSpPr>
        <p:sp>
          <p:nvSpPr>
            <p:cNvPr id="20" name="Rectangle 20"/>
            <p:cNvSpPr/>
            <p:nvPr/>
          </p:nvSpPr>
          <p:spPr>
            <a:xfrm>
              <a:off x="6248400" y="3378518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351186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8905" y="357092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0342" y="360521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两种写法的差别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9347" y="36099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变量声明成什么类型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3944302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源课件声明的是具体类，属于半透明写法。改成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InputStream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 = ...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就是透明写法，后面再包一层不用动前面的声明。</a:t>
              </a:r>
            </a:p>
          </p:txBody>
        </p:sp>
      </p:grpSp>
      <p:grpSp>
        <p:nvGrpSpPr>
          <p:cNvPr id="33" name="c2-card-3"/>
          <p:cNvGrpSpPr/>
          <p:nvPr/>
        </p:nvGrpSpPr>
        <p:grpSpPr>
          <a:xfrm>
            <a:off x="6248400" y="4779645"/>
            <a:ext cx="5410200" cy="1226820"/>
            <a:chOff x="6248400" y="4779645"/>
            <a:chExt cx="5410200" cy="1226820"/>
          </a:xfrm>
        </p:grpSpPr>
        <p:sp>
          <p:nvSpPr>
            <p:cNvPr id="27" name="Rectangle 27"/>
            <p:cNvSpPr/>
            <p:nvPr/>
          </p:nvSpPr>
          <p:spPr>
            <a:xfrm>
              <a:off x="6248400" y="477964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491299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8905" y="497205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2344" y="50063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容易认错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9297" y="5012055"/>
              <a:ext cx="27726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InputStreamReader 不是装饰器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047" y="5346383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InputStream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转成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Reader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，换的是接口而不是加功能，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属于适配器。同一个包里的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BufferedReader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才是装饰器。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1981" cy="909257"/>
            <a:chOff x="520446" y="342900"/>
            <a:chExt cx="66119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透明式、半透明式与工程中的装饰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1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Swing 里的包装，以及它和标准装饰的距离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096458" cy="278702"/>
            <a:chOff x="526161" y="1547336"/>
            <a:chExt cx="809645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0964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JList 本身不支持滚动，没有滚动条。要做一个能滚的列表，把 JList 放进 JScrollPane 就行。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193982" cy="882968"/>
            <a:chOff x="533400" y="1941195"/>
            <a:chExt cx="5193982" cy="88296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两行代码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287102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JList&lt;String&gt; list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JList&lt;&gt;();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JScrollPane sp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JScrollPane(list);</a:t>
              </a:r>
            </a:p>
          </p:txBody>
        </p:sp>
      </p:grpSp>
      <p:grpSp>
        <p:nvGrpSpPr>
          <p:cNvPr id="18" name="c1-kv-2"/>
          <p:cNvGrpSpPr/>
          <p:nvPr/>
        </p:nvGrpSpPr>
        <p:grpSpPr>
          <a:xfrm>
            <a:off x="526542" y="3021330"/>
            <a:ext cx="5200840" cy="915543"/>
            <a:chOff x="526542" y="3021330"/>
            <a:chExt cx="5200840" cy="915543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30213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被包装的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8567" y="3021330"/>
              <a:ext cx="1932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JList，需要装饰的组件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3108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4194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包装者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8567" y="3419475"/>
              <a:ext cx="389705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JScrollPane，构造函数里注入一个 JList 类型的对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象，在不影响 JList 本身功能的情况下对它扩展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059555"/>
            <a:ext cx="5193982" cy="2049780"/>
            <a:chOff x="533400" y="4059555"/>
            <a:chExt cx="5193982" cy="2049780"/>
          </a:xfrm>
        </p:grpSpPr>
        <p:sp>
          <p:nvSpPr>
            <p:cNvPr id="19" name="Rectangle 19"/>
            <p:cNvSpPr/>
            <p:nvPr/>
          </p:nvSpPr>
          <p:spPr>
            <a:xfrm>
              <a:off x="533400" y="4059555"/>
              <a:ext cx="5193982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192905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425196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7344" y="42862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同一套路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14297" y="429196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工程里还有哪些地方长这样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2478" y="468153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497" y="4625340"/>
              <a:ext cx="43771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集合：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Collections.unmodifiableList(list)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个只读包装，接口不变，写操作被拦下来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2478" y="524160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8497" y="5185410"/>
              <a:ext cx="37170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Servlet：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HttpServletRequestWrapper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持有原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request，子类重写想改的那几个方法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8190" y="5741194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这两处都是标准形态：包装后仍是同一个接口，而且可以继续往外包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032182" y="1941195"/>
            <a:ext cx="5626418" cy="2771775"/>
            <a:chOff x="6032182" y="1941195"/>
            <a:chExt cx="5626418" cy="2771775"/>
          </a:xfrm>
        </p:grpSpPr>
        <p:sp>
          <p:nvSpPr>
            <p:cNvPr id="30" name="Rectangle 30"/>
            <p:cNvSpPr/>
            <p:nvPr/>
          </p:nvSpPr>
          <p:spPr>
            <a:xfrm>
              <a:off x="6032182" y="1941195"/>
              <a:ext cx="5626418" cy="2771775"/>
            </a:xfrm>
            <a:prstGeom prst="roundRect">
              <a:avLst>
                <a:gd name="adj" fmla="val 48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41708" y="2074545"/>
              <a:ext cx="47625" cy="25050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62688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4128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46380" y="21736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这个例子只能算近似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55830" y="2507932"/>
              <a:ext cx="49771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JScrollPane 和 JList 都继承自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JComponent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，所以包装之后仍然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能当组件用、能放进任何收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JComponent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的容器，形式上符合装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饰。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55830" y="3325177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 JScrollPane 并不转发 JList 自己的方法，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getSelectedIndex()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这类操作还得拿着原来那个 list 去调。严格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的装饰器会把被包装对象的接口原样转发出来。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56972" y="4138136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源课件把它直接称作装饰器，这里补一句条件：它是容器式包装，可以当装饰模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式的入门例子，不宜当成标准形态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032182" y="4888230"/>
            <a:ext cx="5626418" cy="1221105"/>
            <a:chOff x="6032182" y="4888230"/>
            <a:chExt cx="5626418" cy="1221105"/>
          </a:xfrm>
        </p:grpSpPr>
        <p:sp>
          <p:nvSpPr>
            <p:cNvPr id="39" name="Rectangle 39"/>
            <p:cNvSpPr/>
            <p:nvPr/>
          </p:nvSpPr>
          <p:spPr>
            <a:xfrm>
              <a:off x="6032182" y="4888230"/>
              <a:ext cx="5626418" cy="1221105"/>
            </a:xfrm>
            <a:prstGeom prst="roundRect">
              <a:avLst>
                <a:gd name="adj" fmla="val 93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236970" y="5398770"/>
              <a:ext cx="200026" cy="200025"/>
              <a:chOff x="6236970" y="5398770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236970" y="53987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276709" y="54432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311424" y="55543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539674" y="5280660"/>
              <a:ext cx="46514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javax.swing 里用这种方式动态给组件增加行为或改善外观显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示的地方还有不少，JScrollPane 是最常被举的一个。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效果、模式辨析、自测与小结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优点和缺点来自同一件事，就是把功能拆碎了在运行期拼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与适配器和代理的分界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与组合、策略、桥接的分界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效果、模式辨析、自测与小结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优点在灵活，缺点在细碎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161" y="1547336"/>
            <a:ext cx="5849874" cy="3150489"/>
            <a:chOff x="526161" y="1547336"/>
            <a:chExt cx="5849874" cy="3150489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比继承更灵活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28241" y="1547336"/>
              <a:ext cx="398195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继承是静态的，一旦继承所有子类都带上同一套功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能；装饰把功能分散到每个装饰器，运行时动态组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合，一个对象最终有哪些功能由运行期决定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3888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504599"/>
              <a:ext cx="10965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更容易复用功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28241" y="2504599"/>
              <a:ext cx="416229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一个装饰器一般只实现一个功能，写起来简单；同一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个装饰器可以给一个对象套多次，也可以用来装饰不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同的对象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3461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346186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简化高层定义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28241" y="3461861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高层只要定义最基本的功能，不用把所有功能都定义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出来，用的时候组合相应的装饰器即可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0357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4151471"/>
              <a:ext cx="10965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抽象层关系稳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8241" y="4151471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新增功能不动抽象构件，也不动已有的具体构件和装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饰器，符合开闭原则和合成复用原则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827270"/>
            <a:ext cx="5842635" cy="1293495"/>
            <a:chOff x="533400" y="4827270"/>
            <a:chExt cx="5842635" cy="1293495"/>
          </a:xfrm>
        </p:grpSpPr>
        <p:sp>
          <p:nvSpPr>
            <p:cNvPr id="19" name="Rectangle 19"/>
            <p:cNvSpPr/>
            <p:nvPr/>
          </p:nvSpPr>
          <p:spPr>
            <a:xfrm>
              <a:off x="533400" y="4827270"/>
              <a:ext cx="584263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96062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5335" y="50311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5543" y="50668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归结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76744" y="50715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四条优点来自同一件事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096" y="542305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把原本要写进子类的功能拆成一个个独立的装饰器，再推迟到运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行期去拼。拆开带来复用和稳定，推迟带来灵活。</a:t>
              </a:r>
            </a:p>
          </p:txBody>
        </p:sp>
      </p:grpSp>
      <p:grpSp>
        <p:nvGrpSpPr>
          <p:cNvPr id="33" name="c2-bullets-1"/>
          <p:cNvGrpSpPr/>
          <p:nvPr/>
        </p:nvGrpSpPr>
        <p:grpSpPr>
          <a:xfrm>
            <a:off x="6673596" y="1547336"/>
            <a:ext cx="4764913" cy="2090357"/>
            <a:chOff x="6673596" y="1547336"/>
            <a:chExt cx="4764913" cy="2090357"/>
          </a:xfrm>
        </p:grpSpPr>
        <p:sp>
          <p:nvSpPr>
            <p:cNvPr id="26" name="TextBox 26"/>
            <p:cNvSpPr txBox="1"/>
            <p:nvPr/>
          </p:nvSpPr>
          <p:spPr>
            <a:xfrm>
              <a:off x="6673596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三条缺点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680835" y="192024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15531" y="188642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会产生很多细粒度对象，功能越复杂需要的细粒度对象越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多，占用更多系统资源，在一定程度上影响性能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680835" y="252126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15531" y="248650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比继承更易出错，排错也更困难，多次装饰的对象调试时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要逐级排查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680835" y="3122295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15531" y="308752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抽象构件类本身过大时，每一层装饰都要把它的全部方法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转发一遍，代价高，这时可以考虑改用策略模式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680835" y="3767138"/>
            <a:ext cx="4977765" cy="2353628"/>
            <a:chOff x="6680835" y="3767138"/>
            <a:chExt cx="4977765" cy="2353628"/>
          </a:xfrm>
        </p:grpSpPr>
        <p:sp>
          <p:nvSpPr>
            <p:cNvPr id="34" name="Rectangle 34"/>
            <p:cNvSpPr/>
            <p:nvPr/>
          </p:nvSpPr>
          <p:spPr>
            <a:xfrm>
              <a:off x="6680835" y="3767138"/>
              <a:ext cx="4977765" cy="2353628"/>
            </a:xfrm>
            <a:prstGeom prst="roundRect">
              <a:avLst>
                <a:gd name="adj" fmla="val 56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3900488"/>
              <a:ext cx="47625" cy="20869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2770" y="3970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13931" y="4006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4179" y="401050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什么时候不该上装饰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30390" y="442245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86981" y="436197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要加的功能只有一处，而且以后也不会和别的功能搭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30390" y="501396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86981" y="495347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抽象构件里的方法很多，装饰器光写转发就是几十行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30390" y="533400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86981" y="5273516"/>
              <a:ext cx="40631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功能之间有顺序依赖，靠 new 的嵌套顺序表达会很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脆弱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效果、模式辨析、自测与小结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什么时候用装饰模式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40450" cy="278702"/>
            <a:chOff x="526161" y="1547336"/>
            <a:chExt cx="59404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源课件给出两条适用环境，第二条里又分了两类不能采用继承的情况。</a:t>
              </a:r>
            </a:p>
          </p:txBody>
        </p:sp>
      </p:grpSp>
      <p:grpSp>
        <p:nvGrpSpPr>
          <p:cNvPr id="15" name="c1-bullets-1"/>
          <p:cNvGrpSpPr/>
          <p:nvPr/>
        </p:nvGrpSpPr>
        <p:grpSpPr>
          <a:xfrm>
            <a:off x="533400" y="1951672"/>
            <a:ext cx="5928360" cy="1358456"/>
            <a:chOff x="533400" y="1951672"/>
            <a:chExt cx="5928360" cy="1358456"/>
          </a:xfrm>
        </p:grpSpPr>
        <p:sp>
          <p:nvSpPr>
            <p:cNvPr id="9" name="Ellipse 9"/>
            <p:cNvSpPr/>
            <p:nvPr/>
          </p:nvSpPr>
          <p:spPr>
            <a:xfrm>
              <a:off x="533400" y="195167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9078" y="19900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4197" y="1964055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在不影响其他对象的情况下，以动态、透明的方式给单个对象添加职责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26314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9078" y="23015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4197" y="2274570"/>
              <a:ext cx="53286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不能采用继承的方式扩展系统，或者采用继承不利于系统扩展和维护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时。不能采用继承主要有两类：一是系统中存在大量独立的扩展，为支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持每一种扩展或者扩展之间的组合将产生大量子类，使子类数目呈爆炸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性增长；二是类已定义为不能被继承，比如 Java 里的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类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432810"/>
            <a:ext cx="5951220" cy="729615"/>
            <a:chOff x="533400" y="3432810"/>
            <a:chExt cx="5951220" cy="729615"/>
          </a:xfrm>
        </p:grpSpPr>
        <p:sp>
          <p:nvSpPr>
            <p:cNvPr id="16" name="Rectangle 16"/>
            <p:cNvSpPr/>
            <p:nvPr/>
          </p:nvSpPr>
          <p:spPr>
            <a:xfrm>
              <a:off x="533400" y="3432810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3697607"/>
              <a:ext cx="200023" cy="200023"/>
              <a:chOff x="738188" y="3697607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36976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37642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3578542"/>
              <a:ext cx="50029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第一条里的“单个对象”是关键：同一个类的别的实例不受影响，这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是继承做不到的。</a:t>
              </a:r>
            </a:p>
          </p:txBody>
        </p:sp>
      </p:grpSp>
      <p:grpSp>
        <p:nvGrpSpPr>
          <p:cNvPr id="30" name="c1-kv-3"/>
          <p:cNvGrpSpPr/>
          <p:nvPr/>
        </p:nvGrpSpPr>
        <p:grpSpPr>
          <a:xfrm>
            <a:off x="526542" y="4359592"/>
            <a:ext cx="5958078" cy="1820418"/>
            <a:chOff x="526542" y="4359592"/>
            <a:chExt cx="5958078" cy="1820418"/>
          </a:xfrm>
        </p:grpSpPr>
        <p:sp>
          <p:nvSpPr>
            <p:cNvPr id="22" name="TextBox 22"/>
            <p:cNvSpPr txBox="1"/>
            <p:nvPr/>
          </p:nvSpPr>
          <p:spPr>
            <a:xfrm>
              <a:off x="526542" y="4359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典型场景一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7637" y="4359592"/>
              <a:ext cx="445427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与数据流：缓冲、压缩、加密、计数，每一项都是可选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的，而且允许叠加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90156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542" y="501110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典型场景二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67637" y="5011102"/>
              <a:ext cx="44714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界面组件：滚动条、边框、阴影，同一个组件这次要滚动条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下次不要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5530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6542" y="56626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典型场景三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67637" y="5662612"/>
              <a:ext cx="44714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横切功能：日志、缓存、限流、权限，包在业务对象外面，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业务代码不知情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789420" y="1941195"/>
            <a:ext cx="4869180" cy="3074670"/>
            <a:chOff x="6789420" y="1941195"/>
            <a:chExt cx="4869180" cy="3074670"/>
          </a:xfrm>
        </p:grpSpPr>
        <p:sp>
          <p:nvSpPr>
            <p:cNvPr id="31" name="Rectangle 31"/>
            <p:cNvSpPr/>
            <p:nvPr/>
          </p:nvSpPr>
          <p:spPr>
            <a:xfrm>
              <a:off x="6789420" y="1941195"/>
              <a:ext cx="4869180" cy="3074670"/>
            </a:xfrm>
            <a:prstGeom prst="roundRect">
              <a:avLst>
                <a:gd name="adj" fmla="val 43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98945" y="2074545"/>
              <a:ext cx="47625" cy="28079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19925" y="213360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99364" y="216789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补一个条件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03667" y="2173605"/>
              <a:ext cx="2681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类这一条要看它有没有接口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13067" y="2507932"/>
              <a:ext cx="42228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类不能被继承，所以确实没法用派生子类的办法加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功能。但装饰模式要求装饰器和被装饰对象类型兼容，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所以还得看这个 final 类实现了什么接口。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28498" y="338137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84517" y="3325177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实现了接口：装饰器实现同一个接口，装饰模式照常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28498" y="394049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84517" y="388429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没有任何接口也没有父类：装饰器只能写成一个普通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包装类，退化成半透明，客户端要改声明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14210" y="4440079"/>
              <a:ext cx="41719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java.lang.String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就是后一种情况，所以工程里没有“String 装饰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器”</a:t>
              </a:r>
            </a:p>
          </p:txBody>
        </p:sp>
      </p:grpSp>
      <p:grpSp>
        <p:nvGrpSpPr>
          <p:cNvPr id="46" name="c2-bullets-2"/>
          <p:cNvGrpSpPr/>
          <p:nvPr/>
        </p:nvGrpSpPr>
        <p:grpSpPr>
          <a:xfrm>
            <a:off x="6782562" y="5213033"/>
            <a:ext cx="4437507" cy="584073"/>
            <a:chOff x="6782562" y="5213033"/>
            <a:chExt cx="4437507" cy="584073"/>
          </a:xfrm>
        </p:grpSpPr>
        <p:sp>
          <p:nvSpPr>
            <p:cNvPr id="43" name="TextBox 43"/>
            <p:cNvSpPr txBox="1"/>
            <p:nvPr/>
          </p:nvSpPr>
          <p:spPr>
            <a:xfrm>
              <a:off x="6782562" y="5213033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一句话判断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789420" y="556164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26402" y="5533073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功能可选、可叠加、可在运行时决定组合，就用装饰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效果、模式辨析、自测与小结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与适配器、代理：三张类图长得几乎一样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974961" cy="512636"/>
            <a:chOff x="526542" y="1545907"/>
            <a:chExt cx="9974961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9749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这三个模式都是“一个类实现某接口并持有该接口的引用”。类图区分不了它们，要靠意图和使用时机。装饰与适配器还共用一个别名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Wrapper。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33400" y="2177415"/>
            <a:ext cx="11125200" cy="2400300"/>
            <a:chOff x="533400" y="2177415"/>
            <a:chExt cx="11125200" cy="2400300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11125200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66546" y="22988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75139" y="22988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装饰模式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25869" y="229885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05441" y="22988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代理模式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6989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23148" y="2586990"/>
              <a:ext cx="331851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10778" y="26989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给对象加职责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48338" y="269890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让两个不兼容的接口能对上话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63012" y="269890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控制对真实对象的访问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727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97751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09895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接口变不变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323148" y="2987040"/>
              <a:ext cx="331851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410778" y="309895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不变，包装前后同一个接口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48338" y="309895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变，把源接口转成目标接口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63012" y="309895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不变，代理和真实对象同接口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3728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349900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被包装对象从哪来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10778" y="349900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客户端创建好传进来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48338" y="349900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客户端创建好传进来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63012" y="349900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代理自己创建或延迟创建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728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77761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389905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客户端知不知情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10778" y="389905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知道，包几层由它决定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8338" y="389905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知道，是它主动去适配的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63012" y="389905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常常不知道代理的存在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729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42991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典型层数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10778" y="42991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可以多层嵌套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48338" y="42991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63012" y="42991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2177415"/>
              <a:ext cx="11125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308860" y="217741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646420" y="217741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761095" y="217741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ard-2"/>
          <p:cNvGrpSpPr/>
          <p:nvPr/>
        </p:nvGrpSpPr>
        <p:grpSpPr>
          <a:xfrm>
            <a:off x="533400" y="4747260"/>
            <a:ext cx="11125200" cy="962978"/>
            <a:chOff x="533400" y="4747260"/>
            <a:chExt cx="11125200" cy="962978"/>
          </a:xfrm>
        </p:grpSpPr>
        <p:sp>
          <p:nvSpPr>
            <p:cNvPr id="47" name="Rectangle 47"/>
            <p:cNvSpPr/>
            <p:nvPr/>
          </p:nvSpPr>
          <p:spPr>
            <a:xfrm>
              <a:off x="533400" y="4747260"/>
              <a:ext cx="11125200" cy="962978"/>
            </a:xfrm>
            <a:prstGeom prst="roundRect">
              <a:avLst>
                <a:gd name="adj" fmla="val 1384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20090" y="49339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2762" y="49668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85684" y="49691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拿到一段包装代码怎么分辨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3232" y="5294948"/>
              <a:ext cx="10808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接口变了是适配器；接口没变而且加了功能是装饰；接口没变只是拦一下或延后创建，那是代理。适配器见第 20 讲，代理见第 26 讲。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3" name="Rectangle 5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8373"/>
              <a:ext cx="7594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 java.io 包里就有对照：BufferedReader 是装饰器，InputStreamReader 是适配器。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 · 效果、模式辨析、自测与小结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与组合、策略、桥接：持有的是谁，差别就在这里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6067425" cy="3992880"/>
            <a:chOff x="525780" y="1548765"/>
            <a:chExt cx="6067425" cy="39928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与组合模式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65935" y="1548765"/>
              <a:ext cx="4396740" cy="1421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两者都持有抽象构件类型的引用。组合持有的是一组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子构件，目的是让客户端一致地处理单个对象和对象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组合；装饰持有的是一个被包装对象，目的是给它加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职责。装饰器可以看成只有一个子节点的组合节点。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组合见第 22 讲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99656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311658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与策略模式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5935" y="3116580"/>
              <a:ext cx="4396740" cy="1421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策略把一个算法整体换掉，环境类同一时刻只持有一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个策略，换的是对象的内脏；装饰在原有行为的外面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叠加，可以叠很多层，换的是对象的外皮。抽象构件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过大时装饰的转发代价高，可以改用策略。策略见第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 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45643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46843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与桥接模式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5935" y="4684395"/>
              <a:ext cx="4396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桥接持有的是另一条继承链上的接口，目的是拆开两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个独立变化的维度；装饰持有的是同一个抽象构件接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口，目的是叠加职责。桥接见第 21 讲</a:t>
              </a:r>
            </a:p>
          </p:txBody>
        </p:sp>
      </p:grpSp>
      <p:grpSp>
        <p:nvGrpSpPr>
          <p:cNvPr id="23" name="c2-bullets-1"/>
          <p:cNvGrpSpPr/>
          <p:nvPr/>
        </p:nvGrpSpPr>
        <p:grpSpPr>
          <a:xfrm>
            <a:off x="6890385" y="1548765"/>
            <a:ext cx="4464367" cy="1908810"/>
            <a:chOff x="6890385" y="1548765"/>
            <a:chExt cx="4464367" cy="1908810"/>
          </a:xfrm>
        </p:grpSpPr>
        <p:sp>
          <p:nvSpPr>
            <p:cNvPr id="16" name="TextBox 16"/>
            <p:cNvSpPr txBox="1"/>
            <p:nvPr/>
          </p:nvSpPr>
          <p:spPr>
            <a:xfrm>
              <a:off x="6890385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三个问题问下去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898005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48512" y="190309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持有的引用和自己是不是同一个抽象类型，不是就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往桥接那边找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898005" y="256508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48512" y="25336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持有的是一个还是一组，一组就往组合那边找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898005" y="290988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48512" y="287845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包装之后原来的行为还在不在，被整体顶掉就往策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略那边找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898005" y="3589020"/>
            <a:ext cx="4760595" cy="1906905"/>
            <a:chOff x="6898005" y="3589020"/>
            <a:chExt cx="4760595" cy="1906905"/>
          </a:xfrm>
        </p:grpSpPr>
        <p:sp>
          <p:nvSpPr>
            <p:cNvPr id="24" name="Rectangle 24"/>
            <p:cNvSpPr/>
            <p:nvPr/>
          </p:nvSpPr>
          <p:spPr>
            <a:xfrm>
              <a:off x="6898005" y="3589020"/>
              <a:ext cx="4760595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07530" y="372237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45655" y="37985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35863" y="38342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5730" y="383381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装饰和继承不是对立的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38035" y="4194810"/>
              <a:ext cx="41205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装饰模式内部照样在用继承：装饰器继承抽象构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件是为了类型兼容，具体装饰类继承抽象装饰类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是为了复用转发代码。它取代的是“用继承来表达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功能组合”那种用法。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动态地给一个对象增加一些额外的职责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它的两个别名是什么？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8097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包装器 Wrapper、油漆工模式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装饰器和抽象构件之间有几条关系？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两条，继承加聚合，缺一不可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它按目的和范围各属哪一类？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 + 对象模式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抽象构件、具体构件、抽象装饰类、具体装饰类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3234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抽象装饰类的 operation() 做了什么？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只把调用转发给被包装对象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答不上来的题，回到对应正文页把那一张类图或那一段代码再读一遍。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透明装饰要求客户端怎么声明变量？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一律声明为抽象构件类型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包三层时哪一层的原始逻辑先执行？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最里层，外层要等内层返回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装饰和代理结构一样，意图差在哪？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装饰加职责，代理控制访问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半透明装饰的代价是什么？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再包一层，新增的方法就调不到了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345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java.io 里谁是抽象装饰类？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1992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FilterInputStream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只有一个具体构件时可以怎么简化？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省掉抽象构件，装饰类直接继承它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判断题眼：包装前后接口变了是适配器，没变且加了功能是装饰，没变只是拦一下是代理。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23 装饰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8726068" cy="1432845"/>
            <a:chOff x="533400" y="1533525"/>
            <a:chExt cx="8726068" cy="143284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装饰模式用关联取代继承，在运行期给单个对象动态增加职责，原有类一行不改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8111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装饰器既继承抽象构件又持有抽象构件。继承保证类型兼容，聚合保证能包住任何构件，包括另一个装饰器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8456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四个角色：抽象构件、具体构件、抽象装饰类、具体装饰类。抽象装饰类只转发，具体装饰类在转发前后加动作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多层包装时前置动作从外往里执行，后置动作从里往外执行，顺序和调用栈一致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客户端全用抽象构件类型是透明式，写出具体装饰类名是半透明式，后者再包一层新方法就失效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3081338"/>
            <a:ext cx="11125200" cy="2406968"/>
            <a:chOff x="533400" y="3081338"/>
            <a:chExt cx="11125200" cy="2406968"/>
          </a:xfrm>
        </p:grpSpPr>
        <p:sp>
          <p:nvSpPr>
            <p:cNvPr id="23" name="Rectangle 23"/>
            <p:cNvSpPr/>
            <p:nvPr/>
          </p:nvSpPr>
          <p:spPr>
            <a:xfrm>
              <a:off x="533400" y="3081338"/>
              <a:ext cx="11125200" cy="2406968"/>
            </a:xfrm>
            <a:prstGeom prst="roundRect">
              <a:avLst>
                <a:gd name="adj" fmla="val 55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214688"/>
              <a:ext cx="47625" cy="21402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044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8006" y="33018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2475" y="360711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4382" y="36427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2223" y="3619024"/>
              <a:ext cx="95877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张欣佳第 11 页代码写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 Decorator extends Component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12 页正文却说“实现了 Component 接口”；抽象装饰类还应声明为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2475" y="413575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4382" y="41704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223" y="4146709"/>
              <a:ext cx="7060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张欣佳第 12 页说“并未真正实现 operation()”，实际上实现了，只是方法体里只有一行转发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4205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4561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431506"/>
              <a:ext cx="6698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张欣佳第 7 页结构图和第 26 页 java.io 图都漏了抽象装饰类指回抽象构件的那条聚合线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70535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74097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716304"/>
              <a:ext cx="7988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张欣佳第 25 页把 JScrollPane 直接称作 JList 的装饰器，它不转发 JList 自己的方法，只算容器式包装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499014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502577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5001101"/>
              <a:ext cx="7245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陈伟第 6 页类名多写一个字母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EatDecorator1l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后漏括号，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WashTeeth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WashTeech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44" name="Rectangle 44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5805011"/>
              <a:ext cx="9896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遇到“这个功能可选、可叠加、组合方式要到运行时才知道”的需求，先想装饰模式；如果两个接口是事后才发现不兼容的，那是第 20 讲的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装饰模式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23">
  <a:themeElements>
    <a:clrScheme name="sdp_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2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2026-09-19T08:37:41Z</dcterms:created>
  <dcterms:modified xsi:type="dcterms:W3CDTF">2026-09-19T08:37:41Z</dcterms:modified>
  <cp:category/>
  <cp:contentStatus/>
</cp:coreProperties>
</file>