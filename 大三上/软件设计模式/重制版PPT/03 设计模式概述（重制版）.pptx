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Default Extension="png" ContentType="image/pn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2000" cy="6858000" type="screen16x9"/>
  <p:notesSz cx="6858000" cy="9144000"/>
  <p:defaultTextStyle>
    <a:defPPr>
      <a:defRPr lang="zh-CN"/>
    </a:defPPr>
    <a:lvl1pPr marL="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sdp_03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Masters/_rels/slideMaster1.xml.rels><?xml version='1.0' encoding='UTF-8' standalone='yes'?>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sdp_03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 lang="zh-CN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10b376c4d4ccfb65.png"/>
</Relationships>
</file>

<file path=ppt/slides/_rels/slide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41db8fb165c551ed.png"/>
</Relationships>
</file>

<file path=ppt/slides/_rels/slide1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5d795346fd79b351.png"/>
</Relationships>
</file>

<file path=ppt/slides/_rels/slide1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over-her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cover-scrim"/>
          <p:cNvSpPr/>
          <p:nvPr/>
        </p:nvSpPr>
        <p:spPr>
          <a:xfrm>
            <a:off x="0" y="0"/>
            <a:ext cx="7620000" cy="6858000"/>
          </a:xfrm>
          <a:prstGeom prst="rect">
            <a:avLst/>
          </a:prstGeom>
          <a:gradFill>
            <a:gsLst>
              <a:gs pos="0">
                <a:srgbClr val="FFFFFF">
                  <a:alpha val="97000"/>
                </a:srgbClr>
              </a:gs>
              <a:gs pos="58000">
                <a:srgbClr val="FFFFFF">
                  <a:alpha val="85000"/>
                </a:srgbClr>
              </a:gs>
              <a:gs pos="100000">
                <a:srgbClr val="FFFFFF">
                  <a:alpha val="0"/>
                </a:srgbClr>
              </a:gs>
            </a:gsLst>
            <a:lin ang="0" scaled="1"/>
          </a:gradFill>
          <a:ln>
            <a:noFill/>
          </a:ln>
        </p:spPr>
      </p:sp>
      <p:grpSp>
        <p:nvGrpSpPr>
          <p:cNvPr id="17" name="cover-title"/>
          <p:cNvGrpSpPr/>
          <p:nvPr/>
        </p:nvGrpSpPr>
        <p:grpSpPr>
          <a:xfrm>
            <a:off x="666750" y="1619250"/>
            <a:ext cx="4389882" cy="3437763"/>
            <a:chOff x="666750" y="1619250"/>
            <a:chExt cx="4389882" cy="3437763"/>
          </a:xfrm>
        </p:grpSpPr>
        <p:sp>
          <p:nvSpPr>
            <p:cNvPr id="4" name="Rectangle 4"/>
            <p:cNvSpPr/>
            <p:nvPr/>
          </p:nvSpPr>
          <p:spPr>
            <a:xfrm>
              <a:off x="685800" y="1619250"/>
              <a:ext cx="2355532" cy="3429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5" name="TextBox 5"/>
            <p:cNvSpPr txBox="1"/>
            <p:nvPr/>
          </p:nvSpPr>
          <p:spPr>
            <a:xfrm>
              <a:off x="791150" y="1718310"/>
              <a:ext cx="21457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软件设计模式 · 设计模式概述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666750" y="2407920"/>
              <a:ext cx="3430524" cy="819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4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设计模式概述</a:t>
              </a:r>
            </a:p>
          </p:txBody>
        </p:sp>
        <p:sp>
          <p:nvSpPr>
            <p:cNvPr id="7" name="Rectangle 7"/>
            <p:cNvSpPr/>
            <p:nvPr/>
          </p:nvSpPr>
          <p:spPr>
            <a:xfrm>
              <a:off x="685800" y="3147060"/>
              <a:ext cx="990600" cy="5715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676656" y="3467100"/>
              <a:ext cx="437997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模式从哪来、怎么分类、怎么挑、怎么学</a:t>
              </a:r>
            </a:p>
          </p:txBody>
        </p:sp>
        <p:sp>
          <p:nvSpPr>
            <p:cNvPr id="9" name="Ellipse 9"/>
            <p:cNvSpPr/>
            <p:nvPr/>
          </p:nvSpPr>
          <p:spPr>
            <a:xfrm>
              <a:off x="709612" y="3976688"/>
              <a:ext cx="66675" cy="66675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69442" y="3921442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模式的起源与四要素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709612" y="4267200"/>
              <a:ext cx="66675" cy="66675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869442" y="4211955"/>
              <a:ext cx="173593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GoF 23 个模式的分类</a:t>
              </a:r>
            </a:p>
          </p:txBody>
        </p:sp>
        <p:sp>
          <p:nvSpPr>
            <p:cNvPr id="13" name="Ellipse 13"/>
            <p:cNvSpPr/>
            <p:nvPr/>
          </p:nvSpPr>
          <p:spPr>
            <a:xfrm>
              <a:off x="709612" y="4557712"/>
              <a:ext cx="66675" cy="66675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869442" y="4502468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类模式与对象模式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709612" y="4848225"/>
              <a:ext cx="66675" cy="66675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869442" y="4792980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选模式与学模式的方法</a:t>
              </a:r>
            </a:p>
          </p:txBody>
        </p:sp>
      </p:grpSp>
      <p:grpSp>
        <p:nvGrpSpPr>
          <p:cNvPr id="19" name="cover-credit"/>
          <p:cNvGrpSpPr/>
          <p:nvPr/>
        </p:nvGrpSpPr>
        <p:grpSpPr>
          <a:xfrm>
            <a:off x="680466" y="6192202"/>
            <a:ext cx="4696454" cy="205359"/>
            <a:chOff x="680466" y="6192202"/>
            <a:chExt cx="4696454" cy="205359"/>
          </a:xfrm>
        </p:grpSpPr>
        <p:sp>
          <p:nvSpPr>
            <p:cNvPr id="18" name="TextBox 18"/>
            <p:cNvSpPr txBox="1"/>
            <p:nvPr/>
          </p:nvSpPr>
          <p:spPr>
            <a:xfrm>
              <a:off x="680466" y="6192202"/>
              <a:ext cx="469645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重制讲义 · 自学复习版｜据吉林大学《软件设计模式》张欣佳老师课件整理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2085594" cy="909257"/>
            <a:chOff x="520446" y="342900"/>
            <a:chExt cx="2085594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329690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29388" y="407194"/>
              <a:ext cx="113771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03 设计模式概述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208559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本讲学习路线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30" name="c1-agenda-1"/>
          <p:cNvGrpSpPr/>
          <p:nvPr/>
        </p:nvGrpSpPr>
        <p:grpSpPr>
          <a:xfrm>
            <a:off x="521970" y="1515428"/>
            <a:ext cx="6287453" cy="4461795"/>
            <a:chOff x="521970" y="1515428"/>
            <a:chExt cx="6287453" cy="4461795"/>
          </a:xfrm>
        </p:grpSpPr>
        <p:sp>
          <p:nvSpPr>
            <p:cNvPr id="7" name="TextBox 7"/>
            <p:cNvSpPr txBox="1"/>
            <p:nvPr/>
          </p:nvSpPr>
          <p:spPr>
            <a:xfrm>
              <a:off x="521970" y="1515428"/>
              <a:ext cx="37270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1065086" y="1551622"/>
              <a:ext cx="11273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模式从哪来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066990" y="1868329"/>
              <a:ext cx="433027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建筑业的 Alexander、软件模式的四个部分、GoF 的由来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1073468" y="2181225"/>
              <a:ext cx="573595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521970" y="2286952"/>
              <a:ext cx="37270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65086" y="2323148"/>
              <a:ext cx="15716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什么是设计模式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066990" y="2639854"/>
              <a:ext cx="259765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定义、四个关键要素、优点与代价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1073468" y="2953702"/>
              <a:ext cx="573595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521970" y="3058478"/>
              <a:ext cx="37270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065086" y="3094673"/>
              <a:ext cx="46101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分类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066990" y="3412331"/>
              <a:ext cx="387277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按目的分三类，按范围分两类，23 个模式各一句话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1073468" y="3725228"/>
              <a:ext cx="573595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521970" y="3830955"/>
              <a:ext cx="37270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065086" y="3867150"/>
              <a:ext cx="68313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怎么挑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066990" y="4183856"/>
              <a:ext cx="34592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六步选择法、按症状查模式、易混淆的模式对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1073468" y="4497705"/>
              <a:ext cx="573595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521970" y="4602480"/>
              <a:ext cx="37270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05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065086" y="4638675"/>
              <a:ext cx="11273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和谁有关系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066990" y="4955381"/>
              <a:ext cx="276997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架构模式、惯用法、框架、设计原则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1073468" y="5269230"/>
              <a:ext cx="573595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521970" y="5374958"/>
              <a:ext cx="37270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06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1065086" y="5411152"/>
              <a:ext cx="68313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怎么学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1066990" y="5727859"/>
              <a:ext cx="259765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学习顺序与读一个模式的固定套路</a:t>
              </a:r>
            </a:p>
          </p:txBody>
        </p:sp>
      </p:grpSp>
      <p:grpSp>
        <p:nvGrpSpPr>
          <p:cNvPr id="45" name="c2-card-1"/>
          <p:cNvGrpSpPr/>
          <p:nvPr/>
        </p:nvGrpSpPr>
        <p:grpSpPr>
          <a:xfrm>
            <a:off x="7114222" y="1524000"/>
            <a:ext cx="4544378" cy="4402455"/>
            <a:chOff x="7114222" y="1524000"/>
            <a:chExt cx="4544378" cy="4402455"/>
          </a:xfrm>
        </p:grpSpPr>
        <p:sp>
          <p:nvSpPr>
            <p:cNvPr id="31" name="Rectangle 31"/>
            <p:cNvSpPr/>
            <p:nvPr/>
          </p:nvSpPr>
          <p:spPr>
            <a:xfrm>
              <a:off x="7114222" y="1524000"/>
              <a:ext cx="4544378" cy="4402455"/>
            </a:xfrm>
            <a:prstGeom prst="roundRect">
              <a:avLst>
                <a:gd name="adj" fmla="val 3029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2" name="Rectangle 32"/>
            <p:cNvSpPr/>
            <p:nvPr/>
          </p:nvSpPr>
          <p:spPr>
            <a:xfrm>
              <a:off x="7123748" y="1657350"/>
              <a:ext cx="47625" cy="4135755"/>
            </a:xfrm>
            <a:prstGeom prst="roundRect">
              <a:avLst>
                <a:gd name="adj" fmla="val 50000"/>
              </a:avLst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3" name="Rectangle 33"/>
            <p:cNvSpPr/>
            <p:nvPr/>
          </p:nvSpPr>
          <p:spPr>
            <a:xfrm>
              <a:off x="7361872" y="1733550"/>
              <a:ext cx="778192" cy="257175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7443229" y="1769269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学习目标</a:t>
              </a:r>
            </a:p>
          </p:txBody>
        </p:sp>
        <p:sp>
          <p:nvSpPr>
            <p:cNvPr id="35" name="Ellipse 35"/>
            <p:cNvSpPr/>
            <p:nvPr/>
          </p:nvSpPr>
          <p:spPr>
            <a:xfrm>
              <a:off x="7367588" y="2173605"/>
              <a:ext cx="64770" cy="6477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7525702" y="2110740"/>
              <a:ext cx="3634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说出设计模式的四个关键要素，并用它们描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述任意一个模式</a:t>
              </a:r>
            </a:p>
          </p:txBody>
        </p:sp>
        <p:sp>
          <p:nvSpPr>
            <p:cNvPr id="37" name="Ellipse 37"/>
            <p:cNvSpPr/>
            <p:nvPr/>
          </p:nvSpPr>
          <p:spPr>
            <a:xfrm>
              <a:off x="7367588" y="2794635"/>
              <a:ext cx="64770" cy="6477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7525702" y="2731770"/>
              <a:ext cx="362521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按目的和范围两个维度把 23 个 GoF 模式归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位，说出每个模式一句话作用</a:t>
              </a:r>
            </a:p>
          </p:txBody>
        </p:sp>
        <p:sp>
          <p:nvSpPr>
            <p:cNvPr id="39" name="Ellipse 39"/>
            <p:cNvSpPr/>
            <p:nvPr/>
          </p:nvSpPr>
          <p:spPr>
            <a:xfrm>
              <a:off x="7367588" y="3415665"/>
              <a:ext cx="64770" cy="6477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7525702" y="3352800"/>
              <a:ext cx="376809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区分类模式与对象模式，指出 23 个模式里哪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几个属于类模式</a:t>
              </a:r>
            </a:p>
          </p:txBody>
        </p:sp>
        <p:sp>
          <p:nvSpPr>
            <p:cNvPr id="41" name="Ellipse 41"/>
            <p:cNvSpPr/>
            <p:nvPr/>
          </p:nvSpPr>
          <p:spPr>
            <a:xfrm>
              <a:off x="7367588" y="4036695"/>
              <a:ext cx="64770" cy="6477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7525702" y="3973830"/>
              <a:ext cx="3634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拿到一个设计问题，按症状列出两三个候选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模式并说明理由</a:t>
              </a:r>
            </a:p>
          </p:txBody>
        </p:sp>
        <p:sp>
          <p:nvSpPr>
            <p:cNvPr id="43" name="Ellipse 43"/>
            <p:cNvSpPr/>
            <p:nvPr/>
          </p:nvSpPr>
          <p:spPr>
            <a:xfrm>
              <a:off x="7367588" y="4657725"/>
              <a:ext cx="64770" cy="6477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7525702" y="4594860"/>
              <a:ext cx="3634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说清设计模式与架构模式、惯用法、框架、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设计原则各自的界限</a:t>
              </a:r>
            </a:p>
          </p:txBody>
        </p:sp>
      </p:grpSp>
      <p:grpSp>
        <p:nvGrpSpPr>
          <p:cNvPr id="48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6" name="TextBox 46"/>
            <p:cNvSpPr txBox="1"/>
            <p:nvPr/>
          </p:nvSpPr>
          <p:spPr>
            <a:xfrm>
              <a:off x="528447" y="6581299"/>
              <a:ext cx="174475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设计模式概述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5B3FA0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EEEAF7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954033" y="2705100"/>
            <a:ext cx="1903933" cy="2305050"/>
            <a:chOff x="8954033" y="2705100"/>
            <a:chExt cx="1903933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954033" y="2705100"/>
              <a:ext cx="1903933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</p:grpSp>
      <p:grpSp>
        <p:nvGrpSpPr>
          <p:cNvPr id="16" name="section-title"/>
          <p:cNvGrpSpPr/>
          <p:nvPr/>
        </p:nvGrpSpPr>
        <p:grpSpPr>
          <a:xfrm>
            <a:off x="667512" y="1835468"/>
            <a:ext cx="4469130" cy="2997517"/>
            <a:chOff x="667512" y="1835468"/>
            <a:chExt cx="4469130" cy="299751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第一部分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2459736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模式从哪来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445922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先看建筑业的原始定义，再看它怎么搬进软件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3888105"/>
              <a:ext cx="76200" cy="7620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3830955"/>
              <a:ext cx="22364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模式起源于建筑而非软件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242435"/>
              <a:ext cx="76200" cy="7620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185285"/>
              <a:ext cx="22364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软件模式由四个部分构成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" y="4596765"/>
              <a:ext cx="76200" cy="7620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6780" y="4539615"/>
              <a:ext cx="22364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三个系统验证过才算模式</a:t>
              </a:r>
            </a:p>
          </p:txBody>
        </p:sp>
      </p:grpSp>
      <p:grpSp>
        <p:nvGrpSpPr>
          <p:cNvPr id="1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7" name="TextBox 17"/>
            <p:cNvSpPr txBox="1"/>
            <p:nvPr/>
          </p:nvSpPr>
          <p:spPr>
            <a:xfrm>
              <a:off x="528447" y="6581299"/>
              <a:ext cx="174475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设计模式概述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8264652" cy="909257"/>
            <a:chOff x="520446" y="342900"/>
            <a:chExt cx="8264652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212658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2429" y="407194"/>
              <a:ext cx="20736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03 设计模式概述 · 模式从哪来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8264652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模式起源于建筑业：一个问题的解法，可以被抄无数次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780" y="1548765"/>
            <a:ext cx="6840474" cy="293370"/>
            <a:chOff x="525780" y="1548765"/>
            <a:chExt cx="6840474" cy="293370"/>
          </a:xfrm>
        </p:grpSpPr>
        <p:sp>
          <p:nvSpPr>
            <p:cNvPr id="7" name="TextBox 7"/>
            <p:cNvSpPr txBox="1"/>
            <p:nvPr/>
          </p:nvSpPr>
          <p:spPr>
            <a:xfrm>
              <a:off x="525780" y="1548765"/>
              <a:ext cx="684047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模式的概念不是软件行业发明的，它来自 1970 年代的建筑与城市规划研究。</a:t>
              </a:r>
            </a:p>
          </p:txBody>
        </p:sp>
      </p:grpSp>
      <p:grpSp>
        <p:nvGrpSpPr>
          <p:cNvPr id="17" name="c1-card-1"/>
          <p:cNvGrpSpPr/>
          <p:nvPr/>
        </p:nvGrpSpPr>
        <p:grpSpPr>
          <a:xfrm>
            <a:off x="533400" y="1954530"/>
            <a:ext cx="5842635" cy="2165985"/>
            <a:chOff x="533400" y="1954530"/>
            <a:chExt cx="5842635" cy="2165985"/>
          </a:xfrm>
        </p:grpSpPr>
        <p:sp>
          <p:nvSpPr>
            <p:cNvPr id="9" name="Rectangle 9"/>
            <p:cNvSpPr/>
            <p:nvPr/>
          </p:nvSpPr>
          <p:spPr>
            <a:xfrm>
              <a:off x="533400" y="1954530"/>
              <a:ext cx="5842635" cy="2165985"/>
            </a:xfrm>
            <a:prstGeom prst="roundRect">
              <a:avLst>
                <a:gd name="adj" fmla="val 6157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0" name="Rectangle 10"/>
            <p:cNvSpPr/>
            <p:nvPr/>
          </p:nvSpPr>
          <p:spPr>
            <a:xfrm>
              <a:off x="542925" y="2087880"/>
              <a:ext cx="47625" cy="1899285"/>
            </a:xfrm>
            <a:prstGeom prst="roundRect">
              <a:avLst>
                <a:gd name="adj" fmla="val 50000"/>
              </a:avLst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1" name="Rectangle 11"/>
            <p:cNvSpPr/>
            <p:nvPr/>
          </p:nvSpPr>
          <p:spPr>
            <a:xfrm>
              <a:off x="775335" y="2158365"/>
              <a:ext cx="778192" cy="257175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857644" y="2194084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经典定义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660588" y="2197894"/>
              <a:ext cx="217134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Alexander 对模式的定义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768096" y="2550319"/>
              <a:ext cx="5063998" cy="82162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每个模式都描述了一个在我们的环境中不断出现的问题，然后描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述了该问题的解决方案的核心。通过这种方式，我们可以无数次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地重用那些已有的解决方案，无需再重复相同的工作。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69239" y="3408998"/>
              <a:ext cx="379780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A pattern is a solution to a problem in a context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68096" y="3694271"/>
              <a:ext cx="452586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一句话：模式是在 </a:t>
              </a:r>
              <a:r>
                <a:rPr lang="zh-CN" sz="142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特定环境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中解决问题的一种方案。</a:t>
              </a:r>
            </a:p>
          </p:txBody>
        </p:sp>
      </p:grpSp>
      <p:grpSp>
        <p:nvGrpSpPr>
          <p:cNvPr id="26" name="c1-kv-2"/>
          <p:cNvGrpSpPr/>
          <p:nvPr/>
        </p:nvGrpSpPr>
        <p:grpSpPr>
          <a:xfrm>
            <a:off x="526161" y="4329589"/>
            <a:ext cx="5849874" cy="1389316"/>
            <a:chOff x="526161" y="4329589"/>
            <a:chExt cx="5849874" cy="1389316"/>
          </a:xfrm>
        </p:grpSpPr>
        <p:sp>
          <p:nvSpPr>
            <p:cNvPr id="18" name="TextBox 18"/>
            <p:cNvSpPr txBox="1"/>
            <p:nvPr/>
          </p:nvSpPr>
          <p:spPr>
            <a:xfrm>
              <a:off x="526161" y="4329589"/>
              <a:ext cx="79349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Context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2480691" y="4329589"/>
              <a:ext cx="364652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模式可适用的前提条件，也就是环境与约束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533400" y="4634865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526161" y="4751546"/>
              <a:ext cx="176451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Problem（Theme）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2480691" y="4751546"/>
              <a:ext cx="307304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在这个前提条件下要解决的目标问题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533400" y="5056822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526161" y="5172551"/>
              <a:ext cx="80281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Solution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2480691" y="5172551"/>
              <a:ext cx="3621278" cy="54635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0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求解该问题时各种物理关系的记述，也就是解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法本身</a:t>
              </a:r>
            </a:p>
          </p:txBody>
        </p:sp>
      </p:grpSp>
      <p:grpSp>
        <p:nvGrpSpPr>
          <p:cNvPr id="34" name="c2-card-1"/>
          <p:cNvGrpSpPr/>
          <p:nvPr/>
        </p:nvGrpSpPr>
        <p:grpSpPr>
          <a:xfrm>
            <a:off x="6680835" y="1954530"/>
            <a:ext cx="4977765" cy="2156460"/>
            <a:chOff x="6680835" y="1954530"/>
            <a:chExt cx="4977765" cy="2156460"/>
          </a:xfrm>
        </p:grpSpPr>
        <p:sp>
          <p:nvSpPr>
            <p:cNvPr id="27" name="Rectangle 27"/>
            <p:cNvSpPr/>
            <p:nvPr/>
          </p:nvSpPr>
          <p:spPr>
            <a:xfrm>
              <a:off x="6680835" y="1954530"/>
              <a:ext cx="4977765" cy="2156460"/>
            </a:xfrm>
            <a:prstGeom prst="roundRect">
              <a:avLst>
                <a:gd name="adj" fmla="val 618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690360" y="2087880"/>
              <a:ext cx="47625" cy="1889760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29" name="Rectangle 29"/>
            <p:cNvSpPr/>
            <p:nvPr/>
          </p:nvSpPr>
          <p:spPr>
            <a:xfrm>
              <a:off x="6922770" y="2158365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7013931" y="219408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出处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7524179" y="2197894"/>
              <a:ext cx="154376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模式之父与那本书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6915531" y="2550319"/>
              <a:ext cx="4306570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Christopher Alexander，加州大学（伯克利）环境结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构中心研究所所长，被称为模式（Pattern）之父。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6915531" y="3141821"/>
              <a:ext cx="4351204" cy="82162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1977 年出版《A Pattern Language: Towns,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Buildings, Construction》，书中给出 </a:t>
              </a:r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253 个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建筑与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城市规划模式。</a:t>
              </a:r>
            </a:p>
          </p:txBody>
        </p:sp>
      </p:grpSp>
      <p:grpSp>
        <p:nvGrpSpPr>
          <p:cNvPr id="41" name="c2-bullets-2"/>
          <p:cNvGrpSpPr/>
          <p:nvPr/>
        </p:nvGrpSpPr>
        <p:grpSpPr>
          <a:xfrm>
            <a:off x="6680835" y="4320064"/>
            <a:ext cx="4823826" cy="936879"/>
            <a:chOff x="6680835" y="4320064"/>
            <a:chExt cx="4823826" cy="936879"/>
          </a:xfrm>
        </p:grpSpPr>
        <p:sp>
          <p:nvSpPr>
            <p:cNvPr id="35" name="Freeform 35"/>
            <p:cNvSpPr/>
            <p:nvPr/>
          </p:nvSpPr>
          <p:spPr>
            <a:xfrm>
              <a:off x="6680835" y="4350068"/>
              <a:ext cx="137160" cy="110490"/>
            </a:xfrm>
            <a:custGeom>
              <a:avLst/>
              <a:gdLst/>
              <a:ahLst/>
              <a:cxnLst/>
              <a:rect l="l" t="t" r="r" b="b"/>
              <a:pathLst>
                <a:path w="137160" h="110490">
                  <a:moveTo>
                    <a:pt x="0" y="58103"/>
                  </a:moveTo>
                  <a:lnTo>
                    <a:pt x="52388" y="110490"/>
                  </a:lnTo>
                  <a:lnTo>
                    <a:pt x="137160" y="0"/>
                  </a:lnTo>
                </a:path>
              </a:pathLst>
            </a:custGeom>
            <a:noFill/>
            <a:ln w="24765" cap="rnd">
              <a:solidFill>
                <a:srgbClr val="14A38B"/>
              </a:solidFill>
              <a:round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6925056" y="4320064"/>
              <a:ext cx="441116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模式描述反复出现的问题，一次性问题不必做成模式</a:t>
              </a:r>
            </a:p>
          </p:txBody>
        </p:sp>
        <p:sp>
          <p:nvSpPr>
            <p:cNvPr id="37" name="Freeform 37"/>
            <p:cNvSpPr/>
            <p:nvPr/>
          </p:nvSpPr>
          <p:spPr>
            <a:xfrm>
              <a:off x="6680835" y="4678680"/>
              <a:ext cx="137160" cy="111442"/>
            </a:xfrm>
            <a:custGeom>
              <a:avLst/>
              <a:gdLst/>
              <a:ahLst/>
              <a:cxnLst/>
              <a:rect l="l" t="t" r="r" b="b"/>
              <a:pathLst>
                <a:path w="137160" h="111442">
                  <a:moveTo>
                    <a:pt x="0" y="59055"/>
                  </a:moveTo>
                  <a:lnTo>
                    <a:pt x="52388" y="111442"/>
                  </a:lnTo>
                  <a:lnTo>
                    <a:pt x="137160" y="0"/>
                  </a:lnTo>
                </a:path>
              </a:pathLst>
            </a:custGeom>
            <a:noFill/>
            <a:ln w="24765" cap="rnd">
              <a:solidFill>
                <a:srgbClr val="14A38B"/>
              </a:solidFill>
              <a:round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6925056" y="4648676"/>
              <a:ext cx="422000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模式给的是解法的核心，不是某一栋楼的完整图纸</a:t>
              </a:r>
            </a:p>
          </p:txBody>
        </p:sp>
        <p:sp>
          <p:nvSpPr>
            <p:cNvPr id="39" name="Freeform 39"/>
            <p:cNvSpPr/>
            <p:nvPr/>
          </p:nvSpPr>
          <p:spPr>
            <a:xfrm>
              <a:off x="6680835" y="5008245"/>
              <a:ext cx="137160" cy="110490"/>
            </a:xfrm>
            <a:custGeom>
              <a:avLst/>
              <a:gdLst/>
              <a:ahLst/>
              <a:cxnLst/>
              <a:rect l="l" t="t" r="r" b="b"/>
              <a:pathLst>
                <a:path w="137160" h="110490">
                  <a:moveTo>
                    <a:pt x="0" y="59055"/>
                  </a:moveTo>
                  <a:lnTo>
                    <a:pt x="52388" y="110490"/>
                  </a:lnTo>
                  <a:lnTo>
                    <a:pt x="137160" y="0"/>
                  </a:lnTo>
                </a:path>
              </a:pathLst>
            </a:custGeom>
            <a:noFill/>
            <a:ln w="24765" cap="rnd">
              <a:solidFill>
                <a:srgbClr val="14A38B"/>
              </a:solidFill>
              <a:round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6925056" y="4978241"/>
              <a:ext cx="4579605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脱离了环境（Context）谈解法，模式就会被用错地方</a:t>
              </a:r>
            </a:p>
          </p:txBody>
        </p:sp>
      </p:grpSp>
      <p:grpSp>
        <p:nvGrpSpPr>
          <p:cNvPr id="47" name="takeaway"/>
          <p:cNvGrpSpPr/>
          <p:nvPr/>
        </p:nvGrpSpPr>
        <p:grpSpPr>
          <a:xfrm>
            <a:off x="533400" y="5844540"/>
            <a:ext cx="11125200" cy="518160"/>
            <a:chOff x="533400" y="5844540"/>
            <a:chExt cx="11125200" cy="518160"/>
          </a:xfrm>
        </p:grpSpPr>
        <p:sp>
          <p:nvSpPr>
            <p:cNvPr id="42" name="Rectangle 42"/>
            <p:cNvSpPr/>
            <p:nvPr/>
          </p:nvSpPr>
          <p:spPr>
            <a:xfrm>
              <a:off x="533400" y="5844540"/>
              <a:ext cx="11125200" cy="518160"/>
            </a:xfrm>
            <a:prstGeom prst="roundRect">
              <a:avLst>
                <a:gd name="adj" fmla="val 22059"/>
              </a:avLst>
            </a:prstGeom>
            <a:solidFill>
              <a:srgbClr val="5B3FA0"/>
            </a:solidFill>
            <a:ln>
              <a:noFill/>
            </a:ln>
          </p:spPr>
        </p:sp>
        <p:grpSp>
          <p:nvGrpSpPr>
            <p:cNvPr id="45" name="Group 45"/>
            <p:cNvGrpSpPr/>
            <p:nvPr/>
          </p:nvGrpSpPr>
          <p:grpSpPr>
            <a:xfrm>
              <a:off x="738188" y="6003610"/>
              <a:ext cx="200023" cy="200023"/>
              <a:chOff x="738188" y="6003610"/>
              <a:chExt cx="200023" cy="200023"/>
            </a:xfrm>
          </p:grpSpPr>
          <p:sp>
            <p:nvSpPr>
              <p:cNvPr id="43" name="Freeform 43"/>
              <p:cNvSpPr/>
              <p:nvPr/>
            </p:nvSpPr>
            <p:spPr>
              <a:xfrm>
                <a:off x="738188" y="6003610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44" name="Freeform 44"/>
              <p:cNvSpPr/>
              <p:nvPr/>
            </p:nvSpPr>
            <p:spPr>
              <a:xfrm>
                <a:off x="871538" y="607028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46" name="TextBox 46"/>
            <p:cNvSpPr txBox="1"/>
            <p:nvPr/>
          </p:nvSpPr>
          <p:spPr>
            <a:xfrm>
              <a:off x="1040511" y="6004084"/>
              <a:ext cx="768001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记住这三个词：环境、问题、解法。后面软件模式的结构就是在它们上面加了一项“效果”。</a:t>
              </a:r>
            </a:p>
          </p:txBody>
        </p:sp>
      </p:grpSp>
      <p:grpSp>
        <p:nvGrpSpPr>
          <p:cNvPr id="50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8" name="TextBox 48"/>
            <p:cNvSpPr txBox="1"/>
            <p:nvPr/>
          </p:nvSpPr>
          <p:spPr>
            <a:xfrm>
              <a:off x="528447" y="6581299"/>
              <a:ext cx="174475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设计模式概述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489889" cy="909257"/>
            <a:chOff x="520446" y="342900"/>
            <a:chExt cx="6489889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212658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2429" y="407194"/>
              <a:ext cx="20736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03 设计模式概述 · 模式从哪来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489889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软件模式 = 问题 + 前提条件 + 解法 + 效果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780" y="1548765"/>
            <a:ext cx="8900160" cy="293370"/>
            <a:chOff x="525780" y="1548765"/>
            <a:chExt cx="8900160" cy="293370"/>
          </a:xfrm>
        </p:grpSpPr>
        <p:sp>
          <p:nvSpPr>
            <p:cNvPr id="7" name="TextBox 7"/>
            <p:cNvSpPr txBox="1"/>
            <p:nvPr/>
          </p:nvSpPr>
          <p:spPr>
            <a:xfrm>
              <a:off x="525780" y="1548765"/>
              <a:ext cx="89001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把模式的一般概念搬进软件开发领域，就得到软件模式，它是软件开发的总体指导思路或参照样板。</a:t>
              </a:r>
            </a:p>
          </p:txBody>
        </p:sp>
      </p:grpSp>
      <p:grpSp>
        <p:nvGrpSpPr>
          <p:cNvPr id="20" name="c1-kv-1"/>
          <p:cNvGrpSpPr/>
          <p:nvPr/>
        </p:nvGrpSpPr>
        <p:grpSpPr>
          <a:xfrm>
            <a:off x="526161" y="1977866"/>
            <a:ext cx="4985004" cy="1543622"/>
            <a:chOff x="526161" y="1977866"/>
            <a:chExt cx="4985004" cy="1543622"/>
          </a:xfrm>
        </p:grpSpPr>
        <p:sp>
          <p:nvSpPr>
            <p:cNvPr id="9" name="TextBox 9"/>
            <p:cNvSpPr txBox="1"/>
            <p:nvPr/>
          </p:nvSpPr>
          <p:spPr>
            <a:xfrm>
              <a:off x="526161" y="1977866"/>
              <a:ext cx="77912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问题描述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525334" y="1977866"/>
              <a:ext cx="288188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这个模式要解决的是什么设计问题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533400" y="2284095"/>
              <a:ext cx="497776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526161" y="2399824"/>
              <a:ext cx="77912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前提条件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525334" y="2399824"/>
              <a:ext cx="3264205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适用的环境与约束条件，不满足就别用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533400" y="2705100"/>
              <a:ext cx="497776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526161" y="2821781"/>
              <a:ext cx="39679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解法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525334" y="2821781"/>
              <a:ext cx="3455365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参与的类与对象、它们的职责和协作方式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533400" y="3127058"/>
              <a:ext cx="497776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526161" y="3242786"/>
              <a:ext cx="39679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效果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1525334" y="3242786"/>
              <a:ext cx="364652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得到什么、付出什么代价、有哪些已知应用</a:t>
              </a:r>
            </a:p>
          </p:txBody>
        </p:sp>
      </p:grpSp>
      <p:grpSp>
        <p:nvGrpSpPr>
          <p:cNvPr id="27" name="c1-callout-2"/>
          <p:cNvGrpSpPr/>
          <p:nvPr/>
        </p:nvGrpSpPr>
        <p:grpSpPr>
          <a:xfrm>
            <a:off x="533400" y="3650932"/>
            <a:ext cx="4977765" cy="1981200"/>
            <a:chOff x="533400" y="3650932"/>
            <a:chExt cx="4977765" cy="1981200"/>
          </a:xfrm>
        </p:grpSpPr>
        <p:sp>
          <p:nvSpPr>
            <p:cNvPr id="21" name="Rectangle 21"/>
            <p:cNvSpPr/>
            <p:nvPr/>
          </p:nvSpPr>
          <p:spPr>
            <a:xfrm>
              <a:off x="533400" y="3650932"/>
              <a:ext cx="4977765" cy="1981200"/>
            </a:xfrm>
            <a:prstGeom prst="roundRect">
              <a:avLst>
                <a:gd name="adj" fmla="val 5769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25" name="Group 25"/>
            <p:cNvGrpSpPr/>
            <p:nvPr/>
          </p:nvGrpSpPr>
          <p:grpSpPr>
            <a:xfrm>
              <a:off x="726129" y="4537828"/>
              <a:ext cx="224134" cy="192560"/>
              <a:chOff x="726129" y="4537828"/>
              <a:chExt cx="224134" cy="192560"/>
            </a:xfrm>
          </p:grpSpPr>
          <p:sp>
            <p:nvSpPr>
              <p:cNvPr id="22" name="Freeform 22"/>
              <p:cNvSpPr/>
              <p:nvPr/>
            </p:nvSpPr>
            <p:spPr>
              <a:xfrm>
                <a:off x="838200" y="4608195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23" name="Freeform 23"/>
              <p:cNvSpPr/>
              <p:nvPr/>
            </p:nvSpPr>
            <p:spPr>
              <a:xfrm>
                <a:off x="726129" y="4537828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24" name="Freeform 24"/>
              <p:cNvSpPr/>
              <p:nvPr/>
            </p:nvSpPr>
            <p:spPr>
              <a:xfrm>
                <a:off x="838200" y="468598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26" name="TextBox 26"/>
            <p:cNvSpPr txBox="1"/>
            <p:nvPr/>
          </p:nvSpPr>
          <p:spPr>
            <a:xfrm>
              <a:off x="1040511" y="4280059"/>
              <a:ext cx="4054094" cy="80448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70"/>
                </a:lnSpc>
              </a:pPr>
              <a:r>
                <a:rPr lang="zh-CN" sz="142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大三律（Rule of Three）：一个解决方案要在三个</a:t>
              </a:r>
              <a:br/>
              <a:r>
                <a:rPr lang="zh-CN" sz="142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以上不同类型或不同领域的系统中验证过，才能从</a:t>
              </a:r>
              <a:br/>
              <a:r>
                <a:rPr lang="zh-CN" sz="142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候选模式升格为模式。</a:t>
              </a:r>
            </a:p>
          </p:txBody>
        </p:sp>
      </p:grpSp>
      <p:grpSp>
        <p:nvGrpSpPr>
          <p:cNvPr id="50" name="c2-flow-1"/>
          <p:cNvGrpSpPr/>
          <p:nvPr/>
        </p:nvGrpSpPr>
        <p:grpSpPr>
          <a:xfrm>
            <a:off x="5952172" y="2123122"/>
            <a:ext cx="5570221" cy="2801303"/>
            <a:chOff x="5952172" y="2123122"/>
            <a:chExt cx="5570221" cy="2801303"/>
          </a:xfrm>
        </p:grpSpPr>
        <p:sp>
          <p:nvSpPr>
            <p:cNvPr id="28" name="Freeform 28"/>
            <p:cNvSpPr/>
            <p:nvPr/>
          </p:nvSpPr>
          <p:spPr>
            <a:xfrm>
              <a:off x="8737282" y="2547938"/>
              <a:ext cx="9525" cy="232410"/>
            </a:xfrm>
            <a:custGeom>
              <a:avLst/>
              <a:gdLst/>
              <a:ahLst/>
              <a:cxnLst/>
              <a:rect l="l" t="t" r="r" b="b"/>
              <a:pathLst>
                <a:path w="9525" h="232410">
                  <a:moveTo>
                    <a:pt x="0" y="0"/>
                  </a:moveTo>
                  <a:lnTo>
                    <a:pt x="0" y="23241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29" name="Freeform 29"/>
            <p:cNvSpPr/>
            <p:nvPr/>
          </p:nvSpPr>
          <p:spPr>
            <a:xfrm>
              <a:off x="8684895" y="2780348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30" name="Freeform 30"/>
            <p:cNvSpPr/>
            <p:nvPr/>
          </p:nvSpPr>
          <p:spPr>
            <a:xfrm>
              <a:off x="8737282" y="3309938"/>
              <a:ext cx="9525" cy="233362"/>
            </a:xfrm>
            <a:custGeom>
              <a:avLst/>
              <a:gdLst/>
              <a:ahLst/>
              <a:cxnLst/>
              <a:rect l="l" t="t" r="r" b="b"/>
              <a:pathLst>
                <a:path w="9525" h="233362">
                  <a:moveTo>
                    <a:pt x="0" y="0"/>
                  </a:moveTo>
                  <a:lnTo>
                    <a:pt x="0" y="233362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31" name="Freeform 31"/>
            <p:cNvSpPr/>
            <p:nvPr/>
          </p:nvSpPr>
          <p:spPr>
            <a:xfrm>
              <a:off x="8684895" y="3543300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32" name="Freeform 32"/>
            <p:cNvSpPr/>
            <p:nvPr/>
          </p:nvSpPr>
          <p:spPr>
            <a:xfrm>
              <a:off x="6789420" y="4072890"/>
              <a:ext cx="1947862" cy="232410"/>
            </a:xfrm>
            <a:custGeom>
              <a:avLst/>
              <a:gdLst/>
              <a:ahLst/>
              <a:cxnLst/>
              <a:rect l="l" t="t" r="r" b="b"/>
              <a:pathLst>
                <a:path w="1947862" h="232410">
                  <a:moveTo>
                    <a:pt x="1947862" y="0"/>
                  </a:moveTo>
                  <a:lnTo>
                    <a:pt x="1947862" y="168592"/>
                  </a:lnTo>
                  <a:lnTo>
                    <a:pt x="0" y="168592"/>
                  </a:lnTo>
                  <a:lnTo>
                    <a:pt x="0" y="23241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33" name="Freeform 33"/>
            <p:cNvSpPr/>
            <p:nvPr/>
          </p:nvSpPr>
          <p:spPr>
            <a:xfrm>
              <a:off x="6737032" y="4305300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34" name="Freeform 34"/>
            <p:cNvSpPr/>
            <p:nvPr/>
          </p:nvSpPr>
          <p:spPr>
            <a:xfrm>
              <a:off x="8737282" y="4072890"/>
              <a:ext cx="9525" cy="142875"/>
            </a:xfrm>
            <a:custGeom>
              <a:avLst/>
              <a:gdLst/>
              <a:ahLst/>
              <a:cxnLst/>
              <a:rect l="l" t="t" r="r" b="b"/>
              <a:pathLst>
                <a:path w="9525" h="142875">
                  <a:moveTo>
                    <a:pt x="0" y="0"/>
                  </a:moveTo>
                  <a:lnTo>
                    <a:pt x="0" y="142875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35" name="Freeform 35"/>
            <p:cNvSpPr/>
            <p:nvPr/>
          </p:nvSpPr>
          <p:spPr>
            <a:xfrm>
              <a:off x="8684895" y="4215765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36" name="Freeform 36"/>
            <p:cNvSpPr/>
            <p:nvPr/>
          </p:nvSpPr>
          <p:spPr>
            <a:xfrm>
              <a:off x="8737282" y="4072890"/>
              <a:ext cx="1947862" cy="232410"/>
            </a:xfrm>
            <a:custGeom>
              <a:avLst/>
              <a:gdLst/>
              <a:ahLst/>
              <a:cxnLst/>
              <a:rect l="l" t="t" r="r" b="b"/>
              <a:pathLst>
                <a:path w="1947862" h="232410">
                  <a:moveTo>
                    <a:pt x="0" y="0"/>
                  </a:moveTo>
                  <a:lnTo>
                    <a:pt x="0" y="168592"/>
                  </a:lnTo>
                  <a:lnTo>
                    <a:pt x="1947862" y="168592"/>
                  </a:lnTo>
                  <a:lnTo>
                    <a:pt x="1947862" y="23241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37" name="Freeform 37"/>
            <p:cNvSpPr/>
            <p:nvPr/>
          </p:nvSpPr>
          <p:spPr>
            <a:xfrm>
              <a:off x="10632758" y="4305300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38" name="Rectangle 38"/>
            <p:cNvSpPr/>
            <p:nvPr/>
          </p:nvSpPr>
          <p:spPr>
            <a:xfrm>
              <a:off x="7900035" y="2123122"/>
              <a:ext cx="1675448" cy="424815"/>
            </a:xfrm>
            <a:prstGeom prst="roundRect">
              <a:avLst>
                <a:gd name="adj" fmla="val 50000"/>
              </a:avLst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9" name="Rectangle 39"/>
            <p:cNvSpPr/>
            <p:nvPr/>
          </p:nvSpPr>
          <p:spPr>
            <a:xfrm>
              <a:off x="7900035" y="2885122"/>
              <a:ext cx="1675448" cy="424815"/>
            </a:xfrm>
            <a:prstGeom prst="roundRect">
              <a:avLst>
                <a:gd name="adj" fmla="val 22422"/>
              </a:avLst>
            </a:prstGeom>
            <a:solidFill>
              <a:srgbClr val="FFFFFF"/>
            </a:solidFill>
            <a:ln w="15240">
              <a:solidFill>
                <a:srgbClr val="5B3FA0"/>
              </a:solidFill>
            </a:ln>
          </p:spPr>
        </p:sp>
        <p:sp>
          <p:nvSpPr>
            <p:cNvPr id="40" name="Rectangle 40"/>
            <p:cNvSpPr/>
            <p:nvPr/>
          </p:nvSpPr>
          <p:spPr>
            <a:xfrm>
              <a:off x="7900035" y="3648075"/>
              <a:ext cx="1675448" cy="424815"/>
            </a:xfrm>
            <a:prstGeom prst="roundRect">
              <a:avLst>
                <a:gd name="adj" fmla="val 22422"/>
              </a:avLst>
            </a:prstGeom>
            <a:solidFill>
              <a:srgbClr val="EEEAF7"/>
            </a:solidFill>
            <a:ln w="19050">
              <a:solidFill>
                <a:srgbClr val="5B3FA0"/>
              </a:solidFill>
            </a:ln>
          </p:spPr>
        </p:sp>
        <p:sp>
          <p:nvSpPr>
            <p:cNvPr id="41" name="Rectangle 41"/>
            <p:cNvSpPr/>
            <p:nvPr/>
          </p:nvSpPr>
          <p:spPr>
            <a:xfrm>
              <a:off x="5952172" y="4410075"/>
              <a:ext cx="1675448" cy="424815"/>
            </a:xfrm>
            <a:prstGeom prst="roundRect">
              <a:avLst>
                <a:gd name="adj" fmla="val 17937"/>
              </a:avLst>
            </a:prstGeom>
            <a:solidFill>
              <a:srgbClr val="FEF3C7"/>
            </a:solidFill>
            <a:ln>
              <a:noFill/>
            </a:ln>
          </p:spPr>
        </p:sp>
        <p:sp>
          <p:nvSpPr>
            <p:cNvPr id="42" name="Rectangle 42"/>
            <p:cNvSpPr/>
            <p:nvPr/>
          </p:nvSpPr>
          <p:spPr>
            <a:xfrm>
              <a:off x="7900035" y="4320540"/>
              <a:ext cx="1675448" cy="603885"/>
            </a:xfrm>
            <a:prstGeom prst="roundRect">
              <a:avLst>
                <a:gd name="adj" fmla="val 12618"/>
              </a:avLst>
            </a:prstGeom>
            <a:solidFill>
              <a:srgbClr val="FEF3C7"/>
            </a:solidFill>
            <a:ln>
              <a:noFill/>
            </a:ln>
          </p:spPr>
        </p:sp>
        <p:sp>
          <p:nvSpPr>
            <p:cNvPr id="43" name="Rectangle 43"/>
            <p:cNvSpPr/>
            <p:nvPr/>
          </p:nvSpPr>
          <p:spPr>
            <a:xfrm>
              <a:off x="9846945" y="4410075"/>
              <a:ext cx="1675448" cy="424815"/>
            </a:xfrm>
            <a:prstGeom prst="roundRect">
              <a:avLst>
                <a:gd name="adj" fmla="val 17937"/>
              </a:avLst>
            </a:prstGeom>
            <a:solidFill>
              <a:srgbClr val="FEF3C7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8408098" y="2251710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问题描述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8408098" y="3013710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前提条件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8569642" y="3776662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解法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6460236" y="4538662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关联解法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8273986" y="4435792"/>
              <a:ext cx="926592" cy="4404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620"/>
                </a:lnSpc>
              </a:pP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效果、优缺点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已知应用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10194417" y="4538662"/>
              <a:ext cx="98145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其他相关模式</a:t>
              </a:r>
            </a:p>
          </p:txBody>
        </p:sp>
      </p:grpSp>
      <p:grpSp>
        <p:nvGrpSpPr>
          <p:cNvPr id="52" name="c2-text-2"/>
          <p:cNvGrpSpPr/>
          <p:nvPr/>
        </p:nvGrpSpPr>
        <p:grpSpPr>
          <a:xfrm>
            <a:off x="5809869" y="5208270"/>
            <a:ext cx="5513832" cy="470916"/>
            <a:chOff x="5809869" y="5208270"/>
            <a:chExt cx="5513832" cy="470916"/>
          </a:xfrm>
        </p:grpSpPr>
        <p:sp>
          <p:nvSpPr>
            <p:cNvPr id="51" name="TextBox 51"/>
            <p:cNvSpPr txBox="1"/>
            <p:nvPr/>
          </p:nvSpPr>
          <p:spPr>
            <a:xfrm>
              <a:off x="5809869" y="5208270"/>
              <a:ext cx="5513832" cy="47091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60"/>
                </a:lnSpc>
              </a:pP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源课件的软件模式结构图：前三项确定“什么情况下怎么做”，最后一行说明做了以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后会怎样</a:t>
              </a:r>
            </a:p>
          </p:txBody>
        </p:sp>
      </p:grpSp>
      <p:grpSp>
        <p:nvGrpSpPr>
          <p:cNvPr id="59" name="takeaway"/>
          <p:cNvGrpSpPr/>
          <p:nvPr/>
        </p:nvGrpSpPr>
        <p:grpSpPr>
          <a:xfrm>
            <a:off x="533400" y="5844540"/>
            <a:ext cx="11125200" cy="518160"/>
            <a:chOff x="533400" y="5844540"/>
            <a:chExt cx="11125200" cy="518160"/>
          </a:xfrm>
        </p:grpSpPr>
        <p:sp>
          <p:nvSpPr>
            <p:cNvPr id="53" name="Rectangle 53"/>
            <p:cNvSpPr/>
            <p:nvPr/>
          </p:nvSpPr>
          <p:spPr>
            <a:xfrm>
              <a:off x="533400" y="5844540"/>
              <a:ext cx="11125200" cy="518160"/>
            </a:xfrm>
            <a:prstGeom prst="roundRect">
              <a:avLst>
                <a:gd name="adj" fmla="val 22059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57" name="Group 57"/>
            <p:cNvGrpSpPr/>
            <p:nvPr/>
          </p:nvGrpSpPr>
          <p:grpSpPr>
            <a:xfrm>
              <a:off x="738188" y="6003608"/>
              <a:ext cx="200026" cy="200026"/>
              <a:chOff x="738188" y="6003608"/>
              <a:chExt cx="200026" cy="200026"/>
            </a:xfrm>
          </p:grpSpPr>
          <p:sp>
            <p:nvSpPr>
              <p:cNvPr id="54" name="Freeform 54"/>
              <p:cNvSpPr/>
              <p:nvPr/>
            </p:nvSpPr>
            <p:spPr>
              <a:xfrm>
                <a:off x="738188" y="6003608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55" name="Freeform 55"/>
              <p:cNvSpPr/>
              <p:nvPr/>
            </p:nvSpPr>
            <p:spPr>
              <a:xfrm>
                <a:off x="838200" y="607028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56" name="Freeform 56"/>
              <p:cNvSpPr/>
              <p:nvPr/>
            </p:nvSpPr>
            <p:spPr>
              <a:xfrm>
                <a:off x="827088" y="6103620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58" name="TextBox 58"/>
            <p:cNvSpPr txBox="1"/>
            <p:nvPr/>
          </p:nvSpPr>
          <p:spPr>
            <a:xfrm>
              <a:off x="1040511" y="6004084"/>
              <a:ext cx="957249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软件模式不只有设计模式，架构模式、分析模式、过程模式都属于它，软件生存期的每个阶段都有被公认的模式。</a:t>
              </a:r>
            </a:p>
          </p:txBody>
        </p:sp>
      </p:grpSp>
      <p:grpSp>
        <p:nvGrpSpPr>
          <p:cNvPr id="62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0" name="TextBox 60"/>
            <p:cNvSpPr txBox="1"/>
            <p:nvPr/>
          </p:nvSpPr>
          <p:spPr>
            <a:xfrm>
              <a:off x="528447" y="6581299"/>
              <a:ext cx="174475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设计模式概述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569038" cy="909257"/>
            <a:chOff x="520446" y="342900"/>
            <a:chExt cx="5569038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212658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2429" y="407194"/>
              <a:ext cx="20736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03 设计模式概述 · 模式从哪来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569038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从 253 个建筑模式到 23 个设计模式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40" name="c1-table-1"/>
          <p:cNvGrpSpPr/>
          <p:nvPr/>
        </p:nvGrpSpPr>
        <p:grpSpPr>
          <a:xfrm>
            <a:off x="533400" y="1524000"/>
            <a:ext cx="6708458" cy="3800475"/>
            <a:chOff x="533400" y="1524000"/>
            <a:chExt cx="6708458" cy="380047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6708458" cy="400050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947458" y="164544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时间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4301211" y="164544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事件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630555" y="2045494"/>
              <a:ext cx="3597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1977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770698" y="2045494"/>
              <a:ext cx="457709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Alexander 出版《建筑模式语言》，给出 253 个建筑与城市规划模式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" y="2319338"/>
              <a:ext cx="670845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3" name="Rectangle 13"/>
            <p:cNvSpPr/>
            <p:nvPr/>
          </p:nvSpPr>
          <p:spPr>
            <a:xfrm>
              <a:off x="533400" y="2324100"/>
              <a:ext cx="6708458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630555" y="2445544"/>
              <a:ext cx="3597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1987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770698" y="2445544"/>
              <a:ext cx="515554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Kent Beck 与 Ward Cunningham 把模式思想用于程序开发，发表在 OOPSLA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533400" y="2719388"/>
              <a:ext cx="670845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630555" y="2845594"/>
              <a:ext cx="3597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1990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770698" y="2845594"/>
              <a:ext cx="456311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OOPSLA 与 ECOOP 联合举办，四人组正式成立，着手分类整理模式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533400" y="3119438"/>
              <a:ext cx="670845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0" name="Rectangle 20"/>
            <p:cNvSpPr/>
            <p:nvPr/>
          </p:nvSpPr>
          <p:spPr>
            <a:xfrm>
              <a:off x="533400" y="3124200"/>
              <a:ext cx="6708458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630555" y="3245644"/>
              <a:ext cx="62093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1991-92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770698" y="3245644"/>
              <a:ext cx="45688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OOPSLA 上举办首次设计模式研讨会，模式逐渐成为公开讨论的话题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533400" y="3519488"/>
              <a:ext cx="670845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30555" y="3645694"/>
              <a:ext cx="3597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1993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770698" y="3645694"/>
              <a:ext cx="534160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Kent Beck 与 Grady Booch 赞助第一次设计模式会议，后发展为 Hillside Group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533400" y="3919538"/>
              <a:ext cx="670845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7" name="Rectangle 27"/>
            <p:cNvSpPr/>
            <p:nvPr/>
          </p:nvSpPr>
          <p:spPr>
            <a:xfrm>
              <a:off x="533400" y="3924300"/>
              <a:ext cx="6708458" cy="60007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8" name="Rectangle 28"/>
            <p:cNvSpPr/>
            <p:nvPr/>
          </p:nvSpPr>
          <p:spPr>
            <a:xfrm>
              <a:off x="542925" y="3933825"/>
              <a:ext cx="1121092" cy="581025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30555" y="4145756"/>
              <a:ext cx="3597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1994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770698" y="4045744"/>
              <a:ext cx="5075174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 1 届 PLoP 会议在 Allerton Park 召开；GoF 出版《设计模式》，编目 23 个模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式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533400" y="4519612"/>
              <a:ext cx="670845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630555" y="4645819"/>
              <a:ext cx="3597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1995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1770698" y="4645819"/>
              <a:ext cx="443306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PLoP'95 继续举行，《设计模式》成为当年最抢手的面向对象书籍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533400" y="4919662"/>
              <a:ext cx="670845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5" name="Rectangle 35"/>
            <p:cNvSpPr/>
            <p:nvPr/>
          </p:nvSpPr>
          <p:spPr>
            <a:xfrm>
              <a:off x="533400" y="4924425"/>
              <a:ext cx="6708458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630555" y="5045869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至今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1770698" y="5045869"/>
              <a:ext cx="479170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Java SE/EE 与 .NET 平台大量使用设计模式，它也成为高校的独立课程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533400" y="1524000"/>
              <a:ext cx="6708458" cy="380047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39" name="Rectangle 39"/>
            <p:cNvSpPr/>
            <p:nvPr/>
          </p:nvSpPr>
          <p:spPr>
            <a:xfrm>
              <a:off x="1668780" y="1524000"/>
              <a:ext cx="9525" cy="380047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48" name="c2-card-1"/>
          <p:cNvGrpSpPr/>
          <p:nvPr/>
        </p:nvGrpSpPr>
        <p:grpSpPr>
          <a:xfrm>
            <a:off x="7546658" y="1524000"/>
            <a:ext cx="4111942" cy="2531745"/>
            <a:chOff x="7546658" y="1524000"/>
            <a:chExt cx="4111942" cy="2531745"/>
          </a:xfrm>
        </p:grpSpPr>
        <p:sp>
          <p:nvSpPr>
            <p:cNvPr id="41" name="Rectangle 41"/>
            <p:cNvSpPr/>
            <p:nvPr/>
          </p:nvSpPr>
          <p:spPr>
            <a:xfrm>
              <a:off x="7546658" y="1524000"/>
              <a:ext cx="4111942" cy="2531745"/>
            </a:xfrm>
            <a:prstGeom prst="roundRect">
              <a:avLst>
                <a:gd name="adj" fmla="val 5267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7556182" y="1657350"/>
              <a:ext cx="47625" cy="2265045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43" name="Rectangle 43"/>
            <p:cNvSpPr/>
            <p:nvPr/>
          </p:nvSpPr>
          <p:spPr>
            <a:xfrm>
              <a:off x="7771448" y="1710690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7864119" y="1743551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更正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8337994" y="1745932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两处与源课件不同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7764589" y="2071688"/>
              <a:ext cx="3554158" cy="103555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《设计模式》 </a:t>
              </a:r>
              <a:r>
                <a:rPr lang="zh-CN" sz="13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1994 年 10 月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由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Addison-Wesley 出版并在 OOPSLA'94 亮相，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原课件写在 1995 年那一条里；1995 年是它最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畅销的一年。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7764589" y="3143250"/>
              <a:ext cx="3562731" cy="7783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PLoP 全称 Pattern Languages of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Programs，是“程序的模式语言”会议，原课件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译作“编程语言模式会议”。</a:t>
              </a:r>
            </a:p>
          </p:txBody>
        </p:sp>
      </p:grpSp>
      <p:grpSp>
        <p:nvGrpSpPr>
          <p:cNvPr id="55" name="c2-card-2"/>
          <p:cNvGrpSpPr/>
          <p:nvPr/>
        </p:nvGrpSpPr>
        <p:grpSpPr>
          <a:xfrm>
            <a:off x="7546658" y="4225290"/>
            <a:ext cx="4111942" cy="1459230"/>
            <a:chOff x="7546658" y="4225290"/>
            <a:chExt cx="4111942" cy="1459230"/>
          </a:xfrm>
        </p:grpSpPr>
        <p:sp>
          <p:nvSpPr>
            <p:cNvPr id="49" name="Rectangle 49"/>
            <p:cNvSpPr/>
            <p:nvPr/>
          </p:nvSpPr>
          <p:spPr>
            <a:xfrm>
              <a:off x="7546658" y="4225290"/>
              <a:ext cx="4111942" cy="1459230"/>
            </a:xfrm>
            <a:prstGeom prst="roundRect">
              <a:avLst>
                <a:gd name="adj" fmla="val 9138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50" name="Rectangle 50"/>
            <p:cNvSpPr/>
            <p:nvPr/>
          </p:nvSpPr>
          <p:spPr>
            <a:xfrm>
              <a:off x="7556182" y="4358640"/>
              <a:ext cx="47625" cy="1192530"/>
            </a:xfrm>
            <a:prstGeom prst="roundRect">
              <a:avLst>
                <a:gd name="adj" fmla="val 50000"/>
              </a:avLst>
            </a:prstGeom>
            <a:solidFill>
              <a:srgbClr val="D97706"/>
            </a:solidFill>
            <a:ln>
              <a:noFill/>
            </a:ln>
          </p:spPr>
        </p:sp>
        <p:sp>
          <p:nvSpPr>
            <p:cNvPr id="51" name="Rectangle 51"/>
            <p:cNvSpPr/>
            <p:nvPr/>
          </p:nvSpPr>
          <p:spPr>
            <a:xfrm>
              <a:off x="7771448" y="4411980"/>
              <a:ext cx="334328" cy="238125"/>
            </a:xfrm>
            <a:prstGeom prst="roundRect">
              <a:avLst>
                <a:gd name="adj" fmla="val 50000"/>
              </a:avLst>
            </a:prstGeom>
            <a:solidFill>
              <a:srgbClr val="FEF3C7"/>
            </a:solidFill>
            <a:ln>
              <a:noFill/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7868171" y="4444841"/>
              <a:ext cx="14183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92400E"/>
                  </a:solidFill>
                  <a:latin typeface="+mn-lt"/>
                  <a:ea typeface="+mn-ea"/>
                  <a:cs typeface="+mn-cs"/>
                </a:rPr>
                <a:t>注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8213217" y="4447222"/>
              <a:ext cx="154716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OOPSLA 是什么会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7764589" y="4772978"/>
              <a:ext cx="3528441" cy="7783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面向对象编程、系统、语言和应用大会，编程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语言与软件工程的国际顶级会议，2010 年起并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入 ACM SPLASH。</a:t>
              </a:r>
            </a:p>
          </p:txBody>
        </p:sp>
      </p:grpSp>
      <p:grpSp>
        <p:nvGrpSpPr>
          <p:cNvPr id="61" name="takeaway"/>
          <p:cNvGrpSpPr/>
          <p:nvPr/>
        </p:nvGrpSpPr>
        <p:grpSpPr>
          <a:xfrm>
            <a:off x="533400" y="5881688"/>
            <a:ext cx="11125200" cy="481012"/>
            <a:chOff x="533400" y="5881688"/>
            <a:chExt cx="11125200" cy="481012"/>
          </a:xfrm>
        </p:grpSpPr>
        <p:sp>
          <p:nvSpPr>
            <p:cNvPr id="56" name="Rectangle 56"/>
            <p:cNvSpPr/>
            <p:nvPr/>
          </p:nvSpPr>
          <p:spPr>
            <a:xfrm>
              <a:off x="533400" y="5881688"/>
              <a:ext cx="11125200" cy="481012"/>
            </a:xfrm>
            <a:prstGeom prst="roundRect">
              <a:avLst>
                <a:gd name="adj" fmla="val 23762"/>
              </a:avLst>
            </a:prstGeom>
            <a:solidFill>
              <a:srgbClr val="5B3FA0"/>
            </a:solidFill>
            <a:ln>
              <a:noFill/>
            </a:ln>
          </p:spPr>
        </p:sp>
        <p:grpSp>
          <p:nvGrpSpPr>
            <p:cNvPr id="59" name="Group 59"/>
            <p:cNvGrpSpPr/>
            <p:nvPr/>
          </p:nvGrpSpPr>
          <p:grpSpPr>
            <a:xfrm>
              <a:off x="738188" y="6022660"/>
              <a:ext cx="200023" cy="200023"/>
              <a:chOff x="738188" y="6022660"/>
              <a:chExt cx="200023" cy="200023"/>
            </a:xfrm>
          </p:grpSpPr>
          <p:sp>
            <p:nvSpPr>
              <p:cNvPr id="57" name="Freeform 57"/>
              <p:cNvSpPr/>
              <p:nvPr/>
            </p:nvSpPr>
            <p:spPr>
              <a:xfrm>
                <a:off x="738188" y="6022660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58" name="Freeform 58"/>
              <p:cNvSpPr/>
              <p:nvPr/>
            </p:nvSpPr>
            <p:spPr>
              <a:xfrm>
                <a:off x="871538" y="608933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60" name="TextBox 60"/>
            <p:cNvSpPr txBox="1"/>
            <p:nvPr/>
          </p:nvSpPr>
          <p:spPr>
            <a:xfrm>
              <a:off x="1040892" y="6028373"/>
              <a:ext cx="819188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设计模式不是谁凭空设计出来的，是从已经跑起来的系统里反复总结、再经同行会议筛选后留下来的。</a:t>
              </a:r>
            </a:p>
          </p:txBody>
        </p:sp>
      </p:grpSp>
      <p:grpSp>
        <p:nvGrpSpPr>
          <p:cNvPr id="64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2" name="TextBox 62"/>
            <p:cNvSpPr txBox="1"/>
            <p:nvPr/>
          </p:nvSpPr>
          <p:spPr>
            <a:xfrm>
              <a:off x="528447" y="6581299"/>
              <a:ext cx="174475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设计模式概述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4488561" cy="909257"/>
            <a:chOff x="520446" y="342900"/>
            <a:chExt cx="4488561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212658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2429" y="407194"/>
              <a:ext cx="20736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03 设计模式概述 · 模式从哪来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4488561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四人组与《设计模式》这本书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6161" y="1547336"/>
            <a:ext cx="9571741" cy="278702"/>
            <a:chOff x="526161" y="1547336"/>
            <a:chExt cx="9571741" cy="278702"/>
          </a:xfrm>
        </p:grpSpPr>
        <p:sp>
          <p:nvSpPr>
            <p:cNvPr id="7" name="TextBox 7"/>
            <p:cNvSpPr txBox="1"/>
            <p:nvPr/>
          </p:nvSpPr>
          <p:spPr>
            <a:xfrm>
              <a:off x="526161" y="1547336"/>
              <a:ext cx="957174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GoF 是 Gang of Four（四人组）的缩写，他们 1994 年归纳发表了 23 种在软件开发中使用频率较高的设计模式。</a:t>
              </a:r>
            </a:p>
          </p:txBody>
        </p:sp>
      </p:grpSp>
      <p:grpSp>
        <p:nvGrpSpPr>
          <p:cNvPr id="27" name="c1-table-1"/>
          <p:cNvGrpSpPr/>
          <p:nvPr/>
        </p:nvGrpSpPr>
        <p:grpSpPr>
          <a:xfrm>
            <a:off x="533400" y="1941195"/>
            <a:ext cx="6276022" cy="2828925"/>
            <a:chOff x="533400" y="1941195"/>
            <a:chExt cx="6276022" cy="2828925"/>
          </a:xfrm>
        </p:grpSpPr>
        <p:sp>
          <p:nvSpPr>
            <p:cNvPr id="9" name="Rectangle 9"/>
            <p:cNvSpPr/>
            <p:nvPr/>
          </p:nvSpPr>
          <p:spPr>
            <a:xfrm>
              <a:off x="533400" y="1941195"/>
              <a:ext cx="6276022" cy="40576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1317981" y="2065496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姓名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4456468" y="2065496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背景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633412" y="2571274"/>
              <a:ext cx="96405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Erich Gamma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2516505" y="2471261"/>
              <a:ext cx="4015486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苏黎世大学计算机科学博士，Eclipse、JUnit 等项目主要技术负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责人之一，后在微软领导 Visual Studio Code 开发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533400" y="2947988"/>
              <a:ext cx="627602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5" name="Rectangle 15"/>
            <p:cNvSpPr/>
            <p:nvPr/>
          </p:nvSpPr>
          <p:spPr>
            <a:xfrm>
              <a:off x="533400" y="2952750"/>
              <a:ext cx="6276022" cy="60579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633412" y="3177064"/>
              <a:ext cx="9790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Richard Helm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2516505" y="3077051"/>
              <a:ext cx="4022598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墨尔本大学计算机科学博士，原 IBM 研究员，后在波士顿顾问集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团供职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533400" y="3553778"/>
              <a:ext cx="627602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633412" y="3782854"/>
              <a:ext cx="10741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Ralph Johnson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2516505" y="3682841"/>
              <a:ext cx="3994150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康奈尔大学计算机科学博士，伊利诺伊大学教授，在模式、重构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领域造诣很高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533400" y="4159568"/>
              <a:ext cx="627602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2" name="Rectangle 22"/>
            <p:cNvSpPr/>
            <p:nvPr/>
          </p:nvSpPr>
          <p:spPr>
            <a:xfrm>
              <a:off x="533400" y="4164330"/>
              <a:ext cx="6276022" cy="60579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633412" y="4388644"/>
              <a:ext cx="108136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John Vlissides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2516505" y="4288631"/>
              <a:ext cx="3965702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斯坦福大学计算机科学博士，原 IBM 研究员，2005 年 11 月 24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日因脑瘤去世，享年 44 岁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533400" y="1941195"/>
              <a:ext cx="6276022" cy="282892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26" name="Rectangle 26"/>
            <p:cNvSpPr/>
            <p:nvPr/>
          </p:nvSpPr>
          <p:spPr>
            <a:xfrm>
              <a:off x="2411730" y="1941195"/>
              <a:ext cx="9525" cy="28289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35" name="c1-card-2"/>
          <p:cNvGrpSpPr/>
          <p:nvPr/>
        </p:nvGrpSpPr>
        <p:grpSpPr>
          <a:xfrm>
            <a:off x="533400" y="4945380"/>
            <a:ext cx="6276022" cy="1272540"/>
            <a:chOff x="533400" y="4945380"/>
            <a:chExt cx="6276022" cy="1272540"/>
          </a:xfrm>
        </p:grpSpPr>
        <p:sp>
          <p:nvSpPr>
            <p:cNvPr id="28" name="Rectangle 28"/>
            <p:cNvSpPr/>
            <p:nvPr/>
          </p:nvSpPr>
          <p:spPr>
            <a:xfrm>
              <a:off x="533400" y="4945380"/>
              <a:ext cx="6276022" cy="1272540"/>
            </a:xfrm>
            <a:prstGeom prst="roundRect">
              <a:avLst>
                <a:gd name="adj" fmla="val 10479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9" name="Rectangle 29"/>
            <p:cNvSpPr/>
            <p:nvPr/>
          </p:nvSpPr>
          <p:spPr>
            <a:xfrm>
              <a:off x="542925" y="5078730"/>
              <a:ext cx="47625" cy="1005840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30" name="Rectangle 30"/>
            <p:cNvSpPr/>
            <p:nvPr/>
          </p:nvSpPr>
          <p:spPr>
            <a:xfrm>
              <a:off x="763905" y="5137785"/>
              <a:ext cx="476250" cy="247650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55345" y="5172075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延伸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347597" y="5177790"/>
              <a:ext cx="197375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这 23 个模式今天在哪里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757047" y="5512118"/>
              <a:ext cx="50830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Java 的 I/O 流用装饰，集合用迭代器，Swing 事件用观察者。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757047" y="5814060"/>
              <a:ext cx="531837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Spring 用代理做 AOP、用工厂造 Bean，读源码时常能遇见它们。</a:t>
              </a:r>
            </a:p>
          </p:txBody>
        </p:sp>
      </p:grpSp>
      <p:grpSp>
        <p:nvGrpSpPr>
          <p:cNvPr id="47" name="c2-card-1"/>
          <p:cNvGrpSpPr/>
          <p:nvPr/>
        </p:nvGrpSpPr>
        <p:grpSpPr>
          <a:xfrm>
            <a:off x="7114222" y="1941195"/>
            <a:ext cx="4544378" cy="2648902"/>
            <a:chOff x="7114222" y="1941195"/>
            <a:chExt cx="4544378" cy="2648902"/>
          </a:xfrm>
        </p:grpSpPr>
        <p:sp>
          <p:nvSpPr>
            <p:cNvPr id="36" name="Rectangle 36"/>
            <p:cNvSpPr/>
            <p:nvPr/>
          </p:nvSpPr>
          <p:spPr>
            <a:xfrm>
              <a:off x="7114222" y="1941195"/>
              <a:ext cx="4544378" cy="2648902"/>
            </a:xfrm>
            <a:prstGeom prst="roundRect">
              <a:avLst>
                <a:gd name="adj" fmla="val 5034"/>
              </a:avLst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7306628" y="2133600"/>
              <a:ext cx="609600" cy="247650"/>
            </a:xfrm>
            <a:prstGeom prst="roundRect">
              <a:avLst>
                <a:gd name="adj" fmla="val 50000"/>
              </a:avLst>
            </a:prstGeom>
            <a:solidFill>
              <a:srgbClr val="462F8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7394067" y="2167890"/>
              <a:ext cx="43472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这本书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8023670" y="2173605"/>
              <a:ext cx="346671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《设计模式：可复用面向对象软件的基础》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7299770" y="2507932"/>
              <a:ext cx="323697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en-US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Design Patterns: Elements of Reusable</a:t>
              </a:r>
              <a:br/>
              <a:r>
                <a:rPr lang="en-US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Object-Oriented Software</a:t>
              </a:r>
            </a:p>
          </p:txBody>
        </p:sp>
        <p:sp>
          <p:nvSpPr>
            <p:cNvPr id="41" name="Ellipse 41"/>
            <p:cNvSpPr/>
            <p:nvPr/>
          </p:nvSpPr>
          <p:spPr>
            <a:xfrm>
              <a:off x="7315200" y="3124200"/>
              <a:ext cx="59055" cy="59055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7471220" y="3068002"/>
              <a:ext cx="329770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 xml:space="preserve">编目 </a:t>
              </a:r>
              <a:r>
                <a:rPr lang="zh-CN" sz="13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23 个</a:t>
              </a:r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 xml:space="preserve"> 模式，每个模式按统一模板写</a:t>
              </a:r>
            </a:p>
          </p:txBody>
        </p:sp>
        <p:sp>
          <p:nvSpPr>
            <p:cNvPr id="43" name="Ellipse 43"/>
            <p:cNvSpPr/>
            <p:nvPr/>
          </p:nvSpPr>
          <p:spPr>
            <a:xfrm>
              <a:off x="7315200" y="3426142"/>
              <a:ext cx="59055" cy="59055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7471220" y="3369945"/>
              <a:ext cx="361416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目的是用模式统一沟通面向对象方法在分析、设</a:t>
              </a:r>
              <a:br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计、实现之间的鸿沟</a:t>
              </a:r>
            </a:p>
          </p:txBody>
        </p:sp>
        <p:sp>
          <p:nvSpPr>
            <p:cNvPr id="45" name="Ellipse 45"/>
            <p:cNvSpPr/>
            <p:nvPr/>
          </p:nvSpPr>
          <p:spPr>
            <a:xfrm>
              <a:off x="7315200" y="3986212"/>
              <a:ext cx="59055" cy="59055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7471220" y="3930015"/>
              <a:ext cx="3777044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书里的代码用 C++ 和 Smalltalk，本课程统一改用</a:t>
              </a:r>
              <a:br/>
              <a:r>
                <a:rPr lang="en-US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Java</a:t>
              </a:r>
            </a:p>
          </p:txBody>
        </p:sp>
      </p:grpSp>
      <p:grpSp>
        <p:nvGrpSpPr>
          <p:cNvPr id="54" name="c2-callout-2"/>
          <p:cNvGrpSpPr/>
          <p:nvPr/>
        </p:nvGrpSpPr>
        <p:grpSpPr>
          <a:xfrm>
            <a:off x="7114222" y="4765358"/>
            <a:ext cx="4544378" cy="1452562"/>
            <a:chOff x="7114222" y="4765358"/>
            <a:chExt cx="4544378" cy="1452562"/>
          </a:xfrm>
        </p:grpSpPr>
        <p:sp>
          <p:nvSpPr>
            <p:cNvPr id="48" name="Rectangle 48"/>
            <p:cNvSpPr/>
            <p:nvPr/>
          </p:nvSpPr>
          <p:spPr>
            <a:xfrm>
              <a:off x="7114222" y="4765358"/>
              <a:ext cx="4544378" cy="1452562"/>
            </a:xfrm>
            <a:prstGeom prst="roundRect">
              <a:avLst>
                <a:gd name="adj" fmla="val 7869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52" name="Group 52"/>
            <p:cNvGrpSpPr/>
            <p:nvPr/>
          </p:nvGrpSpPr>
          <p:grpSpPr>
            <a:xfrm>
              <a:off x="7319010" y="5391150"/>
              <a:ext cx="200026" cy="200025"/>
              <a:chOff x="7319010" y="5391150"/>
              <a:chExt cx="200026" cy="200025"/>
            </a:xfrm>
          </p:grpSpPr>
          <p:sp>
            <p:nvSpPr>
              <p:cNvPr id="49" name="Freeform 49"/>
              <p:cNvSpPr/>
              <p:nvPr/>
            </p:nvSpPr>
            <p:spPr>
              <a:xfrm>
                <a:off x="7319010" y="5391150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50" name="Freeform 50"/>
              <p:cNvSpPr/>
              <p:nvPr/>
            </p:nvSpPr>
            <p:spPr>
              <a:xfrm>
                <a:off x="7358749" y="5435600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51" name="Freeform 51"/>
              <p:cNvSpPr/>
              <p:nvPr/>
            </p:nvSpPr>
            <p:spPr>
              <a:xfrm>
                <a:off x="7393464" y="5546726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53" name="TextBox 53"/>
            <p:cNvSpPr txBox="1"/>
            <p:nvPr/>
          </p:nvSpPr>
          <p:spPr>
            <a:xfrm>
              <a:off x="7621714" y="5148262"/>
              <a:ext cx="3682746" cy="76123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后面 20 多讲讲的就是这 23 个模式（另加一个不</a:t>
              </a:r>
              <a:br/>
              <a:r>
                <a:rPr lang="zh-CN" sz="13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在 23 之列的简单工厂）。这一讲是它们的总</a:t>
              </a:r>
              <a:br/>
              <a:r>
                <a:rPr lang="zh-CN" sz="13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纲。</a:t>
              </a:r>
            </a:p>
          </p:txBody>
        </p:sp>
      </p:grpSp>
      <p:grpSp>
        <p:nvGrpSpPr>
          <p:cNvPr id="57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5" name="TextBox 55"/>
            <p:cNvSpPr txBox="1"/>
            <p:nvPr/>
          </p:nvSpPr>
          <p:spPr>
            <a:xfrm>
              <a:off x="528447" y="6581299"/>
              <a:ext cx="174475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设计模式概述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7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5B3FA0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EEEAF7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954033" y="2705100"/>
            <a:ext cx="1903933" cy="2305050"/>
            <a:chOff x="8954033" y="2705100"/>
            <a:chExt cx="1903933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954033" y="2705100"/>
              <a:ext cx="1903933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</p:grpSp>
      <p:grpSp>
        <p:nvGrpSpPr>
          <p:cNvPr id="16" name="section-title"/>
          <p:cNvGrpSpPr/>
          <p:nvPr/>
        </p:nvGrpSpPr>
        <p:grpSpPr>
          <a:xfrm>
            <a:off x="667512" y="1835468"/>
            <a:ext cx="5579745" cy="2997517"/>
            <a:chOff x="667512" y="1835468"/>
            <a:chExt cx="5579745" cy="299751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第二部分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3429000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什么是设计模式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556983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定义、四个关键要素，以及它能给你什么、要你付出什么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3888105"/>
              <a:ext cx="76200" cy="7620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3830955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设计模式像一本菜谱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242435"/>
              <a:ext cx="76200" cy="7620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185285"/>
              <a:ext cx="24384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四个关键要素撑起一个模式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" y="4596765"/>
              <a:ext cx="76200" cy="7620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6780" y="4539615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知道名字不等于会用</a:t>
              </a:r>
            </a:p>
          </p:txBody>
        </p:sp>
      </p:grpSp>
      <p:grpSp>
        <p:nvGrpSpPr>
          <p:cNvPr id="1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7" name="TextBox 17"/>
            <p:cNvSpPr txBox="1"/>
            <p:nvPr/>
          </p:nvSpPr>
          <p:spPr>
            <a:xfrm>
              <a:off x="528447" y="6581299"/>
              <a:ext cx="174475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设计模式概述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9637776" cy="909257"/>
            <a:chOff x="520446" y="342900"/>
            <a:chExt cx="9637776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96502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4530" y="407194"/>
              <a:ext cx="237519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03 设计模式概述 · 什么是设计模式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9637776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设计模式是针对重复出现的设计问题、经过实践验证的解决方案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9" name="c1-card-1"/>
          <p:cNvGrpSpPr/>
          <p:nvPr/>
        </p:nvGrpSpPr>
        <p:grpSpPr>
          <a:xfrm>
            <a:off x="533400" y="1524000"/>
            <a:ext cx="5951220" cy="2015490"/>
            <a:chOff x="533400" y="1524000"/>
            <a:chExt cx="5951220" cy="2015490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951220" cy="2015490"/>
            </a:xfrm>
            <a:prstGeom prst="roundRect">
              <a:avLst>
                <a:gd name="adj" fmla="val 6616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1748790"/>
            </a:xfrm>
            <a:prstGeom prst="roundRect">
              <a:avLst>
                <a:gd name="adj" fmla="val 50000"/>
              </a:avLst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52475" y="1704975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45147" y="1737836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定义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318450" y="1744504"/>
              <a:ext cx="236087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设计模式（Design Pattern）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45998" y="2061686"/>
              <a:ext cx="5214874" cy="4922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设计模式是一套被反复使用、多数人知晓、经过分类编目的代码设计经验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的总结。</a:t>
              </a:r>
            </a:p>
          </p:txBody>
        </p:sp>
        <p:sp>
          <p:nvSpPr>
            <p:cNvPr id="13" name="Ellipse 13"/>
            <p:cNvSpPr/>
            <p:nvPr/>
          </p:nvSpPr>
          <p:spPr>
            <a:xfrm>
              <a:off x="762000" y="2641282"/>
              <a:ext cx="57150" cy="5715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917448" y="2589371"/>
              <a:ext cx="540637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使用它是为了 </a:t>
              </a:r>
              <a:r>
                <a:rPr lang="zh-CN" sz="128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可复用代码</a:t>
              </a: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、让代码更容易被他人理解、保证代码可靠性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762000" y="2927032"/>
              <a:ext cx="57150" cy="5715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17448" y="2874169"/>
              <a:ext cx="442418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它解决的是 </a:t>
              </a:r>
              <a:r>
                <a:rPr lang="zh-CN" sz="128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反复出现</a:t>
              </a: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的设计问题，一次性问题不需要模式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762000" y="3211830"/>
              <a:ext cx="57150" cy="5715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917448" y="3158966"/>
              <a:ext cx="414848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它是被实践验证过的方案，不是学术兴趣上的理论建议</a:t>
              </a:r>
            </a:p>
          </p:txBody>
        </p:sp>
      </p:grpSp>
      <p:grpSp>
        <p:nvGrpSpPr>
          <p:cNvPr id="27" name="c1-card-2"/>
          <p:cNvGrpSpPr/>
          <p:nvPr/>
        </p:nvGrpSpPr>
        <p:grpSpPr>
          <a:xfrm>
            <a:off x="533400" y="3704272"/>
            <a:ext cx="5951220" cy="1687830"/>
            <a:chOff x="533400" y="3704272"/>
            <a:chExt cx="5951220" cy="1687830"/>
          </a:xfrm>
        </p:grpSpPr>
        <p:sp>
          <p:nvSpPr>
            <p:cNvPr id="20" name="Rectangle 20"/>
            <p:cNvSpPr/>
            <p:nvPr/>
          </p:nvSpPr>
          <p:spPr>
            <a:xfrm>
              <a:off x="533400" y="3704272"/>
              <a:ext cx="5951220" cy="1687830"/>
            </a:xfrm>
            <a:prstGeom prst="roundRect">
              <a:avLst>
                <a:gd name="adj" fmla="val 7901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1" name="Rectangle 21"/>
            <p:cNvSpPr/>
            <p:nvPr/>
          </p:nvSpPr>
          <p:spPr>
            <a:xfrm>
              <a:off x="542925" y="3837622"/>
              <a:ext cx="47625" cy="1421130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22" name="Rectangle 22"/>
            <p:cNvSpPr/>
            <p:nvPr/>
          </p:nvSpPr>
          <p:spPr>
            <a:xfrm>
              <a:off x="752475" y="3885248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845147" y="3918109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类比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318450" y="3924776"/>
              <a:ext cx="139146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设计模式就像菜谱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45998" y="4241006"/>
              <a:ext cx="5214874" cy="4922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有些菜是人们反复尝试和烹制的，一段时间后某种烹饪方式成为首选，因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为它做出来最好吃，于是被写进食谱。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745998" y="4769644"/>
              <a:ext cx="5214874" cy="4922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即便不是厨师，严格照着食谱也能做出像样的菜；不照食谱，结果就不一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定了。</a:t>
              </a:r>
            </a:p>
          </p:txBody>
        </p:sp>
      </p:grpSp>
      <p:grpSp>
        <p:nvGrpSpPr>
          <p:cNvPr id="30" name="c2-image-1"/>
          <p:cNvGrpSpPr/>
          <p:nvPr/>
        </p:nvGrpSpPr>
        <p:grpSpPr>
          <a:xfrm>
            <a:off x="6789420" y="1524000"/>
            <a:ext cx="4869180" cy="2711481"/>
            <a:chOff x="6789420" y="1524000"/>
            <a:chExt cx="4869180" cy="2711481"/>
          </a:xfrm>
        </p:grpSpPr>
        <p:pic>
          <p:nvPicPr>
            <p:cNvPr id="28" name="Image 28"/>
            <p:cNvPicPr>
              <a:picLocks noChangeAspect="1"/>
            </p:cNvPicPr>
            <p:nvPr/>
          </p:nvPicPr>
          <p:blipFill>
            <a:blip r:embed="rId2"/>
            <a:srcRect l="0" t="16745" r="0" b="16745"/>
            <a:stretch>
              <a:fillRect/>
            </a:stretch>
          </p:blipFill>
          <p:spPr>
            <a:xfrm>
              <a:off x="6789420" y="1524000"/>
              <a:ext cx="4869180" cy="2428875"/>
            </a:xfrm>
            <a:prstGeom prst="roundRect">
              <a:avLst>
                <a:gd name="adj" fmla="val 5490"/>
              </a:avLst>
            </a:prstGeom>
          </p:spPr>
        </p:pic>
        <p:sp>
          <p:nvSpPr>
            <p:cNvPr id="29" name="TextBox 29"/>
            <p:cNvSpPr txBox="1"/>
            <p:nvPr/>
          </p:nvSpPr>
          <p:spPr>
            <a:xfrm>
              <a:off x="7569962" y="4044791"/>
              <a:ext cx="330809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照着成熟的方子做，结果稳定；每次从零试，结果看运气</a:t>
              </a:r>
            </a:p>
          </p:txBody>
        </p:sp>
      </p:grpSp>
      <p:grpSp>
        <p:nvGrpSpPr>
          <p:cNvPr id="37" name="c2-callout-2"/>
          <p:cNvGrpSpPr/>
          <p:nvPr/>
        </p:nvGrpSpPr>
        <p:grpSpPr>
          <a:xfrm>
            <a:off x="6789420" y="4381500"/>
            <a:ext cx="4869180" cy="1010602"/>
            <a:chOff x="6789420" y="4381500"/>
            <a:chExt cx="4869180" cy="1010602"/>
          </a:xfrm>
        </p:grpSpPr>
        <p:sp>
          <p:nvSpPr>
            <p:cNvPr id="31" name="Rectangle 31"/>
            <p:cNvSpPr/>
            <p:nvPr/>
          </p:nvSpPr>
          <p:spPr>
            <a:xfrm>
              <a:off x="6789420" y="4381500"/>
              <a:ext cx="4869180" cy="1010602"/>
            </a:xfrm>
            <a:prstGeom prst="roundRect">
              <a:avLst>
                <a:gd name="adj" fmla="val 11310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35" name="Group 35"/>
            <p:cNvGrpSpPr/>
            <p:nvPr/>
          </p:nvGrpSpPr>
          <p:grpSpPr>
            <a:xfrm>
              <a:off x="6994208" y="4787265"/>
              <a:ext cx="200026" cy="200026"/>
              <a:chOff x="6994208" y="4787265"/>
              <a:chExt cx="200026" cy="200026"/>
            </a:xfrm>
          </p:grpSpPr>
          <p:sp>
            <p:nvSpPr>
              <p:cNvPr id="32" name="Freeform 32"/>
              <p:cNvSpPr/>
              <p:nvPr/>
            </p:nvSpPr>
            <p:spPr>
              <a:xfrm>
                <a:off x="6994208" y="4787265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33" name="Freeform 33"/>
              <p:cNvSpPr/>
              <p:nvPr/>
            </p:nvSpPr>
            <p:spPr>
              <a:xfrm>
                <a:off x="7094220" y="485394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34" name="Freeform 34"/>
              <p:cNvSpPr/>
              <p:nvPr/>
            </p:nvSpPr>
            <p:spPr>
              <a:xfrm>
                <a:off x="7083108" y="4887278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36" name="TextBox 36"/>
            <p:cNvSpPr txBox="1"/>
            <p:nvPr/>
          </p:nvSpPr>
          <p:spPr>
            <a:xfrm>
              <a:off x="7297293" y="4680109"/>
              <a:ext cx="3914394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不是每次都要从基本的对象抽象和设计原则出发解决问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题，先看看前人有没有把这个问题的解法编好目录。</a:t>
              </a:r>
            </a:p>
          </p:txBody>
        </p:sp>
      </p:grpSp>
      <p:grpSp>
        <p:nvGrpSpPr>
          <p:cNvPr id="43" name="takeaway"/>
          <p:cNvGrpSpPr/>
          <p:nvPr/>
        </p:nvGrpSpPr>
        <p:grpSpPr>
          <a:xfrm>
            <a:off x="533400" y="5895022"/>
            <a:ext cx="11125200" cy="467678"/>
            <a:chOff x="533400" y="5895022"/>
            <a:chExt cx="11125200" cy="467678"/>
          </a:xfrm>
        </p:grpSpPr>
        <p:sp>
          <p:nvSpPr>
            <p:cNvPr id="38" name="Rectangle 38"/>
            <p:cNvSpPr/>
            <p:nvPr/>
          </p:nvSpPr>
          <p:spPr>
            <a:xfrm>
              <a:off x="533400" y="5895022"/>
              <a:ext cx="11125200" cy="467678"/>
            </a:xfrm>
            <a:prstGeom prst="roundRect">
              <a:avLst>
                <a:gd name="adj" fmla="val 24440"/>
              </a:avLst>
            </a:prstGeom>
            <a:solidFill>
              <a:srgbClr val="5B3FA0"/>
            </a:solidFill>
            <a:ln>
              <a:noFill/>
            </a:ln>
          </p:spPr>
        </p:sp>
        <p:grpSp>
          <p:nvGrpSpPr>
            <p:cNvPr id="41" name="Group 41"/>
            <p:cNvGrpSpPr/>
            <p:nvPr/>
          </p:nvGrpSpPr>
          <p:grpSpPr>
            <a:xfrm>
              <a:off x="738188" y="6028375"/>
              <a:ext cx="200023" cy="200023"/>
              <a:chOff x="738188" y="6028375"/>
              <a:chExt cx="200023" cy="200023"/>
            </a:xfrm>
          </p:grpSpPr>
          <p:sp>
            <p:nvSpPr>
              <p:cNvPr id="39" name="Freeform 39"/>
              <p:cNvSpPr/>
              <p:nvPr/>
            </p:nvSpPr>
            <p:spPr>
              <a:xfrm>
                <a:off x="738188" y="6028375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40" name="Freeform 40"/>
              <p:cNvSpPr/>
              <p:nvPr/>
            </p:nvSpPr>
            <p:spPr>
              <a:xfrm>
                <a:off x="871538" y="6095048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42" name="TextBox 42"/>
            <p:cNvSpPr txBox="1"/>
            <p:nvPr/>
          </p:nvSpPr>
          <p:spPr>
            <a:xfrm>
              <a:off x="1041273" y="6039326"/>
              <a:ext cx="690549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判断一个方案够不够格叫模式，看两条：问题是否反复出现，解法是否被多个系统验证过。</a:t>
              </a:r>
            </a:p>
          </p:txBody>
        </p:sp>
      </p:grpSp>
      <p:grpSp>
        <p:nvGrpSpPr>
          <p:cNvPr id="46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4" name="TextBox 44"/>
            <p:cNvSpPr txBox="1"/>
            <p:nvPr/>
          </p:nvSpPr>
          <p:spPr>
            <a:xfrm>
              <a:off x="528447" y="6581299"/>
              <a:ext cx="174475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设计模式概述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9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4145280" cy="909257"/>
            <a:chOff x="520446" y="342900"/>
            <a:chExt cx="4145280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96502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4530" y="407194"/>
              <a:ext cx="237519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03 设计模式概述 · 什么是设计模式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4145280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一个模式至少要讲清四件事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780" y="1548765"/>
            <a:ext cx="10515600" cy="293370"/>
            <a:chOff x="525780" y="1548765"/>
            <a:chExt cx="10515600" cy="293370"/>
          </a:xfrm>
        </p:grpSpPr>
        <p:sp>
          <p:nvSpPr>
            <p:cNvPr id="7" name="TextBox 7"/>
            <p:cNvSpPr txBox="1"/>
            <p:nvPr/>
          </p:nvSpPr>
          <p:spPr>
            <a:xfrm>
              <a:off x="525780" y="1548765"/>
              <a:ext cx="105156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设计模式一般包含模式名称、问题、目的、解决方案、效果、实例代码和相关设计模式，其中的关键元素是下面四个。</a:t>
              </a:r>
            </a:p>
          </p:txBody>
        </p:sp>
      </p:grpSp>
      <p:grpSp>
        <p:nvGrpSpPr>
          <p:cNvPr id="20" name="c1-kv-1"/>
          <p:cNvGrpSpPr/>
          <p:nvPr/>
        </p:nvGrpSpPr>
        <p:grpSpPr>
          <a:xfrm>
            <a:off x="526161" y="1977866"/>
            <a:ext cx="5417439" cy="3150490"/>
            <a:chOff x="526161" y="1977866"/>
            <a:chExt cx="5417439" cy="3150490"/>
          </a:xfrm>
        </p:grpSpPr>
        <p:sp>
          <p:nvSpPr>
            <p:cNvPr id="9" name="TextBox 9"/>
            <p:cNvSpPr txBox="1"/>
            <p:nvPr/>
          </p:nvSpPr>
          <p:spPr>
            <a:xfrm>
              <a:off x="526161" y="1977866"/>
              <a:ext cx="216111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模式名称 Pattern name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2875978" y="1977866"/>
              <a:ext cx="2899918" cy="8140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0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用一两个词描述问题、解法和效果，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让设计词汇上升到更高的抽象层次，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方便交流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533400" y="2819400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526161" y="2935129"/>
              <a:ext cx="122639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问题 Problem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2875978" y="2935129"/>
              <a:ext cx="2899918" cy="54635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0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描述应该在什么时候使用模式，解释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设计问题和问题存在的前因后果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533400" y="3509010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526161" y="3624739"/>
              <a:ext cx="162810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解决方案 Solution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2875978" y="3624739"/>
              <a:ext cx="2899918" cy="54635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0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描述设计的组成成分、它们之间的相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互关系及各自的职责和协作方式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533400" y="4198620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526161" y="4314349"/>
              <a:ext cx="178828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效果 Consequences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2875978" y="4314349"/>
              <a:ext cx="2899918" cy="8140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0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描述模式的应用效果及使用模式应权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衡的问题，主要是对时间和空间、系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统灵活性与扩展性的影响</a:t>
              </a:r>
            </a:p>
          </p:txBody>
        </p:sp>
      </p:grpSp>
      <p:grpSp>
        <p:nvGrpSpPr>
          <p:cNvPr id="27" name="c1-callout-2"/>
          <p:cNvGrpSpPr/>
          <p:nvPr/>
        </p:nvGrpSpPr>
        <p:grpSpPr>
          <a:xfrm>
            <a:off x="533400" y="5257800"/>
            <a:ext cx="5410200" cy="979170"/>
            <a:chOff x="533400" y="5257800"/>
            <a:chExt cx="5410200" cy="979170"/>
          </a:xfrm>
        </p:grpSpPr>
        <p:sp>
          <p:nvSpPr>
            <p:cNvPr id="21" name="Rectangle 21"/>
            <p:cNvSpPr/>
            <p:nvPr/>
          </p:nvSpPr>
          <p:spPr>
            <a:xfrm>
              <a:off x="533400" y="5257800"/>
              <a:ext cx="5410200" cy="979170"/>
            </a:xfrm>
            <a:prstGeom prst="roundRect">
              <a:avLst>
                <a:gd name="adj" fmla="val 11673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25" name="Group 25"/>
            <p:cNvGrpSpPr/>
            <p:nvPr/>
          </p:nvGrpSpPr>
          <p:grpSpPr>
            <a:xfrm>
              <a:off x="726129" y="5643681"/>
              <a:ext cx="224134" cy="192560"/>
              <a:chOff x="726129" y="5643681"/>
              <a:chExt cx="224134" cy="192560"/>
            </a:xfrm>
          </p:grpSpPr>
          <p:sp>
            <p:nvSpPr>
              <p:cNvPr id="22" name="Freeform 22"/>
              <p:cNvSpPr/>
              <p:nvPr/>
            </p:nvSpPr>
            <p:spPr>
              <a:xfrm>
                <a:off x="838200" y="5714048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23" name="Freeform 23"/>
              <p:cNvSpPr/>
              <p:nvPr/>
            </p:nvSpPr>
            <p:spPr>
              <a:xfrm>
                <a:off x="726129" y="5643681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24" name="Freeform 24"/>
              <p:cNvSpPr/>
              <p:nvPr/>
            </p:nvSpPr>
            <p:spPr>
              <a:xfrm>
                <a:off x="838200" y="5791836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26" name="TextBox 26"/>
            <p:cNvSpPr txBox="1"/>
            <p:nvPr/>
          </p:nvSpPr>
          <p:spPr>
            <a:xfrm>
              <a:off x="1040511" y="5517356"/>
              <a:ext cx="4180332" cy="5415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70"/>
                </a:lnSpc>
              </a:pPr>
              <a:r>
                <a:rPr lang="zh-CN" sz="142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四要素里最容易被跳过的是“效果”。只记结构不记代</a:t>
              </a:r>
              <a:br/>
              <a:r>
                <a:rPr lang="zh-CN" sz="142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价，就会在不合适的地方硬套模式。</a:t>
              </a:r>
            </a:p>
          </p:txBody>
        </p:sp>
      </p:grpSp>
      <p:grpSp>
        <p:nvGrpSpPr>
          <p:cNvPr id="45" name="c2-card-1"/>
          <p:cNvGrpSpPr/>
          <p:nvPr/>
        </p:nvGrpSpPr>
        <p:grpSpPr>
          <a:xfrm>
            <a:off x="6248400" y="1954530"/>
            <a:ext cx="5410200" cy="1982152"/>
            <a:chOff x="6248400" y="1954530"/>
            <a:chExt cx="5410200" cy="1982152"/>
          </a:xfrm>
        </p:grpSpPr>
        <p:sp>
          <p:nvSpPr>
            <p:cNvPr id="28" name="Rectangle 28"/>
            <p:cNvSpPr/>
            <p:nvPr/>
          </p:nvSpPr>
          <p:spPr>
            <a:xfrm>
              <a:off x="6248400" y="1954530"/>
              <a:ext cx="5410200" cy="1982152"/>
            </a:xfrm>
            <a:prstGeom prst="roundRect">
              <a:avLst>
                <a:gd name="adj" fmla="val 6728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9" name="Rectangle 29"/>
            <p:cNvSpPr/>
            <p:nvPr/>
          </p:nvSpPr>
          <p:spPr>
            <a:xfrm>
              <a:off x="6257925" y="2087880"/>
              <a:ext cx="47625" cy="1715452"/>
            </a:xfrm>
            <a:prstGeom prst="roundRect">
              <a:avLst>
                <a:gd name="adj" fmla="val 50000"/>
              </a:avLst>
            </a:prstGeom>
            <a:solidFill>
              <a:srgbClr val="D97706"/>
            </a:solidFill>
            <a:ln>
              <a:noFill/>
            </a:ln>
          </p:spPr>
        </p:sp>
        <p:sp>
          <p:nvSpPr>
            <p:cNvPr id="30" name="Rectangle 30"/>
            <p:cNvSpPr/>
            <p:nvPr/>
          </p:nvSpPr>
          <p:spPr>
            <a:xfrm>
              <a:off x="6490335" y="2158365"/>
              <a:ext cx="778192" cy="257175"/>
            </a:xfrm>
            <a:prstGeom prst="roundRect">
              <a:avLst>
                <a:gd name="adj" fmla="val 50000"/>
              </a:avLst>
            </a:prstGeom>
            <a:solidFill>
              <a:srgbClr val="FEF3C7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6572644" y="2194084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92400E"/>
                  </a:solidFill>
                  <a:latin typeface="+mn-lt"/>
                  <a:ea typeface="+mn-ea"/>
                  <a:cs typeface="+mn-cs"/>
                </a:rPr>
                <a:t>完整要素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7375588" y="2197894"/>
              <a:ext cx="214109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GoF 写一个模式用的模板</a:t>
              </a:r>
            </a:p>
          </p:txBody>
        </p:sp>
        <p:sp>
          <p:nvSpPr>
            <p:cNvPr id="33" name="Ellipse 33"/>
            <p:cNvSpPr/>
            <p:nvPr/>
          </p:nvSpPr>
          <p:spPr>
            <a:xfrm>
              <a:off x="6490335" y="2537460"/>
              <a:ext cx="201930" cy="20193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6548680" y="2577798"/>
              <a:ext cx="85241" cy="1892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6781229" y="2550319"/>
              <a:ext cx="368475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模式名和分类　2. 意图　3. 别名　4. 动机</a:t>
              </a:r>
            </a:p>
          </p:txBody>
        </p:sp>
        <p:sp>
          <p:nvSpPr>
            <p:cNvPr id="36" name="Ellipse 36"/>
            <p:cNvSpPr/>
            <p:nvPr/>
          </p:nvSpPr>
          <p:spPr>
            <a:xfrm>
              <a:off x="6490335" y="2857500"/>
              <a:ext cx="201930" cy="20193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6548680" y="2897838"/>
              <a:ext cx="85241" cy="1892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6781229" y="2870359"/>
              <a:ext cx="406707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适用性　6. 结构（类图）　7. 参与者　8. 协作</a:t>
              </a:r>
            </a:p>
          </p:txBody>
        </p:sp>
        <p:sp>
          <p:nvSpPr>
            <p:cNvPr id="39" name="Ellipse 39"/>
            <p:cNvSpPr/>
            <p:nvPr/>
          </p:nvSpPr>
          <p:spPr>
            <a:xfrm>
              <a:off x="6490335" y="3177540"/>
              <a:ext cx="201930" cy="20193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6548680" y="3217878"/>
              <a:ext cx="85241" cy="1892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6781229" y="3190399"/>
              <a:ext cx="267160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效果　10. 实现　11. 代码示例</a:t>
              </a:r>
            </a:p>
          </p:txBody>
        </p:sp>
        <p:sp>
          <p:nvSpPr>
            <p:cNvPr id="42" name="Ellipse 42"/>
            <p:cNvSpPr/>
            <p:nvPr/>
          </p:nvSpPr>
          <p:spPr>
            <a:xfrm>
              <a:off x="6490335" y="3497580"/>
              <a:ext cx="201930" cy="20193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6548680" y="3537918"/>
              <a:ext cx="85241" cy="1892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6781229" y="3510439"/>
              <a:ext cx="210768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已知应用　13. 相关模式</a:t>
              </a:r>
            </a:p>
          </p:txBody>
        </p:sp>
      </p:grpSp>
      <p:grpSp>
        <p:nvGrpSpPr>
          <p:cNvPr id="55" name="c2-bullets-2"/>
          <p:cNvGrpSpPr/>
          <p:nvPr/>
        </p:nvGrpSpPr>
        <p:grpSpPr>
          <a:xfrm>
            <a:off x="6241161" y="4145756"/>
            <a:ext cx="5135118" cy="2147507"/>
            <a:chOff x="6241161" y="4145756"/>
            <a:chExt cx="5135118" cy="2147507"/>
          </a:xfrm>
        </p:grpSpPr>
        <p:sp>
          <p:nvSpPr>
            <p:cNvPr id="46" name="TextBox 46"/>
            <p:cNvSpPr txBox="1"/>
            <p:nvPr/>
          </p:nvSpPr>
          <p:spPr>
            <a:xfrm>
              <a:off x="6241161" y="4145756"/>
              <a:ext cx="192608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用四要素描述策略模式</a:t>
              </a:r>
            </a:p>
          </p:txBody>
        </p:sp>
        <p:sp>
          <p:nvSpPr>
            <p:cNvPr id="47" name="Freeform 47"/>
            <p:cNvSpPr/>
            <p:nvPr/>
          </p:nvSpPr>
          <p:spPr>
            <a:xfrm>
              <a:off x="6248400" y="4513898"/>
              <a:ext cx="137160" cy="110490"/>
            </a:xfrm>
            <a:custGeom>
              <a:avLst/>
              <a:gdLst/>
              <a:ahLst/>
              <a:cxnLst/>
              <a:rect l="l" t="t" r="r" b="b"/>
              <a:pathLst>
                <a:path w="137160" h="110490">
                  <a:moveTo>
                    <a:pt x="0" y="59055"/>
                  </a:moveTo>
                  <a:lnTo>
                    <a:pt x="52388" y="110490"/>
                  </a:lnTo>
                  <a:lnTo>
                    <a:pt x="137160" y="0"/>
                  </a:lnTo>
                </a:path>
              </a:pathLst>
            </a:custGeom>
            <a:noFill/>
            <a:ln w="24765" cap="rnd">
              <a:solidFill>
                <a:srgbClr val="14A38B"/>
              </a:solidFill>
              <a:round/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6492621" y="4483894"/>
              <a:ext cx="219965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名称：策略（Strategy）</a:t>
              </a:r>
            </a:p>
          </p:txBody>
        </p:sp>
        <p:sp>
          <p:nvSpPr>
            <p:cNvPr id="49" name="Freeform 49"/>
            <p:cNvSpPr/>
            <p:nvPr/>
          </p:nvSpPr>
          <p:spPr>
            <a:xfrm>
              <a:off x="6248400" y="4843462"/>
              <a:ext cx="137160" cy="110490"/>
            </a:xfrm>
            <a:custGeom>
              <a:avLst/>
              <a:gdLst/>
              <a:ahLst/>
              <a:cxnLst/>
              <a:rect l="l" t="t" r="r" b="b"/>
              <a:pathLst>
                <a:path w="137160" h="110490">
                  <a:moveTo>
                    <a:pt x="0" y="58103"/>
                  </a:moveTo>
                  <a:lnTo>
                    <a:pt x="52388" y="110490"/>
                  </a:lnTo>
                  <a:lnTo>
                    <a:pt x="137160" y="0"/>
                  </a:lnTo>
                </a:path>
              </a:pathLst>
            </a:custGeom>
            <a:noFill/>
            <a:ln w="24765" cap="rnd">
              <a:solidFill>
                <a:srgbClr val="14A38B"/>
              </a:solidFill>
              <a:round/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6492621" y="4813459"/>
              <a:ext cx="488365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问题：同一件事有多种算法，客户端用条件语句挑，新增算法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要改老代码</a:t>
              </a:r>
            </a:p>
          </p:txBody>
        </p:sp>
        <p:sp>
          <p:nvSpPr>
            <p:cNvPr id="51" name="Freeform 51"/>
            <p:cNvSpPr/>
            <p:nvPr/>
          </p:nvSpPr>
          <p:spPr>
            <a:xfrm>
              <a:off x="6248400" y="5443538"/>
              <a:ext cx="137160" cy="111443"/>
            </a:xfrm>
            <a:custGeom>
              <a:avLst/>
              <a:gdLst/>
              <a:ahLst/>
              <a:cxnLst/>
              <a:rect l="l" t="t" r="r" b="b"/>
              <a:pathLst>
                <a:path w="137160" h="111443">
                  <a:moveTo>
                    <a:pt x="0" y="59055"/>
                  </a:moveTo>
                  <a:lnTo>
                    <a:pt x="52388" y="111443"/>
                  </a:lnTo>
                  <a:lnTo>
                    <a:pt x="137160" y="0"/>
                  </a:lnTo>
                </a:path>
              </a:pathLst>
            </a:custGeom>
            <a:noFill/>
            <a:ln w="24765" cap="rnd">
              <a:solidFill>
                <a:srgbClr val="14A38B"/>
              </a:solidFill>
              <a:round/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6492621" y="5413534"/>
              <a:ext cx="488365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解法：每种算法封装成一个类，实现同一接口，环境类只持有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接口</a:t>
              </a:r>
            </a:p>
          </p:txBody>
        </p:sp>
        <p:sp>
          <p:nvSpPr>
            <p:cNvPr id="53" name="Freeform 53"/>
            <p:cNvSpPr/>
            <p:nvPr/>
          </p:nvSpPr>
          <p:spPr>
            <a:xfrm>
              <a:off x="6248400" y="6044565"/>
              <a:ext cx="137160" cy="110490"/>
            </a:xfrm>
            <a:custGeom>
              <a:avLst/>
              <a:gdLst/>
              <a:ahLst/>
              <a:cxnLst/>
              <a:rect l="l" t="t" r="r" b="b"/>
              <a:pathLst>
                <a:path w="137160" h="110490">
                  <a:moveTo>
                    <a:pt x="0" y="59055"/>
                  </a:moveTo>
                  <a:lnTo>
                    <a:pt x="52388" y="110490"/>
                  </a:lnTo>
                  <a:lnTo>
                    <a:pt x="137160" y="0"/>
                  </a:lnTo>
                </a:path>
              </a:pathLst>
            </a:custGeom>
            <a:noFill/>
            <a:ln w="24765" cap="rnd">
              <a:solidFill>
                <a:srgbClr val="14A38B"/>
              </a:solidFill>
              <a:round/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6492621" y="6014561"/>
              <a:ext cx="383768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效果：新增算法不改环境类，但策略类会变多</a:t>
              </a:r>
            </a:p>
          </p:txBody>
        </p:sp>
      </p:grpSp>
      <p:grpSp>
        <p:nvGrpSpPr>
          <p:cNvPr id="58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6" name="TextBox 56"/>
            <p:cNvSpPr txBox="1"/>
            <p:nvPr/>
          </p:nvSpPr>
          <p:spPr>
            <a:xfrm>
              <a:off x="528447" y="6581299"/>
              <a:ext cx="174475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设计模式概述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10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204966" cy="909257"/>
            <a:chOff x="520446" y="342900"/>
            <a:chExt cx="6204966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96502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4530" y="407194"/>
              <a:ext cx="237519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03 设计模式概述 · 什么是设计模式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204966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知道模式的名字，和会用模式，是两回事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9" name="c1-image-1"/>
          <p:cNvGrpSpPr/>
          <p:nvPr/>
        </p:nvGrpSpPr>
        <p:grpSpPr>
          <a:xfrm>
            <a:off x="533400" y="1524000"/>
            <a:ext cx="4977765" cy="2812352"/>
            <a:chOff x="533400" y="1524000"/>
            <a:chExt cx="4977765" cy="2812352"/>
          </a:xfrm>
        </p:grpSpPr>
        <p:pic>
          <p:nvPicPr>
            <p:cNvPr id="7" name="Image 7"/>
            <p:cNvPicPr>
              <a:picLocks noChangeAspect="1"/>
            </p:cNvPicPr>
            <p:nvPr/>
          </p:nvPicPr>
          <p:blipFill>
            <a:blip r:embed="rId2"/>
            <a:srcRect l="0" t="16335" r="0" b="16335"/>
            <a:stretch>
              <a:fillRect/>
            </a:stretch>
          </p:blipFill>
          <p:spPr>
            <a:xfrm>
              <a:off x="533400" y="1524000"/>
              <a:ext cx="4977765" cy="2513648"/>
            </a:xfrm>
            <a:prstGeom prst="roundRect">
              <a:avLst>
                <a:gd name="adj" fmla="val 5305"/>
              </a:avLst>
            </a:prstGeom>
          </p:spPr>
        </p:pic>
        <p:sp>
          <p:nvSpPr>
            <p:cNvPr id="8" name="TextBox 8"/>
            <p:cNvSpPr txBox="1"/>
            <p:nvPr/>
          </p:nvSpPr>
          <p:spPr>
            <a:xfrm>
              <a:off x="1108710" y="4130993"/>
              <a:ext cx="382714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初学者只知道每个棋子怎么走，高手在棋盘上找的是局面模式</a:t>
              </a:r>
            </a:p>
          </p:txBody>
        </p:sp>
      </p:grpSp>
      <p:grpSp>
        <p:nvGrpSpPr>
          <p:cNvPr id="16" name="c1-callout-2"/>
          <p:cNvGrpSpPr/>
          <p:nvPr/>
        </p:nvGrpSpPr>
        <p:grpSpPr>
          <a:xfrm>
            <a:off x="533400" y="4489132"/>
            <a:ext cx="4977765" cy="827722"/>
            <a:chOff x="533400" y="4489132"/>
            <a:chExt cx="4977765" cy="827722"/>
          </a:xfrm>
        </p:grpSpPr>
        <p:sp>
          <p:nvSpPr>
            <p:cNvPr id="10" name="Rectangle 10"/>
            <p:cNvSpPr/>
            <p:nvPr/>
          </p:nvSpPr>
          <p:spPr>
            <a:xfrm>
              <a:off x="533400" y="4489132"/>
              <a:ext cx="4977765" cy="827722"/>
            </a:xfrm>
            <a:prstGeom prst="roundRect">
              <a:avLst>
                <a:gd name="adj" fmla="val 13809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14" name="Group 14"/>
            <p:cNvGrpSpPr/>
            <p:nvPr/>
          </p:nvGrpSpPr>
          <p:grpSpPr>
            <a:xfrm>
              <a:off x="726129" y="4799766"/>
              <a:ext cx="224134" cy="192560"/>
              <a:chOff x="726129" y="4799766"/>
              <a:chExt cx="224134" cy="192560"/>
            </a:xfrm>
          </p:grpSpPr>
          <p:sp>
            <p:nvSpPr>
              <p:cNvPr id="11" name="Freeform 11"/>
              <p:cNvSpPr/>
              <p:nvPr/>
            </p:nvSpPr>
            <p:spPr>
              <a:xfrm>
                <a:off x="838200" y="4870133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12" name="Freeform 12"/>
              <p:cNvSpPr/>
              <p:nvPr/>
            </p:nvSpPr>
            <p:spPr>
              <a:xfrm>
                <a:off x="726129" y="4799766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13" name="Freeform 13"/>
              <p:cNvSpPr/>
              <p:nvPr/>
            </p:nvSpPr>
            <p:spPr>
              <a:xfrm>
                <a:off x="838200" y="4947921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15" name="TextBox 15"/>
            <p:cNvSpPr txBox="1"/>
            <p:nvPr/>
          </p:nvSpPr>
          <p:spPr>
            <a:xfrm>
              <a:off x="1040892" y="4684395"/>
              <a:ext cx="3957066" cy="5126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有许多可用的设计模式，有时一种模式似乎适用，但</a:t>
              </a:r>
              <a:br/>
              <a:r>
                <a:rPr lang="zh-CN" sz="135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实际上并不适合当前问题。</a:t>
              </a:r>
            </a:p>
          </p:txBody>
        </p:sp>
      </p:grpSp>
      <p:grpSp>
        <p:nvGrpSpPr>
          <p:cNvPr id="24" name="c2-card-1"/>
          <p:cNvGrpSpPr/>
          <p:nvPr/>
        </p:nvGrpSpPr>
        <p:grpSpPr>
          <a:xfrm>
            <a:off x="5815965" y="1524000"/>
            <a:ext cx="5842635" cy="1786890"/>
            <a:chOff x="5815965" y="1524000"/>
            <a:chExt cx="5842635" cy="1786890"/>
          </a:xfrm>
        </p:grpSpPr>
        <p:sp>
          <p:nvSpPr>
            <p:cNvPr id="17" name="Rectangle 17"/>
            <p:cNvSpPr/>
            <p:nvPr/>
          </p:nvSpPr>
          <p:spPr>
            <a:xfrm>
              <a:off x="5815965" y="1524000"/>
              <a:ext cx="5842635" cy="1786890"/>
            </a:xfrm>
            <a:prstGeom prst="roundRect">
              <a:avLst>
                <a:gd name="adj" fmla="val 746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5825490" y="1657350"/>
              <a:ext cx="47625" cy="1520190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19" name="Rectangle 19"/>
            <p:cNvSpPr/>
            <p:nvPr/>
          </p:nvSpPr>
          <p:spPr>
            <a:xfrm>
              <a:off x="6046470" y="1716405"/>
              <a:ext cx="476250" cy="247650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137910" y="1750695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类比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6630162" y="175641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下棋与写代码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6039612" y="2090738"/>
              <a:ext cx="515721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初学棋手只知道每个棋子的基本走法，专家棋手会在棋盘上寻找合适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的局面模式，象棋棋谱记的就是这些模式。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6039612" y="2649855"/>
              <a:ext cx="5200079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初学开发者只知道语言语法，会写 for 循环和方法；有经验以后会写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出遵循通用约定的惯用代码，再往上才是懂得选用模式。</a:t>
              </a:r>
            </a:p>
          </p:txBody>
        </p:sp>
      </p:grpSp>
      <p:grpSp>
        <p:nvGrpSpPr>
          <p:cNvPr id="34" name="c2-card-2"/>
          <p:cNvGrpSpPr/>
          <p:nvPr/>
        </p:nvGrpSpPr>
        <p:grpSpPr>
          <a:xfrm>
            <a:off x="5815965" y="3485198"/>
            <a:ext cx="5842635" cy="1831658"/>
            <a:chOff x="5815965" y="3485198"/>
            <a:chExt cx="5842635" cy="1831658"/>
          </a:xfrm>
        </p:grpSpPr>
        <p:sp>
          <p:nvSpPr>
            <p:cNvPr id="25" name="Rectangle 25"/>
            <p:cNvSpPr/>
            <p:nvPr/>
          </p:nvSpPr>
          <p:spPr>
            <a:xfrm>
              <a:off x="5815965" y="3485198"/>
              <a:ext cx="5842635" cy="1831658"/>
            </a:xfrm>
            <a:prstGeom prst="roundRect">
              <a:avLst>
                <a:gd name="adj" fmla="val 7280"/>
              </a:avLst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6" name="Rectangle 26"/>
            <p:cNvSpPr/>
            <p:nvPr/>
          </p:nvSpPr>
          <p:spPr>
            <a:xfrm>
              <a:off x="6008370" y="3677602"/>
              <a:ext cx="476250" cy="247650"/>
            </a:xfrm>
            <a:prstGeom prst="roundRect">
              <a:avLst>
                <a:gd name="adj" fmla="val 50000"/>
              </a:avLst>
            </a:prstGeom>
            <a:solidFill>
              <a:srgbClr val="462F80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6099810" y="3711893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所以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6592062" y="3717608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模式带来的是起点，不是答案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001512" y="4051935"/>
              <a:ext cx="515721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模式已经被专家验证并实践过，我们可以跳过他们做过的试验，直接</a:t>
              </a:r>
              <a:br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从一个较好的设计出发。</a:t>
              </a:r>
            </a:p>
          </p:txBody>
        </p:sp>
        <p:sp>
          <p:nvSpPr>
            <p:cNvPr id="30" name="Ellipse 30"/>
            <p:cNvSpPr/>
            <p:nvPr/>
          </p:nvSpPr>
          <p:spPr>
            <a:xfrm>
              <a:off x="6016942" y="4668202"/>
              <a:ext cx="59055" cy="59055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6172962" y="4612005"/>
              <a:ext cx="493878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判断“这里该不该用模式”的能力，只能靠做例子和读代码积累</a:t>
              </a:r>
            </a:p>
          </p:txBody>
        </p:sp>
        <p:sp>
          <p:nvSpPr>
            <p:cNvPr id="32" name="Ellipse 32"/>
            <p:cNvSpPr/>
            <p:nvPr/>
          </p:nvSpPr>
          <p:spPr>
            <a:xfrm>
              <a:off x="6016942" y="4970145"/>
              <a:ext cx="59055" cy="59055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6172962" y="4913948"/>
              <a:ext cx="530226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拿不准时，先把问题和变化点写清楚，再回头对照模式的“适用性”</a:t>
              </a:r>
            </a:p>
          </p:txBody>
        </p:sp>
      </p:grpSp>
      <p:grpSp>
        <p:nvGrpSpPr>
          <p:cNvPr id="41" name="takeaway"/>
          <p:cNvGrpSpPr/>
          <p:nvPr/>
        </p:nvGrpSpPr>
        <p:grpSpPr>
          <a:xfrm>
            <a:off x="533400" y="5874068"/>
            <a:ext cx="11125200" cy="488632"/>
            <a:chOff x="533400" y="5874068"/>
            <a:chExt cx="11125200" cy="488632"/>
          </a:xfrm>
        </p:grpSpPr>
        <p:sp>
          <p:nvSpPr>
            <p:cNvPr id="35" name="Rectangle 35"/>
            <p:cNvSpPr/>
            <p:nvPr/>
          </p:nvSpPr>
          <p:spPr>
            <a:xfrm>
              <a:off x="533400" y="5874068"/>
              <a:ext cx="11125200" cy="488632"/>
            </a:xfrm>
            <a:prstGeom prst="roundRect">
              <a:avLst>
                <a:gd name="adj" fmla="val 23392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39" name="Group 39"/>
            <p:cNvGrpSpPr/>
            <p:nvPr/>
          </p:nvGrpSpPr>
          <p:grpSpPr>
            <a:xfrm>
              <a:off x="738188" y="6017895"/>
              <a:ext cx="200026" cy="200026"/>
              <a:chOff x="738188" y="6017895"/>
              <a:chExt cx="200026" cy="200026"/>
            </a:xfrm>
          </p:grpSpPr>
          <p:sp>
            <p:nvSpPr>
              <p:cNvPr id="36" name="Freeform 36"/>
              <p:cNvSpPr/>
              <p:nvPr/>
            </p:nvSpPr>
            <p:spPr>
              <a:xfrm>
                <a:off x="738188" y="6017895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37" name="Freeform 37"/>
              <p:cNvSpPr/>
              <p:nvPr/>
            </p:nvSpPr>
            <p:spPr>
              <a:xfrm>
                <a:off x="838200" y="608457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38" name="Freeform 38"/>
              <p:cNvSpPr/>
              <p:nvPr/>
            </p:nvSpPr>
            <p:spPr>
              <a:xfrm>
                <a:off x="827088" y="6117908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40" name="TextBox 40"/>
            <p:cNvSpPr txBox="1"/>
            <p:nvPr/>
          </p:nvSpPr>
          <p:spPr>
            <a:xfrm>
              <a:off x="1040892" y="6023610"/>
              <a:ext cx="764667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常见错误是先选定模式再找地方套。正确顺序是先说清问题和会变的部分，再去找匹配的模式。</a:t>
              </a:r>
            </a:p>
          </p:txBody>
        </p:sp>
      </p:grpSp>
      <p:grpSp>
        <p:nvGrpSpPr>
          <p:cNvPr id="44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2" name="TextBox 42"/>
            <p:cNvSpPr txBox="1"/>
            <p:nvPr/>
          </p:nvSpPr>
          <p:spPr>
            <a:xfrm>
              <a:off x="528447" y="6581299"/>
              <a:ext cx="174475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设计模式概述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4488561" cy="909257"/>
            <a:chOff x="520446" y="342900"/>
            <a:chExt cx="4488561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96502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4530" y="407194"/>
              <a:ext cx="237519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03 设计模式概述 · 什么是设计模式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4488561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设计模式的优点与要付的代价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780" y="1548765"/>
            <a:ext cx="8294370" cy="293370"/>
            <a:chOff x="525780" y="1548765"/>
            <a:chExt cx="8294370" cy="293370"/>
          </a:xfrm>
        </p:grpSpPr>
        <p:sp>
          <p:nvSpPr>
            <p:cNvPr id="7" name="TextBox 7"/>
            <p:cNvSpPr txBox="1"/>
            <p:nvPr/>
          </p:nvSpPr>
          <p:spPr>
            <a:xfrm>
              <a:off x="525780" y="1548765"/>
              <a:ext cx="82943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设计模式是从许多优秀系统中总结出的、能实现可维护性复用的设计方案，但它不是免费的。</a:t>
              </a:r>
            </a:p>
          </p:txBody>
        </p:sp>
      </p:grpSp>
      <p:grpSp>
        <p:nvGrpSpPr>
          <p:cNvPr id="35" name="c1-compare-1"/>
          <p:cNvGrpSpPr/>
          <p:nvPr/>
        </p:nvGrpSpPr>
        <p:grpSpPr>
          <a:xfrm>
            <a:off x="533400" y="1954530"/>
            <a:ext cx="11125200" cy="3629978"/>
            <a:chOff x="533400" y="1954530"/>
            <a:chExt cx="11125200" cy="3629978"/>
          </a:xfrm>
        </p:grpSpPr>
        <p:sp>
          <p:nvSpPr>
            <p:cNvPr id="9" name="Rectangle 9"/>
            <p:cNvSpPr/>
            <p:nvPr/>
          </p:nvSpPr>
          <p:spPr>
            <a:xfrm>
              <a:off x="533400" y="1954530"/>
              <a:ext cx="5391150" cy="3629978"/>
            </a:xfrm>
            <a:prstGeom prst="roundRect">
              <a:avLst>
                <a:gd name="adj" fmla="val 367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0" name="Rectangle 10"/>
            <p:cNvSpPr/>
            <p:nvPr/>
          </p:nvSpPr>
          <p:spPr>
            <a:xfrm>
              <a:off x="542925" y="2087880"/>
              <a:ext cx="47625" cy="3363278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768096" y="2181701"/>
              <a:ext cx="39679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优点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82955" y="2580323"/>
              <a:ext cx="60960" cy="6096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39546" y="2520791"/>
              <a:ext cx="452297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提供一套通用的设计词汇与语言，开发人员之间沟通设计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方案更省事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82955" y="3171825"/>
              <a:ext cx="60960" cy="6096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39546" y="3112294"/>
              <a:ext cx="452297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不同编程语言的设计人员可以用同一套模式名交流，降低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理解系统的复杂度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782955" y="3763328"/>
              <a:ext cx="60960" cy="6096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939546" y="3703796"/>
              <a:ext cx="452297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使人们更简单方便地复用成功的设计，避开那些导致不可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复用的方案</a:t>
              </a:r>
            </a:p>
          </p:txBody>
        </p:sp>
        <p:sp>
          <p:nvSpPr>
            <p:cNvPr id="18" name="Ellipse 18"/>
            <p:cNvSpPr/>
            <p:nvPr/>
          </p:nvSpPr>
          <p:spPr>
            <a:xfrm>
              <a:off x="782955" y="4354830"/>
              <a:ext cx="60960" cy="6096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939546" y="4295299"/>
              <a:ext cx="452297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设计方案更灵活、易于修改，提高开发效率与软件质量，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节约设计成本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782955" y="4946332"/>
              <a:ext cx="60960" cy="6096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939546" y="4886801"/>
              <a:ext cx="452297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帮助初学者理解面向对象思想，读懂现有类库与其他系统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的源代码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6267450" y="1954530"/>
              <a:ext cx="5391150" cy="3629978"/>
            </a:xfrm>
            <a:prstGeom prst="roundRect">
              <a:avLst>
                <a:gd name="adj" fmla="val 367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6276975" y="2087880"/>
              <a:ext cx="47625" cy="3363278"/>
            </a:xfrm>
            <a:prstGeom prst="roundRect">
              <a:avLst>
                <a:gd name="adj" fmla="val 50000"/>
              </a:avLst>
            </a:prstGeom>
            <a:solidFill>
              <a:srgbClr val="B42318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502146" y="2181701"/>
              <a:ext cx="39679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代价</a:t>
              </a:r>
            </a:p>
          </p:txBody>
        </p:sp>
        <p:sp>
          <p:nvSpPr>
            <p:cNvPr id="25" name="Ellipse 25"/>
            <p:cNvSpPr/>
            <p:nvPr/>
          </p:nvSpPr>
          <p:spPr>
            <a:xfrm>
              <a:off x="6517005" y="2580323"/>
              <a:ext cx="60960" cy="6096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673596" y="2520791"/>
              <a:ext cx="452297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类和对象的数量增多，多了一层间接，阅读和调试要多跳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几步</a:t>
              </a:r>
            </a:p>
          </p:txBody>
        </p:sp>
        <p:sp>
          <p:nvSpPr>
            <p:cNvPr id="27" name="Ellipse 27"/>
            <p:cNvSpPr/>
            <p:nvPr/>
          </p:nvSpPr>
          <p:spPr>
            <a:xfrm>
              <a:off x="6517005" y="3171825"/>
              <a:ext cx="60960" cy="6096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673596" y="3112294"/>
              <a:ext cx="441116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用在不该用的地方就是过度设计，把简单问题做复杂</a:t>
              </a:r>
            </a:p>
          </p:txBody>
        </p:sp>
        <p:sp>
          <p:nvSpPr>
            <p:cNvPr id="29" name="Ellipse 29"/>
            <p:cNvSpPr/>
            <p:nvPr/>
          </p:nvSpPr>
          <p:spPr>
            <a:xfrm>
              <a:off x="6517005" y="3491865"/>
              <a:ext cx="60960" cy="6096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673596" y="3432334"/>
              <a:ext cx="479348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模式给的是解法骨架，落到具体语言和业务还要自己裁剪</a:t>
              </a:r>
            </a:p>
          </p:txBody>
        </p:sp>
        <p:sp>
          <p:nvSpPr>
            <p:cNvPr id="31" name="Ellipse 31"/>
            <p:cNvSpPr/>
            <p:nvPr/>
          </p:nvSpPr>
          <p:spPr>
            <a:xfrm>
              <a:off x="6517005" y="3811905"/>
              <a:ext cx="60960" cy="6096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6673596" y="3752374"/>
              <a:ext cx="441116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只背名字和类图不练手，遇到真问题仍然想不起来用</a:t>
              </a:r>
            </a:p>
          </p:txBody>
        </p:sp>
        <p:sp>
          <p:nvSpPr>
            <p:cNvPr id="33" name="Ellipse 33"/>
            <p:cNvSpPr/>
            <p:nvPr/>
          </p:nvSpPr>
          <p:spPr>
            <a:xfrm>
              <a:off x="5934075" y="3607118"/>
              <a:ext cx="323850" cy="323850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6004415" y="3703320"/>
              <a:ext cx="1831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VS</a:t>
              </a:r>
            </a:p>
          </p:txBody>
        </p:sp>
      </p:grpSp>
      <p:grpSp>
        <p:nvGrpSpPr>
          <p:cNvPr id="41" name="c1-callout-2"/>
          <p:cNvGrpSpPr/>
          <p:nvPr/>
        </p:nvGrpSpPr>
        <p:grpSpPr>
          <a:xfrm>
            <a:off x="533400" y="5769292"/>
            <a:ext cx="11125200" cy="518160"/>
            <a:chOff x="533400" y="5769292"/>
            <a:chExt cx="11125200" cy="518160"/>
          </a:xfrm>
        </p:grpSpPr>
        <p:sp>
          <p:nvSpPr>
            <p:cNvPr id="36" name="Rectangle 36"/>
            <p:cNvSpPr/>
            <p:nvPr/>
          </p:nvSpPr>
          <p:spPr>
            <a:xfrm>
              <a:off x="533400" y="5769292"/>
              <a:ext cx="11125200" cy="518160"/>
            </a:xfrm>
            <a:prstGeom prst="roundRect">
              <a:avLst>
                <a:gd name="adj" fmla="val 22059"/>
              </a:avLst>
            </a:prstGeom>
            <a:solidFill>
              <a:srgbClr val="5B3FA0"/>
            </a:solidFill>
            <a:ln>
              <a:noFill/>
            </a:ln>
          </p:spPr>
        </p:sp>
        <p:grpSp>
          <p:nvGrpSpPr>
            <p:cNvPr id="39" name="Group 39"/>
            <p:cNvGrpSpPr/>
            <p:nvPr/>
          </p:nvGrpSpPr>
          <p:grpSpPr>
            <a:xfrm>
              <a:off x="738188" y="5929315"/>
              <a:ext cx="200023" cy="200023"/>
              <a:chOff x="738188" y="5929315"/>
              <a:chExt cx="200023" cy="200023"/>
            </a:xfrm>
          </p:grpSpPr>
          <p:sp>
            <p:nvSpPr>
              <p:cNvPr id="37" name="Freeform 37"/>
              <p:cNvSpPr/>
              <p:nvPr/>
            </p:nvSpPr>
            <p:spPr>
              <a:xfrm>
                <a:off x="738188" y="5929315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38" name="Freeform 38"/>
              <p:cNvSpPr/>
              <p:nvPr/>
            </p:nvSpPr>
            <p:spPr>
              <a:xfrm>
                <a:off x="871538" y="5995988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40" name="TextBox 40"/>
            <p:cNvSpPr txBox="1"/>
            <p:nvPr/>
          </p:nvSpPr>
          <p:spPr>
            <a:xfrm>
              <a:off x="1040511" y="5929789"/>
              <a:ext cx="940045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模式的价值在于让“以后会变的地方”可以低成本地变。如果一段代码确定不会变，硬加模式只是给自己添麻烦。</a:t>
              </a:r>
            </a:p>
          </p:txBody>
        </p:sp>
      </p:grpSp>
      <p:grpSp>
        <p:nvGrpSpPr>
          <p:cNvPr id="44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2" name="TextBox 42"/>
            <p:cNvSpPr txBox="1"/>
            <p:nvPr/>
          </p:nvSpPr>
          <p:spPr>
            <a:xfrm>
              <a:off x="528447" y="6581299"/>
              <a:ext cx="174475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设计模式概述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5B3FA0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EEEAF7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954033" y="2705100"/>
            <a:ext cx="1903933" cy="2305050"/>
            <a:chOff x="8954033" y="2705100"/>
            <a:chExt cx="1903933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954033" y="2705100"/>
              <a:ext cx="1903933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</p:grpSp>
      <p:grpSp>
        <p:nvGrpSpPr>
          <p:cNvPr id="16" name="section-title"/>
          <p:cNvGrpSpPr/>
          <p:nvPr/>
        </p:nvGrpSpPr>
        <p:grpSpPr>
          <a:xfrm>
            <a:off x="667512" y="1835468"/>
            <a:ext cx="4713389" cy="2997517"/>
            <a:chOff x="667512" y="1835468"/>
            <a:chExt cx="4713389" cy="299751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第三部分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4713389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GoF 23 个模式的分类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423710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两个维度、三大类，每个模式先记住一句话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3888105"/>
              <a:ext cx="76200" cy="7620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3830955"/>
              <a:ext cx="26403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按目的分创建型结构型行为型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242435"/>
              <a:ext cx="76200" cy="7620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185285"/>
              <a:ext cx="24384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按范围分类模式与对象模式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" y="4596765"/>
              <a:ext cx="76200" cy="7620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6780" y="4539615"/>
              <a:ext cx="211531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23 个模式各一句话作用</a:t>
              </a:r>
            </a:p>
          </p:txBody>
        </p:sp>
      </p:grpSp>
      <p:grpSp>
        <p:nvGrpSpPr>
          <p:cNvPr id="1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7" name="TextBox 17"/>
            <p:cNvSpPr txBox="1"/>
            <p:nvPr/>
          </p:nvSpPr>
          <p:spPr>
            <a:xfrm>
              <a:off x="528447" y="6581299"/>
              <a:ext cx="174475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设计模式概述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175123" cy="909257"/>
            <a:chOff x="520446" y="342900"/>
            <a:chExt cx="5175123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854642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70371" y="407194"/>
              <a:ext cx="278165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03 设计模式概述 · GoF 23 个模式的分类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175123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按目的分类：模式是用来做什么的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399" y="1550194"/>
            <a:ext cx="8119857" cy="308039"/>
            <a:chOff x="525399" y="1550194"/>
            <a:chExt cx="8119857" cy="308039"/>
          </a:xfrm>
        </p:grpSpPr>
        <p:sp>
          <p:nvSpPr>
            <p:cNvPr id="7" name="TextBox 7"/>
            <p:cNvSpPr txBox="1"/>
            <p:nvPr/>
          </p:nvSpPr>
          <p:spPr>
            <a:xfrm>
              <a:off x="525399" y="1550194"/>
              <a:ext cx="8119857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第一个维度问的是“这个模式管哪一类事”，按此可分为创建型、结构型、行为型三种。</a:t>
              </a:r>
            </a:p>
          </p:txBody>
        </p:sp>
      </p:grpSp>
      <p:grpSp>
        <p:nvGrpSpPr>
          <p:cNvPr id="17" name="c1-kv-1"/>
          <p:cNvGrpSpPr/>
          <p:nvPr/>
        </p:nvGrpSpPr>
        <p:grpSpPr>
          <a:xfrm>
            <a:off x="525780" y="1992630"/>
            <a:ext cx="5634038" cy="2301240"/>
            <a:chOff x="525780" y="1992630"/>
            <a:chExt cx="5634038" cy="2301240"/>
          </a:xfrm>
        </p:grpSpPr>
        <p:sp>
          <p:nvSpPr>
            <p:cNvPr id="9" name="TextBox 9"/>
            <p:cNvSpPr txBox="1"/>
            <p:nvPr/>
          </p:nvSpPr>
          <p:spPr>
            <a:xfrm>
              <a:off x="525780" y="1992630"/>
              <a:ext cx="1751131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创建型 Creational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2525077" y="1992630"/>
              <a:ext cx="3358515" cy="5753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2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主要用于创建对象。把“用哪个类、怎么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造”这件事从使用者身上拿走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533400" y="2594610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525780" y="2714625"/>
              <a:ext cx="180443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结构型 Structural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2525077" y="2714625"/>
              <a:ext cx="3444240" cy="5753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2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主要用于处理类或对象的组合。关心多个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类、多个对象怎么拼成更大的结构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533400" y="3316605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525780" y="3436620"/>
              <a:ext cx="1751131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行为型 Behavioral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2525077" y="3436620"/>
              <a:ext cx="3444240" cy="8572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2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主要用于描述类或对象怎样交互、怎样分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配职责。关心运行时谁调用谁、谁负责什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么</a:t>
              </a:r>
            </a:p>
          </p:txBody>
        </p:sp>
      </p:grpSp>
      <p:grpSp>
        <p:nvGrpSpPr>
          <p:cNvPr id="24" name="c1-callout-2"/>
          <p:cNvGrpSpPr/>
          <p:nvPr/>
        </p:nvGrpSpPr>
        <p:grpSpPr>
          <a:xfrm>
            <a:off x="533400" y="4425315"/>
            <a:ext cx="5626418" cy="1252538"/>
            <a:chOff x="533400" y="4425315"/>
            <a:chExt cx="5626418" cy="1252538"/>
          </a:xfrm>
        </p:grpSpPr>
        <p:sp>
          <p:nvSpPr>
            <p:cNvPr id="18" name="Rectangle 18"/>
            <p:cNvSpPr/>
            <p:nvPr/>
          </p:nvSpPr>
          <p:spPr>
            <a:xfrm>
              <a:off x="533400" y="4425315"/>
              <a:ext cx="5626418" cy="1252538"/>
            </a:xfrm>
            <a:prstGeom prst="roundRect">
              <a:avLst>
                <a:gd name="adj" fmla="val 9125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22" name="Group 22"/>
            <p:cNvGrpSpPr/>
            <p:nvPr/>
          </p:nvGrpSpPr>
          <p:grpSpPr>
            <a:xfrm>
              <a:off x="738188" y="4951095"/>
              <a:ext cx="200026" cy="200025"/>
              <a:chOff x="738188" y="4951095"/>
              <a:chExt cx="200026" cy="200025"/>
            </a:xfrm>
          </p:grpSpPr>
          <p:sp>
            <p:nvSpPr>
              <p:cNvPr id="19" name="Freeform 19"/>
              <p:cNvSpPr/>
              <p:nvPr/>
            </p:nvSpPr>
            <p:spPr>
              <a:xfrm>
                <a:off x="738188" y="4951095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20" name="Freeform 20"/>
              <p:cNvSpPr/>
              <p:nvPr/>
            </p:nvSpPr>
            <p:spPr>
              <a:xfrm>
                <a:off x="777926" y="4995545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21" name="Freeform 21"/>
              <p:cNvSpPr/>
              <p:nvPr/>
            </p:nvSpPr>
            <p:spPr>
              <a:xfrm>
                <a:off x="812642" y="5106671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23" name="TextBox 23"/>
            <p:cNvSpPr txBox="1"/>
            <p:nvPr/>
          </p:nvSpPr>
          <p:spPr>
            <a:xfrm>
              <a:off x="1040130" y="4670108"/>
              <a:ext cx="4606290" cy="8458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一个粗略的判别顺序：先问“我在纠结 new 谁”（创建</a:t>
              </a:r>
              <a:br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型），再问“我在纠结怎么拼”（结构型），否则多半是</a:t>
              </a:r>
              <a:br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“谁做什么”（行为型）。</a:t>
              </a:r>
            </a:p>
          </p:txBody>
        </p:sp>
      </p:grpSp>
      <p:grpSp>
        <p:nvGrpSpPr>
          <p:cNvPr id="48" name="c2-tree-1"/>
          <p:cNvGrpSpPr/>
          <p:nvPr/>
        </p:nvGrpSpPr>
        <p:grpSpPr>
          <a:xfrm>
            <a:off x="6464618" y="2035492"/>
            <a:ext cx="5193982" cy="2911794"/>
            <a:chOff x="6464618" y="2035492"/>
            <a:chExt cx="5193982" cy="2911794"/>
          </a:xfrm>
        </p:grpSpPr>
        <p:sp>
          <p:nvSpPr>
            <p:cNvPr id="25" name="Freeform 25"/>
            <p:cNvSpPr/>
            <p:nvPr/>
          </p:nvSpPr>
          <p:spPr>
            <a:xfrm>
              <a:off x="10012680" y="2729865"/>
              <a:ext cx="419100" cy="507682"/>
            </a:xfrm>
            <a:custGeom>
              <a:avLst/>
              <a:gdLst/>
              <a:ahLst/>
              <a:cxnLst/>
              <a:rect l="l" t="t" r="r" b="b"/>
              <a:pathLst>
                <a:path w="419100" h="507682">
                  <a:moveTo>
                    <a:pt x="0" y="507682"/>
                  </a:moveTo>
                  <a:lnTo>
                    <a:pt x="209550" y="507682"/>
                  </a:lnTo>
                  <a:lnTo>
                    <a:pt x="209550" y="0"/>
                  </a:lnTo>
                  <a:lnTo>
                    <a:pt x="419100" y="0"/>
                  </a:lnTo>
                </a:path>
              </a:pathLst>
            </a:custGeom>
            <a:noFill/>
            <a:ln w="17145">
              <a:solidFill>
                <a:srgbClr val="D9DFEA"/>
              </a:solidFill>
            </a:ln>
          </p:spPr>
        </p:sp>
        <p:sp>
          <p:nvSpPr>
            <p:cNvPr id="26" name="Freeform 26"/>
            <p:cNvSpPr/>
            <p:nvPr/>
          </p:nvSpPr>
          <p:spPr>
            <a:xfrm>
              <a:off x="10012680" y="3237548"/>
              <a:ext cx="419100" cy="9525"/>
            </a:xfrm>
            <a:custGeom>
              <a:avLst/>
              <a:gdLst/>
              <a:ahLst/>
              <a:cxnLst/>
              <a:rect l="l" t="t" r="r" b="b"/>
              <a:pathLst>
                <a:path w="419100" h="9525">
                  <a:moveTo>
                    <a:pt x="0" y="0"/>
                  </a:moveTo>
                  <a:lnTo>
                    <a:pt x="209550" y="0"/>
                  </a:lnTo>
                  <a:lnTo>
                    <a:pt x="209550" y="0"/>
                  </a:lnTo>
                  <a:lnTo>
                    <a:pt x="419100" y="0"/>
                  </a:lnTo>
                </a:path>
              </a:pathLst>
            </a:custGeom>
            <a:noFill/>
            <a:ln w="17145">
              <a:solidFill>
                <a:srgbClr val="D9DFEA"/>
              </a:solidFill>
            </a:ln>
          </p:spPr>
        </p:sp>
        <p:sp>
          <p:nvSpPr>
            <p:cNvPr id="27" name="Freeform 27"/>
            <p:cNvSpPr/>
            <p:nvPr/>
          </p:nvSpPr>
          <p:spPr>
            <a:xfrm>
              <a:off x="10012680" y="3237548"/>
              <a:ext cx="419100" cy="507683"/>
            </a:xfrm>
            <a:custGeom>
              <a:avLst/>
              <a:gdLst/>
              <a:ahLst/>
              <a:cxnLst/>
              <a:rect l="l" t="t" r="r" b="b"/>
              <a:pathLst>
                <a:path w="419100" h="507683">
                  <a:moveTo>
                    <a:pt x="0" y="0"/>
                  </a:moveTo>
                  <a:lnTo>
                    <a:pt x="209550" y="0"/>
                  </a:lnTo>
                  <a:lnTo>
                    <a:pt x="209550" y="507683"/>
                  </a:lnTo>
                  <a:lnTo>
                    <a:pt x="419100" y="507683"/>
                  </a:lnTo>
                </a:path>
              </a:pathLst>
            </a:custGeom>
            <a:noFill/>
            <a:ln w="17145">
              <a:solidFill>
                <a:srgbClr val="D9DFEA"/>
              </a:solidFill>
            </a:ln>
          </p:spPr>
        </p:sp>
        <p:sp>
          <p:nvSpPr>
            <p:cNvPr id="28" name="Freeform 28"/>
            <p:cNvSpPr/>
            <p:nvPr/>
          </p:nvSpPr>
          <p:spPr>
            <a:xfrm>
              <a:off x="7626668" y="2221230"/>
              <a:ext cx="419100" cy="1270635"/>
            </a:xfrm>
            <a:custGeom>
              <a:avLst/>
              <a:gdLst/>
              <a:ahLst/>
              <a:cxnLst/>
              <a:rect l="l" t="t" r="r" b="b"/>
              <a:pathLst>
                <a:path w="419100" h="1270635">
                  <a:moveTo>
                    <a:pt x="0" y="1270635"/>
                  </a:moveTo>
                  <a:lnTo>
                    <a:pt x="209550" y="1270635"/>
                  </a:lnTo>
                  <a:lnTo>
                    <a:pt x="209550" y="0"/>
                  </a:lnTo>
                  <a:lnTo>
                    <a:pt x="419100" y="0"/>
                  </a:lnTo>
                </a:path>
              </a:pathLst>
            </a:custGeom>
            <a:noFill/>
            <a:ln w="17145">
              <a:solidFill>
                <a:srgbClr val="D9DFEA"/>
              </a:solidFill>
            </a:ln>
          </p:spPr>
        </p:sp>
        <p:sp>
          <p:nvSpPr>
            <p:cNvPr id="29" name="Freeform 29"/>
            <p:cNvSpPr/>
            <p:nvPr/>
          </p:nvSpPr>
          <p:spPr>
            <a:xfrm>
              <a:off x="7626668" y="3237548"/>
              <a:ext cx="419100" cy="254318"/>
            </a:xfrm>
            <a:custGeom>
              <a:avLst/>
              <a:gdLst/>
              <a:ahLst/>
              <a:cxnLst/>
              <a:rect l="l" t="t" r="r" b="b"/>
              <a:pathLst>
                <a:path w="419100" h="254318">
                  <a:moveTo>
                    <a:pt x="0" y="254318"/>
                  </a:moveTo>
                  <a:lnTo>
                    <a:pt x="209550" y="254318"/>
                  </a:lnTo>
                  <a:lnTo>
                    <a:pt x="209550" y="0"/>
                  </a:lnTo>
                  <a:lnTo>
                    <a:pt x="419100" y="0"/>
                  </a:lnTo>
                </a:path>
              </a:pathLst>
            </a:custGeom>
            <a:noFill/>
            <a:ln w="17145">
              <a:solidFill>
                <a:srgbClr val="D9DFEA"/>
              </a:solidFill>
            </a:ln>
          </p:spPr>
        </p:sp>
        <p:sp>
          <p:nvSpPr>
            <p:cNvPr id="30" name="Freeform 30"/>
            <p:cNvSpPr/>
            <p:nvPr/>
          </p:nvSpPr>
          <p:spPr>
            <a:xfrm>
              <a:off x="7626668" y="3491865"/>
              <a:ext cx="419100" cy="762000"/>
            </a:xfrm>
            <a:custGeom>
              <a:avLst/>
              <a:gdLst/>
              <a:ahLst/>
              <a:cxnLst/>
              <a:rect l="l" t="t" r="r" b="b"/>
              <a:pathLst>
                <a:path w="419100" h="762000">
                  <a:moveTo>
                    <a:pt x="0" y="0"/>
                  </a:moveTo>
                  <a:lnTo>
                    <a:pt x="209550" y="0"/>
                  </a:lnTo>
                  <a:lnTo>
                    <a:pt x="209550" y="762000"/>
                  </a:lnTo>
                  <a:lnTo>
                    <a:pt x="419100" y="762000"/>
                  </a:lnTo>
                </a:path>
              </a:pathLst>
            </a:custGeom>
            <a:noFill/>
            <a:ln w="17145">
              <a:solidFill>
                <a:srgbClr val="D9DFEA"/>
              </a:solidFill>
            </a:ln>
          </p:spPr>
        </p:sp>
        <p:sp>
          <p:nvSpPr>
            <p:cNvPr id="31" name="Freeform 31"/>
            <p:cNvSpPr/>
            <p:nvPr/>
          </p:nvSpPr>
          <p:spPr>
            <a:xfrm>
              <a:off x="7626668" y="3491865"/>
              <a:ext cx="419100" cy="1269682"/>
            </a:xfrm>
            <a:custGeom>
              <a:avLst/>
              <a:gdLst/>
              <a:ahLst/>
              <a:cxnLst/>
              <a:rect l="l" t="t" r="r" b="b"/>
              <a:pathLst>
                <a:path w="419100" h="1269682">
                  <a:moveTo>
                    <a:pt x="0" y="0"/>
                  </a:moveTo>
                  <a:lnTo>
                    <a:pt x="209550" y="0"/>
                  </a:lnTo>
                  <a:lnTo>
                    <a:pt x="209550" y="1269682"/>
                  </a:lnTo>
                  <a:lnTo>
                    <a:pt x="419100" y="1269682"/>
                  </a:lnTo>
                </a:path>
              </a:pathLst>
            </a:custGeom>
            <a:noFill/>
            <a:ln w="17145">
              <a:solidFill>
                <a:srgbClr val="D9DFEA"/>
              </a:solidFill>
            </a:ln>
          </p:spPr>
        </p:sp>
        <p:sp>
          <p:nvSpPr>
            <p:cNvPr id="32" name="Rectangle 32"/>
            <p:cNvSpPr/>
            <p:nvPr/>
          </p:nvSpPr>
          <p:spPr>
            <a:xfrm>
              <a:off x="8045768" y="2035492"/>
              <a:ext cx="1966912" cy="372428"/>
            </a:xfrm>
            <a:prstGeom prst="roundRect">
              <a:avLst>
                <a:gd name="adj" fmla="val 25575"/>
              </a:avLst>
            </a:prstGeom>
            <a:solidFill>
              <a:srgbClr val="FFFFFF"/>
            </a:solidFill>
            <a:ln w="13335">
              <a:solidFill>
                <a:srgbClr val="D9DFEA"/>
              </a:solidFill>
            </a:ln>
          </p:spPr>
        </p:sp>
        <p:sp>
          <p:nvSpPr>
            <p:cNvPr id="33" name="Rectangle 33"/>
            <p:cNvSpPr/>
            <p:nvPr/>
          </p:nvSpPr>
          <p:spPr>
            <a:xfrm>
              <a:off x="10431780" y="2543175"/>
              <a:ext cx="1226820" cy="372428"/>
            </a:xfrm>
            <a:prstGeom prst="roundRect">
              <a:avLst>
                <a:gd name="adj" fmla="val 25575"/>
              </a:avLst>
            </a:prstGeom>
            <a:solidFill>
              <a:srgbClr val="FFFFFF"/>
            </a:solidFill>
            <a:ln w="13335">
              <a:solidFill>
                <a:srgbClr val="D9DFEA"/>
              </a:solidFill>
            </a:ln>
          </p:spPr>
        </p:sp>
        <p:sp>
          <p:nvSpPr>
            <p:cNvPr id="34" name="Rectangle 34"/>
            <p:cNvSpPr/>
            <p:nvPr/>
          </p:nvSpPr>
          <p:spPr>
            <a:xfrm>
              <a:off x="10431780" y="3050858"/>
              <a:ext cx="1226820" cy="372428"/>
            </a:xfrm>
            <a:prstGeom prst="roundRect">
              <a:avLst>
                <a:gd name="adj" fmla="val 25575"/>
              </a:avLst>
            </a:prstGeom>
            <a:solidFill>
              <a:srgbClr val="FFFFFF"/>
            </a:solidFill>
            <a:ln w="13335">
              <a:solidFill>
                <a:srgbClr val="D9DFEA"/>
              </a:solidFill>
            </a:ln>
          </p:spPr>
        </p:sp>
        <p:sp>
          <p:nvSpPr>
            <p:cNvPr id="35" name="Rectangle 35"/>
            <p:cNvSpPr/>
            <p:nvPr/>
          </p:nvSpPr>
          <p:spPr>
            <a:xfrm>
              <a:off x="10431780" y="3559492"/>
              <a:ext cx="1226820" cy="372428"/>
            </a:xfrm>
            <a:prstGeom prst="roundRect">
              <a:avLst>
                <a:gd name="adj" fmla="val 25575"/>
              </a:avLst>
            </a:prstGeom>
            <a:solidFill>
              <a:srgbClr val="FFFFFF"/>
            </a:solidFill>
            <a:ln w="13335">
              <a:solidFill>
                <a:srgbClr val="D9DFEA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8045768" y="2946082"/>
              <a:ext cx="1966912" cy="582930"/>
            </a:xfrm>
            <a:prstGeom prst="roundRect">
              <a:avLst>
                <a:gd name="adj" fmla="val 1634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8045768" y="4067175"/>
              <a:ext cx="1966912" cy="372428"/>
            </a:xfrm>
            <a:prstGeom prst="roundRect">
              <a:avLst>
                <a:gd name="adj" fmla="val 25575"/>
              </a:avLst>
            </a:prstGeom>
            <a:solidFill>
              <a:srgbClr val="FFFFFF"/>
            </a:solidFill>
            <a:ln w="13335">
              <a:solidFill>
                <a:srgbClr val="D9DFEA"/>
              </a:solidFill>
            </a:ln>
          </p:spPr>
        </p:sp>
        <p:sp>
          <p:nvSpPr>
            <p:cNvPr id="38" name="Rectangle 38"/>
            <p:cNvSpPr/>
            <p:nvPr/>
          </p:nvSpPr>
          <p:spPr>
            <a:xfrm>
              <a:off x="8045768" y="4574858"/>
              <a:ext cx="1966912" cy="372428"/>
            </a:xfrm>
            <a:prstGeom prst="roundRect">
              <a:avLst>
                <a:gd name="adj" fmla="val 25575"/>
              </a:avLst>
            </a:prstGeom>
            <a:solidFill>
              <a:srgbClr val="FFFFFF"/>
            </a:solidFill>
            <a:ln w="13335">
              <a:solidFill>
                <a:srgbClr val="D9DFEA"/>
              </a:solidFill>
            </a:ln>
          </p:spPr>
        </p:sp>
        <p:sp>
          <p:nvSpPr>
            <p:cNvPr id="39" name="Rectangle 39"/>
            <p:cNvSpPr/>
            <p:nvPr/>
          </p:nvSpPr>
          <p:spPr>
            <a:xfrm>
              <a:off x="6464618" y="3305175"/>
              <a:ext cx="1162050" cy="372428"/>
            </a:xfrm>
            <a:prstGeom prst="roundRect">
              <a:avLst>
                <a:gd name="adj" fmla="val 25575"/>
              </a:avLst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8134541" y="2132171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架构模式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10520553" y="2640806"/>
              <a:ext cx="67636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创建型 5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10520553" y="3148489"/>
              <a:ext cx="67636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结构型 7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10520553" y="3656171"/>
              <a:ext cx="77113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行为型 11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8134541" y="3042761"/>
              <a:ext cx="739597" cy="45986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58"/>
                </a:lnSpc>
              </a:pPr>
              <a:r>
                <a:rPr lang="zh-CN" sz="1280" b="1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设计模式</a:t>
              </a:r>
              <a:br/>
              <a:r>
                <a:rPr lang="zh-CN" sz="1280" b="1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（23 个）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8134541" y="4164806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分析模式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8134541" y="4672489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过程模式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6553391" y="3402806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软件模式</a:t>
              </a:r>
            </a:p>
          </p:txBody>
        </p:sp>
      </p:grpSp>
      <p:grpSp>
        <p:nvGrpSpPr>
          <p:cNvPr id="50" name="c2-text-2"/>
          <p:cNvGrpSpPr/>
          <p:nvPr/>
        </p:nvGrpSpPr>
        <p:grpSpPr>
          <a:xfrm>
            <a:off x="6458141" y="5226844"/>
            <a:ext cx="4865370" cy="500824"/>
            <a:chOff x="6458141" y="5226844"/>
            <a:chExt cx="4865370" cy="500824"/>
          </a:xfrm>
        </p:grpSpPr>
        <p:sp>
          <p:nvSpPr>
            <p:cNvPr id="49" name="TextBox 49"/>
            <p:cNvSpPr txBox="1"/>
            <p:nvPr/>
          </p:nvSpPr>
          <p:spPr>
            <a:xfrm>
              <a:off x="6458141" y="5226844"/>
              <a:ext cx="4865370" cy="5008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80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GoF 的 23 个模式里创建型 5 个。本课程另外单列一讲简单工厂，它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是工厂方法的简化形式，不在 23 个之列，所以创建型一共上 6 讲。</a:t>
              </a:r>
            </a:p>
          </p:txBody>
        </p:sp>
      </p:grpSp>
      <p:grpSp>
        <p:nvGrpSpPr>
          <p:cNvPr id="53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1" name="TextBox 51"/>
            <p:cNvSpPr txBox="1"/>
            <p:nvPr/>
          </p:nvSpPr>
          <p:spPr>
            <a:xfrm>
              <a:off x="528447" y="6581299"/>
              <a:ext cx="174475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设计模式概述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8264652" cy="909257"/>
            <a:chOff x="520446" y="342900"/>
            <a:chExt cx="8264652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854642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70371" y="407194"/>
              <a:ext cx="278165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03 设计模式概述 · GoF 23 个模式的分类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8264652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按范围分类：处理类之间的关系，还是对象之间的关系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7" name="c1-card-1"/>
          <p:cNvGrpSpPr/>
          <p:nvPr/>
        </p:nvGrpSpPr>
        <p:grpSpPr>
          <a:xfrm>
            <a:off x="533400" y="1524000"/>
            <a:ext cx="5410200" cy="1730692"/>
            <a:chOff x="533400" y="1524000"/>
            <a:chExt cx="5410200" cy="1730692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410200" cy="1730692"/>
            </a:xfrm>
            <a:prstGeom prst="roundRect">
              <a:avLst>
                <a:gd name="adj" fmla="val 7705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1463992"/>
            </a:xfrm>
            <a:prstGeom prst="roundRect">
              <a:avLst>
                <a:gd name="adj" fmla="val 50000"/>
              </a:avLst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52475" y="1704975"/>
              <a:ext cx="582930" cy="238125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41096" y="1737836"/>
              <a:ext cx="40568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类模式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443228" y="1744504"/>
              <a:ext cx="208071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靠继承，编译时确定，静态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45998" y="2061686"/>
              <a:ext cx="4727194" cy="4922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类模式处理类和子类之间的关系，这些关系通过继承建立，在编译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时刻就被确定下来。</a:t>
              </a:r>
            </a:p>
          </p:txBody>
        </p:sp>
        <p:sp>
          <p:nvSpPr>
            <p:cNvPr id="13" name="Ellipse 13"/>
            <p:cNvSpPr/>
            <p:nvPr/>
          </p:nvSpPr>
          <p:spPr>
            <a:xfrm>
              <a:off x="762000" y="2641282"/>
              <a:ext cx="57150" cy="5715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917448" y="2589371"/>
              <a:ext cx="190840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关系固定，运行期换不掉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762000" y="2927032"/>
              <a:ext cx="57150" cy="5715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17448" y="2874169"/>
              <a:ext cx="257913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23 个模式里只有 </a:t>
              </a:r>
              <a:r>
                <a:rPr lang="zh-CN" sz="128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4 个</a:t>
              </a: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属于类模式</a:t>
              </a:r>
            </a:p>
          </p:txBody>
        </p:sp>
      </p:grpSp>
      <p:grpSp>
        <p:nvGrpSpPr>
          <p:cNvPr id="32" name="c1-uml-2"/>
          <p:cNvGrpSpPr/>
          <p:nvPr/>
        </p:nvGrpSpPr>
        <p:grpSpPr>
          <a:xfrm>
            <a:off x="2651760" y="3531870"/>
            <a:ext cx="1172528" cy="1562100"/>
            <a:chOff x="2651760" y="3531870"/>
            <a:chExt cx="1172528" cy="1562100"/>
          </a:xfrm>
        </p:grpSpPr>
        <p:sp>
          <p:nvSpPr>
            <p:cNvPr id="18" name="Freeform 18"/>
            <p:cNvSpPr/>
            <p:nvPr/>
          </p:nvSpPr>
          <p:spPr>
            <a:xfrm>
              <a:off x="3238500" y="4363402"/>
              <a:ext cx="9525" cy="174307"/>
            </a:xfrm>
            <a:custGeom>
              <a:avLst/>
              <a:gdLst/>
              <a:ahLst/>
              <a:cxnLst/>
              <a:rect l="l" t="t" r="r" b="b"/>
              <a:pathLst>
                <a:path w="9525" h="174307">
                  <a:moveTo>
                    <a:pt x="0" y="174307"/>
                  </a:move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</a:ln>
          </p:spPr>
        </p:sp>
        <p:sp>
          <p:nvSpPr>
            <p:cNvPr id="19" name="Freeform 19"/>
            <p:cNvSpPr/>
            <p:nvPr/>
          </p:nvSpPr>
          <p:spPr>
            <a:xfrm>
              <a:off x="3165158" y="4237672"/>
              <a:ext cx="146685" cy="125730"/>
            </a:xfrm>
            <a:custGeom>
              <a:avLst/>
              <a:gdLst/>
              <a:ahLst/>
              <a:cxnLst/>
              <a:rect l="l" t="t" r="r" b="b"/>
              <a:pathLst>
                <a:path w="146685" h="125730">
                  <a:moveTo>
                    <a:pt x="73342" y="0"/>
                  </a:moveTo>
                  <a:lnTo>
                    <a:pt x="146685" y="125730"/>
                  </a:lnTo>
                  <a:lnTo>
                    <a:pt x="0" y="125730"/>
                  </a:lnTo>
                  <a:close/>
                </a:path>
              </a:pathLst>
            </a:custGeom>
            <a:solidFill>
              <a:srgbClr val="FFFFFF"/>
            </a:solidFill>
            <a:ln w="15240">
              <a:solidFill>
                <a:srgbClr val="1F2937"/>
              </a:solidFill>
            </a:ln>
          </p:spPr>
        </p:sp>
        <p:sp>
          <p:nvSpPr>
            <p:cNvPr id="20" name="Rectangle 20"/>
            <p:cNvSpPr/>
            <p:nvPr/>
          </p:nvSpPr>
          <p:spPr>
            <a:xfrm>
              <a:off x="2651760" y="3531870"/>
              <a:ext cx="1172528" cy="704850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5B3FA0"/>
              </a:solidFill>
            </a:ln>
          </p:spPr>
        </p:sp>
        <p:sp>
          <p:nvSpPr>
            <p:cNvPr id="21" name="Rectangle 21"/>
            <p:cNvSpPr/>
            <p:nvPr/>
          </p:nvSpPr>
          <p:spPr>
            <a:xfrm>
              <a:off x="2659380" y="3539490"/>
              <a:ext cx="1158240" cy="209550"/>
            </a:xfrm>
            <a:prstGeom prst="rect">
              <a:avLst/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22" name="Rectangle 22"/>
            <p:cNvSpPr/>
            <p:nvPr/>
          </p:nvSpPr>
          <p:spPr>
            <a:xfrm>
              <a:off x="2651760" y="3744278"/>
              <a:ext cx="1172528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3" name="Rectangle 23"/>
            <p:cNvSpPr/>
            <p:nvPr/>
          </p:nvSpPr>
          <p:spPr>
            <a:xfrm>
              <a:off x="2651760" y="3839528"/>
              <a:ext cx="1172528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4" name="Rectangle 24"/>
            <p:cNvSpPr/>
            <p:nvPr/>
          </p:nvSpPr>
          <p:spPr>
            <a:xfrm>
              <a:off x="2667000" y="4537710"/>
              <a:ext cx="1143000" cy="556260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5B3FA0"/>
              </a:solidFill>
            </a:ln>
          </p:spPr>
        </p:sp>
        <p:sp>
          <p:nvSpPr>
            <p:cNvPr id="25" name="Rectangle 25"/>
            <p:cNvSpPr/>
            <p:nvPr/>
          </p:nvSpPr>
          <p:spPr>
            <a:xfrm>
              <a:off x="2674620" y="4544378"/>
              <a:ext cx="1128712" cy="209550"/>
            </a:xfrm>
            <a:prstGeom prst="rect">
              <a:avLst/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26" name="Rectangle 26"/>
            <p:cNvSpPr/>
            <p:nvPr/>
          </p:nvSpPr>
          <p:spPr>
            <a:xfrm>
              <a:off x="2667000" y="4750118"/>
              <a:ext cx="114300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7" name="Rectangle 27"/>
            <p:cNvSpPr/>
            <p:nvPr/>
          </p:nvSpPr>
          <p:spPr>
            <a:xfrm>
              <a:off x="2667000" y="4845368"/>
              <a:ext cx="114300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2791021" y="3583305"/>
              <a:ext cx="894959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00" b="1" i="1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AbstractClass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2723198" y="3907631"/>
              <a:ext cx="1030097" cy="31051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170"/>
                </a:lnSpc>
              </a:pPr>
              <a:r>
                <a:rPr lang="en-US" sz="8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templateMethod()</a:t>
              </a:r>
              <a:br/>
              <a:r>
                <a:rPr lang="en-US" sz="8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# step1()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2791021" y="4589145"/>
              <a:ext cx="894959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00" b="1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ConcreteClass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2738438" y="4913471"/>
              <a:ext cx="528350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8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# step1()</a:t>
              </a:r>
            </a:p>
          </p:txBody>
        </p:sp>
      </p:grpSp>
      <p:grpSp>
        <p:nvGrpSpPr>
          <p:cNvPr id="34" name="c1-text-3"/>
          <p:cNvGrpSpPr/>
          <p:nvPr/>
        </p:nvGrpSpPr>
        <p:grpSpPr>
          <a:xfrm>
            <a:off x="1536954" y="5463540"/>
            <a:ext cx="3403092" cy="205359"/>
            <a:chOff x="1536954" y="5463540"/>
            <a:chExt cx="3403092" cy="205359"/>
          </a:xfrm>
        </p:grpSpPr>
        <p:sp>
          <p:nvSpPr>
            <p:cNvPr id="33" name="TextBox 33"/>
            <p:cNvSpPr txBox="1"/>
            <p:nvPr/>
          </p:nvSpPr>
          <p:spPr>
            <a:xfrm>
              <a:off x="1536954" y="5463540"/>
              <a:ext cx="340309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模板方法：算法骨架写死在父类，步骤由子类继承实现</a:t>
              </a:r>
            </a:p>
          </p:txBody>
        </p:sp>
      </p:grpSp>
      <p:grpSp>
        <p:nvGrpSpPr>
          <p:cNvPr id="45" name="c2-card-1"/>
          <p:cNvGrpSpPr/>
          <p:nvPr/>
        </p:nvGrpSpPr>
        <p:grpSpPr>
          <a:xfrm>
            <a:off x="6248400" y="1524000"/>
            <a:ext cx="5410200" cy="1730692"/>
            <a:chOff x="6248400" y="1524000"/>
            <a:chExt cx="5410200" cy="1730692"/>
          </a:xfrm>
        </p:grpSpPr>
        <p:sp>
          <p:nvSpPr>
            <p:cNvPr id="35" name="Rectangle 35"/>
            <p:cNvSpPr/>
            <p:nvPr/>
          </p:nvSpPr>
          <p:spPr>
            <a:xfrm>
              <a:off x="6248400" y="1524000"/>
              <a:ext cx="5410200" cy="1730692"/>
            </a:xfrm>
            <a:prstGeom prst="roundRect">
              <a:avLst>
                <a:gd name="adj" fmla="val 7705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6257925" y="1657350"/>
              <a:ext cx="47625" cy="1463992"/>
            </a:xfrm>
            <a:prstGeom prst="roundRect">
              <a:avLst>
                <a:gd name="adj" fmla="val 50000"/>
              </a:avLst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6467475" y="1704975"/>
              <a:ext cx="707708" cy="238125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6552044" y="1737836"/>
              <a:ext cx="5376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对象模式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7283006" y="1744504"/>
              <a:ext cx="242534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靠组合聚合，运行时可换，动态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6460998" y="2061686"/>
              <a:ext cx="4727194" cy="4922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对象模式处理对象间的关系，这些关系在运行时刻变化，更具动态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性。</a:t>
              </a:r>
            </a:p>
          </p:txBody>
        </p:sp>
        <p:sp>
          <p:nvSpPr>
            <p:cNvPr id="41" name="Ellipse 41"/>
            <p:cNvSpPr/>
            <p:nvPr/>
          </p:nvSpPr>
          <p:spPr>
            <a:xfrm>
              <a:off x="6477000" y="2641282"/>
              <a:ext cx="57150" cy="5715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6632448" y="2589371"/>
              <a:ext cx="328691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持有的是接口引用，运行期可以换一个实现</a:t>
              </a:r>
            </a:p>
          </p:txBody>
        </p:sp>
        <p:sp>
          <p:nvSpPr>
            <p:cNvPr id="43" name="Ellipse 43"/>
            <p:cNvSpPr/>
            <p:nvPr/>
          </p:nvSpPr>
          <p:spPr>
            <a:xfrm>
              <a:off x="6477000" y="2927032"/>
              <a:ext cx="57150" cy="5715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6632448" y="2874169"/>
              <a:ext cx="285095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23 个模式里其余 </a:t>
              </a:r>
              <a:r>
                <a:rPr lang="zh-CN" sz="128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19 个</a:t>
              </a: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都是对象模式</a:t>
              </a:r>
            </a:p>
          </p:txBody>
        </p:sp>
      </p:grpSp>
      <p:grpSp>
        <p:nvGrpSpPr>
          <p:cNvPr id="78" name="c2-uml-2"/>
          <p:cNvGrpSpPr/>
          <p:nvPr/>
        </p:nvGrpSpPr>
        <p:grpSpPr>
          <a:xfrm>
            <a:off x="6944678" y="3531870"/>
            <a:ext cx="4017645" cy="1562100"/>
            <a:chOff x="6944678" y="3531870"/>
            <a:chExt cx="4017645" cy="1562100"/>
          </a:xfrm>
        </p:grpSpPr>
        <p:sp>
          <p:nvSpPr>
            <p:cNvPr id="46" name="Freeform 46"/>
            <p:cNvSpPr/>
            <p:nvPr/>
          </p:nvSpPr>
          <p:spPr>
            <a:xfrm>
              <a:off x="8433435" y="3884295"/>
              <a:ext cx="1301115" cy="9525"/>
            </a:xfrm>
            <a:custGeom>
              <a:avLst/>
              <a:gdLst/>
              <a:ahLst/>
              <a:cxnLst/>
              <a:rect l="l" t="t" r="r" b="b"/>
              <a:pathLst>
                <a:path w="1301115" h="9525">
                  <a:moveTo>
                    <a:pt x="1301115" y="0"/>
                  </a:move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</a:ln>
          </p:spPr>
        </p:sp>
        <p:sp>
          <p:nvSpPr>
            <p:cNvPr id="47" name="Freeform 47"/>
            <p:cNvSpPr/>
            <p:nvPr/>
          </p:nvSpPr>
          <p:spPr>
            <a:xfrm>
              <a:off x="8223885" y="3827145"/>
              <a:ext cx="209550" cy="115252"/>
            </a:xfrm>
            <a:custGeom>
              <a:avLst/>
              <a:gdLst/>
              <a:ahLst/>
              <a:cxnLst/>
              <a:rect l="l" t="t" r="r" b="b"/>
              <a:pathLst>
                <a:path w="209550" h="115252">
                  <a:moveTo>
                    <a:pt x="0" y="57150"/>
                  </a:moveTo>
                  <a:lnTo>
                    <a:pt x="104775" y="0"/>
                  </a:lnTo>
                  <a:lnTo>
                    <a:pt x="209550" y="57150"/>
                  </a:lnTo>
                  <a:lnTo>
                    <a:pt x="104775" y="115252"/>
                  </a:lnTo>
                  <a:close/>
                </a:path>
              </a:pathLst>
            </a:custGeom>
            <a:solidFill>
              <a:srgbClr val="FFFFFF"/>
            </a:solidFill>
            <a:ln w="15240">
              <a:solidFill>
                <a:srgbClr val="1F2937"/>
              </a:solidFill>
            </a:ln>
          </p:spPr>
        </p:sp>
        <p:sp>
          <p:nvSpPr>
            <p:cNvPr id="48" name="Freeform 48"/>
            <p:cNvSpPr/>
            <p:nvPr/>
          </p:nvSpPr>
          <p:spPr>
            <a:xfrm>
              <a:off x="7600950" y="4351020"/>
              <a:ext cx="2705100" cy="186690"/>
            </a:xfrm>
            <a:custGeom>
              <a:avLst/>
              <a:gdLst/>
              <a:ahLst/>
              <a:cxnLst/>
              <a:rect l="l" t="t" r="r" b="b"/>
              <a:pathLst>
                <a:path w="2705100" h="186690">
                  <a:moveTo>
                    <a:pt x="0" y="186690"/>
                  </a:moveTo>
                  <a:lnTo>
                    <a:pt x="0" y="30480"/>
                  </a:lnTo>
                  <a:lnTo>
                    <a:pt x="2705100" y="30480"/>
                  </a:lnTo>
                  <a:lnTo>
                    <a:pt x="2705100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  <a:custDash>
                <a:ds d="375000" sp="250000"/>
              </a:custDash>
            </a:ln>
          </p:spPr>
        </p:sp>
        <p:sp>
          <p:nvSpPr>
            <p:cNvPr id="49" name="Freeform 49"/>
            <p:cNvSpPr/>
            <p:nvPr/>
          </p:nvSpPr>
          <p:spPr>
            <a:xfrm>
              <a:off x="10232708" y="4225290"/>
              <a:ext cx="146685" cy="125730"/>
            </a:xfrm>
            <a:custGeom>
              <a:avLst/>
              <a:gdLst/>
              <a:ahLst/>
              <a:cxnLst/>
              <a:rect l="l" t="t" r="r" b="b"/>
              <a:pathLst>
                <a:path w="146685" h="125730">
                  <a:moveTo>
                    <a:pt x="73343" y="0"/>
                  </a:moveTo>
                  <a:lnTo>
                    <a:pt x="146685" y="125730"/>
                  </a:lnTo>
                  <a:lnTo>
                    <a:pt x="0" y="125730"/>
                  </a:lnTo>
                  <a:close/>
                </a:path>
              </a:pathLst>
            </a:custGeom>
            <a:solidFill>
              <a:srgbClr val="FFFFFF"/>
            </a:solidFill>
            <a:ln w="15240">
              <a:solidFill>
                <a:srgbClr val="1F2937"/>
              </a:solidFill>
            </a:ln>
          </p:spPr>
        </p:sp>
        <p:sp>
          <p:nvSpPr>
            <p:cNvPr id="50" name="Freeform 50"/>
            <p:cNvSpPr/>
            <p:nvPr/>
          </p:nvSpPr>
          <p:spPr>
            <a:xfrm>
              <a:off x="10306050" y="4351020"/>
              <a:ext cx="9525" cy="186690"/>
            </a:xfrm>
            <a:custGeom>
              <a:avLst/>
              <a:gdLst/>
              <a:ahLst/>
              <a:cxnLst/>
              <a:rect l="l" t="t" r="r" b="b"/>
              <a:pathLst>
                <a:path w="9525" h="186690">
                  <a:moveTo>
                    <a:pt x="0" y="186690"/>
                  </a:move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  <a:custDash>
                <a:ds d="375000" sp="250000"/>
              </a:custDash>
            </a:ln>
          </p:spPr>
        </p:sp>
        <p:sp>
          <p:nvSpPr>
            <p:cNvPr id="51" name="Freeform 51"/>
            <p:cNvSpPr/>
            <p:nvPr/>
          </p:nvSpPr>
          <p:spPr>
            <a:xfrm>
              <a:off x="10232708" y="4225290"/>
              <a:ext cx="146685" cy="125730"/>
            </a:xfrm>
            <a:custGeom>
              <a:avLst/>
              <a:gdLst/>
              <a:ahLst/>
              <a:cxnLst/>
              <a:rect l="l" t="t" r="r" b="b"/>
              <a:pathLst>
                <a:path w="146685" h="125730">
                  <a:moveTo>
                    <a:pt x="73343" y="0"/>
                  </a:moveTo>
                  <a:lnTo>
                    <a:pt x="146685" y="125730"/>
                  </a:lnTo>
                  <a:lnTo>
                    <a:pt x="0" y="125730"/>
                  </a:lnTo>
                  <a:close/>
                </a:path>
              </a:pathLst>
            </a:custGeom>
            <a:solidFill>
              <a:srgbClr val="FFFFFF"/>
            </a:solidFill>
            <a:ln w="15240">
              <a:solidFill>
                <a:srgbClr val="1F2937"/>
              </a:solidFill>
            </a:ln>
          </p:spPr>
        </p:sp>
        <p:sp>
          <p:nvSpPr>
            <p:cNvPr id="52" name="Rectangle 52"/>
            <p:cNvSpPr/>
            <p:nvPr/>
          </p:nvSpPr>
          <p:spPr>
            <a:xfrm>
              <a:off x="6978015" y="3531870"/>
              <a:ext cx="1245870" cy="704850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5B3FA0"/>
              </a:solidFill>
            </a:ln>
          </p:spPr>
        </p:sp>
        <p:sp>
          <p:nvSpPr>
            <p:cNvPr id="53" name="Rectangle 53"/>
            <p:cNvSpPr/>
            <p:nvPr/>
          </p:nvSpPr>
          <p:spPr>
            <a:xfrm>
              <a:off x="6985635" y="3539490"/>
              <a:ext cx="1231582" cy="209550"/>
            </a:xfrm>
            <a:prstGeom prst="rect">
              <a:avLst/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54" name="Rectangle 54"/>
            <p:cNvSpPr/>
            <p:nvPr/>
          </p:nvSpPr>
          <p:spPr>
            <a:xfrm>
              <a:off x="6978015" y="3744278"/>
              <a:ext cx="124587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55" name="Rectangle 55"/>
            <p:cNvSpPr/>
            <p:nvPr/>
          </p:nvSpPr>
          <p:spPr>
            <a:xfrm>
              <a:off x="6978015" y="3988118"/>
              <a:ext cx="124587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56" name="Rectangle 56"/>
            <p:cNvSpPr/>
            <p:nvPr/>
          </p:nvSpPr>
          <p:spPr>
            <a:xfrm>
              <a:off x="9734550" y="3543300"/>
              <a:ext cx="1143000" cy="681990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5B3FA0"/>
              </a:solidFill>
            </a:ln>
          </p:spPr>
        </p:sp>
        <p:sp>
          <p:nvSpPr>
            <p:cNvPr id="57" name="Rectangle 57"/>
            <p:cNvSpPr/>
            <p:nvPr/>
          </p:nvSpPr>
          <p:spPr>
            <a:xfrm>
              <a:off x="9742170" y="3550920"/>
              <a:ext cx="1128712" cy="335280"/>
            </a:xfrm>
            <a:prstGeom prst="rect">
              <a:avLst/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58" name="Rectangle 58"/>
            <p:cNvSpPr/>
            <p:nvPr/>
          </p:nvSpPr>
          <p:spPr>
            <a:xfrm>
              <a:off x="9734550" y="3881438"/>
              <a:ext cx="114300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59" name="Rectangle 59"/>
            <p:cNvSpPr/>
            <p:nvPr/>
          </p:nvSpPr>
          <p:spPr>
            <a:xfrm>
              <a:off x="9734550" y="3976688"/>
              <a:ext cx="114300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60" name="Rectangle 60"/>
            <p:cNvSpPr/>
            <p:nvPr/>
          </p:nvSpPr>
          <p:spPr>
            <a:xfrm>
              <a:off x="6944678" y="4537710"/>
              <a:ext cx="1312545" cy="556260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5B3FA0"/>
              </a:solidFill>
            </a:ln>
          </p:spPr>
        </p:sp>
        <p:sp>
          <p:nvSpPr>
            <p:cNvPr id="61" name="Rectangle 61"/>
            <p:cNvSpPr/>
            <p:nvPr/>
          </p:nvSpPr>
          <p:spPr>
            <a:xfrm>
              <a:off x="6951345" y="4544378"/>
              <a:ext cx="1298258" cy="209550"/>
            </a:xfrm>
            <a:prstGeom prst="rect">
              <a:avLst/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62" name="Rectangle 62"/>
            <p:cNvSpPr/>
            <p:nvPr/>
          </p:nvSpPr>
          <p:spPr>
            <a:xfrm>
              <a:off x="6944678" y="4750118"/>
              <a:ext cx="1312545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63" name="Rectangle 63"/>
            <p:cNvSpPr/>
            <p:nvPr/>
          </p:nvSpPr>
          <p:spPr>
            <a:xfrm>
              <a:off x="6944678" y="4845368"/>
              <a:ext cx="1312545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64" name="Rectangle 64"/>
            <p:cNvSpPr/>
            <p:nvPr/>
          </p:nvSpPr>
          <p:spPr>
            <a:xfrm>
              <a:off x="9649778" y="4537710"/>
              <a:ext cx="1312545" cy="556260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5B3FA0"/>
              </a:solidFill>
            </a:ln>
          </p:spPr>
        </p:sp>
        <p:sp>
          <p:nvSpPr>
            <p:cNvPr id="65" name="Rectangle 65"/>
            <p:cNvSpPr/>
            <p:nvPr/>
          </p:nvSpPr>
          <p:spPr>
            <a:xfrm>
              <a:off x="9656445" y="4544378"/>
              <a:ext cx="1298258" cy="209550"/>
            </a:xfrm>
            <a:prstGeom prst="rect">
              <a:avLst/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66" name="Rectangle 66"/>
            <p:cNvSpPr/>
            <p:nvPr/>
          </p:nvSpPr>
          <p:spPr>
            <a:xfrm>
              <a:off x="9649778" y="4750118"/>
              <a:ext cx="1312545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67" name="Rectangle 67"/>
            <p:cNvSpPr/>
            <p:nvPr/>
          </p:nvSpPr>
          <p:spPr>
            <a:xfrm>
              <a:off x="9649778" y="4845368"/>
              <a:ext cx="1312545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68" name="TextBox 68"/>
            <p:cNvSpPr txBox="1"/>
            <p:nvPr/>
          </p:nvSpPr>
          <p:spPr>
            <a:xfrm>
              <a:off x="7349317" y="3583305"/>
              <a:ext cx="503267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00" b="1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Context</a:t>
              </a:r>
            </a:p>
          </p:txBody>
        </p:sp>
        <p:sp>
          <p:nvSpPr>
            <p:cNvPr id="69" name="TextBox 69"/>
            <p:cNvSpPr txBox="1"/>
            <p:nvPr/>
          </p:nvSpPr>
          <p:spPr>
            <a:xfrm>
              <a:off x="7049452" y="3812381"/>
              <a:ext cx="1172704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8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- strategy: Strategy</a:t>
              </a:r>
            </a:p>
          </p:txBody>
        </p:sp>
        <p:sp>
          <p:nvSpPr>
            <p:cNvPr id="70" name="TextBox 70"/>
            <p:cNvSpPr txBox="1"/>
            <p:nvPr/>
          </p:nvSpPr>
          <p:spPr>
            <a:xfrm>
              <a:off x="7049452" y="4056221"/>
              <a:ext cx="649778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8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request()</a:t>
              </a:r>
            </a:p>
          </p:txBody>
        </p:sp>
        <p:sp>
          <p:nvSpPr>
            <p:cNvPr id="71" name="TextBox 71"/>
            <p:cNvSpPr txBox="1"/>
            <p:nvPr/>
          </p:nvSpPr>
          <p:spPr>
            <a:xfrm>
              <a:off x="10008489" y="3591878"/>
              <a:ext cx="595122" cy="14763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75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«interface»</a:t>
              </a:r>
            </a:p>
          </p:txBody>
        </p:sp>
        <p:sp>
          <p:nvSpPr>
            <p:cNvPr id="72" name="TextBox 72"/>
            <p:cNvSpPr txBox="1"/>
            <p:nvPr/>
          </p:nvSpPr>
          <p:spPr>
            <a:xfrm>
              <a:off x="10019432" y="3720465"/>
              <a:ext cx="573235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00" b="1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Strategy</a:t>
              </a:r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9805988" y="4044791"/>
              <a:ext cx="738088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8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algorithm()</a:t>
              </a:r>
            </a:p>
          </p:txBody>
        </p:sp>
        <p:sp>
          <p:nvSpPr>
            <p:cNvPr id="74" name="TextBox 74"/>
            <p:cNvSpPr txBox="1"/>
            <p:nvPr/>
          </p:nvSpPr>
          <p:spPr>
            <a:xfrm>
              <a:off x="6995512" y="4589145"/>
              <a:ext cx="1210875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00" b="1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ConcreteStrategyA</a:t>
              </a:r>
            </a:p>
          </p:txBody>
        </p:sp>
        <p:sp>
          <p:nvSpPr>
            <p:cNvPr id="75" name="TextBox 75"/>
            <p:cNvSpPr txBox="1"/>
            <p:nvPr/>
          </p:nvSpPr>
          <p:spPr>
            <a:xfrm>
              <a:off x="7016115" y="4913471"/>
              <a:ext cx="738088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8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algorithm()</a:t>
              </a:r>
            </a:p>
          </p:txBody>
        </p:sp>
        <p:sp>
          <p:nvSpPr>
            <p:cNvPr id="76" name="TextBox 76"/>
            <p:cNvSpPr txBox="1"/>
            <p:nvPr/>
          </p:nvSpPr>
          <p:spPr>
            <a:xfrm>
              <a:off x="9700612" y="4589145"/>
              <a:ext cx="1210875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00" b="1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ConcreteStrategyB</a:t>
              </a:r>
            </a:p>
          </p:txBody>
        </p:sp>
        <p:sp>
          <p:nvSpPr>
            <p:cNvPr id="77" name="TextBox 77"/>
            <p:cNvSpPr txBox="1"/>
            <p:nvPr/>
          </p:nvSpPr>
          <p:spPr>
            <a:xfrm>
              <a:off x="9721215" y="4913471"/>
              <a:ext cx="738088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8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algorithm()</a:t>
              </a:r>
            </a:p>
          </p:txBody>
        </p:sp>
      </p:grpSp>
      <p:grpSp>
        <p:nvGrpSpPr>
          <p:cNvPr id="80" name="c2-text-3"/>
          <p:cNvGrpSpPr/>
          <p:nvPr/>
        </p:nvGrpSpPr>
        <p:grpSpPr>
          <a:xfrm>
            <a:off x="7322630" y="5463540"/>
            <a:ext cx="3261741" cy="205359"/>
            <a:chOff x="7322630" y="5463540"/>
            <a:chExt cx="3261741" cy="205359"/>
          </a:xfrm>
        </p:grpSpPr>
        <p:sp>
          <p:nvSpPr>
            <p:cNvPr id="79" name="TextBox 79"/>
            <p:cNvSpPr txBox="1"/>
            <p:nvPr/>
          </p:nvSpPr>
          <p:spPr>
            <a:xfrm>
              <a:off x="7322630" y="5463540"/>
              <a:ext cx="326174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策略：算法装进独立对象，环境类运行期换一个就行</a:t>
              </a:r>
            </a:p>
          </p:txBody>
        </p:sp>
      </p:grpSp>
      <p:grpSp>
        <p:nvGrpSpPr>
          <p:cNvPr id="86" name="takeaway"/>
          <p:cNvGrpSpPr/>
          <p:nvPr/>
        </p:nvGrpSpPr>
        <p:grpSpPr>
          <a:xfrm>
            <a:off x="533400" y="5895022"/>
            <a:ext cx="11125200" cy="467678"/>
            <a:chOff x="533400" y="5895022"/>
            <a:chExt cx="11125200" cy="467678"/>
          </a:xfrm>
        </p:grpSpPr>
        <p:sp>
          <p:nvSpPr>
            <p:cNvPr id="81" name="Rectangle 81"/>
            <p:cNvSpPr/>
            <p:nvPr/>
          </p:nvSpPr>
          <p:spPr>
            <a:xfrm>
              <a:off x="533400" y="5895022"/>
              <a:ext cx="11125200" cy="467678"/>
            </a:xfrm>
            <a:prstGeom prst="roundRect">
              <a:avLst>
                <a:gd name="adj" fmla="val 24440"/>
              </a:avLst>
            </a:prstGeom>
            <a:solidFill>
              <a:srgbClr val="5B3FA0"/>
            </a:solidFill>
            <a:ln>
              <a:noFill/>
            </a:ln>
          </p:spPr>
        </p:sp>
        <p:grpSp>
          <p:nvGrpSpPr>
            <p:cNvPr id="84" name="Group 84"/>
            <p:cNvGrpSpPr/>
            <p:nvPr/>
          </p:nvGrpSpPr>
          <p:grpSpPr>
            <a:xfrm>
              <a:off x="738188" y="6028375"/>
              <a:ext cx="200023" cy="200023"/>
              <a:chOff x="738188" y="6028375"/>
              <a:chExt cx="200023" cy="200023"/>
            </a:xfrm>
          </p:grpSpPr>
          <p:sp>
            <p:nvSpPr>
              <p:cNvPr id="82" name="Freeform 82"/>
              <p:cNvSpPr/>
              <p:nvPr/>
            </p:nvSpPr>
            <p:spPr>
              <a:xfrm>
                <a:off x="738188" y="6028375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83" name="Freeform 83"/>
              <p:cNvSpPr/>
              <p:nvPr/>
            </p:nvSpPr>
            <p:spPr>
              <a:xfrm>
                <a:off x="871538" y="6095048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85" name="TextBox 85"/>
            <p:cNvSpPr txBox="1"/>
            <p:nvPr/>
          </p:nvSpPr>
          <p:spPr>
            <a:xfrm>
              <a:off x="1041273" y="6039326"/>
              <a:ext cx="931788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同一件事既可以做成类模式也可以做成对象模式，模板方法与策略就是这样一对，区别在于绑定发生在编译期还是运行期。</a:t>
              </a:r>
            </a:p>
          </p:txBody>
        </p:sp>
      </p:grpSp>
      <p:grpSp>
        <p:nvGrpSpPr>
          <p:cNvPr id="8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87" name="TextBox 87"/>
            <p:cNvSpPr txBox="1"/>
            <p:nvPr/>
          </p:nvSpPr>
          <p:spPr>
            <a:xfrm>
              <a:off x="528447" y="6581299"/>
              <a:ext cx="174475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设计模式概述</a:t>
              </a:r>
            </a:p>
          </p:txBody>
        </p:sp>
        <p:sp>
          <p:nvSpPr>
            <p:cNvPr id="88" name="TextBox 88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217952" cy="909257"/>
            <a:chOff x="520446" y="342900"/>
            <a:chExt cx="5217952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854642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70371" y="407194"/>
              <a:ext cx="278165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03 设计模式概述 · GoF 23 个模式的分类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217952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两个维度合起来：GoF 的分类总表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399" y="1550194"/>
            <a:ext cx="8807920" cy="308039"/>
            <a:chOff x="525399" y="1550194"/>
            <a:chExt cx="8807920" cy="308039"/>
          </a:xfrm>
        </p:grpSpPr>
        <p:sp>
          <p:nvSpPr>
            <p:cNvPr id="7" name="TextBox 7"/>
            <p:cNvSpPr txBox="1"/>
            <p:nvPr/>
          </p:nvSpPr>
          <p:spPr>
            <a:xfrm>
              <a:off x="525399" y="1550194"/>
              <a:ext cx="8807920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横看目的，纵看范围。这张表是 GoF 原书的分类表，考试里常要求指出某个模式落在哪一格。</a:t>
              </a:r>
            </a:p>
          </p:txBody>
        </p:sp>
      </p:grpSp>
      <p:grpSp>
        <p:nvGrpSpPr>
          <p:cNvPr id="30" name="c1-table-1"/>
          <p:cNvGrpSpPr/>
          <p:nvPr/>
        </p:nvGrpSpPr>
        <p:grpSpPr>
          <a:xfrm>
            <a:off x="533400" y="1967865"/>
            <a:ext cx="11125200" cy="1729740"/>
            <a:chOff x="533400" y="1967865"/>
            <a:chExt cx="11125200" cy="1729740"/>
          </a:xfrm>
        </p:grpSpPr>
        <p:sp>
          <p:nvSpPr>
            <p:cNvPr id="9" name="Rectangle 9"/>
            <p:cNvSpPr/>
            <p:nvPr/>
          </p:nvSpPr>
          <p:spPr>
            <a:xfrm>
              <a:off x="533400" y="1967865"/>
              <a:ext cx="11125200" cy="487680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722952" y="2106930"/>
              <a:ext cx="10667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范围 \ 目的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2635568" y="2106930"/>
              <a:ext cx="10248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创建型模式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5360670" y="2106930"/>
              <a:ext cx="10248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结构型模式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9032558" y="2106930"/>
              <a:ext cx="10248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行为型模式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542925" y="2465070"/>
              <a:ext cx="1426845" cy="468630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45833" y="2594610"/>
              <a:ext cx="6210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类模式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2085975" y="2594610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工厂方法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4422458" y="2594610"/>
              <a:ext cx="12268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（类）适配器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538085" y="2594610"/>
              <a:ext cx="16306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解释器、模板方法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533400" y="2938462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0" name="Rectangle 20"/>
            <p:cNvSpPr/>
            <p:nvPr/>
          </p:nvSpPr>
          <p:spPr>
            <a:xfrm>
              <a:off x="533400" y="2943225"/>
              <a:ext cx="11125200" cy="75438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1" name="Rectangle 21"/>
            <p:cNvSpPr/>
            <p:nvPr/>
          </p:nvSpPr>
          <p:spPr>
            <a:xfrm>
              <a:off x="542925" y="2952750"/>
              <a:ext cx="1426845" cy="735330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844868" y="3215640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对象模式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2085975" y="3082290"/>
              <a:ext cx="1920240" cy="560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0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抽象工厂、建造者、原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型、单例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4422458" y="3082290"/>
              <a:ext cx="2682240" cy="560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0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（对象）适配器、桥接、组合、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装饰、外观、享元、代理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538085" y="3082290"/>
              <a:ext cx="3825240" cy="560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0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职责链、命令、迭代器、中介者、备忘录、观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察者、状态、策略、访问者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533400" y="1967865"/>
              <a:ext cx="11125200" cy="172974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27" name="Rectangle 27"/>
            <p:cNvSpPr/>
            <p:nvPr/>
          </p:nvSpPr>
          <p:spPr>
            <a:xfrm>
              <a:off x="1974532" y="1967865"/>
              <a:ext cx="9525" cy="172974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8" name="Rectangle 28"/>
            <p:cNvSpPr/>
            <p:nvPr/>
          </p:nvSpPr>
          <p:spPr>
            <a:xfrm>
              <a:off x="4311015" y="1967865"/>
              <a:ext cx="9525" cy="172974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9" name="Rectangle 29"/>
            <p:cNvSpPr/>
            <p:nvPr/>
          </p:nvSpPr>
          <p:spPr>
            <a:xfrm>
              <a:off x="7426642" y="1967865"/>
              <a:ext cx="9525" cy="172974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37" name="c1-bullets-2"/>
          <p:cNvGrpSpPr/>
          <p:nvPr/>
        </p:nvGrpSpPr>
        <p:grpSpPr>
          <a:xfrm>
            <a:off x="533400" y="3912870"/>
            <a:ext cx="7605904" cy="982980"/>
            <a:chOff x="533400" y="3912870"/>
            <a:chExt cx="7605904" cy="982980"/>
          </a:xfrm>
        </p:grpSpPr>
        <p:sp>
          <p:nvSpPr>
            <p:cNvPr id="31" name="Freeform 31"/>
            <p:cNvSpPr/>
            <p:nvPr/>
          </p:nvSpPr>
          <p:spPr>
            <a:xfrm>
              <a:off x="533400" y="3944302"/>
              <a:ext cx="143827" cy="116205"/>
            </a:xfrm>
            <a:custGeom>
              <a:avLst/>
              <a:gdLst/>
              <a:ahLst/>
              <a:cxnLst/>
              <a:rect l="l" t="t" r="r" b="b"/>
              <a:pathLst>
                <a:path w="143827" h="116205">
                  <a:moveTo>
                    <a:pt x="0" y="61912"/>
                  </a:moveTo>
                  <a:lnTo>
                    <a:pt x="55245" y="116205"/>
                  </a:lnTo>
                  <a:lnTo>
                    <a:pt x="143827" y="0"/>
                  </a:lnTo>
                </a:path>
              </a:pathLst>
            </a:custGeom>
            <a:noFill/>
            <a:ln w="24765" cap="rnd">
              <a:solidFill>
                <a:srgbClr val="14A38B"/>
              </a:solidFill>
              <a:round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783908" y="3912870"/>
              <a:ext cx="72847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类模式只有四个：工厂方法、类适配器、解释器、模板方法。剩下的都是对象模式</a:t>
              </a:r>
            </a:p>
          </p:txBody>
        </p:sp>
        <p:sp>
          <p:nvSpPr>
            <p:cNvPr id="33" name="Freeform 33"/>
            <p:cNvSpPr/>
            <p:nvPr/>
          </p:nvSpPr>
          <p:spPr>
            <a:xfrm>
              <a:off x="533400" y="4289108"/>
              <a:ext cx="143827" cy="116205"/>
            </a:xfrm>
            <a:custGeom>
              <a:avLst/>
              <a:gdLst/>
              <a:ahLst/>
              <a:cxnLst/>
              <a:rect l="l" t="t" r="r" b="b"/>
              <a:pathLst>
                <a:path w="143827" h="116205">
                  <a:moveTo>
                    <a:pt x="0" y="61912"/>
                  </a:moveTo>
                  <a:lnTo>
                    <a:pt x="55245" y="116205"/>
                  </a:lnTo>
                  <a:lnTo>
                    <a:pt x="143827" y="0"/>
                  </a:lnTo>
                </a:path>
              </a:pathLst>
            </a:custGeom>
            <a:noFill/>
            <a:ln w="24765" cap="rnd">
              <a:solidFill>
                <a:srgbClr val="14A38B"/>
              </a:solidFill>
              <a:round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783908" y="4257675"/>
              <a:ext cx="70827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适配器同时出现在两行：用继承实现就是类适配器，用组合实现就是对象适配器</a:t>
              </a:r>
            </a:p>
          </p:txBody>
        </p:sp>
        <p:sp>
          <p:nvSpPr>
            <p:cNvPr id="35" name="Freeform 35"/>
            <p:cNvSpPr/>
            <p:nvPr/>
          </p:nvSpPr>
          <p:spPr>
            <a:xfrm>
              <a:off x="533400" y="4633912"/>
              <a:ext cx="143827" cy="116205"/>
            </a:xfrm>
            <a:custGeom>
              <a:avLst/>
              <a:gdLst/>
              <a:ahLst/>
              <a:cxnLst/>
              <a:rect l="l" t="t" r="r" b="b"/>
              <a:pathLst>
                <a:path w="143827" h="116205">
                  <a:moveTo>
                    <a:pt x="0" y="61912"/>
                  </a:moveTo>
                  <a:lnTo>
                    <a:pt x="55245" y="116205"/>
                  </a:lnTo>
                  <a:lnTo>
                    <a:pt x="143827" y="0"/>
                  </a:lnTo>
                </a:path>
              </a:pathLst>
            </a:custGeom>
            <a:noFill/>
            <a:ln w="24765" cap="rnd">
              <a:solidFill>
                <a:srgbClr val="14A38B"/>
              </a:solidFill>
              <a:round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783908" y="4602480"/>
              <a:ext cx="735539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行为型最多（11 个），因为运行时“谁负责什么”的花样最多；创建型最少（5 个）</a:t>
              </a:r>
            </a:p>
          </p:txBody>
        </p:sp>
      </p:grpSp>
      <p:grpSp>
        <p:nvGrpSpPr>
          <p:cNvPr id="44" name="takeaway"/>
          <p:cNvGrpSpPr/>
          <p:nvPr/>
        </p:nvGrpSpPr>
        <p:grpSpPr>
          <a:xfrm>
            <a:off x="533400" y="5829300"/>
            <a:ext cx="11125200" cy="533400"/>
            <a:chOff x="533400" y="5829300"/>
            <a:chExt cx="11125200" cy="533400"/>
          </a:xfrm>
        </p:grpSpPr>
        <p:sp>
          <p:nvSpPr>
            <p:cNvPr id="38" name="Rectangle 38"/>
            <p:cNvSpPr/>
            <p:nvPr/>
          </p:nvSpPr>
          <p:spPr>
            <a:xfrm>
              <a:off x="533400" y="5829300"/>
              <a:ext cx="11125200" cy="533400"/>
            </a:xfrm>
            <a:prstGeom prst="roundRect">
              <a:avLst>
                <a:gd name="adj" fmla="val 21429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42" name="Group 42"/>
            <p:cNvGrpSpPr/>
            <p:nvPr/>
          </p:nvGrpSpPr>
          <p:grpSpPr>
            <a:xfrm>
              <a:off x="738188" y="5995988"/>
              <a:ext cx="200026" cy="200026"/>
              <a:chOff x="738188" y="5995988"/>
              <a:chExt cx="200026" cy="200026"/>
            </a:xfrm>
          </p:grpSpPr>
          <p:sp>
            <p:nvSpPr>
              <p:cNvPr id="39" name="Freeform 39"/>
              <p:cNvSpPr/>
              <p:nvPr/>
            </p:nvSpPr>
            <p:spPr>
              <a:xfrm>
                <a:off x="738188" y="5995988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40" name="Freeform 40"/>
              <p:cNvSpPr/>
              <p:nvPr/>
            </p:nvSpPr>
            <p:spPr>
              <a:xfrm>
                <a:off x="838200" y="606266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41" name="Freeform 41"/>
              <p:cNvSpPr/>
              <p:nvPr/>
            </p:nvSpPr>
            <p:spPr>
              <a:xfrm>
                <a:off x="827088" y="6096000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43" name="TextBox 43"/>
            <p:cNvSpPr txBox="1"/>
            <p:nvPr/>
          </p:nvSpPr>
          <p:spPr>
            <a:xfrm>
              <a:off x="1040130" y="5991225"/>
              <a:ext cx="74866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记不住整张表时，先记住类模式那四个，其余默认是对象模式，正确率就已经很高。</a:t>
              </a:r>
            </a:p>
          </p:txBody>
        </p:sp>
      </p:grpSp>
      <p:grpSp>
        <p:nvGrpSpPr>
          <p:cNvPr id="47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5" name="TextBox 45"/>
            <p:cNvSpPr txBox="1"/>
            <p:nvPr/>
          </p:nvSpPr>
          <p:spPr>
            <a:xfrm>
              <a:off x="528447" y="6581299"/>
              <a:ext cx="174475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设计模式概述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914894" cy="909257"/>
            <a:chOff x="520446" y="342900"/>
            <a:chExt cx="5914894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854642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70371" y="407194"/>
              <a:ext cx="278165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03 设计模式概述 · GoF 23 个模式的分类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91489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创建型模式：把“造对象”这件事管起来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399" y="1550194"/>
            <a:ext cx="7673188" cy="308039"/>
            <a:chOff x="525399" y="1550194"/>
            <a:chExt cx="7673188" cy="308039"/>
          </a:xfrm>
        </p:grpSpPr>
        <p:sp>
          <p:nvSpPr>
            <p:cNvPr id="7" name="TextBox 7"/>
            <p:cNvSpPr txBox="1"/>
            <p:nvPr/>
          </p:nvSpPr>
          <p:spPr>
            <a:xfrm>
              <a:off x="525399" y="1550194"/>
              <a:ext cx="7673188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创建型模式抽象了实例化过程，让系统不必关心对象是怎么创建、组合和表示的。</a:t>
              </a:r>
            </a:p>
          </p:txBody>
        </p:sp>
      </p:grpSp>
      <p:grpSp>
        <p:nvGrpSpPr>
          <p:cNvPr id="43" name="c1-table-1"/>
          <p:cNvGrpSpPr/>
          <p:nvPr/>
        </p:nvGrpSpPr>
        <p:grpSpPr>
          <a:xfrm>
            <a:off x="533400" y="1967865"/>
            <a:ext cx="11125200" cy="3594735"/>
            <a:chOff x="533400" y="1967865"/>
            <a:chExt cx="11125200" cy="3594735"/>
          </a:xfrm>
        </p:grpSpPr>
        <p:sp>
          <p:nvSpPr>
            <p:cNvPr id="9" name="Rectangle 9"/>
            <p:cNvSpPr/>
            <p:nvPr/>
          </p:nvSpPr>
          <p:spPr>
            <a:xfrm>
              <a:off x="533400" y="1967865"/>
              <a:ext cx="11125200" cy="448628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1578572" y="2102644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模式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5102479" y="2102644"/>
              <a:ext cx="87452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一句话作用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9268803" y="2102644"/>
              <a:ext cx="121914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它让什么可以变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641223" y="2551271"/>
              <a:ext cx="1465428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抽象工厂 Abstract</a:t>
              </a:r>
              <a:br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Factory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089148" y="2551271"/>
              <a:ext cx="4564634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提供一个接口，创建一系列相关或相互依赖的对象，不指定它们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的具体类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8205978" y="2664619"/>
              <a:ext cx="52989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产品族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533400" y="3087052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533400" y="3091815"/>
              <a:ext cx="11125200" cy="675322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641223" y="3340894"/>
              <a:ext cx="119562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建造者 Builder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3089148" y="3227546"/>
              <a:ext cx="4564634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把复杂对象的构建过程与它的表示分离，同样的构建过程可以造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出不同表示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8205978" y="3340894"/>
              <a:ext cx="15637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复杂对象的组装步骤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533400" y="3762375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641223" y="3902869"/>
              <a:ext cx="215312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工厂方法 Factory Method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3089148" y="3902869"/>
              <a:ext cx="414848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定义一个创建对象的接口，让子类决定实例化哪一个类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8205978" y="3902869"/>
              <a:ext cx="121914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被实例化的子类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533400" y="4211002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6" name="Rectangle 26"/>
            <p:cNvSpPr/>
            <p:nvPr/>
          </p:nvSpPr>
          <p:spPr>
            <a:xfrm>
              <a:off x="533400" y="4215765"/>
              <a:ext cx="11125200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641223" y="4351496"/>
              <a:ext cx="131343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原型 Prototype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3089148" y="4351496"/>
              <a:ext cx="466542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用一个原型实例指定要创建对象的种类，通过克隆产生新对象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8205978" y="4351496"/>
              <a:ext cx="208071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被实例化的类（运行期定）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533400" y="4660582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641223" y="4800124"/>
              <a:ext cx="122240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单例 Singleton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3089148" y="4800124"/>
              <a:ext cx="44931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保证一个类只有一个实例，并提供一个访问它的全局访问点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8205978" y="4800124"/>
              <a:ext cx="173609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实例的个数与获取方式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533400" y="5109210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5" name="Rectangle 35"/>
            <p:cNvSpPr/>
            <p:nvPr/>
          </p:nvSpPr>
          <p:spPr>
            <a:xfrm>
              <a:off x="533400" y="5113972"/>
              <a:ext cx="11125200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6" name="Rectangle 36"/>
            <p:cNvSpPr/>
            <p:nvPr/>
          </p:nvSpPr>
          <p:spPr>
            <a:xfrm>
              <a:off x="542925" y="5123498"/>
              <a:ext cx="2428875" cy="429578"/>
            </a:xfrm>
            <a:prstGeom prst="rect">
              <a:avLst/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641223" y="5248751"/>
              <a:ext cx="206187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简单工厂 Simple Factory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3089148" y="5248751"/>
              <a:ext cx="397616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由一个工厂类根据传入参数决定创建哪一种产品对象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8205978" y="5248751"/>
              <a:ext cx="15637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具体产品的选择位置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533400" y="1967865"/>
              <a:ext cx="11125200" cy="359473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41" name="Rectangle 41"/>
            <p:cNvSpPr/>
            <p:nvPr/>
          </p:nvSpPr>
          <p:spPr>
            <a:xfrm>
              <a:off x="2976562" y="1967865"/>
              <a:ext cx="9525" cy="359473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2" name="Rectangle 42"/>
            <p:cNvSpPr/>
            <p:nvPr/>
          </p:nvSpPr>
          <p:spPr>
            <a:xfrm>
              <a:off x="8093392" y="1967865"/>
              <a:ext cx="9525" cy="359473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50" name="takeaway"/>
          <p:cNvGrpSpPr/>
          <p:nvPr/>
        </p:nvGrpSpPr>
        <p:grpSpPr>
          <a:xfrm>
            <a:off x="533400" y="5829300"/>
            <a:ext cx="11125200" cy="533400"/>
            <a:chOff x="533400" y="5829300"/>
            <a:chExt cx="11125200" cy="533400"/>
          </a:xfrm>
        </p:grpSpPr>
        <p:sp>
          <p:nvSpPr>
            <p:cNvPr id="44" name="Rectangle 44"/>
            <p:cNvSpPr/>
            <p:nvPr/>
          </p:nvSpPr>
          <p:spPr>
            <a:xfrm>
              <a:off x="533400" y="5829300"/>
              <a:ext cx="11125200" cy="533400"/>
            </a:xfrm>
            <a:prstGeom prst="roundRect">
              <a:avLst>
                <a:gd name="adj" fmla="val 21429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48" name="Group 48"/>
            <p:cNvGrpSpPr/>
            <p:nvPr/>
          </p:nvGrpSpPr>
          <p:grpSpPr>
            <a:xfrm>
              <a:off x="738188" y="5995988"/>
              <a:ext cx="200026" cy="200026"/>
              <a:chOff x="738188" y="5995988"/>
              <a:chExt cx="200026" cy="200026"/>
            </a:xfrm>
          </p:grpSpPr>
          <p:sp>
            <p:nvSpPr>
              <p:cNvPr id="45" name="Freeform 45"/>
              <p:cNvSpPr/>
              <p:nvPr/>
            </p:nvSpPr>
            <p:spPr>
              <a:xfrm>
                <a:off x="738188" y="5995988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46" name="Freeform 46"/>
              <p:cNvSpPr/>
              <p:nvPr/>
            </p:nvSpPr>
            <p:spPr>
              <a:xfrm>
                <a:off x="838200" y="606266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47" name="Freeform 47"/>
              <p:cNvSpPr/>
              <p:nvPr/>
            </p:nvSpPr>
            <p:spPr>
              <a:xfrm>
                <a:off x="827088" y="6096000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49" name="TextBox 49"/>
            <p:cNvSpPr txBox="1"/>
            <p:nvPr/>
          </p:nvSpPr>
          <p:spPr>
            <a:xfrm>
              <a:off x="1040130" y="5991225"/>
              <a:ext cx="850334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简单工厂不在 GoF 的 23 个模式之列，它是工厂方法的简化形式，因为常用而被课程单列一讲。</a:t>
              </a:r>
            </a:p>
          </p:txBody>
        </p:sp>
      </p:grpSp>
      <p:grpSp>
        <p:nvGrpSpPr>
          <p:cNvPr id="53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1" name="TextBox 51"/>
            <p:cNvSpPr txBox="1"/>
            <p:nvPr/>
          </p:nvSpPr>
          <p:spPr>
            <a:xfrm>
              <a:off x="528447" y="6581299"/>
              <a:ext cx="174475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设计模式概述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17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204966" cy="909257"/>
            <a:chOff x="520446" y="342900"/>
            <a:chExt cx="6204966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854642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70371" y="407194"/>
              <a:ext cx="278165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03 设计模式概述 · GoF 23 个模式的分类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204966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结构型模式：把类和对象拼成更大的结构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6161" y="1547336"/>
            <a:ext cx="7278573" cy="278702"/>
            <a:chOff x="526161" y="1547336"/>
            <a:chExt cx="7278573" cy="278702"/>
          </a:xfrm>
        </p:grpSpPr>
        <p:sp>
          <p:nvSpPr>
            <p:cNvPr id="7" name="TextBox 7"/>
            <p:cNvSpPr txBox="1"/>
            <p:nvPr/>
          </p:nvSpPr>
          <p:spPr>
            <a:xfrm>
              <a:off x="526161" y="1547336"/>
              <a:ext cx="727857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结构型模式讨论怎样组合类或对象以获得更大的结构，重点是接口与实现之间怎么搭。</a:t>
              </a:r>
            </a:p>
          </p:txBody>
        </p:sp>
      </p:grpSp>
      <p:grpSp>
        <p:nvGrpSpPr>
          <p:cNvPr id="46" name="c1-table-1"/>
          <p:cNvGrpSpPr/>
          <p:nvPr/>
        </p:nvGrpSpPr>
        <p:grpSpPr>
          <a:xfrm>
            <a:off x="533400" y="1941195"/>
            <a:ext cx="11125200" cy="3646170"/>
            <a:chOff x="533400" y="1941195"/>
            <a:chExt cx="11125200" cy="3646170"/>
          </a:xfrm>
        </p:grpSpPr>
        <p:sp>
          <p:nvSpPr>
            <p:cNvPr id="9" name="Rectangle 9"/>
            <p:cNvSpPr/>
            <p:nvPr/>
          </p:nvSpPr>
          <p:spPr>
            <a:xfrm>
              <a:off x="533400" y="1941195"/>
              <a:ext cx="11125200" cy="40576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1489431" y="2065496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模式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5045646" y="2065496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一句话作用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9344952" y="2065496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它让什么可以变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633412" y="2571274"/>
              <a:ext cx="112606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适配器 Adapter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2858452" y="2471261"/>
              <a:ext cx="4847590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把一个类的接口转换成客户希望的另一个接口，让原本接口不兼容的类能一起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工作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8198167" y="2571274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对象对外的接口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533400" y="2947988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533400" y="2952750"/>
              <a:ext cx="11125200" cy="40576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633412" y="3077051"/>
              <a:ext cx="8483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桥接 Bridge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2858452" y="3077051"/>
              <a:ext cx="34792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把抽象部分与实现部分分离，使它们都可以独立变化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8198167" y="3077051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对象的实现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533400" y="3353752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633412" y="3582829"/>
              <a:ext cx="114138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组合 Composite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2858452" y="3482816"/>
              <a:ext cx="4847590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把对象组合成树形结构表示整体与部分，使客户对单个对象和组合对象的使用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一致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8198167" y="3582829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对象的结构与组成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533400" y="3959542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6" name="Rectangle 26"/>
            <p:cNvSpPr/>
            <p:nvPr/>
          </p:nvSpPr>
          <p:spPr>
            <a:xfrm>
              <a:off x="533400" y="3964305"/>
              <a:ext cx="11125200" cy="40576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633412" y="4088606"/>
              <a:ext cx="11493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装饰 Decorator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2858452" y="4088606"/>
              <a:ext cx="31776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动态地给对象添加额外职责，比生成子类更灵活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8198167" y="4088606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对象的职责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533400" y="4365308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633412" y="4494371"/>
              <a:ext cx="8882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外观 Facade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2858452" y="4494371"/>
              <a:ext cx="468543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为子系统中的一组接口提供一个一致的高层界面，让子系统更容易使用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8198167" y="4494371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子系统对外的接口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533400" y="4771072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5" name="Rectangle 35"/>
            <p:cNvSpPr/>
            <p:nvPr/>
          </p:nvSpPr>
          <p:spPr>
            <a:xfrm>
              <a:off x="533400" y="4775835"/>
              <a:ext cx="11125200" cy="40576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633412" y="4900136"/>
              <a:ext cx="110155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享元 Flyweight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2858452" y="4900136"/>
              <a:ext cx="36300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运用共享技术有效支持大量细粒度对象，减少内存开销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8198167" y="4900136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对象的存储开销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533400" y="5176838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633412" y="5305901"/>
              <a:ext cx="8013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代理 Proxy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2858452" y="5305901"/>
              <a:ext cx="332846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为其他对象提供一种代理以控制对这个对象的访问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8198167" y="5305901"/>
              <a:ext cx="1519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访问对象的方式与位置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533400" y="1941195"/>
              <a:ext cx="11125200" cy="364617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44" name="Rectangle 44"/>
            <p:cNvSpPr/>
            <p:nvPr/>
          </p:nvSpPr>
          <p:spPr>
            <a:xfrm>
              <a:off x="2753678" y="1941195"/>
              <a:ext cx="9525" cy="364617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5" name="Rectangle 45"/>
            <p:cNvSpPr/>
            <p:nvPr/>
          </p:nvSpPr>
          <p:spPr>
            <a:xfrm>
              <a:off x="8093392" y="1941195"/>
              <a:ext cx="9525" cy="364617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52" name="takeaway"/>
          <p:cNvGrpSpPr/>
          <p:nvPr/>
        </p:nvGrpSpPr>
        <p:grpSpPr>
          <a:xfrm>
            <a:off x="533400" y="5874068"/>
            <a:ext cx="11125200" cy="488632"/>
            <a:chOff x="533400" y="5874068"/>
            <a:chExt cx="11125200" cy="488632"/>
          </a:xfrm>
        </p:grpSpPr>
        <p:sp>
          <p:nvSpPr>
            <p:cNvPr id="47" name="Rectangle 47"/>
            <p:cNvSpPr/>
            <p:nvPr/>
          </p:nvSpPr>
          <p:spPr>
            <a:xfrm>
              <a:off x="533400" y="5874068"/>
              <a:ext cx="11125200" cy="488632"/>
            </a:xfrm>
            <a:prstGeom prst="roundRect">
              <a:avLst>
                <a:gd name="adj" fmla="val 23392"/>
              </a:avLst>
            </a:prstGeom>
            <a:solidFill>
              <a:srgbClr val="5B3FA0"/>
            </a:solidFill>
            <a:ln>
              <a:noFill/>
            </a:ln>
          </p:spPr>
        </p:sp>
        <p:grpSp>
          <p:nvGrpSpPr>
            <p:cNvPr id="50" name="Group 50"/>
            <p:cNvGrpSpPr/>
            <p:nvPr/>
          </p:nvGrpSpPr>
          <p:grpSpPr>
            <a:xfrm>
              <a:off x="738188" y="6017897"/>
              <a:ext cx="200023" cy="200023"/>
              <a:chOff x="738188" y="6017897"/>
              <a:chExt cx="200023" cy="200023"/>
            </a:xfrm>
          </p:grpSpPr>
          <p:sp>
            <p:nvSpPr>
              <p:cNvPr id="48" name="Freeform 48"/>
              <p:cNvSpPr/>
              <p:nvPr/>
            </p:nvSpPr>
            <p:spPr>
              <a:xfrm>
                <a:off x="738188" y="6017897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49" name="Freeform 49"/>
              <p:cNvSpPr/>
              <p:nvPr/>
            </p:nvSpPr>
            <p:spPr>
              <a:xfrm>
                <a:off x="871538" y="608457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51" name="TextBox 51"/>
            <p:cNvSpPr txBox="1"/>
            <p:nvPr/>
          </p:nvSpPr>
          <p:spPr>
            <a:xfrm>
              <a:off x="1040892" y="6023610"/>
              <a:ext cx="819188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结构型里最容易混的是装饰与代理：装饰为了加功能且能层层包，代理为了控制访问且一般只包一层。</a:t>
              </a:r>
            </a:p>
          </p:txBody>
        </p:sp>
      </p:grpSp>
      <p:grpSp>
        <p:nvGrpSpPr>
          <p:cNvPr id="55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3" name="TextBox 53"/>
            <p:cNvSpPr txBox="1"/>
            <p:nvPr/>
          </p:nvSpPr>
          <p:spPr>
            <a:xfrm>
              <a:off x="528447" y="6581299"/>
              <a:ext cx="174475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设计模式概述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891528" cy="909257"/>
            <a:chOff x="520446" y="342900"/>
            <a:chExt cx="6891528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854642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70371" y="407194"/>
              <a:ext cx="278165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03 设计模式概述 · GoF 23 个模式的分类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891528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行为型模式（上）：请求怎么走、状态怎么存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6161" y="1547336"/>
            <a:ext cx="9075481" cy="278702"/>
            <a:chOff x="526161" y="1547336"/>
            <a:chExt cx="9075481" cy="278702"/>
          </a:xfrm>
        </p:grpSpPr>
        <p:sp>
          <p:nvSpPr>
            <p:cNvPr id="7" name="TextBox 7"/>
            <p:cNvSpPr txBox="1"/>
            <p:nvPr/>
          </p:nvSpPr>
          <p:spPr>
            <a:xfrm>
              <a:off x="526161" y="1547336"/>
              <a:ext cx="907548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行为型模式描述对象之间怎样交互、怎样分配职责，关心的是运行时的控制流与消息流。11 个分两页列出。</a:t>
              </a:r>
            </a:p>
          </p:txBody>
        </p:sp>
      </p:grpSp>
      <p:grpSp>
        <p:nvGrpSpPr>
          <p:cNvPr id="42" name="c1-table-1"/>
          <p:cNvGrpSpPr/>
          <p:nvPr/>
        </p:nvGrpSpPr>
        <p:grpSpPr>
          <a:xfrm>
            <a:off x="533400" y="1941195"/>
            <a:ext cx="11125200" cy="3040380"/>
            <a:chOff x="533400" y="1941195"/>
            <a:chExt cx="11125200" cy="3040380"/>
          </a:xfrm>
        </p:grpSpPr>
        <p:sp>
          <p:nvSpPr>
            <p:cNvPr id="9" name="Rectangle 9"/>
            <p:cNvSpPr/>
            <p:nvPr/>
          </p:nvSpPr>
          <p:spPr>
            <a:xfrm>
              <a:off x="533400" y="1941195"/>
              <a:ext cx="11125200" cy="40576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1489431" y="2065496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模式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5045646" y="2065496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一句话作用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9344952" y="2065496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它让什么可以变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633412" y="2471261"/>
              <a:ext cx="1065428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职责链 Chain of</a:t>
              </a:r>
              <a:br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Responsibility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2858452" y="2571274"/>
              <a:ext cx="393156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让多个对象都有机会处理请求，请求沿链传递直到有人处理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8198167" y="2571274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谁来处理这个请求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533400" y="2947988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533400" y="2952750"/>
              <a:ext cx="11125200" cy="40576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633412" y="3077051"/>
              <a:ext cx="10391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命令 Command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2858452" y="3077051"/>
              <a:ext cx="37807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把请求封装成对象，从而支持排队、记录日志和撤销操作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8198167" y="3077051"/>
              <a:ext cx="1519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请求何时、如何被执行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533400" y="3353752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633412" y="3482816"/>
              <a:ext cx="143443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解释器 Interpreter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2858452" y="3482816"/>
              <a:ext cx="43838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给定一个语言，定义它的文法表示，并定义一个解释器来解释句子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8198167" y="3482816"/>
              <a:ext cx="1519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语言的文法与解释方式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533400" y="3759518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6" name="Rectangle 26"/>
            <p:cNvSpPr/>
            <p:nvPr/>
          </p:nvSpPr>
          <p:spPr>
            <a:xfrm>
              <a:off x="533400" y="3764280"/>
              <a:ext cx="11125200" cy="40576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633412" y="3888581"/>
              <a:ext cx="11732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迭代器 Iterator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2858452" y="3888581"/>
              <a:ext cx="423311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提供顺序访问聚合对象元素的方法，又不暴露该对象的内部表示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8198167" y="3888581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遍历聚合的方式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533400" y="4165282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633412" y="4294346"/>
              <a:ext cx="120511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中介者 Mediator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2858452" y="4294346"/>
              <a:ext cx="468543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用一个中介对象封装一系列对象的交互，使各对象不必显式地相互引用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8198167" y="4294346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对象之间如何交互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533400" y="4571048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5" name="Rectangle 35"/>
            <p:cNvSpPr/>
            <p:nvPr/>
          </p:nvSpPr>
          <p:spPr>
            <a:xfrm>
              <a:off x="533400" y="4575810"/>
              <a:ext cx="11125200" cy="40576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633412" y="4700111"/>
              <a:ext cx="118990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备忘录 Memento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2858452" y="4700111"/>
              <a:ext cx="43838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在不破坏封装的前提下捕获并保存对象的内部状态，以便以后恢复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8198167" y="4700111"/>
              <a:ext cx="166994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哪些私有状态被存到外部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533400" y="1941195"/>
              <a:ext cx="11125200" cy="304038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40" name="Rectangle 40"/>
            <p:cNvSpPr/>
            <p:nvPr/>
          </p:nvSpPr>
          <p:spPr>
            <a:xfrm>
              <a:off x="2753678" y="1941195"/>
              <a:ext cx="9525" cy="304038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1" name="Rectangle 41"/>
            <p:cNvSpPr/>
            <p:nvPr/>
          </p:nvSpPr>
          <p:spPr>
            <a:xfrm>
              <a:off x="8093392" y="1941195"/>
              <a:ext cx="9525" cy="304038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49" name="c1-callout-2"/>
          <p:cNvGrpSpPr/>
          <p:nvPr/>
        </p:nvGrpSpPr>
        <p:grpSpPr>
          <a:xfrm>
            <a:off x="533400" y="5156835"/>
            <a:ext cx="11125200" cy="488632"/>
            <a:chOff x="533400" y="5156835"/>
            <a:chExt cx="11125200" cy="488632"/>
          </a:xfrm>
        </p:grpSpPr>
        <p:sp>
          <p:nvSpPr>
            <p:cNvPr id="43" name="Rectangle 43"/>
            <p:cNvSpPr/>
            <p:nvPr/>
          </p:nvSpPr>
          <p:spPr>
            <a:xfrm>
              <a:off x="533400" y="5156835"/>
              <a:ext cx="11125200" cy="488632"/>
            </a:xfrm>
            <a:prstGeom prst="roundRect">
              <a:avLst>
                <a:gd name="adj" fmla="val 23392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47" name="Group 47"/>
            <p:cNvGrpSpPr/>
            <p:nvPr/>
          </p:nvGrpSpPr>
          <p:grpSpPr>
            <a:xfrm>
              <a:off x="738188" y="5301615"/>
              <a:ext cx="200026" cy="200025"/>
              <a:chOff x="738188" y="5301615"/>
              <a:chExt cx="200026" cy="200025"/>
            </a:xfrm>
          </p:grpSpPr>
          <p:sp>
            <p:nvSpPr>
              <p:cNvPr id="44" name="Freeform 44"/>
              <p:cNvSpPr/>
              <p:nvPr/>
            </p:nvSpPr>
            <p:spPr>
              <a:xfrm>
                <a:off x="738188" y="5301615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45" name="Freeform 45"/>
              <p:cNvSpPr/>
              <p:nvPr/>
            </p:nvSpPr>
            <p:spPr>
              <a:xfrm>
                <a:off x="777926" y="5346065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46" name="Freeform 46"/>
              <p:cNvSpPr/>
              <p:nvPr/>
            </p:nvSpPr>
            <p:spPr>
              <a:xfrm>
                <a:off x="812642" y="5457191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48" name="TextBox 48"/>
            <p:cNvSpPr txBox="1"/>
            <p:nvPr/>
          </p:nvSpPr>
          <p:spPr>
            <a:xfrm>
              <a:off x="1040892" y="5307330"/>
              <a:ext cx="821005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这六个里有四个都在处理“一个请求或一次访问该交给谁”，职责链、命令、中介者常被放在一起比较。</a:t>
              </a:r>
            </a:p>
          </p:txBody>
        </p:sp>
      </p:grpSp>
      <p:grpSp>
        <p:nvGrpSpPr>
          <p:cNvPr id="56" name="takeaway"/>
          <p:cNvGrpSpPr/>
          <p:nvPr/>
        </p:nvGrpSpPr>
        <p:grpSpPr>
          <a:xfrm>
            <a:off x="533400" y="5874068"/>
            <a:ext cx="11125200" cy="488632"/>
            <a:chOff x="533400" y="5874068"/>
            <a:chExt cx="11125200" cy="488632"/>
          </a:xfrm>
        </p:grpSpPr>
        <p:sp>
          <p:nvSpPr>
            <p:cNvPr id="50" name="Rectangle 50"/>
            <p:cNvSpPr/>
            <p:nvPr/>
          </p:nvSpPr>
          <p:spPr>
            <a:xfrm>
              <a:off x="533400" y="5874068"/>
              <a:ext cx="11125200" cy="488632"/>
            </a:xfrm>
            <a:prstGeom prst="roundRect">
              <a:avLst>
                <a:gd name="adj" fmla="val 23392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54" name="Group 54"/>
            <p:cNvGrpSpPr/>
            <p:nvPr/>
          </p:nvGrpSpPr>
          <p:grpSpPr>
            <a:xfrm>
              <a:off x="738188" y="6017895"/>
              <a:ext cx="200026" cy="200026"/>
              <a:chOff x="738188" y="6017895"/>
              <a:chExt cx="200026" cy="200026"/>
            </a:xfrm>
          </p:grpSpPr>
          <p:sp>
            <p:nvSpPr>
              <p:cNvPr id="51" name="Freeform 51"/>
              <p:cNvSpPr/>
              <p:nvPr/>
            </p:nvSpPr>
            <p:spPr>
              <a:xfrm>
                <a:off x="738188" y="6017895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52" name="Freeform 52"/>
              <p:cNvSpPr/>
              <p:nvPr/>
            </p:nvSpPr>
            <p:spPr>
              <a:xfrm>
                <a:off x="838200" y="608457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53" name="Freeform 53"/>
              <p:cNvSpPr/>
              <p:nvPr/>
            </p:nvSpPr>
            <p:spPr>
              <a:xfrm>
                <a:off x="827088" y="6117908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55" name="TextBox 55"/>
            <p:cNvSpPr txBox="1"/>
            <p:nvPr/>
          </p:nvSpPr>
          <p:spPr>
            <a:xfrm>
              <a:off x="1040892" y="6023610"/>
              <a:ext cx="655624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读行为型模式时重点看类图上的调用方向，谁持有谁的引用，而不是数类的个数。</a:t>
              </a:r>
            </a:p>
          </p:txBody>
        </p:sp>
      </p:grpSp>
      <p:grpSp>
        <p:nvGrpSpPr>
          <p:cNvPr id="5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7" name="TextBox 57"/>
            <p:cNvSpPr txBox="1"/>
            <p:nvPr/>
          </p:nvSpPr>
          <p:spPr>
            <a:xfrm>
              <a:off x="528447" y="6581299"/>
              <a:ext cx="174475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设计模式概述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19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891528" cy="909257"/>
            <a:chOff x="520446" y="342900"/>
            <a:chExt cx="6891528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854642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70371" y="407194"/>
              <a:ext cx="278165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03 设计模式概述 · GoF 23 个模式的分类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891528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行为型模式（下）：行为怎么随状态和算法变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6161" y="1547336"/>
            <a:ext cx="7278573" cy="278702"/>
            <a:chOff x="526161" y="1547336"/>
            <a:chExt cx="7278573" cy="278702"/>
          </a:xfrm>
        </p:grpSpPr>
        <p:sp>
          <p:nvSpPr>
            <p:cNvPr id="7" name="TextBox 7"/>
            <p:cNvSpPr txBox="1"/>
            <p:nvPr/>
          </p:nvSpPr>
          <p:spPr>
            <a:xfrm>
              <a:off x="526161" y="1547336"/>
              <a:ext cx="727857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后五个模式都在回答同一类问题：让一个对象的行为可以换掉，而调用它的代码不动。</a:t>
              </a:r>
            </a:p>
          </p:txBody>
        </p:sp>
      </p:grpSp>
      <p:grpSp>
        <p:nvGrpSpPr>
          <p:cNvPr id="37" name="c1-table-1"/>
          <p:cNvGrpSpPr/>
          <p:nvPr/>
        </p:nvGrpSpPr>
        <p:grpSpPr>
          <a:xfrm>
            <a:off x="533400" y="1941195"/>
            <a:ext cx="11125200" cy="2434590"/>
            <a:chOff x="533400" y="1941195"/>
            <a:chExt cx="11125200" cy="2434590"/>
          </a:xfrm>
        </p:grpSpPr>
        <p:sp>
          <p:nvSpPr>
            <p:cNvPr id="9" name="Rectangle 9"/>
            <p:cNvSpPr/>
            <p:nvPr/>
          </p:nvSpPr>
          <p:spPr>
            <a:xfrm>
              <a:off x="533400" y="1941195"/>
              <a:ext cx="11125200" cy="40576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1489431" y="2065496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模式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5045646" y="2065496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一句话作用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9344952" y="2065496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它让什么可以变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633412" y="2471261"/>
              <a:ext cx="12449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观察者 Observer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2858452" y="2471261"/>
              <a:ext cx="453466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定义一对多依赖，对象状态改变时自动通知并更新所有依赖它的对象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8198167" y="2471261"/>
              <a:ext cx="166994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依赖者的数量与更新方式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533400" y="2747962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533400" y="2752725"/>
              <a:ext cx="11125200" cy="40576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633412" y="2877026"/>
              <a:ext cx="8013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状态 State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2858452" y="2877026"/>
              <a:ext cx="43838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允许对象在内部状态改变时改变它的行为，看起来像修改了它的类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8198167" y="2877026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对象所处的状态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533400" y="3153728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633412" y="3282791"/>
              <a:ext cx="106231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策略 Strategy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2858452" y="3282791"/>
              <a:ext cx="332846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定义一系列算法并逐个封装，使它们可以相互替换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8198167" y="3282791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算法本身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533400" y="3559492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6" name="Rectangle 26"/>
            <p:cNvSpPr/>
            <p:nvPr/>
          </p:nvSpPr>
          <p:spPr>
            <a:xfrm>
              <a:off x="533400" y="3564255"/>
              <a:ext cx="11125200" cy="40576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633412" y="3688556"/>
              <a:ext cx="19630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模板方法 Template Method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2858452" y="3688556"/>
              <a:ext cx="34792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在父类中定义算法骨架，把某些步骤延迟到子类实现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8198167" y="3688556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算法中的某些步骤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533400" y="3965258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633412" y="4094321"/>
              <a:ext cx="10462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访问者 Visitor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2858452" y="4094321"/>
              <a:ext cx="37807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在不改变元素类的前提下，定义作用于这些元素的新操作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8198167" y="4094321"/>
              <a:ext cx="1519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作用于对象结构的操作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533400" y="1941195"/>
              <a:ext cx="11125200" cy="243459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35" name="Rectangle 35"/>
            <p:cNvSpPr/>
            <p:nvPr/>
          </p:nvSpPr>
          <p:spPr>
            <a:xfrm>
              <a:off x="2753678" y="1941195"/>
              <a:ext cx="9525" cy="243459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6" name="Rectangle 36"/>
            <p:cNvSpPr/>
            <p:nvPr/>
          </p:nvSpPr>
          <p:spPr>
            <a:xfrm>
              <a:off x="8093392" y="1941195"/>
              <a:ext cx="9525" cy="243459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46" name="c1-kv-2"/>
          <p:cNvGrpSpPr/>
          <p:nvPr/>
        </p:nvGrpSpPr>
        <p:grpSpPr>
          <a:xfrm>
            <a:off x="526542" y="4573905"/>
            <a:ext cx="11132058" cy="1059370"/>
            <a:chOff x="526542" y="4573905"/>
            <a:chExt cx="11132058" cy="1059370"/>
          </a:xfrm>
        </p:grpSpPr>
        <p:sp>
          <p:nvSpPr>
            <p:cNvPr id="38" name="TextBox 38"/>
            <p:cNvSpPr txBox="1"/>
            <p:nvPr/>
          </p:nvSpPr>
          <p:spPr>
            <a:xfrm>
              <a:off x="526542" y="4573905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行为装进独立对象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2202942" y="4573905"/>
              <a:ext cx="546582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策略、状态、命令：把一段行为做成对象，运行期换对象就换了行为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533400" y="4862512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526542" y="4971098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行为留在继承体系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2202942" y="4971098"/>
              <a:ext cx="528408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模板方法、解释器：骨架写在父类，变化点交给子类，编译期定死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533400" y="5260658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526542" y="5369242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行为跨对象传递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2202942" y="5369242"/>
              <a:ext cx="601103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职责链、观察者、中介者、迭代器、访问者：行为发生在对象之间的走向上</a:t>
              </a:r>
            </a:p>
          </p:txBody>
        </p:sp>
      </p:grpSp>
      <p:grpSp>
        <p:nvGrpSpPr>
          <p:cNvPr id="52" name="takeaway"/>
          <p:cNvGrpSpPr/>
          <p:nvPr/>
        </p:nvGrpSpPr>
        <p:grpSpPr>
          <a:xfrm>
            <a:off x="533400" y="5874068"/>
            <a:ext cx="11125200" cy="488632"/>
            <a:chOff x="533400" y="5874068"/>
            <a:chExt cx="11125200" cy="488632"/>
          </a:xfrm>
        </p:grpSpPr>
        <p:sp>
          <p:nvSpPr>
            <p:cNvPr id="47" name="Rectangle 47"/>
            <p:cNvSpPr/>
            <p:nvPr/>
          </p:nvSpPr>
          <p:spPr>
            <a:xfrm>
              <a:off x="533400" y="5874068"/>
              <a:ext cx="11125200" cy="488632"/>
            </a:xfrm>
            <a:prstGeom prst="roundRect">
              <a:avLst>
                <a:gd name="adj" fmla="val 23392"/>
              </a:avLst>
            </a:prstGeom>
            <a:solidFill>
              <a:srgbClr val="5B3FA0"/>
            </a:solidFill>
            <a:ln>
              <a:noFill/>
            </a:ln>
          </p:spPr>
        </p:sp>
        <p:grpSp>
          <p:nvGrpSpPr>
            <p:cNvPr id="50" name="Group 50"/>
            <p:cNvGrpSpPr/>
            <p:nvPr/>
          </p:nvGrpSpPr>
          <p:grpSpPr>
            <a:xfrm>
              <a:off x="738188" y="6017897"/>
              <a:ext cx="200023" cy="200023"/>
              <a:chOff x="738188" y="6017897"/>
              <a:chExt cx="200023" cy="200023"/>
            </a:xfrm>
          </p:grpSpPr>
          <p:sp>
            <p:nvSpPr>
              <p:cNvPr id="48" name="Freeform 48"/>
              <p:cNvSpPr/>
              <p:nvPr/>
            </p:nvSpPr>
            <p:spPr>
              <a:xfrm>
                <a:off x="738188" y="6017897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49" name="Freeform 49"/>
              <p:cNvSpPr/>
              <p:nvPr/>
            </p:nvSpPr>
            <p:spPr>
              <a:xfrm>
                <a:off x="871538" y="608457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51" name="TextBox 51"/>
            <p:cNvSpPr txBox="1"/>
            <p:nvPr/>
          </p:nvSpPr>
          <p:spPr>
            <a:xfrm>
              <a:off x="1040892" y="6023610"/>
              <a:ext cx="79556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行为型占 11 个，是三类里最多的，也是后面课时最多的一块，原因是运行时分配职责的花样最多。</a:t>
              </a:r>
            </a:p>
          </p:txBody>
        </p:sp>
      </p:grpSp>
      <p:grpSp>
        <p:nvGrpSpPr>
          <p:cNvPr id="55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3" name="TextBox 53"/>
            <p:cNvSpPr txBox="1"/>
            <p:nvPr/>
          </p:nvSpPr>
          <p:spPr>
            <a:xfrm>
              <a:off x="528447" y="6581299"/>
              <a:ext cx="174475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设计模式概述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20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5B3FA0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EEEAF7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954033" y="2705100"/>
            <a:ext cx="1903933" cy="2305050"/>
            <a:chOff x="8954033" y="2705100"/>
            <a:chExt cx="1903933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954033" y="2705100"/>
              <a:ext cx="1903933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</p:grpSp>
      <p:grpSp>
        <p:nvGrpSpPr>
          <p:cNvPr id="16" name="section-title"/>
          <p:cNvGrpSpPr/>
          <p:nvPr/>
        </p:nvGrpSpPr>
        <p:grpSpPr>
          <a:xfrm>
            <a:off x="667512" y="1835468"/>
            <a:ext cx="4247007" cy="2997517"/>
            <a:chOff x="667512" y="1835468"/>
            <a:chExt cx="4247007" cy="299751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第四部分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3429000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怎么挑一个模式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423710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从问题和变化点出发，而不是从模式名出发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3888105"/>
              <a:ext cx="76200" cy="7620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3830955"/>
              <a:ext cx="10248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六步选择法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242435"/>
              <a:ext cx="76200" cy="7620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185285"/>
              <a:ext cx="20345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八种该重新设计的信号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" y="4596765"/>
              <a:ext cx="76200" cy="7620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6780" y="4539615"/>
              <a:ext cx="16306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容易混淆的模式对</a:t>
              </a:r>
            </a:p>
          </p:txBody>
        </p:sp>
      </p:grpSp>
      <p:grpSp>
        <p:nvGrpSpPr>
          <p:cNvPr id="1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7" name="TextBox 17"/>
            <p:cNvSpPr txBox="1"/>
            <p:nvPr/>
          </p:nvSpPr>
          <p:spPr>
            <a:xfrm>
              <a:off x="528447" y="6581299"/>
              <a:ext cx="174475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设计模式概述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2772156" cy="909257"/>
            <a:chOff x="520446" y="342900"/>
            <a:chExt cx="2772156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96502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4530" y="407194"/>
              <a:ext cx="237519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03 设计模式概述 · 怎么挑一个模式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2772156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选模式的六个步骤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780" y="1548765"/>
            <a:ext cx="7352348" cy="293370"/>
            <a:chOff x="525780" y="1548765"/>
            <a:chExt cx="7352348" cy="293370"/>
          </a:xfrm>
        </p:grpSpPr>
        <p:sp>
          <p:nvSpPr>
            <p:cNvPr id="7" name="TextBox 7"/>
            <p:cNvSpPr txBox="1"/>
            <p:nvPr/>
          </p:nvSpPr>
          <p:spPr>
            <a:xfrm>
              <a:off x="525780" y="1548765"/>
              <a:ext cx="735234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下面的顺序来自 GoF 原书第一章，重点在第五、第六步：先找变化点，再找模式。</a:t>
              </a:r>
            </a:p>
          </p:txBody>
        </p:sp>
      </p:grpSp>
      <p:grpSp>
        <p:nvGrpSpPr>
          <p:cNvPr id="34" name="c1-steps-1"/>
          <p:cNvGrpSpPr/>
          <p:nvPr/>
        </p:nvGrpSpPr>
        <p:grpSpPr>
          <a:xfrm>
            <a:off x="533400" y="1964055"/>
            <a:ext cx="4625340" cy="3652266"/>
            <a:chOff x="533400" y="1964055"/>
            <a:chExt cx="4625340" cy="3652266"/>
          </a:xfrm>
        </p:grpSpPr>
        <p:sp>
          <p:nvSpPr>
            <p:cNvPr id="9" name="Rectangle 9"/>
            <p:cNvSpPr/>
            <p:nvPr/>
          </p:nvSpPr>
          <p:spPr>
            <a:xfrm>
              <a:off x="666750" y="2106930"/>
              <a:ext cx="19050" cy="310419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0" name="Ellipse 10"/>
            <p:cNvSpPr/>
            <p:nvPr/>
          </p:nvSpPr>
          <p:spPr>
            <a:xfrm>
              <a:off x="533400" y="1964055"/>
              <a:ext cx="285750" cy="28575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627024" y="203787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533400" y="2585085"/>
              <a:ext cx="285750" cy="28575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627024" y="265890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33400" y="3206115"/>
              <a:ext cx="285750" cy="28575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627024" y="327993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533400" y="3826192"/>
              <a:ext cx="285750" cy="28575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627024" y="390001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18" name="Ellipse 18"/>
            <p:cNvSpPr/>
            <p:nvPr/>
          </p:nvSpPr>
          <p:spPr>
            <a:xfrm>
              <a:off x="533400" y="4447222"/>
              <a:ext cx="285750" cy="28575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627024" y="452104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533400" y="5068252"/>
              <a:ext cx="285750" cy="28575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627024" y="514207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45261" y="1996916"/>
              <a:ext cx="230840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弄清模式怎样解决设计问题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946404" y="2277428"/>
              <a:ext cx="372770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先读一两个完整例子，理解模式在什么场合帮上了忙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945261" y="2617946"/>
              <a:ext cx="195571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浏览各个模式的“意图”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946404" y="2898457"/>
              <a:ext cx="372770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意图一节最短也最能筛，先按语义接近程度圈出候选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945261" y="3238976"/>
              <a:ext cx="173492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研究模式之间的关联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946404" y="3519488"/>
              <a:ext cx="324307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模式不是孤立的，看它常和谁配合、被谁替代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945261" y="3860006"/>
              <a:ext cx="173492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比较目的相同的模式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946404" y="4140518"/>
              <a:ext cx="405079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创建型内部、结构型内部互相对照，差别往往只有一两点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945261" y="4480084"/>
              <a:ext cx="211724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检查引起重新设计的诱因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946404" y="4760595"/>
              <a:ext cx="29199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对照右表看自己的设计里有没有这些症状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945261" y="5101114"/>
              <a:ext cx="192608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找出设计中可变的方面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946404" y="5381625"/>
              <a:ext cx="421233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问一句：我希望什么东西以后可以改，而不用动现在的代码</a:t>
              </a:r>
            </a:p>
          </p:txBody>
        </p:sp>
      </p:grpSp>
      <p:grpSp>
        <p:nvGrpSpPr>
          <p:cNvPr id="46" name="c2-card-1"/>
          <p:cNvGrpSpPr/>
          <p:nvPr/>
        </p:nvGrpSpPr>
        <p:grpSpPr>
          <a:xfrm>
            <a:off x="6680835" y="1954530"/>
            <a:ext cx="4977765" cy="2253615"/>
            <a:chOff x="6680835" y="1954530"/>
            <a:chExt cx="4977765" cy="2253615"/>
          </a:xfrm>
        </p:grpSpPr>
        <p:sp>
          <p:nvSpPr>
            <p:cNvPr id="35" name="Rectangle 35"/>
            <p:cNvSpPr/>
            <p:nvPr/>
          </p:nvSpPr>
          <p:spPr>
            <a:xfrm>
              <a:off x="6680835" y="1954530"/>
              <a:ext cx="4977765" cy="2253615"/>
            </a:xfrm>
            <a:prstGeom prst="roundRect">
              <a:avLst>
                <a:gd name="adj" fmla="val 5917"/>
              </a:avLst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6" name="Rectangle 36"/>
            <p:cNvSpPr/>
            <p:nvPr/>
          </p:nvSpPr>
          <p:spPr>
            <a:xfrm>
              <a:off x="6884670" y="2158365"/>
              <a:ext cx="778192" cy="257175"/>
            </a:xfrm>
            <a:prstGeom prst="roundRect">
              <a:avLst>
                <a:gd name="adj" fmla="val 50000"/>
              </a:avLst>
            </a:prstGeom>
            <a:solidFill>
              <a:srgbClr val="462F80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6966979" y="2194084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关键一问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7770876" y="2197894"/>
              <a:ext cx="97028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封装变化点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6877431" y="2550319"/>
              <a:ext cx="416229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每个设计模式都在回答同一个问题：把什么东西抽出</a:t>
              </a:r>
              <a:br/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来，才能让它以后独立地变而不牵动别人。</a:t>
              </a:r>
            </a:p>
          </p:txBody>
        </p:sp>
        <p:sp>
          <p:nvSpPr>
            <p:cNvPr id="40" name="Ellipse 40"/>
            <p:cNvSpPr/>
            <p:nvPr/>
          </p:nvSpPr>
          <p:spPr>
            <a:xfrm>
              <a:off x="6892290" y="3201352"/>
              <a:ext cx="60960" cy="6096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7048881" y="3141821"/>
              <a:ext cx="2585585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 xml:space="preserve">变的是 </a:t>
              </a:r>
              <a:r>
                <a:rPr lang="zh-CN" sz="1420" b="1" dirty="0">
                  <a:solidFill>
                    <a:srgbClr val="FFD58A"/>
                  </a:solidFill>
                  <a:latin typeface="+mn-lt"/>
                  <a:ea typeface="+mn-ea"/>
                  <a:cs typeface="+mn-cs"/>
                </a:rPr>
                <a:t>产品种类</a:t>
              </a:r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 xml:space="preserve"> → 想想创建型</a:t>
              </a:r>
            </a:p>
          </p:txBody>
        </p:sp>
        <p:sp>
          <p:nvSpPr>
            <p:cNvPr id="42" name="Ellipse 42"/>
            <p:cNvSpPr/>
            <p:nvPr/>
          </p:nvSpPr>
          <p:spPr>
            <a:xfrm>
              <a:off x="6892290" y="3521392"/>
              <a:ext cx="60960" cy="6096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7048881" y="3461861"/>
              <a:ext cx="335022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 xml:space="preserve">变的是 </a:t>
              </a:r>
              <a:r>
                <a:rPr lang="zh-CN" sz="1420" b="1" dirty="0">
                  <a:solidFill>
                    <a:srgbClr val="FFD58A"/>
                  </a:solidFill>
                  <a:latin typeface="+mn-lt"/>
                  <a:ea typeface="+mn-ea"/>
                  <a:cs typeface="+mn-cs"/>
                </a:rPr>
                <a:t>接口或实现的搭配</a:t>
              </a:r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 xml:space="preserve"> → 想想结构型</a:t>
              </a:r>
            </a:p>
          </p:txBody>
        </p:sp>
        <p:sp>
          <p:nvSpPr>
            <p:cNvPr id="44" name="Ellipse 44"/>
            <p:cNvSpPr/>
            <p:nvPr/>
          </p:nvSpPr>
          <p:spPr>
            <a:xfrm>
              <a:off x="6892290" y="3841432"/>
              <a:ext cx="60960" cy="6096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7048881" y="3781901"/>
              <a:ext cx="430602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 xml:space="preserve">变的是 </a:t>
              </a:r>
              <a:r>
                <a:rPr lang="zh-CN" sz="1420" b="1" dirty="0">
                  <a:solidFill>
                    <a:srgbClr val="FFD58A"/>
                  </a:solidFill>
                  <a:latin typeface="+mn-lt"/>
                  <a:ea typeface="+mn-ea"/>
                  <a:cs typeface="+mn-cs"/>
                </a:rPr>
                <a:t>算法、流程、状态、通知对象</a:t>
              </a:r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 xml:space="preserve"> → 想想行为型</a:t>
              </a:r>
            </a:p>
          </p:txBody>
        </p:sp>
      </p:grpSp>
      <p:grpSp>
        <p:nvGrpSpPr>
          <p:cNvPr id="53" name="c2-callout-2"/>
          <p:cNvGrpSpPr/>
          <p:nvPr/>
        </p:nvGrpSpPr>
        <p:grpSpPr>
          <a:xfrm>
            <a:off x="6680835" y="4392930"/>
            <a:ext cx="4977765" cy="1214438"/>
            <a:chOff x="6680835" y="4392930"/>
            <a:chExt cx="4977765" cy="1214438"/>
          </a:xfrm>
        </p:grpSpPr>
        <p:sp>
          <p:nvSpPr>
            <p:cNvPr id="47" name="Rectangle 47"/>
            <p:cNvSpPr/>
            <p:nvPr/>
          </p:nvSpPr>
          <p:spPr>
            <a:xfrm>
              <a:off x="6680835" y="4392930"/>
              <a:ext cx="4977765" cy="1214438"/>
            </a:xfrm>
            <a:prstGeom prst="roundRect">
              <a:avLst>
                <a:gd name="adj" fmla="val 9412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51" name="Group 51"/>
            <p:cNvGrpSpPr/>
            <p:nvPr/>
          </p:nvGrpSpPr>
          <p:grpSpPr>
            <a:xfrm>
              <a:off x="6873564" y="4896921"/>
              <a:ext cx="224134" cy="192560"/>
              <a:chOff x="6873564" y="4896921"/>
              <a:chExt cx="224134" cy="192560"/>
            </a:xfrm>
          </p:grpSpPr>
          <p:sp>
            <p:nvSpPr>
              <p:cNvPr id="48" name="Freeform 48"/>
              <p:cNvSpPr/>
              <p:nvPr/>
            </p:nvSpPr>
            <p:spPr>
              <a:xfrm>
                <a:off x="6985635" y="4967288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49" name="Freeform 49"/>
              <p:cNvSpPr/>
              <p:nvPr/>
            </p:nvSpPr>
            <p:spPr>
              <a:xfrm>
                <a:off x="6873564" y="4896921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50" name="Freeform 50"/>
              <p:cNvSpPr/>
              <p:nvPr/>
            </p:nvSpPr>
            <p:spPr>
              <a:xfrm>
                <a:off x="6985635" y="5045076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52" name="TextBox 52"/>
            <p:cNvSpPr txBox="1"/>
            <p:nvPr/>
          </p:nvSpPr>
          <p:spPr>
            <a:xfrm>
              <a:off x="7187946" y="4769644"/>
              <a:ext cx="4081145" cy="5415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70"/>
                </a:lnSpc>
              </a:pPr>
              <a:r>
                <a:rPr lang="zh-CN" sz="142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不要从模式名倒推场景。先把“哪里会变、变了以后</a:t>
              </a:r>
              <a:br/>
              <a:r>
                <a:rPr lang="zh-CN" sz="142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要改几个地方”写下来，再去表里查。</a:t>
              </a:r>
            </a:p>
          </p:txBody>
        </p:sp>
      </p:grpSp>
      <p:grpSp>
        <p:nvGrpSpPr>
          <p:cNvPr id="60" name="takeaway"/>
          <p:cNvGrpSpPr/>
          <p:nvPr/>
        </p:nvGrpSpPr>
        <p:grpSpPr>
          <a:xfrm>
            <a:off x="533400" y="5844540"/>
            <a:ext cx="11125200" cy="518160"/>
            <a:chOff x="533400" y="5844540"/>
            <a:chExt cx="11125200" cy="518160"/>
          </a:xfrm>
        </p:grpSpPr>
        <p:sp>
          <p:nvSpPr>
            <p:cNvPr id="54" name="Rectangle 54"/>
            <p:cNvSpPr/>
            <p:nvPr/>
          </p:nvSpPr>
          <p:spPr>
            <a:xfrm>
              <a:off x="533400" y="5844540"/>
              <a:ext cx="11125200" cy="518160"/>
            </a:xfrm>
            <a:prstGeom prst="roundRect">
              <a:avLst>
                <a:gd name="adj" fmla="val 22059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58" name="Group 58"/>
            <p:cNvGrpSpPr/>
            <p:nvPr/>
          </p:nvGrpSpPr>
          <p:grpSpPr>
            <a:xfrm>
              <a:off x="738188" y="6003608"/>
              <a:ext cx="200026" cy="200026"/>
              <a:chOff x="738188" y="6003608"/>
              <a:chExt cx="200026" cy="200026"/>
            </a:xfrm>
          </p:grpSpPr>
          <p:sp>
            <p:nvSpPr>
              <p:cNvPr id="55" name="Freeform 55"/>
              <p:cNvSpPr/>
              <p:nvPr/>
            </p:nvSpPr>
            <p:spPr>
              <a:xfrm>
                <a:off x="738188" y="6003608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56" name="Freeform 56"/>
              <p:cNvSpPr/>
              <p:nvPr/>
            </p:nvSpPr>
            <p:spPr>
              <a:xfrm>
                <a:off x="838200" y="607028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57" name="Freeform 57"/>
              <p:cNvSpPr/>
              <p:nvPr/>
            </p:nvSpPr>
            <p:spPr>
              <a:xfrm>
                <a:off x="827088" y="6103620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59" name="TextBox 59"/>
            <p:cNvSpPr txBox="1"/>
            <p:nvPr/>
          </p:nvSpPr>
          <p:spPr>
            <a:xfrm>
              <a:off x="1040511" y="6004084"/>
              <a:ext cx="670509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前三讲学的设计原则给的是判断标准，这一讲给的是候选清单，两者配合使用。</a:t>
              </a:r>
            </a:p>
          </p:txBody>
        </p:sp>
      </p:grpSp>
      <p:grpSp>
        <p:nvGrpSpPr>
          <p:cNvPr id="63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1" name="TextBox 61"/>
            <p:cNvSpPr txBox="1"/>
            <p:nvPr/>
          </p:nvSpPr>
          <p:spPr>
            <a:xfrm>
              <a:off x="528447" y="6581299"/>
              <a:ext cx="174475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设计模式概述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548247" cy="909257"/>
            <a:chOff x="520446" y="342900"/>
            <a:chExt cx="6548247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96502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4530" y="407194"/>
              <a:ext cx="237519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03 设计模式概述 · 怎么挑一个模式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548247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按症状查模式：八种该考虑重新设计的信号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6161" y="1547336"/>
            <a:ext cx="5940450" cy="278702"/>
            <a:chOff x="526161" y="1547336"/>
            <a:chExt cx="5940450" cy="278702"/>
          </a:xfrm>
        </p:grpSpPr>
        <p:sp>
          <p:nvSpPr>
            <p:cNvPr id="7" name="TextBox 7"/>
            <p:cNvSpPr txBox="1"/>
            <p:nvPr/>
          </p:nvSpPr>
          <p:spPr>
            <a:xfrm>
              <a:off x="526161" y="1547336"/>
              <a:ext cx="594045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下面每一行都是一种把设计做僵的写法，右边是通常能解开它的模式。</a:t>
              </a:r>
            </a:p>
          </p:txBody>
        </p:sp>
      </p:grpSp>
      <p:grpSp>
        <p:nvGrpSpPr>
          <p:cNvPr id="52" name="c1-table-1"/>
          <p:cNvGrpSpPr/>
          <p:nvPr/>
        </p:nvGrpSpPr>
        <p:grpSpPr>
          <a:xfrm>
            <a:off x="533400" y="1941195"/>
            <a:ext cx="11125200" cy="3651885"/>
            <a:chOff x="533400" y="1941195"/>
            <a:chExt cx="11125200" cy="3651885"/>
          </a:xfrm>
        </p:grpSpPr>
        <p:sp>
          <p:nvSpPr>
            <p:cNvPr id="9" name="Rectangle 9"/>
            <p:cNvSpPr/>
            <p:nvPr/>
          </p:nvSpPr>
          <p:spPr>
            <a:xfrm>
              <a:off x="533400" y="1941195"/>
              <a:ext cx="11125200" cy="40576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1712316" y="2065496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症状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4934204" y="2065496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为什么会僵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9237739" y="2065496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候选模式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633412" y="2471261"/>
              <a:ext cx="166994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显式指定类名来创建对象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303270" y="2471261"/>
              <a:ext cx="27253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客户端被具体类绑死，换实现要改调用处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531417" y="2471261"/>
              <a:ext cx="18207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抽象工厂、工厂方法、原型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533400" y="2747962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533400" y="2752725"/>
              <a:ext cx="11125200" cy="40576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633412" y="2877026"/>
              <a:ext cx="13684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依赖于某个特定操作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3303270" y="2877026"/>
              <a:ext cx="28761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请求的处理方式写死在一处，换方式就得改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7531417" y="2877026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职责链、命令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533400" y="3153728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633412" y="3282791"/>
              <a:ext cx="13684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依赖硬件或软件平台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3303270" y="3282791"/>
              <a:ext cx="13684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换平台要动大量代码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531417" y="3282791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抽象工厂、桥接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533400" y="3559492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6" name="Rectangle 26"/>
            <p:cNvSpPr/>
            <p:nvPr/>
          </p:nvSpPr>
          <p:spPr>
            <a:xfrm>
              <a:off x="533400" y="3564255"/>
              <a:ext cx="11125200" cy="40576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633412" y="3688556"/>
              <a:ext cx="1519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依赖对象的表示或实现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3303270" y="3688556"/>
              <a:ext cx="302691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客户知道对象的内部表示，内部一改客户就崩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7531417" y="3688556"/>
              <a:ext cx="21222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抽象工厂、桥接、备忘录、代理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533400" y="3965258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633412" y="4094321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依赖某个算法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3303270" y="4094321"/>
              <a:ext cx="28761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算法在调用处写死，换算法要改使用它的类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7531417" y="4094321"/>
              <a:ext cx="28761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建造者、迭代器、策略、模板方法、访问者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533400" y="4371022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5" name="Rectangle 35"/>
            <p:cNvSpPr/>
            <p:nvPr/>
          </p:nvSpPr>
          <p:spPr>
            <a:xfrm>
              <a:off x="533400" y="4375785"/>
              <a:ext cx="11125200" cy="40576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633412" y="4500086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紧耦合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3303270" y="4500086"/>
              <a:ext cx="28761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类之间互相直接引用，很难单独复用或替换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7531417" y="4500086"/>
              <a:ext cx="37807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抽象工厂、桥接、职责链、命令、外观、中介者、观察者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533400" y="4776788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633412" y="4905851"/>
              <a:ext cx="1519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靠生成子类来扩展功能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3303270" y="4905851"/>
              <a:ext cx="27253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每加一种组合就多一个子类，类数量爆炸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7440930" y="4791075"/>
              <a:ext cx="4208145" cy="386715"/>
            </a:xfrm>
            <a:prstGeom prst="rect">
              <a:avLst/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7531417" y="4905851"/>
              <a:ext cx="28761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桥接、职责链、组合、装饰、观察者、策略</a:t>
              </a:r>
            </a:p>
          </p:txBody>
        </p:sp>
        <p:sp>
          <p:nvSpPr>
            <p:cNvPr id="44" name="Rectangle 44"/>
            <p:cNvSpPr/>
            <p:nvPr/>
          </p:nvSpPr>
          <p:spPr>
            <a:xfrm>
              <a:off x="533400" y="5182552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5" name="Rectangle 45"/>
            <p:cNvSpPr/>
            <p:nvPr/>
          </p:nvSpPr>
          <p:spPr>
            <a:xfrm>
              <a:off x="533400" y="5187315"/>
              <a:ext cx="11125200" cy="40576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633412" y="5311616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不便修改的类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3303270" y="5311616"/>
              <a:ext cx="302691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源码拿不到或改不动（第三方库、遗留代码）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7531417" y="5311616"/>
              <a:ext cx="1519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适配器、装饰、访问者</a:t>
              </a:r>
            </a:p>
          </p:txBody>
        </p:sp>
        <p:sp>
          <p:nvSpPr>
            <p:cNvPr id="49" name="Rectangle 49"/>
            <p:cNvSpPr/>
            <p:nvPr/>
          </p:nvSpPr>
          <p:spPr>
            <a:xfrm>
              <a:off x="533400" y="1941195"/>
              <a:ext cx="11125200" cy="365188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50" name="Rectangle 50"/>
            <p:cNvSpPr/>
            <p:nvPr/>
          </p:nvSpPr>
          <p:spPr>
            <a:xfrm>
              <a:off x="3198495" y="1941195"/>
              <a:ext cx="9525" cy="365188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1" name="Rectangle 51"/>
            <p:cNvSpPr/>
            <p:nvPr/>
          </p:nvSpPr>
          <p:spPr>
            <a:xfrm>
              <a:off x="7426642" y="1941195"/>
              <a:ext cx="9525" cy="365188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58" name="takeaway"/>
          <p:cNvGrpSpPr/>
          <p:nvPr/>
        </p:nvGrpSpPr>
        <p:grpSpPr>
          <a:xfrm>
            <a:off x="533400" y="5874068"/>
            <a:ext cx="11125200" cy="488632"/>
            <a:chOff x="533400" y="5874068"/>
            <a:chExt cx="11125200" cy="488632"/>
          </a:xfrm>
        </p:grpSpPr>
        <p:sp>
          <p:nvSpPr>
            <p:cNvPr id="53" name="Rectangle 53"/>
            <p:cNvSpPr/>
            <p:nvPr/>
          </p:nvSpPr>
          <p:spPr>
            <a:xfrm>
              <a:off x="533400" y="5874068"/>
              <a:ext cx="11125200" cy="488632"/>
            </a:xfrm>
            <a:prstGeom prst="roundRect">
              <a:avLst>
                <a:gd name="adj" fmla="val 23392"/>
              </a:avLst>
            </a:prstGeom>
            <a:solidFill>
              <a:srgbClr val="5B3FA0"/>
            </a:solidFill>
            <a:ln>
              <a:noFill/>
            </a:ln>
          </p:spPr>
        </p:sp>
        <p:grpSp>
          <p:nvGrpSpPr>
            <p:cNvPr id="56" name="Group 56"/>
            <p:cNvGrpSpPr/>
            <p:nvPr/>
          </p:nvGrpSpPr>
          <p:grpSpPr>
            <a:xfrm>
              <a:off x="738188" y="6017897"/>
              <a:ext cx="200023" cy="200023"/>
              <a:chOff x="738188" y="6017897"/>
              <a:chExt cx="200023" cy="200023"/>
            </a:xfrm>
          </p:grpSpPr>
          <p:sp>
            <p:nvSpPr>
              <p:cNvPr id="54" name="Freeform 54"/>
              <p:cNvSpPr/>
              <p:nvPr/>
            </p:nvSpPr>
            <p:spPr>
              <a:xfrm>
                <a:off x="738188" y="6017897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55" name="Freeform 55"/>
              <p:cNvSpPr/>
              <p:nvPr/>
            </p:nvSpPr>
            <p:spPr>
              <a:xfrm>
                <a:off x="871538" y="608457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57" name="TextBox 57"/>
            <p:cNvSpPr txBox="1"/>
            <p:nvPr/>
          </p:nvSpPr>
          <p:spPr>
            <a:xfrm>
              <a:off x="1040892" y="6023610"/>
              <a:ext cx="782840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这张表是这一讲最实用的部分。做设计题时先在表里定位症状，再从候选里挑一个，理由就有了。</a:t>
              </a:r>
            </a:p>
          </p:txBody>
        </p:sp>
      </p:grpSp>
      <p:grpSp>
        <p:nvGrpSpPr>
          <p:cNvPr id="6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9" name="TextBox 59"/>
            <p:cNvSpPr txBox="1"/>
            <p:nvPr/>
          </p:nvSpPr>
          <p:spPr>
            <a:xfrm>
              <a:off x="528447" y="6581299"/>
              <a:ext cx="174475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设计模式概述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548247" cy="909257"/>
            <a:chOff x="520446" y="342900"/>
            <a:chExt cx="6548247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96502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4530" y="407194"/>
              <a:ext cx="237519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03 设计模式概述 · 怎么挑一个模式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548247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六组容易混淆的模式，先记住区别在哪一句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780" y="1548765"/>
            <a:ext cx="8294370" cy="293370"/>
            <a:chOff x="525780" y="1548765"/>
            <a:chExt cx="8294370" cy="293370"/>
          </a:xfrm>
        </p:grpSpPr>
        <p:sp>
          <p:nvSpPr>
            <p:cNvPr id="7" name="TextBox 7"/>
            <p:cNvSpPr txBox="1"/>
            <p:nvPr/>
          </p:nvSpPr>
          <p:spPr>
            <a:xfrm>
              <a:off x="525780" y="1548765"/>
              <a:ext cx="82943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这些成对的模式类图很像，区别不在结构而在用途。后面各讲会逐对展开，这里先立个索引。</a:t>
              </a:r>
            </a:p>
          </p:txBody>
        </p:sp>
      </p:grpSp>
      <p:grpSp>
        <p:nvGrpSpPr>
          <p:cNvPr id="43" name="c1-table-1"/>
          <p:cNvGrpSpPr/>
          <p:nvPr/>
        </p:nvGrpSpPr>
        <p:grpSpPr>
          <a:xfrm>
            <a:off x="533400" y="1954530"/>
            <a:ext cx="11125200" cy="3225165"/>
            <a:chOff x="533400" y="1954530"/>
            <a:chExt cx="11125200" cy="3225165"/>
          </a:xfrm>
        </p:grpSpPr>
        <p:sp>
          <p:nvSpPr>
            <p:cNvPr id="9" name="Rectangle 9"/>
            <p:cNvSpPr/>
            <p:nvPr/>
          </p:nvSpPr>
          <p:spPr>
            <a:xfrm>
              <a:off x="533400" y="1954530"/>
              <a:ext cx="11125200" cy="430530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1428178" y="2085975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一对模式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4331208" y="2085975"/>
              <a:ext cx="130454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结构上的相似之处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8831390" y="2085975"/>
              <a:ext cx="98145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区别的那一句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638746" y="2515552"/>
              <a:ext cx="149960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工厂方法 / 抽象工厂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086672" y="2515552"/>
              <a:ext cx="178917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都把创建推迟到工厂子类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090982" y="2515552"/>
              <a:ext cx="453542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工厂方法一次只造一个产品等级，抽象工厂一次造一族相关产品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533400" y="2809875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533400" y="2814638"/>
              <a:ext cx="11125200" cy="43053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638746" y="2946082"/>
              <a:ext cx="85343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策略 / 状态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3086672" y="2946082"/>
              <a:ext cx="259689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类图几乎一样，都是环境类持有接口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6995160" y="2824162"/>
              <a:ext cx="4653915" cy="411480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7090982" y="2946082"/>
              <a:ext cx="43738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策略由客户端挑算法，状态由状态对象自己决定切到哪个状态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533400" y="3240405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638746" y="3483292"/>
              <a:ext cx="85343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装饰 / 代理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3086672" y="3483292"/>
              <a:ext cx="243535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都持有被包装对象并实现同一接口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090982" y="3376612"/>
              <a:ext cx="4279392" cy="4480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80"/>
                </a:lnSpc>
              </a:pP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装饰为了加功能且能多层叠加，代理为了控制访问且通常只有一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层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533400" y="3883342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7" name="Rectangle 27"/>
            <p:cNvSpPr/>
            <p:nvPr/>
          </p:nvSpPr>
          <p:spPr>
            <a:xfrm>
              <a:off x="533400" y="3888105"/>
              <a:ext cx="11125200" cy="43053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38746" y="4019550"/>
              <a:ext cx="101497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适配器 / 桥接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3086672" y="4019550"/>
              <a:ext cx="195072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都在接口与实现之间插一层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7090982" y="4019550"/>
              <a:ext cx="453542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适配器是事后补救接口不兼容，桥接是事前把两个变化维度分开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533400" y="4313872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638746" y="4450080"/>
              <a:ext cx="85343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组合 / 装饰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3086672" y="4450080"/>
              <a:ext cx="146608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都用递归的对象结构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7090982" y="4450080"/>
              <a:ext cx="405079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组合表达整体与部分的树，装饰是单向包装链，只为增强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533400" y="4744402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6" name="Rectangle 36"/>
            <p:cNvSpPr/>
            <p:nvPr/>
          </p:nvSpPr>
          <p:spPr>
            <a:xfrm>
              <a:off x="533400" y="4749165"/>
              <a:ext cx="11125200" cy="43053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638746" y="4879658"/>
              <a:ext cx="117652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模板方法 / 策略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3086672" y="4879658"/>
              <a:ext cx="148224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都在处理“算法可变”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7090982" y="4879658"/>
              <a:ext cx="421233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模板方法用继承固定骨架，策略用组合在运行期换整套算法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533400" y="1954530"/>
              <a:ext cx="11125200" cy="3224212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41" name="Rectangle 41"/>
            <p:cNvSpPr/>
            <p:nvPr/>
          </p:nvSpPr>
          <p:spPr>
            <a:xfrm>
              <a:off x="2976562" y="1954530"/>
              <a:ext cx="9525" cy="322421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2" name="Rectangle 42"/>
            <p:cNvSpPr/>
            <p:nvPr/>
          </p:nvSpPr>
          <p:spPr>
            <a:xfrm>
              <a:off x="6980872" y="1954530"/>
              <a:ext cx="9525" cy="322421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50" name="takeaway"/>
          <p:cNvGrpSpPr/>
          <p:nvPr/>
        </p:nvGrpSpPr>
        <p:grpSpPr>
          <a:xfrm>
            <a:off x="533400" y="5844540"/>
            <a:ext cx="11125200" cy="518160"/>
            <a:chOff x="533400" y="5844540"/>
            <a:chExt cx="11125200" cy="518160"/>
          </a:xfrm>
        </p:grpSpPr>
        <p:sp>
          <p:nvSpPr>
            <p:cNvPr id="44" name="Rectangle 44"/>
            <p:cNvSpPr/>
            <p:nvPr/>
          </p:nvSpPr>
          <p:spPr>
            <a:xfrm>
              <a:off x="533400" y="5844540"/>
              <a:ext cx="11125200" cy="518160"/>
            </a:xfrm>
            <a:prstGeom prst="roundRect">
              <a:avLst>
                <a:gd name="adj" fmla="val 22059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48" name="Group 48"/>
            <p:cNvGrpSpPr/>
            <p:nvPr/>
          </p:nvGrpSpPr>
          <p:grpSpPr>
            <a:xfrm>
              <a:off x="738188" y="6003608"/>
              <a:ext cx="200026" cy="200026"/>
              <a:chOff x="738188" y="6003608"/>
              <a:chExt cx="200026" cy="200026"/>
            </a:xfrm>
          </p:grpSpPr>
          <p:sp>
            <p:nvSpPr>
              <p:cNvPr id="45" name="Freeform 45"/>
              <p:cNvSpPr/>
              <p:nvPr/>
            </p:nvSpPr>
            <p:spPr>
              <a:xfrm>
                <a:off x="738188" y="6003608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46" name="Freeform 46"/>
              <p:cNvSpPr/>
              <p:nvPr/>
            </p:nvSpPr>
            <p:spPr>
              <a:xfrm>
                <a:off x="838200" y="607028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47" name="Freeform 47"/>
              <p:cNvSpPr/>
              <p:nvPr/>
            </p:nvSpPr>
            <p:spPr>
              <a:xfrm>
                <a:off x="827088" y="6103620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49" name="TextBox 49"/>
            <p:cNvSpPr txBox="1"/>
            <p:nvPr/>
          </p:nvSpPr>
          <p:spPr>
            <a:xfrm>
              <a:off x="1040511" y="6004084"/>
              <a:ext cx="766089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判断题里常用这几对做陷阱，回答时先说用途差别，再说绑定时机（编译期还是运行期）。</a:t>
              </a:r>
            </a:p>
          </p:txBody>
        </p:sp>
      </p:grpSp>
      <p:grpSp>
        <p:nvGrpSpPr>
          <p:cNvPr id="53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1" name="TextBox 51"/>
            <p:cNvSpPr txBox="1"/>
            <p:nvPr/>
          </p:nvSpPr>
          <p:spPr>
            <a:xfrm>
              <a:off x="528447" y="6581299"/>
              <a:ext cx="174475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设计模式概述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5B3FA0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EEEAF7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954033" y="2705100"/>
            <a:ext cx="1903933" cy="2305050"/>
            <a:chOff x="8954033" y="2705100"/>
            <a:chExt cx="1903933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954033" y="2705100"/>
              <a:ext cx="1903933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05</a:t>
              </a:r>
            </a:p>
          </p:txBody>
        </p:sp>
      </p:grpSp>
      <p:grpSp>
        <p:nvGrpSpPr>
          <p:cNvPr id="16" name="section-title"/>
          <p:cNvGrpSpPr/>
          <p:nvPr/>
        </p:nvGrpSpPr>
        <p:grpSpPr>
          <a:xfrm>
            <a:off x="667512" y="1835468"/>
            <a:ext cx="5357622" cy="2997517"/>
            <a:chOff x="667512" y="1835468"/>
            <a:chExt cx="5357622" cy="299751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第五部分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3429000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模式与它的邻居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534771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架构模式、惯用法、框架、设计原则，各自的界限在哪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3888105"/>
              <a:ext cx="76200" cy="7620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3830955"/>
              <a:ext cx="12268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三个抽象层次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242435"/>
              <a:ext cx="76200" cy="7620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185285"/>
              <a:ext cx="12268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模式不是框架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" y="4596765"/>
              <a:ext cx="76200" cy="7620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6780" y="4539615"/>
              <a:ext cx="20345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原则是尺子模式是零件</a:t>
              </a:r>
            </a:p>
          </p:txBody>
        </p:sp>
      </p:grpSp>
      <p:grpSp>
        <p:nvGrpSpPr>
          <p:cNvPr id="1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7" name="TextBox 17"/>
            <p:cNvSpPr txBox="1"/>
            <p:nvPr/>
          </p:nvSpPr>
          <p:spPr>
            <a:xfrm>
              <a:off x="528447" y="6581299"/>
              <a:ext cx="174475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设计模式概述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891528" cy="909257"/>
            <a:chOff x="520446" y="342900"/>
            <a:chExt cx="6891528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96502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4530" y="407194"/>
              <a:ext cx="237519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03 设计模式概述 · 模式与它的邻居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891528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三个抽象层次：惯用法、设计模式、架构模式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399" y="1550194"/>
            <a:ext cx="7247788" cy="308039"/>
            <a:chOff x="525399" y="1550194"/>
            <a:chExt cx="7247788" cy="308039"/>
          </a:xfrm>
        </p:grpSpPr>
        <p:sp>
          <p:nvSpPr>
            <p:cNvPr id="7" name="TextBox 7"/>
            <p:cNvSpPr txBox="1"/>
            <p:nvPr/>
          </p:nvSpPr>
          <p:spPr>
            <a:xfrm>
              <a:off x="525399" y="1550194"/>
              <a:ext cx="7247788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同样叫模式，粒度差别很大。做题时要能按粒度把一个名词放到正确的层上。</a:t>
              </a:r>
            </a:p>
          </p:txBody>
        </p:sp>
      </p:grpSp>
      <p:grpSp>
        <p:nvGrpSpPr>
          <p:cNvPr id="34" name="c1-table-1"/>
          <p:cNvGrpSpPr/>
          <p:nvPr/>
        </p:nvGrpSpPr>
        <p:grpSpPr>
          <a:xfrm>
            <a:off x="533400" y="1967865"/>
            <a:ext cx="6059805" cy="2702242"/>
            <a:chOff x="533400" y="1967865"/>
            <a:chExt cx="6059805" cy="2702242"/>
          </a:xfrm>
        </p:grpSpPr>
        <p:sp>
          <p:nvSpPr>
            <p:cNvPr id="9" name="Rectangle 9"/>
            <p:cNvSpPr/>
            <p:nvPr/>
          </p:nvSpPr>
          <p:spPr>
            <a:xfrm>
              <a:off x="533400" y="1967865"/>
              <a:ext cx="6059805" cy="448628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900392" y="2102644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层次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2353907" y="2102644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粒度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3645675" y="2102644"/>
              <a:ext cx="104683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与语言的关系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5565737" y="2102644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例子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728078" y="2664619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架构模式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731836" y="2664619"/>
              <a:ext cx="15637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整个系统的组织结构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3990302" y="2664619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无关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5003673" y="2551271"/>
              <a:ext cx="1289050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分层、MVC、管道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过滤器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533400" y="3087052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9" name="Rectangle 19"/>
            <p:cNvSpPr/>
            <p:nvPr/>
          </p:nvSpPr>
          <p:spPr>
            <a:xfrm>
              <a:off x="533400" y="3091815"/>
              <a:ext cx="6059805" cy="675322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0" name="Rectangle 20"/>
            <p:cNvSpPr/>
            <p:nvPr/>
          </p:nvSpPr>
          <p:spPr>
            <a:xfrm>
              <a:off x="542925" y="3101340"/>
              <a:ext cx="1071562" cy="656272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728078" y="3340894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设计模式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731836" y="3340894"/>
              <a:ext cx="15637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几个类与对象的协作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3817988" y="3340894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基本无关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5003673" y="3227546"/>
              <a:ext cx="1313434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策略、观察者、代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理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533400" y="3762375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814235" y="4129564"/>
              <a:ext cx="52989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惯用法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1731836" y="4016216"/>
              <a:ext cx="1475994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一小段代码的固定写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法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3817988" y="4129564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紧密相关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5003673" y="3902869"/>
              <a:ext cx="1313434" cy="70275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Java 的</a:t>
              </a:r>
              <a:br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equals/hashCode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成对重写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533400" y="1967865"/>
              <a:ext cx="6059805" cy="2702242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31" name="Rectangle 31"/>
            <p:cNvSpPr/>
            <p:nvPr/>
          </p:nvSpPr>
          <p:spPr>
            <a:xfrm>
              <a:off x="1619250" y="1967865"/>
              <a:ext cx="9525" cy="270224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3437572" y="1967865"/>
              <a:ext cx="9525" cy="270224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3" name="Rectangle 33"/>
            <p:cNvSpPr/>
            <p:nvPr/>
          </p:nvSpPr>
          <p:spPr>
            <a:xfrm>
              <a:off x="4891088" y="1967865"/>
              <a:ext cx="9525" cy="270224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41" name="c1-bullets-2"/>
          <p:cNvGrpSpPr/>
          <p:nvPr/>
        </p:nvGrpSpPr>
        <p:grpSpPr>
          <a:xfrm>
            <a:off x="533400" y="4884420"/>
            <a:ext cx="5717858" cy="982980"/>
            <a:chOff x="533400" y="4884420"/>
            <a:chExt cx="5717858" cy="982980"/>
          </a:xfrm>
        </p:grpSpPr>
        <p:sp>
          <p:nvSpPr>
            <p:cNvPr id="35" name="Freeform 35"/>
            <p:cNvSpPr/>
            <p:nvPr/>
          </p:nvSpPr>
          <p:spPr>
            <a:xfrm>
              <a:off x="533400" y="4916805"/>
              <a:ext cx="143827" cy="116205"/>
            </a:xfrm>
            <a:custGeom>
              <a:avLst/>
              <a:gdLst/>
              <a:ahLst/>
              <a:cxnLst/>
              <a:rect l="l" t="t" r="r" b="b"/>
              <a:pathLst>
                <a:path w="143827" h="116205">
                  <a:moveTo>
                    <a:pt x="0" y="60960"/>
                  </a:moveTo>
                  <a:lnTo>
                    <a:pt x="55245" y="116205"/>
                  </a:lnTo>
                  <a:lnTo>
                    <a:pt x="143827" y="0"/>
                  </a:lnTo>
                </a:path>
              </a:pathLst>
            </a:custGeom>
            <a:noFill/>
            <a:ln w="24765" cap="rnd">
              <a:solidFill>
                <a:srgbClr val="14A38B"/>
              </a:solidFill>
              <a:round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783908" y="4884420"/>
              <a:ext cx="48615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设计模式在中间层，换一种面向对象语言基本还能照用</a:t>
              </a:r>
            </a:p>
          </p:txBody>
        </p:sp>
        <p:sp>
          <p:nvSpPr>
            <p:cNvPr id="37" name="Freeform 37"/>
            <p:cNvSpPr/>
            <p:nvPr/>
          </p:nvSpPr>
          <p:spPr>
            <a:xfrm>
              <a:off x="533400" y="5261610"/>
              <a:ext cx="143827" cy="116205"/>
            </a:xfrm>
            <a:custGeom>
              <a:avLst/>
              <a:gdLst/>
              <a:ahLst/>
              <a:cxnLst/>
              <a:rect l="l" t="t" r="r" b="b"/>
              <a:pathLst>
                <a:path w="143827" h="116205">
                  <a:moveTo>
                    <a:pt x="0" y="60960"/>
                  </a:moveTo>
                  <a:lnTo>
                    <a:pt x="55245" y="116205"/>
                  </a:lnTo>
                  <a:lnTo>
                    <a:pt x="143827" y="0"/>
                  </a:lnTo>
                </a:path>
              </a:pathLst>
            </a:custGeom>
            <a:noFill/>
            <a:ln w="24765" cap="rnd">
              <a:solidFill>
                <a:srgbClr val="14A38B"/>
              </a:solidFill>
              <a:round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783908" y="5229225"/>
              <a:ext cx="44577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惯用法换语言就失效，它是某种语言里的地道写法</a:t>
              </a:r>
            </a:p>
          </p:txBody>
        </p:sp>
        <p:sp>
          <p:nvSpPr>
            <p:cNvPr id="39" name="Freeform 39"/>
            <p:cNvSpPr/>
            <p:nvPr/>
          </p:nvSpPr>
          <p:spPr>
            <a:xfrm>
              <a:off x="533400" y="5606415"/>
              <a:ext cx="143827" cy="116205"/>
            </a:xfrm>
            <a:custGeom>
              <a:avLst/>
              <a:gdLst/>
              <a:ahLst/>
              <a:cxnLst/>
              <a:rect l="l" t="t" r="r" b="b"/>
              <a:pathLst>
                <a:path w="143827" h="116205">
                  <a:moveTo>
                    <a:pt x="0" y="60960"/>
                  </a:moveTo>
                  <a:lnTo>
                    <a:pt x="55245" y="116205"/>
                  </a:lnTo>
                  <a:lnTo>
                    <a:pt x="143827" y="0"/>
                  </a:lnTo>
                </a:path>
              </a:pathLst>
            </a:custGeom>
            <a:noFill/>
            <a:ln w="24765" cap="rnd">
              <a:solidFill>
                <a:srgbClr val="14A38B"/>
              </a:solidFill>
              <a:round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783908" y="5574030"/>
              <a:ext cx="54673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架构模式决定模块怎么切、数据怎么流，一个系统通常一两个</a:t>
              </a:r>
            </a:p>
          </p:txBody>
        </p:sp>
      </p:grpSp>
      <p:grpSp>
        <p:nvGrpSpPr>
          <p:cNvPr id="50" name="c2-card-1"/>
          <p:cNvGrpSpPr/>
          <p:nvPr/>
        </p:nvGrpSpPr>
        <p:grpSpPr>
          <a:xfrm>
            <a:off x="6898005" y="1967865"/>
            <a:ext cx="4760595" cy="2487930"/>
            <a:chOff x="6898005" y="1967865"/>
            <a:chExt cx="4760595" cy="2487930"/>
          </a:xfrm>
        </p:grpSpPr>
        <p:sp>
          <p:nvSpPr>
            <p:cNvPr id="42" name="Rectangle 42"/>
            <p:cNvSpPr/>
            <p:nvPr/>
          </p:nvSpPr>
          <p:spPr>
            <a:xfrm>
              <a:off x="6898005" y="1967865"/>
              <a:ext cx="4760595" cy="2487930"/>
            </a:xfrm>
            <a:prstGeom prst="roundRect">
              <a:avLst>
                <a:gd name="adj" fmla="val 5360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3" name="Rectangle 43"/>
            <p:cNvSpPr/>
            <p:nvPr/>
          </p:nvSpPr>
          <p:spPr>
            <a:xfrm>
              <a:off x="6907530" y="2101215"/>
              <a:ext cx="47625" cy="2221230"/>
            </a:xfrm>
            <a:prstGeom prst="roundRect">
              <a:avLst>
                <a:gd name="adj" fmla="val 50000"/>
              </a:avLst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44" name="Rectangle 44"/>
            <p:cNvSpPr/>
            <p:nvPr/>
          </p:nvSpPr>
          <p:spPr>
            <a:xfrm>
              <a:off x="7145655" y="2177415"/>
              <a:ext cx="778192" cy="257175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7227011" y="2213134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顺带一提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8030528" y="2212658"/>
              <a:ext cx="22364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软件模式的另外两个成员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7138035" y="2573655"/>
              <a:ext cx="38252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分析模式：针对业务领域建模中反复出现的结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构，例如“账户与交易”这类模型。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7138035" y="3194685"/>
              <a:ext cx="4015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过程模式：针对软件开发过程本身的反复做法，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例如代码评审、迭代计划的组织方式。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7139178" y="3811429"/>
              <a:ext cx="4093210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它们和设计模式一样，都是“某类问题的成熟解法”，只是</a:t>
              </a:r>
              <a:br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作用在不同阶段</a:t>
              </a:r>
            </a:p>
          </p:txBody>
        </p:sp>
      </p:grpSp>
      <p:grpSp>
        <p:nvGrpSpPr>
          <p:cNvPr id="57" name="c2-callout-2"/>
          <p:cNvGrpSpPr/>
          <p:nvPr/>
        </p:nvGrpSpPr>
        <p:grpSpPr>
          <a:xfrm>
            <a:off x="6898005" y="4645342"/>
            <a:ext cx="4760595" cy="1163002"/>
            <a:chOff x="6898005" y="4645342"/>
            <a:chExt cx="4760595" cy="1163002"/>
          </a:xfrm>
        </p:grpSpPr>
        <p:sp>
          <p:nvSpPr>
            <p:cNvPr id="51" name="Rectangle 51"/>
            <p:cNvSpPr/>
            <p:nvPr/>
          </p:nvSpPr>
          <p:spPr>
            <a:xfrm>
              <a:off x="6898005" y="4645342"/>
              <a:ext cx="4760595" cy="1163002"/>
            </a:xfrm>
            <a:prstGeom prst="roundRect">
              <a:avLst>
                <a:gd name="adj" fmla="val 9828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55" name="Group 55"/>
            <p:cNvGrpSpPr/>
            <p:nvPr/>
          </p:nvGrpSpPr>
          <p:grpSpPr>
            <a:xfrm>
              <a:off x="7102793" y="5127308"/>
              <a:ext cx="200026" cy="200025"/>
              <a:chOff x="7102793" y="5127308"/>
              <a:chExt cx="200026" cy="200025"/>
            </a:xfrm>
          </p:grpSpPr>
          <p:sp>
            <p:nvSpPr>
              <p:cNvPr id="52" name="Freeform 52"/>
              <p:cNvSpPr/>
              <p:nvPr/>
            </p:nvSpPr>
            <p:spPr>
              <a:xfrm>
                <a:off x="7102793" y="5127308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53" name="Freeform 53"/>
              <p:cNvSpPr/>
              <p:nvPr/>
            </p:nvSpPr>
            <p:spPr>
              <a:xfrm>
                <a:off x="7142531" y="5171758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54" name="Freeform 54"/>
              <p:cNvSpPr/>
              <p:nvPr/>
            </p:nvSpPr>
            <p:spPr>
              <a:xfrm>
                <a:off x="7177247" y="5282883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56" name="TextBox 56"/>
            <p:cNvSpPr txBox="1"/>
            <p:nvPr/>
          </p:nvSpPr>
          <p:spPr>
            <a:xfrm>
              <a:off x="7404735" y="4846320"/>
              <a:ext cx="3768090" cy="8458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本课程只讲中间那一层。看到“MVC 是不是设</a:t>
              </a:r>
              <a:br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计模式”这类问题，答案是它属于架构模式，</a:t>
              </a:r>
              <a:br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但内部用到了观察者、策略等设计模式。</a:t>
              </a:r>
            </a:p>
          </p:txBody>
        </p:sp>
      </p:grpSp>
      <p:grpSp>
        <p:nvGrpSpPr>
          <p:cNvPr id="60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8" name="TextBox 58"/>
            <p:cNvSpPr txBox="1"/>
            <p:nvPr/>
          </p:nvSpPr>
          <p:spPr>
            <a:xfrm>
              <a:off x="528447" y="6581299"/>
              <a:ext cx="174475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设计模式概述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4488561" cy="909257"/>
            <a:chOff x="520446" y="342900"/>
            <a:chExt cx="4488561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96502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4530" y="407194"/>
              <a:ext cx="237519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03 设计模式概述 · 模式与它的邻居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4488561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设计模式不是框架：三点区别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399" y="1550194"/>
            <a:ext cx="8311286" cy="308039"/>
            <a:chOff x="525399" y="1550194"/>
            <a:chExt cx="8311286" cy="308039"/>
          </a:xfrm>
        </p:grpSpPr>
        <p:sp>
          <p:nvSpPr>
            <p:cNvPr id="7" name="TextBox 7"/>
            <p:cNvSpPr txBox="1"/>
            <p:nvPr/>
          </p:nvSpPr>
          <p:spPr>
            <a:xfrm>
              <a:off x="525399" y="1550194"/>
              <a:ext cx="8311286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框架和模式都在讲复用，但复用的东西不一样：框架复用的是代码，模式复用的是设计。</a:t>
              </a:r>
            </a:p>
          </p:txBody>
        </p:sp>
      </p:grpSp>
      <p:grpSp>
        <p:nvGrpSpPr>
          <p:cNvPr id="22" name="c1-steps-1"/>
          <p:cNvGrpSpPr/>
          <p:nvPr/>
        </p:nvGrpSpPr>
        <p:grpSpPr>
          <a:xfrm>
            <a:off x="533400" y="1977390"/>
            <a:ext cx="5422671" cy="2347246"/>
            <a:chOff x="533400" y="1977390"/>
            <a:chExt cx="5422671" cy="2347246"/>
          </a:xfrm>
        </p:grpSpPr>
        <p:sp>
          <p:nvSpPr>
            <p:cNvPr id="9" name="Rectangle 9"/>
            <p:cNvSpPr/>
            <p:nvPr/>
          </p:nvSpPr>
          <p:spPr>
            <a:xfrm>
              <a:off x="666750" y="2120265"/>
              <a:ext cx="19050" cy="153638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0" name="Ellipse 10"/>
            <p:cNvSpPr/>
            <p:nvPr/>
          </p:nvSpPr>
          <p:spPr>
            <a:xfrm>
              <a:off x="533400" y="1977390"/>
              <a:ext cx="285750" cy="28575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627024" y="205120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533400" y="2862262"/>
              <a:ext cx="285750" cy="28575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627024" y="293608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33400" y="3512820"/>
              <a:ext cx="285750" cy="28575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627024" y="358663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944880" y="2011680"/>
              <a:ext cx="12268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抽象程度不同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46023" y="2304574"/>
              <a:ext cx="4889754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设计模式比框架更抽象。框架能用代码写出来并直接运行，模式只有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落到具体实例上才有代码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944880" y="2896552"/>
              <a:ext cx="22364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体系结构元素的大小不同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46023" y="3190399"/>
              <a:ext cx="501004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设计模式是比框架更小的元素，一个框架里往往包含多个设计模式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944880" y="3547110"/>
              <a:ext cx="12268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特化程度不同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946023" y="3840956"/>
              <a:ext cx="4962906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框架针对特定应用领域（如 Web 请求、持久化），设计模式与领域无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关</a:t>
              </a:r>
            </a:p>
          </p:txBody>
        </p:sp>
      </p:grpSp>
      <p:grpSp>
        <p:nvGrpSpPr>
          <p:cNvPr id="28" name="c1-callout-2"/>
          <p:cNvGrpSpPr/>
          <p:nvPr/>
        </p:nvGrpSpPr>
        <p:grpSpPr>
          <a:xfrm>
            <a:off x="533400" y="4503420"/>
            <a:ext cx="5626418" cy="1357312"/>
            <a:chOff x="533400" y="4503420"/>
            <a:chExt cx="5626418" cy="1357312"/>
          </a:xfrm>
        </p:grpSpPr>
        <p:sp>
          <p:nvSpPr>
            <p:cNvPr id="23" name="Rectangle 23"/>
            <p:cNvSpPr/>
            <p:nvPr/>
          </p:nvSpPr>
          <p:spPr>
            <a:xfrm>
              <a:off x="533400" y="4503420"/>
              <a:ext cx="5626418" cy="1357312"/>
            </a:xfrm>
            <a:prstGeom prst="roundRect">
              <a:avLst>
                <a:gd name="adj" fmla="val 8421"/>
              </a:avLst>
            </a:prstGeom>
            <a:solidFill>
              <a:srgbClr val="5B3FA0"/>
            </a:solidFill>
            <a:ln>
              <a:noFill/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38188" y="5081590"/>
              <a:ext cx="200023" cy="200023"/>
              <a:chOff x="738188" y="5081590"/>
              <a:chExt cx="200023" cy="200023"/>
            </a:xfrm>
          </p:grpSpPr>
          <p:sp>
            <p:nvSpPr>
              <p:cNvPr id="24" name="Freeform 24"/>
              <p:cNvSpPr/>
              <p:nvPr/>
            </p:nvSpPr>
            <p:spPr>
              <a:xfrm>
                <a:off x="738188" y="5081590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25" name="Freeform 25"/>
              <p:cNvSpPr/>
              <p:nvPr/>
            </p:nvSpPr>
            <p:spPr>
              <a:xfrm>
                <a:off x="871538" y="514826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27" name="TextBox 27"/>
            <p:cNvSpPr txBox="1"/>
            <p:nvPr/>
          </p:nvSpPr>
          <p:spPr>
            <a:xfrm>
              <a:off x="1040130" y="4939665"/>
              <a:ext cx="458724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关系是包含而不是并列：框架是半成品程序，它的设计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里用到了大量模式。</a:t>
              </a:r>
            </a:p>
          </p:txBody>
        </p:sp>
      </p:grpSp>
      <p:grpSp>
        <p:nvGrpSpPr>
          <p:cNvPr id="58" name="c2-table-1"/>
          <p:cNvGrpSpPr/>
          <p:nvPr/>
        </p:nvGrpSpPr>
        <p:grpSpPr>
          <a:xfrm>
            <a:off x="6464618" y="1967865"/>
            <a:ext cx="5193982" cy="2919412"/>
            <a:chOff x="6464618" y="1967865"/>
            <a:chExt cx="5193982" cy="2919412"/>
          </a:xfrm>
        </p:grpSpPr>
        <p:sp>
          <p:nvSpPr>
            <p:cNvPr id="29" name="Rectangle 29"/>
            <p:cNvSpPr/>
            <p:nvPr/>
          </p:nvSpPr>
          <p:spPr>
            <a:xfrm>
              <a:off x="6464618" y="1967865"/>
              <a:ext cx="5193982" cy="448628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823558" y="2102644"/>
              <a:ext cx="52989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对比项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8347126" y="2102644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设计模式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0493019" y="2102644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框架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6572441" y="2664619"/>
              <a:ext cx="52989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是什么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7819263" y="2664619"/>
              <a:ext cx="15637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一种设计方案的描述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9792843" y="2551271"/>
              <a:ext cx="1638554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一批可直接运行的类与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接口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6464618" y="3087052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6464618" y="3091815"/>
              <a:ext cx="5193982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6572441" y="3227546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形态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7819263" y="3227546"/>
              <a:ext cx="173609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文档、类图与示例代码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9792843" y="3227546"/>
              <a:ext cx="121914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可编译的代码库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6464618" y="3535680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6572441" y="3676174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领域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7819263" y="3676174"/>
              <a:ext cx="121914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与应用领域无关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9792843" y="3676174"/>
              <a:ext cx="121914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与特定领域绑定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6464618" y="3984308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6" name="Rectangle 46"/>
            <p:cNvSpPr/>
            <p:nvPr/>
          </p:nvSpPr>
          <p:spPr>
            <a:xfrm>
              <a:off x="6464618" y="3989070"/>
              <a:ext cx="5193982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6572441" y="412480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粒度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7819263" y="4124801"/>
              <a:ext cx="104683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几个类的协作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9792843" y="4124801"/>
              <a:ext cx="173609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整个子系统或应用骨架</a:t>
              </a:r>
            </a:p>
          </p:txBody>
        </p:sp>
        <p:sp>
          <p:nvSpPr>
            <p:cNvPr id="50" name="Rectangle 50"/>
            <p:cNvSpPr/>
            <p:nvPr/>
          </p:nvSpPr>
          <p:spPr>
            <a:xfrm>
              <a:off x="6464618" y="4433888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6572441" y="4573429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控制方向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7819263" y="4573429"/>
              <a:ext cx="15637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由你调用模式里的类</a:t>
              </a:r>
            </a:p>
          </p:txBody>
        </p:sp>
        <p:sp>
          <p:nvSpPr>
            <p:cNvPr id="53" name="Rectangle 53"/>
            <p:cNvSpPr/>
            <p:nvPr/>
          </p:nvSpPr>
          <p:spPr>
            <a:xfrm>
              <a:off x="9694545" y="4448175"/>
              <a:ext cx="1954530" cy="429578"/>
            </a:xfrm>
            <a:prstGeom prst="rect">
              <a:avLst/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9792843" y="4573429"/>
              <a:ext cx="15637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由框架回调你写的类</a:t>
              </a:r>
            </a:p>
          </p:txBody>
        </p:sp>
        <p:sp>
          <p:nvSpPr>
            <p:cNvPr id="55" name="Rectangle 55"/>
            <p:cNvSpPr/>
            <p:nvPr/>
          </p:nvSpPr>
          <p:spPr>
            <a:xfrm>
              <a:off x="6464618" y="1967865"/>
              <a:ext cx="5193982" cy="2919412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56" name="Rectangle 56"/>
            <p:cNvSpPr/>
            <p:nvPr/>
          </p:nvSpPr>
          <p:spPr>
            <a:xfrm>
              <a:off x="7706678" y="1967865"/>
              <a:ext cx="9525" cy="291941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7" name="Rectangle 57"/>
            <p:cNvSpPr/>
            <p:nvPr/>
          </p:nvSpPr>
          <p:spPr>
            <a:xfrm>
              <a:off x="9680258" y="1967865"/>
              <a:ext cx="9525" cy="291941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65" name="c2-callout-2"/>
          <p:cNvGrpSpPr/>
          <p:nvPr/>
        </p:nvGrpSpPr>
        <p:grpSpPr>
          <a:xfrm>
            <a:off x="6464618" y="5077778"/>
            <a:ext cx="5193982" cy="782955"/>
            <a:chOff x="6464618" y="5077778"/>
            <a:chExt cx="5193982" cy="782955"/>
          </a:xfrm>
        </p:grpSpPr>
        <p:sp>
          <p:nvSpPr>
            <p:cNvPr id="59" name="Rectangle 59"/>
            <p:cNvSpPr/>
            <p:nvPr/>
          </p:nvSpPr>
          <p:spPr>
            <a:xfrm>
              <a:off x="6464618" y="5077778"/>
              <a:ext cx="5193982" cy="782955"/>
            </a:xfrm>
            <a:prstGeom prst="roundRect">
              <a:avLst>
                <a:gd name="adj" fmla="val 14599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63" name="Group 63"/>
            <p:cNvGrpSpPr/>
            <p:nvPr/>
          </p:nvGrpSpPr>
          <p:grpSpPr>
            <a:xfrm>
              <a:off x="6669405" y="5369243"/>
              <a:ext cx="200026" cy="200026"/>
              <a:chOff x="6669405" y="5369243"/>
              <a:chExt cx="200026" cy="200026"/>
            </a:xfrm>
          </p:grpSpPr>
          <p:sp>
            <p:nvSpPr>
              <p:cNvPr id="60" name="Freeform 60"/>
              <p:cNvSpPr/>
              <p:nvPr/>
            </p:nvSpPr>
            <p:spPr>
              <a:xfrm>
                <a:off x="6669405" y="5369243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61" name="Freeform 61"/>
              <p:cNvSpPr/>
              <p:nvPr/>
            </p:nvSpPr>
            <p:spPr>
              <a:xfrm>
                <a:off x="6769418" y="5435918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62" name="Freeform 62"/>
              <p:cNvSpPr/>
              <p:nvPr/>
            </p:nvSpPr>
            <p:spPr>
              <a:xfrm>
                <a:off x="6758305" y="5469255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64" name="TextBox 64"/>
            <p:cNvSpPr txBox="1"/>
            <p:nvPr/>
          </p:nvSpPr>
          <p:spPr>
            <a:xfrm>
              <a:off x="6971348" y="5226368"/>
              <a:ext cx="422529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最后一行是常说的“好莱坞原则”：不要调用我们，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我们会调用你。用框架时主控权在框架手里。</a:t>
              </a:r>
            </a:p>
          </p:txBody>
        </p:sp>
      </p:grpSp>
      <p:grpSp>
        <p:nvGrpSpPr>
          <p:cNvPr id="68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6" name="TextBox 66"/>
            <p:cNvSpPr txBox="1"/>
            <p:nvPr/>
          </p:nvSpPr>
          <p:spPr>
            <a:xfrm>
              <a:off x="528447" y="6581299"/>
              <a:ext cx="174475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设计模式概述</a:t>
              </a: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27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891528" cy="909257"/>
            <a:chOff x="520446" y="342900"/>
            <a:chExt cx="6891528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96502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4530" y="407194"/>
              <a:ext cx="237519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03 设计模式概述 · 模式与它的邻居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891528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设计原则是尺子，设计模式是量好尺寸的零件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780" y="1548765"/>
            <a:ext cx="8738616" cy="293370"/>
            <a:chOff x="525780" y="1548765"/>
            <a:chExt cx="8738616" cy="293370"/>
          </a:xfrm>
        </p:grpSpPr>
        <p:sp>
          <p:nvSpPr>
            <p:cNvPr id="7" name="TextBox 7"/>
            <p:cNvSpPr txBox="1"/>
            <p:nvPr/>
          </p:nvSpPr>
          <p:spPr>
            <a:xfrm>
              <a:off x="525780" y="1548765"/>
              <a:ext cx="873861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上一讲的七条原则说的是“什么样的设计才算好”，这一讲开始的模式说的是“具体怎么做才能好”。</a:t>
              </a:r>
            </a:p>
          </p:txBody>
        </p:sp>
      </p:grpSp>
      <p:grpSp>
        <p:nvGrpSpPr>
          <p:cNvPr id="34" name="c1-table-1"/>
          <p:cNvGrpSpPr/>
          <p:nvPr/>
        </p:nvGrpSpPr>
        <p:grpSpPr>
          <a:xfrm>
            <a:off x="533400" y="1954530"/>
            <a:ext cx="5410200" cy="3011805"/>
            <a:chOff x="533400" y="1954530"/>
            <a:chExt cx="5410200" cy="3011805"/>
          </a:xfrm>
        </p:grpSpPr>
        <p:sp>
          <p:nvSpPr>
            <p:cNvPr id="9" name="Rectangle 9"/>
            <p:cNvSpPr/>
            <p:nvPr/>
          </p:nvSpPr>
          <p:spPr>
            <a:xfrm>
              <a:off x="533400" y="1954530"/>
              <a:ext cx="5410200" cy="430530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1609725" y="2085975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模式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3910965" y="2085975"/>
              <a:ext cx="114300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主要体现的原则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638746" y="2515552"/>
              <a:ext cx="149960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工厂方法 / 抽象工厂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127629" y="2515552"/>
              <a:ext cx="178917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开闭原则、依赖倒置原则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533400" y="2809875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5" name="Rectangle 15"/>
            <p:cNvSpPr/>
            <p:nvPr/>
          </p:nvSpPr>
          <p:spPr>
            <a:xfrm>
              <a:off x="533400" y="2814638"/>
              <a:ext cx="5410200" cy="43053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638746" y="2946082"/>
              <a:ext cx="85343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策略 / 状态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3127629" y="2946082"/>
              <a:ext cx="178917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开闭原则、单一职责原则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533400" y="3240405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638746" y="3376612"/>
              <a:ext cx="85343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装饰 / 桥接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127629" y="3376612"/>
              <a:ext cx="178917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合成复用原则、开闭原则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533400" y="3669982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2" name="Rectangle 22"/>
            <p:cNvSpPr/>
            <p:nvPr/>
          </p:nvSpPr>
          <p:spPr>
            <a:xfrm>
              <a:off x="533400" y="3674745"/>
              <a:ext cx="5410200" cy="43053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638746" y="3806190"/>
              <a:ext cx="101497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适配器 / 外观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3127629" y="3806190"/>
              <a:ext cx="195072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迪米特法则、接口隔离原则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533400" y="4100512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38746" y="4236720"/>
              <a:ext cx="117652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观察者 / 中介者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3127629" y="4236720"/>
              <a:ext cx="162763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迪米特法则、开闭原则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533400" y="4531042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9" name="Rectangle 29"/>
            <p:cNvSpPr/>
            <p:nvPr/>
          </p:nvSpPr>
          <p:spPr>
            <a:xfrm>
              <a:off x="533400" y="4535805"/>
              <a:ext cx="5410200" cy="43053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38746" y="4666298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模板方法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3127629" y="4666298"/>
              <a:ext cx="178917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里氏替换原则、开闭原则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533400" y="1954530"/>
              <a:ext cx="5410200" cy="3010852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33" name="Rectangle 33"/>
            <p:cNvSpPr/>
            <p:nvPr/>
          </p:nvSpPr>
          <p:spPr>
            <a:xfrm>
              <a:off x="3017520" y="1954530"/>
              <a:ext cx="9525" cy="301085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44" name="c2-card-1"/>
          <p:cNvGrpSpPr/>
          <p:nvPr/>
        </p:nvGrpSpPr>
        <p:grpSpPr>
          <a:xfrm>
            <a:off x="6248400" y="1954530"/>
            <a:ext cx="5410200" cy="1933575"/>
            <a:chOff x="6248400" y="1954530"/>
            <a:chExt cx="5410200" cy="1933575"/>
          </a:xfrm>
        </p:grpSpPr>
        <p:sp>
          <p:nvSpPr>
            <p:cNvPr id="35" name="Rectangle 35"/>
            <p:cNvSpPr/>
            <p:nvPr/>
          </p:nvSpPr>
          <p:spPr>
            <a:xfrm>
              <a:off x="6248400" y="1954530"/>
              <a:ext cx="5410200" cy="1933575"/>
            </a:xfrm>
            <a:prstGeom prst="roundRect">
              <a:avLst>
                <a:gd name="adj" fmla="val 6897"/>
              </a:avLst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6" name="Rectangle 36"/>
            <p:cNvSpPr/>
            <p:nvPr/>
          </p:nvSpPr>
          <p:spPr>
            <a:xfrm>
              <a:off x="6452235" y="2158365"/>
              <a:ext cx="778192" cy="257175"/>
            </a:xfrm>
            <a:prstGeom prst="roundRect">
              <a:avLst>
                <a:gd name="adj" fmla="val 50000"/>
              </a:avLst>
            </a:prstGeom>
            <a:solidFill>
              <a:srgbClr val="462F80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6534544" y="2194084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共同底色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7337488" y="2197894"/>
              <a:ext cx="249956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几乎所有模式都在做同一件事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6444996" y="2550319"/>
              <a:ext cx="470331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把稳定的部分抽象成接口，把易变的部分关进具体类，然后</a:t>
              </a:r>
              <a:br/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让调用方只依赖接口。</a:t>
              </a:r>
            </a:p>
          </p:txBody>
        </p:sp>
        <p:sp>
          <p:nvSpPr>
            <p:cNvPr id="40" name="Ellipse 40"/>
            <p:cNvSpPr/>
            <p:nvPr/>
          </p:nvSpPr>
          <p:spPr>
            <a:xfrm>
              <a:off x="6459855" y="3201352"/>
              <a:ext cx="60960" cy="6096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6616446" y="3141821"/>
              <a:ext cx="242309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 xml:space="preserve">这正是 </a:t>
              </a:r>
              <a:r>
                <a:rPr lang="zh-CN" sz="1420" b="1" dirty="0">
                  <a:solidFill>
                    <a:srgbClr val="FFD58A"/>
                  </a:solidFill>
                  <a:latin typeface="+mn-lt"/>
                  <a:ea typeface="+mn-ea"/>
                  <a:cs typeface="+mn-cs"/>
                </a:rPr>
                <a:t>开闭原则</a:t>
              </a:r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 xml:space="preserve"> 的实现手段</a:t>
              </a:r>
            </a:p>
          </p:txBody>
        </p:sp>
        <p:sp>
          <p:nvSpPr>
            <p:cNvPr id="42" name="Ellipse 42"/>
            <p:cNvSpPr/>
            <p:nvPr/>
          </p:nvSpPr>
          <p:spPr>
            <a:xfrm>
              <a:off x="6459855" y="3521392"/>
              <a:ext cx="60960" cy="6096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6616446" y="3461861"/>
              <a:ext cx="3455365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所以模式类图里几乎总能看到一个抽象层</a:t>
              </a:r>
            </a:p>
          </p:txBody>
        </p:sp>
      </p:grpSp>
      <p:grpSp>
        <p:nvGrpSpPr>
          <p:cNvPr id="50" name="c2-bullets-2"/>
          <p:cNvGrpSpPr/>
          <p:nvPr/>
        </p:nvGrpSpPr>
        <p:grpSpPr>
          <a:xfrm>
            <a:off x="6241161" y="4097179"/>
            <a:ext cx="5125593" cy="1489329"/>
            <a:chOff x="6241161" y="4097179"/>
            <a:chExt cx="5125593" cy="1489329"/>
          </a:xfrm>
        </p:grpSpPr>
        <p:sp>
          <p:nvSpPr>
            <p:cNvPr id="45" name="TextBox 45"/>
            <p:cNvSpPr txBox="1"/>
            <p:nvPr/>
          </p:nvSpPr>
          <p:spPr>
            <a:xfrm>
              <a:off x="6241161" y="4097179"/>
              <a:ext cx="116144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两个常见误解</a:t>
              </a:r>
            </a:p>
          </p:txBody>
        </p:sp>
        <p:sp>
          <p:nvSpPr>
            <p:cNvPr id="46" name="Freeform 46"/>
            <p:cNvSpPr/>
            <p:nvPr/>
          </p:nvSpPr>
          <p:spPr>
            <a:xfrm>
              <a:off x="6248400" y="4470082"/>
              <a:ext cx="108585" cy="108585"/>
            </a:xfrm>
            <a:custGeom>
              <a:avLst/>
              <a:gdLst/>
              <a:ahLst/>
              <a:cxnLst/>
              <a:rect l="l" t="t" r="r" b="b"/>
              <a:pathLst>
                <a:path w="108585" h="108585">
                  <a:moveTo>
                    <a:pt x="0" y="0"/>
                  </a:moveTo>
                  <a:lnTo>
                    <a:pt x="108585" y="108585"/>
                  </a:lnTo>
                  <a:moveTo>
                    <a:pt x="108585" y="0"/>
                  </a:moveTo>
                  <a:lnTo>
                    <a:pt x="0" y="108585"/>
                  </a:lnTo>
                </a:path>
              </a:pathLst>
            </a:custGeom>
            <a:noFill/>
            <a:ln w="24765" cap="rnd">
              <a:solidFill>
                <a:srgbClr val="B42318"/>
              </a:solidFill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6483096" y="4435316"/>
              <a:ext cx="488365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误解一：用了模式就等于遵守了原则。用错地方的模式照样违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反原则</a:t>
              </a:r>
            </a:p>
          </p:txBody>
        </p:sp>
        <p:sp>
          <p:nvSpPr>
            <p:cNvPr id="48" name="Freeform 48"/>
            <p:cNvSpPr/>
            <p:nvPr/>
          </p:nvSpPr>
          <p:spPr>
            <a:xfrm>
              <a:off x="6248400" y="5070158"/>
              <a:ext cx="108585" cy="108585"/>
            </a:xfrm>
            <a:custGeom>
              <a:avLst/>
              <a:gdLst/>
              <a:ahLst/>
              <a:cxnLst/>
              <a:rect l="l" t="t" r="r" b="b"/>
              <a:pathLst>
                <a:path w="108585" h="108585">
                  <a:moveTo>
                    <a:pt x="0" y="0"/>
                  </a:moveTo>
                  <a:lnTo>
                    <a:pt x="108585" y="108585"/>
                  </a:lnTo>
                  <a:moveTo>
                    <a:pt x="108585" y="0"/>
                  </a:moveTo>
                  <a:lnTo>
                    <a:pt x="0" y="108585"/>
                  </a:lnTo>
                </a:path>
              </a:pathLst>
            </a:custGeom>
            <a:noFill/>
            <a:ln w="24765" cap="rnd">
              <a:solidFill>
                <a:srgbClr val="B42318"/>
              </a:solidFill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6483096" y="5036344"/>
              <a:ext cx="488365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误解二：原则越多越好。原则之间会冲突，取舍靠的是对变化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的判断</a:t>
              </a:r>
            </a:p>
          </p:txBody>
        </p:sp>
      </p:grpSp>
      <p:grpSp>
        <p:nvGrpSpPr>
          <p:cNvPr id="57" name="takeaway"/>
          <p:cNvGrpSpPr/>
          <p:nvPr/>
        </p:nvGrpSpPr>
        <p:grpSpPr>
          <a:xfrm>
            <a:off x="533400" y="5844540"/>
            <a:ext cx="11125200" cy="518160"/>
            <a:chOff x="533400" y="5844540"/>
            <a:chExt cx="11125200" cy="518160"/>
          </a:xfrm>
        </p:grpSpPr>
        <p:sp>
          <p:nvSpPr>
            <p:cNvPr id="51" name="Rectangle 51"/>
            <p:cNvSpPr/>
            <p:nvPr/>
          </p:nvSpPr>
          <p:spPr>
            <a:xfrm>
              <a:off x="533400" y="5844540"/>
              <a:ext cx="11125200" cy="518160"/>
            </a:xfrm>
            <a:prstGeom prst="roundRect">
              <a:avLst>
                <a:gd name="adj" fmla="val 22059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55" name="Group 55"/>
            <p:cNvGrpSpPr/>
            <p:nvPr/>
          </p:nvGrpSpPr>
          <p:grpSpPr>
            <a:xfrm>
              <a:off x="738188" y="6003608"/>
              <a:ext cx="200026" cy="200026"/>
              <a:chOff x="738188" y="6003608"/>
              <a:chExt cx="200026" cy="200026"/>
            </a:xfrm>
          </p:grpSpPr>
          <p:sp>
            <p:nvSpPr>
              <p:cNvPr id="52" name="Freeform 52"/>
              <p:cNvSpPr/>
              <p:nvPr/>
            </p:nvSpPr>
            <p:spPr>
              <a:xfrm>
                <a:off x="738188" y="6003608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53" name="Freeform 53"/>
              <p:cNvSpPr/>
              <p:nvPr/>
            </p:nvSpPr>
            <p:spPr>
              <a:xfrm>
                <a:off x="838200" y="607028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54" name="Freeform 54"/>
              <p:cNvSpPr/>
              <p:nvPr/>
            </p:nvSpPr>
            <p:spPr>
              <a:xfrm>
                <a:off x="827088" y="6103620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56" name="TextBox 56"/>
            <p:cNvSpPr txBox="1"/>
            <p:nvPr/>
          </p:nvSpPr>
          <p:spPr>
            <a:xfrm>
              <a:off x="1040511" y="6004084"/>
              <a:ext cx="842553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复习时可以反过来用这张表：给一条原则，举出两个体现它的模式，并说出体现在类图的哪个位置。</a:t>
              </a:r>
            </a:p>
          </p:txBody>
        </p:sp>
      </p:grpSp>
      <p:grpSp>
        <p:nvGrpSpPr>
          <p:cNvPr id="60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8" name="TextBox 58"/>
            <p:cNvSpPr txBox="1"/>
            <p:nvPr/>
          </p:nvSpPr>
          <p:spPr>
            <a:xfrm>
              <a:off x="528447" y="6581299"/>
              <a:ext cx="174475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设计模式概述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5B3FA0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EEEAF7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954033" y="2705100"/>
            <a:ext cx="1903933" cy="2305050"/>
            <a:chOff x="8954033" y="2705100"/>
            <a:chExt cx="1903933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954033" y="2705100"/>
              <a:ext cx="1903933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06</a:t>
              </a:r>
            </a:p>
          </p:txBody>
        </p:sp>
      </p:grpSp>
      <p:grpSp>
        <p:nvGrpSpPr>
          <p:cNvPr id="16" name="section-title"/>
          <p:cNvGrpSpPr/>
          <p:nvPr/>
        </p:nvGrpSpPr>
        <p:grpSpPr>
          <a:xfrm>
            <a:off x="667512" y="1835468"/>
            <a:ext cx="4691253" cy="2997517"/>
            <a:chOff x="667512" y="1835468"/>
            <a:chExt cx="4691253" cy="299751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第六部分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4294068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怎么学这 23 个模式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468134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学习顺序，以及读每一个模式时固定要问的问题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3888105"/>
              <a:ext cx="76200" cy="7620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3830955"/>
              <a:ext cx="24384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创建型到结构型再到行为型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242435"/>
              <a:ext cx="76200" cy="7620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185285"/>
              <a:ext cx="20345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每讲按同一套结构组织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" y="4596765"/>
              <a:ext cx="76200" cy="7620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6780" y="4539615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手写一遍类图和代码</a:t>
              </a:r>
            </a:p>
          </p:txBody>
        </p:sp>
      </p:grpSp>
      <p:grpSp>
        <p:nvGrpSpPr>
          <p:cNvPr id="1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7" name="TextBox 17"/>
            <p:cNvSpPr txBox="1"/>
            <p:nvPr/>
          </p:nvSpPr>
          <p:spPr>
            <a:xfrm>
              <a:off x="528447" y="6581299"/>
              <a:ext cx="174475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设计模式概述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29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8264652" cy="909257"/>
            <a:chOff x="520446" y="342900"/>
            <a:chExt cx="8264652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750820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6646" y="407194"/>
              <a:ext cx="26443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03 设计模式概述 · 怎么学这 23 个模式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8264652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学习顺序：先学怎么造，再学怎么拼，最后学怎么配合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9" name="c1-flow-1"/>
          <p:cNvGrpSpPr/>
          <p:nvPr/>
        </p:nvGrpSpPr>
        <p:grpSpPr>
          <a:xfrm>
            <a:off x="674370" y="2066925"/>
            <a:ext cx="5777865" cy="2889885"/>
            <a:chOff x="674370" y="2066925"/>
            <a:chExt cx="5777865" cy="2889885"/>
          </a:xfrm>
        </p:grpSpPr>
        <p:sp>
          <p:nvSpPr>
            <p:cNvPr id="7" name="Freeform 7"/>
            <p:cNvSpPr/>
            <p:nvPr/>
          </p:nvSpPr>
          <p:spPr>
            <a:xfrm>
              <a:off x="2411730" y="2381250"/>
              <a:ext cx="178117" cy="9525"/>
            </a:xfrm>
            <a:custGeom>
              <a:avLst/>
              <a:gdLst/>
              <a:ahLst/>
              <a:cxnLst/>
              <a:rect l="l" t="t" r="r" b="b"/>
              <a:pathLst>
                <a:path w="178117" h="9525">
                  <a:moveTo>
                    <a:pt x="0" y="0"/>
                  </a:moveTo>
                  <a:lnTo>
                    <a:pt x="178117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8" name="Freeform 8"/>
            <p:cNvSpPr/>
            <p:nvPr/>
          </p:nvSpPr>
          <p:spPr>
            <a:xfrm>
              <a:off x="2589848" y="2328862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104775" y="52388"/>
                  </a:moveTo>
                  <a:lnTo>
                    <a:pt x="0" y="1047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9" name="Freeform 9"/>
            <p:cNvSpPr/>
            <p:nvPr/>
          </p:nvSpPr>
          <p:spPr>
            <a:xfrm>
              <a:off x="4431982" y="2381250"/>
              <a:ext cx="178117" cy="9525"/>
            </a:xfrm>
            <a:custGeom>
              <a:avLst/>
              <a:gdLst/>
              <a:ahLst/>
              <a:cxnLst/>
              <a:rect l="l" t="t" r="r" b="b"/>
              <a:pathLst>
                <a:path w="178117" h="9525">
                  <a:moveTo>
                    <a:pt x="0" y="0"/>
                  </a:moveTo>
                  <a:lnTo>
                    <a:pt x="178117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0" name="Freeform 10"/>
            <p:cNvSpPr/>
            <p:nvPr/>
          </p:nvSpPr>
          <p:spPr>
            <a:xfrm>
              <a:off x="4610100" y="2328862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104775" y="52388"/>
                  </a:moveTo>
                  <a:lnTo>
                    <a:pt x="0" y="1047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1" name="Freeform 11"/>
            <p:cNvSpPr/>
            <p:nvPr/>
          </p:nvSpPr>
          <p:spPr>
            <a:xfrm>
              <a:off x="1543050" y="2695575"/>
              <a:ext cx="9525" cy="762000"/>
            </a:xfrm>
            <a:custGeom>
              <a:avLst/>
              <a:gdLst/>
              <a:ahLst/>
              <a:cxnLst/>
              <a:rect l="l" t="t" r="r" b="b"/>
              <a:pathLst>
                <a:path w="9525" h="762000">
                  <a:moveTo>
                    <a:pt x="0" y="0"/>
                  </a:moveTo>
                  <a:lnTo>
                    <a:pt x="0" y="76200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2" name="Freeform 12"/>
            <p:cNvSpPr/>
            <p:nvPr/>
          </p:nvSpPr>
          <p:spPr>
            <a:xfrm>
              <a:off x="1490662" y="3457575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3" name="Freeform 13"/>
            <p:cNvSpPr/>
            <p:nvPr/>
          </p:nvSpPr>
          <p:spPr>
            <a:xfrm>
              <a:off x="3563302" y="2695575"/>
              <a:ext cx="9525" cy="762000"/>
            </a:xfrm>
            <a:custGeom>
              <a:avLst/>
              <a:gdLst/>
              <a:ahLst/>
              <a:cxnLst/>
              <a:rect l="l" t="t" r="r" b="b"/>
              <a:pathLst>
                <a:path w="9525" h="762000">
                  <a:moveTo>
                    <a:pt x="0" y="0"/>
                  </a:moveTo>
                  <a:lnTo>
                    <a:pt x="0" y="76200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4" name="Freeform 14"/>
            <p:cNvSpPr/>
            <p:nvPr/>
          </p:nvSpPr>
          <p:spPr>
            <a:xfrm>
              <a:off x="3510915" y="3457575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5" name="Freeform 15"/>
            <p:cNvSpPr/>
            <p:nvPr/>
          </p:nvSpPr>
          <p:spPr>
            <a:xfrm>
              <a:off x="5582602" y="2695575"/>
              <a:ext cx="9525" cy="434340"/>
            </a:xfrm>
            <a:custGeom>
              <a:avLst/>
              <a:gdLst/>
              <a:ahLst/>
              <a:cxnLst/>
              <a:rect l="l" t="t" r="r" b="b"/>
              <a:pathLst>
                <a:path w="9525" h="434340">
                  <a:moveTo>
                    <a:pt x="0" y="0"/>
                  </a:moveTo>
                  <a:lnTo>
                    <a:pt x="0" y="43434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6" name="Freeform 16"/>
            <p:cNvSpPr/>
            <p:nvPr/>
          </p:nvSpPr>
          <p:spPr>
            <a:xfrm>
              <a:off x="5530215" y="3129915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674370" y="2066925"/>
              <a:ext cx="1737360" cy="629602"/>
            </a:xfrm>
            <a:prstGeom prst="roundRect">
              <a:avLst>
                <a:gd name="adj" fmla="val 49924"/>
              </a:avLst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8" name="Rectangle 18"/>
            <p:cNvSpPr/>
            <p:nvPr/>
          </p:nvSpPr>
          <p:spPr>
            <a:xfrm>
              <a:off x="2694622" y="2066925"/>
              <a:ext cx="1737360" cy="629602"/>
            </a:xfrm>
            <a:prstGeom prst="roundRect">
              <a:avLst>
                <a:gd name="adj" fmla="val 15129"/>
              </a:avLst>
            </a:prstGeom>
            <a:solidFill>
              <a:srgbClr val="FFFFFF"/>
            </a:solidFill>
            <a:ln w="15240">
              <a:solidFill>
                <a:srgbClr val="5B3FA0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4714875" y="2066925"/>
              <a:ext cx="1737360" cy="629602"/>
            </a:xfrm>
            <a:prstGeom prst="roundRect">
              <a:avLst>
                <a:gd name="adj" fmla="val 15129"/>
              </a:avLst>
            </a:prstGeom>
            <a:solidFill>
              <a:srgbClr val="EEEAF7"/>
            </a:solidFill>
            <a:ln w="19050">
              <a:solidFill>
                <a:srgbClr val="5B3FA0"/>
              </a:solidFill>
            </a:ln>
          </p:spPr>
        </p:sp>
        <p:sp>
          <p:nvSpPr>
            <p:cNvPr id="20" name="Rectangle 20"/>
            <p:cNvSpPr/>
            <p:nvPr/>
          </p:nvSpPr>
          <p:spPr>
            <a:xfrm>
              <a:off x="674370" y="3562350"/>
              <a:ext cx="1737360" cy="1066800"/>
            </a:xfrm>
            <a:prstGeom prst="roundRect">
              <a:avLst>
                <a:gd name="adj" fmla="val 7143"/>
              </a:avLst>
            </a:prstGeom>
            <a:solidFill>
              <a:srgbClr val="FEF3C7"/>
            </a:solidFill>
            <a:ln>
              <a:noFill/>
            </a:ln>
          </p:spPr>
        </p:sp>
        <p:sp>
          <p:nvSpPr>
            <p:cNvPr id="21" name="Rectangle 21"/>
            <p:cNvSpPr/>
            <p:nvPr/>
          </p:nvSpPr>
          <p:spPr>
            <a:xfrm>
              <a:off x="2694622" y="3562350"/>
              <a:ext cx="1737360" cy="1066800"/>
            </a:xfrm>
            <a:prstGeom prst="roundRect">
              <a:avLst>
                <a:gd name="adj" fmla="val 7143"/>
              </a:avLst>
            </a:prstGeom>
            <a:solidFill>
              <a:srgbClr val="FEF3C7"/>
            </a:solidFill>
            <a:ln>
              <a:noFill/>
            </a:ln>
          </p:spPr>
        </p:sp>
        <p:sp>
          <p:nvSpPr>
            <p:cNvPr id="22" name="Rectangle 22"/>
            <p:cNvSpPr/>
            <p:nvPr/>
          </p:nvSpPr>
          <p:spPr>
            <a:xfrm>
              <a:off x="4714875" y="3234690"/>
              <a:ext cx="1737360" cy="1722120"/>
            </a:xfrm>
            <a:prstGeom prst="roundRect">
              <a:avLst>
                <a:gd name="adj" fmla="val 4425"/>
              </a:avLst>
            </a:prstGeom>
            <a:solidFill>
              <a:srgbClr val="FEF3C7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1292733" y="2182654"/>
              <a:ext cx="500634" cy="4684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725"/>
                </a:lnSpc>
              </a:pPr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创建型</a:t>
              </a:r>
              <a:br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6 讲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3312986" y="2182654"/>
              <a:ext cx="500634" cy="4684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72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结构型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7 讲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5332286" y="2182654"/>
              <a:ext cx="500634" cy="4684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72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行为型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11 讲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886333" y="3679031"/>
              <a:ext cx="1313434" cy="9065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72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简单工厂、工厂方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法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抽象工厂、建造者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原型、单例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2906586" y="3679031"/>
              <a:ext cx="1313434" cy="9065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72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适配器、桥接、组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合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装饰、外观、享元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代理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4925886" y="3350419"/>
              <a:ext cx="1313434" cy="15638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72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职责链、命令、解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释器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迭代器、中介者、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备忘录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观察者、状态、策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略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模板方法、访问者</a:t>
              </a:r>
            </a:p>
          </p:txBody>
        </p:sp>
      </p:grpSp>
      <p:grpSp>
        <p:nvGrpSpPr>
          <p:cNvPr id="40" name="c2-bullets-1"/>
          <p:cNvGrpSpPr/>
          <p:nvPr/>
        </p:nvGrpSpPr>
        <p:grpSpPr>
          <a:xfrm>
            <a:off x="6890385" y="1548765"/>
            <a:ext cx="4514850" cy="2194560"/>
            <a:chOff x="6890385" y="1548765"/>
            <a:chExt cx="4514850" cy="2194560"/>
          </a:xfrm>
        </p:grpSpPr>
        <p:sp>
          <p:nvSpPr>
            <p:cNvPr id="30" name="TextBox 30"/>
            <p:cNvSpPr txBox="1"/>
            <p:nvPr/>
          </p:nvSpPr>
          <p:spPr>
            <a:xfrm>
              <a:off x="6890385" y="1548765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三条建议</a:t>
              </a:r>
            </a:p>
          </p:txBody>
        </p:sp>
        <p:sp>
          <p:nvSpPr>
            <p:cNvPr id="31" name="Ellipse 31"/>
            <p:cNvSpPr/>
            <p:nvPr/>
          </p:nvSpPr>
          <p:spPr>
            <a:xfrm>
              <a:off x="6898005" y="1889760"/>
              <a:ext cx="213360" cy="21336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6959854" y="1932051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7198995" y="1903095"/>
              <a:ext cx="42062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每学完一个模式，合上讲义默写类图，画不出来说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明角色关系没记住</a:t>
              </a:r>
            </a:p>
          </p:txBody>
        </p:sp>
        <p:sp>
          <p:nvSpPr>
            <p:cNvPr id="34" name="Ellipse 34"/>
            <p:cNvSpPr/>
            <p:nvPr/>
          </p:nvSpPr>
          <p:spPr>
            <a:xfrm>
              <a:off x="6898005" y="2520315"/>
              <a:ext cx="213360" cy="21336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6959854" y="2562606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7198995" y="2533650"/>
              <a:ext cx="42062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同一类里的模式学完一组就横向比一次，例如创建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型六个放在一起对照</a:t>
              </a:r>
            </a:p>
          </p:txBody>
        </p:sp>
        <p:sp>
          <p:nvSpPr>
            <p:cNvPr id="37" name="Ellipse 37"/>
            <p:cNvSpPr/>
            <p:nvPr/>
          </p:nvSpPr>
          <p:spPr>
            <a:xfrm>
              <a:off x="6898005" y="3150870"/>
              <a:ext cx="213360" cy="21336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6959854" y="3193161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7198995" y="3164205"/>
              <a:ext cx="42062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行为型最多也最像，边学边往本讲那张易混淆对比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表里补自己的一句话</a:t>
              </a:r>
            </a:p>
          </p:txBody>
        </p:sp>
      </p:grpSp>
      <p:grpSp>
        <p:nvGrpSpPr>
          <p:cNvPr id="47" name="c2-callout-2"/>
          <p:cNvGrpSpPr/>
          <p:nvPr/>
        </p:nvGrpSpPr>
        <p:grpSpPr>
          <a:xfrm>
            <a:off x="6898005" y="3874770"/>
            <a:ext cx="4760595" cy="1078230"/>
            <a:chOff x="6898005" y="3874770"/>
            <a:chExt cx="4760595" cy="1078230"/>
          </a:xfrm>
        </p:grpSpPr>
        <p:sp>
          <p:nvSpPr>
            <p:cNvPr id="41" name="Rectangle 41"/>
            <p:cNvSpPr/>
            <p:nvPr/>
          </p:nvSpPr>
          <p:spPr>
            <a:xfrm>
              <a:off x="6898005" y="3874770"/>
              <a:ext cx="4760595" cy="1078230"/>
            </a:xfrm>
            <a:prstGeom prst="roundRect">
              <a:avLst>
                <a:gd name="adj" fmla="val 10601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45" name="Group 45"/>
            <p:cNvGrpSpPr/>
            <p:nvPr/>
          </p:nvGrpSpPr>
          <p:grpSpPr>
            <a:xfrm>
              <a:off x="7102793" y="4313873"/>
              <a:ext cx="200026" cy="200025"/>
              <a:chOff x="7102793" y="4313873"/>
              <a:chExt cx="200026" cy="200025"/>
            </a:xfrm>
          </p:grpSpPr>
          <p:sp>
            <p:nvSpPr>
              <p:cNvPr id="42" name="Freeform 42"/>
              <p:cNvSpPr/>
              <p:nvPr/>
            </p:nvSpPr>
            <p:spPr>
              <a:xfrm>
                <a:off x="7102793" y="4313873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43" name="Freeform 43"/>
              <p:cNvSpPr/>
              <p:nvPr/>
            </p:nvSpPr>
            <p:spPr>
              <a:xfrm>
                <a:off x="7142531" y="4358323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44" name="Freeform 44"/>
              <p:cNvSpPr/>
              <p:nvPr/>
            </p:nvSpPr>
            <p:spPr>
              <a:xfrm>
                <a:off x="7177247" y="4469448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46" name="TextBox 46"/>
            <p:cNvSpPr txBox="1"/>
            <p:nvPr/>
          </p:nvSpPr>
          <p:spPr>
            <a:xfrm>
              <a:off x="7404735" y="4032885"/>
              <a:ext cx="3844290" cy="8458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创建型的类图最简单，适合先建立“角色—类图</a:t>
              </a:r>
              <a:br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—代码”的对应感觉；行为型放在最后，因为它</a:t>
              </a:r>
              <a:br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要用到前面两类的结构。</a:t>
              </a:r>
            </a:p>
          </p:txBody>
        </p:sp>
      </p:grpSp>
      <p:grpSp>
        <p:nvGrpSpPr>
          <p:cNvPr id="53" name="takeaway"/>
          <p:cNvGrpSpPr/>
          <p:nvPr/>
        </p:nvGrpSpPr>
        <p:grpSpPr>
          <a:xfrm>
            <a:off x="533400" y="5829300"/>
            <a:ext cx="11125200" cy="533400"/>
            <a:chOff x="533400" y="5829300"/>
            <a:chExt cx="11125200" cy="533400"/>
          </a:xfrm>
        </p:grpSpPr>
        <p:sp>
          <p:nvSpPr>
            <p:cNvPr id="48" name="Rectangle 48"/>
            <p:cNvSpPr/>
            <p:nvPr/>
          </p:nvSpPr>
          <p:spPr>
            <a:xfrm>
              <a:off x="533400" y="5829300"/>
              <a:ext cx="11125200" cy="533400"/>
            </a:xfrm>
            <a:prstGeom prst="roundRect">
              <a:avLst>
                <a:gd name="adj" fmla="val 21429"/>
              </a:avLst>
            </a:prstGeom>
            <a:solidFill>
              <a:srgbClr val="5B3FA0"/>
            </a:solidFill>
            <a:ln>
              <a:noFill/>
            </a:ln>
          </p:spPr>
        </p:sp>
        <p:grpSp>
          <p:nvGrpSpPr>
            <p:cNvPr id="51" name="Group 51"/>
            <p:cNvGrpSpPr/>
            <p:nvPr/>
          </p:nvGrpSpPr>
          <p:grpSpPr>
            <a:xfrm>
              <a:off x="738188" y="5995990"/>
              <a:ext cx="200023" cy="200023"/>
              <a:chOff x="738188" y="5995990"/>
              <a:chExt cx="200023" cy="200023"/>
            </a:xfrm>
          </p:grpSpPr>
          <p:sp>
            <p:nvSpPr>
              <p:cNvPr id="49" name="Freeform 49"/>
              <p:cNvSpPr/>
              <p:nvPr/>
            </p:nvSpPr>
            <p:spPr>
              <a:xfrm>
                <a:off x="738188" y="5995990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50" name="Freeform 50"/>
              <p:cNvSpPr/>
              <p:nvPr/>
            </p:nvSpPr>
            <p:spPr>
              <a:xfrm>
                <a:off x="871538" y="606266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52" name="TextBox 52"/>
            <p:cNvSpPr txBox="1"/>
            <p:nvPr/>
          </p:nvSpPr>
          <p:spPr>
            <a:xfrm>
              <a:off x="1040130" y="5991225"/>
              <a:ext cx="86982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按分类学而不是按字母序学，原因是同一类模式解决的问题相近，放在一起才能看清它们的边界。</a:t>
              </a:r>
            </a:p>
          </p:txBody>
        </p:sp>
      </p:grpSp>
      <p:grpSp>
        <p:nvGrpSpPr>
          <p:cNvPr id="56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4" name="TextBox 54"/>
            <p:cNvSpPr txBox="1"/>
            <p:nvPr/>
          </p:nvSpPr>
          <p:spPr>
            <a:xfrm>
              <a:off x="528447" y="6581299"/>
              <a:ext cx="174475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设计模式概述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30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175123" cy="909257"/>
            <a:chOff x="520446" y="342900"/>
            <a:chExt cx="5175123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750820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6646" y="407194"/>
              <a:ext cx="26443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03 设计模式概述 · 怎么学这 23 个模式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175123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读一个模式时，固定问这几个问题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6542" y="1545907"/>
            <a:ext cx="6919722" cy="264033"/>
            <a:chOff x="526542" y="1545907"/>
            <a:chExt cx="6919722" cy="264033"/>
          </a:xfrm>
        </p:grpSpPr>
        <p:sp>
          <p:nvSpPr>
            <p:cNvPr id="7" name="TextBox 7"/>
            <p:cNvSpPr txBox="1"/>
            <p:nvPr/>
          </p:nvSpPr>
          <p:spPr>
            <a:xfrm>
              <a:off x="526542" y="1545907"/>
              <a:ext cx="691972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后面每一讲都按同一套结构组织，读的时候按这个顺序自问自答，一讲结束就能自查。</a:t>
              </a:r>
            </a:p>
          </p:txBody>
        </p:sp>
      </p:grpSp>
      <p:grpSp>
        <p:nvGrpSpPr>
          <p:cNvPr id="30" name="c1-steps-1"/>
          <p:cNvGrpSpPr/>
          <p:nvPr/>
        </p:nvGrpSpPr>
        <p:grpSpPr>
          <a:xfrm>
            <a:off x="533400" y="1938338"/>
            <a:ext cx="3392805" cy="2702813"/>
            <a:chOff x="533400" y="1938338"/>
            <a:chExt cx="3392805" cy="2702813"/>
          </a:xfrm>
        </p:grpSpPr>
        <p:sp>
          <p:nvSpPr>
            <p:cNvPr id="9" name="Rectangle 9"/>
            <p:cNvSpPr/>
            <p:nvPr/>
          </p:nvSpPr>
          <p:spPr>
            <a:xfrm>
              <a:off x="666750" y="2081212"/>
              <a:ext cx="19050" cy="221170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0" name="Ellipse 10"/>
            <p:cNvSpPr/>
            <p:nvPr/>
          </p:nvSpPr>
          <p:spPr>
            <a:xfrm>
              <a:off x="533400" y="1938338"/>
              <a:ext cx="285750" cy="28575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627024" y="201215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533400" y="2490788"/>
              <a:ext cx="285750" cy="28575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627024" y="256460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33400" y="3044190"/>
              <a:ext cx="285750" cy="28575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627024" y="311800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533400" y="3597592"/>
              <a:ext cx="285750" cy="28575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627024" y="367141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18" name="Ellipse 18"/>
            <p:cNvSpPr/>
            <p:nvPr/>
          </p:nvSpPr>
          <p:spPr>
            <a:xfrm>
              <a:off x="533400" y="4150042"/>
              <a:ext cx="285750" cy="28575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627024" y="422386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946023" y="196834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动机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947166" y="2223135"/>
              <a:ext cx="283768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不用这个模式的写法差在哪，一个具体的问题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46023" y="2521744"/>
              <a:ext cx="87452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定义与结构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947166" y="2776538"/>
              <a:ext cx="170688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标准定义一句话，再看类图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946023" y="3075146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角色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947166" y="3328988"/>
              <a:ext cx="241363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每个角色叫什么、负责什么、被谁持有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946023" y="3627596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代码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947166" y="3882390"/>
              <a:ext cx="267366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 Java 把类图写出来，跑通一个最小例子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946023" y="4180999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评价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947166" y="4435792"/>
              <a:ext cx="297903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优点、缺点、适用场景，以及和相近模式的区别</a:t>
              </a:r>
            </a:p>
          </p:txBody>
        </p:sp>
      </p:grpSp>
      <p:grpSp>
        <p:nvGrpSpPr>
          <p:cNvPr id="42" name="c1-card-2"/>
          <p:cNvGrpSpPr/>
          <p:nvPr/>
        </p:nvGrpSpPr>
        <p:grpSpPr>
          <a:xfrm>
            <a:off x="533400" y="4802505"/>
            <a:ext cx="5193982" cy="1487805"/>
            <a:chOff x="533400" y="4802505"/>
            <a:chExt cx="5193982" cy="1487805"/>
          </a:xfrm>
        </p:grpSpPr>
        <p:sp>
          <p:nvSpPr>
            <p:cNvPr id="31" name="Rectangle 31"/>
            <p:cNvSpPr/>
            <p:nvPr/>
          </p:nvSpPr>
          <p:spPr>
            <a:xfrm>
              <a:off x="533400" y="4802505"/>
              <a:ext cx="5193982" cy="1487805"/>
            </a:xfrm>
            <a:prstGeom prst="roundRect">
              <a:avLst>
                <a:gd name="adj" fmla="val 896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2" name="Rectangle 32"/>
            <p:cNvSpPr/>
            <p:nvPr/>
          </p:nvSpPr>
          <p:spPr>
            <a:xfrm>
              <a:off x="542925" y="4935855"/>
              <a:ext cx="47625" cy="1221105"/>
            </a:xfrm>
            <a:prstGeom prst="roundRect">
              <a:avLst>
                <a:gd name="adj" fmla="val 50000"/>
              </a:avLst>
            </a:prstGeom>
            <a:solidFill>
              <a:srgbClr val="D97706"/>
            </a:solidFill>
            <a:ln>
              <a:noFill/>
            </a:ln>
          </p:spPr>
        </p:sp>
        <p:sp>
          <p:nvSpPr>
            <p:cNvPr id="33" name="Rectangle 33"/>
            <p:cNvSpPr/>
            <p:nvPr/>
          </p:nvSpPr>
          <p:spPr>
            <a:xfrm>
              <a:off x="752475" y="4983480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FEF3C7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845147" y="5016341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92400E"/>
                  </a:solidFill>
                  <a:latin typeface="+mn-lt"/>
                  <a:ea typeface="+mn-ea"/>
                  <a:cs typeface="+mn-cs"/>
                </a:rPr>
                <a:t>读图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1318450" y="5023009"/>
              <a:ext cx="104683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类图看这几处</a:t>
              </a:r>
            </a:p>
          </p:txBody>
        </p:sp>
        <p:sp>
          <p:nvSpPr>
            <p:cNvPr id="36" name="Ellipse 36"/>
            <p:cNvSpPr/>
            <p:nvPr/>
          </p:nvSpPr>
          <p:spPr>
            <a:xfrm>
              <a:off x="762000" y="5392102"/>
              <a:ext cx="57150" cy="5715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917448" y="5339239"/>
              <a:ext cx="397616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接口类型的字段在哪个类里，那一层运行期可以换掉</a:t>
              </a:r>
            </a:p>
          </p:txBody>
        </p:sp>
        <p:sp>
          <p:nvSpPr>
            <p:cNvPr id="38" name="Ellipse 38"/>
            <p:cNvSpPr/>
            <p:nvPr/>
          </p:nvSpPr>
          <p:spPr>
            <a:xfrm>
              <a:off x="762000" y="5676900"/>
              <a:ext cx="57150" cy="5715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917448" y="5624989"/>
              <a:ext cx="328691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箭头从哪里发起，调用方向决定了谁依赖谁</a:t>
              </a:r>
            </a:p>
          </p:txBody>
        </p:sp>
        <p:sp>
          <p:nvSpPr>
            <p:cNvPr id="40" name="Ellipse 40"/>
            <p:cNvSpPr/>
            <p:nvPr/>
          </p:nvSpPr>
          <p:spPr>
            <a:xfrm>
              <a:off x="762000" y="5961698"/>
              <a:ext cx="57150" cy="5715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917448" y="5909786"/>
              <a:ext cx="34592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抽象类或接口那一侧，通常是稳定不变的部分</a:t>
              </a:r>
            </a:p>
          </p:txBody>
        </p:sp>
      </p:grpSp>
      <p:grpSp>
        <p:nvGrpSpPr>
          <p:cNvPr id="62" name="c2-card-1"/>
          <p:cNvGrpSpPr/>
          <p:nvPr/>
        </p:nvGrpSpPr>
        <p:grpSpPr>
          <a:xfrm>
            <a:off x="6032182" y="1928812"/>
            <a:ext cx="5626418" cy="2057400"/>
            <a:chOff x="6032182" y="1928812"/>
            <a:chExt cx="5626418" cy="2057400"/>
          </a:xfrm>
        </p:grpSpPr>
        <p:sp>
          <p:nvSpPr>
            <p:cNvPr id="43" name="Rectangle 43"/>
            <p:cNvSpPr/>
            <p:nvPr/>
          </p:nvSpPr>
          <p:spPr>
            <a:xfrm>
              <a:off x="6032182" y="1928812"/>
              <a:ext cx="5626418" cy="2057400"/>
            </a:xfrm>
            <a:prstGeom prst="roundRect">
              <a:avLst>
                <a:gd name="adj" fmla="val 6481"/>
              </a:avLst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44" name="Rectangle 44"/>
            <p:cNvSpPr/>
            <p:nvPr/>
          </p:nvSpPr>
          <p:spPr>
            <a:xfrm>
              <a:off x="6213158" y="2109788"/>
              <a:ext cx="707708" cy="238125"/>
            </a:xfrm>
            <a:prstGeom prst="roundRect">
              <a:avLst>
                <a:gd name="adj" fmla="val 50000"/>
              </a:avLst>
            </a:prstGeom>
            <a:solidFill>
              <a:srgbClr val="462F80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6297727" y="2142649"/>
              <a:ext cx="5376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自查五问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7027736" y="2149316"/>
              <a:ext cx="190840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合上书能答出来才算学会</a:t>
              </a:r>
            </a:p>
          </p:txBody>
        </p:sp>
        <p:sp>
          <p:nvSpPr>
            <p:cNvPr id="47" name="Ellipse 47"/>
            <p:cNvSpPr/>
            <p:nvPr/>
          </p:nvSpPr>
          <p:spPr>
            <a:xfrm>
              <a:off x="6213158" y="2454592"/>
              <a:ext cx="180975" cy="180975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6265064" y="2490216"/>
              <a:ext cx="77161" cy="170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6482906" y="2465546"/>
              <a:ext cx="276997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这个模式解决的问题用一句话怎么说</a:t>
              </a:r>
            </a:p>
          </p:txBody>
        </p:sp>
        <p:sp>
          <p:nvSpPr>
            <p:cNvPr id="50" name="Ellipse 50"/>
            <p:cNvSpPr/>
            <p:nvPr/>
          </p:nvSpPr>
          <p:spPr>
            <a:xfrm>
              <a:off x="6213158" y="2739390"/>
              <a:ext cx="180975" cy="180975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6265064" y="2775013"/>
              <a:ext cx="77161" cy="170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6482906" y="2751296"/>
              <a:ext cx="311459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类图上有几个角色，箭头分别是什么关系</a:t>
              </a:r>
            </a:p>
          </p:txBody>
        </p:sp>
        <p:sp>
          <p:nvSpPr>
            <p:cNvPr id="53" name="Ellipse 53"/>
            <p:cNvSpPr/>
            <p:nvPr/>
          </p:nvSpPr>
          <p:spPr>
            <a:xfrm>
              <a:off x="6213158" y="3025140"/>
              <a:ext cx="180975" cy="180975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6265064" y="3059811"/>
              <a:ext cx="77161" cy="170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6482906" y="3036094"/>
              <a:ext cx="363154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哪一部分是稳定的抽象，哪一部分是可变的实现</a:t>
              </a:r>
            </a:p>
          </p:txBody>
        </p:sp>
        <p:sp>
          <p:nvSpPr>
            <p:cNvPr id="56" name="Ellipse 56"/>
            <p:cNvSpPr/>
            <p:nvPr/>
          </p:nvSpPr>
          <p:spPr>
            <a:xfrm>
              <a:off x="6213158" y="3309938"/>
              <a:ext cx="180975" cy="180975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57" name="TextBox 57"/>
            <p:cNvSpPr txBox="1"/>
            <p:nvPr/>
          </p:nvSpPr>
          <p:spPr>
            <a:xfrm>
              <a:off x="6265064" y="3345561"/>
              <a:ext cx="77161" cy="170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6482906" y="3320891"/>
              <a:ext cx="311459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不用它会有什么后果，用了又多付出什么</a:t>
              </a:r>
            </a:p>
          </p:txBody>
        </p:sp>
        <p:sp>
          <p:nvSpPr>
            <p:cNvPr id="59" name="Ellipse 59"/>
            <p:cNvSpPr/>
            <p:nvPr/>
          </p:nvSpPr>
          <p:spPr>
            <a:xfrm>
              <a:off x="6213158" y="3594735"/>
              <a:ext cx="180975" cy="180975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60" name="TextBox 60"/>
            <p:cNvSpPr txBox="1"/>
            <p:nvPr/>
          </p:nvSpPr>
          <p:spPr>
            <a:xfrm>
              <a:off x="6265064" y="3630358"/>
              <a:ext cx="77161" cy="170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6482906" y="3605689"/>
              <a:ext cx="294228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它和哪个模式最像，区别在哪一句话上</a:t>
              </a:r>
            </a:p>
          </p:txBody>
        </p:sp>
      </p:grpSp>
      <p:grpSp>
        <p:nvGrpSpPr>
          <p:cNvPr id="70" name="c2-card-2"/>
          <p:cNvGrpSpPr/>
          <p:nvPr/>
        </p:nvGrpSpPr>
        <p:grpSpPr>
          <a:xfrm>
            <a:off x="6032182" y="4150995"/>
            <a:ext cx="5626418" cy="2139315"/>
            <a:chOff x="6032182" y="4150995"/>
            <a:chExt cx="5626418" cy="2139315"/>
          </a:xfrm>
        </p:grpSpPr>
        <p:sp>
          <p:nvSpPr>
            <p:cNvPr id="63" name="Rectangle 63"/>
            <p:cNvSpPr/>
            <p:nvPr/>
          </p:nvSpPr>
          <p:spPr>
            <a:xfrm>
              <a:off x="6032182" y="4150995"/>
              <a:ext cx="5626418" cy="2139315"/>
            </a:xfrm>
            <a:prstGeom prst="roundRect">
              <a:avLst>
                <a:gd name="adj" fmla="val 623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64" name="Rectangle 64"/>
            <p:cNvSpPr/>
            <p:nvPr/>
          </p:nvSpPr>
          <p:spPr>
            <a:xfrm>
              <a:off x="6041708" y="4284345"/>
              <a:ext cx="47625" cy="1872615"/>
            </a:xfrm>
            <a:prstGeom prst="roundRect">
              <a:avLst>
                <a:gd name="adj" fmla="val 50000"/>
              </a:avLst>
            </a:prstGeom>
            <a:solidFill>
              <a:srgbClr val="B42318"/>
            </a:solidFill>
            <a:ln>
              <a:noFill/>
            </a:ln>
          </p:spPr>
        </p:sp>
        <p:sp>
          <p:nvSpPr>
            <p:cNvPr id="65" name="Rectangle 65"/>
            <p:cNvSpPr/>
            <p:nvPr/>
          </p:nvSpPr>
          <p:spPr>
            <a:xfrm>
              <a:off x="6251258" y="4331970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66" name="TextBox 66"/>
            <p:cNvSpPr txBox="1"/>
            <p:nvPr/>
          </p:nvSpPr>
          <p:spPr>
            <a:xfrm>
              <a:off x="6342977" y="4364831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提醒</a:t>
              </a: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6817233" y="4371499"/>
              <a:ext cx="276997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只看不写，图认得出来代码写不出来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6244780" y="4687729"/>
              <a:ext cx="4889754" cy="4922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只看讲义不敲代码，考试时能认出类图，却写不出角色之间的引用关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系。</a:t>
              </a:r>
            </a:p>
          </p:txBody>
        </p:sp>
        <p:sp>
          <p:nvSpPr>
            <p:cNvPr id="69" name="TextBox 69"/>
            <p:cNvSpPr txBox="1"/>
            <p:nvPr/>
          </p:nvSpPr>
          <p:spPr>
            <a:xfrm>
              <a:off x="6244780" y="5216366"/>
              <a:ext cx="4889754" cy="4922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每个模式至少敲一遍最小实现，把类图上的每条线都在代码里落实一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次。</a:t>
              </a:r>
            </a:p>
          </p:txBody>
        </p:sp>
      </p:grpSp>
      <p:grpSp>
        <p:nvGrpSpPr>
          <p:cNvPr id="73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71" name="TextBox 71"/>
            <p:cNvSpPr txBox="1"/>
            <p:nvPr/>
          </p:nvSpPr>
          <p:spPr>
            <a:xfrm>
              <a:off x="528447" y="6581299"/>
              <a:ext cx="174475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设计模式概述</a:t>
              </a:r>
            </a:p>
          </p:txBody>
        </p:sp>
        <p:sp>
          <p:nvSpPr>
            <p:cNvPr id="72" name="TextBox 72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1742313" cy="909257"/>
            <a:chOff x="520446" y="342900"/>
            <a:chExt cx="1742313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329690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29388" y="407194"/>
              <a:ext cx="113771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03 设计模式概述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1742313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自测（一）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6161" y="1547336"/>
            <a:ext cx="4602328" cy="278702"/>
            <a:chOff x="526161" y="1547336"/>
            <a:chExt cx="4602328" cy="278702"/>
          </a:xfrm>
        </p:grpSpPr>
        <p:sp>
          <p:nvSpPr>
            <p:cNvPr id="7" name="TextBox 7"/>
            <p:cNvSpPr txBox="1"/>
            <p:nvPr/>
          </p:nvSpPr>
          <p:spPr>
            <a:xfrm>
              <a:off x="526161" y="1547336"/>
              <a:ext cx="460232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先自己答，再看答案。答不上来的回到对应小节重读。</a:t>
              </a:r>
            </a:p>
          </p:txBody>
        </p:sp>
      </p:grpSp>
      <p:grpSp>
        <p:nvGrpSpPr>
          <p:cNvPr id="14" name="c1-card-1"/>
          <p:cNvGrpSpPr/>
          <p:nvPr/>
        </p:nvGrpSpPr>
        <p:grpSpPr>
          <a:xfrm>
            <a:off x="533400" y="1941195"/>
            <a:ext cx="5410200" cy="1254442"/>
            <a:chOff x="533400" y="1941195"/>
            <a:chExt cx="5410200" cy="1254442"/>
          </a:xfrm>
        </p:grpSpPr>
        <p:sp>
          <p:nvSpPr>
            <p:cNvPr id="9" name="Rectangle 9"/>
            <p:cNvSpPr/>
            <p:nvPr/>
          </p:nvSpPr>
          <p:spPr>
            <a:xfrm>
              <a:off x="533400" y="1941195"/>
              <a:ext cx="5410200" cy="1254442"/>
            </a:xfrm>
            <a:prstGeom prst="roundRect">
              <a:avLst>
                <a:gd name="adj" fmla="val 1063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0" name="Rectangle 10"/>
            <p:cNvSpPr/>
            <p:nvPr/>
          </p:nvSpPr>
          <p:spPr>
            <a:xfrm>
              <a:off x="725805" y="2133600"/>
              <a:ext cx="391478" cy="24765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814753" y="2167890"/>
              <a:ext cx="21453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Q1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18947" y="2490788"/>
              <a:ext cx="383019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模式的概念最早出现在哪个领域？提出者是谁？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718947" y="2792730"/>
              <a:ext cx="513194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建筑与城市规划领域，提出者是 Christopher Alexander。</a:t>
              </a:r>
            </a:p>
          </p:txBody>
        </p:sp>
      </p:grpSp>
      <p:grpSp>
        <p:nvGrpSpPr>
          <p:cNvPr id="20" name="c1-card-2"/>
          <p:cNvGrpSpPr/>
          <p:nvPr/>
        </p:nvGrpSpPr>
        <p:grpSpPr>
          <a:xfrm>
            <a:off x="533400" y="3371850"/>
            <a:ext cx="5410200" cy="1254442"/>
            <a:chOff x="533400" y="3371850"/>
            <a:chExt cx="5410200" cy="1254442"/>
          </a:xfrm>
        </p:grpSpPr>
        <p:sp>
          <p:nvSpPr>
            <p:cNvPr id="15" name="Rectangle 15"/>
            <p:cNvSpPr/>
            <p:nvPr/>
          </p:nvSpPr>
          <p:spPr>
            <a:xfrm>
              <a:off x="533400" y="3371850"/>
              <a:ext cx="5410200" cy="1254442"/>
            </a:xfrm>
            <a:prstGeom prst="roundRect">
              <a:avLst>
                <a:gd name="adj" fmla="val 1063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6" name="Rectangle 16"/>
            <p:cNvSpPr/>
            <p:nvPr/>
          </p:nvSpPr>
          <p:spPr>
            <a:xfrm>
              <a:off x="725805" y="3564255"/>
              <a:ext cx="391478" cy="24765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814753" y="3598545"/>
              <a:ext cx="21453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Q3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18947" y="392049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软件模式的基础结构由哪四部分构成？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18947" y="4223385"/>
              <a:ext cx="328498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问题描述、前提条件、解法、效果。</a:t>
              </a:r>
            </a:p>
          </p:txBody>
        </p:sp>
      </p:grpSp>
      <p:grpSp>
        <p:nvGrpSpPr>
          <p:cNvPr id="26" name="c1-card-3"/>
          <p:cNvGrpSpPr/>
          <p:nvPr/>
        </p:nvGrpSpPr>
        <p:grpSpPr>
          <a:xfrm>
            <a:off x="533400" y="4801552"/>
            <a:ext cx="5410200" cy="1511618"/>
            <a:chOff x="533400" y="4801552"/>
            <a:chExt cx="5410200" cy="1511618"/>
          </a:xfrm>
        </p:grpSpPr>
        <p:sp>
          <p:nvSpPr>
            <p:cNvPr id="21" name="Rectangle 21"/>
            <p:cNvSpPr/>
            <p:nvPr/>
          </p:nvSpPr>
          <p:spPr>
            <a:xfrm>
              <a:off x="533400" y="4801552"/>
              <a:ext cx="5410200" cy="1511618"/>
            </a:xfrm>
            <a:prstGeom prst="roundRect">
              <a:avLst>
                <a:gd name="adj" fmla="val 8822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2" name="Rectangle 22"/>
            <p:cNvSpPr/>
            <p:nvPr/>
          </p:nvSpPr>
          <p:spPr>
            <a:xfrm>
              <a:off x="725805" y="4993958"/>
              <a:ext cx="391478" cy="24765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814753" y="5028248"/>
              <a:ext cx="21453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Q5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18947" y="5350192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设计模式的四个关键要素是什么？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18947" y="5653088"/>
              <a:ext cx="328498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模式名称、问题、解决方案、效果。</a:t>
              </a:r>
            </a:p>
          </p:txBody>
        </p:sp>
      </p:grpSp>
      <p:grpSp>
        <p:nvGrpSpPr>
          <p:cNvPr id="32" name="c2-card-1"/>
          <p:cNvGrpSpPr/>
          <p:nvPr/>
        </p:nvGrpSpPr>
        <p:grpSpPr>
          <a:xfrm>
            <a:off x="6248400" y="1941195"/>
            <a:ext cx="5410200" cy="1511618"/>
            <a:chOff x="6248400" y="1941195"/>
            <a:chExt cx="5410200" cy="1511618"/>
          </a:xfrm>
        </p:grpSpPr>
        <p:sp>
          <p:nvSpPr>
            <p:cNvPr id="27" name="Rectangle 27"/>
            <p:cNvSpPr/>
            <p:nvPr/>
          </p:nvSpPr>
          <p:spPr>
            <a:xfrm>
              <a:off x="6248400" y="1941195"/>
              <a:ext cx="5410200" cy="1511618"/>
            </a:xfrm>
            <a:prstGeom prst="roundRect">
              <a:avLst>
                <a:gd name="adj" fmla="val 8822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40805" y="2133600"/>
              <a:ext cx="391478" cy="24765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529753" y="2167890"/>
              <a:ext cx="21453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Q2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433947" y="2490788"/>
              <a:ext cx="375749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 Alexander 的说法，模式由哪三部分组成？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6433947" y="2792730"/>
              <a:ext cx="4737164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Context（前提条件）、Problem（目标问题）、Solution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（解法）。</a:t>
              </a:r>
            </a:p>
          </p:txBody>
        </p:sp>
      </p:grpSp>
      <p:grpSp>
        <p:nvGrpSpPr>
          <p:cNvPr id="38" name="c2-card-2"/>
          <p:cNvGrpSpPr/>
          <p:nvPr/>
        </p:nvGrpSpPr>
        <p:grpSpPr>
          <a:xfrm>
            <a:off x="6248400" y="3629025"/>
            <a:ext cx="5410200" cy="1254442"/>
            <a:chOff x="6248400" y="3629025"/>
            <a:chExt cx="5410200" cy="1254442"/>
          </a:xfrm>
        </p:grpSpPr>
        <p:sp>
          <p:nvSpPr>
            <p:cNvPr id="33" name="Rectangle 33"/>
            <p:cNvSpPr/>
            <p:nvPr/>
          </p:nvSpPr>
          <p:spPr>
            <a:xfrm>
              <a:off x="6248400" y="3629025"/>
              <a:ext cx="5410200" cy="1254442"/>
            </a:xfrm>
            <a:prstGeom prst="roundRect">
              <a:avLst>
                <a:gd name="adj" fmla="val 1063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4" name="Rectangle 34"/>
            <p:cNvSpPr/>
            <p:nvPr/>
          </p:nvSpPr>
          <p:spPr>
            <a:xfrm>
              <a:off x="6440805" y="3821430"/>
              <a:ext cx="391478" cy="24765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6529753" y="3855720"/>
              <a:ext cx="21453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Q4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433947" y="4177665"/>
              <a:ext cx="288319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什么是大三律（Rule of Three）？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6433947" y="4480560"/>
              <a:ext cx="510235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解法在三个以上不同类型或领域的系统中验证过才算模式。</a:t>
              </a:r>
            </a:p>
          </p:txBody>
        </p:sp>
      </p:grpSp>
      <p:grpSp>
        <p:nvGrpSpPr>
          <p:cNvPr id="44" name="c2-card-3"/>
          <p:cNvGrpSpPr/>
          <p:nvPr/>
        </p:nvGrpSpPr>
        <p:grpSpPr>
          <a:xfrm>
            <a:off x="6248400" y="5058728"/>
            <a:ext cx="5410200" cy="1254442"/>
            <a:chOff x="6248400" y="5058728"/>
            <a:chExt cx="5410200" cy="1254442"/>
          </a:xfrm>
        </p:grpSpPr>
        <p:sp>
          <p:nvSpPr>
            <p:cNvPr id="39" name="Rectangle 39"/>
            <p:cNvSpPr/>
            <p:nvPr/>
          </p:nvSpPr>
          <p:spPr>
            <a:xfrm>
              <a:off x="6248400" y="5058728"/>
              <a:ext cx="5410200" cy="1254442"/>
            </a:xfrm>
            <a:prstGeom prst="roundRect">
              <a:avLst>
                <a:gd name="adj" fmla="val 1063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6440805" y="5251132"/>
              <a:ext cx="391478" cy="24765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6529753" y="5285422"/>
              <a:ext cx="21453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Q6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6433947" y="5607368"/>
              <a:ext cx="383019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按目的分类，设计模式分成哪三类，各管什么？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6433947" y="5910262"/>
              <a:ext cx="510235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创建型管创建对象，结构型管组合，行为型管交互与职责。</a:t>
              </a:r>
            </a:p>
          </p:txBody>
        </p:sp>
      </p:grpSp>
      <p:grpSp>
        <p:nvGrpSpPr>
          <p:cNvPr id="47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5" name="TextBox 45"/>
            <p:cNvSpPr txBox="1"/>
            <p:nvPr/>
          </p:nvSpPr>
          <p:spPr>
            <a:xfrm>
              <a:off x="528447" y="6581299"/>
              <a:ext cx="174475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设计模式概述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1742313" cy="909257"/>
            <a:chOff x="520446" y="342900"/>
            <a:chExt cx="1742313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329690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29388" y="407194"/>
              <a:ext cx="113771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03 设计模式概述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1742313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自测（二）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2" name="c1-card-1"/>
          <p:cNvGrpSpPr/>
          <p:nvPr/>
        </p:nvGrpSpPr>
        <p:grpSpPr>
          <a:xfrm>
            <a:off x="533400" y="1524000"/>
            <a:ext cx="5410200" cy="1185862"/>
            <a:chOff x="533400" y="1524000"/>
            <a:chExt cx="5410200" cy="1185862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410200" cy="1185862"/>
            </a:xfrm>
            <a:prstGeom prst="roundRect">
              <a:avLst>
                <a:gd name="adj" fmla="val 11245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8" name="Rectangle 8"/>
            <p:cNvSpPr/>
            <p:nvPr/>
          </p:nvSpPr>
          <p:spPr>
            <a:xfrm>
              <a:off x="714375" y="1704975"/>
              <a:ext cx="379095" cy="238125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803832" y="1737836"/>
              <a:ext cx="20018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Q1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707898" y="2045494"/>
              <a:ext cx="259765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类模式和对象模式的区别是什么？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07898" y="2330291"/>
              <a:ext cx="501004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类模式靠继承，编译期确定；对象模式靠组合，运行期可换。</a:t>
              </a:r>
            </a:p>
          </p:txBody>
        </p:sp>
      </p:grpSp>
      <p:grpSp>
        <p:nvGrpSpPr>
          <p:cNvPr id="18" name="c1-card-2"/>
          <p:cNvGrpSpPr/>
          <p:nvPr/>
        </p:nvGrpSpPr>
        <p:grpSpPr>
          <a:xfrm>
            <a:off x="533400" y="2874645"/>
            <a:ext cx="5410200" cy="1185862"/>
            <a:chOff x="533400" y="2874645"/>
            <a:chExt cx="5410200" cy="1185862"/>
          </a:xfrm>
        </p:grpSpPr>
        <p:sp>
          <p:nvSpPr>
            <p:cNvPr id="13" name="Rectangle 13"/>
            <p:cNvSpPr/>
            <p:nvPr/>
          </p:nvSpPr>
          <p:spPr>
            <a:xfrm>
              <a:off x="533400" y="2874645"/>
              <a:ext cx="5410200" cy="1185862"/>
            </a:xfrm>
            <a:prstGeom prst="roundRect">
              <a:avLst>
                <a:gd name="adj" fmla="val 11245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4" name="Rectangle 14"/>
            <p:cNvSpPr/>
            <p:nvPr/>
          </p:nvSpPr>
          <p:spPr>
            <a:xfrm>
              <a:off x="714375" y="3055620"/>
              <a:ext cx="379095" cy="238125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803832" y="3088481"/>
              <a:ext cx="20018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Q3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07898" y="3396139"/>
              <a:ext cx="328691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三类模式各有多少个？行为型为什么最多？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707898" y="3680936"/>
              <a:ext cx="354538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 / 7 / 11。运行时分配职责的花样最多。</a:t>
              </a:r>
            </a:p>
          </p:txBody>
        </p:sp>
      </p:grpSp>
      <p:grpSp>
        <p:nvGrpSpPr>
          <p:cNvPr id="24" name="c1-card-3"/>
          <p:cNvGrpSpPr/>
          <p:nvPr/>
        </p:nvGrpSpPr>
        <p:grpSpPr>
          <a:xfrm>
            <a:off x="533400" y="4226242"/>
            <a:ext cx="5410200" cy="1185862"/>
            <a:chOff x="533400" y="4226242"/>
            <a:chExt cx="5410200" cy="1185862"/>
          </a:xfrm>
        </p:grpSpPr>
        <p:sp>
          <p:nvSpPr>
            <p:cNvPr id="19" name="Rectangle 19"/>
            <p:cNvSpPr/>
            <p:nvPr/>
          </p:nvSpPr>
          <p:spPr>
            <a:xfrm>
              <a:off x="533400" y="4226242"/>
              <a:ext cx="5410200" cy="1185862"/>
            </a:xfrm>
            <a:prstGeom prst="roundRect">
              <a:avLst>
                <a:gd name="adj" fmla="val 11245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0" name="Rectangle 20"/>
            <p:cNvSpPr/>
            <p:nvPr/>
          </p:nvSpPr>
          <p:spPr>
            <a:xfrm>
              <a:off x="714375" y="4407218"/>
              <a:ext cx="379095" cy="238125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803832" y="4440079"/>
              <a:ext cx="20018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Q5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07898" y="4746784"/>
              <a:ext cx="311459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设计模式和框架有什么区别？说出两条。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07898" y="5032534"/>
              <a:ext cx="501004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模式更抽象、粒度更小、与领域无关，框架则是可运行代码。</a:t>
              </a:r>
            </a:p>
          </p:txBody>
        </p:sp>
      </p:grpSp>
      <p:grpSp>
        <p:nvGrpSpPr>
          <p:cNvPr id="30" name="c2-card-1"/>
          <p:cNvGrpSpPr/>
          <p:nvPr/>
        </p:nvGrpSpPr>
        <p:grpSpPr>
          <a:xfrm>
            <a:off x="6248400" y="1524000"/>
            <a:ext cx="5410200" cy="1185862"/>
            <a:chOff x="6248400" y="1524000"/>
            <a:chExt cx="5410200" cy="1185862"/>
          </a:xfrm>
        </p:grpSpPr>
        <p:sp>
          <p:nvSpPr>
            <p:cNvPr id="25" name="Rectangle 25"/>
            <p:cNvSpPr/>
            <p:nvPr/>
          </p:nvSpPr>
          <p:spPr>
            <a:xfrm>
              <a:off x="6248400" y="1524000"/>
              <a:ext cx="5410200" cy="1185862"/>
            </a:xfrm>
            <a:prstGeom prst="roundRect">
              <a:avLst>
                <a:gd name="adj" fmla="val 11245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6" name="Rectangle 26"/>
            <p:cNvSpPr/>
            <p:nvPr/>
          </p:nvSpPr>
          <p:spPr>
            <a:xfrm>
              <a:off x="6429375" y="1704975"/>
              <a:ext cx="379095" cy="238125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6518832" y="1737836"/>
              <a:ext cx="20018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Q2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6422898" y="2045494"/>
              <a:ext cx="310109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23 个 GoF 模式中，哪几个属于类模式？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422898" y="2330291"/>
              <a:ext cx="432079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工厂方法、类适配器、解释器、模板方法，共四个。</a:t>
              </a:r>
            </a:p>
          </p:txBody>
        </p:sp>
      </p:grpSp>
      <p:grpSp>
        <p:nvGrpSpPr>
          <p:cNvPr id="36" name="c2-card-2"/>
          <p:cNvGrpSpPr/>
          <p:nvPr/>
        </p:nvGrpSpPr>
        <p:grpSpPr>
          <a:xfrm>
            <a:off x="6248400" y="2874645"/>
            <a:ext cx="5410200" cy="1185862"/>
            <a:chOff x="6248400" y="2874645"/>
            <a:chExt cx="5410200" cy="1185862"/>
          </a:xfrm>
        </p:grpSpPr>
        <p:sp>
          <p:nvSpPr>
            <p:cNvPr id="31" name="Rectangle 31"/>
            <p:cNvSpPr/>
            <p:nvPr/>
          </p:nvSpPr>
          <p:spPr>
            <a:xfrm>
              <a:off x="6248400" y="2874645"/>
              <a:ext cx="5410200" cy="1185862"/>
            </a:xfrm>
            <a:prstGeom prst="roundRect">
              <a:avLst>
                <a:gd name="adj" fmla="val 11245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6429375" y="3055620"/>
              <a:ext cx="379095" cy="238125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6518832" y="3088481"/>
              <a:ext cx="20018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Q4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6422898" y="3396139"/>
              <a:ext cx="397616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每加一种功能组合就多一个子类，该考虑哪些模式？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6422898" y="3680936"/>
              <a:ext cx="485496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症状是“靠生成子类扩展功能”：桥接、组合、装饰、策略。</a:t>
              </a:r>
            </a:p>
          </p:txBody>
        </p:sp>
      </p:grpSp>
      <p:grpSp>
        <p:nvGrpSpPr>
          <p:cNvPr id="42" name="c2-card-3"/>
          <p:cNvGrpSpPr/>
          <p:nvPr/>
        </p:nvGrpSpPr>
        <p:grpSpPr>
          <a:xfrm>
            <a:off x="6248400" y="4226242"/>
            <a:ext cx="5410200" cy="1185862"/>
            <a:chOff x="6248400" y="4226242"/>
            <a:chExt cx="5410200" cy="1185862"/>
          </a:xfrm>
        </p:grpSpPr>
        <p:sp>
          <p:nvSpPr>
            <p:cNvPr id="37" name="Rectangle 37"/>
            <p:cNvSpPr/>
            <p:nvPr/>
          </p:nvSpPr>
          <p:spPr>
            <a:xfrm>
              <a:off x="6248400" y="4226242"/>
              <a:ext cx="5410200" cy="1185862"/>
            </a:xfrm>
            <a:prstGeom prst="roundRect">
              <a:avLst>
                <a:gd name="adj" fmla="val 11245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8" name="Rectangle 38"/>
            <p:cNvSpPr/>
            <p:nvPr/>
          </p:nvSpPr>
          <p:spPr>
            <a:xfrm>
              <a:off x="6429375" y="4407218"/>
              <a:ext cx="379095" cy="238125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6518832" y="4440079"/>
              <a:ext cx="20018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Q6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6422898" y="4746784"/>
              <a:ext cx="281075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简单工厂属于 GoF 的 23 个模式吗？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6422898" y="5032534"/>
              <a:ext cx="466542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不属于，它是工厂方法的简化形式，因常用而单列一讲。</a:t>
              </a:r>
            </a:p>
          </p:txBody>
        </p:sp>
      </p:grpSp>
      <p:grpSp>
        <p:nvGrpSpPr>
          <p:cNvPr id="49" name="takeaway"/>
          <p:cNvGrpSpPr/>
          <p:nvPr/>
        </p:nvGrpSpPr>
        <p:grpSpPr>
          <a:xfrm>
            <a:off x="533400" y="5895022"/>
            <a:ext cx="11125200" cy="467678"/>
            <a:chOff x="533400" y="5895022"/>
            <a:chExt cx="11125200" cy="467678"/>
          </a:xfrm>
        </p:grpSpPr>
        <p:sp>
          <p:nvSpPr>
            <p:cNvPr id="43" name="Rectangle 43"/>
            <p:cNvSpPr/>
            <p:nvPr/>
          </p:nvSpPr>
          <p:spPr>
            <a:xfrm>
              <a:off x="533400" y="5895022"/>
              <a:ext cx="11125200" cy="467678"/>
            </a:xfrm>
            <a:prstGeom prst="roundRect">
              <a:avLst>
                <a:gd name="adj" fmla="val 24440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47" name="Group 47"/>
            <p:cNvGrpSpPr/>
            <p:nvPr/>
          </p:nvGrpSpPr>
          <p:grpSpPr>
            <a:xfrm>
              <a:off x="738188" y="6028373"/>
              <a:ext cx="200026" cy="200026"/>
              <a:chOff x="738188" y="6028373"/>
              <a:chExt cx="200026" cy="200026"/>
            </a:xfrm>
          </p:grpSpPr>
          <p:sp>
            <p:nvSpPr>
              <p:cNvPr id="44" name="Freeform 44"/>
              <p:cNvSpPr/>
              <p:nvPr/>
            </p:nvSpPr>
            <p:spPr>
              <a:xfrm>
                <a:off x="738188" y="6028373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45" name="Freeform 45"/>
              <p:cNvSpPr/>
              <p:nvPr/>
            </p:nvSpPr>
            <p:spPr>
              <a:xfrm>
                <a:off x="838200" y="6095048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46" name="Freeform 46"/>
              <p:cNvSpPr/>
              <p:nvPr/>
            </p:nvSpPr>
            <p:spPr>
              <a:xfrm>
                <a:off x="827088" y="6128385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48" name="TextBox 48"/>
            <p:cNvSpPr txBox="1"/>
            <p:nvPr/>
          </p:nvSpPr>
          <p:spPr>
            <a:xfrm>
              <a:off x="1041273" y="6039326"/>
              <a:ext cx="779291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 4 题这类题型的答法是：先说出症状的名称，再给两三个候选模式，最后一句说明它们共同的做法。</a:t>
              </a:r>
            </a:p>
          </p:txBody>
        </p:sp>
      </p:grpSp>
      <p:grpSp>
        <p:nvGrpSpPr>
          <p:cNvPr id="52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0" name="TextBox 50"/>
            <p:cNvSpPr txBox="1"/>
            <p:nvPr/>
          </p:nvSpPr>
          <p:spPr>
            <a:xfrm>
              <a:off x="528447" y="6581299"/>
              <a:ext cx="174475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设计模式概述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1399032" cy="909257"/>
            <a:chOff x="520446" y="342900"/>
            <a:chExt cx="1399032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329690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29388" y="407194"/>
              <a:ext cx="113771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03 设计模式概述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1399032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本讲小结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2" name="c1-bullets-1"/>
          <p:cNvGrpSpPr/>
          <p:nvPr/>
        </p:nvGrpSpPr>
        <p:grpSpPr>
          <a:xfrm>
            <a:off x="533400" y="1534478"/>
            <a:ext cx="5383149" cy="2024253"/>
            <a:chOff x="533400" y="1534478"/>
            <a:chExt cx="5383149" cy="2024253"/>
          </a:xfrm>
        </p:grpSpPr>
        <p:sp>
          <p:nvSpPr>
            <p:cNvPr id="7" name="Ellipse 7"/>
            <p:cNvSpPr/>
            <p:nvPr/>
          </p:nvSpPr>
          <p:spPr>
            <a:xfrm>
              <a:off x="533400" y="1534478"/>
              <a:ext cx="192405" cy="192405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589078" y="1572863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814197" y="1545907"/>
              <a:ext cx="5071491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模式是特定环境中解决问题的方案，源于建筑业，1990 年代进入软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件业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533400" y="2100262"/>
              <a:ext cx="192405" cy="192405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589078" y="2138648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814197" y="2111692"/>
              <a:ext cx="498576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软件模式由问题描述、前提条件、解法、效果四部分构成，要经大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三律验证</a:t>
              </a:r>
            </a:p>
          </p:txBody>
        </p:sp>
        <p:sp>
          <p:nvSpPr>
            <p:cNvPr id="13" name="Ellipse 13"/>
            <p:cNvSpPr/>
            <p:nvPr/>
          </p:nvSpPr>
          <p:spPr>
            <a:xfrm>
              <a:off x="533400" y="2666048"/>
              <a:ext cx="192405" cy="192405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589078" y="2704433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814197" y="2677477"/>
              <a:ext cx="492061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设计模式的四个关键要素是模式名称、问题、解决方案、效果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533400" y="2974657"/>
              <a:ext cx="192405" cy="192405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589078" y="3013043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814197" y="2986088"/>
              <a:ext cx="510235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按目的分创建型、结构型、行为型；按范围分类模式与对象模式</a:t>
              </a:r>
            </a:p>
          </p:txBody>
        </p:sp>
        <p:sp>
          <p:nvSpPr>
            <p:cNvPr id="19" name="Ellipse 19"/>
            <p:cNvSpPr/>
            <p:nvPr/>
          </p:nvSpPr>
          <p:spPr>
            <a:xfrm>
              <a:off x="533400" y="3283268"/>
              <a:ext cx="192405" cy="192405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589078" y="3321653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814197" y="3294698"/>
              <a:ext cx="473887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选模式的落脚点是找出设计中会变的部分，再按症状查候选</a:t>
              </a:r>
            </a:p>
          </p:txBody>
        </p:sp>
      </p:grpSp>
      <p:grpSp>
        <p:nvGrpSpPr>
          <p:cNvPr id="28" name="c1-callout-2"/>
          <p:cNvGrpSpPr/>
          <p:nvPr/>
        </p:nvGrpSpPr>
        <p:grpSpPr>
          <a:xfrm>
            <a:off x="533400" y="3675698"/>
            <a:ext cx="5626418" cy="729615"/>
            <a:chOff x="533400" y="3675698"/>
            <a:chExt cx="5626418" cy="729615"/>
          </a:xfrm>
        </p:grpSpPr>
        <p:sp>
          <p:nvSpPr>
            <p:cNvPr id="23" name="Rectangle 23"/>
            <p:cNvSpPr/>
            <p:nvPr/>
          </p:nvSpPr>
          <p:spPr>
            <a:xfrm>
              <a:off x="533400" y="3675698"/>
              <a:ext cx="5626418" cy="729615"/>
            </a:xfrm>
            <a:prstGeom prst="roundRect">
              <a:avLst>
                <a:gd name="adj" fmla="val 15666"/>
              </a:avLst>
            </a:prstGeom>
            <a:solidFill>
              <a:srgbClr val="5B3FA0"/>
            </a:solidFill>
            <a:ln>
              <a:noFill/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38188" y="3940495"/>
              <a:ext cx="200023" cy="200023"/>
              <a:chOff x="738188" y="3940495"/>
              <a:chExt cx="200023" cy="200023"/>
            </a:xfrm>
          </p:grpSpPr>
          <p:sp>
            <p:nvSpPr>
              <p:cNvPr id="24" name="Freeform 24"/>
              <p:cNvSpPr/>
              <p:nvPr/>
            </p:nvSpPr>
            <p:spPr>
              <a:xfrm>
                <a:off x="738188" y="3940495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25" name="Freeform 25"/>
              <p:cNvSpPr/>
              <p:nvPr/>
            </p:nvSpPr>
            <p:spPr>
              <a:xfrm>
                <a:off x="871538" y="4007168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27" name="TextBox 27"/>
            <p:cNvSpPr txBox="1"/>
            <p:nvPr/>
          </p:nvSpPr>
          <p:spPr>
            <a:xfrm>
              <a:off x="1040892" y="3822382"/>
              <a:ext cx="4642866" cy="5126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这一讲不要求记住每个模式的类图，但要能说出每个模式一句</a:t>
              </a:r>
              <a:br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话作用，并知道它在分类表的哪一格。</a:t>
              </a:r>
            </a:p>
          </p:txBody>
        </p:sp>
      </p:grpSp>
      <p:grpSp>
        <p:nvGrpSpPr>
          <p:cNvPr id="55" name="c2-table-1"/>
          <p:cNvGrpSpPr/>
          <p:nvPr/>
        </p:nvGrpSpPr>
        <p:grpSpPr>
          <a:xfrm>
            <a:off x="6464618" y="1524000"/>
            <a:ext cx="5193982" cy="2800350"/>
            <a:chOff x="6464618" y="1524000"/>
            <a:chExt cx="5193982" cy="2800350"/>
          </a:xfrm>
        </p:grpSpPr>
        <p:sp>
          <p:nvSpPr>
            <p:cNvPr id="29" name="Rectangle 29"/>
            <p:cNvSpPr/>
            <p:nvPr/>
          </p:nvSpPr>
          <p:spPr>
            <a:xfrm>
              <a:off x="6464618" y="1524000"/>
              <a:ext cx="5193982" cy="400050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7970241" y="164544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要点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10566756" y="164544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数字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6561772" y="2045494"/>
              <a:ext cx="15618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Alexander 的建筑模式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9885998" y="2045494"/>
              <a:ext cx="45621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253 个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6464618" y="2319338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5" name="Rectangle 35"/>
            <p:cNvSpPr/>
            <p:nvPr/>
          </p:nvSpPr>
          <p:spPr>
            <a:xfrm>
              <a:off x="6464618" y="2324100"/>
              <a:ext cx="5193982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6561772" y="2445544"/>
              <a:ext cx="138721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GoF 编目的设计模式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9798368" y="2333625"/>
              <a:ext cx="1850708" cy="381000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9885998" y="2445544"/>
              <a:ext cx="37328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23 个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6464618" y="2719388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6561772" y="2845594"/>
              <a:ext cx="173252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创建型 / 结构型 / 行为型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9885998" y="2845594"/>
              <a:ext cx="68991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 / 7 / 11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6464618" y="3119438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3" name="Rectangle 43"/>
            <p:cNvSpPr/>
            <p:nvPr/>
          </p:nvSpPr>
          <p:spPr>
            <a:xfrm>
              <a:off x="6464618" y="3124200"/>
              <a:ext cx="5193982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6561772" y="3245644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类模式的个数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9885998" y="3245644"/>
              <a:ext cx="2903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 个</a:t>
              </a:r>
            </a:p>
          </p:txBody>
        </p:sp>
        <p:sp>
          <p:nvSpPr>
            <p:cNvPr id="46" name="Rectangle 46"/>
            <p:cNvSpPr/>
            <p:nvPr/>
          </p:nvSpPr>
          <p:spPr>
            <a:xfrm>
              <a:off x="6464618" y="3519488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6561772" y="3645694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模式的关键要素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9885998" y="3645694"/>
              <a:ext cx="2903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 个</a:t>
              </a:r>
            </a:p>
          </p:txBody>
        </p:sp>
        <p:sp>
          <p:nvSpPr>
            <p:cNvPr id="49" name="Rectangle 49"/>
            <p:cNvSpPr/>
            <p:nvPr/>
          </p:nvSpPr>
          <p:spPr>
            <a:xfrm>
              <a:off x="6464618" y="3919538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0" name="Rectangle 50"/>
            <p:cNvSpPr/>
            <p:nvPr/>
          </p:nvSpPr>
          <p:spPr>
            <a:xfrm>
              <a:off x="6464618" y="3924300"/>
              <a:ext cx="5193982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6561772" y="4045744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本课程的模式讲次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9885998" y="4045744"/>
              <a:ext cx="37328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24 讲</a:t>
              </a:r>
            </a:p>
          </p:txBody>
        </p:sp>
        <p:sp>
          <p:nvSpPr>
            <p:cNvPr id="53" name="Rectangle 53"/>
            <p:cNvSpPr/>
            <p:nvPr/>
          </p:nvSpPr>
          <p:spPr>
            <a:xfrm>
              <a:off x="6464618" y="1524000"/>
              <a:ext cx="5193982" cy="280035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54" name="Rectangle 54"/>
            <p:cNvSpPr/>
            <p:nvPr/>
          </p:nvSpPr>
          <p:spPr>
            <a:xfrm>
              <a:off x="9784080" y="1524000"/>
              <a:ext cx="9525" cy="280035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62" name="c2-card-2"/>
          <p:cNvGrpSpPr/>
          <p:nvPr/>
        </p:nvGrpSpPr>
        <p:grpSpPr>
          <a:xfrm>
            <a:off x="6464618" y="4493895"/>
            <a:ext cx="5193982" cy="1202055"/>
            <a:chOff x="6464618" y="4493895"/>
            <a:chExt cx="5193982" cy="1202055"/>
          </a:xfrm>
        </p:grpSpPr>
        <p:sp>
          <p:nvSpPr>
            <p:cNvPr id="56" name="Rectangle 56"/>
            <p:cNvSpPr/>
            <p:nvPr/>
          </p:nvSpPr>
          <p:spPr>
            <a:xfrm>
              <a:off x="6464618" y="4493895"/>
              <a:ext cx="5193982" cy="1202055"/>
            </a:xfrm>
            <a:prstGeom prst="roundRect">
              <a:avLst>
                <a:gd name="adj" fmla="val 1109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57" name="Rectangle 57"/>
            <p:cNvSpPr/>
            <p:nvPr/>
          </p:nvSpPr>
          <p:spPr>
            <a:xfrm>
              <a:off x="6474142" y="4627245"/>
              <a:ext cx="47625" cy="935355"/>
            </a:xfrm>
            <a:prstGeom prst="roundRect">
              <a:avLst>
                <a:gd name="adj" fmla="val 50000"/>
              </a:avLst>
            </a:prstGeom>
            <a:solidFill>
              <a:srgbClr val="D97706"/>
            </a:solidFill>
            <a:ln>
              <a:noFill/>
            </a:ln>
          </p:spPr>
        </p:sp>
        <p:sp>
          <p:nvSpPr>
            <p:cNvPr id="58" name="Rectangle 58"/>
            <p:cNvSpPr/>
            <p:nvPr/>
          </p:nvSpPr>
          <p:spPr>
            <a:xfrm>
              <a:off x="6689408" y="4680585"/>
              <a:ext cx="582930" cy="238125"/>
            </a:xfrm>
            <a:prstGeom prst="roundRect">
              <a:avLst>
                <a:gd name="adj" fmla="val 50000"/>
              </a:avLst>
            </a:prstGeom>
            <a:solidFill>
              <a:srgbClr val="FEF3C7"/>
            </a:solidFill>
            <a:ln>
              <a:noFill/>
            </a:ln>
          </p:spPr>
        </p:sp>
        <p:sp>
          <p:nvSpPr>
            <p:cNvPr id="59" name="TextBox 59"/>
            <p:cNvSpPr txBox="1"/>
            <p:nvPr/>
          </p:nvSpPr>
          <p:spPr>
            <a:xfrm>
              <a:off x="6778028" y="4713446"/>
              <a:ext cx="40568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92400E"/>
                  </a:solidFill>
                  <a:latin typeface="+mn-lt"/>
                  <a:ea typeface="+mn-ea"/>
                  <a:cs typeface="+mn-cs"/>
                </a:rPr>
                <a:t>下一讲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7379780" y="4715828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从简单工厂开始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6682549" y="5041583"/>
              <a:ext cx="4548568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创建型第一讲讲简单工厂：把 new 从客户端拿走，集中到一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个工厂类里，再看它为什么不够用，从而引出工厂方法。</a:t>
              </a:r>
            </a:p>
          </p:txBody>
        </p:sp>
      </p:grpSp>
      <p:grpSp>
        <p:nvGrpSpPr>
          <p:cNvPr id="69" name="takeaway"/>
          <p:cNvGrpSpPr/>
          <p:nvPr/>
        </p:nvGrpSpPr>
        <p:grpSpPr>
          <a:xfrm>
            <a:off x="533400" y="5881688"/>
            <a:ext cx="11125200" cy="481012"/>
            <a:chOff x="533400" y="5881688"/>
            <a:chExt cx="11125200" cy="481012"/>
          </a:xfrm>
        </p:grpSpPr>
        <p:sp>
          <p:nvSpPr>
            <p:cNvPr id="63" name="Rectangle 63"/>
            <p:cNvSpPr/>
            <p:nvPr/>
          </p:nvSpPr>
          <p:spPr>
            <a:xfrm>
              <a:off x="533400" y="5881688"/>
              <a:ext cx="11125200" cy="481012"/>
            </a:xfrm>
            <a:prstGeom prst="roundRect">
              <a:avLst>
                <a:gd name="adj" fmla="val 23762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67" name="Group 67"/>
            <p:cNvGrpSpPr/>
            <p:nvPr/>
          </p:nvGrpSpPr>
          <p:grpSpPr>
            <a:xfrm>
              <a:off x="738188" y="6022658"/>
              <a:ext cx="200026" cy="200026"/>
              <a:chOff x="738188" y="6022658"/>
              <a:chExt cx="200026" cy="200026"/>
            </a:xfrm>
          </p:grpSpPr>
          <p:sp>
            <p:nvSpPr>
              <p:cNvPr id="64" name="Freeform 64"/>
              <p:cNvSpPr/>
              <p:nvPr/>
            </p:nvSpPr>
            <p:spPr>
              <a:xfrm>
                <a:off x="738188" y="6022658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65" name="Freeform 65"/>
              <p:cNvSpPr/>
              <p:nvPr/>
            </p:nvSpPr>
            <p:spPr>
              <a:xfrm>
                <a:off x="838200" y="608933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66" name="Freeform 66"/>
              <p:cNvSpPr/>
              <p:nvPr/>
            </p:nvSpPr>
            <p:spPr>
              <a:xfrm>
                <a:off x="827088" y="6122670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68" name="TextBox 68"/>
            <p:cNvSpPr txBox="1"/>
            <p:nvPr/>
          </p:nvSpPr>
          <p:spPr>
            <a:xfrm>
              <a:off x="1040892" y="6028373"/>
              <a:ext cx="819188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复习顺序建议：先背分类表那一格一格的归属，再用症状表做两道设计题，最后回头看易混淆的六对。</a:t>
              </a:r>
            </a:p>
          </p:txBody>
        </p:sp>
      </p:grpSp>
      <p:grpSp>
        <p:nvGrpSpPr>
          <p:cNvPr id="72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70" name="TextBox 70"/>
            <p:cNvSpPr txBox="1"/>
            <p:nvPr/>
          </p:nvSpPr>
          <p:spPr>
            <a:xfrm>
              <a:off x="528447" y="6581299"/>
              <a:ext cx="174475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设计模式概述</a:t>
              </a:r>
            </a:p>
          </p:txBody>
        </p:sp>
        <p:sp>
          <p:nvSpPr>
            <p:cNvPr id="71" name="TextBox 71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theme/theme1.xml><?xml version="1.0" encoding="utf-8"?>
<a:theme xmlns:a="http://schemas.openxmlformats.org/drawingml/2006/main" name="sdp_03">
  <a:themeElements>
    <a:clrScheme name="sdp_03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sdp_03">
      <a:majorFont>
        <a:latin typeface="Microsoft YaHei"/>
        <a:ea typeface="Microsoft YaHei"/>
        <a:cs typeface="Microsoft YaHei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Microsoft YaHei"/>
        <a:ea typeface="Microsoft YaHei"/>
        <a:cs typeface="Microsoft YaHei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dp_03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34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>zh-CN</dc:language>
  <cp:lastModifiedBy/>
  <cp:revision>1</cp:revision>
  <dcterms:created xsi:type="dcterms:W3CDTF">2026-09-19T07:43:18Z</dcterms:created>
  <dcterms:modified xsi:type="dcterms:W3CDTF">2026-09-19T07:43:18Z</dcterms:modified>
  <cp:category/>
  <cp:contentStatus/>
</cp:coreProperties>
</file>