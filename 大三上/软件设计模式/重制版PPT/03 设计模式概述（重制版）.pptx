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0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0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0b376c4d4ccfb6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1db8fb165c551ed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d795346fd79b351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3555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1150" y="1718310"/>
              <a:ext cx="2145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设计模式概述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模式从哪来、怎么分类、怎么挑、怎么学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模式的起源与四要素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735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GoF 23 个模式的分类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类模式与对象模式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选模式与学模式的方法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自学复习版｜据吉林大学《软件设计模式》张欣佳老师课件整理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模式从哪来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33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建筑业的 Alexander、软件模式的四个部分、GoF 的由来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什么是设计模式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定义、四个关键要素、优点与代价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872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按目的分三类，按范围分两类，23 个模式各一句话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六步选择法、按症状查模式、易混淆的模式对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和谁有关系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架构模式、惯用法、框架、设计原则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学习顺序与读一个模式的固定套路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说出设计模式的四个关键要素，并用它们描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述任意一个模式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按目的和范围两个维度把 23 个 GoF 模式归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位，说出每个模式一句话作用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区分类模式与对象模式，指出 23 个模式里哪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几个属于类模式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拿到一个设计问题，按症状列出两三个候选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模式并说明理由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说清设计模式与架构模式、惯用法、框架、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设计原则各自的界限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模式从哪来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先看建筑业的原始定义，再看它怎么搬进软件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模式起源于建筑而非软件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软件模式由四个部分构成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三个系统验证过才算模式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模式从哪来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模式起源于建筑业：一个问题的解法，可以被抄无数次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56427" cy="264033"/>
            <a:chOff x="526542" y="1545907"/>
            <a:chExt cx="615642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56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模式的概念不是软件行业发明的，它来自 1970 年代的建筑与城市规划研究。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5842635" cy="2021205"/>
            <a:chOff x="533400" y="1928812"/>
            <a:chExt cx="5842635" cy="20212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021205"/>
            </a:xfrm>
            <a:prstGeom prst="roundRect">
              <a:avLst>
                <a:gd name="adj" fmla="val 6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5450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经典定义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73340" y="2150745"/>
              <a:ext cx="2064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Alexander 对模式的定义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每个模式都描述了一个在我们的环境中不断出现的问题，然后描述了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该问题的解决方案的核心。通过这种方式，我们可以无数次地重用那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些已有的解决方案，无需再重复相同的工作。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3287554"/>
              <a:ext cx="3544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pattern is a solution to a problem in a context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551872"/>
              <a:ext cx="4302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一句话：模式是在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特定环境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中解决问题的一种方案。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542" y="4142422"/>
            <a:ext cx="5849493" cy="1555624"/>
            <a:chOff x="526542" y="4142422"/>
            <a:chExt cx="5849493" cy="1555624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4142422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9142" y="414242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模式可适用的前提条件，也就是环境与约束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281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4534852"/>
              <a:ext cx="887682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Problem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（Theme）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9142" y="453485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在这个前提条件下要解决的目标问题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0749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518064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Solution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79142" y="5180648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求解该问题时各种物理关系的记述，也就是解法本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928812"/>
            <a:ext cx="4977765" cy="2017395"/>
            <a:chOff x="6680835" y="1928812"/>
            <a:chExt cx="4977765" cy="2017395"/>
          </a:xfrm>
        </p:grpSpPr>
        <p:sp>
          <p:nvSpPr>
            <p:cNvPr id="27" name="Rectangle 27"/>
            <p:cNvSpPr/>
            <p:nvPr/>
          </p:nvSpPr>
          <p:spPr>
            <a:xfrm>
              <a:off x="6680835" y="1928812"/>
              <a:ext cx="4977765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2062162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5625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8297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72172" y="21507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模式之父与那本书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8767" y="2476500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Christopher Alexander，加州大学（伯克利）环境结构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中心研究所所长，被称为模式（Pattern）之父。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8767" y="3033712"/>
              <a:ext cx="430811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1977 年出版《A Pattern Language: Towns,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Buildings, Construction》，书中给出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253 个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建筑与城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市规划模式。</a:t>
              </a:r>
            </a:p>
          </p:txBody>
        </p:sp>
      </p:grpSp>
      <p:grpSp>
        <p:nvGrpSpPr>
          <p:cNvPr id="41" name="c2-bullets-2"/>
          <p:cNvGrpSpPr/>
          <p:nvPr/>
        </p:nvGrpSpPr>
        <p:grpSpPr>
          <a:xfrm>
            <a:off x="6680835" y="4137660"/>
            <a:ext cx="4590783" cy="881253"/>
            <a:chOff x="6680835" y="4137660"/>
            <a:chExt cx="4590783" cy="881253"/>
          </a:xfrm>
        </p:grpSpPr>
        <p:sp>
          <p:nvSpPr>
            <p:cNvPr id="35" name="Freeform 35"/>
            <p:cNvSpPr/>
            <p:nvPr/>
          </p:nvSpPr>
          <p:spPr>
            <a:xfrm>
              <a:off x="6680835" y="416623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17817" y="413766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模式描述反复出现的问题，一次性问题不必做成模式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680835" y="447484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17817" y="444627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模式给的是解法的核心，不是某一栋楼的完整图纸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80835" y="478345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17817" y="4754880"/>
              <a:ext cx="4353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脱离了环境（Context）谈解法，模式就会被用错地方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2" name="Rectangle 4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6028373"/>
              <a:ext cx="7301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记住这三个词：环境、问题、解法。后面软件模式的结构就是在它们上面加了一项“效果”。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9889" cy="909257"/>
            <a:chOff x="520446" y="342900"/>
            <a:chExt cx="64898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模式从哪来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98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软件模式 = 问题 + 前提条件 + 解法 + 效果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900160" cy="293370"/>
            <a:chOff x="525780" y="1548765"/>
            <a:chExt cx="89001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把模式的一般概念搬进软件开发领域，就得到软件模式，它是软件开发的总体指导思路或参照样板。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161" y="1977866"/>
            <a:ext cx="4985004" cy="1543622"/>
            <a:chOff x="526161" y="1977866"/>
            <a:chExt cx="4985004" cy="1543622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5334" y="197786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这个模式要解决的是什么设计问题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840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23998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前提条件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5334" y="239982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适用的环境与约束条件，不满足就别用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051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61" y="282178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25334" y="282178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参与的类与对象、它们的职责和协作方式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270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32427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5334" y="324278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得到什么、付出什么代价、有哪些已知应用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650932"/>
            <a:ext cx="4977765" cy="1981200"/>
            <a:chOff x="533400" y="3650932"/>
            <a:chExt cx="4977765" cy="1981200"/>
          </a:xfrm>
        </p:grpSpPr>
        <p:sp>
          <p:nvSpPr>
            <p:cNvPr id="21" name="Rectangle 21"/>
            <p:cNvSpPr/>
            <p:nvPr/>
          </p:nvSpPr>
          <p:spPr>
            <a:xfrm>
              <a:off x="533400" y="3650932"/>
              <a:ext cx="4977765" cy="1981200"/>
            </a:xfrm>
            <a:prstGeom prst="roundRect">
              <a:avLst>
                <a:gd name="adj" fmla="val 576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537828"/>
              <a:ext cx="224134" cy="192560"/>
              <a:chOff x="726129" y="4537828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46081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5378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6859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280059"/>
              <a:ext cx="405409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大三律（Rule of Three）：一个解决方案要在三个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以上不同类型或不同领域的系统中验证过，才能从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候选模式升格为模式。</a:t>
              </a:r>
            </a:p>
          </p:txBody>
        </p:sp>
      </p:grpSp>
      <p:grpSp>
        <p:nvGrpSpPr>
          <p:cNvPr id="50" name="c2-flow-1"/>
          <p:cNvGrpSpPr/>
          <p:nvPr/>
        </p:nvGrpSpPr>
        <p:grpSpPr>
          <a:xfrm>
            <a:off x="5952172" y="2123122"/>
            <a:ext cx="5570221" cy="2801303"/>
            <a:chOff x="5952172" y="2123122"/>
            <a:chExt cx="5570221" cy="2801303"/>
          </a:xfrm>
        </p:grpSpPr>
        <p:sp>
          <p:nvSpPr>
            <p:cNvPr id="28" name="Freeform 28"/>
            <p:cNvSpPr/>
            <p:nvPr/>
          </p:nvSpPr>
          <p:spPr>
            <a:xfrm>
              <a:off x="8737282" y="2547938"/>
              <a:ext cx="9525" cy="232410"/>
            </a:xfrm>
            <a:custGeom>
              <a:avLst/>
              <a:gdLst/>
              <a:ahLst/>
              <a:cxnLst/>
              <a:rect l="l" t="t" r="r" b="b"/>
              <a:pathLst>
                <a:path w="9525" h="232410">
                  <a:moveTo>
                    <a:pt x="0" y="0"/>
                  </a:moveTo>
                  <a:lnTo>
                    <a:pt x="0" y="2324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684895" y="2780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737282" y="3309938"/>
              <a:ext cx="9525" cy="233362"/>
            </a:xfrm>
            <a:custGeom>
              <a:avLst/>
              <a:gdLst/>
              <a:ahLst/>
              <a:cxnLst/>
              <a:rect l="l" t="t" r="r" b="b"/>
              <a:pathLst>
                <a:path w="9525" h="233362">
                  <a:moveTo>
                    <a:pt x="0" y="0"/>
                  </a:moveTo>
                  <a:lnTo>
                    <a:pt x="0" y="233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684895" y="3543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789420" y="4072890"/>
              <a:ext cx="1947862" cy="232410"/>
            </a:xfrm>
            <a:custGeom>
              <a:avLst/>
              <a:gdLst/>
              <a:ahLst/>
              <a:cxnLst/>
              <a:rect l="l" t="t" r="r" b="b"/>
              <a:pathLst>
                <a:path w="1947862" h="232410">
                  <a:moveTo>
                    <a:pt x="1947862" y="0"/>
                  </a:moveTo>
                  <a:lnTo>
                    <a:pt x="1947862" y="168592"/>
                  </a:lnTo>
                  <a:lnTo>
                    <a:pt x="0" y="168592"/>
                  </a:lnTo>
                  <a:lnTo>
                    <a:pt x="0" y="2324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737032" y="4305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737282" y="407289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684895" y="42157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737282" y="4072890"/>
              <a:ext cx="1947862" cy="232410"/>
            </a:xfrm>
            <a:custGeom>
              <a:avLst/>
              <a:gdLst/>
              <a:ahLst/>
              <a:cxnLst/>
              <a:rect l="l" t="t" r="r" b="b"/>
              <a:pathLst>
                <a:path w="1947862" h="232410">
                  <a:moveTo>
                    <a:pt x="0" y="0"/>
                  </a:moveTo>
                  <a:lnTo>
                    <a:pt x="0" y="168592"/>
                  </a:lnTo>
                  <a:lnTo>
                    <a:pt x="1947862" y="168592"/>
                  </a:lnTo>
                  <a:lnTo>
                    <a:pt x="1947862" y="2324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632758" y="4305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900035" y="2123122"/>
              <a:ext cx="1675448" cy="4248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00035" y="2885122"/>
              <a:ext cx="167544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00035" y="3648075"/>
              <a:ext cx="1675448" cy="424815"/>
            </a:xfrm>
            <a:prstGeom prst="roundRect">
              <a:avLst>
                <a:gd name="adj" fmla="val 22422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52172" y="4410075"/>
              <a:ext cx="1675448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00035" y="4320540"/>
              <a:ext cx="1675448" cy="603885"/>
            </a:xfrm>
            <a:prstGeom prst="roundRect">
              <a:avLst>
                <a:gd name="adj" fmla="val 12618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846945" y="4410075"/>
              <a:ext cx="1675448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08098" y="2251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08098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前提条件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69642" y="37766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0236" y="45386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关联解法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3986" y="4435792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效果、优缺点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已知应用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94417" y="453866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其他相关模式</a:t>
              </a:r>
            </a:p>
          </p:txBody>
        </p:sp>
      </p:grpSp>
      <p:grpSp>
        <p:nvGrpSpPr>
          <p:cNvPr id="52" name="c2-text-2"/>
          <p:cNvGrpSpPr/>
          <p:nvPr/>
        </p:nvGrpSpPr>
        <p:grpSpPr>
          <a:xfrm>
            <a:off x="5809869" y="5208270"/>
            <a:ext cx="5513832" cy="470916"/>
            <a:chOff x="5809869" y="5208270"/>
            <a:chExt cx="5513832" cy="470916"/>
          </a:xfrm>
        </p:grpSpPr>
        <p:sp>
          <p:nvSpPr>
            <p:cNvPr id="51" name="TextBox 51"/>
            <p:cNvSpPr txBox="1"/>
            <p:nvPr/>
          </p:nvSpPr>
          <p:spPr>
            <a:xfrm>
              <a:off x="5809869" y="5208270"/>
              <a:ext cx="55138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源课件的软件模式结构图：前三项确定“什么情况下怎么做”，最后一行说明做了以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后会怎样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04084"/>
              <a:ext cx="9572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软件模式不只有设计模式，架构模式、分析模式、过程模式都属于它，软件生存期的每个阶段都有被公认的模式。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69038" cy="909257"/>
            <a:chOff x="520446" y="342900"/>
            <a:chExt cx="55690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模式从哪来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69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253 个建筑模式到 23 个设计模式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708458" cy="3800475"/>
            <a:chOff x="533400" y="1524000"/>
            <a:chExt cx="6708458" cy="3800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745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012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0698" y="2045494"/>
              <a:ext cx="4577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Alexander 出版《建筑模式语言》，给出 253 个建筑与城市规划模式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0698" y="2445544"/>
              <a:ext cx="5155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Kent Beck 与 Ward Cunningham 把模式思想用于程序开发，发表在 OOPSLA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0698" y="2845594"/>
              <a:ext cx="4563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OOPSLA 与 ECOOP 联合举办，四人组正式成立，着手分类整理模式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1991-92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70698" y="3245644"/>
              <a:ext cx="456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OOPSLA 上举办首次设计模式研讨会，模式逐渐成为公开讨论的话题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6456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0698" y="3645694"/>
              <a:ext cx="5341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Kent Beck 与 Grady Booch 赞助第一次设计模式会议，后发展为 Hillside Group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24300"/>
              <a:ext cx="670845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933825"/>
              <a:ext cx="1121092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1457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70698" y="4045744"/>
              <a:ext cx="50751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届 PLoP 会议在 Allerton Park 召开；GoF 出版《设计模式》，编目 23 个模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51961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64581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70698" y="4645819"/>
              <a:ext cx="4433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PLoP'95 继续举行，《设计模式》成为当年最抢手的面向对象书籍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9196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924425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045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70698" y="5045869"/>
              <a:ext cx="4791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SE/EE 与 .NET 平台大量使用设计模式，它也成为高校的独立课程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708458" cy="38004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68780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1"/>
          <p:cNvGrpSpPr/>
          <p:nvPr/>
        </p:nvGrpSpPr>
        <p:grpSpPr>
          <a:xfrm>
            <a:off x="7546658" y="1524000"/>
            <a:ext cx="4111942" cy="2531745"/>
            <a:chOff x="7546658" y="1524000"/>
            <a:chExt cx="4111942" cy="2531745"/>
          </a:xfrm>
        </p:grpSpPr>
        <p:sp>
          <p:nvSpPr>
            <p:cNvPr id="41" name="Rectangle 41"/>
            <p:cNvSpPr/>
            <p:nvPr/>
          </p:nvSpPr>
          <p:spPr>
            <a:xfrm>
              <a:off x="7546658" y="1524000"/>
              <a:ext cx="4111942" cy="2531745"/>
            </a:xfrm>
            <a:prstGeom prst="roundRect">
              <a:avLst>
                <a:gd name="adj" fmla="val 5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56182" y="1657350"/>
              <a:ext cx="47625" cy="22650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7144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6411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7994" y="17459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两处与源课件不同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64589" y="2071688"/>
              <a:ext cx="355415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《设计模式》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1994 年 10 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Addison-Wesley 出版并在 OOPSLA'94 亮相，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原课件写在 1995 年那一条里；1995 年是它最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畅销的一年。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64589" y="3143250"/>
              <a:ext cx="35627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PLoP 全称 Pattern Languages of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Programs，是“程序的模式语言”会议，原课件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译作“编程语言模式会议”。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7546658" y="4225290"/>
            <a:ext cx="4111942" cy="1459230"/>
            <a:chOff x="7546658" y="4225290"/>
            <a:chExt cx="4111942" cy="1459230"/>
          </a:xfrm>
        </p:grpSpPr>
        <p:sp>
          <p:nvSpPr>
            <p:cNvPr id="49" name="Rectangle 49"/>
            <p:cNvSpPr/>
            <p:nvPr/>
          </p:nvSpPr>
          <p:spPr>
            <a:xfrm>
              <a:off x="7546658" y="4225290"/>
              <a:ext cx="411194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56182" y="435864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71448" y="441198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68171" y="444484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13217" y="4447222"/>
              <a:ext cx="1547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OOPSLA 是什么会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64589" y="4772978"/>
              <a:ext cx="35284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面向对象编程、系统、语言和应用大会，编程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语言与软件工程的国际顶级会议，2010 年起并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 ACM SPLASH。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6" name="Rectangle 5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8373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设计模式不是谁凭空设计出来的，是从已经跑起来的系统里反复总结、再经同行会议筛选后留下来的。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模式从哪来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四人组与《设计模式》这本书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571741" cy="278702"/>
            <a:chOff x="526161" y="1547336"/>
            <a:chExt cx="957174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5717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GoF 是 Gang of Four（四人组）的缩写，他们 1994 年归纳发表了 23 种在软件开发中使用频率较高的设计模式。</a:t>
              </a:r>
            </a:p>
          </p:txBody>
        </p:sp>
      </p:grpSp>
      <p:grpSp>
        <p:nvGrpSpPr>
          <p:cNvPr id="27" name="c1-table-1"/>
          <p:cNvGrpSpPr/>
          <p:nvPr/>
        </p:nvGrpSpPr>
        <p:grpSpPr>
          <a:xfrm>
            <a:off x="533400" y="1941195"/>
            <a:ext cx="6276022" cy="2828925"/>
            <a:chOff x="533400" y="1941195"/>
            <a:chExt cx="6276022" cy="28289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798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646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571274"/>
              <a:ext cx="964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Erich Gamma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16505" y="2471261"/>
              <a:ext cx="40154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苏黎世大学计算机科学博士，Eclipse、JUnit 等项目主要技术负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责人之一，后在微软领导 Visual Studio Code 开发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9479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952750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3177064"/>
              <a:ext cx="979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Richard Helm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16505" y="3077051"/>
              <a:ext cx="40225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墨尔本大学计算机科学博士，原 IBM 研究员，后在波士顿顾问集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团供职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537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3782854"/>
              <a:ext cx="1074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Ralph Johnson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16505" y="3682841"/>
              <a:ext cx="3994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康奈尔大学计算机科学博士，伊利诺伊大学教授，在模式、重构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领域造诣很高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595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164330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4388644"/>
              <a:ext cx="1081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 Vlissides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16505" y="4288631"/>
              <a:ext cx="39657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斯坦福大学计算机科学博士，原 IBM 研究员，2005 年 11 月 24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日因脑瘤去世，享年 44 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41195"/>
              <a:ext cx="6276022" cy="2828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11730" y="1941195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4945380"/>
            <a:ext cx="6276022" cy="1272540"/>
            <a:chOff x="533400" y="4945380"/>
            <a:chExt cx="6276022" cy="1272540"/>
          </a:xfrm>
        </p:grpSpPr>
        <p:sp>
          <p:nvSpPr>
            <p:cNvPr id="28" name="Rectangle 28"/>
            <p:cNvSpPr/>
            <p:nvPr/>
          </p:nvSpPr>
          <p:spPr>
            <a:xfrm>
              <a:off x="533400" y="4945380"/>
              <a:ext cx="6276022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507873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3905" y="51377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5345" y="51720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延伸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47597" y="5177790"/>
              <a:ext cx="197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 23 个模式今天在哪里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047" y="5512118"/>
              <a:ext cx="5083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 I/O 流用装饰，集合用迭代器，Swing 事件用观察者。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047" y="5814060"/>
              <a:ext cx="531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Spring 用代理做 AOP、用工厂造 Bean，读源码时常能遇见它们。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941195"/>
            <a:ext cx="4544378" cy="2648902"/>
            <a:chOff x="7114222" y="1941195"/>
            <a:chExt cx="4544378" cy="2648902"/>
          </a:xfrm>
        </p:grpSpPr>
        <p:sp>
          <p:nvSpPr>
            <p:cNvPr id="36" name="Rectangle 36"/>
            <p:cNvSpPr/>
            <p:nvPr/>
          </p:nvSpPr>
          <p:spPr>
            <a:xfrm>
              <a:off x="7114222" y="1941195"/>
              <a:ext cx="4544378" cy="2648902"/>
            </a:xfrm>
            <a:prstGeom prst="roundRect">
              <a:avLst>
                <a:gd name="adj" fmla="val 503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06628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94067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这本书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23670" y="217360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《设计模式：可复用面向对象软件的基础》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99770" y="2507932"/>
              <a:ext cx="32369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Design Patterns: Elements of Reusable</a:t>
              </a:r>
              <a:br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Object-Oriented Software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15200" y="312420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71220" y="3068002"/>
              <a:ext cx="3297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编目 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 个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模式，每个模式按统一模板写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15200" y="34261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71220" y="3369945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目的是用模式统一沟通面向对象方法在分析、设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计、实现之间的鸿沟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15200" y="39862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71220" y="3930015"/>
              <a:ext cx="37770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书里的代码用 C++ 和 Smalltalk，本课程统一改用</a:t>
              </a:r>
              <a:br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7114222" y="4765358"/>
            <a:ext cx="4544378" cy="1452562"/>
            <a:chOff x="7114222" y="4765358"/>
            <a:chExt cx="4544378" cy="1452562"/>
          </a:xfrm>
        </p:grpSpPr>
        <p:sp>
          <p:nvSpPr>
            <p:cNvPr id="48" name="Rectangle 48"/>
            <p:cNvSpPr/>
            <p:nvPr/>
          </p:nvSpPr>
          <p:spPr>
            <a:xfrm>
              <a:off x="7114222" y="4765358"/>
              <a:ext cx="4544378" cy="1452562"/>
            </a:xfrm>
            <a:prstGeom prst="roundRect">
              <a:avLst>
                <a:gd name="adj" fmla="val 786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19010" y="5391150"/>
              <a:ext cx="200026" cy="200025"/>
              <a:chOff x="7319010" y="5391150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19010" y="53911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58749" y="54356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93464" y="55467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621714" y="5148262"/>
              <a:ext cx="368274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后面 20 多讲讲的就是这 23 个模式（另加一个不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23 之列的简单工厂）。这一讲是它们的总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纲。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什么是设计模式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定义、四个关键要素，以及它能给你什么、要你付出什么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设计模式像一本菜谱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四个关键要素撑起一个模式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知道名字不等于会用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什么是设计模式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设计模式是针对重复出现的设计问题、经过实践验证的解决方案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951220" cy="2015490"/>
            <a:chOff x="533400" y="1524000"/>
            <a:chExt cx="5951220" cy="2015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3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设计模式（Design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设计模式是一套被反复使用、多数人知晓、经过分类编目的代码设计经验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的总结。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5406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使用它是为了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可复用代码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、让代码更容易被他人理解、保证代码可靠性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4424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它解决的是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反复出现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的设计问题，一次性问题不需要模式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21183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15896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它是被实践验证过的方案，不是学术兴趣上的理论建议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04272"/>
            <a:ext cx="5951220" cy="1687830"/>
            <a:chOff x="533400" y="3704272"/>
            <a:chExt cx="5951220" cy="1687830"/>
          </a:xfrm>
        </p:grpSpPr>
        <p:sp>
          <p:nvSpPr>
            <p:cNvPr id="20" name="Rectangle 20"/>
            <p:cNvSpPr/>
            <p:nvPr/>
          </p:nvSpPr>
          <p:spPr>
            <a:xfrm>
              <a:off x="533400" y="3704272"/>
              <a:ext cx="595122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837622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38852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39181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450" y="39247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设计模式就像菜谱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424100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有些菜是人们反复尝试和烹制的，一段时间后某种烹饪方式成为首选，因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为它做出来最好吃，于是被写进食谱。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76964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即便不是厨师，严格照着食谱也能做出像样的菜；不照食谱，结果就不一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定了。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789420" y="1524000"/>
            <a:ext cx="4869180" cy="2711481"/>
            <a:chOff x="6789420" y="1524000"/>
            <a:chExt cx="4869180" cy="2711481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16745" r="0" b="16745"/>
            <a:stretch>
              <a:fillRect/>
            </a:stretch>
          </p:blipFill>
          <p:spPr>
            <a:xfrm>
              <a:off x="6789420" y="1524000"/>
              <a:ext cx="4869180" cy="2428875"/>
            </a:xfrm>
            <a:prstGeom prst="roundRect">
              <a:avLst>
                <a:gd name="adj" fmla="val 5490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569962" y="4044791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照着成熟的方子做，结果稳定；每次从零试，结果看运气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789420" y="4381500"/>
            <a:ext cx="4869180" cy="1010602"/>
            <a:chOff x="6789420" y="4381500"/>
            <a:chExt cx="4869180" cy="1010602"/>
          </a:xfrm>
        </p:grpSpPr>
        <p:sp>
          <p:nvSpPr>
            <p:cNvPr id="31" name="Rectangle 31"/>
            <p:cNvSpPr/>
            <p:nvPr/>
          </p:nvSpPr>
          <p:spPr>
            <a:xfrm>
              <a:off x="6789420" y="4381500"/>
              <a:ext cx="4869180" cy="1010602"/>
            </a:xfrm>
            <a:prstGeom prst="roundRect">
              <a:avLst>
                <a:gd name="adj" fmla="val 1131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94208" y="4787265"/>
              <a:ext cx="200026" cy="200026"/>
              <a:chOff x="6994208" y="478726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994208" y="47872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4220" y="48539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83108" y="48872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297293" y="4680109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不是每次都要从基本的对象抽象和设计原则出发解决问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题，先看看前人有没有把这个问题的解法编好目录。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8" name="Rectangle 3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判断一个方案够不够格叫模式，看两条：问题是否反复出现，解法是否被多个系统验证过。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什么是设计模式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一个模式至少要讲清四件事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15600" cy="293370"/>
            <a:chOff x="525780" y="1548765"/>
            <a:chExt cx="105156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15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设计模式一般包含模式名称、问题、目的、解决方案、效果、实例代码和相关设计模式，其中的关键元素是下面四个。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161" y="1977866"/>
            <a:ext cx="5417439" cy="2882837"/>
            <a:chOff x="526161" y="1977866"/>
            <a:chExt cx="5417439" cy="2882837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52167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模式名称 Pattern</a:t>
              </a:r>
              <a:br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4024" y="1977866"/>
              <a:ext cx="32605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用一两个词描述问题、解法和效果，让设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计词汇上升到更高的抽象层次，方便交流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517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2667476"/>
              <a:ext cx="12263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问题 Problem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4024" y="2667476"/>
              <a:ext cx="32605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描述应该在什么时候使用模式，解释设计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问题和问题存在的前因后果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241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61" y="3357086"/>
              <a:ext cx="16281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解决方案 Solution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74024" y="3357086"/>
              <a:ext cx="32605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描述设计的组成成分、它们之间的相互关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系及各自的职责和协作方式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9309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4046696"/>
              <a:ext cx="17882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效果 Consequences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4024" y="4046696"/>
              <a:ext cx="326059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描述模式的应用效果及使用模式应权衡的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问题，主要是对时间和空间、系统灵活性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与扩展性的影响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990148"/>
            <a:ext cx="5410200" cy="1246822"/>
            <a:chOff x="533400" y="4990148"/>
            <a:chExt cx="5410200" cy="1246822"/>
          </a:xfrm>
        </p:grpSpPr>
        <p:sp>
          <p:nvSpPr>
            <p:cNvPr id="21" name="Rectangle 21"/>
            <p:cNvSpPr/>
            <p:nvPr/>
          </p:nvSpPr>
          <p:spPr>
            <a:xfrm>
              <a:off x="533400" y="4990148"/>
              <a:ext cx="5410200" cy="1246822"/>
            </a:xfrm>
            <a:prstGeom prst="roundRect">
              <a:avLst>
                <a:gd name="adj" fmla="val 916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5510331"/>
              <a:ext cx="224134" cy="192560"/>
              <a:chOff x="726129" y="551033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5806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55103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6584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5383054"/>
              <a:ext cx="418033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四要素里最容易被跳过的是“效果”。只记结构不记代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价，就会在不合适的地方硬套模式。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954530"/>
            <a:ext cx="5410200" cy="1982152"/>
            <a:chOff x="6248400" y="1954530"/>
            <a:chExt cx="5410200" cy="1982152"/>
          </a:xfrm>
        </p:grpSpPr>
        <p:sp>
          <p:nvSpPr>
            <p:cNvPr id="28" name="Rectangle 28"/>
            <p:cNvSpPr/>
            <p:nvPr/>
          </p:nvSpPr>
          <p:spPr>
            <a:xfrm>
              <a:off x="6248400" y="1954530"/>
              <a:ext cx="5410200" cy="1982152"/>
            </a:xfrm>
            <a:prstGeom prst="roundRect">
              <a:avLst>
                <a:gd name="adj" fmla="val 6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87880"/>
              <a:ext cx="47625" cy="17154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2644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完整要素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5588" y="2197894"/>
              <a:ext cx="2141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写一个模式用的模板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0335" y="253746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48680" y="2577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1229" y="2550319"/>
              <a:ext cx="36847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模式名和分类　2. 意图　3. 别名　4. 动机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0335" y="285750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8680" y="28978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81229" y="2870359"/>
              <a:ext cx="40670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适用性　6. 结构（类图）　7. 参与者　8. 协作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0335" y="31775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8680" y="32178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81229" y="3190399"/>
              <a:ext cx="26716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　10. 实现　11. 代码示例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0335" y="349758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8680" y="35379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81229" y="3510439"/>
              <a:ext cx="21076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已知应用　13. 相关模式</a:t>
              </a:r>
            </a:p>
          </p:txBody>
        </p:sp>
      </p:grpSp>
      <p:grpSp>
        <p:nvGrpSpPr>
          <p:cNvPr id="55" name="c2-bullets-2"/>
          <p:cNvGrpSpPr/>
          <p:nvPr/>
        </p:nvGrpSpPr>
        <p:grpSpPr>
          <a:xfrm>
            <a:off x="6241161" y="4145756"/>
            <a:ext cx="5135118" cy="2147507"/>
            <a:chOff x="6241161" y="4145756"/>
            <a:chExt cx="5135118" cy="2147507"/>
          </a:xfrm>
        </p:grpSpPr>
        <p:sp>
          <p:nvSpPr>
            <p:cNvPr id="46" name="TextBox 46"/>
            <p:cNvSpPr txBox="1"/>
            <p:nvPr/>
          </p:nvSpPr>
          <p:spPr>
            <a:xfrm>
              <a:off x="6241161" y="414575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用四要素描述策略模式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248400" y="451389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92621" y="4483894"/>
              <a:ext cx="2199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名称：策略（Strategy）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248400" y="484346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92621" y="481345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问题：同一件事有多种算法，客户端用条件语句挑，新增算法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要改老代码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248400" y="5443538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92621" y="541353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解法：每种算法封装成一个类，实现同一接口，环境类只持有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248400" y="604456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92621" y="601456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效果：新增算法不改环境类，但策略类会变多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什么是设计模式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知道模式的名字，和会用模式，是两回事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977765" cy="2812352"/>
            <a:chOff x="533400" y="1524000"/>
            <a:chExt cx="4977765" cy="281235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6335" r="0" b="16335"/>
            <a:stretch>
              <a:fillRect/>
            </a:stretch>
          </p:blipFill>
          <p:spPr>
            <a:xfrm>
              <a:off x="533400" y="1524000"/>
              <a:ext cx="4977765" cy="2513648"/>
            </a:xfrm>
            <a:prstGeom prst="roundRect">
              <a:avLst>
                <a:gd name="adj" fmla="val 5305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08710" y="4130993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初学者只知道每个棋子怎么走，高手在棋盘上找的是局面模式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489132"/>
            <a:ext cx="4977765" cy="827722"/>
            <a:chOff x="533400" y="4489132"/>
            <a:chExt cx="4977765" cy="827722"/>
          </a:xfrm>
        </p:grpSpPr>
        <p:sp>
          <p:nvSpPr>
            <p:cNvPr id="10" name="Rectangle 10"/>
            <p:cNvSpPr/>
            <p:nvPr/>
          </p:nvSpPr>
          <p:spPr>
            <a:xfrm>
              <a:off x="533400" y="4489132"/>
              <a:ext cx="4977765" cy="827722"/>
            </a:xfrm>
            <a:prstGeom prst="roundRect">
              <a:avLst>
                <a:gd name="adj" fmla="val 1380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26129" y="4799766"/>
              <a:ext cx="224134" cy="192560"/>
              <a:chOff x="726129" y="4799766"/>
              <a:chExt cx="224134" cy="1925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8200" y="48701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26129" y="47997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9479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4684395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有许多可用的设计模式，有时一种模式似乎适用，但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实际上并不适合当前问题。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5815965" y="1524000"/>
            <a:ext cx="5842635" cy="1786890"/>
            <a:chOff x="5815965" y="1524000"/>
            <a:chExt cx="5842635" cy="1786890"/>
          </a:xfrm>
        </p:grpSpPr>
        <p:sp>
          <p:nvSpPr>
            <p:cNvPr id="17" name="Rectangle 17"/>
            <p:cNvSpPr/>
            <p:nvPr/>
          </p:nvSpPr>
          <p:spPr>
            <a:xfrm>
              <a:off x="5815965" y="1524000"/>
              <a:ext cx="584263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25490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647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3791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30162" y="17564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下棋与写代码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9612" y="209073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初学棋手只知道每个棋子的基本走法，专家棋手会在棋盘上寻找合适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的局面模式，象棋棋谱记的就是这些模式。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9612" y="2649855"/>
              <a:ext cx="520007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初学开发者只知道语言语法，会写 for 循环和方法；有经验以后会写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出遵循通用约定的惯用代码，再往上才是懂得选用模式。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5815965" y="3485198"/>
            <a:ext cx="5842635" cy="1831658"/>
            <a:chOff x="5815965" y="3485198"/>
            <a:chExt cx="5842635" cy="1831658"/>
          </a:xfrm>
        </p:grpSpPr>
        <p:sp>
          <p:nvSpPr>
            <p:cNvPr id="25" name="Rectangle 25"/>
            <p:cNvSpPr/>
            <p:nvPr/>
          </p:nvSpPr>
          <p:spPr>
            <a:xfrm>
              <a:off x="5815965" y="3485198"/>
              <a:ext cx="5842635" cy="1831658"/>
            </a:xfrm>
            <a:prstGeom prst="roundRect">
              <a:avLst>
                <a:gd name="adj" fmla="val 728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08370" y="3677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99810" y="3711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2062" y="371760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模式带来的是起点，不是答案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01512" y="4051935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模式已经被专家验证并实践过，我们可以跳过他们做过的试验，直接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从一个较好的设计出发。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16942" y="46682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72962" y="4612005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判断“这里该不该用模式”的能力，只能靠做例子和读代码积累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16942" y="497014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72962" y="491394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拿不准时，先把问题和变化点写清楚，再回头对照模式的“适用性”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常见错误是先选定模式再找地方套。正确顺序是先说清问题和会变的部分，再去找匹配的模式。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什么是设计模式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设计模式的优点与要付的代价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294370" cy="293370"/>
            <a:chOff x="525780" y="1548765"/>
            <a:chExt cx="8294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设计模式是从许多优秀系统中总结出的、能实现可维护性复用的设计方案，但它不是免费的。</a:t>
              </a:r>
            </a:p>
          </p:txBody>
        </p:sp>
      </p:grpSp>
      <p:grpSp>
        <p:nvGrpSpPr>
          <p:cNvPr id="35" name="c1-compare-1"/>
          <p:cNvGrpSpPr/>
          <p:nvPr/>
        </p:nvGrpSpPr>
        <p:grpSpPr>
          <a:xfrm>
            <a:off x="533400" y="1954530"/>
            <a:ext cx="11125200" cy="3629978"/>
            <a:chOff x="533400" y="1954530"/>
            <a:chExt cx="11125200" cy="362997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353050" cy="3629978"/>
            </a:xfrm>
            <a:prstGeom prst="roundRect">
              <a:avLst>
                <a:gd name="adj" fmla="val 36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3632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096" y="21817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52079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提供一套通用的设计词汇与语言，开发人员之间沟通设计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方案更省事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11229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不同编程语言的设计人员可以用同一套模式名交流，降低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理解系统的复杂度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70379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使人们更简单方便地复用成功的设计，避开那些导致不可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复用的方案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3548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29529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设计方案更灵活、易于修改，提高开发效率与软件质量，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节约设计成本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94633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88680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帮助初学者理解面向对象思想，读懂现有类库与其他系统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的源代码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05550" y="1954530"/>
              <a:ext cx="5353050" cy="3629978"/>
            </a:xfrm>
            <a:prstGeom prst="roundRect">
              <a:avLst>
                <a:gd name="adj" fmla="val 36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15075" y="2087880"/>
              <a:ext cx="47625" cy="33632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0246" y="21817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55105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1696" y="252079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类和对象的数量增多，多了一层间接，阅读和调试要多跳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几步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55105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1696" y="311229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用在不该用的地方就是过度设计，把简单问题做复杂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55105" y="349186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1696" y="343233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模式给的是解法骨架，落到具体语言和业务还要自己裁剪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55105" y="381190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1696" y="375237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只背名字和类图不练手，遇到真问题仍然想不起来用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934075" y="360711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04415" y="37042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1" name="c1-callout-2"/>
          <p:cNvGrpSpPr/>
          <p:nvPr/>
        </p:nvGrpSpPr>
        <p:grpSpPr>
          <a:xfrm>
            <a:off x="533400" y="5769292"/>
            <a:ext cx="11125200" cy="593408"/>
            <a:chOff x="533400" y="5769292"/>
            <a:chExt cx="11125200" cy="593408"/>
          </a:xfrm>
        </p:grpSpPr>
        <p:sp>
          <p:nvSpPr>
            <p:cNvPr id="36" name="Rectangle 36"/>
            <p:cNvSpPr/>
            <p:nvPr/>
          </p:nvSpPr>
          <p:spPr>
            <a:xfrm>
              <a:off x="533400" y="5769292"/>
              <a:ext cx="11125200" cy="593408"/>
            </a:xfrm>
            <a:prstGeom prst="roundRect">
              <a:avLst>
                <a:gd name="adj" fmla="val 192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66462"/>
              <a:ext cx="200023" cy="200023"/>
              <a:chOff x="738188" y="5966462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664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33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5966936"/>
              <a:ext cx="9400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模式的价值在于让“以后会变的地方”可以低成本地变。如果一段代码确定不会变，硬加模式只是给自己添麻烦。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713389" cy="2997517"/>
            <a:chOff x="667512" y="1835468"/>
            <a:chExt cx="471338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71338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23 个模式的分类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两个维度、三大类，每个模式先记住一句话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按目的分创建型结构型行为型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按范围分类模式与对象模式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个模式各一句话作用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按目的分类：模式是用来做什么的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19857" cy="308039"/>
            <a:chOff x="525399" y="1550194"/>
            <a:chExt cx="811985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198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第一个维度问的是“这个模式管哪一类事”，按此可分为创建型、结构型、行为型三种。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5780" y="1992630"/>
            <a:ext cx="5634038" cy="2301240"/>
            <a:chOff x="525780" y="1992630"/>
            <a:chExt cx="5634038" cy="230124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0153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创建型</a:t>
              </a:r>
              <a:br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Creational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4030" y="1992630"/>
              <a:ext cx="4034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主要用于创建对象。把“用哪个类、怎么造”这件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事从使用者身上拿走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1005364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结构型</a:t>
              </a:r>
              <a:br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Structura</a:t>
              </a:r>
              <a:br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64030" y="271462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主要用于处理类或对象的组合。关心多个类、多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个对象怎么拼成更大的结构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5985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718560"/>
              <a:ext cx="10153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行为型</a:t>
              </a:r>
              <a:br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Behavioral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64030" y="371856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主要用于描述类或对象怎样交互、怎样分配职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责。关心运行时谁调用谁、谁负责什么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425315"/>
            <a:ext cx="5626418" cy="1252538"/>
            <a:chOff x="533400" y="4425315"/>
            <a:chExt cx="5626418" cy="1252538"/>
          </a:xfrm>
        </p:grpSpPr>
        <p:sp>
          <p:nvSpPr>
            <p:cNvPr id="18" name="Rectangle 18"/>
            <p:cNvSpPr/>
            <p:nvPr/>
          </p:nvSpPr>
          <p:spPr>
            <a:xfrm>
              <a:off x="533400" y="4425315"/>
              <a:ext cx="5626418" cy="1252538"/>
            </a:xfrm>
            <a:prstGeom prst="roundRect">
              <a:avLst>
                <a:gd name="adj" fmla="val 91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951095"/>
              <a:ext cx="200026" cy="200025"/>
              <a:chOff x="738188" y="4951095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9510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9955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1066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670108"/>
              <a:ext cx="4606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一个粗略的判别顺序：先问“我在纠结 new 谁”（创建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型），再问“我在纠结怎么拼”（结构型），否则多半是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“谁做什么”（行为型）。</a:t>
              </a:r>
            </a:p>
          </p:txBody>
        </p:sp>
      </p:grpSp>
      <p:grpSp>
        <p:nvGrpSpPr>
          <p:cNvPr id="48" name="c2-tree-1"/>
          <p:cNvGrpSpPr/>
          <p:nvPr/>
        </p:nvGrpSpPr>
        <p:grpSpPr>
          <a:xfrm>
            <a:off x="6464618" y="2035492"/>
            <a:ext cx="5193982" cy="2911794"/>
            <a:chOff x="6464618" y="2035492"/>
            <a:chExt cx="5193982" cy="2911794"/>
          </a:xfrm>
        </p:grpSpPr>
        <p:sp>
          <p:nvSpPr>
            <p:cNvPr id="25" name="Freeform 25"/>
            <p:cNvSpPr/>
            <p:nvPr/>
          </p:nvSpPr>
          <p:spPr>
            <a:xfrm>
              <a:off x="10012680" y="2729865"/>
              <a:ext cx="419100" cy="507682"/>
            </a:xfrm>
            <a:custGeom>
              <a:avLst/>
              <a:gdLst/>
              <a:ahLst/>
              <a:cxnLst/>
              <a:rect l="l" t="t" r="r" b="b"/>
              <a:pathLst>
                <a:path w="419100" h="507682">
                  <a:moveTo>
                    <a:pt x="0" y="507682"/>
                  </a:moveTo>
                  <a:lnTo>
                    <a:pt x="209550" y="50768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012680" y="323754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012680" y="3237548"/>
              <a:ext cx="419100" cy="507683"/>
            </a:xfrm>
            <a:custGeom>
              <a:avLst/>
              <a:gdLst/>
              <a:ahLst/>
              <a:cxnLst/>
              <a:rect l="l" t="t" r="r" b="b"/>
              <a:pathLst>
                <a:path w="419100" h="507683">
                  <a:moveTo>
                    <a:pt x="0" y="0"/>
                  </a:moveTo>
                  <a:lnTo>
                    <a:pt x="209550" y="0"/>
                  </a:lnTo>
                  <a:lnTo>
                    <a:pt x="209550" y="507683"/>
                  </a:lnTo>
                  <a:lnTo>
                    <a:pt x="419100" y="50768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626668" y="2221230"/>
              <a:ext cx="419100" cy="1270635"/>
            </a:xfrm>
            <a:custGeom>
              <a:avLst/>
              <a:gdLst/>
              <a:ahLst/>
              <a:cxnLst/>
              <a:rect l="l" t="t" r="r" b="b"/>
              <a:pathLst>
                <a:path w="419100" h="1270635">
                  <a:moveTo>
                    <a:pt x="0" y="1270635"/>
                  </a:moveTo>
                  <a:lnTo>
                    <a:pt x="209550" y="12706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626668" y="3237548"/>
              <a:ext cx="419100" cy="254318"/>
            </a:xfrm>
            <a:custGeom>
              <a:avLst/>
              <a:gdLst/>
              <a:ahLst/>
              <a:cxnLst/>
              <a:rect l="l" t="t" r="r" b="b"/>
              <a:pathLst>
                <a:path w="419100" h="254318">
                  <a:moveTo>
                    <a:pt x="0" y="254318"/>
                  </a:moveTo>
                  <a:lnTo>
                    <a:pt x="209550" y="25431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626668" y="3491865"/>
              <a:ext cx="419100" cy="762000"/>
            </a:xfrm>
            <a:custGeom>
              <a:avLst/>
              <a:gdLst/>
              <a:ahLst/>
              <a:cxnLst/>
              <a:rect l="l" t="t" r="r" b="b"/>
              <a:pathLst>
                <a:path w="419100" h="762000">
                  <a:moveTo>
                    <a:pt x="0" y="0"/>
                  </a:moveTo>
                  <a:lnTo>
                    <a:pt x="209550" y="0"/>
                  </a:lnTo>
                  <a:lnTo>
                    <a:pt x="209550" y="762000"/>
                  </a:lnTo>
                  <a:lnTo>
                    <a:pt x="419100" y="7620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26668" y="3491865"/>
              <a:ext cx="419100" cy="1269682"/>
            </a:xfrm>
            <a:custGeom>
              <a:avLst/>
              <a:gdLst/>
              <a:ahLst/>
              <a:cxnLst/>
              <a:rect l="l" t="t" r="r" b="b"/>
              <a:pathLst>
                <a:path w="419100" h="1269682">
                  <a:moveTo>
                    <a:pt x="0" y="0"/>
                  </a:moveTo>
                  <a:lnTo>
                    <a:pt x="209550" y="0"/>
                  </a:lnTo>
                  <a:lnTo>
                    <a:pt x="209550" y="1269682"/>
                  </a:lnTo>
                  <a:lnTo>
                    <a:pt x="419100" y="126968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45768" y="2035492"/>
              <a:ext cx="196691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31780" y="2543175"/>
              <a:ext cx="12268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31780" y="3050858"/>
              <a:ext cx="12268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431780" y="3559492"/>
              <a:ext cx="12268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45768" y="2946082"/>
              <a:ext cx="1966912" cy="582930"/>
            </a:xfrm>
            <a:prstGeom prst="roundRect">
              <a:avLst>
                <a:gd name="adj" fmla="val 1634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45768" y="4067175"/>
              <a:ext cx="196691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45768" y="4574858"/>
              <a:ext cx="196691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3305175"/>
              <a:ext cx="1162050" cy="372428"/>
            </a:xfrm>
            <a:prstGeom prst="roundRect">
              <a:avLst>
                <a:gd name="adj" fmla="val 2557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34541" y="21321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20553" y="26408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 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20553" y="314848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 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20553" y="36561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 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34541" y="3042761"/>
              <a:ext cx="739597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设计模式</a:t>
              </a:r>
              <a:br/>
              <a:r>
                <a:rPr lang="zh-CN" sz="12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（23 个）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34541" y="41648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34541" y="4672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53391" y="34028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软件模式</a:t>
              </a:r>
            </a:p>
          </p:txBody>
        </p:sp>
      </p:grpSp>
      <p:grpSp>
        <p:nvGrpSpPr>
          <p:cNvPr id="50" name="c2-text-2"/>
          <p:cNvGrpSpPr/>
          <p:nvPr/>
        </p:nvGrpSpPr>
        <p:grpSpPr>
          <a:xfrm>
            <a:off x="6458141" y="5226844"/>
            <a:ext cx="4865370" cy="500824"/>
            <a:chOff x="6458141" y="5226844"/>
            <a:chExt cx="4865370" cy="500824"/>
          </a:xfrm>
        </p:grpSpPr>
        <p:sp>
          <p:nvSpPr>
            <p:cNvPr id="49" name="TextBox 49"/>
            <p:cNvSpPr txBox="1"/>
            <p:nvPr/>
          </p:nvSpPr>
          <p:spPr>
            <a:xfrm>
              <a:off x="6458141" y="5226844"/>
              <a:ext cx="486537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的 23 个模式里创建型 5 个。本课程另外单列一讲简单工厂，它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是工厂方法的简化形式，不在 23 个之列，所以创建型一共上 6 讲。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按范围分类：处理类之间的关系，还是对象之间的关系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30692"/>
            <a:chOff x="533400" y="1524000"/>
            <a:chExt cx="5410200" cy="1730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3228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靠继承，编译时确定，静态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类模式处理类和子类之间的关系，这些关系通过继承建立，在编译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时刻就被确定下来。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关系固定，运行期换不掉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2579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23 个模式里只有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 个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属于类模式</a:t>
              </a:r>
            </a:p>
          </p:txBody>
        </p:sp>
      </p:grpSp>
      <p:grpSp>
        <p:nvGrpSpPr>
          <p:cNvPr id="32" name="c1-uml-2"/>
          <p:cNvGrpSpPr/>
          <p:nvPr/>
        </p:nvGrpSpPr>
        <p:grpSpPr>
          <a:xfrm>
            <a:off x="2651760" y="3531870"/>
            <a:ext cx="1172528" cy="1562100"/>
            <a:chOff x="2651760" y="3531870"/>
            <a:chExt cx="1172528" cy="1562100"/>
          </a:xfrm>
        </p:grpSpPr>
        <p:sp>
          <p:nvSpPr>
            <p:cNvPr id="18" name="Freeform 18"/>
            <p:cNvSpPr/>
            <p:nvPr/>
          </p:nvSpPr>
          <p:spPr>
            <a:xfrm>
              <a:off x="3238500" y="4363402"/>
              <a:ext cx="9525" cy="174307"/>
            </a:xfrm>
            <a:custGeom>
              <a:avLst/>
              <a:gdLst/>
              <a:ahLst/>
              <a:cxnLst/>
              <a:rect l="l" t="t" r="r" b="b"/>
              <a:pathLst>
                <a:path w="9525" h="174307">
                  <a:moveTo>
                    <a:pt x="0" y="17430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165158" y="42376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51760" y="3531870"/>
              <a:ext cx="1172528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59380" y="3539490"/>
              <a:ext cx="115824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51760" y="3744278"/>
              <a:ext cx="11725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51760" y="3839528"/>
              <a:ext cx="11725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67000" y="453771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74620" y="454437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67000" y="47501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67000" y="48453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791021" y="3583305"/>
              <a:ext cx="894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AbstractClass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23198" y="3907631"/>
              <a:ext cx="103009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templateMethod()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step1()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1021" y="4589145"/>
              <a:ext cx="894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ConcreteClass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38438" y="4913471"/>
              <a:ext cx="528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step1()</a:t>
              </a:r>
            </a:p>
          </p:txBody>
        </p:sp>
      </p:grpSp>
      <p:grpSp>
        <p:nvGrpSpPr>
          <p:cNvPr id="34" name="c1-text-3"/>
          <p:cNvGrpSpPr/>
          <p:nvPr/>
        </p:nvGrpSpPr>
        <p:grpSpPr>
          <a:xfrm>
            <a:off x="1536954" y="5463540"/>
            <a:ext cx="3403092" cy="205359"/>
            <a:chOff x="1536954" y="5463540"/>
            <a:chExt cx="3403092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1536954" y="546354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模板方法：算法骨架写死在父类，步骤由子类继承实现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730692"/>
            <a:chOff x="6248400" y="1524000"/>
            <a:chExt cx="5410200" cy="1730692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7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2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对象模式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83006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靠组合聚合，运行时可换，动态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0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对象模式处理对象间的关系，这些关系在运行时刻变化，更具动态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7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2448" y="258937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持有的是接口引用，运行期可以换一个实现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29270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2448" y="2874169"/>
              <a:ext cx="28509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23 个模式里其余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19 个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都是对象模式</a:t>
              </a:r>
            </a:p>
          </p:txBody>
        </p:sp>
      </p:grpSp>
      <p:grpSp>
        <p:nvGrpSpPr>
          <p:cNvPr id="78" name="c2-uml-2"/>
          <p:cNvGrpSpPr/>
          <p:nvPr/>
        </p:nvGrpSpPr>
        <p:grpSpPr>
          <a:xfrm>
            <a:off x="6944678" y="3531870"/>
            <a:ext cx="4017645" cy="1562100"/>
            <a:chOff x="6944678" y="3531870"/>
            <a:chExt cx="4017645" cy="1562100"/>
          </a:xfrm>
        </p:grpSpPr>
        <p:sp>
          <p:nvSpPr>
            <p:cNvPr id="46" name="Freeform 46"/>
            <p:cNvSpPr/>
            <p:nvPr/>
          </p:nvSpPr>
          <p:spPr>
            <a:xfrm>
              <a:off x="8433435" y="3884295"/>
              <a:ext cx="1301115" cy="9525"/>
            </a:xfrm>
            <a:custGeom>
              <a:avLst/>
              <a:gdLst/>
              <a:ahLst/>
              <a:cxnLst/>
              <a:rect l="l" t="t" r="r" b="b"/>
              <a:pathLst>
                <a:path w="1301115" h="9525">
                  <a:moveTo>
                    <a:pt x="130111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223885" y="3827145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600950" y="4351020"/>
              <a:ext cx="2609850" cy="186690"/>
            </a:xfrm>
            <a:custGeom>
              <a:avLst/>
              <a:gdLst/>
              <a:ahLst/>
              <a:cxnLst/>
              <a:rect l="l" t="t" r="r" b="b"/>
              <a:pathLst>
                <a:path w="2609850" h="186690">
                  <a:moveTo>
                    <a:pt x="0" y="186690"/>
                  </a:moveTo>
                  <a:lnTo>
                    <a:pt x="0" y="30480"/>
                  </a:lnTo>
                  <a:lnTo>
                    <a:pt x="2609850" y="30480"/>
                  </a:lnTo>
                  <a:lnTo>
                    <a:pt x="26098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10137458" y="42252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306050" y="4351020"/>
              <a:ext cx="95250" cy="186690"/>
            </a:xfrm>
            <a:custGeom>
              <a:avLst/>
              <a:gdLst/>
              <a:ahLst/>
              <a:cxnLst/>
              <a:rect l="l" t="t" r="r" b="b"/>
              <a:pathLst>
                <a:path w="95250" h="186690">
                  <a:moveTo>
                    <a:pt x="0" y="186690"/>
                  </a:moveTo>
                  <a:lnTo>
                    <a:pt x="0" y="30480"/>
                  </a:lnTo>
                  <a:lnTo>
                    <a:pt x="95250" y="3048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10327958" y="42252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78015" y="3531870"/>
              <a:ext cx="124587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85635" y="3539490"/>
              <a:ext cx="12315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78015" y="3744278"/>
              <a:ext cx="12458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78015" y="3988118"/>
              <a:ext cx="12458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34550" y="3543300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42170" y="355092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34550" y="38814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734550" y="39766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44678" y="4537710"/>
              <a:ext cx="131254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51345" y="4544378"/>
              <a:ext cx="129825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44678" y="475011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44678" y="484536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649778" y="4537710"/>
              <a:ext cx="131254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56445" y="4544378"/>
              <a:ext cx="129825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649778" y="475011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649778" y="484536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49317" y="3583305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49452" y="3812381"/>
              <a:ext cx="1172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strategy: Strategy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49452" y="405622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08489" y="359187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19432" y="3720465"/>
              <a:ext cx="5732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05988" y="4044791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95512" y="4589145"/>
              <a:ext cx="1210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ConcreteStrategyA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16115" y="4913471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00612" y="4589145"/>
              <a:ext cx="1210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ConcreteStrategyB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21215" y="4913471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</p:grpSp>
      <p:grpSp>
        <p:nvGrpSpPr>
          <p:cNvPr id="80" name="c2-text-3"/>
          <p:cNvGrpSpPr/>
          <p:nvPr/>
        </p:nvGrpSpPr>
        <p:grpSpPr>
          <a:xfrm>
            <a:off x="7322630" y="5463540"/>
            <a:ext cx="3261741" cy="205359"/>
            <a:chOff x="7322630" y="5463540"/>
            <a:chExt cx="3261741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7322630" y="546354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策略：算法装进独立对象，环境类运行期换一个就行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1273" y="6039326"/>
              <a:ext cx="9317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同一件事既可以做成类模式也可以做成对象模式，模板方法与策略就是这样一对，区别在于绑定发生在编译期还是运行期。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17952" cy="909257"/>
            <a:chOff x="520446" y="342900"/>
            <a:chExt cx="52179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17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两个维度合起来：GoF 的分类总表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807920" cy="308039"/>
            <a:chOff x="525399" y="1550194"/>
            <a:chExt cx="880792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8079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横看目的，纵看范围。这张表是 GoF 原书的分类表，考试里常要求指出某个模式落在哪一格。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67865"/>
            <a:ext cx="11125200" cy="1729740"/>
            <a:chOff x="533400" y="1967865"/>
            <a:chExt cx="11125200" cy="172974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8768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2952" y="2106930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范围 \ 目的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35568" y="2106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创建型模式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60670" y="2106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结构型模式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32558" y="2106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行为型模式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42925" y="2465070"/>
              <a:ext cx="142684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5833" y="25946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5975" y="25946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2458" y="25946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（类）适配器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8085" y="259461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解释器、模板方法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8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943225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2952750"/>
              <a:ext cx="1426845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4868" y="3215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对象模式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5975" y="3082290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抽象工厂、建造者、原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型、单例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22458" y="3082290"/>
              <a:ext cx="2682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（对象）适配器、桥接、组合、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装饰、外观、享元、代理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38085" y="3082290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职责链、命令、迭代器、中介者、备忘录、观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察者、状态、策略、访问者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67865"/>
              <a:ext cx="11125200" cy="17297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74532" y="1967865"/>
              <a:ext cx="9525" cy="1729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11015" y="1967865"/>
              <a:ext cx="9525" cy="1729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6642" y="1967865"/>
              <a:ext cx="9525" cy="1729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bullets-2"/>
          <p:cNvGrpSpPr/>
          <p:nvPr/>
        </p:nvGrpSpPr>
        <p:grpSpPr>
          <a:xfrm>
            <a:off x="533400" y="3912870"/>
            <a:ext cx="7605904" cy="982980"/>
            <a:chOff x="533400" y="3912870"/>
            <a:chExt cx="7605904" cy="982980"/>
          </a:xfrm>
        </p:grpSpPr>
        <p:sp>
          <p:nvSpPr>
            <p:cNvPr id="31" name="Freeform 31"/>
            <p:cNvSpPr/>
            <p:nvPr/>
          </p:nvSpPr>
          <p:spPr>
            <a:xfrm>
              <a:off x="533400" y="394430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3908" y="3912870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类模式只有四个：工厂方法、类适配器、解释器、模板方法。剩下的都是对象模式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3400" y="428910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3908" y="425767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适配器同时出现在两行：用继承实现就是类适配器，用组合实现就是对象适配器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33400" y="463391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3908" y="4602480"/>
              <a:ext cx="7355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行为型最多（11 个），因为运行时“谁负责什么”的花样最多；创建型最少（5 个）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记不住整张表时，先记住类模式那四个，其余默认是对象模式，正确率就已经很高。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创建型模式：把“造对象”这件事管起来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73188" cy="308039"/>
            <a:chOff x="525399" y="1550194"/>
            <a:chExt cx="76731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创建型模式抽象了实例化过程，让系统不必关心对象是怎么创建、组合和表示的。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67865"/>
            <a:ext cx="11125200" cy="3594735"/>
            <a:chOff x="533400" y="1967865"/>
            <a:chExt cx="11125200" cy="35947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7857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02479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8803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它让什么可以变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46542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 Abstract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Factory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89148" y="2551271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提供一个接口，创建一系列相关或相互依赖的对象，不指定它们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的具体类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05978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870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9181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340894"/>
              <a:ext cx="1195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 Builder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89148" y="3227546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把复杂对象的构建过程与它的表示分离，同样的构建过程可以造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出不同表示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05978" y="334089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复杂对象的组装步骤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62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902869"/>
              <a:ext cx="2153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 Factory Method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89148" y="390286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定义一个创建对象的接口，让子类决定实例化哪一个类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05978" y="39028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被实例化的子类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11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1576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351496"/>
              <a:ext cx="1313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 Prototype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89148" y="435149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用一个原型实例指定要创建对象的种类，通过克隆产生新对象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05978" y="435149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被实例化的类（运行期定）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60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800124"/>
              <a:ext cx="1222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 Singleton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9148" y="480012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保证一个类只有一个实例，并提供一个访问它的全局访问点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05978" y="480012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实例的个数与获取方式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1092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11397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5123498"/>
              <a:ext cx="2428875" cy="42957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5248751"/>
              <a:ext cx="2061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 Simple Factory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9148" y="524875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由一个工厂类根据传入参数决定创建哪一种产品对象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05978" y="52487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具体产品的选择位置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67865"/>
              <a:ext cx="11125200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976562" y="1967865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3392" y="1967865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8503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简单工厂不在 GoF 的 23 个模式之列，它是工厂方法的简化形式，因为常用而被课程单列一讲。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结构型模式：把类和对象拼成更大的结构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78573" cy="278702"/>
            <a:chOff x="526161" y="1547336"/>
            <a:chExt cx="72785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结构型模式讨论怎样组合类或对象以获得更大的结构，重点是接口与实现之间怎么搭。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41195"/>
            <a:ext cx="11125200" cy="3646170"/>
            <a:chOff x="533400" y="1941195"/>
            <a:chExt cx="11125200" cy="364617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8943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45646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44952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它让什么可以变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571274"/>
              <a:ext cx="1126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 Adapter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58452" y="2471261"/>
              <a:ext cx="4847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把一个类的接口转换成客户希望的另一个接口，让原本接口不兼容的类能一起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98167" y="25712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对象对外的接口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479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5275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077051"/>
              <a:ext cx="84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 Bridge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8452" y="307705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把抽象部分与实现部分分离，使它们都可以独立变化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98167" y="30770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对象的实现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53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582829"/>
              <a:ext cx="1141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 Composite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8452" y="3482816"/>
              <a:ext cx="4847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把对象组合成树形结构表示整体与部分，使客户对单个对象和组合对象的使用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98167" y="358282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对象的结构与组成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595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6430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088606"/>
              <a:ext cx="11493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 Decorator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8452" y="40886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动态地给对象添加额外职责，比生成子类更灵活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8167" y="40886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对象的职责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653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494371"/>
              <a:ext cx="888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 Facade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8452" y="4494371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为子系统中的一组接口提供一个一致的高层界面，让子系统更容易使用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98167" y="449437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子系统对外的接口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771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77583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900136"/>
              <a:ext cx="1101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 Flyweight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58452" y="490013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运用共享技术有效支持大量细粒度对象，减少内存开销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8167" y="490013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对象的存储开销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1768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5305901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 Proxy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58452" y="5305901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为其他对象提供一种代理以控制对这个对象的访问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98167" y="53059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访问对象的方式与位置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41195"/>
              <a:ext cx="11125200" cy="3646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753678" y="1941195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93392" y="1941195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结构型里最容易混的是装饰与代理：装饰为了加功能且能层层包，代理为了控制访问且一般只包一层。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行为型模式（上）：请求怎么走、状态怎么存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075481" cy="278702"/>
            <a:chOff x="526161" y="1547336"/>
            <a:chExt cx="907548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075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行为型模式描述对象之间怎样交互、怎样分配职责，关心的是运行时的控制流与消息流。11 个分两页列出。</a:t>
              </a:r>
            </a:p>
          </p:txBody>
        </p:sp>
      </p:grpSp>
      <p:grpSp>
        <p:nvGrpSpPr>
          <p:cNvPr id="42" name="c1-table-1"/>
          <p:cNvGrpSpPr/>
          <p:nvPr/>
        </p:nvGrpSpPr>
        <p:grpSpPr>
          <a:xfrm>
            <a:off x="533400" y="1941195"/>
            <a:ext cx="11125200" cy="3040380"/>
            <a:chOff x="533400" y="1941195"/>
            <a:chExt cx="11125200" cy="304038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8943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45646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44952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它让什么可以变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06542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 Chain of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Responsibility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58452" y="257127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让多个对象都有机会处理请求，请求沿链传递直到有人处理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98167" y="25712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谁来处理这个请求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479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5275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077051"/>
              <a:ext cx="1039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 Command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8452" y="307705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把请求封装成对象，从而支持排队、记录日志和撤销操作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98167" y="307705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请求何时、如何被执行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53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482816"/>
              <a:ext cx="1434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 Interpreter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8452" y="348281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给定一个语言，定义它的文法表示，并定义一个解释器来解释句子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98167" y="348281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语言的文法与解释方式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95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428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888581"/>
              <a:ext cx="1173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 Iterator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8452" y="3888581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提供顺序访问聚合对象元素的方法，又不暴露该对象的内部表示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8167" y="38885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遍历聚合的方式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652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294346"/>
              <a:ext cx="12051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 Mediator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8452" y="429434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用一个中介对象封装一系列对象的交互，使各对象不必显式地相互引用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98167" y="429434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对象之间如何交互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71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7581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700111"/>
              <a:ext cx="1189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 Memento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58452" y="4700111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在不破坏封装的前提下捕获并保存对象的内部状态，以便以后恢复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8167" y="470011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哪些私有状态被存到外部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41195"/>
              <a:ext cx="11125200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53678" y="1941195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93392" y="1941195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5156835"/>
            <a:ext cx="11125200" cy="545782"/>
            <a:chOff x="533400" y="5156835"/>
            <a:chExt cx="11125200" cy="545782"/>
          </a:xfrm>
        </p:grpSpPr>
        <p:sp>
          <p:nvSpPr>
            <p:cNvPr id="43" name="Rectangle 43"/>
            <p:cNvSpPr/>
            <p:nvPr/>
          </p:nvSpPr>
          <p:spPr>
            <a:xfrm>
              <a:off x="533400" y="5156835"/>
              <a:ext cx="11125200" cy="545782"/>
            </a:xfrm>
            <a:prstGeom prst="roundRect">
              <a:avLst>
                <a:gd name="adj" fmla="val 209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330190"/>
              <a:ext cx="200026" cy="200025"/>
              <a:chOff x="738188" y="5330190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3301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3746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54857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335905"/>
              <a:ext cx="8210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这六个里有四个都在处理“一个请求或一次访问该交给谁”，职责链、命令、中介者常被放在一起比较。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读行为型模式时重点看类图上的调用方向，谁持有谁的引用，而不是数类的个数。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371" y="407194"/>
              <a:ext cx="2781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GoF 23 个模式的分类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行为型模式（下）：行为怎么随状态和算法变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78573" cy="278702"/>
            <a:chOff x="526161" y="1547336"/>
            <a:chExt cx="72785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后五个模式都在回答同一类问题：让一个对象的行为可以换掉，而调用它的代码不动。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41195"/>
            <a:ext cx="11125200" cy="2434590"/>
            <a:chOff x="533400" y="1941195"/>
            <a:chExt cx="11125200" cy="24345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8943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45646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44952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它让什么可以变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244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 Observer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58452" y="2471261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定义一对多依赖，对象状态改变时自动通知并更新所有依赖它的对象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98167" y="24712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依赖者的数量与更新方式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State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8452" y="287702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允许对象在内部状态改变时改变它的行为，看起来像修改了它的类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98167" y="28770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对象所处的状态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1062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Strategy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8452" y="3282791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定义一系列算法并逐个封装，使它们可以相互替换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98167" y="32827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算法本身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19630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 Template Method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8452" y="36885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在父类中定义算法骨架，把某些步骤延迟到子类实现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8167" y="3688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算法中的某些步骤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094321"/>
              <a:ext cx="1046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 Visitor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8452" y="409432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在不改变元素类的前提下，定义作用于这些元素的新操作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98167" y="409432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作用于对象结构的操作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41195"/>
              <a:ext cx="11125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753678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9339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kv-2"/>
          <p:cNvGrpSpPr/>
          <p:nvPr/>
        </p:nvGrpSpPr>
        <p:grpSpPr>
          <a:xfrm>
            <a:off x="526542" y="4573905"/>
            <a:ext cx="11132058" cy="1059370"/>
            <a:chOff x="526542" y="4573905"/>
            <a:chExt cx="11132058" cy="1059370"/>
          </a:xfrm>
        </p:grpSpPr>
        <p:sp>
          <p:nvSpPr>
            <p:cNvPr id="38" name="TextBox 38"/>
            <p:cNvSpPr txBox="1"/>
            <p:nvPr/>
          </p:nvSpPr>
          <p:spPr>
            <a:xfrm>
              <a:off x="526542" y="45739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行为装进独立对象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02942" y="4573905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策略、状态、命令：把一段行为做成对象，运行期换对象就换了行为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862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542" y="497109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行为留在继承体系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02942" y="497109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模板方法、解释器：骨架写在父类，变化点交给子类，编译期定死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260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542" y="53692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行为跨对象传递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202942" y="5369242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职责链、观察者、中介者、迭代器、访问者：行为发生在对象之间的走向上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7955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行为型占 11 个，是三类里最多的，也是后面课时最多的一块，原因是运行时分配职责的花样最多。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怎么挑一个模式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从问题和变化点出发，而不是从模式名出发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六步选择法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八种该重新设计的信号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容易混淆的模式对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怎么挑一个模式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选模式的六个步骤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352348" cy="293370"/>
            <a:chOff x="525780" y="1548765"/>
            <a:chExt cx="735234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352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下面的顺序来自 GoF 原书第一章，重点在第五、第六步：先找变化点，再找模式。</a:t>
              </a:r>
            </a:p>
          </p:txBody>
        </p:sp>
      </p:grpSp>
      <p:grpSp>
        <p:nvGrpSpPr>
          <p:cNvPr id="34" name="c1-steps-1"/>
          <p:cNvGrpSpPr/>
          <p:nvPr/>
        </p:nvGrpSpPr>
        <p:grpSpPr>
          <a:xfrm>
            <a:off x="533400" y="1964055"/>
            <a:ext cx="4625340" cy="3652266"/>
            <a:chOff x="533400" y="1964055"/>
            <a:chExt cx="4625340" cy="3652266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3104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261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4722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21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6825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420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199691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弄清模式怎样解决设计问题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27742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先读一两个完整例子，理解模式在什么场合帮上了忙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2617946"/>
              <a:ext cx="1955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浏览各个模式的“意图”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2898457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意图一节最短也最能筛，先按语义接近程度圈出候选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23897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研究模式之间的关联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519488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模式不是孤立的，看它常和谁配合、被谁替代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38600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比较目的相同的模式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140518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创建型内部、结构型内部互相对照，差别往往只有一两点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48008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检查引起重新设计的诱因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76059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对照右表看自己的设计里有没有这些症状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510111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找出设计中可变的方面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538162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问一句：我希望什么东西以后可以改，而不用动现在的代码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680835" y="1954530"/>
            <a:ext cx="4977765" cy="2253615"/>
            <a:chOff x="6680835" y="1954530"/>
            <a:chExt cx="4977765" cy="2253615"/>
          </a:xfrm>
        </p:grpSpPr>
        <p:sp>
          <p:nvSpPr>
            <p:cNvPr id="35" name="Rectangle 35"/>
            <p:cNvSpPr/>
            <p:nvPr/>
          </p:nvSpPr>
          <p:spPr>
            <a:xfrm>
              <a:off x="6680835" y="1954530"/>
              <a:ext cx="4977765" cy="2253615"/>
            </a:xfrm>
            <a:prstGeom prst="roundRect">
              <a:avLst>
                <a:gd name="adj" fmla="val 591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84670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66979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70876" y="21978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封装变化点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7431" y="255031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每个设计模式都在回答同一个问题：把什么东西抽出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来，才能让它以后独立地变而不牵动别人。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92290" y="32013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8881" y="3141821"/>
              <a:ext cx="2585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变的是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产品种类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→ 想想创建型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2290" y="35213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48881" y="3461861"/>
              <a:ext cx="3350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变的是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接口或实现的搭配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→ 想想结构型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2290" y="384143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48881" y="3781901"/>
              <a:ext cx="4306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变的是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算法、流程、状态、通知对象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→ 想想行为型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680835" y="4392930"/>
            <a:ext cx="4977765" cy="1214438"/>
            <a:chOff x="6680835" y="4392930"/>
            <a:chExt cx="4977765" cy="1214438"/>
          </a:xfrm>
        </p:grpSpPr>
        <p:sp>
          <p:nvSpPr>
            <p:cNvPr id="47" name="Rectangle 47"/>
            <p:cNvSpPr/>
            <p:nvPr/>
          </p:nvSpPr>
          <p:spPr>
            <a:xfrm>
              <a:off x="6680835" y="4392930"/>
              <a:ext cx="4977765" cy="1214438"/>
            </a:xfrm>
            <a:prstGeom prst="roundRect">
              <a:avLst>
                <a:gd name="adj" fmla="val 941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873564" y="4896921"/>
              <a:ext cx="224134" cy="192560"/>
              <a:chOff x="6873564" y="4896921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985635" y="49672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873564" y="48969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85635" y="50450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187946" y="4769644"/>
              <a:ext cx="408114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不要从模式名倒推场景。先把“哪里会变、变了以后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要改几个地方”写下来，再去表里查。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0408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前三讲学的设计原则给的是判断标准，这一讲给的是候选清单，两者配合使用。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怎么挑一个模式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按症状查模式：八种该考虑重新设计的信号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下面每一行都是一种把设计做僵的写法，右边是通常能解开它的模式。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33400" y="1941195"/>
            <a:ext cx="11125200" cy="3651885"/>
            <a:chOff x="533400" y="1941195"/>
            <a:chExt cx="11125200" cy="36518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1231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症状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3420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为什么会僵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773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显式指定类名来创建对象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3270" y="247126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客户端被具体类绑死，换实现要改调用处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1417" y="24712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抽象工厂、工厂方法、原型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依赖于某个特定操作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3270" y="287702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请求的处理方式写死在一处，换方式就得改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1417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职责链、命令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依赖硬件或软件平台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03270" y="32827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换平台要动大量代码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1417" y="32827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抽象工厂、桥接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依赖对象的表示或实现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03270" y="36885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客户知道对象的内部表示，内部一改客户就崩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1417" y="3688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抽象工厂、桥接、备忘录、代理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0943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依赖某个算法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03270" y="409432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算法在调用处写死，换算法要改使用它的类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31417" y="409432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建造者、迭代器、策略、模板方法、访问者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757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5000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紧耦合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03270" y="450008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类之间互相直接引用，很难单独复用或替换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1417" y="450008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抽象工厂、桥接、职责链、命令、外观、中介者、观察者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76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90585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靠生成子类来扩展功能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03270" y="490585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每加一种组合就多一个子类，类数量爆炸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40930" y="4791075"/>
              <a:ext cx="420814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31417" y="490585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桥接、职责链、组合、装饰、观察者、策略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1825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18731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3412" y="53116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不便修改的类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03270" y="531161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源码拿不到或改不动（第三方库、遗留代码）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1417" y="531161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适配器、装饰、访问者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941195"/>
              <a:ext cx="11125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198495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2664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这张表是这一讲最实用的部分。做设计题时先在表里定位症状，再从候选里挑一个，理由就有了。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怎么挑一个模式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六组容易混淆的模式，先记住区别在哪一句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294370" cy="293370"/>
            <a:chOff x="525780" y="1548765"/>
            <a:chExt cx="8294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这些成对的模式类图很像，区别不在结构而在用途。后面各讲会逐对展开，这里先立个索引。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54530"/>
            <a:ext cx="11125200" cy="3225165"/>
            <a:chOff x="533400" y="1954530"/>
            <a:chExt cx="11125200" cy="322516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28178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一对模式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31208" y="208597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结构上的相似之处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31390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区别的那一句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 / 抽象工厂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86672" y="25155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都把创建推迟到工厂子类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90982" y="2515552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工厂方法一次只造一个产品等级，抽象工厂一次造一族相关产品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/ 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86672" y="294608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类图几乎一样，都是环境类持有接口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95160" y="2824162"/>
              <a:ext cx="465391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0982" y="2946082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策略由客户端挑算法，状态由状态对象自己决定切到哪个状态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48329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 / 代理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6672" y="348329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都持有被包装对象并实现同一接口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0982" y="3376612"/>
              <a:ext cx="4279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装饰为了加功能且能多层叠加，代理为了控制访问且通常只有一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88810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0195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 / 桥接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86672" y="40195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都在接口与实现之间插一层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0982" y="401955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适配器是事后补救接口不兼容，桥接是事前把两个变化维度分开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445008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 / 装饰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86672" y="445008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都用递归的对象结构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982" y="445008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组合表达整体与部分的树，装饰是单向包装链，只为增强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744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74916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4879658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 / 策略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6672" y="4879658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都在处理“算法可变”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0982" y="4879658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模板方法用继承固定骨架，策略用组合在运行期换整套算法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11125200" cy="3224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976562" y="195453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80872" y="195453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判断题里常用这几对做陷阱，回答时先说用途差别，再说绑定时机（编译期还是运行期）。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模式与它的邻居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架构模式、惯用法、框架、设计原则，各自的界限在哪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三个抽象层次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模式不是框架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原则是尺子模式是零件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模式与它的邻居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三个抽象层次：惯用法、设计模式、架构模式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同样叫模式，粒度差别很大。做题时要能按粒度把一个名词放到正确的层上。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67865"/>
            <a:ext cx="6059805" cy="2702242"/>
            <a:chOff x="533400" y="1967865"/>
            <a:chExt cx="6059805" cy="270224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39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5390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粒度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45675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与语言的关系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6573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8078" y="2664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架构模式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31836" y="26646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整个系统的组织结构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90302" y="26646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03673" y="2551271"/>
              <a:ext cx="12890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分层、MVC、管道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870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9181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101340"/>
              <a:ext cx="107156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8078" y="33408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31836" y="334089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几个类与对象的协作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7988" y="33408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基本无关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3673" y="322754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策略、观察者、代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623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4235" y="41295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惯用法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31836" y="401621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一小段代码的固定写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17988" y="41295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紧密相关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03673" y="3902869"/>
              <a:ext cx="13134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equals/hashCode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成对重写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67865"/>
              <a:ext cx="6059805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19250" y="196786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37572" y="196786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891088" y="196786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bullets-2"/>
          <p:cNvGrpSpPr/>
          <p:nvPr/>
        </p:nvGrpSpPr>
        <p:grpSpPr>
          <a:xfrm>
            <a:off x="533400" y="4884420"/>
            <a:ext cx="5717858" cy="982980"/>
            <a:chOff x="533400" y="4884420"/>
            <a:chExt cx="5717858" cy="982980"/>
          </a:xfrm>
        </p:grpSpPr>
        <p:sp>
          <p:nvSpPr>
            <p:cNvPr id="35" name="Freeform 35"/>
            <p:cNvSpPr/>
            <p:nvPr/>
          </p:nvSpPr>
          <p:spPr>
            <a:xfrm>
              <a:off x="533400" y="491680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0960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3908" y="488442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设计模式在中间层，换一种面向对象语言基本还能照用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33400" y="5261610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0960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3908" y="52292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惯用法换语言就失效，它是某种语言里的地道写法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33400" y="560641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0960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3908" y="557403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架构模式决定模块怎么切、数据怎么流，一个系统通常一两个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898005" y="1967865"/>
            <a:ext cx="4760595" cy="2487930"/>
            <a:chOff x="6898005" y="1967865"/>
            <a:chExt cx="4760595" cy="2487930"/>
          </a:xfrm>
        </p:grpSpPr>
        <p:sp>
          <p:nvSpPr>
            <p:cNvPr id="42" name="Rectangle 42"/>
            <p:cNvSpPr/>
            <p:nvPr/>
          </p:nvSpPr>
          <p:spPr>
            <a:xfrm>
              <a:off x="6898005" y="1967865"/>
              <a:ext cx="4760595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2101215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4565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27011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顺带一提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30528" y="22126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软件模式的另外两个成员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8035" y="257365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分析模式：针对业务领域建模中反复出现的结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构，例如“账户与交易”这类模型。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8035" y="319468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过程模式：针对软件开发过程本身的反复做法，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例如代码评审、迭代计划的组织方式。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9178" y="3811429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它们和设计模式一样，都是“某类问题的成熟解法”，只是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作用在不同阶段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898005" y="4645342"/>
            <a:ext cx="4760595" cy="1163002"/>
            <a:chOff x="6898005" y="4645342"/>
            <a:chExt cx="4760595" cy="1163002"/>
          </a:xfrm>
        </p:grpSpPr>
        <p:sp>
          <p:nvSpPr>
            <p:cNvPr id="51" name="Rectangle 51"/>
            <p:cNvSpPr/>
            <p:nvPr/>
          </p:nvSpPr>
          <p:spPr>
            <a:xfrm>
              <a:off x="6898005" y="4645342"/>
              <a:ext cx="4760595" cy="1163002"/>
            </a:xfrm>
            <a:prstGeom prst="roundRect">
              <a:avLst>
                <a:gd name="adj" fmla="val 982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02793" y="5127308"/>
              <a:ext cx="200026" cy="200025"/>
              <a:chOff x="7102793" y="512730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102793" y="51273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42531" y="51717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77247" y="52828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04735" y="4846320"/>
              <a:ext cx="3768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本课程只讲中间那一层。看到“MVC 是不是设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计模式”这类问题，答案是它属于架构模式，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但内部用到了观察者、策略等设计模式。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模式与它的邻居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设计模式不是框架：三点区别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框架和模式都在讲复用，但复用的东西不一样：框架复用的是代码，模式复用的是设计。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5422671" cy="2347246"/>
            <a:chOff x="533400" y="1977390"/>
            <a:chExt cx="5422671" cy="2347246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282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抽象程度不同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设计模式比框架更抽象。框架能用代码写出来并直接运行，模式只有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落到具体实例上才有代码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9655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体系结构元素的大小不同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9039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设计模式是比框架更小的元素，一个框架里往往包含多个设计模式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5471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特化程度不同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840956"/>
              <a:ext cx="4962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框架针对特定应用领域（如 Web 请求、持久化），设计模式与领域无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503420"/>
            <a:ext cx="5626418" cy="1357312"/>
            <a:chOff x="533400" y="4503420"/>
            <a:chExt cx="5626418" cy="1357312"/>
          </a:xfrm>
        </p:grpSpPr>
        <p:sp>
          <p:nvSpPr>
            <p:cNvPr id="23" name="Rectangle 23"/>
            <p:cNvSpPr/>
            <p:nvPr/>
          </p:nvSpPr>
          <p:spPr>
            <a:xfrm>
              <a:off x="533400" y="4503420"/>
              <a:ext cx="5626418" cy="1357312"/>
            </a:xfrm>
            <a:prstGeom prst="roundRect">
              <a:avLst>
                <a:gd name="adj" fmla="val 842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081590"/>
              <a:ext cx="200023" cy="200023"/>
              <a:chOff x="738188" y="5081590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0815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1482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93966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关系是包含而不是并列：框架是半成品程序，它的设计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里用到了大量模式。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464618" y="1967865"/>
            <a:ext cx="5193982" cy="2919412"/>
            <a:chOff x="6464618" y="1967865"/>
            <a:chExt cx="5193982" cy="2919412"/>
          </a:xfrm>
        </p:grpSpPr>
        <p:sp>
          <p:nvSpPr>
            <p:cNvPr id="29" name="Rectangle 29"/>
            <p:cNvSpPr/>
            <p:nvPr/>
          </p:nvSpPr>
          <p:spPr>
            <a:xfrm>
              <a:off x="6464618" y="1967865"/>
              <a:ext cx="5193982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355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4712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9301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72441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19263" y="26646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一种设计方案的描述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92843" y="255127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一批可直接运行的类与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30870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309181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2441" y="32275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19263" y="322754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文档、类图与示例代码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92843" y="322754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可编译的代码库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5356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2441" y="36761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19263" y="36761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与应用领域无关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92843" y="36761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与特定领域绑定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9843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398907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2441" y="41248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19263" y="41248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几个类的协作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92843" y="412480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整个子系统或应用骨架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4338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2441" y="45734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控制方向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19263" y="45734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由你调用模式里的类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694545" y="4448175"/>
              <a:ext cx="1954530" cy="42957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92843" y="45734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由框架回调你写的类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967865"/>
              <a:ext cx="519398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06678" y="1967865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80258" y="1967865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6464618" y="5077778"/>
            <a:ext cx="5193982" cy="782955"/>
            <a:chOff x="6464618" y="5077778"/>
            <a:chExt cx="5193982" cy="782955"/>
          </a:xfrm>
        </p:grpSpPr>
        <p:sp>
          <p:nvSpPr>
            <p:cNvPr id="59" name="Rectangle 59"/>
            <p:cNvSpPr/>
            <p:nvPr/>
          </p:nvSpPr>
          <p:spPr>
            <a:xfrm>
              <a:off x="6464618" y="507777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5369243"/>
              <a:ext cx="200026" cy="200026"/>
              <a:chOff x="6669405" y="5369243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53692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69418" y="5435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58305" y="54692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1348" y="5226368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最后一行是常说的“好莱坞原则”：不要调用我们，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我们会调用你。用框架时主控权在框架手里。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模式与它的邻居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设计原则是尺子，设计模式是量好尺寸的零件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38616" cy="293370"/>
            <a:chOff x="525780" y="1548765"/>
            <a:chExt cx="873861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38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上一讲的七条原则说的是“什么样的设计才算好”，这一讲开始的模式说的是“具体怎么做才能好”。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54530"/>
            <a:ext cx="5410200" cy="3011805"/>
            <a:chOff x="533400" y="1954530"/>
            <a:chExt cx="5410200" cy="30118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972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10965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主要体现的原则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515552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 / 抽象工厂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27629" y="25155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开闭原则、依赖倒置原则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1463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94608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/ 状态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7629" y="2946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开闭原则、单一职责原则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40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337661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 / 桥接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27629" y="337661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合成复用原则、开闭原则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67474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80619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 / 外观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27629" y="380619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迪米特法则、接口隔离原则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23672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 / 中介者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27629" y="423672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迪米特法则、开闭原则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531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53580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46662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7629" y="466629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里氏替换原则、开闭原则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5453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17520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1"/>
          <p:cNvGrpSpPr/>
          <p:nvPr/>
        </p:nvGrpSpPr>
        <p:grpSpPr>
          <a:xfrm>
            <a:off x="6248400" y="1954530"/>
            <a:ext cx="5410200" cy="1933575"/>
            <a:chOff x="6248400" y="1954530"/>
            <a:chExt cx="5410200" cy="1933575"/>
          </a:xfrm>
        </p:grpSpPr>
        <p:sp>
          <p:nvSpPr>
            <p:cNvPr id="35" name="Rectangle 35"/>
            <p:cNvSpPr/>
            <p:nvPr/>
          </p:nvSpPr>
          <p:spPr>
            <a:xfrm>
              <a:off x="6248400" y="195453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52235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34544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共同底色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37488" y="219789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几乎所有模式都在做同一件事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9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把稳定的部分抽象成接口，把易变的部分关进具体类，然后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让调用方只依赖接口。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59855" y="32013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6446" y="3141821"/>
              <a:ext cx="24230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这正是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开闭原则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的实现手段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59855" y="35213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6446" y="346186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所以模式类图里几乎总能看到一个抽象层</a:t>
              </a:r>
            </a:p>
          </p:txBody>
        </p:sp>
      </p:grpSp>
      <p:grpSp>
        <p:nvGrpSpPr>
          <p:cNvPr id="50" name="c2-bullets-2"/>
          <p:cNvGrpSpPr/>
          <p:nvPr/>
        </p:nvGrpSpPr>
        <p:grpSpPr>
          <a:xfrm>
            <a:off x="6241161" y="4097179"/>
            <a:ext cx="5125593" cy="1489329"/>
            <a:chOff x="6241161" y="4097179"/>
            <a:chExt cx="5125593" cy="1489329"/>
          </a:xfrm>
        </p:grpSpPr>
        <p:sp>
          <p:nvSpPr>
            <p:cNvPr id="45" name="TextBox 45"/>
            <p:cNvSpPr txBox="1"/>
            <p:nvPr/>
          </p:nvSpPr>
          <p:spPr>
            <a:xfrm>
              <a:off x="6241161" y="40971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两个常见误解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248400" y="447008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83096" y="443531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误解一：用了模式就等于遵守了原则。用错地方的模式照样违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反原则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248400" y="507015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3096" y="503634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误解二：原则越多越好。原则之间会冲突，取舍靠的是对变化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的判断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复习时可以反过来用这张表：给一条原则，举出两个体现它的模式，并说出体现在类图的哪个位置。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2940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怎么学这 23 个模式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学习顺序，以及读每一个模式时固定要问的问题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创建型到结构型再到行为型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每讲按同一套结构组织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手写一遍类图和代码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怎么学这 23 个模式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学习顺序：先学怎么造，再学怎么拼，最后学怎么配合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674370" y="2066925"/>
            <a:ext cx="5777865" cy="2889885"/>
            <a:chOff x="674370" y="2066925"/>
            <a:chExt cx="5777865" cy="2889885"/>
          </a:xfrm>
        </p:grpSpPr>
        <p:sp>
          <p:nvSpPr>
            <p:cNvPr id="7" name="Freeform 7"/>
            <p:cNvSpPr/>
            <p:nvPr/>
          </p:nvSpPr>
          <p:spPr>
            <a:xfrm>
              <a:off x="2411730" y="2381250"/>
              <a:ext cx="178117" cy="9525"/>
            </a:xfrm>
            <a:custGeom>
              <a:avLst/>
              <a:gdLst/>
              <a:ahLst/>
              <a:cxnLst/>
              <a:rect l="l" t="t" r="r" b="b"/>
              <a:pathLst>
                <a:path w="178117" h="9525">
                  <a:moveTo>
                    <a:pt x="0" y="0"/>
                  </a:moveTo>
                  <a:lnTo>
                    <a:pt x="17811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89848" y="2328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431982" y="2381250"/>
              <a:ext cx="178117" cy="9525"/>
            </a:xfrm>
            <a:custGeom>
              <a:avLst/>
              <a:gdLst/>
              <a:ahLst/>
              <a:cxnLst/>
              <a:rect l="l" t="t" r="r" b="b"/>
              <a:pathLst>
                <a:path w="178117" h="9525">
                  <a:moveTo>
                    <a:pt x="0" y="0"/>
                  </a:moveTo>
                  <a:lnTo>
                    <a:pt x="17811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10100" y="2328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43050" y="2695575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90662" y="3457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63302" y="2695575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10915" y="3457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582602" y="2695575"/>
              <a:ext cx="9525" cy="434340"/>
            </a:xfrm>
            <a:custGeom>
              <a:avLst/>
              <a:gdLst/>
              <a:ahLst/>
              <a:cxnLst/>
              <a:rect l="l" t="t" r="r" b="b"/>
              <a:pathLst>
                <a:path w="9525" h="434340">
                  <a:moveTo>
                    <a:pt x="0" y="0"/>
                  </a:moveTo>
                  <a:lnTo>
                    <a:pt x="0" y="434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30215" y="31299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4370" y="2066925"/>
              <a:ext cx="1737360" cy="629602"/>
            </a:xfrm>
            <a:prstGeom prst="roundRect">
              <a:avLst>
                <a:gd name="adj" fmla="val 4992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94622" y="2066925"/>
              <a:ext cx="173736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14875" y="2066925"/>
              <a:ext cx="1737360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4370" y="3562350"/>
              <a:ext cx="1737360" cy="1066800"/>
            </a:xfrm>
            <a:prstGeom prst="roundRect">
              <a:avLst>
                <a:gd name="adj" fmla="val 714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94622" y="3562350"/>
              <a:ext cx="1737360" cy="1066800"/>
            </a:xfrm>
            <a:prstGeom prst="roundRect">
              <a:avLst>
                <a:gd name="adj" fmla="val 714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14875" y="3234690"/>
              <a:ext cx="1737360" cy="1722120"/>
            </a:xfrm>
            <a:prstGeom prst="roundRect">
              <a:avLst>
                <a:gd name="adj" fmla="val 4425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92733" y="2182654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创建型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12986" y="2182654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32286" y="2182654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6333" y="3679031"/>
              <a:ext cx="1313434" cy="906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简单工厂、工厂方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抽象工厂、建造者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原型、单例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6586" y="3679031"/>
              <a:ext cx="1313434" cy="906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适配器、桥接、组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装饰、外观、享元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25886" y="3350419"/>
              <a:ext cx="1313434" cy="1563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职责链、命令、解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迭代器、中介者、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观察者、状态、策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模板方法、访问者</a:t>
              </a:r>
            </a:p>
          </p:txBody>
        </p:sp>
      </p:grpSp>
      <p:grpSp>
        <p:nvGrpSpPr>
          <p:cNvPr id="40" name="c2-bullets-1"/>
          <p:cNvGrpSpPr/>
          <p:nvPr/>
        </p:nvGrpSpPr>
        <p:grpSpPr>
          <a:xfrm>
            <a:off x="6890385" y="1548765"/>
            <a:ext cx="4514850" cy="2194560"/>
            <a:chOff x="6890385" y="1548765"/>
            <a:chExt cx="4514850" cy="2194560"/>
          </a:xfrm>
        </p:grpSpPr>
        <p:sp>
          <p:nvSpPr>
            <p:cNvPr id="30" name="TextBox 30"/>
            <p:cNvSpPr txBox="1"/>
            <p:nvPr/>
          </p:nvSpPr>
          <p:spPr>
            <a:xfrm>
              <a:off x="6890385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三条建议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898005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59854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8995" y="19030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每学完一个模式，合上讲义默写类图，画不出来说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明角色关系没记住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898005" y="25203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59854" y="2562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98995" y="253365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同一类里的模式学完一组就横向比一次，例如创建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型六个放在一起对照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898005" y="315087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59854" y="31931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98995" y="316420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行为型最多也最像，边学边往本讲那张易混淆对比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表里补自己的一句话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898005" y="3874770"/>
            <a:ext cx="4760595" cy="1078230"/>
            <a:chOff x="6898005" y="3874770"/>
            <a:chExt cx="4760595" cy="1078230"/>
          </a:xfrm>
        </p:grpSpPr>
        <p:sp>
          <p:nvSpPr>
            <p:cNvPr id="41" name="Rectangle 41"/>
            <p:cNvSpPr/>
            <p:nvPr/>
          </p:nvSpPr>
          <p:spPr>
            <a:xfrm>
              <a:off x="6898005" y="3874770"/>
              <a:ext cx="4760595" cy="1078230"/>
            </a:xfrm>
            <a:prstGeom prst="roundRect">
              <a:avLst>
                <a:gd name="adj" fmla="val 106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102793" y="4313873"/>
              <a:ext cx="200026" cy="200025"/>
              <a:chOff x="7102793" y="431387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43138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42531" y="43583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77247" y="44694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404735" y="4032885"/>
              <a:ext cx="3844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创建型的类图最简单，适合先建立“角色—类图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—代码”的对应感觉；行为型放在最后，因为它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要用到前面两类的结构。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按分类学而不是按字母序学，原因是同一类模式解决的问题相近，放在一起才能看清它们的边界。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 · 怎么学这 23 个模式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读一个模式时，固定问这几个问题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后面每一讲都按同一套结构组织，读的时候按这个顺序自问自答，一讲结束就能自查。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38338"/>
            <a:ext cx="3392805" cy="2702813"/>
            <a:chOff x="533400" y="1938338"/>
            <a:chExt cx="3392805" cy="2702813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5004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2238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223135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不用这个模式的写法差在哪，一个具体的问题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5217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77653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标准定义一句话，再看类图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32898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每个角色叫什么、负责什么、被谁持有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3882390"/>
              <a:ext cx="26736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把类图写出来，跑通一个最小例子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09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43579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优点、缺点、适用场景，以及和相近模式的区别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4802505"/>
            <a:ext cx="5193982" cy="1487805"/>
            <a:chOff x="533400" y="4802505"/>
            <a:chExt cx="5193982" cy="1487805"/>
          </a:xfrm>
        </p:grpSpPr>
        <p:sp>
          <p:nvSpPr>
            <p:cNvPr id="31" name="Rectangle 31"/>
            <p:cNvSpPr/>
            <p:nvPr/>
          </p:nvSpPr>
          <p:spPr>
            <a:xfrm>
              <a:off x="533400" y="4802505"/>
              <a:ext cx="5193982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935855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9834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147" y="50163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18450" y="50230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类图看这几处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539210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533923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接口类型的字段在哪个类里，那一层运行期可以换掉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2000" y="567690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7448" y="562498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箭头从哪里发起，调用方向决定了谁依赖谁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2000" y="596169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7448" y="59097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抽象类或接口那一侧，通常是稳定不变的部分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032182" y="1928812"/>
            <a:ext cx="5626418" cy="2057400"/>
            <a:chOff x="6032182" y="1928812"/>
            <a:chExt cx="5626418" cy="2057400"/>
          </a:xfrm>
        </p:grpSpPr>
        <p:sp>
          <p:nvSpPr>
            <p:cNvPr id="43" name="Rectangle 43"/>
            <p:cNvSpPr/>
            <p:nvPr/>
          </p:nvSpPr>
          <p:spPr>
            <a:xfrm>
              <a:off x="6032182" y="1928812"/>
              <a:ext cx="5626418" cy="2057400"/>
            </a:xfrm>
            <a:prstGeom prst="roundRect">
              <a:avLst>
                <a:gd name="adj" fmla="val 64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13158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97727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自查五问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27736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合上书能答出来才算学会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13158" y="24545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65064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2906" y="246554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这个模式解决的问题用一句话怎么说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13158" y="273939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65064" y="27750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2906" y="275129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类图上有几个角色，箭头分别是什么关系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13158" y="302514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65064" y="30598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2906" y="303609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哪一部分是稳定的抽象，哪一部分是可变的实现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213158" y="330993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65064" y="33455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2906" y="332089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不用它会有什么后果，用了又多付出什么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13158" y="35947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65064" y="36303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82906" y="36056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它和哪个模式最像，区别在哪一句话上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032182" y="4150995"/>
            <a:ext cx="5626418" cy="2139315"/>
            <a:chOff x="6032182" y="4150995"/>
            <a:chExt cx="5626418" cy="2139315"/>
          </a:xfrm>
        </p:grpSpPr>
        <p:sp>
          <p:nvSpPr>
            <p:cNvPr id="63" name="Rectangle 63"/>
            <p:cNvSpPr/>
            <p:nvPr/>
          </p:nvSpPr>
          <p:spPr>
            <a:xfrm>
              <a:off x="6032182" y="4150995"/>
              <a:ext cx="5626418" cy="2139315"/>
            </a:xfrm>
            <a:prstGeom prst="roundRect">
              <a:avLst>
                <a:gd name="adj" fmla="val 62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1708" y="4284345"/>
              <a:ext cx="47625" cy="18726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1258" y="43319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2977" y="43648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17233" y="437149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只看不写，图认得出来代码写不出来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44780" y="468772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只看讲义不敲代码，考试时能认出类图，却写不出角色之间的引用关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44780" y="521636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每个模式至少敲一遍最小实现，把类图上的每条线都在代码里落实一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602328" cy="278702"/>
            <a:chOff x="526161" y="1547336"/>
            <a:chExt cx="460232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先自己答，再看答案。答不上来的回到对应小节重读。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254442"/>
            <a:chOff x="533400" y="1941195"/>
            <a:chExt cx="5410200" cy="125444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模式的概念最早出现在哪个领域？提出者是谁？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5131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建筑与城市规划领域，提出者是 Christopher Alexander。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71850"/>
            <a:ext cx="5410200" cy="1254442"/>
            <a:chOff x="533400" y="3371850"/>
            <a:chExt cx="5410200" cy="1254442"/>
          </a:xfrm>
        </p:grpSpPr>
        <p:sp>
          <p:nvSpPr>
            <p:cNvPr id="15" name="Rectangle 15"/>
            <p:cNvSpPr/>
            <p:nvPr/>
          </p:nvSpPr>
          <p:spPr>
            <a:xfrm>
              <a:off x="533400" y="337185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56425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359854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392049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软件模式的基础结构由哪四部分构成？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22338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问题描述、前提条件、解法、效果。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801552"/>
            <a:ext cx="5410200" cy="1511618"/>
            <a:chOff x="533400" y="4801552"/>
            <a:chExt cx="5410200" cy="1511618"/>
          </a:xfrm>
        </p:grpSpPr>
        <p:sp>
          <p:nvSpPr>
            <p:cNvPr id="21" name="Rectangle 21"/>
            <p:cNvSpPr/>
            <p:nvPr/>
          </p:nvSpPr>
          <p:spPr>
            <a:xfrm>
              <a:off x="533400" y="4801552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5805" y="49939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753" y="50282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947" y="53501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设计模式的四个关键要素是什么？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947" y="565308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模式名称、问题、解决方案、效果。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41195"/>
            <a:ext cx="5410200" cy="1511618"/>
            <a:chOff x="6248400" y="1941195"/>
            <a:chExt cx="5410200" cy="1511618"/>
          </a:xfrm>
        </p:grpSpPr>
        <p:sp>
          <p:nvSpPr>
            <p:cNvPr id="27" name="Rectangle 27"/>
            <p:cNvSpPr/>
            <p:nvPr/>
          </p:nvSpPr>
          <p:spPr>
            <a:xfrm>
              <a:off x="6248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2490788"/>
              <a:ext cx="375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Alexander 的说法，模式由哪三部分组成？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279273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Context（前提条件）、Problem（目标问题）、Solution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（解法）。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629025"/>
            <a:ext cx="5410200" cy="1254442"/>
            <a:chOff x="6248400" y="3629025"/>
            <a:chExt cx="5410200" cy="1254442"/>
          </a:xfrm>
        </p:grpSpPr>
        <p:sp>
          <p:nvSpPr>
            <p:cNvPr id="33" name="Rectangle 33"/>
            <p:cNvSpPr/>
            <p:nvPr/>
          </p:nvSpPr>
          <p:spPr>
            <a:xfrm>
              <a:off x="6248400" y="362902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40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9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3947" y="4177665"/>
              <a:ext cx="2883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什么是大三律（Rule of Three）？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3947" y="448056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解法在三个以上不同类型或领域的系统中验证过才算模式。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5058728"/>
            <a:ext cx="5410200" cy="1254442"/>
            <a:chOff x="6248400" y="5058728"/>
            <a:chExt cx="5410200" cy="1254442"/>
          </a:xfrm>
        </p:grpSpPr>
        <p:sp>
          <p:nvSpPr>
            <p:cNvPr id="39" name="Rectangle 39"/>
            <p:cNvSpPr/>
            <p:nvPr/>
          </p:nvSpPr>
          <p:spPr>
            <a:xfrm>
              <a:off x="6248400" y="5058728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40805" y="52511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9753" y="528542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3947" y="56073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按目的分类，设计模式分成哪三类，各管什么？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3947" y="591026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创建型管创建对象，结构型管组合，行为型管交互与职责。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类模式和对象模式的区别是什么？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类模式靠继承，编译期确定；对象模式靠组合，运行期可换。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874645"/>
            <a:ext cx="5410200" cy="1185862"/>
            <a:chOff x="533400" y="2874645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28746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39613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三类模式各有多少个？行为型为什么最多？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680936"/>
              <a:ext cx="354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/ 7 / 11。运行时分配职责的花样最多。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226242"/>
            <a:ext cx="5410200" cy="1185862"/>
            <a:chOff x="533400" y="4226242"/>
            <a:chExt cx="5410200" cy="1185862"/>
          </a:xfrm>
        </p:grpSpPr>
        <p:sp>
          <p:nvSpPr>
            <p:cNvPr id="19" name="Rectangle 19"/>
            <p:cNvSpPr/>
            <p:nvPr/>
          </p:nvSpPr>
          <p:spPr>
            <a:xfrm>
              <a:off x="533400" y="422624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4072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4400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74678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设计模式和框架有什么区别？说出两条。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03253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模式更抽象、粒度更小、与领域无关，框架则是可运行代码。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3101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个 GoF 模式中，哪几个属于类模式？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33029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工厂方法、类适配器、解释器、模板方法，共四个。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874645"/>
            <a:ext cx="5410200" cy="1185862"/>
            <a:chOff x="6248400" y="2874645"/>
            <a:chExt cx="5410200" cy="1185862"/>
          </a:xfrm>
        </p:grpSpPr>
        <p:sp>
          <p:nvSpPr>
            <p:cNvPr id="31" name="Rectangle 31"/>
            <p:cNvSpPr/>
            <p:nvPr/>
          </p:nvSpPr>
          <p:spPr>
            <a:xfrm>
              <a:off x="6248400" y="28746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39613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每加一种功能组合就多一个子类，该考虑哪些模式？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3680936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症状是“靠生成子类扩展功能”：桥接、组合、装饰、策略。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226242"/>
            <a:ext cx="5410200" cy="1185862"/>
            <a:chOff x="6248400" y="4226242"/>
            <a:chExt cx="5410200" cy="1185862"/>
          </a:xfrm>
        </p:grpSpPr>
        <p:sp>
          <p:nvSpPr>
            <p:cNvPr id="37" name="Rectangle 37"/>
            <p:cNvSpPr/>
            <p:nvPr/>
          </p:nvSpPr>
          <p:spPr>
            <a:xfrm>
              <a:off x="6248400" y="422624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4072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4400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4746784"/>
              <a:ext cx="2810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简单工厂属于 GoF 的 23 个模式吗？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03253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不属于，它是工厂方法的简化形式，因常用而单列一讲。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7792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题这类题型的答法是：先说出症状的名称，再给两三个候选模式，最后一句说明它们共同的做法。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 设计模式概述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4478"/>
            <a:ext cx="5383149" cy="2898647"/>
            <a:chOff x="533400" y="1534478"/>
            <a:chExt cx="5383149" cy="2898647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50714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模式是特定环境中解决问题的方案，源于建筑业，1990 年代进入软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0026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138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11169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软件模式由问题描述、前提条件、解法、效果四部分构成，要经大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三律验证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6604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677477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设计模式的四个关键要素是模式名称、问题、解决方案、效果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7465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0130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98608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按目的分创建型、结构型、行为型；按范围分类模式与对象模式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28326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33216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329469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选模式的落脚点是找出设计中会变的部分，再按症状查候选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59187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078" y="36302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197" y="360330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按粒度分三层：惯用法、设计模式、架构模式；框架是可运行的半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成品，里面用到多个模式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15766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078" y="41960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197" y="416909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按创建、结构、行为的顺序学，每个模式都问同一组问题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550092"/>
            <a:ext cx="5626418" cy="1146810"/>
            <a:chOff x="533400" y="4550092"/>
            <a:chExt cx="5626418" cy="1146810"/>
          </a:xfrm>
        </p:grpSpPr>
        <p:sp>
          <p:nvSpPr>
            <p:cNvPr id="29" name="Rectangle 29"/>
            <p:cNvSpPr/>
            <p:nvPr/>
          </p:nvSpPr>
          <p:spPr>
            <a:xfrm>
              <a:off x="533400" y="4550092"/>
              <a:ext cx="5626418" cy="1146810"/>
            </a:xfrm>
            <a:prstGeom prst="roundRect">
              <a:avLst>
                <a:gd name="adj" fmla="val 9967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023487"/>
              <a:ext cx="200023" cy="200023"/>
              <a:chOff x="738188" y="5023487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0234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0901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4905375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这一讲不要求记住每个模式的类图，但要能说出每个模式一句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话作用，并知道它在分类表的哪一格。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464618" y="1524000"/>
            <a:ext cx="5193982" cy="2800350"/>
            <a:chOff x="6464618" y="1524000"/>
            <a:chExt cx="5193982" cy="2800350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702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667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1772" y="2045494"/>
              <a:ext cx="15618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Alexander 的建筑模式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85998" y="20454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253 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1772" y="2445544"/>
              <a:ext cx="138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编目的设计模式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798368" y="2333625"/>
              <a:ext cx="185070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85998" y="244554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1772" y="2845594"/>
              <a:ext cx="1732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 / 结构型 / 行为型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85998" y="2845594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/ 7 / 11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1772" y="32456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类模式的个数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85998" y="32456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1772" y="36456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模式的关键要素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85998" y="36456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39243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1772" y="40457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本课程的模式讲次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85998" y="404574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讲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1524000"/>
              <a:ext cx="519398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8408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464618" y="4493895"/>
            <a:ext cx="5193982" cy="1202055"/>
            <a:chOff x="6464618" y="4493895"/>
            <a:chExt cx="5193982" cy="1202055"/>
          </a:xfrm>
        </p:grpSpPr>
        <p:sp>
          <p:nvSpPr>
            <p:cNvPr id="62" name="Rectangle 62"/>
            <p:cNvSpPr/>
            <p:nvPr/>
          </p:nvSpPr>
          <p:spPr>
            <a:xfrm>
              <a:off x="6464618" y="4493895"/>
              <a:ext cx="519398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4142" y="462724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89408" y="46805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8028" y="4713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下一讲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79780" y="471582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从简单工厂开始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82549" y="5041583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创建型第一讲讲简单工厂：把 new 从客户端拿走，集中到一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个工厂类里，再看它为什么不够用，从而引出工厂方法。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复习顺序建议：先背分类表那一格一格的归属，再用症状表做两道设计题，最后回头看易混淆的六对。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设计模式概述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03">
  <a:themeElements>
    <a:clrScheme name="sdp_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0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0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2026-09-23T06:12:08Z</dcterms:created>
  <dcterms:modified xsi:type="dcterms:W3CDTF">2026-09-23T06:12:08Z</dcterms:modified>
  <cp:category/>
  <cp:contentStatus/>
</cp:coreProperties>
</file>