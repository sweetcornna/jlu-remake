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l_ch04b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l_ch04b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3674132957fe7ac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15bc7164df119ec.png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bfae787fdf8a67d.png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632198" cy="3437763"/>
            <a:chOff x="666750" y="1619250"/>
            <a:chExt cx="4632198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529715" cy="3429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5751" y="1718310"/>
              <a:ext cx="1269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机器学习 · 第4章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456133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常用神经网络模型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给不同形状的数据，配不同接线方式的网络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卷积网络处理图像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循环网络处理序列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注意力与自注意力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图网络处理关系数据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915548" cy="205359"/>
            <a:chOff x="680466" y="6192202"/>
            <a:chExt cx="4915548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9155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自学复习版｜据吉林大学《机器学习》第4章常用网络模型课件整理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3162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3114" y="407194"/>
              <a:ext cx="1352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常用网络模型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agenda-1"/>
          <p:cNvGrpSpPr/>
          <p:nvPr/>
        </p:nvGrpSpPr>
        <p:grpSpPr>
          <a:xfrm>
            <a:off x="521970" y="1515428"/>
            <a:ext cx="6287453" cy="2917792"/>
            <a:chOff x="521970" y="1515428"/>
            <a:chExt cx="6287453" cy="2917792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8300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卷积神经网络 CNN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图像的三条性质如何变成局部连接、权值共享、池化三种设计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8300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循环神经网络 RNN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用一份隐状态把上文带到下一步，以及它为什么记不住长句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注意力机制与自注意力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每一步重新决定该看输入的哪一部分，并且可以并行算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6079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图神经网络 GNN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数据不是网格也不是序列时，怎样在节点间传消息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7114222" y="1524000"/>
            <a:ext cx="4544378" cy="3800475"/>
            <a:chOff x="7114222" y="1524000"/>
            <a:chExt cx="4544378" cy="3800475"/>
          </a:xfrm>
        </p:grpSpPr>
        <p:sp>
          <p:nvSpPr>
            <p:cNvPr id="23" name="Rectangle 23"/>
            <p:cNvSpPr/>
            <p:nvPr/>
          </p:nvSpPr>
          <p:spPr>
            <a:xfrm>
              <a:off x="7114222" y="1524000"/>
              <a:ext cx="4544378" cy="3800475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7123748" y="1657350"/>
              <a:ext cx="47625" cy="353377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能手算一次卷积与一次最大池化，并用公式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算出每层的输出尺寸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能说清全连接、局部连接、权值共享三档的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参数量差多少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3352800"/>
              <a:ext cx="3625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能按时间展开 RNN，手算三步的隐状态与输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能写出 LSTM 四个门控量的式子，并解释它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缓解梯度消失的位置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4594860"/>
              <a:ext cx="35585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能手算一次自注意力，从 q·k 到 softmax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再到加权求和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469130" cy="3351847"/>
            <a:chOff x="667512" y="1835468"/>
            <a:chExt cx="446913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9281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卷积神经网络 CNN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图像有三条现成的性质，直接写进网络结构里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全连接网络在图像上参数量失控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局部连接与权值共享的由来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卷积和池化的手算过程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0722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LeNet 与 ImageNet 上的架构演进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46" y="407194"/>
              <a:ext cx="2765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常用网络模型 · 卷积神经网络 CNN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图像一展平，全连接网络的参数就失控了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9954819" cy="278702"/>
            <a:chOff x="526161" y="1547336"/>
            <a:chExt cx="9954819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99548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上一讲的网络都是全连接前馈的。把一张图片展成向量直接喂进去，第一层的权值个数就是输入维度乘以隐层单元数。</a:t>
              </a:r>
            </a:p>
          </p:txBody>
        </p:sp>
      </p:grpSp>
      <p:grpSp>
        <p:nvGrpSpPr>
          <p:cNvPr id="30" name="c1-table-1"/>
          <p:cNvGrpSpPr/>
          <p:nvPr/>
        </p:nvGrpSpPr>
        <p:grpSpPr>
          <a:xfrm>
            <a:off x="528066" y="1941195"/>
            <a:ext cx="5631752" cy="1903666"/>
            <a:chOff x="528066" y="1941195"/>
            <a:chExt cx="5631752" cy="1903666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626418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82446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输入图像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08236" y="20654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展平后维度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64659" y="20654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第一层参数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2471261"/>
              <a:ext cx="7958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16×16 灰度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546032" y="247126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34815" y="2471261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2.57×10⁵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479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752725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3412" y="2877026"/>
              <a:ext cx="7958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28×28 灰度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546032" y="287702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34815" y="287702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7.85×10⁵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15372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3412" y="3282791"/>
              <a:ext cx="9699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224×224 彩色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546032" y="328279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150528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144328" y="3168015"/>
              <a:ext cx="2006918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234815" y="3282791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1.51×10⁸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941195"/>
              <a:ext cx="5626418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441258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130040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8066" y="3639502"/>
              <a:ext cx="29083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第一个隐层（1000 个神经元）需要的权值个数</a:t>
              </a:r>
            </a:p>
          </p:txBody>
        </p:sp>
      </p:grpSp>
      <p:grpSp>
        <p:nvGrpSpPr>
          <p:cNvPr id="42" name="c1-card-2"/>
          <p:cNvGrpSpPr/>
          <p:nvPr/>
        </p:nvGrpSpPr>
        <p:grpSpPr>
          <a:xfrm>
            <a:off x="533400" y="3978592"/>
            <a:ext cx="5626418" cy="1574482"/>
            <a:chOff x="533400" y="3978592"/>
            <a:chExt cx="5626418" cy="1574482"/>
          </a:xfrm>
        </p:grpSpPr>
        <p:sp>
          <p:nvSpPr>
            <p:cNvPr id="31" name="Rectangle 31"/>
            <p:cNvSpPr/>
            <p:nvPr/>
          </p:nvSpPr>
          <p:spPr>
            <a:xfrm>
              <a:off x="533400" y="3978592"/>
              <a:ext cx="5626418" cy="1574482"/>
            </a:xfrm>
            <a:prstGeom prst="roundRect">
              <a:avLst>
                <a:gd name="adj" fmla="val 84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42925" y="4111942"/>
              <a:ext cx="47625" cy="130778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63905" y="4170998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47344" y="420528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三个后果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614297" y="421005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参数多不只是慢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72478" y="460057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28497" y="454437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内存放不下，训练一步要更新上亿个数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72478" y="490347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28497" y="4847272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样本量远小于参数量，几乎一定过拟合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72478" y="520541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28497" y="5149215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展平以后像素的上下左右关系全丢了，网络得从零学回来</a:t>
              </a:r>
            </a:p>
          </p:txBody>
        </p:sp>
      </p:grpSp>
      <p:grpSp>
        <p:nvGrpSpPr>
          <p:cNvPr id="59" name="c2-flow-1"/>
          <p:cNvGrpSpPr/>
          <p:nvPr/>
        </p:nvGrpSpPr>
        <p:grpSpPr>
          <a:xfrm>
            <a:off x="6597968" y="2403158"/>
            <a:ext cx="4927282" cy="1190624"/>
            <a:chOff x="6597968" y="2403158"/>
            <a:chExt cx="4927282" cy="1190624"/>
          </a:xfrm>
        </p:grpSpPr>
        <p:sp>
          <p:nvSpPr>
            <p:cNvPr id="43" name="Freeform 43"/>
            <p:cNvSpPr/>
            <p:nvPr/>
          </p:nvSpPr>
          <p:spPr>
            <a:xfrm>
              <a:off x="7629525" y="311181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7791450" y="30594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8928735" y="311181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9090660" y="30594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10226992" y="311181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10388918" y="30594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6597968" y="2823210"/>
              <a:ext cx="1031557" cy="577215"/>
            </a:xfrm>
            <a:custGeom>
              <a:avLst/>
              <a:gdLst/>
              <a:ahLst/>
              <a:cxnLst/>
              <a:rect l="l" t="t" r="r" b="b"/>
              <a:pathLst>
                <a:path w="1031557" h="577215">
                  <a:moveTo>
                    <a:pt x="133350" y="0"/>
                  </a:moveTo>
                  <a:lnTo>
                    <a:pt x="1031557" y="0"/>
                  </a:lnTo>
                  <a:lnTo>
                    <a:pt x="898207" y="577215"/>
                  </a:lnTo>
                  <a:lnTo>
                    <a:pt x="0" y="577215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896225" y="2823210"/>
              <a:ext cx="1031558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9195435" y="2629852"/>
              <a:ext cx="1031558" cy="963930"/>
            </a:xfrm>
            <a:prstGeom prst="roundRect">
              <a:avLst>
                <a:gd name="adj" fmla="val 9881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493692" y="2823210"/>
              <a:ext cx="1031558" cy="578168"/>
            </a:xfrm>
            <a:prstGeom prst="roundRect">
              <a:avLst>
                <a:gd name="adj" fmla="val 49918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820471" y="2937034"/>
              <a:ext cx="587502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16×16 图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054721" y="2937034"/>
              <a:ext cx="715518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展平成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256 维向量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384982" y="2743676"/>
              <a:ext cx="651510" cy="7972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全连接隐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 个神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经元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700842" y="2937034"/>
              <a:ext cx="616306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Softmax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 类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8671560" y="2403158"/>
              <a:ext cx="78009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694331" y="2427446"/>
              <a:ext cx="7355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25.6 万个权</a:t>
              </a:r>
            </a:p>
          </p:txBody>
        </p:sp>
      </p:grpSp>
      <p:grpSp>
        <p:nvGrpSpPr>
          <p:cNvPr id="65" name="c2-callout-2"/>
          <p:cNvGrpSpPr/>
          <p:nvPr/>
        </p:nvGrpSpPr>
        <p:grpSpPr>
          <a:xfrm>
            <a:off x="6464618" y="4456748"/>
            <a:ext cx="5193982" cy="1096328"/>
            <a:chOff x="6464618" y="4456748"/>
            <a:chExt cx="5193982" cy="1096328"/>
          </a:xfrm>
        </p:grpSpPr>
        <p:sp>
          <p:nvSpPr>
            <p:cNvPr id="60" name="Rectangle 60"/>
            <p:cNvSpPr/>
            <p:nvPr/>
          </p:nvSpPr>
          <p:spPr>
            <a:xfrm>
              <a:off x="6464618" y="4456748"/>
              <a:ext cx="5193982" cy="1096328"/>
            </a:xfrm>
            <a:prstGeom prst="roundRect">
              <a:avLst>
                <a:gd name="adj" fmla="val 10426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6669405" y="4905377"/>
              <a:ext cx="200023" cy="200023"/>
              <a:chOff x="6669405" y="4905377"/>
              <a:chExt cx="200023" cy="200023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669405" y="490537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802755" y="4972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6972110" y="4786312"/>
              <a:ext cx="423995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要减参数，只能从“每个神经元该看多大范围”和“不同位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置能不能共用一套权”两处下手。</a:t>
              </a:r>
            </a:p>
          </p:txBody>
        </p:sp>
      </p:grpSp>
      <p:grpSp>
        <p:nvGrpSpPr>
          <p:cNvPr id="7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6" name="Rectangle 6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0892" y="6023610"/>
              <a:ext cx="59019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参数量按“输入维度 × 隐层单元数 + 偏置”计算，表中忽略了偏置这一项。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46" y="407194"/>
              <a:ext cx="2765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常用网络模型 · 卷积神经网络 CNN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图像的三条性质，正好对应三种设计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table-1"/>
          <p:cNvGrpSpPr/>
          <p:nvPr/>
        </p:nvGrpSpPr>
        <p:grpSpPr>
          <a:xfrm>
            <a:off x="533400" y="1524000"/>
            <a:ext cx="6059805" cy="1712595"/>
            <a:chOff x="533400" y="1524000"/>
            <a:chExt cx="6059805" cy="17125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04341" y="1641157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图像的性质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72956" y="1641157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网络上的做法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14557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省在哪里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8078" y="202311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模式比整张图小得多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603182" y="1914525"/>
              <a:ext cx="179832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688336" y="2023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局部连接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05706" y="202311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每个神经元只接一小块像素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2821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286952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240411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同一模式出现在不同位置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603182" y="2296478"/>
              <a:ext cx="179832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688336" y="2404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权值共享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05706" y="240411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不同位置共用同一组权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26631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078" y="2878455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下采样不改变对象是什么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603182" y="2677478"/>
              <a:ext cx="1798320" cy="5486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688336" y="287845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池化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05706" y="2785110"/>
              <a:ext cx="18775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图变小，后面各层的计算量随之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变小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6059805" cy="17125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588895" y="1524000"/>
              <a:ext cx="9525" cy="1712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406265" y="1524000"/>
              <a:ext cx="9525" cy="1712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6" name="c1-card-2"/>
          <p:cNvGrpSpPr/>
          <p:nvPr/>
        </p:nvGrpSpPr>
        <p:grpSpPr>
          <a:xfrm>
            <a:off x="533400" y="3401378"/>
            <a:ext cx="6059805" cy="1403032"/>
            <a:chOff x="533400" y="3401378"/>
            <a:chExt cx="6059805" cy="1403032"/>
          </a:xfrm>
        </p:grpSpPr>
        <p:sp>
          <p:nvSpPr>
            <p:cNvPr id="30" name="Rectangle 30"/>
            <p:cNvSpPr/>
            <p:nvPr/>
          </p:nvSpPr>
          <p:spPr>
            <a:xfrm>
              <a:off x="533400" y="3401378"/>
              <a:ext cx="6059805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42925" y="3534728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52475" y="3582352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8246" y="361521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94625" y="362188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检测鸟嘴不需要看整张鸟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5998" y="3938111"/>
              <a:ext cx="53774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一个“鸟嘴检测器”只要看 3×3 或 10×10 的一小块就够了，不必接到全部像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素上。而左上角的鸟嘴和正中央的鸟嘴长得一样，两处的检测器可以是同一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组权，这就是权值共享。</a:t>
              </a:r>
            </a:p>
          </p:txBody>
        </p:sp>
      </p:grpSp>
      <p:grpSp>
        <p:nvGrpSpPr>
          <p:cNvPr id="43" name="c1-callout-3"/>
          <p:cNvGrpSpPr/>
          <p:nvPr/>
        </p:nvGrpSpPr>
        <p:grpSpPr>
          <a:xfrm>
            <a:off x="533400" y="4969192"/>
            <a:ext cx="6059805" cy="702945"/>
            <a:chOff x="533400" y="4969192"/>
            <a:chExt cx="6059805" cy="702945"/>
          </a:xfrm>
        </p:grpSpPr>
        <p:sp>
          <p:nvSpPr>
            <p:cNvPr id="37" name="Rectangle 37"/>
            <p:cNvSpPr/>
            <p:nvPr/>
          </p:nvSpPr>
          <p:spPr>
            <a:xfrm>
              <a:off x="533400" y="4969192"/>
              <a:ext cx="6059805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5220653"/>
              <a:ext cx="200026" cy="200025"/>
              <a:chOff x="738188" y="5220653"/>
              <a:chExt cx="200026" cy="2000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522065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77926" y="526510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12642" y="537622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1273" y="5113496"/>
              <a:ext cx="50929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把图片按 2×2 隔行隔列取一半像素，人仍能认出它是一只狗，所以池化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丢掉的信息对分类影响不大。</a:t>
              </a:r>
            </a:p>
          </p:txBody>
        </p:sp>
      </p:grpSp>
      <p:grpSp>
        <p:nvGrpSpPr>
          <p:cNvPr id="46" name="c2-image-1"/>
          <p:cNvGrpSpPr/>
          <p:nvPr/>
        </p:nvGrpSpPr>
        <p:grpSpPr>
          <a:xfrm>
            <a:off x="7954074" y="1524000"/>
            <a:ext cx="2648458" cy="2023776"/>
            <a:chOff x="7954074" y="1524000"/>
            <a:chExt cx="2648458" cy="2023776"/>
          </a:xfrm>
        </p:grpSpPr>
        <p:pic>
          <p:nvPicPr>
            <p:cNvPr id="44" name="Image 44"/>
            <p:cNvPicPr>
              <a:picLocks noChangeAspect="1"/>
            </p:cNvPicPr>
            <p:nvPr/>
          </p:nvPicPr>
          <p:blipFill>
            <a:blip r:embed="rId2"/>
            <a:srcRect l="7" t="0" r="7" b="0"/>
            <a:stretch>
              <a:fillRect/>
            </a:stretch>
          </p:blipFill>
          <p:spPr>
            <a:xfrm>
              <a:off x="8117205" y="1524000"/>
              <a:ext cx="2321242" cy="1741170"/>
            </a:xfrm>
            <a:prstGeom prst="roundRect">
              <a:avLst>
                <a:gd name="adj" fmla="val 7658"/>
              </a:avLst>
            </a:prstGeom>
          </p:spPr>
        </p:pic>
        <p:sp>
          <p:nvSpPr>
            <p:cNvPr id="45" name="TextBox 45"/>
            <p:cNvSpPr txBox="1"/>
            <p:nvPr/>
          </p:nvSpPr>
          <p:spPr>
            <a:xfrm>
              <a:off x="7954074" y="3357086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同一个小窗口滑遍整张图，每停一次填一个格</a:t>
              </a:r>
            </a:p>
          </p:txBody>
        </p:sp>
      </p:grpSp>
      <p:grpSp>
        <p:nvGrpSpPr>
          <p:cNvPr id="53" name="c2-callout-2"/>
          <p:cNvGrpSpPr/>
          <p:nvPr/>
        </p:nvGrpSpPr>
        <p:grpSpPr>
          <a:xfrm>
            <a:off x="6898005" y="3692842"/>
            <a:ext cx="4760595" cy="1978342"/>
            <a:chOff x="6898005" y="3692842"/>
            <a:chExt cx="4760595" cy="1978342"/>
          </a:xfrm>
        </p:grpSpPr>
        <p:sp>
          <p:nvSpPr>
            <p:cNvPr id="47" name="Rectangle 47"/>
            <p:cNvSpPr/>
            <p:nvPr/>
          </p:nvSpPr>
          <p:spPr>
            <a:xfrm>
              <a:off x="6898005" y="3692842"/>
              <a:ext cx="4760595" cy="1978342"/>
            </a:xfrm>
            <a:prstGeom prst="roundRect">
              <a:avLst>
                <a:gd name="adj" fmla="val 5778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090734" y="4578786"/>
              <a:ext cx="224134" cy="192560"/>
              <a:chOff x="7090734" y="4578786"/>
              <a:chExt cx="224134" cy="19256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202805" y="464915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090734" y="457878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202805" y="472694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7405878" y="4241006"/>
              <a:ext cx="3759962" cy="952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更正：原课件第 8 页把 subsampling 写成“细分像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素”，同一页的配图写的却是“二次采样”。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subsampling 是下采样，像素变少、图变小，不是变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细。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4" name="Rectangle 5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1273" y="6039326"/>
              <a:ext cx="5035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卷积层负责前两条（局部连接 + 权值共享），池化层负责第三条。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34181" cy="909257"/>
            <a:chOff x="520446" y="342900"/>
            <a:chExt cx="76341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46" y="407194"/>
              <a:ext cx="2765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常用网络模型 · 卷积神经网络 CNN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341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CNN 的整体结构：卷积和池化交替，最后接全连接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192774" cy="264033"/>
            <a:chOff x="526542" y="1545907"/>
            <a:chExt cx="619277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1927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卷积层与池化层可以重复很多次，每重复一次，图变小一点、通道变多一点。</a:t>
              </a:r>
            </a:p>
          </p:txBody>
        </p:sp>
      </p:grpSp>
      <p:grpSp>
        <p:nvGrpSpPr>
          <p:cNvPr id="39" name="c1-flow-1"/>
          <p:cNvGrpSpPr/>
          <p:nvPr/>
        </p:nvGrpSpPr>
        <p:grpSpPr>
          <a:xfrm>
            <a:off x="666750" y="2096452"/>
            <a:ext cx="10858500" cy="1169671"/>
            <a:chOff x="666750" y="2096452"/>
            <a:chExt cx="10858500" cy="1169671"/>
          </a:xfrm>
        </p:grpSpPr>
        <p:sp>
          <p:nvSpPr>
            <p:cNvPr id="9" name="Freeform 9"/>
            <p:cNvSpPr/>
            <p:nvPr/>
          </p:nvSpPr>
          <p:spPr>
            <a:xfrm>
              <a:off x="1989772" y="297656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151698" y="29241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578542" y="297656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740468" y="29241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5168265" y="297656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330190" y="29241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6757035" y="297656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918960" y="29241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8346758" y="297656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8508682" y="29241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9935528" y="297656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0097452" y="29241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2917508" y="2096452"/>
              <a:ext cx="4768215" cy="686752"/>
            </a:xfrm>
            <a:custGeom>
              <a:avLst/>
              <a:gdLst/>
              <a:ahLst/>
              <a:cxnLst/>
              <a:rect l="l" t="t" r="r" b="b"/>
              <a:pathLst>
                <a:path w="4768215" h="686752">
                  <a:moveTo>
                    <a:pt x="4768215" y="686752"/>
                  </a:moveTo>
                  <a:lnTo>
                    <a:pt x="4768215" y="477202"/>
                  </a:lnTo>
                  <a:lnTo>
                    <a:pt x="4768215" y="0"/>
                  </a:lnTo>
                  <a:lnTo>
                    <a:pt x="2288858" y="0"/>
                  </a:lnTo>
                  <a:lnTo>
                    <a:pt x="0" y="0"/>
                  </a:lnTo>
                  <a:lnTo>
                    <a:pt x="0" y="381952"/>
                  </a:lnTo>
                  <a:lnTo>
                    <a:pt x="0" y="48672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2865120" y="25831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666750" y="2687955"/>
              <a:ext cx="1323022" cy="577215"/>
            </a:xfrm>
            <a:custGeom>
              <a:avLst/>
              <a:gdLst/>
              <a:ahLst/>
              <a:cxnLst/>
              <a:rect l="l" t="t" r="r" b="b"/>
              <a:pathLst>
                <a:path w="1323022" h="577215">
                  <a:moveTo>
                    <a:pt x="133350" y="0"/>
                  </a:moveTo>
                  <a:lnTo>
                    <a:pt x="1323022" y="0"/>
                  </a:lnTo>
                  <a:lnTo>
                    <a:pt x="1189672" y="577215"/>
                  </a:lnTo>
                  <a:lnTo>
                    <a:pt x="0" y="577215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256472" y="2687955"/>
              <a:ext cx="1323022" cy="578168"/>
            </a:xfrm>
            <a:prstGeom prst="roundRect">
              <a:avLst>
                <a:gd name="adj" fmla="val 16474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845242" y="2687955"/>
              <a:ext cx="1323022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34965" y="2783205"/>
              <a:ext cx="1323022" cy="385762"/>
            </a:xfrm>
            <a:prstGeom prst="roundRect">
              <a:avLst>
                <a:gd name="adj" fmla="val 24691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7023735" y="2783205"/>
              <a:ext cx="1323022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8613458" y="2687955"/>
              <a:ext cx="1323022" cy="578168"/>
            </a:xfrm>
            <a:prstGeom prst="roundRect">
              <a:avLst>
                <a:gd name="adj" fmla="val 1318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0202228" y="2687955"/>
              <a:ext cx="1323022" cy="578168"/>
            </a:xfrm>
            <a:prstGeom prst="roundRect">
              <a:avLst>
                <a:gd name="adj" fmla="val 49918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59358" y="2801779"/>
              <a:ext cx="736854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输入图像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高×宽×通道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517076" y="2801779"/>
              <a:ext cx="800862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卷积层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Convolution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262310" y="2801779"/>
              <a:ext cx="487934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池化层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Pooling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864123" y="289798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卷积层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53846" y="289798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池化层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42058" y="2801779"/>
              <a:ext cx="86487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Flatten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拉成一维向量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492588" y="2801779"/>
              <a:ext cx="743255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全连接层</a:t>
              </a:r>
              <a:br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 Softmax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997892" y="2125028"/>
              <a:ext cx="8953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016752" y="2147888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可以重复很多次</a:t>
              </a:r>
            </a:p>
          </p:txBody>
        </p:sp>
      </p:grpSp>
      <p:grpSp>
        <p:nvGrpSpPr>
          <p:cNvPr id="51" name="c1-kv-2"/>
          <p:cNvGrpSpPr/>
          <p:nvPr/>
        </p:nvGrpSpPr>
        <p:grpSpPr>
          <a:xfrm>
            <a:off x="526542" y="4216718"/>
            <a:ext cx="11132058" cy="1441323"/>
            <a:chOff x="526542" y="4216718"/>
            <a:chExt cx="11132058" cy="1441323"/>
          </a:xfrm>
        </p:grpSpPr>
        <p:sp>
          <p:nvSpPr>
            <p:cNvPr id="40" name="TextBox 40"/>
            <p:cNvSpPr txBox="1"/>
            <p:nvPr/>
          </p:nvSpPr>
          <p:spPr>
            <a:xfrm>
              <a:off x="526542" y="42167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卷积层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488567" y="4216718"/>
              <a:ext cx="80101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用若干个小滤波器（filter / kernel）扫过整张图，每个滤波器产出一张特征映射（feature map）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45024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26542" y="460914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池化层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488567" y="4609148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在特征映射上按不重叠的小窗口取最大值或平均值，把图缩小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48948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6542" y="5001578"/>
              <a:ext cx="7062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Flatten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488567" y="5001578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把最后一层得到的多个小特征映射按顺序摊成一个一维向量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52873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26542" y="539400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全连接层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488567" y="5394008"/>
              <a:ext cx="50455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接上一讲的普通前馈网络，最后用 Softmax 输出各类别的概率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2" name="Rectangle 52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892" y="6028373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滤波器里的数就是要学的权值，和全连接层的权一样由反向传播更新。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46" y="407194"/>
              <a:ext cx="2765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常用网络模型 · 卷积神经网络 CNN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卷积在做什么：边界检测的完整一遍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610769" cy="264033"/>
            <a:chOff x="526542" y="1545907"/>
            <a:chExt cx="661076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6107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8×8 图像左半边灰度 10、右半边 0，用一个 3×3 的竖直边界核，步长 1、不补零。</a:t>
              </a:r>
            </a:p>
          </p:txBody>
        </p:sp>
      </p:grpSp>
      <p:grpSp>
        <p:nvGrpSpPr>
          <p:cNvPr id="43" name="c1-cells-1"/>
          <p:cNvGrpSpPr/>
          <p:nvPr/>
        </p:nvGrpSpPr>
        <p:grpSpPr>
          <a:xfrm>
            <a:off x="528638" y="1928812"/>
            <a:ext cx="3670934" cy="887731"/>
            <a:chOff x="528638" y="1928812"/>
            <a:chExt cx="3670934" cy="887731"/>
          </a:xfrm>
        </p:grpSpPr>
        <p:sp>
          <p:nvSpPr>
            <p:cNvPr id="9" name="TextBox 9"/>
            <p:cNvSpPr txBox="1"/>
            <p:nvPr/>
          </p:nvSpPr>
          <p:spPr>
            <a:xfrm>
              <a:off x="528638" y="2057400"/>
              <a:ext cx="2006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行1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46772" y="192881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81591" y="205740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265872" y="192881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400691" y="205740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684972" y="192881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819791" y="205740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104072" y="192881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238891" y="205740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523172" y="192881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692976" y="20574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942272" y="192881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112076" y="20574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361372" y="192881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531176" y="20574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780472" y="192881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950276" y="20574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8638" y="2576512"/>
              <a:ext cx="2006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行2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46772" y="244792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81591" y="257651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265872" y="244792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400691" y="257651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684972" y="244792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819791" y="257651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104072" y="244792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238891" y="257651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523172" y="244792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692976" y="257651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942272" y="244792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112076" y="257651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361372" y="244792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531176" y="257651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780472" y="244792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950276" y="257651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</p:grpSp>
      <p:grpSp>
        <p:nvGrpSpPr>
          <p:cNvPr id="45" name="c1-text-2"/>
          <p:cNvGrpSpPr/>
          <p:nvPr/>
        </p:nvGrpSpPr>
        <p:grpSpPr>
          <a:xfrm>
            <a:off x="527685" y="3005614"/>
            <a:ext cx="5394076" cy="220028"/>
            <a:chOff x="527685" y="3005614"/>
            <a:chExt cx="5394076" cy="220028"/>
          </a:xfrm>
        </p:grpSpPr>
        <p:sp>
          <p:nvSpPr>
            <p:cNvPr id="44" name="TextBox 44"/>
            <p:cNvSpPr txBox="1"/>
            <p:nvPr/>
          </p:nvSpPr>
          <p:spPr>
            <a:xfrm>
              <a:off x="527685" y="3005614"/>
              <a:ext cx="5394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行完全相同：左 4 列全是 10，右 4 列全是 0，分界线在第 4 列与第 5 列之间。</a:t>
              </a:r>
            </a:p>
          </p:txBody>
        </p:sp>
      </p:grpSp>
      <p:grpSp>
        <p:nvGrpSpPr>
          <p:cNvPr id="65" name="c1-cells-3"/>
          <p:cNvGrpSpPr/>
          <p:nvPr/>
        </p:nvGrpSpPr>
        <p:grpSpPr>
          <a:xfrm>
            <a:off x="528638" y="3350895"/>
            <a:ext cx="1509712" cy="1408748"/>
            <a:chOff x="528638" y="3350895"/>
            <a:chExt cx="1509712" cy="1408748"/>
          </a:xfrm>
        </p:grpSpPr>
        <p:sp>
          <p:nvSpPr>
            <p:cNvPr id="46" name="TextBox 46"/>
            <p:cNvSpPr txBox="1"/>
            <p:nvPr/>
          </p:nvSpPr>
          <p:spPr>
            <a:xfrm>
              <a:off x="528638" y="3479482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核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81050" y="335089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50853" y="347948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200150" y="335089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369953" y="347948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619250" y="335089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754069" y="347948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81050" y="387096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50853" y="399954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200150" y="387096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369953" y="399954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619250" y="387096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754069" y="399954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81050" y="439102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50853" y="451866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1200150" y="439102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369953" y="451866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1619250" y="439102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754069" y="451866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</p:grpSp>
      <p:grpSp>
        <p:nvGrpSpPr>
          <p:cNvPr id="72" name="c1-callout-4"/>
          <p:cNvGrpSpPr/>
          <p:nvPr/>
        </p:nvGrpSpPr>
        <p:grpSpPr>
          <a:xfrm>
            <a:off x="533400" y="4929188"/>
            <a:ext cx="5410200" cy="729615"/>
            <a:chOff x="533400" y="4929188"/>
            <a:chExt cx="5410200" cy="729615"/>
          </a:xfrm>
        </p:grpSpPr>
        <p:sp>
          <p:nvSpPr>
            <p:cNvPr id="66" name="Rectangle 66"/>
            <p:cNvSpPr/>
            <p:nvPr/>
          </p:nvSpPr>
          <p:spPr>
            <a:xfrm>
              <a:off x="533400" y="4929188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8188" y="5193983"/>
              <a:ext cx="200026" cy="200025"/>
              <a:chOff x="738188" y="5193983"/>
              <a:chExt cx="200026" cy="200025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519398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777926" y="523843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12642" y="534955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0892" y="5075873"/>
              <a:ext cx="444569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这个核把窗口左列减右列，左右一样亮就得 0，一边亮一边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暗就得一个大数。</a:t>
              </a:r>
            </a:p>
          </p:txBody>
        </p:sp>
      </p:grpSp>
      <p:grpSp>
        <p:nvGrpSpPr>
          <p:cNvPr id="86" name="c2-steps-1"/>
          <p:cNvGrpSpPr/>
          <p:nvPr/>
        </p:nvGrpSpPr>
        <p:grpSpPr>
          <a:xfrm>
            <a:off x="6248400" y="1938338"/>
            <a:ext cx="2671354" cy="1685449"/>
            <a:chOff x="6248400" y="1938338"/>
            <a:chExt cx="2671354" cy="1685449"/>
          </a:xfrm>
        </p:grpSpPr>
        <p:sp>
          <p:nvSpPr>
            <p:cNvPr id="73" name="Rectangle 73"/>
            <p:cNvSpPr/>
            <p:nvPr/>
          </p:nvSpPr>
          <p:spPr>
            <a:xfrm>
              <a:off x="6381750" y="2081212"/>
              <a:ext cx="19050" cy="11658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6248400" y="193833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342024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6248400" y="252126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342024" y="25950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6248400" y="310419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342024" y="31780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660642" y="196977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窗口落在左半边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661785" y="2237899"/>
              <a:ext cx="19790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三列都是 10，(10−10)×3 = 0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660642" y="255270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窗口跨过分界线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661785" y="2820829"/>
              <a:ext cx="22579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左列 10、右列 0，(10−0)×3 = 30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660642" y="313563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窗口落在右半边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661785" y="3403759"/>
              <a:ext cx="13231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三列都是 0，结果 0</a:t>
              </a:r>
            </a:p>
          </p:txBody>
        </p:sp>
      </p:grpSp>
      <p:grpSp>
        <p:nvGrpSpPr>
          <p:cNvPr id="113" name="c2-cells-2"/>
          <p:cNvGrpSpPr/>
          <p:nvPr/>
        </p:nvGrpSpPr>
        <p:grpSpPr>
          <a:xfrm>
            <a:off x="6243638" y="3787140"/>
            <a:ext cx="2832734" cy="888683"/>
            <a:chOff x="6243638" y="3787140"/>
            <a:chExt cx="2832734" cy="888683"/>
          </a:xfrm>
        </p:grpSpPr>
        <p:sp>
          <p:nvSpPr>
            <p:cNvPr id="87" name="TextBox 87"/>
            <p:cNvSpPr txBox="1"/>
            <p:nvPr/>
          </p:nvSpPr>
          <p:spPr>
            <a:xfrm>
              <a:off x="6243638" y="3915728"/>
              <a:ext cx="2006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行1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6561772" y="378714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731576" y="391572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6980872" y="378714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7150676" y="391572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7399972" y="378714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7534791" y="391572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7819072" y="378714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7953891" y="391572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8238172" y="378714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8407976" y="391572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8657272" y="378714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8827076" y="391572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6243638" y="4434840"/>
              <a:ext cx="2006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行2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6561772" y="430720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731576" y="443484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6980872" y="430720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7150676" y="443484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7399972" y="430720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7534791" y="443484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7819072" y="430720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7953891" y="443484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8238172" y="430720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8407976" y="443484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8657272" y="430720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8827076" y="443484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</p:grpSp>
      <p:grpSp>
        <p:nvGrpSpPr>
          <p:cNvPr id="115" name="c2-text-3"/>
          <p:cNvGrpSpPr/>
          <p:nvPr/>
        </p:nvGrpSpPr>
        <p:grpSpPr>
          <a:xfrm>
            <a:off x="6242685" y="4863941"/>
            <a:ext cx="4677898" cy="220028"/>
            <a:chOff x="6242685" y="4863941"/>
            <a:chExt cx="4677898" cy="220028"/>
          </a:xfrm>
        </p:grpSpPr>
        <p:sp>
          <p:nvSpPr>
            <p:cNvPr id="114" name="TextBox 114"/>
            <p:cNvSpPr txBox="1"/>
            <p:nvPr/>
          </p:nvSpPr>
          <p:spPr>
            <a:xfrm>
              <a:off x="6242685" y="4863941"/>
              <a:ext cx="4677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 6×6，六行完全相同，中间两列被点亮，边界的位置被找出来了。</a:t>
              </a:r>
            </a:p>
          </p:txBody>
        </p:sp>
      </p:grpSp>
      <p:grpSp>
        <p:nvGrpSpPr>
          <p:cNvPr id="121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116" name="Rectangle 116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119" name="Group 119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117" name="Freeform 117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18" name="Freeform 118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20" name="TextBox 120"/>
            <p:cNvSpPr txBox="1"/>
            <p:nvPr/>
          </p:nvSpPr>
          <p:spPr>
            <a:xfrm>
              <a:off x="1040892" y="6028373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一个滤波器只认一种模式；想同时认多种模式，就并排放多个滤波器。</a:t>
              </a:r>
            </a:p>
          </p:txBody>
        </p:sp>
      </p:grpSp>
      <p:grpSp>
        <p:nvGrpSpPr>
          <p:cNvPr id="12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2" name="TextBox 12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15967" cy="909257"/>
            <a:chOff x="520446" y="342900"/>
            <a:chExt cx="701596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46" y="407194"/>
              <a:ext cx="2765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常用网络模型 · 卷积神经网络 CNN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1596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卷积例题：一个滤波器扫出一张 4×4 特征映射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255489" cy="264033"/>
            <a:chOff x="526542" y="1545907"/>
            <a:chExt cx="825548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2554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6×6 的 0-1 图像，滤波器 1 是 3×3 的对角线检测器，步长 1，不补零，输出 (6−3)/1+1 = 4，即 4×4。</a:t>
              </a:r>
            </a:p>
          </p:txBody>
        </p:sp>
      </p:grpSp>
      <p:grpSp>
        <p:nvGrpSpPr>
          <p:cNvPr id="81" name="c1-cells-1"/>
          <p:cNvGrpSpPr/>
          <p:nvPr/>
        </p:nvGrpSpPr>
        <p:grpSpPr>
          <a:xfrm>
            <a:off x="533400" y="1928812"/>
            <a:ext cx="2514600" cy="2380298"/>
            <a:chOff x="533400" y="1928812"/>
            <a:chExt cx="2514600" cy="238029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03203" y="200977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52500" y="192881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22303" y="200977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371600" y="192881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541403" y="200977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790700" y="192881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960503" y="200977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209800" y="192881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379603" y="200977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628900" y="192881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798703" y="200977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234981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3203" y="24307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52500" y="234981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22303" y="24307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371600" y="234981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541403" y="24307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790700" y="234981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960503" y="24307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209800" y="234981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379603" y="24307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628900" y="234981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798703" y="24307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277082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03203" y="285178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52500" y="277082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122303" y="285178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371600" y="277082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541403" y="285178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790700" y="277082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960503" y="285178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209800" y="277082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379603" y="285178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2628900" y="277082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798703" y="285178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319182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3203" y="327279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52500" y="319182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122303" y="327279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371600" y="319182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541403" y="327279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790700" y="319182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960503" y="327279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209800" y="319182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379603" y="327279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2628900" y="319182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798703" y="327279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361283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03203" y="36937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52500" y="361283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122303" y="36937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1371600" y="361283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541403" y="36937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1790700" y="361283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960503" y="36937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2209800" y="361283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2379603" y="36937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2628900" y="361283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2798703" y="36937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33400" y="403383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03203" y="41148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952500" y="403383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122303" y="41148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1371600" y="403383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541403" y="41148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1790700" y="403383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1960503" y="41148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2209800" y="403383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2379603" y="41148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2628900" y="403383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2798703" y="41148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</p:grpSp>
      <p:grpSp>
        <p:nvGrpSpPr>
          <p:cNvPr id="101" name="c1-cells-2"/>
          <p:cNvGrpSpPr/>
          <p:nvPr/>
        </p:nvGrpSpPr>
        <p:grpSpPr>
          <a:xfrm>
            <a:off x="528638" y="4473892"/>
            <a:ext cx="1804034" cy="1117282"/>
            <a:chOff x="528638" y="4473892"/>
            <a:chExt cx="1804034" cy="1117282"/>
          </a:xfrm>
        </p:grpSpPr>
        <p:sp>
          <p:nvSpPr>
            <p:cNvPr id="82" name="TextBox 82"/>
            <p:cNvSpPr txBox="1"/>
            <p:nvPr/>
          </p:nvSpPr>
          <p:spPr>
            <a:xfrm>
              <a:off x="528638" y="4554855"/>
              <a:ext cx="4429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滤波器1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1075372" y="447389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1245176" y="455485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1494472" y="447389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629291" y="455485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1913572" y="447389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2048391" y="455485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1075372" y="489489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1210191" y="497681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1494472" y="489489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1664276" y="497681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1913572" y="489489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2048391" y="497681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1075372" y="531590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1210191" y="5397817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1494472" y="531590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1629291" y="5397817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1913572" y="531590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2083376" y="5397817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115" name="c2-steps-1"/>
          <p:cNvGrpSpPr/>
          <p:nvPr/>
        </p:nvGrpSpPr>
        <p:grpSpPr>
          <a:xfrm>
            <a:off x="5815965" y="1938338"/>
            <a:ext cx="2452821" cy="1596009"/>
            <a:chOff x="5815965" y="1938338"/>
            <a:chExt cx="2452821" cy="1596009"/>
          </a:xfrm>
        </p:grpSpPr>
        <p:sp>
          <p:nvSpPr>
            <p:cNvPr id="102" name="Rectangle 102"/>
            <p:cNvSpPr/>
            <p:nvPr/>
          </p:nvSpPr>
          <p:spPr>
            <a:xfrm>
              <a:off x="5949315" y="2081212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3" name="Ellipse 103"/>
            <p:cNvSpPr/>
            <p:nvPr/>
          </p:nvSpPr>
          <p:spPr>
            <a:xfrm>
              <a:off x="5815965" y="193833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5909589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5" name="Ellipse 105"/>
            <p:cNvSpPr/>
            <p:nvPr/>
          </p:nvSpPr>
          <p:spPr>
            <a:xfrm>
              <a:off x="5815965" y="249078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5909589" y="2564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7" name="Ellipse 107"/>
            <p:cNvSpPr/>
            <p:nvPr/>
          </p:nvSpPr>
          <p:spPr>
            <a:xfrm>
              <a:off x="5815965" y="304419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5909589" y="31180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6228588" y="196834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左上角窗口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6229731" y="2223135"/>
              <a:ext cx="20319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图的前 3 行前 3 列正好是单位阵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6228588" y="252174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逐元素相乘再求和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6229731" y="2776538"/>
              <a:ext cx="20390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1×1+0+0+0+1×1+0+0+0+1×1 = 3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6228588" y="3075146"/>
              <a:ext cx="11821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滑遍 16 个位置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6229731" y="3328988"/>
              <a:ext cx="18835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得到下面这张 4×4 的特征映射</a:t>
              </a:r>
            </a:p>
          </p:txBody>
        </p:sp>
      </p:grpSp>
      <p:grpSp>
        <p:nvGrpSpPr>
          <p:cNvPr id="148" name="c2-cells-2"/>
          <p:cNvGrpSpPr/>
          <p:nvPr/>
        </p:nvGrpSpPr>
        <p:grpSpPr>
          <a:xfrm>
            <a:off x="5815965" y="3696652"/>
            <a:ext cx="1676400" cy="1538288"/>
            <a:chOff x="5815965" y="3696652"/>
            <a:chExt cx="1676400" cy="1538288"/>
          </a:xfrm>
        </p:grpSpPr>
        <p:sp>
          <p:nvSpPr>
            <p:cNvPr id="116" name="Rectangle 116"/>
            <p:cNvSpPr/>
            <p:nvPr/>
          </p:nvSpPr>
          <p:spPr>
            <a:xfrm>
              <a:off x="5815965" y="3696652"/>
              <a:ext cx="419100" cy="275272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5985768" y="377761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18" name="Rectangle 118"/>
            <p:cNvSpPr/>
            <p:nvPr/>
          </p:nvSpPr>
          <p:spPr>
            <a:xfrm>
              <a:off x="6235065" y="369665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6369884" y="377761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120" name="Rectangle 120"/>
            <p:cNvSpPr/>
            <p:nvPr/>
          </p:nvSpPr>
          <p:spPr>
            <a:xfrm>
              <a:off x="6654165" y="369665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6788984" y="377761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-3</a:t>
              </a:r>
            </a:p>
          </p:txBody>
        </p:sp>
        <p:sp>
          <p:nvSpPr>
            <p:cNvPr id="122" name="Rectangle 122"/>
            <p:cNvSpPr/>
            <p:nvPr/>
          </p:nvSpPr>
          <p:spPr>
            <a:xfrm>
              <a:off x="7073265" y="369665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7208084" y="377761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124" name="Rectangle 124"/>
            <p:cNvSpPr/>
            <p:nvPr/>
          </p:nvSpPr>
          <p:spPr>
            <a:xfrm>
              <a:off x="5815965" y="411765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5950784" y="419862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-3</a:t>
              </a:r>
            </a:p>
          </p:txBody>
        </p:sp>
        <p:sp>
          <p:nvSpPr>
            <p:cNvPr id="126" name="Rectangle 126"/>
            <p:cNvSpPr/>
            <p:nvPr/>
          </p:nvSpPr>
          <p:spPr>
            <a:xfrm>
              <a:off x="6235065" y="411765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6404868" y="419862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8" name="Rectangle 128"/>
            <p:cNvSpPr/>
            <p:nvPr/>
          </p:nvSpPr>
          <p:spPr>
            <a:xfrm>
              <a:off x="6654165" y="411765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29" name="TextBox 129"/>
            <p:cNvSpPr txBox="1"/>
            <p:nvPr/>
          </p:nvSpPr>
          <p:spPr>
            <a:xfrm>
              <a:off x="6823968" y="419862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0" name="Rectangle 130"/>
            <p:cNvSpPr/>
            <p:nvPr/>
          </p:nvSpPr>
          <p:spPr>
            <a:xfrm>
              <a:off x="7073265" y="411765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31" name="TextBox 131"/>
            <p:cNvSpPr txBox="1"/>
            <p:nvPr/>
          </p:nvSpPr>
          <p:spPr>
            <a:xfrm>
              <a:off x="7208084" y="419862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-3</a:t>
              </a:r>
            </a:p>
          </p:txBody>
        </p:sp>
        <p:sp>
          <p:nvSpPr>
            <p:cNvPr id="132" name="Rectangle 132"/>
            <p:cNvSpPr/>
            <p:nvPr/>
          </p:nvSpPr>
          <p:spPr>
            <a:xfrm>
              <a:off x="5815965" y="453866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33" name="TextBox 133"/>
            <p:cNvSpPr txBox="1"/>
            <p:nvPr/>
          </p:nvSpPr>
          <p:spPr>
            <a:xfrm>
              <a:off x="5950784" y="461962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-3</a:t>
              </a:r>
            </a:p>
          </p:txBody>
        </p:sp>
        <p:sp>
          <p:nvSpPr>
            <p:cNvPr id="134" name="Rectangle 134"/>
            <p:cNvSpPr/>
            <p:nvPr/>
          </p:nvSpPr>
          <p:spPr>
            <a:xfrm>
              <a:off x="6235065" y="453866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35" name="TextBox 135"/>
            <p:cNvSpPr txBox="1"/>
            <p:nvPr/>
          </p:nvSpPr>
          <p:spPr>
            <a:xfrm>
              <a:off x="6369884" y="461962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-3</a:t>
              </a:r>
            </a:p>
          </p:txBody>
        </p:sp>
        <p:sp>
          <p:nvSpPr>
            <p:cNvPr id="136" name="Rectangle 136"/>
            <p:cNvSpPr/>
            <p:nvPr/>
          </p:nvSpPr>
          <p:spPr>
            <a:xfrm>
              <a:off x="6654165" y="453866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37" name="TextBox 137"/>
            <p:cNvSpPr txBox="1"/>
            <p:nvPr/>
          </p:nvSpPr>
          <p:spPr>
            <a:xfrm>
              <a:off x="6823968" y="461962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8" name="Rectangle 138"/>
            <p:cNvSpPr/>
            <p:nvPr/>
          </p:nvSpPr>
          <p:spPr>
            <a:xfrm>
              <a:off x="7073265" y="453866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39" name="TextBox 139"/>
            <p:cNvSpPr txBox="1"/>
            <p:nvPr/>
          </p:nvSpPr>
          <p:spPr>
            <a:xfrm>
              <a:off x="7243068" y="461962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0" name="Rectangle 140"/>
            <p:cNvSpPr/>
            <p:nvPr/>
          </p:nvSpPr>
          <p:spPr>
            <a:xfrm>
              <a:off x="5815965" y="4959668"/>
              <a:ext cx="419100" cy="275272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41" name="TextBox 141"/>
            <p:cNvSpPr txBox="1"/>
            <p:nvPr/>
          </p:nvSpPr>
          <p:spPr>
            <a:xfrm>
              <a:off x="5985768" y="504063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2" name="Rectangle 142"/>
            <p:cNvSpPr/>
            <p:nvPr/>
          </p:nvSpPr>
          <p:spPr>
            <a:xfrm>
              <a:off x="6235065" y="495966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43" name="TextBox 143"/>
            <p:cNvSpPr txBox="1"/>
            <p:nvPr/>
          </p:nvSpPr>
          <p:spPr>
            <a:xfrm>
              <a:off x="6369884" y="504063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-2</a:t>
              </a:r>
            </a:p>
          </p:txBody>
        </p:sp>
        <p:sp>
          <p:nvSpPr>
            <p:cNvPr id="144" name="Rectangle 144"/>
            <p:cNvSpPr/>
            <p:nvPr/>
          </p:nvSpPr>
          <p:spPr>
            <a:xfrm>
              <a:off x="6654165" y="495966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45" name="TextBox 145"/>
            <p:cNvSpPr txBox="1"/>
            <p:nvPr/>
          </p:nvSpPr>
          <p:spPr>
            <a:xfrm>
              <a:off x="6788984" y="504063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-2</a:t>
              </a:r>
            </a:p>
          </p:txBody>
        </p:sp>
        <p:sp>
          <p:nvSpPr>
            <p:cNvPr id="146" name="Rectangle 146"/>
            <p:cNvSpPr/>
            <p:nvPr/>
          </p:nvSpPr>
          <p:spPr>
            <a:xfrm>
              <a:off x="7073265" y="495966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47" name="TextBox 147"/>
            <p:cNvSpPr txBox="1"/>
            <p:nvPr/>
          </p:nvSpPr>
          <p:spPr>
            <a:xfrm>
              <a:off x="7208084" y="504063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</p:grpSp>
      <p:grpSp>
        <p:nvGrpSpPr>
          <p:cNvPr id="150" name="c2-text-3"/>
          <p:cNvGrpSpPr/>
          <p:nvPr/>
        </p:nvGrpSpPr>
        <p:grpSpPr>
          <a:xfrm>
            <a:off x="5810631" y="5416868"/>
            <a:ext cx="5488019" cy="205359"/>
            <a:chOff x="5810631" y="5416868"/>
            <a:chExt cx="5488019" cy="205359"/>
          </a:xfrm>
        </p:grpSpPr>
        <p:sp>
          <p:nvSpPr>
            <p:cNvPr id="149" name="TextBox 149"/>
            <p:cNvSpPr txBox="1"/>
            <p:nvPr/>
          </p:nvSpPr>
          <p:spPr>
            <a:xfrm>
              <a:off x="5810631" y="5416868"/>
              <a:ext cx="5488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 3 出现在第 1 行第 1 列和第 4 行第 1 列，对应原图里那两段左上到右下的对角线。</a:t>
              </a:r>
            </a:p>
          </p:txBody>
        </p:sp>
      </p:grpSp>
      <p:grpSp>
        <p:nvGrpSpPr>
          <p:cNvPr id="15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151" name="Rectangle 15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154" name="Group 154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152" name="Freeform 152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53" name="Freeform 153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55" name="TextBox 155"/>
            <p:cNvSpPr txBox="1"/>
            <p:nvPr/>
          </p:nvSpPr>
          <p:spPr>
            <a:xfrm>
              <a:off x="1041273" y="6039326"/>
              <a:ext cx="9860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滤波器里的 9 个数是网络要学的参数，这里为了手算固定成对角线模板。特征映射上的数越大，那个位置越像滤波器刻画的模式。</a:t>
              </a:r>
            </a:p>
          </p:txBody>
        </p:sp>
      </p:grpSp>
      <p:grpSp>
        <p:nvGrpSpPr>
          <p:cNvPr id="1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7" name="TextBox 15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158" name="TextBox 15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46" y="407194"/>
              <a:ext cx="2765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常用网络模型 · 卷积神经网络 CNN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换一个滤波器，就找另一种模式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cells-1"/>
          <p:cNvGrpSpPr/>
          <p:nvPr/>
        </p:nvGrpSpPr>
        <p:grpSpPr>
          <a:xfrm>
            <a:off x="528638" y="1524000"/>
            <a:ext cx="1804034" cy="1360170"/>
            <a:chOff x="528638" y="1524000"/>
            <a:chExt cx="1804034" cy="1360170"/>
          </a:xfrm>
        </p:grpSpPr>
        <p:sp>
          <p:nvSpPr>
            <p:cNvPr id="7" name="TextBox 7"/>
            <p:cNvSpPr txBox="1"/>
            <p:nvPr/>
          </p:nvSpPr>
          <p:spPr>
            <a:xfrm>
              <a:off x="528638" y="1645920"/>
              <a:ext cx="4429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滤波器2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75372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10191" y="164592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494472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64276" y="164592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913572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048391" y="164592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5372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10191" y="214788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494472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664276" y="214788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913572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048391" y="214788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075372" y="252793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210191" y="264985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494472" y="252793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664276" y="264985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913572" y="252793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048391" y="264985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</p:grpSp>
      <p:grpSp>
        <p:nvGrpSpPr>
          <p:cNvPr id="59" name="c1-cells-2"/>
          <p:cNvGrpSpPr/>
          <p:nvPr/>
        </p:nvGrpSpPr>
        <p:grpSpPr>
          <a:xfrm>
            <a:off x="533400" y="3048952"/>
            <a:ext cx="1676400" cy="1862138"/>
            <a:chOff x="533400" y="3048952"/>
            <a:chExt cx="1676400" cy="1862138"/>
          </a:xfrm>
        </p:grpSpPr>
        <p:sp>
          <p:nvSpPr>
            <p:cNvPr id="27" name="Rectangle 27"/>
            <p:cNvSpPr/>
            <p:nvPr/>
          </p:nvSpPr>
          <p:spPr>
            <a:xfrm>
              <a:off x="533400" y="304895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8219" y="3170873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52500" y="304895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87319" y="3170873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371600" y="304895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506419" y="3170873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790700" y="304895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925519" y="3170873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55092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8219" y="367284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52500" y="355092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87319" y="367284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371600" y="355092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506419" y="367284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-2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790700" y="355092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960503" y="367284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405288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8219" y="417480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52500" y="405288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87319" y="417480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371600" y="405288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506419" y="417480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-2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790700" y="405288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960503" y="417480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455485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68219" y="46767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952500" y="455485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122303" y="467677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371600" y="455485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506419" y="46767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-4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790700" y="4554855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960503" y="467677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  <p:grpSp>
        <p:nvGrpSpPr>
          <p:cNvPr id="62" name="c1-text-3"/>
          <p:cNvGrpSpPr/>
          <p:nvPr/>
        </p:nvGrpSpPr>
        <p:grpSpPr>
          <a:xfrm>
            <a:off x="528066" y="5093018"/>
            <a:ext cx="3035579" cy="452056"/>
            <a:chOff x="528066" y="5093018"/>
            <a:chExt cx="3035579" cy="452056"/>
          </a:xfrm>
        </p:grpSpPr>
        <p:sp>
          <p:nvSpPr>
            <p:cNvPr id="60" name="TextBox 60"/>
            <p:cNvSpPr txBox="1"/>
            <p:nvPr/>
          </p:nvSpPr>
          <p:spPr>
            <a:xfrm>
              <a:off x="528066" y="5093018"/>
              <a:ext cx="3035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滤波器 2 中列是 1、两侧是 −1，响应竖直短线。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28066" y="5339715"/>
              <a:ext cx="27387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最大值 3 在右下角，对应第 5 列那段竖线。</a:t>
              </a:r>
            </a:p>
          </p:txBody>
        </p:sp>
      </p:grpSp>
      <p:grpSp>
        <p:nvGrpSpPr>
          <p:cNvPr id="69" name="c2-card-1"/>
          <p:cNvGrpSpPr/>
          <p:nvPr/>
        </p:nvGrpSpPr>
        <p:grpSpPr>
          <a:xfrm>
            <a:off x="6248400" y="1524000"/>
            <a:ext cx="5410200" cy="1600200"/>
            <a:chOff x="6248400" y="1524000"/>
            <a:chExt cx="5410200" cy="1600200"/>
          </a:xfrm>
        </p:grpSpPr>
        <p:sp>
          <p:nvSpPr>
            <p:cNvPr id="63" name="Rectangle 63"/>
            <p:cNvSpPr/>
            <p:nvPr/>
          </p:nvSpPr>
          <p:spPr>
            <a:xfrm>
              <a:off x="6248400" y="1524000"/>
              <a:ext cx="5410200" cy="1600200"/>
            </a:xfrm>
            <a:prstGeom prst="roundRect">
              <a:avLst>
                <a:gd name="adj" fmla="val 8333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429375" y="170497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513944" y="17378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同一张图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244906" y="174450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有几个滤波器，就有几张特征映射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422898" y="2061686"/>
              <a:ext cx="47678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 个滤波器扫同一张图，得到 k 张 4×4 的特征映射，叠起来就是一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 4×4×k 的新“图像”。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每个滤波器对应输出的一个通道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424041" y="2585085"/>
              <a:ext cx="4724590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后一层的卷积就在这个 4×4×k 上继续做，所以深层滤波器看到的原图范围越来越</a:t>
              </a:r>
              <a:br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大。</a:t>
              </a:r>
            </a:p>
          </p:txBody>
        </p:sp>
      </p:grpSp>
      <p:grpSp>
        <p:nvGrpSpPr>
          <p:cNvPr id="92" name="c2-table-2"/>
          <p:cNvGrpSpPr/>
          <p:nvPr/>
        </p:nvGrpSpPr>
        <p:grpSpPr>
          <a:xfrm>
            <a:off x="6248400" y="3288982"/>
            <a:ext cx="5410200" cy="2287905"/>
            <a:chOff x="6248400" y="3288982"/>
            <a:chExt cx="5410200" cy="2287905"/>
          </a:xfrm>
        </p:grpSpPr>
        <p:sp>
          <p:nvSpPr>
            <p:cNvPr id="70" name="Rectangle 70"/>
            <p:cNvSpPr/>
            <p:nvPr/>
          </p:nvSpPr>
          <p:spPr>
            <a:xfrm>
              <a:off x="6248400" y="3288982"/>
              <a:ext cx="5410200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416356" y="340614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909429" y="340614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本例的值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343079" y="378714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输入尺寸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831961" y="378714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6×6×1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248400" y="404622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6248400" y="405098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343079" y="4169093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滤波器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831961" y="4169093"/>
              <a:ext cx="9859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3×3×1，共 2 个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248400" y="44281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343079" y="4550092"/>
              <a:ext cx="746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步长 / 补零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831961" y="4550092"/>
              <a:ext cx="328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/ 0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248400" y="48091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6248400" y="481393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343079" y="493109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输出尺寸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8746808" y="4823460"/>
              <a:ext cx="2902268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8831961" y="4931092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4×4×2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6248400" y="519112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343079" y="531304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要学的参数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831961" y="5313045"/>
              <a:ext cx="12121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(3×3+1)×2 = 20 个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6248400" y="3288982"/>
              <a:ext cx="5410200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1" name="Rectangle 91"/>
            <p:cNvSpPr/>
            <p:nvPr/>
          </p:nvSpPr>
          <p:spPr>
            <a:xfrm>
              <a:off x="8732520" y="328898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93" name="Rectangle 9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97" name="Group 97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94" name="Freeform 94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98" name="TextBox 98"/>
            <p:cNvSpPr txBox="1"/>
            <p:nvPr/>
          </p:nvSpPr>
          <p:spPr>
            <a:xfrm>
              <a:off x="1041273" y="6039326"/>
              <a:ext cx="54063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每个滤波器除了 9 个权还有 1 个偏置，整张特征映射共用这一个偏置。</a:t>
              </a:r>
            </a:p>
          </p:txBody>
        </p:sp>
      </p:grpSp>
      <p:grpSp>
        <p:nvGrpSpPr>
          <p:cNvPr id="10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0" name="TextBox 10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96483" cy="909257"/>
            <a:chOff x="520446" y="342900"/>
            <a:chExt cx="789648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46" y="407194"/>
              <a:ext cx="2765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常用网络模型 · 卷积神经网络 CNN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964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输出尺寸算得准：一个公式管住 padding 和 stride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255935" cy="264033"/>
            <a:chOff x="526542" y="1545907"/>
            <a:chExt cx="725593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2559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源课件只用了步长 1、不补零的情形。实际网络里这两个超参数一直在用，公式要背下来。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4"/>
              <p:cNvSpPr txBox="1">
                <a:spLocks noGrp="1"/>
              </p:cNvSpPr>
              <p:nvPr/>
            </p:nvSpPr>
            <p:spPr>
              <a:xfrm>
                <a:off x="533400" y="1928812"/>
                <a:ext cx="5410200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out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⌊"/>
                          <m:sepChr m:val=""/>
                          <m:endChr m:val="⌋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in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2p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num>
                            <m:den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21" name="c1-kv-2"/>
          <p:cNvGrpSpPr/>
          <p:nvPr/>
        </p:nvGrpSpPr>
        <p:grpSpPr>
          <a:xfrm>
            <a:off x="526923" y="2628424"/>
            <a:ext cx="5416677" cy="1371409"/>
            <a:chOff x="526923" y="2628424"/>
            <a:chExt cx="5416677" cy="1371409"/>
          </a:xfrm>
        </p:grpSpPr>
        <p:sp>
          <p:nvSpPr>
            <p:cNvPr id="10" name="TextBox 10"/>
            <p:cNvSpPr txBox="1"/>
            <p:nvPr/>
          </p:nvSpPr>
          <p:spPr>
            <a:xfrm>
              <a:off x="526923" y="2628424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nᵢₙ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67943" y="262842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输入的高或宽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9013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923" y="300275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67943" y="300275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滤波器的边长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27469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923" y="337708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7943" y="337708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四周各补几圈零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6490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6923" y="375046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7943" y="375046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每次滑动几格</a:t>
              </a:r>
            </a:p>
          </p:txBody>
        </p:sp>
      </p:grpSp>
      <p:grpSp>
        <p:nvGrpSpPr>
          <p:cNvPr id="31" name="c1-card-3"/>
          <p:cNvGrpSpPr/>
          <p:nvPr/>
        </p:nvGrpSpPr>
        <p:grpSpPr>
          <a:xfrm>
            <a:off x="533400" y="4114800"/>
            <a:ext cx="5410200" cy="1576388"/>
            <a:chOff x="533400" y="4114800"/>
            <a:chExt cx="5410200" cy="1576388"/>
          </a:xfrm>
        </p:grpSpPr>
        <p:sp>
          <p:nvSpPr>
            <p:cNvPr id="22" name="Rectangle 22"/>
            <p:cNvSpPr/>
            <p:nvPr/>
          </p:nvSpPr>
          <p:spPr>
            <a:xfrm>
              <a:off x="533400" y="4114800"/>
              <a:ext cx="5410200" cy="1576388"/>
            </a:xfrm>
            <a:prstGeom prst="roundRect">
              <a:avLst>
                <a:gd name="adj" fmla="val 84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4248150"/>
              <a:ext cx="47625" cy="130968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52475" y="4295775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29894" y="432863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两个常用取法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16608" y="4335304"/>
              <a:ext cx="11351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same 与 valid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62000" y="4704398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17448" y="4652486"/>
              <a:ext cx="4576013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same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：取 p = (f−1)/2 且 s = 1，输出与输入同尺寸，f 取奇数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才好取整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62000" y="5232082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17448" y="5180171"/>
              <a:ext cx="47709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valid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：p = 0，只在完全落在图内的位置计算，图会一圈圈缩小</a:t>
              </a:r>
            </a:p>
          </p:txBody>
        </p:sp>
      </p:grpSp>
      <p:grpSp>
        <p:nvGrpSpPr>
          <p:cNvPr id="82" name="c2-table-1"/>
          <p:cNvGrpSpPr/>
          <p:nvPr/>
        </p:nvGrpSpPr>
        <p:grpSpPr>
          <a:xfrm>
            <a:off x="6243447" y="1928812"/>
            <a:ext cx="5415153" cy="2933414"/>
            <a:chOff x="6243447" y="1928812"/>
            <a:chExt cx="5415153" cy="2933414"/>
          </a:xfrm>
        </p:grpSpPr>
        <p:sp>
          <p:nvSpPr>
            <p:cNvPr id="32" name="Rectangle 32"/>
            <p:cNvSpPr/>
            <p:nvPr/>
          </p:nvSpPr>
          <p:spPr>
            <a:xfrm>
              <a:off x="6248400" y="1928812"/>
              <a:ext cx="5410200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15933" y="2045970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nᵢₙ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25311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691133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56956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678476" y="204597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nₒᵤₜ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43079" y="2426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33704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98574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264396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30218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48400" y="2687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48400" y="2691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43079" y="2808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533704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98574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64396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130218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3068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43079" y="318992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533704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398574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64396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130218" y="3189923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248400" y="3449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248400" y="3453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43079" y="35718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533704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398574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264396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130218" y="357187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248400" y="38309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343079" y="39528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533704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398574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264396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130218" y="395287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248400" y="42119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6248400" y="4216718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343079" y="43338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533704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398574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264396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130218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248400" y="1928812"/>
              <a:ext cx="5410200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7434262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8299132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9164955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10030778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243447" y="4671536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按公式验算本讲用到的几层</a:t>
              </a:r>
            </a:p>
          </p:txBody>
        </p:sp>
      </p:grpSp>
      <p:grpSp>
        <p:nvGrpSpPr>
          <p:cNvPr id="89" name="c2-callout-2"/>
          <p:cNvGrpSpPr/>
          <p:nvPr/>
        </p:nvGrpSpPr>
        <p:grpSpPr>
          <a:xfrm>
            <a:off x="6248400" y="4988242"/>
            <a:ext cx="5410200" cy="702945"/>
            <a:chOff x="6248400" y="4988242"/>
            <a:chExt cx="5410200" cy="702945"/>
          </a:xfrm>
        </p:grpSpPr>
        <p:sp>
          <p:nvSpPr>
            <p:cNvPr id="83" name="Rectangle 83"/>
            <p:cNvSpPr/>
            <p:nvPr/>
          </p:nvSpPr>
          <p:spPr>
            <a:xfrm>
              <a:off x="6248400" y="4988242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6441129" y="5236011"/>
              <a:ext cx="224134" cy="192560"/>
              <a:chOff x="6441129" y="5236011"/>
              <a:chExt cx="224134" cy="192560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6553200" y="530637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6441129" y="523601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6553200" y="538416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6756273" y="5133499"/>
              <a:ext cx="443458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不补零时图每过一个 f×f 卷积就缩掉 f−1，深网络叠十几层图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就没了，这是 padding 存在的理由。</a:t>
              </a:r>
            </a:p>
          </p:txBody>
        </p:sp>
      </p:grpSp>
      <p:grpSp>
        <p:nvGrpSpPr>
          <p:cNvPr id="9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90" name="Rectangle 9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93" name="Group 93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4" name="TextBox 94"/>
            <p:cNvSpPr txBox="1"/>
            <p:nvPr/>
          </p:nvSpPr>
          <p:spPr>
            <a:xfrm>
              <a:off x="1041273" y="6039326"/>
              <a:ext cx="57251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池化层也用同一个公式，只是把 f 换成池化窗口、s 通常取得和 f 一样大。</a:t>
              </a:r>
            </a:p>
          </p:txBody>
        </p:sp>
      </p:grpSp>
      <p:grpSp>
        <p:nvGrpSpPr>
          <p:cNvPr id="9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6" name="TextBox 9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46" y="407194"/>
              <a:ext cx="2765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常用网络模型 · 卷积神经网络 CNN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彩色图像：滤波器也要有厚度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193982" cy="1786890"/>
            <a:chOff x="533400" y="1524000"/>
            <a:chExt cx="5193982" cy="17868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78689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2019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3343" y="175069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多通道卷积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47647" y="175641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通道数在卷积里被吃掉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3514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彩色图是 R、G、B 三张同样大的表，写成 6×6×3。滤波器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必须同样是三层，即 3×3×3，27 个权再加 1 个偏置。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047" y="2649855"/>
              <a:ext cx="45914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计算时把 27 个乘积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全部加成一个数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，所以一个滤波器无论输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入多少通道，输出都只有一张二维特征映射。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formula19"/>
              <p:cNvSpPr txBox="1">
                <a:spLocks noGrp="1"/>
              </p:cNvSpPr>
              <p:nvPr/>
            </p:nvSpPr>
            <p:spPr>
              <a:xfrm>
                <a:off x="533400" y="3485198"/>
                <a:ext cx="5193982" cy="534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limLoc m:val="undOvr"/>
                                  <m:grow m:val="off"/>
                                  <m:subHide m:val="off"/>
                                  <m:supHide m:val="off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naryPr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v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=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f</m:t>
                                  </m:r>
                                </m:sup>
                                <m:e>
                                  <m:sSubSup>
                                    <m:e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w</m:t>
                                      </m:r>
                                    </m:e>
                                    <m:sub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uv</m:t>
                                      </m:r>
                                    </m:sub>
                                    <m:sup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c</m:t>
                                          </m:r>
                                        </m:e>
                                      </m:d>
                                    </m:sup>
                                  </m:sSubSup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 xml:space="preserve"> </m:t>
                                  </m:r>
                                  <m:sSubSup>
                                    <m:e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u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,</m:t>
                                      </m:r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 xml:space="preserve"> </m:t>
                                      </m:r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j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v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c</m:t>
                                          </m:r>
                                        </m:e>
                                      </m:d>
                                    </m:sup>
                                  </m:sSubSup>
                                </m:e>
                              </m:nary>
                            </m:e>
                          </m:nary>
                        </m:e>
                      </m:nary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22" name="c1-card-3"/>
          <p:cNvGrpSpPr/>
          <p:nvPr/>
        </p:nvGrpSpPr>
        <p:grpSpPr>
          <a:xfrm>
            <a:off x="533400" y="4194810"/>
            <a:ext cx="5193982" cy="1483995"/>
            <a:chOff x="533400" y="4194810"/>
            <a:chExt cx="5193982" cy="1483995"/>
          </a:xfrm>
        </p:grpSpPr>
        <p:sp>
          <p:nvSpPr>
            <p:cNvPr id="16" name="Rectangle 16"/>
            <p:cNvSpPr/>
            <p:nvPr/>
          </p:nvSpPr>
          <p:spPr>
            <a:xfrm>
              <a:off x="533400" y="4194810"/>
              <a:ext cx="5193982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4328160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3905" y="4387215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9346" y="442150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14247" y="442722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一层里的参数怎么数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7047" y="4761548"/>
              <a:ext cx="432568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 32×32×3，取 3×3 的滤波器 64 个：每个滤波器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3×3×3 = 27 个权再加 1 个偏置，整层 28×64 = 1792 个参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数。把输入换成 224×224×3，这个数一点不变。</a:t>
              </a:r>
            </a:p>
          </p:txBody>
        </p:sp>
      </p:grpSp>
      <p:grpSp>
        <p:nvGrpSpPr>
          <p:cNvPr id="53" name="c2-table-1"/>
          <p:cNvGrpSpPr/>
          <p:nvPr/>
        </p:nvGrpSpPr>
        <p:grpSpPr>
          <a:xfrm>
            <a:off x="6026848" y="1524000"/>
            <a:ext cx="5631752" cy="2714244"/>
            <a:chOff x="6026848" y="1524000"/>
            <a:chExt cx="5631752" cy="2714244"/>
          </a:xfrm>
        </p:grpSpPr>
        <p:sp>
          <p:nvSpPr>
            <p:cNvPr id="23" name="Rectangle 23"/>
            <p:cNvSpPr/>
            <p:nvPr/>
          </p:nvSpPr>
          <p:spPr>
            <a:xfrm>
              <a:off x="6032182" y="1524000"/>
              <a:ext cx="5626418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07390" y="164830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63222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48960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32195" y="20540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044815" y="2054066"/>
              <a:ext cx="481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H×W×C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32645" y="205406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6×6×3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032182" y="233076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032182" y="233553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132195" y="245983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单个滤波器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44815" y="2459831"/>
              <a:ext cx="4338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f×f×C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732645" y="245983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3×3×3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032182" y="27365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32195" y="28655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滤波器个数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44815" y="286559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732645" y="286559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032182" y="314229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032182" y="314706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132195" y="32713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44815" y="3271361"/>
              <a:ext cx="6566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H'×W'×K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732645" y="327136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4×4×64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032182" y="35480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132195" y="367712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参数个数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044815" y="3677126"/>
              <a:ext cx="949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(f·f·C+1)·K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642158" y="3562350"/>
              <a:ext cx="2006918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732645" y="367712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1792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032182" y="1524000"/>
              <a:ext cx="5626418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940040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627870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026848" y="4032885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一个卷积层的形状与参数</a:t>
              </a:r>
            </a:p>
          </p:txBody>
        </p:sp>
      </p:grpSp>
      <p:grpSp>
        <p:nvGrpSpPr>
          <p:cNvPr id="60" name="c2-callout-2"/>
          <p:cNvGrpSpPr/>
          <p:nvPr/>
        </p:nvGrpSpPr>
        <p:grpSpPr>
          <a:xfrm>
            <a:off x="6032182" y="4371975"/>
            <a:ext cx="5626418" cy="1306830"/>
            <a:chOff x="6032182" y="4371975"/>
            <a:chExt cx="5626418" cy="1306830"/>
          </a:xfrm>
        </p:grpSpPr>
        <p:sp>
          <p:nvSpPr>
            <p:cNvPr id="54" name="Rectangle 54"/>
            <p:cNvSpPr/>
            <p:nvPr/>
          </p:nvSpPr>
          <p:spPr>
            <a:xfrm>
              <a:off x="6032182" y="4371975"/>
              <a:ext cx="5626418" cy="1306830"/>
            </a:xfrm>
            <a:prstGeom prst="roundRect">
              <a:avLst>
                <a:gd name="adj" fmla="val 874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6236970" y="4925378"/>
              <a:ext cx="200026" cy="200026"/>
              <a:chOff x="6236970" y="4925378"/>
              <a:chExt cx="200026" cy="200026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236970" y="492537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336983" y="49920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325870" y="502539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6539674" y="4807268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参数个数与输入图多大无关，只和滤波器的尺寸、输入通道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数、滤波器个数有关。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1" name="Rectangle 61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892" y="6023610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记一句话：输入通道决定滤波器的厚度，滤波器个数决定输出通道。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46" y="407194"/>
              <a:ext cx="2765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常用网络模型 · 卷积神经网络 CNN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卷积层对全连接层，参数差了十个数量级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5568315" cy="293370"/>
            <a:chOff x="525780" y="1548765"/>
            <a:chExt cx="5568315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55683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取源课件的设定：1000×1000 的图像，隐层有 10⁶ 个神经元。</a:t>
              </a:r>
            </a:p>
          </p:txBody>
        </p:sp>
      </p:grpSp>
      <p:grpSp>
        <p:nvGrpSpPr>
          <p:cNvPr id="31" name="c1-table-1"/>
          <p:cNvGrpSpPr/>
          <p:nvPr/>
        </p:nvGrpSpPr>
        <p:grpSpPr>
          <a:xfrm>
            <a:off x="528066" y="1954530"/>
            <a:ext cx="5847969" cy="2191322"/>
            <a:chOff x="528066" y="1954530"/>
            <a:chExt cx="5847969" cy="219132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842635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24902" y="20831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32279" y="2083118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每个神经元接多少输入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98314" y="208311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第一层参数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5889" y="250698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全连接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55126" y="2506980"/>
              <a:ext cx="11349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10⁶ 个像素全接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049078" y="2388870"/>
              <a:ext cx="2318385" cy="40576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142042" y="250698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10¹²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79844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803208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5889" y="293179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局部连接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155126" y="2931795"/>
              <a:ext cx="13610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只接 10×10 的一块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42042" y="293179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10⁸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22326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5889" y="3356610"/>
              <a:ext cx="1110615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局部连接 + 权值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55126" y="346329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同上，且全图共用一组权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049078" y="3237548"/>
              <a:ext cx="2318385" cy="61912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142042" y="346329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1954530"/>
              <a:ext cx="5842635" cy="19107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047875" y="1954530"/>
              <a:ext cx="9525" cy="1910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034790" y="1954530"/>
              <a:ext cx="9525" cy="1910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8066" y="3940493"/>
              <a:ext cx="21662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同样 10⁶ 个隐层神经元，三种接法</a:t>
              </a:r>
            </a:p>
          </p:txBody>
        </p:sp>
      </p:grpSp>
      <p:grpSp>
        <p:nvGrpSpPr>
          <p:cNvPr id="37" name="c1-card-2"/>
          <p:cNvGrpSpPr/>
          <p:nvPr/>
        </p:nvGrpSpPr>
        <p:grpSpPr>
          <a:xfrm>
            <a:off x="533400" y="4284345"/>
            <a:ext cx="5842635" cy="1268730"/>
            <a:chOff x="533400" y="4284345"/>
            <a:chExt cx="5842635" cy="1268730"/>
          </a:xfrm>
        </p:grpSpPr>
        <p:sp>
          <p:nvSpPr>
            <p:cNvPr id="32" name="Rectangle 32"/>
            <p:cNvSpPr/>
            <p:nvPr/>
          </p:nvSpPr>
          <p:spPr>
            <a:xfrm>
              <a:off x="533400" y="4284345"/>
              <a:ext cx="5842635" cy="1268730"/>
            </a:xfrm>
            <a:prstGeom prst="roundRect">
              <a:avLst>
                <a:gd name="adj" fmla="val 10511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1520" y="4482465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06958" y="451675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为什么能共享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848231" y="451723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同一个模式换个位置还是它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4281" y="4861084"/>
              <a:ext cx="52443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左上角的鸟嘴和正中央的鸟嘴长得一样，用同一组权去检测就行。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共享之后参数个数只剩滤波器本身那么多，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和图像多大完全无关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62" name="c2-compare-1"/>
          <p:cNvGrpSpPr/>
          <p:nvPr/>
        </p:nvGrpSpPr>
        <p:grpSpPr>
          <a:xfrm>
            <a:off x="6680835" y="1954530"/>
            <a:ext cx="4977765" cy="3598545"/>
            <a:chOff x="6680835" y="1954530"/>
            <a:chExt cx="4977765" cy="3598545"/>
          </a:xfrm>
        </p:grpSpPr>
        <p:sp>
          <p:nvSpPr>
            <p:cNvPr id="38" name="Rectangle 38"/>
            <p:cNvSpPr/>
            <p:nvPr/>
          </p:nvSpPr>
          <p:spPr>
            <a:xfrm>
              <a:off x="6680835" y="1954530"/>
              <a:ext cx="2249805" cy="3598545"/>
            </a:xfrm>
            <a:prstGeom prst="roundRect">
              <a:avLst>
                <a:gd name="adj" fmla="val 59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690360" y="2087880"/>
              <a:ext cx="47625" cy="333184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909816" y="21759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全连接层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924675" y="257175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081266" y="2512219"/>
              <a:ext cx="14571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每个输出连所有输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924675" y="316134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81266" y="3100864"/>
              <a:ext cx="14571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参数随图像面积平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方增长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924675" y="374999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81266" y="3690461"/>
              <a:ext cx="14571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打乱像素顺序不影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响结果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924675" y="433959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081266" y="427910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学不到平移不变性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9408795" y="1954530"/>
              <a:ext cx="2249805" cy="3598545"/>
            </a:xfrm>
            <a:prstGeom prst="roundRect">
              <a:avLst>
                <a:gd name="adj" fmla="val 59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9418320" y="2087880"/>
              <a:ext cx="47625" cy="33318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637776" y="217598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卷积层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9652635" y="257175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809226" y="2512219"/>
              <a:ext cx="14571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每个输出只连一小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9652635" y="316134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809226" y="3100864"/>
              <a:ext cx="14571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参数只和核的大小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有关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9652635" y="374999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809226" y="3690461"/>
              <a:ext cx="14571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依赖像素的相邻关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9652635" y="433959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809226" y="4279106"/>
              <a:ext cx="14571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平移同一模式响应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相同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8978265" y="3562350"/>
              <a:ext cx="382905" cy="38290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032837" y="369331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63" name="Rectangle 63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6011228"/>
              <a:ext cx="200026" cy="200026"/>
              <a:chOff x="738188" y="6011228"/>
              <a:chExt cx="200026" cy="200026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60112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38200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27088" y="61112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511" y="6011704"/>
              <a:ext cx="74410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卷积层可以看成一种被限制过的全连接层：大部分权被强制为 0，剩下的权被强制相等。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46" y="407194"/>
              <a:ext cx="2765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常用网络模型 · 卷积神经网络 CNN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池化：每个小窗口里只留最大的那个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866094" cy="264033"/>
            <a:chOff x="526542" y="1545907"/>
            <a:chExt cx="486609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8660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最大池化窗口 2×2、步长 2，窗口互不重叠，6×6 缩成 3×3。</a:t>
              </a:r>
            </a:p>
          </p:txBody>
        </p:sp>
      </p:grpSp>
      <p:grpSp>
        <p:nvGrpSpPr>
          <p:cNvPr id="81" name="c1-cells-1"/>
          <p:cNvGrpSpPr/>
          <p:nvPr/>
        </p:nvGrpSpPr>
        <p:grpSpPr>
          <a:xfrm>
            <a:off x="533400" y="1928812"/>
            <a:ext cx="2514600" cy="2380298"/>
            <a:chOff x="533400" y="1928812"/>
            <a:chExt cx="2514600" cy="238029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03203" y="200977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52500" y="1928812"/>
              <a:ext cx="419100" cy="275272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22303" y="200977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371600" y="192881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541403" y="200977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790700" y="192881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960503" y="200977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209800" y="192881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379603" y="200977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628900" y="192881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798703" y="200977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234981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3203" y="24307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52500" y="2349818"/>
              <a:ext cx="419100" cy="275272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22303" y="24307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371600" y="234981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541403" y="24307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790700" y="234981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960503" y="24307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209800" y="234981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379603" y="24307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628900" y="234981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798703" y="24307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277082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03203" y="285178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52500" y="277082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122303" y="285178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371600" y="277082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541403" y="285178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790700" y="277082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960503" y="285178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209800" y="277082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379603" y="285178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2628900" y="277082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798703" y="285178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319182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3203" y="327279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52500" y="319182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122303" y="327279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371600" y="319182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541403" y="327279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790700" y="319182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960503" y="327279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209800" y="319182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379603" y="327279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2628900" y="319182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798703" y="327279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361283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03203" y="36937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52500" y="361283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122303" y="36937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1371600" y="361283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541403" y="36937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1790700" y="361283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960503" y="36937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2209800" y="361283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2379603" y="36937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2628900" y="361283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2798703" y="36937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33400" y="403383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03203" y="41148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952500" y="403383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122303" y="41148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1371600" y="403383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541403" y="41148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1790700" y="403383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1960503" y="41148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2209800" y="403383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2379603" y="41148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2628900" y="403383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2798703" y="41148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100" name="c1-cells-2"/>
          <p:cNvGrpSpPr/>
          <p:nvPr/>
        </p:nvGrpSpPr>
        <p:grpSpPr>
          <a:xfrm>
            <a:off x="533400" y="4473892"/>
            <a:ext cx="1257300" cy="1117282"/>
            <a:chOff x="533400" y="4473892"/>
            <a:chExt cx="1257300" cy="1117282"/>
          </a:xfrm>
        </p:grpSpPr>
        <p:sp>
          <p:nvSpPr>
            <p:cNvPr id="82" name="Rectangle 82"/>
            <p:cNvSpPr/>
            <p:nvPr/>
          </p:nvSpPr>
          <p:spPr>
            <a:xfrm>
              <a:off x="533400" y="447389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99903" y="455056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952500" y="447389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1119003" y="455056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1371600" y="447389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1538103" y="455056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533400" y="489489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99903" y="49715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952500" y="489489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1119003" y="49715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1371600" y="4894898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1538103" y="49715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533400" y="531590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99903" y="539257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952500" y="531590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1119003" y="539257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1371600" y="5315902"/>
              <a:ext cx="419100" cy="2752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1538103" y="539257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  <p:grpSp>
        <p:nvGrpSpPr>
          <p:cNvPr id="102" name="c2-text-1"/>
          <p:cNvGrpSpPr/>
          <p:nvPr/>
        </p:nvGrpSpPr>
        <p:grpSpPr>
          <a:xfrm>
            <a:off x="6459284" y="1945957"/>
            <a:ext cx="4915548" cy="205359"/>
            <a:chOff x="6459284" y="1945957"/>
            <a:chExt cx="4915548" cy="205359"/>
          </a:xfrm>
        </p:grpSpPr>
        <p:sp>
          <p:nvSpPr>
            <p:cNvPr id="101" name="TextBox 101"/>
            <p:cNvSpPr txBox="1"/>
            <p:nvPr/>
          </p:nvSpPr>
          <p:spPr>
            <a:xfrm>
              <a:off x="6459284" y="1945957"/>
              <a:ext cx="49155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左上角窗口是 1、3、7、9，最大值 9；右下角窗口是 7、2、3、1，最大值 7。</a:t>
              </a:r>
            </a:p>
          </p:txBody>
        </p:sp>
      </p:grpSp>
      <p:grpSp>
        <p:nvGrpSpPr>
          <p:cNvPr id="119" name="c2-table-2"/>
          <p:cNvGrpSpPr/>
          <p:nvPr/>
        </p:nvGrpSpPr>
        <p:grpSpPr>
          <a:xfrm>
            <a:off x="6464618" y="2274570"/>
            <a:ext cx="5193982" cy="1330642"/>
            <a:chOff x="6464618" y="2274570"/>
            <a:chExt cx="5193982" cy="1330642"/>
          </a:xfrm>
        </p:grpSpPr>
        <p:sp>
          <p:nvSpPr>
            <p:cNvPr id="103" name="Rectangle 103"/>
            <p:cNvSpPr/>
            <p:nvPr/>
          </p:nvSpPr>
          <p:spPr>
            <a:xfrm>
              <a:off x="6464618" y="2274570"/>
              <a:ext cx="5193982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6993255" y="23917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8240078" y="23917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取值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0161270" y="23917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6474142" y="2666048"/>
              <a:ext cx="1331595" cy="5486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6559296" y="286702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最大池化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7909941" y="286702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窗口内最大值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9052941" y="2773680"/>
              <a:ext cx="22776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保留最强的响应，对位置的小抖动不敏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感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6464618" y="321945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6464618" y="3224212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6559296" y="33413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平均池化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7909941" y="334137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窗口内平均值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9052941" y="334137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保留整体亮度，边缘会被抹平</a:t>
              </a:r>
            </a:p>
          </p:txBody>
        </p:sp>
        <p:sp>
          <p:nvSpPr>
            <p:cNvPr id="116" name="Rectangle 116"/>
            <p:cNvSpPr/>
            <p:nvPr/>
          </p:nvSpPr>
          <p:spPr>
            <a:xfrm>
              <a:off x="6464618" y="2274570"/>
              <a:ext cx="5193982" cy="133064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17" name="Rectangle 117"/>
            <p:cNvSpPr/>
            <p:nvPr/>
          </p:nvSpPr>
          <p:spPr>
            <a:xfrm>
              <a:off x="7810500" y="2274570"/>
              <a:ext cx="9525" cy="13306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8" name="Rectangle 118"/>
            <p:cNvSpPr/>
            <p:nvPr/>
          </p:nvSpPr>
          <p:spPr>
            <a:xfrm>
              <a:off x="8953500" y="2274570"/>
              <a:ext cx="9525" cy="13306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31" name="c2-card-3"/>
          <p:cNvGrpSpPr/>
          <p:nvPr/>
        </p:nvGrpSpPr>
        <p:grpSpPr>
          <a:xfrm>
            <a:off x="6464618" y="3769995"/>
            <a:ext cx="5193982" cy="1820228"/>
            <a:chOff x="6464618" y="3769995"/>
            <a:chExt cx="5193982" cy="1820228"/>
          </a:xfrm>
        </p:grpSpPr>
        <p:sp>
          <p:nvSpPr>
            <p:cNvPr id="120" name="Rectangle 120"/>
            <p:cNvSpPr/>
            <p:nvPr/>
          </p:nvSpPr>
          <p:spPr>
            <a:xfrm>
              <a:off x="6464618" y="3769995"/>
              <a:ext cx="5193982" cy="1820228"/>
            </a:xfrm>
            <a:prstGeom prst="roundRect">
              <a:avLst>
                <a:gd name="adj" fmla="val 73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1" name="Rectangle 121"/>
            <p:cNvSpPr/>
            <p:nvPr/>
          </p:nvSpPr>
          <p:spPr>
            <a:xfrm>
              <a:off x="6474142" y="3903345"/>
              <a:ext cx="47625" cy="155352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22" name="Rectangle 122"/>
            <p:cNvSpPr/>
            <p:nvPr/>
          </p:nvSpPr>
          <p:spPr>
            <a:xfrm>
              <a:off x="6683692" y="3950970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6772313" y="398383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三件事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7374446" y="399145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池化层的性质</a:t>
              </a:r>
            </a:p>
          </p:txBody>
        </p:sp>
        <p:sp>
          <p:nvSpPr>
            <p:cNvPr id="125" name="Ellipse 125"/>
            <p:cNvSpPr/>
            <p:nvPr/>
          </p:nvSpPr>
          <p:spPr>
            <a:xfrm>
              <a:off x="6693218" y="436054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6848666" y="430768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没有要学的参数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，前向只是取最大值</a:t>
              </a:r>
            </a:p>
          </p:txBody>
        </p:sp>
        <p:sp>
          <p:nvSpPr>
            <p:cNvPr id="127" name="Ellipse 127"/>
            <p:cNvSpPr/>
            <p:nvPr/>
          </p:nvSpPr>
          <p:spPr>
            <a:xfrm>
              <a:off x="6693218" y="4645342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8" name="TextBox 128"/>
            <p:cNvSpPr txBox="1"/>
            <p:nvPr/>
          </p:nvSpPr>
          <p:spPr>
            <a:xfrm>
              <a:off x="6848666" y="4592479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通道数不变，只有高和宽变小</a:t>
              </a:r>
            </a:p>
          </p:txBody>
        </p:sp>
        <p:sp>
          <p:nvSpPr>
            <p:cNvPr id="129" name="Ellipse 129"/>
            <p:cNvSpPr/>
            <p:nvPr/>
          </p:nvSpPr>
          <p:spPr>
            <a:xfrm>
              <a:off x="6693218" y="4930140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0" name="TextBox 130"/>
            <p:cNvSpPr txBox="1"/>
            <p:nvPr/>
          </p:nvSpPr>
          <p:spPr>
            <a:xfrm>
              <a:off x="6848666" y="4877276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反向传播时梯度只回传给当初取到最大值的那个格子</a:t>
              </a:r>
            </a:p>
          </p:txBody>
        </p:sp>
      </p:grpSp>
      <p:grpSp>
        <p:nvGrpSpPr>
          <p:cNvPr id="13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132" name="Rectangle 13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36" name="Group 136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133" name="Freeform 133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34" name="Freeform 134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35" name="Freeform 135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37" name="TextBox 137"/>
            <p:cNvSpPr txBox="1"/>
            <p:nvPr/>
          </p:nvSpPr>
          <p:spPr>
            <a:xfrm>
              <a:off x="1041273" y="6039326"/>
              <a:ext cx="86444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更正：原课件第 20 页标题写成“CNN 卷积层的基本概念—pooling 池化”，池化属于池化层，不是卷积层的一部分。</a:t>
              </a:r>
            </a:p>
          </p:txBody>
        </p:sp>
      </p:grpSp>
      <p:grpSp>
        <p:nvGrpSpPr>
          <p:cNvPr id="1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39" name="TextBox 13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02430" cy="909257"/>
            <a:chOff x="520446" y="342900"/>
            <a:chExt cx="600243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46" y="407194"/>
              <a:ext cx="2765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常用网络模型 · 卷积神经网络 CNN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0243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池化例题：两张 4×4 特征映射压成 2×2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848462" cy="278702"/>
            <a:chOff x="526161" y="1547336"/>
            <a:chExt cx="6848462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84846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接着卷积例题往下做。两个滤波器各给出一张 4×4，最大池化窗口 2×2、步长 2。</a:t>
              </a:r>
            </a:p>
          </p:txBody>
        </p:sp>
      </p:grpSp>
      <p:grpSp>
        <p:nvGrpSpPr>
          <p:cNvPr id="42" name="c1-cells-1"/>
          <p:cNvGrpSpPr/>
          <p:nvPr/>
        </p:nvGrpSpPr>
        <p:grpSpPr>
          <a:xfrm>
            <a:off x="528638" y="1941195"/>
            <a:ext cx="2223134" cy="1993583"/>
            <a:chOff x="528638" y="1941195"/>
            <a:chExt cx="2223134" cy="1993583"/>
          </a:xfrm>
        </p:grpSpPr>
        <p:sp>
          <p:nvSpPr>
            <p:cNvPr id="9" name="TextBox 9"/>
            <p:cNvSpPr txBox="1"/>
            <p:nvPr/>
          </p:nvSpPr>
          <p:spPr>
            <a:xfrm>
              <a:off x="528638" y="2076450"/>
              <a:ext cx="4429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滤波器1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5372" y="194119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45176" y="207645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494472" y="194119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29291" y="207645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913572" y="194119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048391" y="207645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-3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332672" y="194119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467491" y="207645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5372" y="247935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10191" y="261366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-3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494472" y="247935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664276" y="261366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913572" y="247935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083376" y="261366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332672" y="247935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467491" y="261366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-3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5372" y="301656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210191" y="315087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-3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494472" y="301656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629291" y="315087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-3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913572" y="301656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083376" y="31508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332672" y="301656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502476" y="31508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075372" y="355377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245176" y="36880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494472" y="355377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629291" y="368808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-2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913572" y="355377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048391" y="368808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-2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332672" y="355377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467491" y="368808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</p:grpSp>
      <p:grpSp>
        <p:nvGrpSpPr>
          <p:cNvPr id="51" name="c1-cells-2"/>
          <p:cNvGrpSpPr/>
          <p:nvPr/>
        </p:nvGrpSpPr>
        <p:grpSpPr>
          <a:xfrm>
            <a:off x="533400" y="4110038"/>
            <a:ext cx="838200" cy="918210"/>
            <a:chOff x="533400" y="4110038"/>
            <a:chExt cx="838200" cy="918210"/>
          </a:xfrm>
        </p:grpSpPr>
        <p:sp>
          <p:nvSpPr>
            <p:cNvPr id="43" name="Rectangle 43"/>
            <p:cNvSpPr/>
            <p:nvPr/>
          </p:nvSpPr>
          <p:spPr>
            <a:xfrm>
              <a:off x="533400" y="411003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96801" y="42357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52500" y="411003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115901" y="42357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464724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96801" y="47729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952500" y="464724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115901" y="47729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53" name="c1-text-3"/>
          <p:cNvGrpSpPr/>
          <p:nvPr/>
        </p:nvGrpSpPr>
        <p:grpSpPr>
          <a:xfrm>
            <a:off x="527685" y="5223034"/>
            <a:ext cx="3972814" cy="441008"/>
            <a:chOff x="527685" y="5223034"/>
            <a:chExt cx="3972814" cy="441008"/>
          </a:xfrm>
        </p:grpSpPr>
        <p:sp>
          <p:nvSpPr>
            <p:cNvPr id="52" name="TextBox 52"/>
            <p:cNvSpPr txBox="1"/>
            <p:nvPr/>
          </p:nvSpPr>
          <p:spPr>
            <a:xfrm>
              <a:off x="527685" y="5223034"/>
              <a:ext cx="3972814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四个窗口分别取 max(3,−1,−3,1)=3、max(−3,−1,0,−3)=0、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max(−3,−3,3,−2)=3、max(0,1,−2,−1)=1。</a:t>
              </a:r>
            </a:p>
          </p:txBody>
        </p:sp>
      </p:grpSp>
      <p:grpSp>
        <p:nvGrpSpPr>
          <p:cNvPr id="87" name="c2-cells-1"/>
          <p:cNvGrpSpPr/>
          <p:nvPr/>
        </p:nvGrpSpPr>
        <p:grpSpPr>
          <a:xfrm>
            <a:off x="6243638" y="1941195"/>
            <a:ext cx="2223134" cy="1993583"/>
            <a:chOff x="6243638" y="1941195"/>
            <a:chExt cx="2223134" cy="1993583"/>
          </a:xfrm>
        </p:grpSpPr>
        <p:sp>
          <p:nvSpPr>
            <p:cNvPr id="54" name="TextBox 54"/>
            <p:cNvSpPr txBox="1"/>
            <p:nvPr/>
          </p:nvSpPr>
          <p:spPr>
            <a:xfrm>
              <a:off x="6243638" y="2076450"/>
              <a:ext cx="4429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滤波器2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790372" y="194119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25191" y="207645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209472" y="194119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344291" y="207645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628572" y="194119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763391" y="207645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047672" y="194119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182491" y="207645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790372" y="247935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925191" y="261366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209472" y="247935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344291" y="261366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7628572" y="247935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763391" y="261366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-2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047672" y="247935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217476" y="261366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790372" y="301656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925191" y="315087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7209472" y="301656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344291" y="315087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7628572" y="301656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763391" y="315087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-2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8047672" y="301656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217476" y="31508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790372" y="355377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925191" y="368808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7209472" y="355377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379276" y="36880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7628572" y="355377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7763391" y="368808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-4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8047672" y="355377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8217476" y="36880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  <p:grpSp>
        <p:nvGrpSpPr>
          <p:cNvPr id="96" name="c2-cells-2"/>
          <p:cNvGrpSpPr/>
          <p:nvPr/>
        </p:nvGrpSpPr>
        <p:grpSpPr>
          <a:xfrm>
            <a:off x="6248400" y="4110038"/>
            <a:ext cx="838200" cy="918210"/>
            <a:chOff x="6248400" y="4110038"/>
            <a:chExt cx="838200" cy="918210"/>
          </a:xfrm>
        </p:grpSpPr>
        <p:sp>
          <p:nvSpPr>
            <p:cNvPr id="88" name="Rectangle 88"/>
            <p:cNvSpPr/>
            <p:nvPr/>
          </p:nvSpPr>
          <p:spPr>
            <a:xfrm>
              <a:off x="6248400" y="411003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370986" y="423576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6667500" y="411003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830901" y="42357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6248400" y="464724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6411801" y="47729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6667500" y="464724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830901" y="47729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  <p:grpSp>
        <p:nvGrpSpPr>
          <p:cNvPr id="98" name="c2-text-3"/>
          <p:cNvGrpSpPr/>
          <p:nvPr/>
        </p:nvGrpSpPr>
        <p:grpSpPr>
          <a:xfrm>
            <a:off x="6242685" y="5223034"/>
            <a:ext cx="4904486" cy="441008"/>
            <a:chOff x="6242685" y="5223034"/>
            <a:chExt cx="4904486" cy="441008"/>
          </a:xfrm>
        </p:grpSpPr>
        <p:sp>
          <p:nvSpPr>
            <p:cNvPr id="97" name="TextBox 97"/>
            <p:cNvSpPr txBox="1"/>
            <p:nvPr/>
          </p:nvSpPr>
          <p:spPr>
            <a:xfrm>
              <a:off x="6242685" y="5223034"/>
              <a:ext cx="4904486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同样四个窗口取最大值，得 −1、1、0、3。两个通道合起来是一张 2×2×2 的新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图。</a:t>
              </a:r>
            </a:p>
          </p:txBody>
        </p:sp>
      </p:grpSp>
      <p:grpSp>
        <p:nvGrpSpPr>
          <p:cNvPr id="104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99" name="Rectangle 9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102" name="Group 102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100" name="Freeform 100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03" name="TextBox 103"/>
            <p:cNvSpPr txBox="1"/>
            <p:nvPr/>
          </p:nvSpPr>
          <p:spPr>
            <a:xfrm>
              <a:off x="1040892" y="6023610"/>
              <a:ext cx="69378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6×6×1 经过一次卷积和一次池化变成 2×2×2：宽高各减半，通道数由滤波器个数决定。</a:t>
              </a:r>
            </a:p>
          </p:txBody>
        </p:sp>
      </p:grpSp>
      <p:grpSp>
        <p:nvGrpSpPr>
          <p:cNvPr id="10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5" name="TextBox 10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96656" cy="909257"/>
            <a:chOff x="520446" y="342900"/>
            <a:chExt cx="57966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46" y="407194"/>
              <a:ext cx="2765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常用网络模型 · 卷积神经网络 CNN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966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Flatten：把小图摊平，交给全连接层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2837967" cy="1878615"/>
            <a:chOff x="533400" y="1533525"/>
            <a:chExt cx="2837967" cy="1878615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464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880" y="15678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按通道逐个取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023" y="1861661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先取完第一个通道，再取第二个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21837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通道内按行主序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51221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先左到右，再上到下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86893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拼成一维向量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3162776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长度 = 高 × 宽 × 通道数</a:t>
              </a:r>
            </a:p>
          </p:txBody>
        </p:sp>
      </p:grpSp>
      <p:grpSp>
        <p:nvGrpSpPr>
          <p:cNvPr id="39" name="c1-cells-2"/>
          <p:cNvGrpSpPr/>
          <p:nvPr/>
        </p:nvGrpSpPr>
        <p:grpSpPr>
          <a:xfrm>
            <a:off x="528066" y="3590925"/>
            <a:ext cx="2158936" cy="1009650"/>
            <a:chOff x="528066" y="3590925"/>
            <a:chExt cx="2158936" cy="1009650"/>
          </a:xfrm>
        </p:grpSpPr>
        <p:sp>
          <p:nvSpPr>
            <p:cNvPr id="21" name="TextBox 21"/>
            <p:cNvSpPr txBox="1"/>
            <p:nvPr/>
          </p:nvSpPr>
          <p:spPr>
            <a:xfrm>
              <a:off x="528066" y="3734752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通道1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10602" y="359092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174003" y="37347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429702" y="359092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593103" y="37347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848802" y="359092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012203" y="37347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267902" y="359092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431303" y="37347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8066" y="4325302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通道2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010602" y="418147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133188" y="43253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429702" y="418147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593103" y="43253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848802" y="418147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012203" y="43253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267902" y="418147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431303" y="43253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formula21"/>
              <p:cNvSpPr txBox="1">
                <a:spLocks noGrp="1"/>
              </p:cNvSpPr>
              <p:nvPr/>
            </p:nvSpPr>
            <p:spPr>
              <a:xfrm>
                <a:off x="533400" y="4791075"/>
                <a:ext cx="54102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 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→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 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48" name="c2-card-1"/>
          <p:cNvGrpSpPr/>
          <p:nvPr/>
        </p:nvGrpSpPr>
        <p:grpSpPr>
          <a:xfrm>
            <a:off x="6248400" y="1524000"/>
            <a:ext cx="5410200" cy="2152650"/>
            <a:chOff x="6248400" y="1524000"/>
            <a:chExt cx="5410200" cy="2152650"/>
          </a:xfrm>
        </p:grpSpPr>
        <p:sp>
          <p:nvSpPr>
            <p:cNvPr id="41" name="Rectangle 41"/>
            <p:cNvSpPr/>
            <p:nvPr/>
          </p:nvSpPr>
          <p:spPr>
            <a:xfrm>
              <a:off x="6248400" y="1524000"/>
              <a:ext cx="5410200" cy="2152650"/>
            </a:xfrm>
            <a:prstGeom prst="roundRect">
              <a:avLst>
                <a:gd name="adj" fmla="val 61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57925" y="1657350"/>
              <a:ext cx="47625" cy="18859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96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86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97078" y="1768792"/>
              <a:ext cx="23949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26 页的展开顺序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88430" y="2129790"/>
              <a:ext cx="4660106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课件把通道 1 的 2×2 特征图 [[3, 0], [3, 1]] 展成</a:t>
              </a:r>
              <a:br/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3, 0, 1, 3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，最后两格对调了。按行主序应是 </a:t>
              </a: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3, 0, 3,</a:t>
              </a:r>
              <a:br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。数值本身没算错，只是展开顺序画反了。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89573" y="3033236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顺序本身是约定，但同一个网络里必须始终一致，否则全连接层的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权对不上位置。</a:t>
              </a:r>
            </a:p>
          </p:txBody>
        </p:sp>
      </p:grpSp>
      <p:grpSp>
        <p:nvGrpSpPr>
          <p:cNvPr id="54" name="c2-card-2"/>
          <p:cNvGrpSpPr/>
          <p:nvPr/>
        </p:nvGrpSpPr>
        <p:grpSpPr>
          <a:xfrm>
            <a:off x="6248400" y="3867150"/>
            <a:ext cx="5410200" cy="1621155"/>
            <a:chOff x="6248400" y="3867150"/>
            <a:chExt cx="5410200" cy="1621155"/>
          </a:xfrm>
        </p:grpSpPr>
        <p:sp>
          <p:nvSpPr>
            <p:cNvPr id="49" name="Rectangle 49"/>
            <p:cNvSpPr/>
            <p:nvPr/>
          </p:nvSpPr>
          <p:spPr>
            <a:xfrm>
              <a:off x="6248400" y="3867150"/>
              <a:ext cx="5410200" cy="1621155"/>
            </a:xfrm>
            <a:prstGeom prst="roundRect">
              <a:avLst>
                <a:gd name="adj" fmla="val 8226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57950" y="407670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48158" y="41124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分工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58978" y="4111942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卷积池化在提特征，全连接在做判断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50330" y="4472940"/>
              <a:ext cx="46062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前面若干层把图变成一组“某个位置有没有某种模式”的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数；Flatten 之后的全连接层再把这些数组合成类别分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数，最后 Softmax 归一化成概率。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5" name="Rectangle 5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130" y="5991225"/>
              <a:ext cx="73525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实际框架里 Flatten 通常保留批量维，形状从 (N, C, H, W) 变成 (N, C·H·W)。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15666" cy="909257"/>
            <a:chOff x="520446" y="342900"/>
            <a:chExt cx="48156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46" y="407194"/>
              <a:ext cx="2765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常用网络模型 · 卷积神经网络 CNN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156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LeNet：第一个跑通的卷积网络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027742" cy="278702"/>
            <a:chOff x="526161" y="1547336"/>
            <a:chExt cx="8027742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0277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LeCun 等 1998 年用它识别手写数字，证明了卷积网络可以用梯度下降训练出当时最好的结果。</a:t>
              </a:r>
            </a:p>
          </p:txBody>
        </p:sp>
      </p:grpSp>
      <p:grpSp>
        <p:nvGrpSpPr>
          <p:cNvPr id="57" name="c1-table-1"/>
          <p:cNvGrpSpPr/>
          <p:nvPr/>
        </p:nvGrpSpPr>
        <p:grpSpPr>
          <a:xfrm>
            <a:off x="528066" y="1941195"/>
            <a:ext cx="6281356" cy="3526726"/>
            <a:chOff x="528066" y="1941195"/>
            <a:chExt cx="6281356" cy="3526726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6276022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17130" y="206549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47646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配置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54234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输出形状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36641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3412" y="247126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63078" y="2471261"/>
              <a:ext cx="10366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卷积 5×5，6 个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46170" y="2471261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6×28×28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77802" y="247126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156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7479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752725"/>
              <a:ext cx="627602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287702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63078" y="2877026"/>
              <a:ext cx="14890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最大池化 2×2，步长 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46170" y="287702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6×14×14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77802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15372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412" y="328279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763078" y="3282791"/>
              <a:ext cx="1119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卷积 5×5，16 个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46170" y="3282791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16×10×10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77802" y="328279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2416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5594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564255"/>
              <a:ext cx="627602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3412" y="368855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63078" y="3688556"/>
              <a:ext cx="14890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最大池化 2×2，步长 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646170" y="368855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16×5×5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77802" y="3688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96525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3412" y="409432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763078" y="4094321"/>
              <a:ext cx="1541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摊平 400，全连接→120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646170" y="409432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120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187315" y="3979545"/>
              <a:ext cx="1612582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77802" y="409432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48120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37102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4375785"/>
              <a:ext cx="627602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3412" y="450008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F6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763078" y="4500086"/>
              <a:ext cx="1006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全连接 120→84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646170" y="450008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277802" y="450008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10164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477678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3412" y="490585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763078" y="4905851"/>
              <a:ext cx="923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全连接 84→10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646170" y="490585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277802" y="490585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850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1941195"/>
              <a:ext cx="6276022" cy="32461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1658302" y="1941195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3541395" y="1941195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173028" y="1941195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28066" y="5262562"/>
              <a:ext cx="2638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LeNet-5 逐层走账（输入 32×32 单通道）</a:t>
              </a:r>
            </a:p>
          </p:txBody>
        </p:sp>
      </p:grpSp>
      <p:grpSp>
        <p:nvGrpSpPr>
          <p:cNvPr id="69" name="c2-card-1"/>
          <p:cNvGrpSpPr/>
          <p:nvPr/>
        </p:nvGrpSpPr>
        <p:grpSpPr>
          <a:xfrm>
            <a:off x="7114222" y="1941195"/>
            <a:ext cx="4544378" cy="2603182"/>
            <a:chOff x="7114222" y="1941195"/>
            <a:chExt cx="4544378" cy="2603182"/>
          </a:xfrm>
        </p:grpSpPr>
        <p:sp>
          <p:nvSpPr>
            <p:cNvPr id="58" name="Rectangle 58"/>
            <p:cNvSpPr/>
            <p:nvPr/>
          </p:nvSpPr>
          <p:spPr>
            <a:xfrm>
              <a:off x="7114222" y="1941195"/>
              <a:ext cx="4544378" cy="2603182"/>
            </a:xfrm>
            <a:prstGeom prst="roundRect">
              <a:avLst>
                <a:gd name="adj" fmla="val 51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123748" y="2074545"/>
              <a:ext cx="47625" cy="233648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7344728" y="213360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432167" y="216789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两大块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061770" y="217360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卷积层块与全连接层块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7353300" y="256413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509320" y="2507932"/>
              <a:ext cx="37856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卷积层块的基本单位是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卷积层后接最大池化层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，卷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积用 5×5 窗口、输出上接 sigmoid，通道数由 6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增到 16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7353300" y="338137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509320" y="3325177"/>
              <a:ext cx="35798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池化窗口 2×2、步幅 2，窗口与步幅同形所以互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不重叠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7353300" y="394049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509320" y="3884295"/>
              <a:ext cx="36656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全连接层块有 3 层，输出个数 120、84、10，最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后的 10 是类别数</a:t>
              </a:r>
            </a:p>
          </p:txBody>
        </p:sp>
      </p:grpSp>
      <p:grpSp>
        <p:nvGrpSpPr>
          <p:cNvPr id="75" name="c2-callout-2"/>
          <p:cNvGrpSpPr/>
          <p:nvPr/>
        </p:nvGrpSpPr>
        <p:grpSpPr>
          <a:xfrm>
            <a:off x="7114222" y="4719638"/>
            <a:ext cx="4544378" cy="729615"/>
            <a:chOff x="7114222" y="4719638"/>
            <a:chExt cx="4544378" cy="729615"/>
          </a:xfrm>
        </p:grpSpPr>
        <p:sp>
          <p:nvSpPr>
            <p:cNvPr id="70" name="Rectangle 70"/>
            <p:cNvSpPr/>
            <p:nvPr/>
          </p:nvSpPr>
          <p:spPr>
            <a:xfrm>
              <a:off x="7114222" y="4719638"/>
              <a:ext cx="4544378" cy="729615"/>
            </a:xfrm>
            <a:prstGeom prst="roundRect">
              <a:avLst>
                <a:gd name="adj" fmla="val 15666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19010" y="4984435"/>
              <a:ext cx="200023" cy="200023"/>
              <a:chOff x="7319010" y="4984435"/>
              <a:chExt cx="200023" cy="200023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19010" y="498443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452360" y="50511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7621714" y="4866322"/>
              <a:ext cx="363131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总参数 61706 个，其中 F5 一层就占了 48120，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全连接层才是参数大户。</a:t>
              </a:r>
            </a:p>
          </p:txBody>
        </p:sp>
      </p:grpSp>
      <p:grpSp>
        <p:nvGrpSpPr>
          <p:cNvPr id="82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76" name="Rectangle 76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738188" y="5897880"/>
              <a:ext cx="200026" cy="200026"/>
              <a:chOff x="738188" y="5897880"/>
              <a:chExt cx="200026" cy="200026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738188" y="5897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38200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827088" y="59978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1040892" y="5779770"/>
              <a:ext cx="988066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LeCun Y, Bottou L, Bengio Y, et al. Gradient-based learning applied to document recognition. Proceedings of the IEEE,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1998, 86(11)。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72140" cy="909257"/>
            <a:chOff x="520446" y="342900"/>
            <a:chExt cx="737214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46" y="407194"/>
              <a:ext cx="2765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常用网络模型 · 卷积神经网络 CNN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721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LeNet 到 ResNet：ImageNet 上的架构演进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079250" cy="293370"/>
            <a:chOff x="525780" y="1548765"/>
            <a:chExt cx="1007925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079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 27 页列出了五种架构，正文只展开了 LeNet。这里把其余四种补齐，都是 ImageNet 竞赛上的冠亚军。</a:t>
              </a:r>
            </a:p>
          </p:txBody>
        </p:sp>
      </p:grpSp>
      <p:grpSp>
        <p:nvGrpSpPr>
          <p:cNvPr id="39" name="c1-table-1"/>
          <p:cNvGrpSpPr/>
          <p:nvPr/>
        </p:nvGrpSpPr>
        <p:grpSpPr>
          <a:xfrm>
            <a:off x="528066" y="1954530"/>
            <a:ext cx="6281356" cy="2826639"/>
            <a:chOff x="528066" y="1954530"/>
            <a:chExt cx="6281356" cy="2826639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6276022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93458" y="20831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60258" y="20831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年份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08551" y="208311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关键做法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5889" y="2506980"/>
              <a:ext cx="4892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LeNet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91284" y="250698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1998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769489" y="250698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卷积加池化交替，证明卷积网络可训练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9844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803208"/>
              <a:ext cx="627602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5889" y="2931795"/>
              <a:ext cx="632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AlexNet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91284" y="2931795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69489" y="2931795"/>
              <a:ext cx="38168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首次用 GPU 训练深层网，ReLU、Dropout、数据增强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22326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5889" y="335661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VGG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91284" y="335661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69489" y="3356610"/>
              <a:ext cx="38327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只用 3×3 小卷积反复堆叠，把网络做深到 16 至 19 层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64712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651885"/>
              <a:ext cx="627602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5889" y="3780472"/>
              <a:ext cx="8676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GoogLeNet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91284" y="378047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769489" y="3780472"/>
              <a:ext cx="3684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Inception 模块并联多种核，1×1 卷积先降通道再算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07193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42925" y="4086225"/>
              <a:ext cx="1236345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5889" y="4205288"/>
              <a:ext cx="5825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ResNet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91284" y="4205288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769489" y="4205288"/>
              <a:ext cx="30788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残差连接 y = F(x) + x，让上百层仍能训练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1954530"/>
              <a:ext cx="6276022" cy="25469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784032" y="1954530"/>
              <a:ext cx="9525" cy="25469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2662238" y="1954530"/>
              <a:ext cx="9525" cy="25469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8066" y="457581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五种经典卷积网络</a:t>
              </a:r>
            </a:p>
          </p:txBody>
        </p:sp>
      </p:grpSp>
      <p:grpSp>
        <p:nvGrpSpPr>
          <p:cNvPr id="45" name="c1-callout-2"/>
          <p:cNvGrpSpPr/>
          <p:nvPr/>
        </p:nvGrpSpPr>
        <p:grpSpPr>
          <a:xfrm>
            <a:off x="533400" y="4919662"/>
            <a:ext cx="6276022" cy="756285"/>
            <a:chOff x="533400" y="4919662"/>
            <a:chExt cx="6276022" cy="756285"/>
          </a:xfrm>
        </p:grpSpPr>
        <p:sp>
          <p:nvSpPr>
            <p:cNvPr id="40" name="Rectangle 40"/>
            <p:cNvSpPr/>
            <p:nvPr/>
          </p:nvSpPr>
          <p:spPr>
            <a:xfrm>
              <a:off x="533400" y="4919662"/>
              <a:ext cx="6276022" cy="756285"/>
            </a:xfrm>
            <a:prstGeom prst="roundRect">
              <a:avLst>
                <a:gd name="adj" fmla="val 15113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5197795"/>
              <a:ext cx="200023" cy="200023"/>
              <a:chOff x="738188" y="5197795"/>
              <a:chExt cx="200023" cy="20002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519779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71538" y="52644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511" y="5066824"/>
              <a:ext cx="470331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 3×3 串联的感受野等于一个 5×5，参数却从 25C² 降到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18C²，这是 VGG 只用小核的理由。</a:t>
              </a:r>
            </a:p>
          </p:txBody>
        </p:sp>
      </p:grpSp>
      <p:grpSp>
        <p:nvGrpSpPr>
          <p:cNvPr id="52" name="c2-card-1"/>
          <p:cNvGrpSpPr/>
          <p:nvPr/>
        </p:nvGrpSpPr>
        <p:grpSpPr>
          <a:xfrm>
            <a:off x="7114222" y="1954530"/>
            <a:ext cx="4544378" cy="1811655"/>
            <a:chOff x="7114222" y="1954530"/>
            <a:chExt cx="4544378" cy="1811655"/>
          </a:xfrm>
        </p:grpSpPr>
        <p:sp>
          <p:nvSpPr>
            <p:cNvPr id="46" name="Rectangle 46"/>
            <p:cNvSpPr/>
            <p:nvPr/>
          </p:nvSpPr>
          <p:spPr>
            <a:xfrm>
              <a:off x="7114222" y="1954530"/>
              <a:ext cx="4544378" cy="1811655"/>
            </a:xfrm>
            <a:prstGeom prst="roundRect">
              <a:avLst>
                <a:gd name="adj" fmla="val 73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123748" y="2087880"/>
              <a:ext cx="47625" cy="154495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350442" y="215265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421880" y="218694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为什么残差有用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600504" y="2187416"/>
              <a:ext cx="272035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让网络更容易学出“什么都不做”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43204" y="2531269"/>
              <a:ext cx="3801618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层数一多，梯度传回浅层时会被一连串权值矩阵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不断缩小。残差连接给梯度留了一条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直通的加法</a:t>
              </a:r>
              <a:br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通路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，多余的层只要把 F(x) 学成 0 就退化成恒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等映射，不会把效果拖坏。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7114222" y="3946208"/>
            <a:ext cx="4544378" cy="1729740"/>
            <a:chOff x="7114222" y="3946208"/>
            <a:chExt cx="4544378" cy="1729740"/>
          </a:xfrm>
        </p:grpSpPr>
        <p:sp>
          <p:nvSpPr>
            <p:cNvPr id="53" name="Rectangle 53"/>
            <p:cNvSpPr/>
            <p:nvPr/>
          </p:nvSpPr>
          <p:spPr>
            <a:xfrm>
              <a:off x="7114222" y="3946208"/>
              <a:ext cx="4544378" cy="1729740"/>
            </a:xfrm>
            <a:prstGeom prst="roundRect">
              <a:avLst>
                <a:gd name="adj" fmla="val 77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123748" y="4079558"/>
              <a:ext cx="47625" cy="146304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7350442" y="414432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441883" y="417861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933754" y="418004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名字的写法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43204" y="4522946"/>
              <a:ext cx="393371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27 页写 GoogLeNet、第 33 页的表里写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成 </a:t>
              </a:r>
              <a:r>
                <a:rPr lang="en-US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GoogleNet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。正式名字是 </a:t>
              </a:r>
              <a:r>
                <a:rPr lang="en-US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GoogLeNet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，中间的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大写，是向 LeNet 致敬。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60" name="Rectangle 60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38188" y="6011228"/>
              <a:ext cx="200026" cy="200026"/>
              <a:chOff x="738188" y="6011228"/>
              <a:chExt cx="200026" cy="200026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60112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38200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27088" y="61112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0511" y="6011704"/>
              <a:ext cx="72690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1×1 卷积不看空间邻居，只在通道方向做线性组合，常用来把通道数压下来以省计算。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21966" cy="909257"/>
            <a:chOff x="520446" y="342900"/>
            <a:chExt cx="6421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46" y="407194"/>
              <a:ext cx="2765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常用网络模型 · 卷积神经网络 CNN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21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ImageNet：数据和算力把深度学习推起来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741170"/>
            <a:chOff x="533400" y="1524000"/>
            <a:chExt cx="4977765" cy="17411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741170"/>
            </a:xfrm>
            <a:prstGeom prst="roundRect">
              <a:avLst>
                <a:gd name="adj" fmla="val 76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7447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81819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0768" y="1750695"/>
              <a:ext cx="6654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ImageNet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89544" y="175641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一千五百万张、约两万两千类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351401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李飞飞团队从 2007 年开始，用网络抓取加人工标注、再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经众包平台核对，把数据集建起来，2009 年在 CVPR 上作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为论文发布。当时学界还普遍怀疑“数据多一点算法就会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变好”这个判断。</a:t>
              </a:r>
            </a:p>
          </p:txBody>
        </p:sp>
      </p:grpSp>
      <p:grpSp>
        <p:nvGrpSpPr>
          <p:cNvPr id="22" name="c1-kv-2"/>
          <p:cNvGrpSpPr/>
          <p:nvPr/>
        </p:nvGrpSpPr>
        <p:grpSpPr>
          <a:xfrm>
            <a:off x="526542" y="3462338"/>
            <a:ext cx="4984623" cy="1313687"/>
            <a:chOff x="526542" y="3462338"/>
            <a:chExt cx="4984623" cy="1313687"/>
          </a:xfrm>
        </p:grpSpPr>
        <p:sp>
          <p:nvSpPr>
            <p:cNvPr id="14" name="TextBox 14"/>
            <p:cNvSpPr txBox="1"/>
            <p:nvPr/>
          </p:nvSpPr>
          <p:spPr>
            <a:xfrm>
              <a:off x="526542" y="346233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67637" y="3462338"/>
              <a:ext cx="36141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有标注的大规模图像集，让深层网络有足够样本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可学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400526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6542" y="411384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算力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67637" y="4113848"/>
              <a:ext cx="34776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GPU 把卷积这种高度并行的计算变得可承受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440340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6542" y="45119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模型与优化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67637" y="4511992"/>
              <a:ext cx="31349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ReLU、Dropout、批归一化、残差连接</a:t>
              </a:r>
            </a:p>
          </p:txBody>
        </p:sp>
      </p:grpSp>
      <p:grpSp>
        <p:nvGrpSpPr>
          <p:cNvPr id="59" name="c2-table-1"/>
          <p:cNvGrpSpPr/>
          <p:nvPr/>
        </p:nvGrpSpPr>
        <p:grpSpPr>
          <a:xfrm>
            <a:off x="5810631" y="1524000"/>
            <a:ext cx="5847969" cy="3120009"/>
            <a:chOff x="5810631" y="1524000"/>
            <a:chExt cx="5847969" cy="3120009"/>
          </a:xfrm>
        </p:grpSpPr>
        <p:sp>
          <p:nvSpPr>
            <p:cNvPr id="23" name="Rectangle 23"/>
            <p:cNvSpPr/>
            <p:nvPr/>
          </p:nvSpPr>
          <p:spPr>
            <a:xfrm>
              <a:off x="5815965" y="1524000"/>
              <a:ext cx="5842635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0146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年份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1311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网络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74681" y="1648301"/>
              <a:ext cx="946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top-5 错误率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915978" y="205406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00900" y="2054066"/>
              <a:ext cx="56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AlexNet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447848" y="1939290"/>
              <a:ext cx="2201228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538335" y="2054066"/>
              <a:ext cx="539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15.32%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815965" y="233076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815965" y="233553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915978" y="245983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00900" y="2459831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VGG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38335" y="2459831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7.32%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815965" y="273653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15978" y="286559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00900" y="2865596"/>
              <a:ext cx="9851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GoogLeNet v1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538335" y="2865596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6.67%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815965" y="314229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815965" y="314706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15978" y="327136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200900" y="3271361"/>
              <a:ext cx="5183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ResNet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538335" y="3271361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3.57%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815965" y="354806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915978" y="367712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2016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200900" y="3677126"/>
              <a:ext cx="1174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Trimps-Soushen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538335" y="3677126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2.99%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815965" y="395382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815965" y="395859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915978" y="408289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2017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00900" y="4082891"/>
              <a:ext cx="4401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SENet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9447848" y="3968115"/>
              <a:ext cx="2201228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538335" y="4082891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2.25%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815965" y="1524000"/>
              <a:ext cx="5842635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096125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433560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810631" y="4438650"/>
              <a:ext cx="19739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ILSVRC 分类任务 top-5 错误率</a:t>
              </a:r>
            </a:p>
          </p:txBody>
        </p:sp>
      </p:grpSp>
      <p:grpSp>
        <p:nvGrpSpPr>
          <p:cNvPr id="65" name="c2-callout-2"/>
          <p:cNvGrpSpPr/>
          <p:nvPr/>
        </p:nvGrpSpPr>
        <p:grpSpPr>
          <a:xfrm>
            <a:off x="5815965" y="4777740"/>
            <a:ext cx="5842635" cy="729615"/>
            <a:chOff x="5815965" y="4777740"/>
            <a:chExt cx="5842635" cy="729615"/>
          </a:xfrm>
        </p:grpSpPr>
        <p:sp>
          <p:nvSpPr>
            <p:cNvPr id="60" name="Rectangle 60"/>
            <p:cNvSpPr/>
            <p:nvPr/>
          </p:nvSpPr>
          <p:spPr>
            <a:xfrm>
              <a:off x="5815965" y="4777740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6020753" y="5042537"/>
              <a:ext cx="200023" cy="200023"/>
              <a:chOff x="6020753" y="5042537"/>
              <a:chExt cx="200023" cy="200023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020753" y="504253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154103" y="51092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6323457" y="4924425"/>
              <a:ext cx="471144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五年里错误率从 15.3% 降到 2.3%，同期层数从 8 层涨到上百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层，这段被称作深度革命。</a:t>
              </a:r>
            </a:p>
          </p:txBody>
        </p:sp>
      </p:grpSp>
      <p:grpSp>
        <p:nvGrpSpPr>
          <p:cNvPr id="7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6" name="Rectangle 6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0892" y="6023610"/>
              <a:ext cx="10147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top-5 错误率：模型给出的概率最高的 5 个类别里都没有正确答案，才算错一次。AlexNet 那一年的 top-1 错误率是 36.7%。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247007" cy="3351847"/>
            <a:chOff x="667512" y="1835468"/>
            <a:chExt cx="4247007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9281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循环神经网络 RNN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输入是一串东西，而且前面的会影响后面的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序列标注任务与词嵌入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隐状态把上文带到下一步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按时间展开与手算例题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1549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梯度消失与 LSTM、GRU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46" y="407194"/>
              <a:ext cx="2765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常用网络模型 · 循环神经网络 RNN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序列数据：同样的词，位置不同含义不同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9344406" cy="293370"/>
            <a:chOff x="525780" y="1548765"/>
            <a:chExt cx="9344406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93444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订票系统要把一句话里的词填进“出发地、目的地、时间”几个槽位，这叫句子成分分析（slot filling）。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54530"/>
            <a:ext cx="5626418" cy="1574482"/>
            <a:chOff x="533400" y="1954530"/>
            <a:chExt cx="5626418" cy="157448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626418" cy="1574482"/>
            </a:xfrm>
            <a:prstGeom prst="roundRect">
              <a:avLst>
                <a:gd name="adj" fmla="val 84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130778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75335" y="215836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0445" y="219408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33869" y="2197894"/>
              <a:ext cx="36450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我需要一张 12 月 1 日从北京到长春的机票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8096" y="2550319"/>
              <a:ext cx="482955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系统要输出：出发地 = 北京，目的地 = 长春，时间 = 12 月 1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日。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9239" y="3137535"/>
              <a:ext cx="5181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文本、音频、视频都属于序列数据，共同点是元素有先后、长度不固定。</a:t>
              </a:r>
            </a:p>
          </p:txBody>
        </p:sp>
      </p:grpSp>
      <p:grpSp>
        <p:nvGrpSpPr>
          <p:cNvPr id="37" name="c1-table-2"/>
          <p:cNvGrpSpPr/>
          <p:nvPr/>
        </p:nvGrpSpPr>
        <p:grpSpPr>
          <a:xfrm>
            <a:off x="533400" y="3714750"/>
            <a:ext cx="5626418" cy="1720215"/>
            <a:chOff x="533400" y="3714750"/>
            <a:chExt cx="5626418" cy="1720215"/>
          </a:xfrm>
        </p:grpSpPr>
        <p:sp>
          <p:nvSpPr>
            <p:cNvPr id="17" name="Rectangle 17"/>
            <p:cNvSpPr/>
            <p:nvPr/>
          </p:nvSpPr>
          <p:spPr>
            <a:xfrm>
              <a:off x="533400" y="3714750"/>
              <a:ext cx="5626418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97280" y="38452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841308" y="38452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23472" y="38452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42925" y="4153852"/>
              <a:ext cx="144399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8746" y="427577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句子成分分析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01787" y="427577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一句话的每个词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26802" y="427577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每个词属于哪个成分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57009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4574858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8746" y="470630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情感分类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101787" y="470630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一整条评论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126802" y="470630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一个类别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9996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8746" y="513588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机器翻译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101787" y="513588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源语言句子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126802" y="513588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目标语言句子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714750"/>
              <a:ext cx="5626418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991678" y="371475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016692" y="371475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c2-flow-1"/>
          <p:cNvGrpSpPr/>
          <p:nvPr/>
        </p:nvGrpSpPr>
        <p:grpSpPr>
          <a:xfrm>
            <a:off x="6646545" y="2053590"/>
            <a:ext cx="4830127" cy="2115503"/>
            <a:chOff x="6646545" y="2053590"/>
            <a:chExt cx="4830127" cy="2115503"/>
          </a:xfrm>
        </p:grpSpPr>
        <p:sp>
          <p:nvSpPr>
            <p:cNvPr id="38" name="Freeform 38"/>
            <p:cNvSpPr/>
            <p:nvPr/>
          </p:nvSpPr>
          <p:spPr>
            <a:xfrm>
              <a:off x="9062085" y="2656522"/>
              <a:ext cx="9525" cy="181928"/>
            </a:xfrm>
            <a:custGeom>
              <a:avLst/>
              <a:gdLst/>
              <a:ahLst/>
              <a:cxnLst/>
              <a:rect l="l" t="t" r="r" b="b"/>
              <a:pathLst>
                <a:path w="9525" h="181928">
                  <a:moveTo>
                    <a:pt x="0" y="0"/>
                  </a:moveTo>
                  <a:lnTo>
                    <a:pt x="0" y="1819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9009698" y="28384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7762875" y="3368040"/>
              <a:ext cx="1299210" cy="271462"/>
            </a:xfrm>
            <a:custGeom>
              <a:avLst/>
              <a:gdLst/>
              <a:ahLst/>
              <a:cxnLst/>
              <a:rect l="l" t="t" r="r" b="b"/>
              <a:pathLst>
                <a:path w="1299210" h="271462">
                  <a:moveTo>
                    <a:pt x="1299210" y="0"/>
                  </a:moveTo>
                  <a:lnTo>
                    <a:pt x="1299210" y="187642"/>
                  </a:lnTo>
                  <a:lnTo>
                    <a:pt x="0" y="187642"/>
                  </a:lnTo>
                  <a:lnTo>
                    <a:pt x="0" y="2714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7710488" y="36395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9062085" y="3368040"/>
              <a:ext cx="1298258" cy="271462"/>
            </a:xfrm>
            <a:custGeom>
              <a:avLst/>
              <a:gdLst/>
              <a:ahLst/>
              <a:cxnLst/>
              <a:rect l="l" t="t" r="r" b="b"/>
              <a:pathLst>
                <a:path w="1298258" h="271462">
                  <a:moveTo>
                    <a:pt x="0" y="0"/>
                  </a:moveTo>
                  <a:lnTo>
                    <a:pt x="0" y="187642"/>
                  </a:lnTo>
                  <a:lnTo>
                    <a:pt x="1298258" y="187642"/>
                  </a:lnTo>
                  <a:lnTo>
                    <a:pt x="1298258" y="2714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10307955" y="36395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6828472" y="2053590"/>
              <a:ext cx="4466272" cy="602932"/>
            </a:xfrm>
            <a:custGeom>
              <a:avLst/>
              <a:gdLst/>
              <a:ahLst/>
              <a:cxnLst/>
              <a:rect l="l" t="t" r="r" b="b"/>
              <a:pathLst>
                <a:path w="4466272" h="602932">
                  <a:moveTo>
                    <a:pt x="133350" y="0"/>
                  </a:moveTo>
                  <a:lnTo>
                    <a:pt x="4466272" y="0"/>
                  </a:lnTo>
                  <a:lnTo>
                    <a:pt x="4332922" y="602932"/>
                  </a:lnTo>
                  <a:lnTo>
                    <a:pt x="0" y="602932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828472" y="2943225"/>
              <a:ext cx="4466272" cy="424815"/>
            </a:xfrm>
            <a:prstGeom prst="roundRect">
              <a:avLst>
                <a:gd name="adj" fmla="val 22422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646545" y="3744278"/>
              <a:ext cx="2233612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9243060" y="3744278"/>
              <a:ext cx="2233612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263509" y="2167890"/>
              <a:ext cx="159715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“我需要一张 12 月 1 日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从北京到长春的机票”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732901" y="307181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订票系统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72147" y="387286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出发地：北京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869614" y="387286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目的地：长春</a:t>
              </a:r>
            </a:p>
          </p:txBody>
        </p:sp>
      </p:grpSp>
      <p:grpSp>
        <p:nvGrpSpPr>
          <p:cNvPr id="59" name="c2-callout-2"/>
          <p:cNvGrpSpPr/>
          <p:nvPr/>
        </p:nvGrpSpPr>
        <p:grpSpPr>
          <a:xfrm>
            <a:off x="6464618" y="4542472"/>
            <a:ext cx="5193982" cy="892492"/>
            <a:chOff x="6464618" y="4542472"/>
            <a:chExt cx="5193982" cy="892492"/>
          </a:xfrm>
        </p:grpSpPr>
        <p:sp>
          <p:nvSpPr>
            <p:cNvPr id="53" name="Rectangle 53"/>
            <p:cNvSpPr/>
            <p:nvPr/>
          </p:nvSpPr>
          <p:spPr>
            <a:xfrm>
              <a:off x="6464618" y="4542472"/>
              <a:ext cx="5193982" cy="892492"/>
            </a:xfrm>
            <a:prstGeom prst="roundRect">
              <a:avLst>
                <a:gd name="adj" fmla="val 12807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657347" y="4884538"/>
              <a:ext cx="224134" cy="192560"/>
              <a:chOff x="6657347" y="4884538"/>
              <a:chExt cx="224134" cy="19256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769418" y="495490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657347" y="488453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769418" y="50326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971729" y="4758214"/>
              <a:ext cx="411721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同一个词“北京”，在“从北京”里是出发地，在“到北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京”里是目的地。只看当前这个词无法决定答案。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0" name="Rectangle 60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511" y="6004084"/>
              <a:ext cx="55581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序列任务的核心难点是当前这一步的输出依赖前面若干步的输入。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46" y="407194"/>
              <a:ext cx="2765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常用网络模型 · 循环神经网络 RNN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词嵌入：先把词变成向量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483995"/>
            <a:chOff x="533400" y="1524000"/>
            <a:chExt cx="5410200" cy="14839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1715452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8494" y="1750695"/>
              <a:ext cx="16072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词嵌入 word embedding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86800" y="175641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把词映射成实数向量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6428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把一个维数等于词表大小的高维空间，嵌入到一个维数低得多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的连续向量空间，每个词或词组被映射为实数域上的一个向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量。常见做法有 1-of-N 编码、Word2Vec、GloVe。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183255"/>
            <a:ext cx="5410200" cy="2346008"/>
            <a:chOff x="533400" y="3183255"/>
            <a:chExt cx="5410200" cy="2346008"/>
          </a:xfrm>
        </p:grpSpPr>
        <p:sp>
          <p:nvSpPr>
            <p:cNvPr id="14" name="Rectangle 14"/>
            <p:cNvSpPr/>
            <p:nvPr/>
          </p:nvSpPr>
          <p:spPr>
            <a:xfrm>
              <a:off x="533400" y="3183255"/>
              <a:ext cx="5410200" cy="2346008"/>
            </a:xfrm>
            <a:prstGeom prst="roundRect">
              <a:avLst>
                <a:gd name="adj" fmla="val 56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316605"/>
              <a:ext cx="47625" cy="20793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3905" y="3375660"/>
              <a:ext cx="98012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35563" y="3409950"/>
              <a:ext cx="8377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1-of-N 编码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51470" y="341566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词表有多少词，向量就有多少维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7047" y="3749040"/>
              <a:ext cx="43514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语料：John likes to watch movies. Mary likes movies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too. John also likes to watch football games.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7047" y="4309110"/>
              <a:ext cx="473716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词表编号 {John: 1, likes: 2, to: 3, watch: 4, movies: 5,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also: 6, football: 7, games: 8, Mary: 9, too: 10}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7047" y="4869180"/>
              <a:ext cx="454856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John = (1, 0, 0, 0, 0, 0, 0, 0, 0, 0)，likes = (0, 1, 0,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0, 0, 0, 0, 0, 0, 0)</a:t>
              </a:r>
            </a:p>
          </p:txBody>
        </p:sp>
      </p:grpSp>
      <p:grpSp>
        <p:nvGrpSpPr>
          <p:cNvPr id="44" name="c2-table-1"/>
          <p:cNvGrpSpPr/>
          <p:nvPr/>
        </p:nvGrpSpPr>
        <p:grpSpPr>
          <a:xfrm>
            <a:off x="6248400" y="1524000"/>
            <a:ext cx="5410200" cy="1623060"/>
            <a:chOff x="6248400" y="1524000"/>
            <a:chExt cx="5410200" cy="1623060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0344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1791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859162" y="164830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能否表示词义相近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48412" y="2054066"/>
              <a:ext cx="8936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1-of-N 编码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71472" y="205406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等于词表大小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287828" y="1939290"/>
              <a:ext cx="2361248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378315" y="2054066"/>
              <a:ext cx="2099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不能，任意两个词的内积都是 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248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48400" y="233553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48412" y="2459831"/>
              <a:ext cx="7514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Word2Vec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71472" y="245983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几十到几百维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287828" y="2345055"/>
              <a:ext cx="2361248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378315" y="245983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能，语义相近的词向量方向相近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248400" y="2736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48412" y="2865596"/>
              <a:ext cx="416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GloVe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71472" y="286559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几十到几百维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378315" y="286559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能，基于全局共现统计训练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1524000"/>
              <a:ext cx="541020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866698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9273540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c2-callout-2"/>
          <p:cNvGrpSpPr/>
          <p:nvPr/>
        </p:nvGrpSpPr>
        <p:grpSpPr>
          <a:xfrm>
            <a:off x="6248400" y="3322320"/>
            <a:ext cx="5410200" cy="729615"/>
            <a:chOff x="6248400" y="3322320"/>
            <a:chExt cx="5410200" cy="729615"/>
          </a:xfrm>
        </p:grpSpPr>
        <p:sp>
          <p:nvSpPr>
            <p:cNvPr id="45" name="Rectangle 45"/>
            <p:cNvSpPr/>
            <p:nvPr/>
          </p:nvSpPr>
          <p:spPr>
            <a:xfrm>
              <a:off x="6248400" y="3322320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453188" y="3587115"/>
              <a:ext cx="200026" cy="200025"/>
              <a:chOff x="6453188" y="3587115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453188" y="358711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492926" y="363156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527642" y="374269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755892" y="3468052"/>
              <a:ext cx="440283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1-of-N 编码的两个毛病：词表一大维度就爆炸；任何两个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词都正交，看不出 movies 和 games 更像一些。</a:t>
              </a:r>
            </a:p>
          </p:txBody>
        </p:sp>
      </p:grpSp>
      <p:grpSp>
        <p:nvGrpSpPr>
          <p:cNvPr id="58" name="c2-callout-3"/>
          <p:cNvGrpSpPr/>
          <p:nvPr/>
        </p:nvGrpSpPr>
        <p:grpSpPr>
          <a:xfrm>
            <a:off x="6248400" y="4226242"/>
            <a:ext cx="5410200" cy="1303020"/>
            <a:chOff x="6248400" y="4226242"/>
            <a:chExt cx="5410200" cy="1303020"/>
          </a:xfrm>
        </p:grpSpPr>
        <p:sp>
          <p:nvSpPr>
            <p:cNvPr id="52" name="Rectangle 52"/>
            <p:cNvSpPr/>
            <p:nvPr/>
          </p:nvSpPr>
          <p:spPr>
            <a:xfrm>
              <a:off x="6248400" y="4226242"/>
              <a:ext cx="5410200" cy="1303020"/>
            </a:xfrm>
            <a:prstGeom prst="roundRect">
              <a:avLst>
                <a:gd name="adj" fmla="val 877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453188" y="4777740"/>
              <a:ext cx="200026" cy="200026"/>
              <a:chOff x="6453188" y="4777740"/>
              <a:chExt cx="200026" cy="200026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453188" y="477774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553200" y="48444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542088" y="487775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755892" y="4659630"/>
              <a:ext cx="41285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后面各页把每个词都当成一个已经编好码的向量，记作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x¹、x²、x³……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9" name="Rectangle 5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892" y="6023610"/>
              <a:ext cx="65925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词嵌入解决“词怎样进网络”，循环结构解决“上文怎样传下去”，两件事互相独立。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19927" cy="909257"/>
            <a:chOff x="520446" y="342900"/>
            <a:chExt cx="751992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46" y="407194"/>
              <a:ext cx="2765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常用网络模型 · 循环神经网络 RNN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199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RNN：把隐层的输出存下来，下一步当成额外输入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193982" cy="1564958"/>
            <a:chOff x="533400" y="1524000"/>
            <a:chExt cx="5193982" cy="15649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644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循环结构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60588" y="1767364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存储可以看作另一种输入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5229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隐层算出的值被存在一块存储里；处理下一个词时，网络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的输入除了这个词的向量，还有上一步存下来的那份隐状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态。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26"/>
              <p:cNvSpPr txBox="1">
                <a:spLocks noGrp="1"/>
              </p:cNvSpPr>
              <p:nvPr/>
            </p:nvSpPr>
            <p:spPr>
              <a:xfrm>
                <a:off x="533400" y="3273742"/>
                <a:ext cx="5193982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​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formula27"/>
              <p:cNvSpPr txBox="1">
                <a:spLocks noGrp="1"/>
              </p:cNvSpPr>
              <p:nvPr/>
            </p:nvSpPr>
            <p:spPr>
              <a:xfrm>
                <a:off x="533400" y="3859530"/>
                <a:ext cx="5193982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O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g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​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4" name="c1-kv-4"/>
          <p:cNvGrpSpPr/>
          <p:nvPr/>
        </p:nvGrpSpPr>
        <p:grpSpPr>
          <a:xfrm>
            <a:off x="526161" y="4468654"/>
            <a:ext cx="5201221" cy="1121664"/>
            <a:chOff x="526161" y="4468654"/>
            <a:chExt cx="5201221" cy="1121664"/>
          </a:xfrm>
        </p:grpSpPr>
        <p:sp>
          <p:nvSpPr>
            <p:cNvPr id="16" name="TextBox 16"/>
            <p:cNvSpPr txBox="1"/>
            <p:nvPr/>
          </p:nvSpPr>
          <p:spPr>
            <a:xfrm>
              <a:off x="526161" y="4468654"/>
              <a:ext cx="1311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21448" y="446865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输入到隐层的权矩阵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477393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6161" y="4889659"/>
              <a:ext cx="1735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W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21448" y="4889659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上一时刻隐状态到本时刻隐层的权矩阵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51958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6161" y="5311616"/>
              <a:ext cx="1311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21448" y="531161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隐层到输出的权矩阵</a:t>
              </a:r>
            </a:p>
          </p:txBody>
        </p:sp>
      </p:grpSp>
      <p:grpSp>
        <p:nvGrpSpPr>
          <p:cNvPr id="68" name="c2-graph-1"/>
          <p:cNvGrpSpPr/>
          <p:nvPr/>
        </p:nvGrpSpPr>
        <p:grpSpPr>
          <a:xfrm>
            <a:off x="6560820" y="1846898"/>
            <a:ext cx="4118610" cy="3211543"/>
            <a:chOff x="6560820" y="1846898"/>
            <a:chExt cx="4118610" cy="3211543"/>
          </a:xfrm>
        </p:grpSpPr>
        <p:sp>
          <p:nvSpPr>
            <p:cNvPr id="25" name="Freeform 25"/>
            <p:cNvSpPr/>
            <p:nvPr/>
          </p:nvSpPr>
          <p:spPr>
            <a:xfrm>
              <a:off x="6819900" y="3603308"/>
              <a:ext cx="9525" cy="687705"/>
            </a:xfrm>
            <a:custGeom>
              <a:avLst/>
              <a:gdLst/>
              <a:ahLst/>
              <a:cxnLst/>
              <a:rect l="l" t="t" r="r" b="b"/>
              <a:pathLst>
                <a:path w="9525" h="687705">
                  <a:moveTo>
                    <a:pt x="0" y="68770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6772275" y="35080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8620125" y="3603308"/>
              <a:ext cx="9525" cy="687705"/>
            </a:xfrm>
            <a:custGeom>
              <a:avLst/>
              <a:gdLst/>
              <a:ahLst/>
              <a:cxnLst/>
              <a:rect l="l" t="t" r="r" b="b"/>
              <a:pathLst>
                <a:path w="9525" h="687705">
                  <a:moveTo>
                    <a:pt x="0" y="68770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8572500" y="35080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10420350" y="3603308"/>
              <a:ext cx="9525" cy="687705"/>
            </a:xfrm>
            <a:custGeom>
              <a:avLst/>
              <a:gdLst/>
              <a:ahLst/>
              <a:cxnLst/>
              <a:rect l="l" t="t" r="r" b="b"/>
              <a:pathLst>
                <a:path w="9525" h="687705">
                  <a:moveTo>
                    <a:pt x="0" y="68770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0372725" y="35080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6819900" y="2274570"/>
              <a:ext cx="9525" cy="757238"/>
            </a:xfrm>
            <a:custGeom>
              <a:avLst/>
              <a:gdLst/>
              <a:ahLst/>
              <a:cxnLst/>
              <a:rect l="l" t="t" r="r" b="b"/>
              <a:pathLst>
                <a:path w="9525" h="757238">
                  <a:moveTo>
                    <a:pt x="0" y="75723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772275" y="21793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8620125" y="2274570"/>
              <a:ext cx="9525" cy="757238"/>
            </a:xfrm>
            <a:custGeom>
              <a:avLst/>
              <a:gdLst/>
              <a:ahLst/>
              <a:cxnLst/>
              <a:rect l="l" t="t" r="r" b="b"/>
              <a:pathLst>
                <a:path w="9525" h="757238">
                  <a:moveTo>
                    <a:pt x="0" y="75723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572500" y="21793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10420350" y="2274570"/>
              <a:ext cx="9525" cy="757238"/>
            </a:xfrm>
            <a:custGeom>
              <a:avLst/>
              <a:gdLst/>
              <a:ahLst/>
              <a:cxnLst/>
              <a:rect l="l" t="t" r="r" b="b"/>
              <a:pathLst>
                <a:path w="9525" h="757238">
                  <a:moveTo>
                    <a:pt x="0" y="75723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0372725" y="21793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7058025" y="3269932"/>
              <a:ext cx="1228725" cy="9525"/>
            </a:xfrm>
            <a:custGeom>
              <a:avLst/>
              <a:gdLst/>
              <a:ahLst/>
              <a:cxnLst/>
              <a:rect l="l" t="t" r="r" b="b"/>
              <a:pathLst>
                <a:path w="1228725" h="9525">
                  <a:moveTo>
                    <a:pt x="0" y="0"/>
                  </a:moveTo>
                  <a:lnTo>
                    <a:pt x="12287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286750" y="322230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8858250" y="3269932"/>
              <a:ext cx="1228725" cy="9525"/>
            </a:xfrm>
            <a:custGeom>
              <a:avLst/>
              <a:gdLst/>
              <a:ahLst/>
              <a:cxnLst/>
              <a:rect l="l" t="t" r="r" b="b"/>
              <a:pathLst>
                <a:path w="1228725" h="9525">
                  <a:moveTo>
                    <a:pt x="0" y="0"/>
                  </a:moveTo>
                  <a:lnTo>
                    <a:pt x="12287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10086975" y="322230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560820" y="4291012"/>
              <a:ext cx="517208" cy="332422"/>
            </a:xfrm>
            <a:prstGeom prst="roundRect">
              <a:avLst>
                <a:gd name="adj" fmla="val 28653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361998" y="4291012"/>
              <a:ext cx="517208" cy="332422"/>
            </a:xfrm>
            <a:prstGeom prst="roundRect">
              <a:avLst>
                <a:gd name="adj" fmla="val 28653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10162222" y="4291012"/>
              <a:ext cx="517208" cy="332422"/>
            </a:xfrm>
            <a:prstGeom prst="roundRect">
              <a:avLst>
                <a:gd name="adj" fmla="val 28653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6591300" y="3041332"/>
              <a:ext cx="457200" cy="45720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8391525" y="3041332"/>
              <a:ext cx="457200" cy="45720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10191750" y="3041332"/>
              <a:ext cx="457200" cy="45720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560820" y="1846898"/>
              <a:ext cx="517208" cy="332422"/>
            </a:xfrm>
            <a:prstGeom prst="roundRect">
              <a:avLst>
                <a:gd name="adj" fmla="val 28653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361998" y="1846898"/>
              <a:ext cx="517208" cy="332422"/>
            </a:xfrm>
            <a:prstGeom prst="roundRect">
              <a:avLst>
                <a:gd name="adj" fmla="val 28653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162222" y="1846898"/>
              <a:ext cx="517208" cy="332422"/>
            </a:xfrm>
            <a:prstGeom prst="roundRect">
              <a:avLst>
                <a:gd name="adj" fmla="val 28653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20512" y="438340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520737" y="438340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320962" y="438340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x₃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15232" y="319563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S₁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515457" y="319563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315682" y="319563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S₃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97309" y="1938338"/>
              <a:ext cx="2451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O₁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497534" y="1938338"/>
              <a:ext cx="2451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297759" y="1938338"/>
              <a:ext cx="2451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O₃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747510" y="3807142"/>
              <a:ext cx="144780" cy="173355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776613" y="3841909"/>
              <a:ext cx="865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747510" y="2512695"/>
              <a:ext cx="144780" cy="173355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776613" y="2547461"/>
              <a:ext cx="865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635240" y="3177540"/>
              <a:ext cx="169545" cy="173355"/>
            </a:xfrm>
            <a:prstGeom prst="roundRect">
              <a:avLst>
                <a:gd name="adj" fmla="val 2247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662786" y="3212306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W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9435465" y="3177540"/>
              <a:ext cx="169545" cy="173355"/>
            </a:xfrm>
            <a:prstGeom prst="roundRect">
              <a:avLst>
                <a:gd name="adj" fmla="val 2247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463011" y="3212306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W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217999" y="4867751"/>
              <a:ext cx="32538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按时间线展开后，三份权 U、V、W 在每一步都是同一份</a:t>
              </a:r>
            </a:p>
          </p:txBody>
        </p:sp>
      </p:grpSp>
      <p:grpSp>
        <p:nvGrpSpPr>
          <p:cNvPr id="74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9" name="Rectangle 69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040511" y="6004084"/>
              <a:ext cx="75692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Sₜ 的值不只取决于 xₜ，还取决于 Sₜ₋₁，所以它把前面所有步的信息压在了一份向量里。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74495" cy="909257"/>
            <a:chOff x="520446" y="342900"/>
            <a:chExt cx="55744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46" y="407194"/>
              <a:ext cx="2765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常用网络模型 · 循环神经网络 RNN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744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RNN 例题：手算三步的隐状态与输出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121836" cy="293370"/>
            <a:chOff x="525780" y="1548765"/>
            <a:chExt cx="10121836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1218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设定：权全为 1，无偏置，激活函数取恒等。隐层两个单元 a₁、a₂ 初值为 0，输入序列 (1,1)、(1,1)、(2,2)。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54530"/>
            <a:ext cx="5842635" cy="1315402"/>
            <a:chOff x="533400" y="1954530"/>
            <a:chExt cx="5842635" cy="131540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842635" cy="1315402"/>
            </a:xfrm>
            <a:prstGeom prst="roundRect">
              <a:avLst>
                <a:gd name="adj" fmla="val 10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104870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9620" y="215265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7059" y="218694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递推式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86281" y="218741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本例的具体形式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381" y="2531269"/>
              <a:ext cx="35796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隐层：a₁ = a₂ = x₁ + x₂ + a₁ᵒˡᵈ + a₂ᵒˡᵈ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381" y="2849404"/>
              <a:ext cx="20885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输出：y₁ = y₂ = a₁ + a₂</a:t>
              </a:r>
            </a:p>
          </p:txBody>
        </p:sp>
      </p:grpSp>
      <p:grpSp>
        <p:nvGrpSpPr>
          <p:cNvPr id="48" name="c1-table-2"/>
          <p:cNvGrpSpPr/>
          <p:nvPr/>
        </p:nvGrpSpPr>
        <p:grpSpPr>
          <a:xfrm>
            <a:off x="528066" y="3449955"/>
            <a:ext cx="5847969" cy="1977962"/>
            <a:chOff x="528066" y="3449955"/>
            <a:chExt cx="5847969" cy="1977962"/>
          </a:xfrm>
        </p:grpSpPr>
        <p:sp>
          <p:nvSpPr>
            <p:cNvPr id="17" name="Rectangle 17"/>
            <p:cNvSpPr/>
            <p:nvPr/>
          </p:nvSpPr>
          <p:spPr>
            <a:xfrm>
              <a:off x="533400" y="3449955"/>
              <a:ext cx="5842635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97052" y="357854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79546" y="3578542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输入 x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13470" y="357854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存储里的旧值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70976" y="3578542"/>
              <a:ext cx="9543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新的 a₁ = a₂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494321" y="3578542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 y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5889" y="40024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36929" y="4002405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(1, 1)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05646" y="4002405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(0, 0)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907726" y="4002405"/>
              <a:ext cx="9087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1+1+0+0 = 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193602" y="4002405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(4, 4)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29387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4298632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5889" y="44272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36929" y="4427220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(1, 1)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505646" y="4427220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(2, 2)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907726" y="4427220"/>
              <a:ext cx="9087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1+1+2+2 = 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193602" y="4427220"/>
              <a:ext cx="682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(12, 12)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71868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5889" y="48520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36929" y="4852035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(2, 2)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505646" y="4852035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(6, 6)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907726" y="4852035"/>
              <a:ext cx="9976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2+2+6+6 = 16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100638" y="4732972"/>
              <a:ext cx="1266825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193602" y="4852035"/>
              <a:ext cx="682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(32, 32)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3449955"/>
              <a:ext cx="5842635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1229678" y="344995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2398395" y="344995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3800475" y="344995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086350" y="344995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28066" y="522255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逐步走账</a:t>
              </a:r>
            </a:p>
          </p:txBody>
        </p:sp>
      </p:grpSp>
      <p:grpSp>
        <p:nvGrpSpPr>
          <p:cNvPr id="62" name="c2-steps-1"/>
          <p:cNvGrpSpPr/>
          <p:nvPr/>
        </p:nvGrpSpPr>
        <p:grpSpPr>
          <a:xfrm>
            <a:off x="6680835" y="1964055"/>
            <a:ext cx="3227984" cy="1781556"/>
            <a:chOff x="6680835" y="1964055"/>
            <a:chExt cx="3227984" cy="1781556"/>
          </a:xfrm>
        </p:grpSpPr>
        <p:sp>
          <p:nvSpPr>
            <p:cNvPr id="49" name="Rectangle 49"/>
            <p:cNvSpPr/>
            <p:nvPr/>
          </p:nvSpPr>
          <p:spPr>
            <a:xfrm>
              <a:off x="6814185" y="2106930"/>
              <a:ext cx="19050" cy="12334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6680835" y="196405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74459" y="2037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680835" y="258127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74459" y="26550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680835" y="319754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74459" y="32713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092696" y="1996916"/>
              <a:ext cx="6276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步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093839" y="2277428"/>
              <a:ext cx="28149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存储是初值 0，隐层得 2，输出 2+2 = 4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092696" y="2614136"/>
              <a:ext cx="6276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步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093839" y="2894648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存储换成 2，隐层得 6，输出 12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092696" y="3230404"/>
              <a:ext cx="6276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步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093839" y="3510915"/>
              <a:ext cx="2378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存储换成 6，隐层得 16，输出 32</a:t>
              </a:r>
            </a:p>
          </p:txBody>
        </p:sp>
      </p:grpSp>
      <p:grpSp>
        <p:nvGrpSpPr>
          <p:cNvPr id="66" name="c2-code-2"/>
          <p:cNvGrpSpPr/>
          <p:nvPr/>
        </p:nvGrpSpPr>
        <p:grpSpPr>
          <a:xfrm>
            <a:off x="6680835" y="3916680"/>
            <a:ext cx="4977765" cy="1499235"/>
            <a:chOff x="6680835" y="3916680"/>
            <a:chExt cx="4977765" cy="1499235"/>
          </a:xfrm>
        </p:grpSpPr>
        <p:sp>
          <p:nvSpPr>
            <p:cNvPr id="63" name="Rectangle 63"/>
            <p:cNvSpPr/>
            <p:nvPr/>
          </p:nvSpPr>
          <p:spPr>
            <a:xfrm>
              <a:off x="6680835" y="3916680"/>
              <a:ext cx="4977765" cy="1499235"/>
            </a:xfrm>
            <a:prstGeom prst="roundRect">
              <a:avLst>
                <a:gd name="adj" fmla="val 635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809232" y="406860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复核代码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809422" y="4328446"/>
              <a:ext cx="3286887" cy="1007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05"/>
                </a:lnSpc>
              </a:pP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 = [0, 0]</a:t>
              </a:r>
              <a:br/>
              <a:r>
                <a:rPr lang="en-US" sz="9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 </a:t>
              </a:r>
              <a:r>
                <a:rPr lang="en-US" sz="9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[(1, 1), (1, 1), (2, 2)]: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 = x[0] + x[1] + a[0] + a[1] 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权全为 1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 = [s, s]                    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覆盖存储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print(x, a, a[0] + a[1])</a:t>
              </a:r>
              <a:br/>
              <a:r>
                <a:rPr lang="zh-CN" sz="9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(1,1) [2,2] 4 / (1,1) [6,6] 12 / (2,2) [16,16] 32</a:t>
              </a:r>
            </a:p>
          </p:txBody>
        </p:sp>
      </p:grpSp>
      <p:grpSp>
        <p:nvGrpSpPr>
          <p:cNvPr id="73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67" name="Rectangle 67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38188" y="5884545"/>
              <a:ext cx="200026" cy="200026"/>
              <a:chOff x="738188" y="5884545"/>
              <a:chExt cx="200026" cy="200026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38188" y="58845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38200" y="5951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27088" y="59845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040511" y="5753576"/>
              <a:ext cx="988809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每一步都要先取上一步存下的值，再用本步算出的新值覆盖它，顺序写反结果就不对。输出序列 (4,4)、(12,12)、(32,32)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与原课件第 49 至 51 页一致。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46" y="407194"/>
              <a:ext cx="2765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常用网络模型 · 循环神经网络 RNN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换个输入顺序，结果就不一样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821142" cy="308039"/>
            <a:chOff x="525399" y="1550194"/>
            <a:chExt cx="10821142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82114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 51 页写了“输入顺序不同结果不同”，但两次用的是同一条输入序列，没有给出对照的计算。这里补一遍。</a:t>
              </a:r>
            </a:p>
          </p:txBody>
        </p:sp>
      </p:grpSp>
      <p:grpSp>
        <p:nvGrpSpPr>
          <p:cNvPr id="40" name="c1-table-1"/>
          <p:cNvGrpSpPr/>
          <p:nvPr/>
        </p:nvGrpSpPr>
        <p:grpSpPr>
          <a:xfrm>
            <a:off x="527685" y="1967865"/>
            <a:ext cx="5415915" cy="2316957"/>
            <a:chOff x="527685" y="1967865"/>
            <a:chExt cx="5415915" cy="2316957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410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5569" y="210264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68339" y="2102644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输入 x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27274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旧值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94344" y="2102644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新的 a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92602" y="2102644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 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1223" y="255127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90828" y="2551271"/>
              <a:ext cx="538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(2, 2)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372868" y="2551271"/>
              <a:ext cx="538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(0, 0)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54908" y="2551271"/>
              <a:ext cx="9692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2+2+0+0 = 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860798" y="2551271"/>
              <a:ext cx="538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(8, 8)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8603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86512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300085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90828" y="3000851"/>
              <a:ext cx="538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(1, 1)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72868" y="3000851"/>
              <a:ext cx="538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(4, 4)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54908" y="3000851"/>
              <a:ext cx="106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1+1+4+4 = 10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60798" y="3000851"/>
              <a:ext cx="7280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(20, 20)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3089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1223" y="356282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90828" y="3562826"/>
              <a:ext cx="538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(1, 1)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72868" y="3562826"/>
              <a:ext cx="7280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(10, 10)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54908" y="3449479"/>
              <a:ext cx="95580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1+1+10+10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762500" y="3323272"/>
              <a:ext cx="1171575" cy="65627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860798" y="3562826"/>
              <a:ext cx="7280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(44, 44)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1967865"/>
              <a:ext cx="5410200" cy="20221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178242" y="1967865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2260282" y="1967865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342322" y="1967865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748212" y="1967865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7685" y="4064794"/>
              <a:ext cx="14211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 (2,2) 挪到最前面</a:t>
              </a:r>
            </a:p>
          </p:txBody>
        </p:sp>
      </p:grpSp>
      <p:grpSp>
        <p:nvGrpSpPr>
          <p:cNvPr id="46" name="c1-callout-2"/>
          <p:cNvGrpSpPr/>
          <p:nvPr/>
        </p:nvGrpSpPr>
        <p:grpSpPr>
          <a:xfrm>
            <a:off x="533400" y="4431030"/>
            <a:ext cx="5410200" cy="979170"/>
            <a:chOff x="533400" y="4431030"/>
            <a:chExt cx="5410200" cy="979170"/>
          </a:xfrm>
        </p:grpSpPr>
        <p:sp>
          <p:nvSpPr>
            <p:cNvPr id="41" name="Rectangle 41"/>
            <p:cNvSpPr/>
            <p:nvPr/>
          </p:nvSpPr>
          <p:spPr>
            <a:xfrm>
              <a:off x="533400" y="4431030"/>
              <a:ext cx="5410200" cy="979170"/>
            </a:xfrm>
            <a:prstGeom prst="roundRect">
              <a:avLst>
                <a:gd name="adj" fmla="val 11673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4821557"/>
              <a:ext cx="200023" cy="200023"/>
              <a:chOff x="738188" y="4821557"/>
              <a:chExt cx="200023" cy="20002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482155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71538" y="488823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130" y="4678680"/>
              <a:ext cx="42729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同样三组输入，顺序一换，输出由 4、12、32 变成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8、20、44。</a:t>
              </a:r>
            </a:p>
          </p:txBody>
        </p:sp>
      </p:grpSp>
      <p:grpSp>
        <p:nvGrpSpPr>
          <p:cNvPr id="54" name="c2-card-1"/>
          <p:cNvGrpSpPr/>
          <p:nvPr/>
        </p:nvGrpSpPr>
        <p:grpSpPr>
          <a:xfrm>
            <a:off x="6248400" y="1967865"/>
            <a:ext cx="5410200" cy="1917382"/>
            <a:chOff x="6248400" y="1967865"/>
            <a:chExt cx="5410200" cy="1917382"/>
          </a:xfrm>
        </p:grpSpPr>
        <p:sp>
          <p:nvSpPr>
            <p:cNvPr id="47" name="Rectangle 47"/>
            <p:cNvSpPr/>
            <p:nvPr/>
          </p:nvSpPr>
          <p:spPr>
            <a:xfrm>
              <a:off x="6248400" y="1967865"/>
              <a:ext cx="5410200" cy="1917382"/>
            </a:xfrm>
            <a:prstGeom prst="roundRect">
              <a:avLst>
                <a:gd name="adj" fmla="val 69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57925" y="2101215"/>
              <a:ext cx="47625" cy="165068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96050" y="217741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69507" y="221313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为什么会这样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665720" y="2212658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早出现的输入被乘的次数更多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88430" y="2573655"/>
              <a:ext cx="46634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这个线性 RNN 里，第 t 步的输出是各步输入的加权和，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越早进来的输入被累乘的轮数越多，权重越大。把大的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那组输入放在最前面，后面每一步都会被它放大。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89573" y="3476149"/>
              <a:ext cx="50272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反过来说，网络确实“记住”了顺序，这正是序列模型该有的性质。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6248400" y="4075748"/>
            <a:ext cx="5410200" cy="1335405"/>
            <a:chOff x="6248400" y="4075748"/>
            <a:chExt cx="5410200" cy="1335405"/>
          </a:xfrm>
        </p:grpSpPr>
        <p:sp>
          <p:nvSpPr>
            <p:cNvPr id="55" name="Rectangle 55"/>
            <p:cNvSpPr/>
            <p:nvPr/>
          </p:nvSpPr>
          <p:spPr>
            <a:xfrm>
              <a:off x="6248400" y="4075748"/>
              <a:ext cx="5410200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257925" y="4209098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496050" y="4285298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82308" y="432101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易错点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239000" y="4320540"/>
              <a:ext cx="17308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别把 RNN 当成词袋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88430" y="4681538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把一句话里的词向量直接相加送进前馈网络，结果与词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序无关。RNN 的价值就在于它对顺序敏感。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2" name="Rectangle 6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0130" y="5991225"/>
              <a:ext cx="87441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本例激活函数是线性的，纯粹为了手算。真实 RNN 的 f 一般取 tanh，输出会被压在 (−1, 1) 内。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44840" cy="909257"/>
            <a:chOff x="520446" y="342900"/>
            <a:chExt cx="574484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46" y="407194"/>
              <a:ext cx="2765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常用网络模型 · 循环神经网络 RNN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448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两种常见变形：双向 RNN 与深层 RNN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621155"/>
            <a:chOff x="533400" y="1524000"/>
            <a:chExt cx="5410200" cy="16211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84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3898" y="1769269"/>
              <a:ext cx="639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双向 RNN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72590" y="1768792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从左往右再从右往左各跑一遍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6920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单向 RNN 在第 t 步只看得到前 t 个词。把另一条方向相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反的 RNN 叠上去，两条的隐状态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拼接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后再送进输出层，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这一步就同时看得到整句话。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335655"/>
            <a:ext cx="5410200" cy="2000250"/>
            <a:chOff x="533400" y="3335655"/>
            <a:chExt cx="5410200" cy="2000250"/>
          </a:xfrm>
        </p:grpSpPr>
        <p:sp>
          <p:nvSpPr>
            <p:cNvPr id="14" name="Rectangle 14"/>
            <p:cNvSpPr/>
            <p:nvPr/>
          </p:nvSpPr>
          <p:spPr>
            <a:xfrm>
              <a:off x="533400" y="3335655"/>
              <a:ext cx="5410200" cy="2000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469005"/>
              <a:ext cx="47625" cy="17335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354520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76160" y="358092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39202" y="3580448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只有下文才能填对的空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3430" y="3941445"/>
              <a:ext cx="37105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“我昨天上学迟到了，老师批评了____。”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3430" y="4276725"/>
              <a:ext cx="3912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“我的手机坏了，我打算____一部新手机。”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4573" y="4608671"/>
              <a:ext cx="45448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第二句的空填“买”还是“修”，要看后面的“新手机”才能定。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6248400" y="1524000"/>
            <a:ext cx="5410200" cy="1621155"/>
            <a:chOff x="6248400" y="1524000"/>
            <a:chExt cx="5410200" cy="1621155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57925" y="165735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96050" y="1733550"/>
              <a:ext cx="784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68898" y="1769269"/>
              <a:ext cx="639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深层 RNN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87590" y="1768792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隐层摞起来，每层都在时间上循环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88430" y="2129790"/>
              <a:ext cx="46253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l 层在时刻 t 的输入，是第 l−1 层在时刻 t 的输出；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同一层内部再沿时间传隐状态。L 个隐含层、序列长度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时，展开后一共有 L×T 个单元。</a:t>
              </a:r>
            </a:p>
          </p:txBody>
        </p:sp>
      </p:grpSp>
      <p:grpSp>
        <p:nvGrpSpPr>
          <p:cNvPr id="54" name="c2-flow-2"/>
          <p:cNvGrpSpPr/>
          <p:nvPr/>
        </p:nvGrpSpPr>
        <p:grpSpPr>
          <a:xfrm>
            <a:off x="6437948" y="3449955"/>
            <a:ext cx="5031105" cy="1771650"/>
            <a:chOff x="6437948" y="3449955"/>
            <a:chExt cx="5031105" cy="1771650"/>
          </a:xfrm>
        </p:grpSpPr>
        <p:sp>
          <p:nvSpPr>
            <p:cNvPr id="30" name="Freeform 30"/>
            <p:cNvSpPr/>
            <p:nvPr/>
          </p:nvSpPr>
          <p:spPr>
            <a:xfrm>
              <a:off x="7600950" y="4659630"/>
              <a:ext cx="9525" cy="123825"/>
            </a:xfrm>
            <a:custGeom>
              <a:avLst/>
              <a:gdLst/>
              <a:ahLst/>
              <a:cxnLst/>
              <a:rect l="l" t="t" r="r" b="b"/>
              <a:pathLst>
                <a:path w="9525" h="123825">
                  <a:moveTo>
                    <a:pt x="0" y="1238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548562" y="45548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10306050" y="4659630"/>
              <a:ext cx="9525" cy="123825"/>
            </a:xfrm>
            <a:custGeom>
              <a:avLst/>
              <a:gdLst/>
              <a:ahLst/>
              <a:cxnLst/>
              <a:rect l="l" t="t" r="r" b="b"/>
              <a:pathLst>
                <a:path w="9525" h="123825">
                  <a:moveTo>
                    <a:pt x="0" y="1238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0253662" y="45548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7600950" y="3992880"/>
              <a:ext cx="9525" cy="123825"/>
            </a:xfrm>
            <a:custGeom>
              <a:avLst/>
              <a:gdLst/>
              <a:ahLst/>
              <a:cxnLst/>
              <a:rect l="l" t="t" r="r" b="b"/>
              <a:pathLst>
                <a:path w="9525" h="123825">
                  <a:moveTo>
                    <a:pt x="0" y="1238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548562" y="38881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10306050" y="3992880"/>
              <a:ext cx="9525" cy="123825"/>
            </a:xfrm>
            <a:custGeom>
              <a:avLst/>
              <a:gdLst/>
              <a:ahLst/>
              <a:cxnLst/>
              <a:rect l="l" t="t" r="r" b="b"/>
              <a:pathLst>
                <a:path w="9525" h="123825">
                  <a:moveTo>
                    <a:pt x="0" y="1238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10253662" y="38881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8763952" y="4335780"/>
              <a:ext cx="274320" cy="9525"/>
            </a:xfrm>
            <a:custGeom>
              <a:avLst/>
              <a:gdLst/>
              <a:ahLst/>
              <a:cxnLst/>
              <a:rect l="l" t="t" r="r" b="b"/>
              <a:pathLst>
                <a:path w="274320" h="9525">
                  <a:moveTo>
                    <a:pt x="0" y="0"/>
                  </a:moveTo>
                  <a:lnTo>
                    <a:pt x="27432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9038272" y="428339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8763952" y="3669030"/>
              <a:ext cx="274320" cy="9525"/>
            </a:xfrm>
            <a:custGeom>
              <a:avLst/>
              <a:gdLst/>
              <a:ahLst/>
              <a:cxnLst/>
              <a:rect l="l" t="t" r="r" b="b"/>
              <a:pathLst>
                <a:path w="274320" h="9525">
                  <a:moveTo>
                    <a:pt x="0" y="0"/>
                  </a:moveTo>
                  <a:lnTo>
                    <a:pt x="27432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9038272" y="361664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6437948" y="4783455"/>
              <a:ext cx="2326005" cy="438150"/>
            </a:xfrm>
            <a:custGeom>
              <a:avLst/>
              <a:gdLst/>
              <a:ahLst/>
              <a:cxnLst/>
              <a:rect l="l" t="t" r="r" b="b"/>
              <a:pathLst>
                <a:path w="2326005" h="438150">
                  <a:moveTo>
                    <a:pt x="133350" y="0"/>
                  </a:moveTo>
                  <a:lnTo>
                    <a:pt x="2326005" y="0"/>
                  </a:lnTo>
                  <a:lnTo>
                    <a:pt x="2192655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9143048" y="4783455"/>
              <a:ext cx="2326005" cy="438150"/>
            </a:xfrm>
            <a:custGeom>
              <a:avLst/>
              <a:gdLst/>
              <a:ahLst/>
              <a:cxnLst/>
              <a:rect l="l" t="t" r="r" b="b"/>
              <a:pathLst>
                <a:path w="2326005" h="438150">
                  <a:moveTo>
                    <a:pt x="133350" y="0"/>
                  </a:moveTo>
                  <a:lnTo>
                    <a:pt x="2326005" y="0"/>
                  </a:lnTo>
                  <a:lnTo>
                    <a:pt x="2192655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37948" y="4116705"/>
              <a:ext cx="232600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9143048" y="4116705"/>
              <a:ext cx="232600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37948" y="3449955"/>
              <a:ext cx="2326005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9143048" y="3449955"/>
              <a:ext cx="2326005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499701" y="491347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204801" y="491347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44131" y="4246721"/>
              <a:ext cx="5136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H₁⁽¹⁾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049231" y="4246721"/>
              <a:ext cx="5136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H₂⁽¹⁾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44131" y="3579971"/>
              <a:ext cx="5136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H₁⁽²⁾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049231" y="3579971"/>
              <a:ext cx="5136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H₂⁽²⁾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5" name="Rectangle 5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130" y="5991225"/>
              <a:ext cx="75628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双向 RNN 要等整句读完才能输出，不能用在实时语音这类必须边读边出结果的场合。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87933" cy="909257"/>
            <a:chOff x="520446" y="342900"/>
            <a:chExt cx="488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46" y="407194"/>
              <a:ext cx="2765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常用网络模型 · 循环神经网络 RNN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8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RNN 的短板：长程依赖传不过去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bullets-1"/>
          <p:cNvGrpSpPr/>
          <p:nvPr/>
        </p:nvGrpSpPr>
        <p:grpSpPr>
          <a:xfrm>
            <a:off x="526161" y="1547336"/>
            <a:ext cx="3944658" cy="1275970"/>
            <a:chOff x="526161" y="1547336"/>
            <a:chExt cx="3944658" cy="1275970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原课件列的三条问题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533400" y="1873568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1745" y="191390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4293" y="1886426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有短期记忆问题，无法处理很长的输入序列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3400" y="2203132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1745" y="224347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4293" y="2215039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训练需要投入极大的成本，时间上无法并行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2532698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91745" y="257208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4293" y="2544604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存在梯度消失和梯度爆炸的问题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formula30"/>
              <p:cNvSpPr txBox="1">
                <a:spLocks noGrp="1"/>
              </p:cNvSpPr>
              <p:nvPr/>
            </p:nvSpPr>
            <p:spPr>
              <a:xfrm>
                <a:off x="533400" y="2952750"/>
                <a:ext cx="5626418" cy="6334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diag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​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f'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⋅</m:t>
                                  </m:r>
                                </m:e>
                              </m:d>
                            </m:e>
                          </m:d>
                          <m:s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⊤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24" name="c1-card-3"/>
          <p:cNvGrpSpPr/>
          <p:nvPr/>
        </p:nvGrpSpPr>
        <p:grpSpPr>
          <a:xfrm>
            <a:off x="533400" y="3770948"/>
            <a:ext cx="5626418" cy="1564958"/>
            <a:chOff x="533400" y="3770948"/>
            <a:chExt cx="5626418" cy="1564958"/>
          </a:xfrm>
        </p:grpSpPr>
        <p:sp>
          <p:nvSpPr>
            <p:cNvPr id="19" name="Rectangle 19"/>
            <p:cNvSpPr/>
            <p:nvPr/>
          </p:nvSpPr>
          <p:spPr>
            <a:xfrm>
              <a:off x="533400" y="3770948"/>
              <a:ext cx="5626418" cy="1564958"/>
            </a:xfrm>
            <a:prstGeom prst="roundRect">
              <a:avLst>
                <a:gd name="adj" fmla="val 8521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37235" y="397478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7443" y="40105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原因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38644" y="4015264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连乘让梯度要么没了要么炸了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9996" y="4366736"/>
              <a:ext cx="500087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误差从第 t 步传回第 k 步，要连乘 t−k 个同样的矩阵 W。W 的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最大奇异值小于 1 时，乘积按指数衰减到 0，前面的词学不到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东西；大于 1 时按指数放大，参数更新直接溢出。</a:t>
              </a:r>
            </a:p>
          </p:txBody>
        </p:sp>
      </p:grpSp>
      <p:grpSp>
        <p:nvGrpSpPr>
          <p:cNvPr id="42" name="c2-table-1"/>
          <p:cNvGrpSpPr/>
          <p:nvPr/>
        </p:nvGrpSpPr>
        <p:grpSpPr>
          <a:xfrm>
            <a:off x="6464618" y="1524000"/>
            <a:ext cx="5193982" cy="1717358"/>
            <a:chOff x="6464618" y="1524000"/>
            <a:chExt cx="5193982" cy="1717358"/>
          </a:xfrm>
        </p:grpSpPr>
        <p:sp>
          <p:nvSpPr>
            <p:cNvPr id="25" name="Rectangle 25"/>
            <p:cNvSpPr/>
            <p:nvPr/>
          </p:nvSpPr>
          <p:spPr>
            <a:xfrm>
              <a:off x="6464618" y="1524000"/>
              <a:ext cx="5193982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7230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8202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42626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常用对策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69964" y="219170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梯度消失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20609" y="2085022"/>
              <a:ext cx="1536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训练能跑但学不到远处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的依赖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694545" y="1964055"/>
              <a:ext cx="1954530" cy="6248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790366" y="2191702"/>
              <a:ext cx="1723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换门控结构 LSTM、GRU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64618" y="259270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64618" y="2597468"/>
              <a:ext cx="5193982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69964" y="283559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梯度爆炸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20609" y="2835592"/>
              <a:ext cx="1308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损失突然变成 NaN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694545" y="2606992"/>
              <a:ext cx="1954530" cy="6248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790366" y="2728912"/>
              <a:ext cx="1536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梯度裁剪，设一个范数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上限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64618" y="1524000"/>
              <a:ext cx="5193982" cy="17173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810500" y="1524000"/>
              <a:ext cx="9525" cy="17173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9680258" y="1524000"/>
              <a:ext cx="9525" cy="17173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2-card-2"/>
          <p:cNvGrpSpPr/>
          <p:nvPr/>
        </p:nvGrpSpPr>
        <p:grpSpPr>
          <a:xfrm>
            <a:off x="6464618" y="3426142"/>
            <a:ext cx="5193982" cy="1909762"/>
            <a:chOff x="6464618" y="3426142"/>
            <a:chExt cx="5193982" cy="1909762"/>
          </a:xfrm>
        </p:grpSpPr>
        <p:sp>
          <p:nvSpPr>
            <p:cNvPr id="43" name="Rectangle 43"/>
            <p:cNvSpPr/>
            <p:nvPr/>
          </p:nvSpPr>
          <p:spPr>
            <a:xfrm>
              <a:off x="6464618" y="3426142"/>
              <a:ext cx="5193982" cy="1909762"/>
            </a:xfrm>
            <a:prstGeom prst="roundRect">
              <a:avLst>
                <a:gd name="adj" fmla="val 69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74142" y="3559492"/>
              <a:ext cx="47625" cy="16430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706552" y="3629978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01663" y="366569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66038" y="3670459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一句话里隔了很远的呼应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99314" y="4021931"/>
              <a:ext cx="447789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“我从小在法国长大，……（中间几十个词）……所以我说一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口流利的____。”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99314" y="4613434"/>
              <a:ext cx="442379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要填“法语”，必须把开头的“法国”带过来。普通 RNN 隔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了几十步以后，开头那份信息已经被反复覆盖掉了。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1" name="Rectangle 51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511" y="6004084"/>
              <a:ext cx="6294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梯度裁剪只治爆炸，治不了消失。消失要靠改结构，也就是下面的 LSTM。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02595" cy="909257"/>
            <a:chOff x="520446" y="342900"/>
            <a:chExt cx="54025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46" y="407194"/>
              <a:ext cx="2765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常用网络模型 · 循环神经网络 RNN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025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LSTM：用三个门管住一条细胞状态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492194" cy="264033"/>
            <a:chOff x="526542" y="1545907"/>
            <a:chExt cx="749219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4921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细胞状态 c 沿着顶上那条线平直地走，三个门决定每一步往里加什么、丢什么、放出去多少。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67"/>
              <p:cNvSpPr txBox="1">
                <a:spLocks noGrp="1"/>
              </p:cNvSpPr>
              <p:nvPr/>
            </p:nvSpPr>
            <p:spPr>
              <a:xfrm>
                <a:off x="533400" y="1928812"/>
                <a:ext cx="584263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σ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​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if</m:t>
                              </m:r>
                            </m:sub>
                          </m:sSub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if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hf</m:t>
                              </m:r>
                            </m:sub>
                          </m:sSub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hf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68"/>
              <p:cNvSpPr txBox="1">
                <a:spLocks noGrp="1"/>
              </p:cNvSpPr>
              <p:nvPr/>
            </p:nvSpPr>
            <p:spPr>
              <a:xfrm>
                <a:off x="533400" y="2398395"/>
                <a:ext cx="584263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σ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​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ii</m:t>
                              </m:r>
                            </m:sub>
                          </m:sSub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hi</m:t>
                              </m:r>
                            </m:sub>
                          </m:sSub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hi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formula69"/>
              <p:cNvSpPr txBox="1">
                <a:spLocks noGrp="1"/>
              </p:cNvSpPr>
              <p:nvPr/>
            </p:nvSpPr>
            <p:spPr>
              <a:xfrm>
                <a:off x="533400" y="2867978"/>
                <a:ext cx="584263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tanh</m:t>
                          </m:r>
                        </m:fName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​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W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ig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ig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W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hg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hg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formula70"/>
              <p:cNvSpPr txBox="1">
                <a:spLocks noGrp="1"/>
              </p:cNvSpPr>
              <p:nvPr/>
            </p:nvSpPr>
            <p:spPr>
              <a:xfrm>
                <a:off x="533400" y="3337560"/>
                <a:ext cx="584263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o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σ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​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io</m:t>
                              </m:r>
                            </m:sub>
                          </m:sSub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io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ho</m:t>
                              </m:r>
                            </m:sub>
                          </m:sSub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ho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formula71"/>
              <p:cNvSpPr txBox="1">
                <a:spLocks noGrp="1"/>
              </p:cNvSpPr>
              <p:nvPr/>
            </p:nvSpPr>
            <p:spPr>
              <a:xfrm>
                <a:off x="533400" y="3807142"/>
                <a:ext cx="584263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⊙</m:t>
                      </m:r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⊙</m:t>
                      </m:r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o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⊙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tanh</m:t>
                          </m:r>
                        </m:fName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19" name="c1-card-6"/>
          <p:cNvGrpSpPr/>
          <p:nvPr/>
        </p:nvGrpSpPr>
        <p:grpSpPr>
          <a:xfrm>
            <a:off x="533400" y="4276725"/>
            <a:ext cx="5842635" cy="1403032"/>
            <a:chOff x="533400" y="4276725"/>
            <a:chExt cx="5842635" cy="1403032"/>
          </a:xfrm>
        </p:grpSpPr>
        <p:sp>
          <p:nvSpPr>
            <p:cNvPr id="14" name="Rectangle 14"/>
            <p:cNvSpPr/>
            <p:nvPr/>
          </p:nvSpPr>
          <p:spPr>
            <a:xfrm>
              <a:off x="533400" y="4276725"/>
              <a:ext cx="5842635" cy="1403032"/>
            </a:xfrm>
            <a:prstGeom prst="roundRect">
              <a:avLst>
                <a:gd name="adj" fmla="val 950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14375" y="4457700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91794" y="4490561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怎么读这五行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78508" y="449722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前四行是同一个模板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813459"/>
              <a:ext cx="524901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四个门控量的式子结构完全一样：本步输入 xₜ 乘一个权，上一步的隐状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态 hₜ₋₁ 乘另一个权，加偏置后过激活函数。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只有候选内容 gₜ 用 tanh，</a:t>
              </a:r>
              <a:br/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其余三个都用 σ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。真正改变记忆的只有最后一行。</a:t>
              </a:r>
            </a:p>
          </p:txBody>
        </p:sp>
      </p:grpSp>
      <p:grpSp>
        <p:nvGrpSpPr>
          <p:cNvPr id="40" name="c2-table-1"/>
          <p:cNvGrpSpPr/>
          <p:nvPr/>
        </p:nvGrpSpPr>
        <p:grpSpPr>
          <a:xfrm>
            <a:off x="6680835" y="1928812"/>
            <a:ext cx="4977765" cy="1525905"/>
            <a:chOff x="6680835" y="1928812"/>
            <a:chExt cx="4977765" cy="1525905"/>
          </a:xfrm>
        </p:grpSpPr>
        <p:sp>
          <p:nvSpPr>
            <p:cNvPr id="20" name="Rectangle 20"/>
            <p:cNvSpPr/>
            <p:nvPr/>
          </p:nvSpPr>
          <p:spPr>
            <a:xfrm>
              <a:off x="6680835" y="1928812"/>
              <a:ext cx="4977765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152513" y="204597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27670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记号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756839" y="204597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它控制什么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690360" y="2319338"/>
              <a:ext cx="107632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75514" y="24269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遗忘门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70888" y="242697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67178" y="2426970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上一步的细胞状态保留多少比例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680835" y="268700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680835" y="2691765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75514" y="2808923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70888" y="2808923"/>
              <a:ext cx="1308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667178" y="2808923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本步的候选内容写进去多少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680835" y="306800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75514" y="3189923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70888" y="3189923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67178" y="3189923"/>
              <a:ext cx="1904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细胞状态放出多少给隐状态 hₜ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680835" y="1928812"/>
              <a:ext cx="4977765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771448" y="192881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8567738" y="192881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c2-image-2"/>
          <p:cNvGrpSpPr/>
          <p:nvPr/>
        </p:nvGrpSpPr>
        <p:grpSpPr>
          <a:xfrm>
            <a:off x="7977416" y="3618548"/>
            <a:ext cx="2384603" cy="1821846"/>
            <a:chOff x="7977416" y="3618548"/>
            <a:chExt cx="2384603" cy="1821846"/>
          </a:xfrm>
        </p:grpSpPr>
        <p:pic>
          <p:nvPicPr>
            <p:cNvPr id="41" name="Image 41"/>
            <p:cNvPicPr>
              <a:picLocks noChangeAspect="1"/>
            </p:cNvPicPr>
            <p:nvPr/>
          </p:nvPicPr>
          <p:blipFill>
            <a:blip r:embed="rId2"/>
            <a:srcRect l="8" t="0" r="7" b="0"/>
            <a:stretch>
              <a:fillRect/>
            </a:stretch>
          </p:blipFill>
          <p:spPr>
            <a:xfrm>
              <a:off x="8144828" y="3618548"/>
              <a:ext cx="2050732" cy="1538288"/>
            </a:xfrm>
            <a:prstGeom prst="roundRect">
              <a:avLst>
                <a:gd name="adj" fmla="val 8668"/>
              </a:avLst>
            </a:prstGeom>
          </p:spPr>
        </p:pic>
        <p:sp>
          <p:nvSpPr>
            <p:cNvPr id="42" name="TextBox 42"/>
            <p:cNvSpPr txBox="1"/>
            <p:nvPr/>
          </p:nvSpPr>
          <p:spPr>
            <a:xfrm>
              <a:off x="7977416" y="5249704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传送带一直往前走，三道闸门各管一件事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4" name="Rectangle 4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1273" y="6039326"/>
              <a:ext cx="94729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是 sigmoid，取值落在 0 到 1 之间，正好模拟门的开与关；⊙ 是逐元素相乘。候选内容 gₜ 用 tanh，取值在 −1 到 1 之间。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0288" cy="909257"/>
            <a:chOff x="520446" y="342900"/>
            <a:chExt cx="483028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46" y="407194"/>
              <a:ext cx="2765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常用网络模型 · 循环神经网络 RNN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028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LSTM 为什么能把梯度带得更远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406842"/>
            <a:chOff x="533400" y="1524000"/>
            <a:chExt cx="5410200" cy="14068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06842"/>
            </a:xfrm>
            <a:prstGeom prst="roundRect">
              <a:avLst>
                <a:gd name="adj" fmla="val 9479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4375" y="1704975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91794" y="173783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关键在这一行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78508" y="174450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细胞状态是加法更新的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7898" y="2061686"/>
              <a:ext cx="47515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cₜ = fₜ ⊙ cₜ₋₁ + iₜ ⊙ gₜ，对 cₜ₋₁ 求偏导只得到 fₜ。误差沿细胞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状态传回去，连乘的是一串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遗忘门的取值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，而不是一串权值矩阵。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9041" y="2585085"/>
              <a:ext cx="51749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遗忘门接近 1 时，梯度几乎原样传回；普通 RNN 的 Wᵀ 连乘没有这种可调的通路。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79"/>
              <p:cNvSpPr txBox="1">
                <a:spLocks noGrp="1"/>
              </p:cNvSpPr>
              <p:nvPr/>
            </p:nvSpPr>
            <p:spPr>
              <a:xfrm>
                <a:off x="533400" y="3095625"/>
                <a:ext cx="5410200" cy="534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  <m:e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21" name="c1-card-3"/>
          <p:cNvGrpSpPr/>
          <p:nvPr/>
        </p:nvGrpSpPr>
        <p:grpSpPr>
          <a:xfrm>
            <a:off x="533400" y="3794760"/>
            <a:ext cx="5410200" cy="1403032"/>
            <a:chOff x="533400" y="3794760"/>
            <a:chExt cx="5410200" cy="1403032"/>
          </a:xfrm>
        </p:grpSpPr>
        <p:sp>
          <p:nvSpPr>
            <p:cNvPr id="15" name="Rectangle 15"/>
            <p:cNvSpPr/>
            <p:nvPr/>
          </p:nvSpPr>
          <p:spPr>
            <a:xfrm>
              <a:off x="533400" y="3794760"/>
              <a:ext cx="5410200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928110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52475" y="397573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8246" y="400859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94625" y="4015264"/>
              <a:ext cx="14539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 100 步的序列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5998" y="4331494"/>
              <a:ext cx="475157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遗忘门稳定在 0.9 时，梯度从第 100 步传回第 1 步还剩 0.9⁹⁹ 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3×10⁻⁵，仍在可用的量级。普通 RNN 除了连乘 Wᵀ，每一步还要再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乘一次激活函数的导数，衰减快得多。</a:t>
              </a:r>
            </a:p>
          </p:txBody>
        </p:sp>
      </p:grpSp>
      <p:grpSp>
        <p:nvGrpSpPr>
          <p:cNvPr id="39" name="c2-table-1"/>
          <p:cNvGrpSpPr/>
          <p:nvPr/>
        </p:nvGrpSpPr>
        <p:grpSpPr>
          <a:xfrm>
            <a:off x="6248400" y="1524000"/>
            <a:ext cx="5410200" cy="1143952"/>
            <a:chOff x="6248400" y="1524000"/>
            <a:chExt cx="5410200" cy="1143952"/>
          </a:xfrm>
        </p:grpSpPr>
        <p:sp>
          <p:nvSpPr>
            <p:cNvPr id="22" name="Rectangle 22"/>
            <p:cNvSpPr/>
            <p:nvPr/>
          </p:nvSpPr>
          <p:spPr>
            <a:xfrm>
              <a:off x="6248400" y="1524000"/>
              <a:ext cx="5410200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69702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结构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99311" y="1641157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状态怎么更新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450449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长程梯度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43079" y="2023110"/>
              <a:ext cx="5991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普通 RNN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33704" y="2023110"/>
              <a:ext cx="22209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Sₜ = f(U xₜ + W Sₜ₋₁)，整份覆盖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828848" y="1914525"/>
              <a:ext cx="1820228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914001" y="2023110"/>
              <a:ext cx="12390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连乘 Wᵀ，指数衰减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48400" y="2282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48400" y="228695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43079" y="2404110"/>
              <a:ext cx="3870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LSTM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33704" y="2404110"/>
              <a:ext cx="20955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cₜ = fₜ⊙cₜ₋₁ + iₜ⊙gₜ，加法累积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828848" y="2296478"/>
              <a:ext cx="1820228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914001" y="2404110"/>
              <a:ext cx="13181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连乘 fₜ，可以接近 1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248400" y="1524000"/>
              <a:ext cx="5410200" cy="1143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434262" y="1524000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9814560" y="1524000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2-card-2"/>
          <p:cNvGrpSpPr/>
          <p:nvPr/>
        </p:nvGrpSpPr>
        <p:grpSpPr>
          <a:xfrm>
            <a:off x="6248400" y="2832735"/>
            <a:ext cx="5410200" cy="2365058"/>
            <a:chOff x="6248400" y="2832735"/>
            <a:chExt cx="5410200" cy="2365058"/>
          </a:xfrm>
        </p:grpSpPr>
        <p:sp>
          <p:nvSpPr>
            <p:cNvPr id="40" name="Rectangle 40"/>
            <p:cNvSpPr/>
            <p:nvPr/>
          </p:nvSpPr>
          <p:spPr>
            <a:xfrm>
              <a:off x="6248400" y="2832735"/>
              <a:ext cx="5410200" cy="2365058"/>
            </a:xfrm>
            <a:prstGeom prst="roundRect">
              <a:avLst>
                <a:gd name="adj" fmla="val 56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57925" y="2966085"/>
              <a:ext cx="47625" cy="209835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67475" y="301371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52044" y="304657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工程经验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83006" y="305323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遗忘门的偏置初始化成正数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60998" y="3370421"/>
              <a:ext cx="48166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把遗忘门的偏置初始化成 1 或 2，训练一开始 fₜ 就接近 1，细胞状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态默认“基本不忘”，模型更容易学到长程依赖。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7" name="Rectangle 4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1273" y="6039326"/>
              <a:ext cx="75693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LSTM 只是把梯度消失推远了，不是彻底消除。序列长到几百上千步时仍然需要注意力那一套办法。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743836" cy="909257"/>
            <a:chOff x="520446" y="342900"/>
            <a:chExt cx="374383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46" y="407194"/>
              <a:ext cx="2765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常用网络模型 · 循环神经网络 RNN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74383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GRU：把三个门砍成两个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86"/>
              <p:cNvSpPr txBox="1">
                <a:spLocks noGrp="1"/>
              </p:cNvSpPr>
              <p:nvPr/>
            </p:nvSpPr>
            <p:spPr>
              <a:xfrm>
                <a:off x="533400" y="1524000"/>
                <a:ext cx="5626418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σ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​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⋅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  <m:sSub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σ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​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⋅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  <m:sSub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ula87"/>
              <p:cNvSpPr txBox="1">
                <a:spLocks noGrp="1"/>
              </p:cNvSpPr>
              <p:nvPr/>
            </p:nvSpPr>
            <p:spPr>
              <a:xfrm>
                <a:off x="533400" y="2052638"/>
                <a:ext cx="5626418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acc>
                            <m:accPr>
                              <m:chr m:val="˜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tanh</m:t>
                          </m:r>
                        </m:fName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​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W</m:t>
                                  </m:r>
                                </m:e>
                                <m:sub>
                                  <m:acc>
                                    <m:accPr>
                                      <m:chr m:val="˜"/>
                                      <m:ctrl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h</m:t>
                                      </m:r>
                                    </m:e>
                                  </m:acc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⋅</m:t>
                              </m:r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r</m:t>
                                      </m:r>
                                    </m:e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t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*</m:t>
                                  </m:r>
                                  <m:sSub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t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 xml:space="preserve"> </m:t>
                                  </m:r>
                                  <m:sSub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t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88"/>
              <p:cNvSpPr txBox="1">
                <a:spLocks noGrp="1"/>
              </p:cNvSpPr>
              <p:nvPr/>
            </p:nvSpPr>
            <p:spPr>
              <a:xfrm>
                <a:off x="533400" y="2599372"/>
                <a:ext cx="5626418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*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*</m:t>
                      </m:r>
                      <m:sSub>
                        <m:e>
                          <m:acc>
                            <m:accPr>
                              <m:chr m:val="˜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15" name="c1-kv-4"/>
          <p:cNvGrpSpPr/>
          <p:nvPr/>
        </p:nvGrpSpPr>
        <p:grpSpPr>
          <a:xfrm>
            <a:off x="526161" y="3189446"/>
            <a:ext cx="5633657" cy="700660"/>
            <a:chOff x="526161" y="3189446"/>
            <a:chExt cx="5633657" cy="700660"/>
          </a:xfrm>
        </p:grpSpPr>
        <p:sp>
          <p:nvSpPr>
            <p:cNvPr id="10" name="TextBox 10"/>
            <p:cNvSpPr txBox="1"/>
            <p:nvPr/>
          </p:nvSpPr>
          <p:spPr>
            <a:xfrm>
              <a:off x="526161" y="3189446"/>
              <a:ext cx="7585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重置门 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5331" y="3189446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算候选隐状态时，旧隐状态放进来多少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349472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161" y="3611404"/>
              <a:ext cx="7585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更新门 z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05331" y="3611404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新旧隐状态的混合比例，一个数同时管住遗忘与写入</a:t>
              </a:r>
            </a:p>
          </p:txBody>
        </p:sp>
      </p:grpSp>
      <p:grpSp>
        <p:nvGrpSpPr>
          <p:cNvPr id="25" name="c1-card-5"/>
          <p:cNvGrpSpPr/>
          <p:nvPr/>
        </p:nvGrpSpPr>
        <p:grpSpPr>
          <a:xfrm>
            <a:off x="533400" y="4019550"/>
            <a:ext cx="5626418" cy="1613535"/>
            <a:chOff x="533400" y="4019550"/>
            <a:chExt cx="5626418" cy="1613535"/>
          </a:xfrm>
        </p:grpSpPr>
        <p:sp>
          <p:nvSpPr>
            <p:cNvPr id="16" name="Rectangle 16"/>
            <p:cNvSpPr/>
            <p:nvPr/>
          </p:nvSpPr>
          <p:spPr>
            <a:xfrm>
              <a:off x="533400" y="4019550"/>
              <a:ext cx="5626418" cy="1613535"/>
            </a:xfrm>
            <a:prstGeom prst="roundRect">
              <a:avLst>
                <a:gd name="adj" fmla="val 82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4152900"/>
              <a:ext cx="47625" cy="134683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75335" y="422338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7644" y="425910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两个特例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60588" y="4262914"/>
              <a:ext cx="25583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 取 0 和取 1 时分别发生什么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2955" y="467487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39546" y="4614386"/>
              <a:ext cx="464921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 = 0：hₜ = hₜ₋₁，本步的输入被完全忽略，隐状态原样传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下去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82955" y="526637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39546" y="5205889"/>
              <a:ext cx="46501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 = 1：隐状态完全换成新算出的候选值，旧状态被丢掉</a:t>
              </a:r>
            </a:p>
          </p:txBody>
        </p:sp>
      </p:grpSp>
      <p:grpSp>
        <p:nvGrpSpPr>
          <p:cNvPr id="50" name="c2-compare-1"/>
          <p:cNvGrpSpPr/>
          <p:nvPr/>
        </p:nvGrpSpPr>
        <p:grpSpPr>
          <a:xfrm>
            <a:off x="6464618" y="1524000"/>
            <a:ext cx="5193982" cy="2767012"/>
            <a:chOff x="6464618" y="1524000"/>
            <a:chExt cx="5193982" cy="2767012"/>
          </a:xfrm>
        </p:grpSpPr>
        <p:sp>
          <p:nvSpPr>
            <p:cNvPr id="26" name="Rectangle 26"/>
            <p:cNvSpPr/>
            <p:nvPr/>
          </p:nvSpPr>
          <p:spPr>
            <a:xfrm>
              <a:off x="6464618" y="1524000"/>
              <a:ext cx="2348865" cy="2767012"/>
            </a:xfrm>
            <a:prstGeom prst="roundRect">
              <a:avLst>
                <a:gd name="adj" fmla="val 56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74142" y="1657350"/>
              <a:ext cx="47625" cy="250031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99314" y="1751171"/>
              <a:ext cx="5234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LSTM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714172" y="214979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70764" y="2090261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三个门，另有细胞状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态 c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714172" y="274129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70764" y="2681764"/>
              <a:ext cx="13812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每步 4 组权矩阵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714172" y="306133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70764" y="3001804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参数多，长序列上通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常略好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714172" y="365283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70764" y="359330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遗忘与写入互相独立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309735" y="1524000"/>
              <a:ext cx="2348865" cy="2767012"/>
            </a:xfrm>
            <a:prstGeom prst="roundRect">
              <a:avLst>
                <a:gd name="adj" fmla="val 56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9319260" y="1657350"/>
              <a:ext cx="47625" cy="25003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544431" y="1751171"/>
              <a:ext cx="3644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GRU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9559290" y="214979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715881" y="2090261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两个门，只有隐状态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9559290" y="274129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715881" y="2681764"/>
              <a:ext cx="13812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每步 3 组权矩阵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9559290" y="306133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715881" y="3001804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参数少约四分之一，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训练更快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9559290" y="365283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715881" y="3593306"/>
              <a:ext cx="166458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遗忘与写入被 z 绑在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一起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8862060" y="2707005"/>
              <a:ext cx="400050" cy="4000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915400" y="284226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</p:grpSp>
      <p:grpSp>
        <p:nvGrpSpPr>
          <p:cNvPr id="57" name="c2-callout-2"/>
          <p:cNvGrpSpPr/>
          <p:nvPr/>
        </p:nvGrpSpPr>
        <p:grpSpPr>
          <a:xfrm>
            <a:off x="6464618" y="4475798"/>
            <a:ext cx="5193982" cy="1156335"/>
            <a:chOff x="6464618" y="4475798"/>
            <a:chExt cx="5193982" cy="1156335"/>
          </a:xfrm>
        </p:grpSpPr>
        <p:sp>
          <p:nvSpPr>
            <p:cNvPr id="51" name="Rectangle 51"/>
            <p:cNvSpPr/>
            <p:nvPr/>
          </p:nvSpPr>
          <p:spPr>
            <a:xfrm>
              <a:off x="6464618" y="4475798"/>
              <a:ext cx="5193982" cy="1156335"/>
            </a:xfrm>
            <a:prstGeom prst="roundRect">
              <a:avLst>
                <a:gd name="adj" fmla="val 988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669405" y="4953953"/>
              <a:ext cx="200026" cy="200025"/>
              <a:chOff x="6669405" y="4953953"/>
              <a:chExt cx="200026" cy="200025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669405" y="495395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709144" y="499840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743859" y="510952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971729" y="4823936"/>
              <a:ext cx="415328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数据量不大或者要求推理快的场合先试 GRU，效果不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够再换 LSTM。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8" name="Rectangle 58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511" y="6004084"/>
              <a:ext cx="95266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GRU 的 hₜ 是旧值与候选值的凸组合，z 越接近 0 越倾向保留旧状态，所以它同时起到了遗忘门和输入门的作用。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882896" cy="3351847"/>
            <a:chOff x="667512" y="1835468"/>
            <a:chExt cx="488289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注意力机制与自注意力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每一步重新决定该看输入的哪几个位置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825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Seq2Seq 的定长向量瓶颈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对齐分数与上下文向量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自注意力的四步计算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9504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多头与 Transformer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常用网络模型 · 注意力机制与自注意力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注意力：有选择地只看一部分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621155"/>
            <a:chOff x="533400" y="1524000"/>
            <a:chExt cx="5410200" cy="16211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出发点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24000" y="176879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心理学里的注意力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注意力是一种有选择地专注于一件或几件事情、而忽略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其他事情的认知过程。看一张照片找小狗时，人并不会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逐像素扫描整张图。</a:t>
              </a:r>
            </a:p>
          </p:txBody>
        </p:sp>
      </p:grpSp>
      <p:grpSp>
        <p:nvGrpSpPr>
          <p:cNvPr id="25" name="c1-bullets-2"/>
          <p:cNvGrpSpPr/>
          <p:nvPr/>
        </p:nvGrpSpPr>
        <p:grpSpPr>
          <a:xfrm>
            <a:off x="525780" y="3360420"/>
            <a:ext cx="4507560" cy="2026920"/>
            <a:chOff x="525780" y="3360420"/>
            <a:chExt cx="4507560" cy="2026920"/>
          </a:xfrm>
        </p:grpSpPr>
        <p:sp>
          <p:nvSpPr>
            <p:cNvPr id="14" name="TextBox 14"/>
            <p:cNvSpPr txBox="1"/>
            <p:nvPr/>
          </p:nvSpPr>
          <p:spPr>
            <a:xfrm>
              <a:off x="525780" y="336042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放进模型里带来什么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533400" y="3746182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83908" y="371475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为增强处理和集成，选择并集中信息子集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533400" y="4090988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83908" y="405955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更好的信噪比，避免被无关目标分散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533400" y="4435792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3908" y="440436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可以提高归纳能力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533400" y="4780598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3908" y="474916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给出可解释性，注意力权重能画成热力图看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533400" y="5125402"/>
              <a:ext cx="143827" cy="117157"/>
            </a:xfrm>
            <a:custGeom>
              <a:avLst/>
              <a:gdLst/>
              <a:ahLst/>
              <a:cxnLst/>
              <a:rect l="l" t="t" r="r" b="b"/>
              <a:pathLst>
                <a:path w="143827" h="117157">
                  <a:moveTo>
                    <a:pt x="0" y="61912"/>
                  </a:moveTo>
                  <a:lnTo>
                    <a:pt x="55245" y="117157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83908" y="5093970"/>
              <a:ext cx="42494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Transformer、BERT、GPT 一系模型的基础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248400" y="1524000"/>
            <a:ext cx="5410200" cy="1906905"/>
            <a:chOff x="6248400" y="1524000"/>
            <a:chExt cx="5410200" cy="1906905"/>
          </a:xfrm>
        </p:grpSpPr>
        <p:sp>
          <p:nvSpPr>
            <p:cNvPr id="26" name="Rectangle 26"/>
            <p:cNvSpPr/>
            <p:nvPr/>
          </p:nvSpPr>
          <p:spPr>
            <a:xfrm>
              <a:off x="6248400" y="1524000"/>
              <a:ext cx="5410200" cy="1906905"/>
            </a:xfrm>
            <a:prstGeom prst="roundRect">
              <a:avLst>
                <a:gd name="adj" fmla="val 69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57925" y="1657350"/>
              <a:ext cx="47625" cy="16402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96050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91160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54202" y="1768792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评论里哪几个词决定了评分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88430" y="2129790"/>
              <a:ext cx="45872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对一条酒店评论做情感分析时，把注意力权重按词画成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热力图，会发现模型集中在 clean、excellent、cheap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这类词上，而不是均匀地看整条评论。这张图可以直接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拿来解释模型为什么这样判。</a:t>
              </a:r>
            </a:p>
          </p:txBody>
        </p:sp>
      </p:grpSp>
      <p:grpSp>
        <p:nvGrpSpPr>
          <p:cNvPr id="38" name="c2-callout-2"/>
          <p:cNvGrpSpPr/>
          <p:nvPr/>
        </p:nvGrpSpPr>
        <p:grpSpPr>
          <a:xfrm>
            <a:off x="6248400" y="3621405"/>
            <a:ext cx="5410200" cy="1706880"/>
            <a:chOff x="6248400" y="3621405"/>
            <a:chExt cx="5410200" cy="1706880"/>
          </a:xfrm>
        </p:grpSpPr>
        <p:sp>
          <p:nvSpPr>
            <p:cNvPr id="33" name="Rectangle 33"/>
            <p:cNvSpPr/>
            <p:nvPr/>
          </p:nvSpPr>
          <p:spPr>
            <a:xfrm>
              <a:off x="6248400" y="3621405"/>
              <a:ext cx="5410200" cy="1706880"/>
            </a:xfrm>
            <a:prstGeom prst="roundRect">
              <a:avLst>
                <a:gd name="adj" fmla="val 6696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453188" y="4374835"/>
              <a:ext cx="200023" cy="200023"/>
              <a:chOff x="6453188" y="4374835"/>
              <a:chExt cx="200023" cy="200023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453188" y="437483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586538" y="44415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6755130" y="4231958"/>
              <a:ext cx="45015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注意力本身不是一种网络，而是一种“按相关程度加权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求和”的计算方式，可以插在各种结构里。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9" name="Rectangle 3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130" y="5991225"/>
              <a:ext cx="61954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后面三页先看它怎样补救 Seq2Seq，再看去掉 RNN 之后的自注意力。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99193" cy="909257"/>
            <a:chOff x="520446" y="342900"/>
            <a:chExt cx="669919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常用网络模型 · 注意力机制与自注意力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9919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Seq2Seq 的瓶颈：一个定长向量装不下长句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flow-1"/>
          <p:cNvGrpSpPr/>
          <p:nvPr/>
        </p:nvGrpSpPr>
        <p:grpSpPr>
          <a:xfrm>
            <a:off x="666750" y="1990725"/>
            <a:ext cx="5143500" cy="1066800"/>
            <a:chOff x="666750" y="1990725"/>
            <a:chExt cx="5143500" cy="1066800"/>
          </a:xfrm>
        </p:grpSpPr>
        <p:sp>
          <p:nvSpPr>
            <p:cNvPr id="7" name="Freeform 7"/>
            <p:cNvSpPr/>
            <p:nvPr/>
          </p:nvSpPr>
          <p:spPr>
            <a:xfrm>
              <a:off x="1482090" y="252412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644015" y="24717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564130" y="252412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726055" y="24717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646170" y="252412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808095" y="24717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728210" y="252412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890135" y="24717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666750" y="2209800"/>
              <a:ext cx="815340" cy="628650"/>
            </a:xfrm>
            <a:custGeom>
              <a:avLst/>
              <a:gdLst/>
              <a:ahLst/>
              <a:cxnLst/>
              <a:rect l="l" t="t" r="r" b="b"/>
              <a:pathLst>
                <a:path w="815340" h="628650">
                  <a:moveTo>
                    <a:pt x="133350" y="0"/>
                  </a:moveTo>
                  <a:lnTo>
                    <a:pt x="815340" y="0"/>
                  </a:lnTo>
                  <a:lnTo>
                    <a:pt x="681990" y="628650"/>
                  </a:lnTo>
                  <a:lnTo>
                    <a:pt x="0" y="628650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748790" y="2100262"/>
              <a:ext cx="815340" cy="847725"/>
            </a:xfrm>
            <a:prstGeom prst="roundRect">
              <a:avLst>
                <a:gd name="adj" fmla="val 11682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830830" y="1990725"/>
              <a:ext cx="815340" cy="1066800"/>
            </a:xfrm>
            <a:prstGeom prst="roundRect">
              <a:avLst>
                <a:gd name="adj" fmla="val 9346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3912870" y="2100262"/>
              <a:ext cx="815340" cy="847725"/>
            </a:xfrm>
            <a:prstGeom prst="roundRect">
              <a:avLst>
                <a:gd name="adj" fmla="val 11682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994910" y="2209800"/>
              <a:ext cx="815340" cy="629602"/>
            </a:xfrm>
            <a:prstGeom prst="roundRect">
              <a:avLst>
                <a:gd name="adj" fmla="val 4992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4743" y="2325529"/>
              <a:ext cx="41935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 x₂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x₃ x₄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26463" y="2216944"/>
              <a:ext cx="459994" cy="687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Encod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er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RNN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88183" y="2107406"/>
              <a:ext cx="500634" cy="9065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语义编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码 c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长向量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090543" y="2216944"/>
              <a:ext cx="459994" cy="687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Decod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er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RNN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182743" y="2325529"/>
              <a:ext cx="43967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y₁ y₂</a:t>
              </a:r>
              <a:br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y₃</a:t>
              </a:r>
            </a:p>
          </p:txBody>
        </p:sp>
      </p:grpSp>
      <p:grpSp>
        <p:nvGrpSpPr>
          <p:cNvPr id="32" name="c1-card-2"/>
          <p:cNvGrpSpPr/>
          <p:nvPr/>
        </p:nvGrpSpPr>
        <p:grpSpPr>
          <a:xfrm>
            <a:off x="533400" y="3714750"/>
            <a:ext cx="5410200" cy="1591628"/>
            <a:chOff x="533400" y="3714750"/>
            <a:chExt cx="5410200" cy="1591628"/>
          </a:xfrm>
        </p:grpSpPr>
        <p:sp>
          <p:nvSpPr>
            <p:cNvPr id="26" name="Rectangle 26"/>
            <p:cNvSpPr/>
            <p:nvPr/>
          </p:nvSpPr>
          <p:spPr>
            <a:xfrm>
              <a:off x="533400" y="3714750"/>
              <a:ext cx="5410200" cy="1591628"/>
            </a:xfrm>
            <a:prstGeom prst="roundRect">
              <a:avLst>
                <a:gd name="adj" fmla="val 83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3848100"/>
              <a:ext cx="47625" cy="132492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81050" y="392430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71258" y="39600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82078" y="395954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缺乏长期记忆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3430" y="4320540"/>
              <a:ext cx="4749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编码器把整句话压成一个固定长度的向量 c，解码器每一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步都只能看这一个 c。句子越长，丢掉的信息越多。</a:t>
              </a:r>
            </a:p>
          </p:txBody>
        </p:sp>
      </p:grpSp>
      <p:grpSp>
        <p:nvGrpSpPr>
          <p:cNvPr id="55" name="c2-table-1"/>
          <p:cNvGrpSpPr/>
          <p:nvPr/>
        </p:nvGrpSpPr>
        <p:grpSpPr>
          <a:xfrm>
            <a:off x="6242685" y="1524000"/>
            <a:ext cx="5415915" cy="2091214"/>
            <a:chOff x="6242685" y="1524000"/>
            <a:chExt cx="5415915" cy="2091214"/>
          </a:xfrm>
        </p:grpSpPr>
        <p:sp>
          <p:nvSpPr>
            <p:cNvPr id="33" name="Rectangle 33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93543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句长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61946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不带注意力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8738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带注意力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56223" y="2108359"/>
              <a:ext cx="7831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词以内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87868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接近峰值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927146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接近峰值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48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56223" y="2556986"/>
              <a:ext cx="9184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至 50 词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087868" y="255698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开始明显下滑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927146" y="25569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基本持平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28660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56223" y="3005614"/>
              <a:ext cx="7831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 词以上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989570" y="2880360"/>
              <a:ext cx="1820228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087868" y="3005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继续下滑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9828848" y="2880360"/>
              <a:ext cx="182022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927146" y="3005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仍然持平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248400" y="1524000"/>
              <a:ext cx="5410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97528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814560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242685" y="3395186"/>
              <a:ext cx="16158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BLEU 随句子长度的变化</a:t>
              </a:r>
            </a:p>
          </p:txBody>
        </p:sp>
      </p:grpSp>
      <p:grpSp>
        <p:nvGrpSpPr>
          <p:cNvPr id="61" name="c2-kv-2"/>
          <p:cNvGrpSpPr/>
          <p:nvPr/>
        </p:nvGrpSpPr>
        <p:grpSpPr>
          <a:xfrm>
            <a:off x="6240780" y="3786188"/>
            <a:ext cx="5417820" cy="1579244"/>
            <a:chOff x="6240780" y="3786188"/>
            <a:chExt cx="5417820" cy="1579244"/>
          </a:xfrm>
        </p:grpSpPr>
        <p:sp>
          <p:nvSpPr>
            <p:cNvPr id="56" name="TextBox 56"/>
            <p:cNvSpPr txBox="1"/>
            <p:nvPr/>
          </p:nvSpPr>
          <p:spPr>
            <a:xfrm>
              <a:off x="6240780" y="3786188"/>
              <a:ext cx="5081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BLEU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22820" y="3786188"/>
              <a:ext cx="407289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BiLingual Evaluation Understudy，机器翻译的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自动评测指标，比对译文与参考译文的 n 元组重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合度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248400" y="46701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240780" y="4790122"/>
              <a:ext cx="777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一阶马尔</a:t>
              </a:r>
              <a:br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可夫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322820" y="4790122"/>
              <a:ext cx="4015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解码只依赖上一步状态，把更早的上下文都压进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 c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62" name="Rectangle 62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26129" y="5867518"/>
              <a:ext cx="224134" cy="192560"/>
              <a:chOff x="726129" y="5867518"/>
              <a:chExt cx="224134" cy="19256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838200" y="59378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26129" y="58675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38200" y="60156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0130" y="5728335"/>
              <a:ext cx="99593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更正：原课件第 67 页把 BLEU 的全称写成 BiLingual EvaluationUnderstudy，Evaluation 与 Understudy 之间漏了空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格。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常用网络模型 · 注意力机制与自注意力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加上注意力：解码每一步都重算一份上下文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3954932" cy="2398776"/>
            <a:chOff x="533400" y="1533525"/>
            <a:chExt cx="3954932" cy="239877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8507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074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6701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40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38423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4580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15663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1846898"/>
              <a:ext cx="35419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编码器给出每个词各自的隐状态，不再压成一个 c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218360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2464118"/>
              <a:ext cx="3194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用解码器当前状态与每个 hⱼ 算一个对齐分数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279987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归一化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3080385"/>
              <a:ext cx="2841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T 个分数做 softmax，得到权重 aᵢⱼ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341709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加权求和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697605"/>
              <a:ext cx="29361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按权重把 hⱼ 加起来，得到本步专用的 cᵢ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formula95"/>
              <p:cNvSpPr txBox="1">
                <a:spLocks noGrp="1"/>
              </p:cNvSpPr>
              <p:nvPr/>
            </p:nvSpPr>
            <p:spPr>
              <a:xfrm>
                <a:off x="533400" y="4103370"/>
                <a:ext cx="5410200" cy="6915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  <m:e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ij</m:t>
                              </m:r>
                            </m:sub>
                          </m:s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formula96"/>
              <p:cNvSpPr txBox="1">
                <a:spLocks noGrp="1"/>
              </p:cNvSpPr>
              <p:nvPr/>
            </p:nvSpPr>
            <p:spPr>
              <a:xfrm>
                <a:off x="533400" y="4974908"/>
                <a:ext cx="5410200" cy="600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exp</m:t>
                              </m:r>
                            </m:fName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​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score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t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,</m:t>
                                      </m:r>
                                      <m:sSub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zh-CN" sz="135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zh-CN" sz="135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h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s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func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s'</m:t>
                              </m:r>
                            </m:sub>
                            <m:sup/>
                            <m:e>
                              <m:func>
                                <m:funcPr/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exp</m:t>
                                  </m:r>
                                </m:fNam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​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score</m:t>
                                      </m:r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e>
                                              <m:r>
                                                <a:rPr lang="zh-CN" sz="135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sz="135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t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,</m:t>
                                          </m:r>
                                          <m:sSub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zh-CN" sz="1350" dirty="0">
                                                      <a:solidFill>
                                                        <a:srgbClr val="1F2937"/>
                                                      </a:solidFill>
                                                      <a:latin typeface="Cambria Math"/>
                                                      <a:ea typeface="Cambria Math"/>
                                                      <a:cs typeface="Cambria Math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zh-CN" sz="1350" dirty="0">
                                                      <a:solidFill>
                                                        <a:srgbClr val="1F2937"/>
                                                      </a:solidFill>
                                                      <a:latin typeface="Cambria Math"/>
                                                      <a:ea typeface="Cambria Math"/>
                                                      <a:cs typeface="Cambria Math"/>
                                                    </a:rPr>
                                                    <m:t>h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zh-CN" sz="135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s'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</m:nary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48" name="c2-table-1"/>
          <p:cNvGrpSpPr/>
          <p:nvPr/>
        </p:nvGrpSpPr>
        <p:grpSpPr>
          <a:xfrm>
            <a:off x="6243066" y="1524000"/>
            <a:ext cx="5415534" cy="2404682"/>
            <a:chOff x="6243066" y="1524000"/>
            <a:chExt cx="5415534" cy="2404682"/>
          </a:xfrm>
        </p:grpSpPr>
        <p:sp>
          <p:nvSpPr>
            <p:cNvPr id="27" name="Rectangle 27"/>
            <p:cNvSpPr/>
            <p:nvPr/>
          </p:nvSpPr>
          <p:spPr>
            <a:xfrm>
              <a:off x="6248400" y="1524000"/>
              <a:ext cx="5410200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76072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5342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463212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50889" y="218313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41514" y="2183130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hₜᵀ hₛ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705594" y="2076450"/>
              <a:ext cx="1688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直接点乘，要求两边维度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相同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48400" y="25812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48400" y="2586038"/>
              <a:ext cx="5410200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57925" y="2595562"/>
              <a:ext cx="1171575" cy="61912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50889" y="2821305"/>
              <a:ext cx="6228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general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41514" y="2821305"/>
              <a:ext cx="6870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hₜᵀ W hₛ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705594" y="2714625"/>
              <a:ext cx="1688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中间插一个可学矩阵，维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度可以不同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32194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50889" y="3352800"/>
              <a:ext cx="571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concat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41514" y="3352800"/>
              <a:ext cx="15739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vᵀ tanh(W[hₜ; hₛ])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705594" y="335280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拼接后过一个小网络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1524000"/>
              <a:ext cx="5410200" cy="21240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434262" y="1524000"/>
              <a:ext cx="9525" cy="21240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598342" y="1524000"/>
              <a:ext cx="9525" cy="21240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43066" y="3723323"/>
              <a:ext cx="48095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三种常见的对齐分数（hₜ 是解码器当前状态，hₛ 是编码器第 s 步的隐状态）</a:t>
              </a:r>
            </a:p>
          </p:txBody>
        </p:sp>
      </p:grpSp>
      <p:grpSp>
        <p:nvGrpSpPr>
          <p:cNvPr id="54" name="c2-card-2"/>
          <p:cNvGrpSpPr/>
          <p:nvPr/>
        </p:nvGrpSpPr>
        <p:grpSpPr>
          <a:xfrm>
            <a:off x="6248400" y="4067175"/>
            <a:ext cx="5410200" cy="1540192"/>
            <a:chOff x="6248400" y="4067175"/>
            <a:chExt cx="5410200" cy="1540192"/>
          </a:xfrm>
        </p:grpSpPr>
        <p:sp>
          <p:nvSpPr>
            <p:cNvPr id="49" name="Rectangle 49"/>
            <p:cNvSpPr/>
            <p:nvPr/>
          </p:nvSpPr>
          <p:spPr>
            <a:xfrm>
              <a:off x="6248400" y="4067175"/>
              <a:ext cx="5410200" cy="1540192"/>
            </a:xfrm>
            <a:prstGeom prst="roundRect">
              <a:avLst>
                <a:gd name="adj" fmla="val 8658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46520" y="426529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29959" y="429958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变了什么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96531" y="4300061"/>
              <a:ext cx="19055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 从一个变成每步一个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39281" y="4643914"/>
              <a:ext cx="475742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原来整句共用一个 c，现在解码第 i 个词时有专属的 cᵢ。翻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译到“长春”时权重集中在源句的“长春”上，翻到“北京”时权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重移到“北京”上，这就是对齐。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5" name="Rectangle 55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511" y="6011704"/>
              <a:ext cx="56493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aᵢⱼ 是一组和为 1 的非负数，画成 T×T 的矩阵就是注意力热力图。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87933" cy="909257"/>
            <a:chOff x="520446" y="342900"/>
            <a:chExt cx="488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常用网络模型 · 注意力机制与自注意力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8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RNN 难并行，于是干脆把它换掉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621155"/>
            <a:chOff x="533400" y="1524000"/>
            <a:chExt cx="5410200" cy="16211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时间上的依赖挡住了并行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7682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RNN 要算 b⁴ 必须先算完 b¹、b²、b³，因为隐状态是一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步步传下来的。GPU 的算力在这里派不上用场，长序列训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练极慢。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335655"/>
            <a:ext cx="5410200" cy="1917382"/>
            <a:chOff x="533400" y="3335655"/>
            <a:chExt cx="5410200" cy="1917382"/>
          </a:xfrm>
        </p:grpSpPr>
        <p:sp>
          <p:nvSpPr>
            <p:cNvPr id="14" name="Rectangle 14"/>
            <p:cNvSpPr/>
            <p:nvPr/>
          </p:nvSpPr>
          <p:spPr>
            <a:xfrm>
              <a:off x="533400" y="3335655"/>
              <a:ext cx="5410200" cy="1917382"/>
            </a:xfrm>
            <a:prstGeom prst="roundRect">
              <a:avLst>
                <a:gd name="adj" fmla="val 69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469005"/>
              <a:ext cx="47625" cy="165068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354520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3359" y="358092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一种办法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65922" y="3580448"/>
              <a:ext cx="15619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CNN 代替 RNN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3430" y="3941445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把一维卷积核沿序列滑动，每个输出只看相邻几个位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置，彼此之间没有依赖，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可以同时算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。堆叠多层以后，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较高层的滤波器就能覆盖较长的序列。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4573" y="484489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代价是想看多远，就得堆多少层。</a:t>
              </a:r>
            </a:p>
          </p:txBody>
        </p:sp>
      </p:grpSp>
      <p:grpSp>
        <p:nvGrpSpPr>
          <p:cNvPr id="42" name="c2-compare-1"/>
          <p:cNvGrpSpPr/>
          <p:nvPr/>
        </p:nvGrpSpPr>
        <p:grpSpPr>
          <a:xfrm>
            <a:off x="6248400" y="1524000"/>
            <a:ext cx="5410200" cy="2560320"/>
            <a:chOff x="6248400" y="1524000"/>
            <a:chExt cx="5410200" cy="2560320"/>
          </a:xfrm>
        </p:grpSpPr>
        <p:sp>
          <p:nvSpPr>
            <p:cNvPr id="22" name="Rectangle 22"/>
            <p:cNvSpPr/>
            <p:nvPr/>
          </p:nvSpPr>
          <p:spPr>
            <a:xfrm>
              <a:off x="6248400" y="1524000"/>
              <a:ext cx="2324100" cy="2560320"/>
            </a:xfrm>
            <a:prstGeom prst="roundRect">
              <a:avLst>
                <a:gd name="adj" fmla="val 57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57925" y="1657350"/>
              <a:ext cx="47625" cy="229362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88430" y="1758315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RNN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501765" y="217551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59880" y="2112645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天然处理任意长序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501765" y="279654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59880" y="2733675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必须按时间顺序串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501765" y="341757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59880" y="3354705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远距离依赖要走很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多步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334500" y="1524000"/>
              <a:ext cx="2324100" cy="2560320"/>
            </a:xfrm>
            <a:prstGeom prst="roundRect">
              <a:avLst>
                <a:gd name="adj" fmla="val 57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9344025" y="1657350"/>
              <a:ext cx="47625" cy="22936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574530" y="17583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自注意力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9587865" y="217551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745980" y="2112645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每个输出都基于整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个序列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9587865" y="279654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745980" y="2733675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所有位置可以同时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9587865" y="341757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745980" y="3354705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任意两个位置一步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直连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8620125" y="2470785"/>
              <a:ext cx="666750" cy="6667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665464" y="273843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三种做法</a:t>
              </a:r>
            </a:p>
          </p:txBody>
        </p:sp>
      </p:grpSp>
      <p:grpSp>
        <p:nvGrpSpPr>
          <p:cNvPr id="48" name="c2-callout-2"/>
          <p:cNvGrpSpPr/>
          <p:nvPr/>
        </p:nvGrpSpPr>
        <p:grpSpPr>
          <a:xfrm>
            <a:off x="6248400" y="4274820"/>
            <a:ext cx="5410200" cy="978218"/>
            <a:chOff x="6248400" y="4274820"/>
            <a:chExt cx="5410200" cy="978218"/>
          </a:xfrm>
        </p:grpSpPr>
        <p:sp>
          <p:nvSpPr>
            <p:cNvPr id="43" name="Rectangle 43"/>
            <p:cNvSpPr/>
            <p:nvPr/>
          </p:nvSpPr>
          <p:spPr>
            <a:xfrm>
              <a:off x="6248400" y="4274820"/>
              <a:ext cx="5410200" cy="978218"/>
            </a:xfrm>
            <a:prstGeom prst="roundRect">
              <a:avLst>
                <a:gd name="adj" fmla="val 11685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453188" y="4664395"/>
              <a:ext cx="200023" cy="200023"/>
              <a:chOff x="6453188" y="4664395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453188" y="466439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586538" y="47310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755130" y="4521518"/>
              <a:ext cx="44443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自注意力层的输入输出形状和 RNN 层完全一样，可以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直接把 RNN 换下来。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9" name="Rectangle 4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130" y="5991225"/>
              <a:ext cx="91020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一维卷积的感受野随层数线性增长，自注意力一层就覆盖全序列，代价是计算量随序列长度平方增长。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15967" cy="909257"/>
            <a:chOff x="520446" y="342900"/>
            <a:chExt cx="701596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常用网络模型 · 注意力机制与自注意力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1596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自注意力：每个位置先造出 q、k、v 三个向量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193982" cy="1632585"/>
            <a:chOff x="533400" y="1524000"/>
            <a:chExt cx="5193982" cy="16325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632585"/>
            </a:xfrm>
            <a:prstGeom prst="roundRect">
              <a:avLst>
                <a:gd name="adj" fmla="val 81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6588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3059" y="17564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三个角色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19631" y="175688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查询、键、值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7240" y="216122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3831" y="2100739"/>
              <a:ext cx="258845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q（query）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：拿去和别人匹配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7240" y="247840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3831" y="2418874"/>
              <a:ext cx="23676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k（key）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：等着被别人匹配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77240" y="279654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3831" y="2736056"/>
              <a:ext cx="28914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v（value）：真正要被取走的信息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formula103"/>
              <p:cNvSpPr txBox="1">
                <a:spLocks noGrp="1"/>
              </p:cNvSpPr>
              <p:nvPr/>
            </p:nvSpPr>
            <p:spPr>
              <a:xfrm>
                <a:off x="533400" y="3337560"/>
                <a:ext cx="5193982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W</m:t>
                      </m:r>
                      <m:sSup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formula104"/>
              <p:cNvSpPr txBox="1">
                <a:spLocks noGrp="1"/>
              </p:cNvSpPr>
              <p:nvPr/>
            </p:nvSpPr>
            <p:spPr>
              <a:xfrm>
                <a:off x="533400" y="3898582"/>
                <a:ext cx="5193982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sup>
                      </m:sSup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p>
                      </m:sSup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sup>
                      </m:sSup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27" name="c1-callout-4"/>
          <p:cNvGrpSpPr/>
          <p:nvPr/>
        </p:nvGrpSpPr>
        <p:grpSpPr>
          <a:xfrm>
            <a:off x="533400" y="4440555"/>
            <a:ext cx="5193982" cy="1203008"/>
            <a:chOff x="533400" y="4440555"/>
            <a:chExt cx="5193982" cy="1203008"/>
          </a:xfrm>
        </p:grpSpPr>
        <p:sp>
          <p:nvSpPr>
            <p:cNvPr id="21" name="Rectangle 21"/>
            <p:cNvSpPr/>
            <p:nvPr/>
          </p:nvSpPr>
          <p:spPr>
            <a:xfrm>
              <a:off x="533400" y="4440555"/>
              <a:ext cx="5193982" cy="1203008"/>
            </a:xfrm>
            <a:prstGeom prst="roundRect">
              <a:avLst>
                <a:gd name="adj" fmla="val 950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4942523"/>
              <a:ext cx="200026" cy="200026"/>
              <a:chOff x="738188" y="4942523"/>
              <a:chExt cx="200026" cy="20002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494252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8200" y="50091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27088" y="504253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511" y="4811554"/>
              <a:ext cx="41622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查询、键、值这三个权矩阵对序列里所有位置共用，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和卷积的权值共享是同一个思路。</a:t>
              </a:r>
            </a:p>
          </p:txBody>
        </p:sp>
      </p:grpSp>
      <p:grpSp>
        <p:nvGrpSpPr>
          <p:cNvPr id="45" name="c2-steps-1"/>
          <p:cNvGrpSpPr/>
          <p:nvPr/>
        </p:nvGrpSpPr>
        <p:grpSpPr>
          <a:xfrm>
            <a:off x="6032182" y="1533525"/>
            <a:ext cx="4011473" cy="2398776"/>
            <a:chOff x="6032182" y="1533525"/>
            <a:chExt cx="4011473" cy="2398776"/>
          </a:xfrm>
        </p:grpSpPr>
        <p:sp>
          <p:nvSpPr>
            <p:cNvPr id="28" name="Rectangle 28"/>
            <p:cNvSpPr/>
            <p:nvPr/>
          </p:nvSpPr>
          <p:spPr>
            <a:xfrm>
              <a:off x="6165532" y="1676400"/>
              <a:ext cx="19050" cy="18507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6032182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12580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032182" y="215074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125806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032182" y="276701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125806" y="2840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032182" y="338423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25806" y="34580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44044" y="1566386"/>
              <a:ext cx="5674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打分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45186" y="1846898"/>
              <a:ext cx="28392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α₁,ᵢ = q¹·kⁱ / √d，d 是 q 与 k 的维度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44044" y="2183606"/>
              <a:ext cx="7585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归一化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45186" y="2464118"/>
              <a:ext cx="35984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i 做 softmax，把 α₁,ᵢ 变成一组和为 1 的权重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44044" y="2799874"/>
              <a:ext cx="9497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加权求和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45186" y="3080385"/>
              <a:ext cx="26130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b¹ 就是各个 vⁱ 按这组权重的加权和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44044" y="3417094"/>
              <a:ext cx="15232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换一个位置重来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45186" y="3697605"/>
              <a:ext cx="3283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b² 用 q² 与所有 k 重算一遍，各位置互不依赖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6032182" y="4103370"/>
            <a:ext cx="5626418" cy="1540192"/>
            <a:chOff x="6032182" y="4103370"/>
            <a:chExt cx="5626418" cy="1540192"/>
          </a:xfrm>
        </p:grpSpPr>
        <p:sp>
          <p:nvSpPr>
            <p:cNvPr id="46" name="Rectangle 46"/>
            <p:cNvSpPr/>
            <p:nvPr/>
          </p:nvSpPr>
          <p:spPr>
            <a:xfrm>
              <a:off x="6032182" y="4103370"/>
              <a:ext cx="5626418" cy="1540192"/>
            </a:xfrm>
            <a:prstGeom prst="roundRect">
              <a:avLst>
                <a:gd name="adj" fmla="val 8658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30302" y="4301490"/>
              <a:ext cx="1119188" cy="247650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26816" y="4335780"/>
              <a:ext cx="9252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为什么要除 √d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456551" y="433625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防止点乘随维度变大而失控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23064" y="4680109"/>
              <a:ext cx="489267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 与 k 每个分量都是均值 0、方差 1 的随机量时，点乘的方差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正比于 d。d 一大，softmax 的输入就被推到饱和区，梯度接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近 0。除以 √d 把方差拉回 1。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2" name="Rectangle 52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511" y="6011704"/>
              <a:ext cx="76947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bⁱ 是基于整个序列算出来的，而 b¹ 到 b⁴ 可以并行计算，这是自注意力取代 RNN 的关键。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62660" cy="909257"/>
            <a:chOff x="520446" y="342900"/>
            <a:chExt cx="526266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常用网络模型 · 注意力机制与自注意力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626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自注意力例题：从 q·k 一路算到 b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9648962" cy="278702"/>
            <a:chOff x="526161" y="1547336"/>
            <a:chExt cx="9648962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964896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取三个位置，a¹ = (1, 0)、a² = (0, 1)、a³ = (1, 1)，三个权矩阵都取单位阵，于是 q = k = v = a，维度 d = 2。</a:t>
              </a:r>
            </a:p>
          </p:txBody>
        </p:sp>
      </p:grpSp>
      <p:grpSp>
        <p:nvGrpSpPr>
          <p:cNvPr id="41" name="c1-table-1"/>
          <p:cNvGrpSpPr/>
          <p:nvPr/>
        </p:nvGrpSpPr>
        <p:grpSpPr>
          <a:xfrm>
            <a:off x="528066" y="1941195"/>
            <a:ext cx="5631752" cy="1903666"/>
            <a:chOff x="528066" y="1941195"/>
            <a:chExt cx="5631752" cy="1903666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626418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84926" y="2065496"/>
              <a:ext cx="58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92057" y="2065496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q¹·kⁱ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72891" y="206549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α₁,ᵢ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54677" y="206549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exp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101844" y="20654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归一化权重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3412" y="24712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96340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33638" y="247126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0.7071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71888" y="247126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2.0281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818698" y="2356485"/>
              <a:ext cx="133159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909185" y="247126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0.4011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27479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2752725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3412" y="28770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96340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433638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71888" y="287702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1.0000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09185" y="287702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0.1978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15372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32827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96340" y="32827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433638" y="328279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0.7071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671888" y="328279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2.0281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818698" y="3168015"/>
              <a:ext cx="133159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909185" y="328279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0.4011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1941195"/>
              <a:ext cx="5626418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091565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2328862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3567112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804410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8066" y="3639502"/>
              <a:ext cx="26609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 b¹：取 q¹ = (1, 0)，α₁,ᵢ = q¹·kⁱ/√2</a:t>
              </a:r>
            </a:p>
          </p:txBody>
        </p:sp>
      </p:grpSp>
      <p:grpSp>
        <p:nvGrpSpPr>
          <p:cNvPr id="43" name="c1-text-2"/>
          <p:cNvGrpSpPr/>
          <p:nvPr/>
        </p:nvGrpSpPr>
        <p:grpSpPr>
          <a:xfrm>
            <a:off x="527685" y="3997166"/>
            <a:ext cx="3758174" cy="220028"/>
            <a:chOff x="527685" y="3997166"/>
            <a:chExt cx="3758174" cy="220028"/>
          </a:xfrm>
        </p:grpSpPr>
        <p:sp>
          <p:nvSpPr>
            <p:cNvPr id="42" name="TextBox 42"/>
            <p:cNvSpPr txBox="1"/>
            <p:nvPr/>
          </p:nvSpPr>
          <p:spPr>
            <a:xfrm>
              <a:off x="527685" y="3997166"/>
              <a:ext cx="3758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三项 exp 之和是 5.0562，各项除以它就是归一化权重。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formula109"/>
              <p:cNvSpPr txBox="1">
                <a:spLocks noGrp="1"/>
              </p:cNvSpPr>
              <p:nvPr/>
            </p:nvSpPr>
            <p:spPr>
              <a:xfrm>
                <a:off x="533400" y="4347210"/>
                <a:ext cx="562641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p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0.4011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0.1978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0.4011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0.8022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 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0.5989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51" name="c1-callout-4"/>
          <p:cNvGrpSpPr/>
          <p:nvPr/>
        </p:nvGrpSpPr>
        <p:grpSpPr>
          <a:xfrm>
            <a:off x="533400" y="4827270"/>
            <a:ext cx="5626418" cy="729615"/>
            <a:chOff x="533400" y="4827270"/>
            <a:chExt cx="5626418" cy="729615"/>
          </a:xfrm>
        </p:grpSpPr>
        <p:sp>
          <p:nvSpPr>
            <p:cNvPr id="45" name="Rectangle 45"/>
            <p:cNvSpPr/>
            <p:nvPr/>
          </p:nvSpPr>
          <p:spPr>
            <a:xfrm>
              <a:off x="533400" y="4827270"/>
              <a:ext cx="5626418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5092065"/>
              <a:ext cx="200026" cy="200025"/>
              <a:chOff x="738188" y="5092065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50920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77926" y="51365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12642" y="52476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892" y="4973955"/>
              <a:ext cx="425710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自己验一下：分母去掉后 α₁,ᵢ 变成 1、0、1，权重成了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0.4223、0.1554、0.4223，比原来更集中。</a:t>
              </a:r>
            </a:p>
          </p:txBody>
        </p:sp>
      </p:grpSp>
      <p:grpSp>
        <p:nvGrpSpPr>
          <p:cNvPr id="65" name="c2-steps-1"/>
          <p:cNvGrpSpPr/>
          <p:nvPr/>
        </p:nvGrpSpPr>
        <p:grpSpPr>
          <a:xfrm>
            <a:off x="6464618" y="1950720"/>
            <a:ext cx="5144053" cy="1694022"/>
            <a:chOff x="6464618" y="1950720"/>
            <a:chExt cx="5144053" cy="1694022"/>
          </a:xfrm>
        </p:grpSpPr>
        <p:sp>
          <p:nvSpPr>
            <p:cNvPr id="52" name="Rectangle 52"/>
            <p:cNvSpPr/>
            <p:nvPr/>
          </p:nvSpPr>
          <p:spPr>
            <a:xfrm>
              <a:off x="6597968" y="2093595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6464618" y="195072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58241" y="20245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464618" y="253841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58241" y="26122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464618" y="312515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58241" y="31989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876860" y="198310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看权重落在哪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878002" y="2250281"/>
              <a:ext cx="422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a¹ 与 a³ 都含 x 分量，权重 0.4011；a² 与 q¹ 正交，权重最小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876860" y="2569845"/>
              <a:ext cx="12468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 q² 再算一遍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878002" y="2837021"/>
              <a:ext cx="47306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α₂,ᵢ = (0, 0.7071, 0.7071)，归一化后 (0.1978, 0.4011, 0.4011)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876860" y="3156585"/>
              <a:ext cx="644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得到 b²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878002" y="3424714"/>
              <a:ext cx="2499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b² = (0.5989, 0.8022)，与 b¹ 对称</a:t>
              </a:r>
            </a:p>
          </p:txBody>
        </p:sp>
      </p:grpSp>
      <p:grpSp>
        <p:nvGrpSpPr>
          <p:cNvPr id="69" name="c2-code-2"/>
          <p:cNvGrpSpPr/>
          <p:nvPr/>
        </p:nvGrpSpPr>
        <p:grpSpPr>
          <a:xfrm>
            <a:off x="6464618" y="3812858"/>
            <a:ext cx="5193982" cy="1628775"/>
            <a:chOff x="6464618" y="3812858"/>
            <a:chExt cx="5193982" cy="1628775"/>
          </a:xfrm>
        </p:grpSpPr>
        <p:sp>
          <p:nvSpPr>
            <p:cNvPr id="66" name="Rectangle 66"/>
            <p:cNvSpPr/>
            <p:nvPr/>
          </p:nvSpPr>
          <p:spPr>
            <a:xfrm>
              <a:off x="6464618" y="3812858"/>
              <a:ext cx="5193982" cy="1628775"/>
            </a:xfrm>
            <a:prstGeom prst="roundRect">
              <a:avLst>
                <a:gd name="adj" fmla="val 584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593015" y="396478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复核代码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593205" y="4225004"/>
              <a:ext cx="3144393" cy="11334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numpy </a:t>
              </a:r>
              <a:r>
                <a:rPr lang="en-US" sz="8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as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np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 = np.array([[1., 0.], [0., 1.], [1., 1.]])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q = k = v = a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 = np.exp(q @ k.T / np.sqrt(2))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 = A / A.sum(axis=1, keepdims=</a:t>
              </a:r>
              <a:r>
                <a:rPr lang="en-US" sz="8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print(np.round(A @ v, 4))</a:t>
              </a:r>
              <a:br/>
              <a:r>
                <a:rPr lang="zh-CN" sz="8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[[0.8022 0.5989] [0.5989 0.8022] [0.7517 0.7517]]</a:t>
              </a:r>
            </a:p>
          </p:txBody>
        </p:sp>
      </p:grpSp>
      <p:grpSp>
        <p:nvGrpSpPr>
          <p:cNvPr id="7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0" name="Rectangle 7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0892" y="6023610"/>
              <a:ext cx="66016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权重是正的且和为 1，所以 bⁱ 一定落在各个 vⁱ 张成的凸包里，不会跑到外面去。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常用网络模型 · 注意力机制与自注意力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写成矩阵：一次算完整个序列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11"/>
              <p:cNvSpPr txBox="1">
                <a:spLocks noGrp="1"/>
              </p:cNvSpPr>
              <p:nvPr/>
            </p:nvSpPr>
            <p:spPr>
              <a:xfrm>
                <a:off x="533400" y="1524000"/>
                <a:ext cx="5410200" cy="5915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Attention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softmax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​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Q</m:t>
                              </m:r>
                              <m:sSup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⊤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d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19" name="c1-kv-2"/>
          <p:cNvGrpSpPr/>
          <p:nvPr/>
        </p:nvGrpSpPr>
        <p:grpSpPr>
          <a:xfrm>
            <a:off x="525780" y="2330768"/>
            <a:ext cx="5417820" cy="1613534"/>
            <a:chOff x="525780" y="2330768"/>
            <a:chExt cx="5417820" cy="1613534"/>
          </a:xfrm>
        </p:grpSpPr>
        <p:sp>
          <p:nvSpPr>
            <p:cNvPr id="8" name="TextBox 8"/>
            <p:cNvSpPr txBox="1"/>
            <p:nvPr/>
          </p:nvSpPr>
          <p:spPr>
            <a:xfrm>
              <a:off x="525780" y="2330768"/>
              <a:ext cx="1832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07820" y="2330768"/>
              <a:ext cx="29735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把所有 qⁱ 按行摞起来，形状 n×d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33400" y="26508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5780" y="2770822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07820" y="2770822"/>
              <a:ext cx="17013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 kⁱ，形状 n×d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30908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5780" y="3210878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07820" y="3210878"/>
              <a:ext cx="18124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 vⁱ，形状 n×dᵥ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53091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5780" y="3650932"/>
              <a:ext cx="8739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softmax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07820" y="3650932"/>
              <a:ext cx="3215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对每一行分别做，使每行权重和为 1</a:t>
              </a:r>
            </a:p>
          </p:txBody>
        </p:sp>
      </p:grpSp>
      <p:grpSp>
        <p:nvGrpSpPr>
          <p:cNvPr id="26" name="c1-callout-3"/>
          <p:cNvGrpSpPr/>
          <p:nvPr/>
        </p:nvGrpSpPr>
        <p:grpSpPr>
          <a:xfrm>
            <a:off x="533400" y="4075748"/>
            <a:ext cx="5410200" cy="1533525"/>
            <a:chOff x="533400" y="4075748"/>
            <a:chExt cx="5410200" cy="1533525"/>
          </a:xfrm>
        </p:grpSpPr>
        <p:sp>
          <p:nvSpPr>
            <p:cNvPr id="20" name="Rectangle 20"/>
            <p:cNvSpPr/>
            <p:nvPr/>
          </p:nvSpPr>
          <p:spPr>
            <a:xfrm>
              <a:off x="533400" y="4075748"/>
              <a:ext cx="5410200" cy="1533525"/>
            </a:xfrm>
            <a:prstGeom prst="roundRect">
              <a:avLst>
                <a:gd name="adj" fmla="val 745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4742498"/>
              <a:ext cx="200026" cy="200025"/>
              <a:chOff x="738188" y="4742498"/>
              <a:chExt cx="200026" cy="20002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474249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77926" y="478694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12642" y="489807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130" y="4599622"/>
              <a:ext cx="44634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整个自注意力层就是三次矩阵乘法加一次 softmax，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正好是 GPU 最擅长的运算。</a:t>
              </a:r>
            </a:p>
          </p:txBody>
        </p:sp>
      </p:grpSp>
      <p:grpSp>
        <p:nvGrpSpPr>
          <p:cNvPr id="49" name="c2-table-1"/>
          <p:cNvGrpSpPr/>
          <p:nvPr/>
        </p:nvGrpSpPr>
        <p:grpSpPr>
          <a:xfrm>
            <a:off x="6242685" y="1524000"/>
            <a:ext cx="5415915" cy="2317909"/>
            <a:chOff x="6242685" y="1524000"/>
            <a:chExt cx="5415915" cy="2317909"/>
          </a:xfrm>
        </p:grpSpPr>
        <p:sp>
          <p:nvSpPr>
            <p:cNvPr id="27" name="Rectangle 27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7255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结构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91436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每层计算量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107435" y="16597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最长依赖路径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56223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自注意力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63066" y="2108359"/>
              <a:ext cx="7239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O(n²·d)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612630" y="1982152"/>
              <a:ext cx="203644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710928" y="2108359"/>
              <a:ext cx="4499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48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48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56223" y="25569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循环网络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63066" y="2556986"/>
              <a:ext cx="7239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O(n·d²)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612630" y="2430780"/>
              <a:ext cx="2036445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710928" y="2556986"/>
              <a:ext cx="4382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28660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56223" y="3005614"/>
              <a:ext cx="8257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卷积（核宽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63066" y="3118961"/>
              <a:ext cx="9129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O(f·n·d²)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710928" y="3118961"/>
              <a:ext cx="8217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O(logf n)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1524000"/>
              <a:ext cx="5410200" cy="20221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650480" y="1524000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598342" y="1524000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242685" y="362188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一层的计算量与路径长度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6248400" y="3988118"/>
            <a:ext cx="5410200" cy="1621155"/>
            <a:chOff x="6248400" y="3988118"/>
            <a:chExt cx="5410200" cy="1621155"/>
          </a:xfrm>
        </p:grpSpPr>
        <p:sp>
          <p:nvSpPr>
            <p:cNvPr id="50" name="Rectangle 50"/>
            <p:cNvSpPr/>
            <p:nvPr/>
          </p:nvSpPr>
          <p:spPr>
            <a:xfrm>
              <a:off x="6248400" y="3988118"/>
              <a:ext cx="5410200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257925" y="4121468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96050" y="419766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86258" y="42333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097078" y="423291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序列一长，注意力矩阵就吃不消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88430" y="4593908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QKᵀ 是 n×n 的，序列长度翻倍，显存和计算量各翻四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倍。这是长文本建模里最主要的瓶颈，后续各种稀疏注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意力都在改这一点。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7" name="Rectangle 5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130" y="5991225"/>
              <a:ext cx="86982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比 d 小的时候自注意力更划算，这也是它先在句子级任务上成功、后来才推广到长文档的原因。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常用网络模型 · 注意力机制与自注意力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多头注意力与位置编码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621155"/>
            <a:chOff x="533400" y="1524000"/>
            <a:chExt cx="5410200" cy="16211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8583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4527" y="1769269"/>
              <a:ext cx="8398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Multi-head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73568" y="1768792"/>
              <a:ext cx="26499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同一个位置准备几套 q、k、v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5777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2 个头为例，先算出 qⁱ，再用两个矩阵把它拆成 qⁱ</a:t>
              </a:r>
            </a:p>
            <a:p>
              <a:pPr algn="l" marL="161925" indent="-161925">
                <a:lnSpc>
                  <a:spcPts val="2250"/>
                </a:lnSpc>
                <a:buClr>
                  <a:srgbClr val="1F2937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¹ 与 qⁱ·²，k、v 同样处理。第 1 个头只和别的位置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的第 1 个头做注意力，各头互不干扰。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114"/>
              <p:cNvSpPr txBox="1">
                <a:spLocks noGrp="1"/>
              </p:cNvSpPr>
              <p:nvPr/>
            </p:nvSpPr>
            <p:spPr>
              <a:xfrm>
                <a:off x="533400" y="3335655"/>
                <a:ext cx="54102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20" name="c1-callout-3"/>
          <p:cNvGrpSpPr/>
          <p:nvPr/>
        </p:nvGrpSpPr>
        <p:grpSpPr>
          <a:xfrm>
            <a:off x="533400" y="3888105"/>
            <a:ext cx="5410200" cy="1722120"/>
            <a:chOff x="533400" y="3888105"/>
            <a:chExt cx="5410200" cy="1722120"/>
          </a:xfrm>
        </p:grpSpPr>
        <p:sp>
          <p:nvSpPr>
            <p:cNvPr id="15" name="Rectangle 15"/>
            <p:cNvSpPr/>
            <p:nvPr/>
          </p:nvSpPr>
          <p:spPr>
            <a:xfrm>
              <a:off x="533400" y="3888105"/>
              <a:ext cx="5410200" cy="1722120"/>
            </a:xfrm>
            <a:prstGeom prst="roundRect">
              <a:avLst>
                <a:gd name="adj" fmla="val 6637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38188" y="4649155"/>
              <a:ext cx="200023" cy="200023"/>
              <a:chOff x="738188" y="4649155"/>
              <a:chExt cx="200023" cy="200023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464915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71538" y="47158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40130" y="4368165"/>
              <a:ext cx="4396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各头分别得到一个 bⁱ·ʰ，拼接后再乘一个矩阵降回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原维度。不同的头可以分工，有的看邻近词，有的看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远处的呼应。</a:t>
              </a:r>
            </a:p>
          </p:txBody>
        </p:sp>
      </p:grpSp>
      <p:grpSp>
        <p:nvGrpSpPr>
          <p:cNvPr id="27" name="c2-card-1"/>
          <p:cNvGrpSpPr/>
          <p:nvPr/>
        </p:nvGrpSpPr>
        <p:grpSpPr>
          <a:xfrm>
            <a:off x="6248400" y="1524000"/>
            <a:ext cx="5410200" cy="1621155"/>
            <a:chOff x="6248400" y="1524000"/>
            <a:chExt cx="5410200" cy="1621155"/>
          </a:xfrm>
        </p:grpSpPr>
        <p:sp>
          <p:nvSpPr>
            <p:cNvPr id="21" name="Rectangle 21"/>
            <p:cNvSpPr/>
            <p:nvPr/>
          </p:nvSpPr>
          <p:spPr>
            <a:xfrm>
              <a:off x="6248400" y="1524000"/>
              <a:ext cx="5410200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57925" y="165735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496050" y="173355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60655" y="176926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一个必须补的缺口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50518" y="176879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自注意力看不见顺序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88430" y="2129790"/>
              <a:ext cx="47205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把输入序列打乱，每个 bⁱ 的值完全不变，因为计算里只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有点乘和求和，没有任何位置信息。这一点和 RNN 正相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反。</a:t>
              </a:r>
            </a:p>
          </p:txBody>
        </p:sp>
      </p:grpSp>
      <p:grpSp>
        <p:nvGrpSpPr>
          <p:cNvPr id="34" name="c2-card-2"/>
          <p:cNvGrpSpPr/>
          <p:nvPr/>
        </p:nvGrpSpPr>
        <p:grpSpPr>
          <a:xfrm>
            <a:off x="6248400" y="3335655"/>
            <a:ext cx="5410200" cy="1621155"/>
            <a:chOff x="6248400" y="3335655"/>
            <a:chExt cx="5410200" cy="1621155"/>
          </a:xfrm>
        </p:grpSpPr>
        <p:sp>
          <p:nvSpPr>
            <p:cNvPr id="28" name="Rectangle 28"/>
            <p:cNvSpPr/>
            <p:nvPr/>
          </p:nvSpPr>
          <p:spPr>
            <a:xfrm>
              <a:off x="6248400" y="3335655"/>
              <a:ext cx="5410200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57925" y="3469005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96050" y="354520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78359" y="358092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位置编码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80923" y="3580448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给每个位置加一个固定的向量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88430" y="3941445"/>
              <a:ext cx="46634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Transformer 的做法是给 aⁱ 加上一个只与位置 i 有关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的向量 eⁱ，用不同频率的正弦、余弦函数生成，不需要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学习。也可以把 eⁱ 当成参数训练出来。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formula115"/>
              <p:cNvSpPr txBox="1">
                <a:spLocks noGrp="1"/>
              </p:cNvSpPr>
              <p:nvPr/>
            </p:nvSpPr>
            <p:spPr>
              <a:xfrm>
                <a:off x="6248400" y="5147310"/>
                <a:ext cx="5410200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pos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2j</m:t>
                              </m:r>
                            </m:e>
                          </m:d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sin</m:t>
                          </m:r>
                        </m:fName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​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pos</m:t>
                                  </m:r>
                                </m:num>
                                <m:den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1000</m:t>
                                  </m:r>
                                  <m:sSup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e>
                                    <m:sup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2j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/</m:t>
                                      </m:r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d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4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6" name="Rectangle 3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130" y="5991225"/>
              <a:ext cx="60731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位置编码是加在输入上的，不是拼在后面，所以不会改变向量维度。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67661" cy="909257"/>
            <a:chOff x="520446" y="342900"/>
            <a:chExt cx="64676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常用网络模型 · 注意力机制与自注意力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676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Transformer 与 ViT：把自注意力堆起来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flow-1"/>
          <p:cNvGrpSpPr/>
          <p:nvPr/>
        </p:nvGrpSpPr>
        <p:grpSpPr>
          <a:xfrm>
            <a:off x="912495" y="1556385"/>
            <a:ext cx="4861560" cy="3311843"/>
            <a:chOff x="912495" y="1556385"/>
            <a:chExt cx="4861560" cy="3311843"/>
          </a:xfrm>
        </p:grpSpPr>
        <p:sp>
          <p:nvSpPr>
            <p:cNvPr id="7" name="Freeform 7"/>
            <p:cNvSpPr/>
            <p:nvPr/>
          </p:nvSpPr>
          <p:spPr>
            <a:xfrm>
              <a:off x="3238500" y="2185988"/>
              <a:ext cx="9525" cy="56198"/>
            </a:xfrm>
            <a:custGeom>
              <a:avLst/>
              <a:gdLst/>
              <a:ahLst/>
              <a:cxnLst/>
              <a:rect l="l" t="t" r="r" b="b"/>
              <a:pathLst>
                <a:path w="9525" h="56198">
                  <a:moveTo>
                    <a:pt x="0" y="0"/>
                  </a:moveTo>
                  <a:lnTo>
                    <a:pt x="0" y="5619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186112" y="224218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238500" y="2785110"/>
              <a:ext cx="9525" cy="151448"/>
            </a:xfrm>
            <a:custGeom>
              <a:avLst/>
              <a:gdLst/>
              <a:ahLst/>
              <a:cxnLst/>
              <a:rect l="l" t="t" r="r" b="b"/>
              <a:pathLst>
                <a:path w="9525" h="151448">
                  <a:moveTo>
                    <a:pt x="0" y="0"/>
                  </a:moveTo>
                  <a:lnTo>
                    <a:pt x="0" y="15144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186112" y="29365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238500" y="3479482"/>
              <a:ext cx="9525" cy="151447"/>
            </a:xfrm>
            <a:custGeom>
              <a:avLst/>
              <a:gdLst/>
              <a:ahLst/>
              <a:cxnLst/>
              <a:rect l="l" t="t" r="r" b="b"/>
              <a:pathLst>
                <a:path w="9525" h="151447">
                  <a:moveTo>
                    <a:pt x="0" y="0"/>
                  </a:moveTo>
                  <a:lnTo>
                    <a:pt x="0" y="15144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186112" y="36309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238500" y="4173855"/>
              <a:ext cx="9525" cy="151448"/>
            </a:xfrm>
            <a:custGeom>
              <a:avLst/>
              <a:gdLst/>
              <a:ahLst/>
              <a:cxnLst/>
              <a:rect l="l" t="t" r="r" b="b"/>
              <a:pathLst>
                <a:path w="9525" h="151448">
                  <a:moveTo>
                    <a:pt x="0" y="0"/>
                  </a:moveTo>
                  <a:lnTo>
                    <a:pt x="0" y="15144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186112" y="43253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564505" y="2566035"/>
              <a:ext cx="209550" cy="2083118"/>
            </a:xfrm>
            <a:custGeom>
              <a:avLst/>
              <a:gdLst/>
              <a:ahLst/>
              <a:cxnLst/>
              <a:rect l="l" t="t" r="r" b="b"/>
              <a:pathLst>
                <a:path w="209550" h="2083118">
                  <a:moveTo>
                    <a:pt x="0" y="2083118"/>
                  </a:moveTo>
                  <a:lnTo>
                    <a:pt x="209550" y="2083118"/>
                  </a:lnTo>
                  <a:lnTo>
                    <a:pt x="0" y="2083118"/>
                  </a:lnTo>
                  <a:lnTo>
                    <a:pt x="0" y="694373"/>
                  </a:lnTo>
                  <a:lnTo>
                    <a:pt x="0" y="0"/>
                  </a:lnTo>
                  <a:lnTo>
                    <a:pt x="209550" y="0"/>
                  </a:lnTo>
                  <a:lnTo>
                    <a:pt x="10477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564505" y="25136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912495" y="1556385"/>
              <a:ext cx="4652010" cy="629602"/>
            </a:xfrm>
            <a:custGeom>
              <a:avLst/>
              <a:gdLst/>
              <a:ahLst/>
              <a:cxnLst/>
              <a:rect l="l" t="t" r="r" b="b"/>
              <a:pathLst>
                <a:path w="4652010" h="629602">
                  <a:moveTo>
                    <a:pt x="133350" y="0"/>
                  </a:moveTo>
                  <a:lnTo>
                    <a:pt x="4652010" y="0"/>
                  </a:lnTo>
                  <a:lnTo>
                    <a:pt x="4518660" y="629602"/>
                  </a:lnTo>
                  <a:lnTo>
                    <a:pt x="0" y="629602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912495" y="2346960"/>
              <a:ext cx="4652962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912495" y="3041332"/>
              <a:ext cx="465296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912495" y="3735705"/>
              <a:ext cx="4652962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912495" y="4430078"/>
              <a:ext cx="465296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837815" y="1673066"/>
              <a:ext cx="80137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输入嵌入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位置编码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715082" y="247697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多头自注意力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16002" y="3171349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残差 + 层归一化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887396" y="386572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前馈网络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16002" y="456009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残差 + 层归一化</a:t>
              </a:r>
            </a:p>
          </p:txBody>
        </p:sp>
      </p:grpSp>
      <p:grpSp>
        <p:nvGrpSpPr>
          <p:cNvPr id="29" name="c1-text-2"/>
          <p:cNvGrpSpPr/>
          <p:nvPr/>
        </p:nvGrpSpPr>
        <p:grpSpPr>
          <a:xfrm>
            <a:off x="526923" y="5207794"/>
            <a:ext cx="5076698" cy="500824"/>
            <a:chOff x="526923" y="5207794"/>
            <a:chExt cx="5076698" cy="500824"/>
          </a:xfrm>
        </p:grpSpPr>
        <p:sp>
          <p:nvSpPr>
            <p:cNvPr id="28" name="TextBox 28"/>
            <p:cNvSpPr txBox="1"/>
            <p:nvPr/>
          </p:nvSpPr>
          <p:spPr>
            <a:xfrm>
              <a:off x="526923" y="5207794"/>
              <a:ext cx="5076698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右侧的回边表示这个块重复 N 次。解码器多一层遮蔽的自注意力，和一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层对编码器输出的注意力。</a:t>
              </a:r>
            </a:p>
          </p:txBody>
        </p:sp>
      </p:grpSp>
      <p:grpSp>
        <p:nvGrpSpPr>
          <p:cNvPr id="47" name="c2-card-1"/>
          <p:cNvGrpSpPr/>
          <p:nvPr/>
        </p:nvGrpSpPr>
        <p:grpSpPr>
          <a:xfrm>
            <a:off x="6248400" y="1524000"/>
            <a:ext cx="5410200" cy="2341245"/>
            <a:chOff x="6248400" y="1524000"/>
            <a:chExt cx="5410200" cy="2341245"/>
          </a:xfrm>
        </p:grpSpPr>
        <p:sp>
          <p:nvSpPr>
            <p:cNvPr id="30" name="Rectangle 30"/>
            <p:cNvSpPr/>
            <p:nvPr/>
          </p:nvSpPr>
          <p:spPr>
            <a:xfrm>
              <a:off x="6248400" y="1524000"/>
              <a:ext cx="5410200" cy="2341245"/>
            </a:xfrm>
            <a:prstGeom prst="roundRect">
              <a:avLst>
                <a:gd name="adj" fmla="val 56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57925" y="1657350"/>
              <a:ext cx="47625" cy="207454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96050" y="1733550"/>
              <a:ext cx="41910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84884" y="1769269"/>
              <a:ext cx="241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ViT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21830" y="1768792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把图像切成小块当词看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496050" y="211645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57899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97040" y="2129790"/>
              <a:ext cx="40033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把图像切成若干个固定大小的图块（patch）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496050" y="245173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57899" y="24940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97040" y="246507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每个图块拉平后做一次线性投影，得到一个向量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496050" y="278701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57899" y="28293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97040" y="280035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加上位置编码，排成一个序列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496050" y="312229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57899" y="31645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97040" y="3135630"/>
              <a:ext cx="4368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整条序列送进 Transformer 编码器，用一个额外的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分类标记的输出接 MLP 头做分类</a:t>
              </a:r>
            </a:p>
          </p:txBody>
        </p:sp>
      </p:grpSp>
      <p:grpSp>
        <p:nvGrpSpPr>
          <p:cNvPr id="53" name="c2-callout-2"/>
          <p:cNvGrpSpPr/>
          <p:nvPr/>
        </p:nvGrpSpPr>
        <p:grpSpPr>
          <a:xfrm>
            <a:off x="6248400" y="4055745"/>
            <a:ext cx="5410200" cy="1059180"/>
            <a:chOff x="6248400" y="4055745"/>
            <a:chExt cx="5410200" cy="1059180"/>
          </a:xfrm>
        </p:grpSpPr>
        <p:sp>
          <p:nvSpPr>
            <p:cNvPr id="48" name="Rectangle 48"/>
            <p:cNvSpPr/>
            <p:nvPr/>
          </p:nvSpPr>
          <p:spPr>
            <a:xfrm>
              <a:off x="6248400" y="4055745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453188" y="4485325"/>
              <a:ext cx="200023" cy="200023"/>
              <a:chOff x="6453188" y="4485325"/>
              <a:chExt cx="200023" cy="200023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453188" y="448532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586538" y="45519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6755130" y="4204335"/>
              <a:ext cx="4396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卷积把“局部相关”写死在结构里，ViT 不假设这一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条，靠大数据自己学，所以在小数据集上通常不如卷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积网络。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4" name="Rectangle 5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130" y="5991225"/>
              <a:ext cx="98420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Vaswani 等 2017 年的论文 Attention is all you need 提出 Transformer，ViT 把同一套结构搬到了图像上。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024884" cy="3351847"/>
            <a:chOff x="667512" y="1835468"/>
            <a:chExt cx="402488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50818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图神经网络 GNN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数据既不是网格也不是序列的时候怎么办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图结构数据有多常见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邻居数不固定带来的麻烦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消息传递的基本思想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图卷积的更新规则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0605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8796" y="407194"/>
              <a:ext cx="26143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常用网络模型 · 图神经网络 GNN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很多真实数据不是网格，也不是序列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kv-1"/>
          <p:cNvGrpSpPr/>
          <p:nvPr/>
        </p:nvGrpSpPr>
        <p:grpSpPr>
          <a:xfrm>
            <a:off x="525780" y="1548765"/>
            <a:ext cx="5417820" cy="2053590"/>
            <a:chOff x="525780" y="1548765"/>
            <a:chExt cx="5417820" cy="205359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社交网络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66862" y="154876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节点是人，边是好友关系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688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198882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引文网络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66862" y="198882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节点是论文，边是引用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0886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24288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分子结构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66862" y="24288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节点是原子，边是化学键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7489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5780" y="28689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道路地图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66862" y="286893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节点是路口，边是路段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18897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5780" y="330898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知识图谱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66862" y="33089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节点是实体，边是关系类型</a:t>
              </a:r>
            </a:p>
          </p:txBody>
        </p:sp>
      </p:grpSp>
      <p:grpSp>
        <p:nvGrpSpPr>
          <p:cNvPr id="33" name="c1-card-2"/>
          <p:cNvGrpSpPr/>
          <p:nvPr/>
        </p:nvGrpSpPr>
        <p:grpSpPr>
          <a:xfrm>
            <a:off x="533400" y="3733800"/>
            <a:ext cx="5410200" cy="1720215"/>
            <a:chOff x="533400" y="3733800"/>
            <a:chExt cx="5410200" cy="1720215"/>
          </a:xfrm>
        </p:grpSpPr>
        <p:sp>
          <p:nvSpPr>
            <p:cNvPr id="22" name="Rectangle 22"/>
            <p:cNvSpPr/>
            <p:nvPr/>
          </p:nvSpPr>
          <p:spPr>
            <a:xfrm>
              <a:off x="533400" y="3733800"/>
              <a:ext cx="5410200" cy="1720215"/>
            </a:xfrm>
            <a:prstGeom prst="roundRect">
              <a:avLst>
                <a:gd name="adj" fmla="val 77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3867150"/>
              <a:ext cx="47625" cy="145351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81050" y="3943350"/>
              <a:ext cx="164592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19787" y="3979069"/>
              <a:ext cx="15684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为什么 CNN、RNN 不行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33650" y="397859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三条假设全都不成立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86765" y="440245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44880" y="4339590"/>
              <a:ext cx="3478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邻居个数任意，不像图像里固定是 8 个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86765" y="47377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44880" y="467487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拓扑结构复杂，没有行列坐标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86765" y="50730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4880" y="501015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节点没有固定排序，换个编号图还是同一个图</a:t>
              </a:r>
            </a:p>
          </p:txBody>
        </p:sp>
      </p:grpSp>
      <p:grpSp>
        <p:nvGrpSpPr>
          <p:cNvPr id="48" name="c2-graph-1"/>
          <p:cNvGrpSpPr/>
          <p:nvPr/>
        </p:nvGrpSpPr>
        <p:grpSpPr>
          <a:xfrm>
            <a:off x="6646545" y="1762125"/>
            <a:ext cx="4181475" cy="2133314"/>
            <a:chOff x="6646545" y="1762125"/>
            <a:chExt cx="4181475" cy="2133314"/>
          </a:xfrm>
        </p:grpSpPr>
        <p:sp>
          <p:nvSpPr>
            <p:cNvPr id="34" name="Freeform 34"/>
            <p:cNvSpPr/>
            <p:nvPr/>
          </p:nvSpPr>
          <p:spPr>
            <a:xfrm>
              <a:off x="6920865" y="2030730"/>
              <a:ext cx="819150" cy="486728"/>
            </a:xfrm>
            <a:custGeom>
              <a:avLst/>
              <a:gdLst/>
              <a:ahLst/>
              <a:cxnLst/>
              <a:rect l="l" t="t" r="r" b="b"/>
              <a:pathLst>
                <a:path w="819150" h="486728">
                  <a:moveTo>
                    <a:pt x="0" y="486728"/>
                  </a:moveTo>
                  <a:lnTo>
                    <a:pt x="81915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6918960" y="2675572"/>
              <a:ext cx="931545" cy="578168"/>
            </a:xfrm>
            <a:custGeom>
              <a:avLst/>
              <a:gdLst/>
              <a:ahLst/>
              <a:cxnLst/>
              <a:rect l="l" t="t" r="r" b="b"/>
              <a:pathLst>
                <a:path w="931545" h="578168">
                  <a:moveTo>
                    <a:pt x="0" y="0"/>
                  </a:moveTo>
                  <a:lnTo>
                    <a:pt x="931545" y="57816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010525" y="2016442"/>
              <a:ext cx="1128712" cy="515303"/>
            </a:xfrm>
            <a:custGeom>
              <a:avLst/>
              <a:gdLst/>
              <a:ahLst/>
              <a:cxnLst/>
              <a:rect l="l" t="t" r="r" b="b"/>
              <a:pathLst>
                <a:path w="1128712" h="515303">
                  <a:moveTo>
                    <a:pt x="0" y="0"/>
                  </a:moveTo>
                  <a:lnTo>
                    <a:pt x="1128712" y="51530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112442" y="2670810"/>
              <a:ext cx="1033462" cy="587693"/>
            </a:xfrm>
            <a:custGeom>
              <a:avLst/>
              <a:gdLst/>
              <a:ahLst/>
              <a:cxnLst/>
              <a:rect l="l" t="t" r="r" b="b"/>
              <a:pathLst>
                <a:path w="1033462" h="587693">
                  <a:moveTo>
                    <a:pt x="0" y="587693"/>
                  </a:moveTo>
                  <a:lnTo>
                    <a:pt x="103346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882890" y="2105025"/>
              <a:ext cx="84772" cy="1076325"/>
            </a:xfrm>
            <a:custGeom>
              <a:avLst/>
              <a:gdLst/>
              <a:ahLst/>
              <a:cxnLst/>
              <a:rect l="l" t="t" r="r" b="b"/>
              <a:pathLst>
                <a:path w="84772" h="1076325">
                  <a:moveTo>
                    <a:pt x="0" y="0"/>
                  </a:moveTo>
                  <a:lnTo>
                    <a:pt x="84772" y="10763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9414510" y="1972628"/>
              <a:ext cx="1133475" cy="555307"/>
            </a:xfrm>
            <a:custGeom>
              <a:avLst/>
              <a:gdLst/>
              <a:ahLst/>
              <a:cxnLst/>
              <a:rect l="l" t="t" r="r" b="b"/>
              <a:pathLst>
                <a:path w="1133475" h="555307">
                  <a:moveTo>
                    <a:pt x="0" y="555307"/>
                  </a:moveTo>
                  <a:lnTo>
                    <a:pt x="113347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9412605" y="2666048"/>
              <a:ext cx="1137285" cy="597218"/>
            </a:xfrm>
            <a:custGeom>
              <a:avLst/>
              <a:gdLst/>
              <a:ahLst/>
              <a:cxnLst/>
              <a:rect l="l" t="t" r="r" b="b"/>
              <a:pathLst>
                <a:path w="1137285" h="597218">
                  <a:moveTo>
                    <a:pt x="0" y="0"/>
                  </a:moveTo>
                  <a:lnTo>
                    <a:pt x="1137285" y="59721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6646545" y="245268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7728585" y="180975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7837170" y="319087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9135428" y="2452688"/>
              <a:ext cx="285750" cy="28575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10542270" y="176212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10542270" y="319087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609482" y="3704749"/>
              <a:ext cx="26880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中间这个节点有 4 个邻居，左上那个只有 2 个</a:t>
              </a:r>
            </a:p>
          </p:txBody>
        </p:sp>
      </p:grpSp>
      <p:grpSp>
        <p:nvGrpSpPr>
          <p:cNvPr id="55" name="c2-callout-2"/>
          <p:cNvGrpSpPr/>
          <p:nvPr/>
        </p:nvGrpSpPr>
        <p:grpSpPr>
          <a:xfrm>
            <a:off x="6248400" y="4095750"/>
            <a:ext cx="5410200" cy="1358265"/>
            <a:chOff x="6248400" y="4095750"/>
            <a:chExt cx="5410200" cy="1358265"/>
          </a:xfrm>
        </p:grpSpPr>
        <p:sp>
          <p:nvSpPr>
            <p:cNvPr id="49" name="Rectangle 49"/>
            <p:cNvSpPr/>
            <p:nvPr/>
          </p:nvSpPr>
          <p:spPr>
            <a:xfrm>
              <a:off x="6248400" y="4095750"/>
              <a:ext cx="5410200" cy="1358265"/>
            </a:xfrm>
            <a:prstGeom prst="roundRect">
              <a:avLst>
                <a:gd name="adj" fmla="val 841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453188" y="4674870"/>
              <a:ext cx="200026" cy="200026"/>
              <a:chOff x="6453188" y="4674870"/>
              <a:chExt cx="200026" cy="20002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453188" y="467487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553200" y="474154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542088" y="477488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755130" y="4531995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记法：图 G = (A, X)，A 是 N×N 的邻接矩阵，X 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N×F 的特征矩阵，每行是一个节点的特征。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6" name="Rectangle 5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130" y="5991225"/>
              <a:ext cx="7082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图上的算子必须对节点编号的置换不变，换一套编号算出来的结果要一一对应。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0605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8796" y="407194"/>
              <a:ext cx="26143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常用网络模型 · 图神经网络 GNN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从网格卷积到图卷积：都是在聚合邻居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293495"/>
            <a:chOff x="533400" y="1524000"/>
            <a:chExt cx="5626418" cy="12934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9940" y="176355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换一个角度看卷积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30184" y="1767364"/>
              <a:ext cx="29306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3×3 卷积就是聚合 8 个邻居加自己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91070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对网格上的每个像素，先把 9 个位置的隐层向量各自乘一个矩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阵，再求和过激活函数。写出来是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118"/>
              <p:cNvSpPr txBox="1">
                <a:spLocks noGrp="1"/>
              </p:cNvSpPr>
              <p:nvPr/>
            </p:nvSpPr>
            <p:spPr>
              <a:xfrm>
                <a:off x="533400" y="3002280"/>
                <a:ext cx="5626418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sub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σ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​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Sup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  <m: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</m:t>
                                  </m:r>
                                </m:e>
                              </m:d>
                            </m:sup>
                          </m:sSubSup>
                          <m:sSubSup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  <m: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</m:t>
                                  </m:r>
                                </m:e>
                              </m:d>
                            </m:sup>
                          </m:sSubSup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Sup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</m:t>
                                  </m:r>
                                </m:e>
                              </m:d>
                            </m:sup>
                          </m:sSubSup>
                          <m:sSubSup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</m:t>
                                  </m:r>
                                </m:e>
                              </m:d>
                            </m:sup>
                          </m:sSubSup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+⋯+</m:t>
                          </m:r>
                          <m:sSubSup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8</m:t>
                              </m:r>
                            </m:sub>
                            <m: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</m:t>
                                  </m:r>
                                </m:e>
                              </m:d>
                            </m:sup>
                          </m:sSubSup>
                          <m:sSubSup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8</m:t>
                              </m:r>
                            </m:sub>
                            <m: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3" name="c1-card-3"/>
          <p:cNvGrpSpPr/>
          <p:nvPr/>
        </p:nvGrpSpPr>
        <p:grpSpPr>
          <a:xfrm>
            <a:off x="533400" y="3511868"/>
            <a:ext cx="5626418" cy="2020252"/>
            <a:chOff x="533400" y="3511868"/>
            <a:chExt cx="5626418" cy="2020252"/>
          </a:xfrm>
        </p:grpSpPr>
        <p:sp>
          <p:nvSpPr>
            <p:cNvPr id="15" name="Rectangle 15"/>
            <p:cNvSpPr/>
            <p:nvPr/>
          </p:nvSpPr>
          <p:spPr>
            <a:xfrm>
              <a:off x="533400" y="3511868"/>
              <a:ext cx="5626418" cy="2020252"/>
            </a:xfrm>
            <a:prstGeom prst="roundRect">
              <a:avLst>
                <a:gd name="adj" fmla="val 6601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37235" y="3715702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1840" y="375142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搬到图上要改两处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92084" y="375523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邻居数不定，且没有方位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44855" y="416718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1446" y="4107656"/>
              <a:ext cx="478447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每个方位一个 W 行不通，因为图上没有“左上、正右”这种方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位，改成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所有邻居共用一个 W₁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44855" y="475869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01446" y="4699159"/>
              <a:ext cx="469430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邻居个数不同，求和要除以一个归一化常数 cᵢⱼ，否则度大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的节点数值会大得多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6464618" y="1524000"/>
            <a:ext cx="5193982" cy="2066925"/>
            <a:chOff x="6464618" y="1524000"/>
            <a:chExt cx="5193982" cy="2066925"/>
          </a:xfrm>
        </p:grpSpPr>
        <p:sp>
          <p:nvSpPr>
            <p:cNvPr id="24" name="Rectangle 24"/>
            <p:cNvSpPr/>
            <p:nvPr/>
          </p:nvSpPr>
          <p:spPr>
            <a:xfrm>
              <a:off x="6464618" y="1524000"/>
              <a:ext cx="5193982" cy="2066925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74142" y="1657350"/>
              <a:ext cx="47625" cy="180022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706552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88861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主要思想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92758" y="176736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在节点之间传递消息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99314" y="2119789"/>
              <a:ext cx="457708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每个节点把自己的表示发给邻居，同时收下邻居发来的，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汇总后更新自己。这个过程重复 L 次，节点就看到了 L 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以内的全部结构。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00456" y="2978468"/>
              <a:ext cx="44317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换一种说法：每个节点定义自己的计算图，每条边上挂一个变换与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聚合函数。</a:t>
              </a:r>
            </a:p>
          </p:txBody>
        </p:sp>
      </p:grpSp>
      <p:grpSp>
        <p:nvGrpSpPr>
          <p:cNvPr id="46" name="c2-flow-2"/>
          <p:cNvGrpSpPr/>
          <p:nvPr/>
        </p:nvGrpSpPr>
        <p:grpSpPr>
          <a:xfrm>
            <a:off x="6597968" y="4249102"/>
            <a:ext cx="4927282" cy="809625"/>
            <a:chOff x="6597968" y="4249102"/>
            <a:chExt cx="4927282" cy="809625"/>
          </a:xfrm>
        </p:grpSpPr>
        <p:sp>
          <p:nvSpPr>
            <p:cNvPr id="32" name="Freeform 32"/>
            <p:cNvSpPr/>
            <p:nvPr/>
          </p:nvSpPr>
          <p:spPr>
            <a:xfrm>
              <a:off x="7629525" y="465391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791450" y="46015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8928735" y="465391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090660" y="46015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10226992" y="465391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10388918" y="46015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6597968" y="4351972"/>
              <a:ext cx="1031557" cy="603885"/>
            </a:xfrm>
            <a:custGeom>
              <a:avLst/>
              <a:gdLst/>
              <a:ahLst/>
              <a:cxnLst/>
              <a:rect l="l" t="t" r="r" b="b"/>
              <a:pathLst>
                <a:path w="1031557" h="603885">
                  <a:moveTo>
                    <a:pt x="133350" y="0"/>
                  </a:moveTo>
                  <a:lnTo>
                    <a:pt x="1031557" y="0"/>
                  </a:lnTo>
                  <a:lnTo>
                    <a:pt x="898207" y="603885"/>
                  </a:lnTo>
                  <a:lnTo>
                    <a:pt x="0" y="603885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896225" y="4351972"/>
              <a:ext cx="1031558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9195435" y="4351972"/>
              <a:ext cx="1031558" cy="603885"/>
            </a:xfrm>
            <a:prstGeom prst="roundRect">
              <a:avLst>
                <a:gd name="adj" fmla="val 15773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0493692" y="4249102"/>
              <a:ext cx="1031558" cy="80962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10946" y="4467225"/>
              <a:ext cx="60655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邻居 j 的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表示 hⱼ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23504" y="4467225"/>
              <a:ext cx="37795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变换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W₁hⱼ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411272" y="4467225"/>
              <a:ext cx="59893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或平均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722864" y="4364355"/>
              <a:ext cx="572262" cy="6461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更新</a:t>
              </a:r>
              <a:br/>
              <a:r>
                <a:rPr lang="el-GR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σ(W₀hᵢ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 …)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7" name="Rectangle 47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511" y="6004084"/>
              <a:ext cx="94972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更正：原课件第 91 页写 Wᵢhᵢ（h 是列向量），第 93 页写 hᵢW₀（h 是行向量）。本讲义统一按列向量写 W h。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32030" cy="909257"/>
            <a:chOff x="520446" y="342900"/>
            <a:chExt cx="603203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0605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8796" y="407194"/>
              <a:ext cx="26143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常用网络模型 · 图神经网络 GNN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3203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图卷积网络 GCN 的更新规则与一次手算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25"/>
              <p:cNvSpPr txBox="1">
                <a:spLocks noGrp="1"/>
              </p:cNvSpPr>
              <p:nvPr/>
            </p:nvSpPr>
            <p:spPr>
              <a:xfrm>
                <a:off x="533400" y="1524000"/>
                <a:ext cx="54102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σ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​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Sup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  <m: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</m:t>
                                  </m:r>
                                </m:e>
                              </m:d>
                            </m:sup>
                          </m:sSubSup>
                          <m:sSubSup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  <m: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</m:t>
                                  </m:r>
                                </m:e>
                              </m:d>
                            </m:sup>
                          </m:sSubSup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∈</m:t>
                              </m:r>
                              <m:sSub>
                                <m:e>
                                  <m:r>
                                    <m:rPr>
                                      <m:scr m:val="script"/>
                                      <m:sty m:val="p"/>
                                    </m:r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sub>
                            <m:sup/>
                            <m:e>
                              <m:f>
                                <m:fPr>
                                  <m:type m:val="bar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e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ij</m:t>
                                      </m:r>
                                    </m:sub>
                                  </m:sSub>
                                </m:den>
                              </m:f>
                              <m:sSubSup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W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l</m:t>
                                      </m:r>
                                    </m:e>
                                  </m:d>
                                </m:sup>
                              </m:sSubSup>
                              <m:sSubSup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l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nary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9" name="c1-kv-2"/>
          <p:cNvGrpSpPr/>
          <p:nvPr/>
        </p:nvGrpSpPr>
        <p:grpSpPr>
          <a:xfrm>
            <a:off x="526923" y="2243614"/>
            <a:ext cx="5416677" cy="1371409"/>
            <a:chOff x="526923" y="2243614"/>
            <a:chExt cx="5416677" cy="1371409"/>
          </a:xfrm>
        </p:grpSpPr>
        <p:sp>
          <p:nvSpPr>
            <p:cNvPr id="8" name="TextBox 8"/>
            <p:cNvSpPr txBox="1"/>
            <p:nvPr/>
          </p:nvSpPr>
          <p:spPr>
            <a:xfrm>
              <a:off x="526923" y="2243614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Nᵢ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7943" y="2243614"/>
              <a:ext cx="17188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 i 的邻居编号集合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33400" y="25155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6923" y="2616994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cᵢⱼ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7943" y="2616994"/>
              <a:ext cx="43350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归一化常数，可固定也可训练，常取 |Nᵢ| 或 √(|Nᵢ||Nⱼ|)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28889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6923" y="2991326"/>
              <a:ext cx="2614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W₀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67943" y="299132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作用在自己身上的权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26326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6923" y="3365659"/>
              <a:ext cx="2614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W₁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67943" y="336565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所有邻居共用的权</a:t>
              </a:r>
            </a:p>
          </p:txBody>
        </p:sp>
      </p:grpSp>
      <p:grpSp>
        <p:nvGrpSpPr>
          <p:cNvPr id="27" name="c1-bullets-3"/>
          <p:cNvGrpSpPr/>
          <p:nvPr/>
        </p:nvGrpSpPr>
        <p:grpSpPr>
          <a:xfrm>
            <a:off x="526923" y="3750469"/>
            <a:ext cx="2834831" cy="1136141"/>
            <a:chOff x="526923" y="3750469"/>
            <a:chExt cx="2834831" cy="1136141"/>
          </a:xfrm>
        </p:grpSpPr>
        <p:sp>
          <p:nvSpPr>
            <p:cNvPr id="20" name="TextBox 20"/>
            <p:cNvSpPr txBox="1"/>
            <p:nvPr/>
          </p:nvSpPr>
          <p:spPr>
            <a:xfrm>
              <a:off x="526923" y="375046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三个优点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533400" y="4078605"/>
              <a:ext cx="122873" cy="99060"/>
            </a:xfrm>
            <a:custGeom>
              <a:avLst/>
              <a:gdLst/>
              <a:ahLst/>
              <a:cxnLst/>
              <a:rect l="l" t="t" r="r" b="b"/>
              <a:pathLst>
                <a:path w="122873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4096" y="405145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所有位置的权重共享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533400" y="4371975"/>
              <a:ext cx="122873" cy="99060"/>
            </a:xfrm>
            <a:custGeom>
              <a:avLst/>
              <a:gdLst/>
              <a:ahLst/>
              <a:cxnLst/>
              <a:rect l="l" t="t" r="r" b="b"/>
              <a:pathLst>
                <a:path w="122873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4096" y="4344829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排列不变性，换编号结果对应不变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533400" y="4664392"/>
              <a:ext cx="122873" cy="99060"/>
            </a:xfrm>
            <a:custGeom>
              <a:avLst/>
              <a:gdLst/>
              <a:ahLst/>
              <a:cxnLst/>
              <a:rect l="l" t="t" r="r" b="b"/>
              <a:pathLst>
                <a:path w="122873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4096" y="463724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复杂度对边数是线性的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248400" y="1524000"/>
            <a:ext cx="5410200" cy="1160145"/>
            <a:chOff x="6248400" y="1524000"/>
            <a:chExt cx="5410200" cy="1160145"/>
          </a:xfrm>
        </p:grpSpPr>
        <p:sp>
          <p:nvSpPr>
            <p:cNvPr id="28" name="Rectangle 28"/>
            <p:cNvSpPr/>
            <p:nvPr/>
          </p:nvSpPr>
          <p:spPr>
            <a:xfrm>
              <a:off x="6248400" y="1524000"/>
              <a:ext cx="5410200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57925" y="1657350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67475" y="170497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63246" y="173783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909626" y="174450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四个节点，算一次更新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60998" y="2061686"/>
              <a:ext cx="47515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图的边：1-2、1-3、2-3、3-4。特征取一维，h = (1, 2, 3, 4)。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W₀ = W₁ = 1，cᵢⱼ = |Nᵢ|，σ 取 ReLU。</a:t>
              </a:r>
            </a:p>
          </p:txBody>
        </p:sp>
      </p:grpSp>
      <p:grpSp>
        <p:nvGrpSpPr>
          <p:cNvPr id="66" name="c2-table-2"/>
          <p:cNvGrpSpPr/>
          <p:nvPr/>
        </p:nvGrpSpPr>
        <p:grpSpPr>
          <a:xfrm>
            <a:off x="6248400" y="2848928"/>
            <a:ext cx="5410200" cy="1906905"/>
            <a:chOff x="6248400" y="2848928"/>
            <a:chExt cx="5410200" cy="1906905"/>
          </a:xfrm>
        </p:grpSpPr>
        <p:sp>
          <p:nvSpPr>
            <p:cNvPr id="35" name="Rectangle 35"/>
            <p:cNvSpPr/>
            <p:nvPr/>
          </p:nvSpPr>
          <p:spPr>
            <a:xfrm>
              <a:off x="6248400" y="2848928"/>
              <a:ext cx="5410200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80810" y="296608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节点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99972" y="296608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邻居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23032" y="296608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808970" y="296608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43079" y="334803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00316" y="3348038"/>
              <a:ext cx="2863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2, 3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82356" y="3348038"/>
              <a:ext cx="7951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(2+3)/2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346436" y="3348038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3.5000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360711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48400" y="3611880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43079" y="372903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00316" y="3729038"/>
              <a:ext cx="2863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182356" y="3729038"/>
              <a:ext cx="7951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+ (1+3)/2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346436" y="3729038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4.0000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398811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43079" y="411099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00316" y="411099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1, 2, 4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182356" y="4110990"/>
              <a:ext cx="9506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+ (1+2+4)/3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0261282" y="4002405"/>
              <a:ext cx="1387792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346436" y="411099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5.3333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248400" y="437007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248400" y="437483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43079" y="449199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100316" y="449199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182356" y="449199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+ 3/1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346436" y="449199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7.0000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248400" y="2848928"/>
              <a:ext cx="541020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7000875" y="2848928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8082915" y="2848928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10246995" y="2848928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3" name="c2-callout-3"/>
          <p:cNvGrpSpPr/>
          <p:nvPr/>
        </p:nvGrpSpPr>
        <p:grpSpPr>
          <a:xfrm>
            <a:off x="6248400" y="4920615"/>
            <a:ext cx="5410200" cy="702945"/>
            <a:chOff x="6248400" y="4920615"/>
            <a:chExt cx="5410200" cy="702945"/>
          </a:xfrm>
        </p:grpSpPr>
        <p:sp>
          <p:nvSpPr>
            <p:cNvPr id="67" name="Rectangle 67"/>
            <p:cNvSpPr/>
            <p:nvPr/>
          </p:nvSpPr>
          <p:spPr>
            <a:xfrm>
              <a:off x="6248400" y="4920615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6453188" y="5172075"/>
              <a:ext cx="200026" cy="200025"/>
              <a:chOff x="6453188" y="5172075"/>
              <a:chExt cx="200026" cy="200025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6453188" y="517207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492926" y="521652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527642" y="532765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6756273" y="5065871"/>
              <a:ext cx="40525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若改用 Kipf 的对称归一化 cᵢⱼ = √(|Nᵢ||Nⱼ|)，节点 3 得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6.5341，度大的邻居被压得更狠。</a:t>
              </a:r>
            </a:p>
          </p:txBody>
        </p:sp>
      </p:grpSp>
      <p:grpSp>
        <p:nvGrpSpPr>
          <p:cNvPr id="7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4" name="Rectangle 7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1041273" y="6039326"/>
              <a:ext cx="91641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一层 GCN 只看一跳邻居；叠 L 层才看得到 L 跳。层数太多所有节点的表示会趋同，这叫过平滑，实践中常用 2 到 3 层。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0605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8796" y="407194"/>
              <a:ext cx="26143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常用网络模型 · 图神经网络 GNN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图神经网络能做哪些任务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table-1"/>
          <p:cNvGrpSpPr/>
          <p:nvPr/>
        </p:nvGrpSpPr>
        <p:grpSpPr>
          <a:xfrm>
            <a:off x="527685" y="1524000"/>
            <a:ext cx="5632133" cy="3306604"/>
            <a:chOff x="527685" y="1524000"/>
            <a:chExt cx="5632133" cy="330660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4108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30184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预测对象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2913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42925" y="1964055"/>
              <a:ext cx="1331595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38746" y="20850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节点分类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89392" y="208502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单个节点的标签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339084" y="2085022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判断一篇论文属于哪个研究方向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37934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384108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8746" y="251555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边预测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89392" y="251555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两点间有没有边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339084" y="251555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社交网络的好友推荐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80987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2824162"/>
              <a:ext cx="1331595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8746" y="294608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图分类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89392" y="294608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整张图的标签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339084" y="2946082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判断一个分子有没有毒性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23945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244215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8746" y="33756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社区发现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89392" y="33756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节点的分组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39084" y="33756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找出社交网络里的小团体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66998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8746" y="380619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图嵌入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89392" y="380619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图的向量表示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339084" y="380619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把图压成定长向量供下游使用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10051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105275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8746" y="423576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图生成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989392" y="423576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新的图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339084" y="4235768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生成满足给定性质的候选分子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1524000"/>
              <a:ext cx="5626418" cy="3010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879282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3228975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7685" y="461057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常见下游任务</a:t>
              </a:r>
            </a:p>
          </p:txBody>
        </p:sp>
      </p:grpSp>
      <p:grpSp>
        <p:nvGrpSpPr>
          <p:cNvPr id="55" name="c2-kv-1"/>
          <p:cNvGrpSpPr/>
          <p:nvPr/>
        </p:nvGrpSpPr>
        <p:grpSpPr>
          <a:xfrm>
            <a:off x="6457379" y="1547336"/>
            <a:ext cx="5201221" cy="2347532"/>
            <a:chOff x="6457379" y="1547336"/>
            <a:chExt cx="5201221" cy="2347532"/>
          </a:xfrm>
        </p:grpSpPr>
        <p:sp>
          <p:nvSpPr>
            <p:cNvPr id="44" name="TextBox 44"/>
            <p:cNvSpPr txBox="1"/>
            <p:nvPr/>
          </p:nvSpPr>
          <p:spPr>
            <a:xfrm>
              <a:off x="6457379" y="1547336"/>
              <a:ext cx="848551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2005 原始</a:t>
              </a:r>
              <a:br/>
              <a:r>
                <a:rPr lang="en-US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GNN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08024" y="1547336"/>
              <a:ext cx="3486023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Gori、Monfardini 与 Scarselli 提出在图领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域学习的模型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64618" y="212121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457379" y="223694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谱方法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08024" y="2236946"/>
              <a:ext cx="3612261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ChebNet、Spectral CNN，从图傅里叶变换出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64618" y="281082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457379" y="292655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空间方法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808024" y="2926556"/>
              <a:ext cx="37597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GCN、GraphSAGE、GAT，直接在邻域上聚合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464618" y="323183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457379" y="3348514"/>
              <a:ext cx="8946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GAT 2018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808024" y="3348514"/>
              <a:ext cx="362127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把聚合权重也用注意力算出来，而不是固定的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cᵢⱼ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6464618" y="4024312"/>
            <a:ext cx="5193982" cy="1564958"/>
            <a:chOff x="6464618" y="4024312"/>
            <a:chExt cx="5193982" cy="1564958"/>
          </a:xfrm>
        </p:grpSpPr>
        <p:sp>
          <p:nvSpPr>
            <p:cNvPr id="56" name="Rectangle 56"/>
            <p:cNvSpPr/>
            <p:nvPr/>
          </p:nvSpPr>
          <p:spPr>
            <a:xfrm>
              <a:off x="6464618" y="4024312"/>
              <a:ext cx="5193982" cy="1564958"/>
            </a:xfrm>
            <a:prstGeom prst="roundRect">
              <a:avLst>
                <a:gd name="adj" fmla="val 8521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668452" y="422814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750761" y="42638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一条线索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554658" y="426767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本讲四种网络的共同点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61214" y="4619149"/>
              <a:ext cx="45229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卷积在网格的邻域上聚合，循环在时间的前一步上聚合，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注意力在全序列上按相关度聚合，图网络在图的邻域上聚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合。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差别只在“邻域怎么定义、权重怎么给”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2" name="Rectangle 62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0511" y="6004084"/>
              <a:ext cx="96220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Gori M, Monfardini G, Scarselli F. A new model for learning in graph domains. IJCNN 2005, 2: 729-734。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自测题（一）概念与结构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920615" cy="264033"/>
            <a:chOff x="526542" y="1545907"/>
            <a:chExt cx="492061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先自己写出答案，再对照。带计算的题请把每一步都写出来。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5410200" cy="1671638"/>
            <a:chOff x="533400" y="1928812"/>
            <a:chExt cx="5410200" cy="167163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37170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图像的哪三条性质分别对应 CNN 的哪三种设计？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735104"/>
              <a:ext cx="47271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模式比整张图小，对应局部连接；同一模式出现在不同位置，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对应权值共享；下采样不改变对象是什么，对应池化。前两条由卷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积层实现，第三条由池化层实现。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765232"/>
            <a:ext cx="5410200" cy="1914525"/>
            <a:chOff x="533400" y="3765232"/>
            <a:chExt cx="5410200" cy="1914525"/>
          </a:xfrm>
        </p:grpSpPr>
        <p:sp>
          <p:nvSpPr>
            <p:cNvPr id="15" name="Rectangle 15"/>
            <p:cNvSpPr/>
            <p:nvPr/>
          </p:nvSpPr>
          <p:spPr>
            <a:xfrm>
              <a:off x="533400" y="3765232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39462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39790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286726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为什么卷积层的参数个数与输入图像的大小无关？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4571524"/>
              <a:ext cx="47271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一个滤波器只有 f×f×C 个权，滑过多少位置都用同一组，图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像变大只是输出特征图变大。全连接层每个输出单元对每个像素各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有一个权，所以随图像面积增长。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28812"/>
            <a:ext cx="5410200" cy="1914525"/>
            <a:chOff x="6248400" y="1928812"/>
            <a:chExt cx="5410200" cy="1914525"/>
          </a:xfrm>
        </p:grpSpPr>
        <p:sp>
          <p:nvSpPr>
            <p:cNvPr id="21" name="Rectangle 21"/>
            <p:cNvSpPr/>
            <p:nvPr/>
          </p:nvSpPr>
          <p:spPr>
            <a:xfrm>
              <a:off x="6248400" y="1928812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29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18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22898" y="2449354"/>
              <a:ext cx="4618685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 28×28、滤波器 5×5、padding 2、stride 2 时输出多大？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参数有多少个（输入 3 通道、16 个滤波器）？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2898" y="2977991"/>
              <a:ext cx="444271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尺寸按 ⌊(28+2×2−5)/2⌋+1 = ⌊27/2⌋+1 = 13+1 = 14，输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 14×14×16。参数按 (f·f·C+1)·K = (5×5×3+1)×16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76×16 = 1216 个。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4008120"/>
            <a:ext cx="5410200" cy="1671638"/>
            <a:chOff x="6248400" y="4008120"/>
            <a:chExt cx="5410200" cy="1671638"/>
          </a:xfrm>
        </p:grpSpPr>
        <p:sp>
          <p:nvSpPr>
            <p:cNvPr id="27" name="Rectangle 27"/>
            <p:cNvSpPr/>
            <p:nvPr/>
          </p:nvSpPr>
          <p:spPr>
            <a:xfrm>
              <a:off x="6248400" y="4008120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29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18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22898" y="4529614"/>
              <a:ext cx="45778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普通 RNN 的梯度为什么会消失？LSTM 把它挡在了哪一步？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2898" y="4814411"/>
              <a:ext cx="468655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误差传回 t−k 步要连乘同样多个 Wᵀ，W 的最大奇异值小于 1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时按指数衰减到 0。LSTM 的细胞状态是加法更新，∂cₜ/∂cₜ₋₁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fₜ，连乘的是一串可以接近 1 的遗忘门取值。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3" name="Rectangle 3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1273" y="6039326"/>
              <a:ext cx="5897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2 题的两个公式是本讲最常考的计算，先算尺寸再算参数，不要混在一起。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自测题（二）计算与易错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914525"/>
            <a:chOff x="533400" y="1524000"/>
            <a:chExt cx="5410200" cy="19145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4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3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07898" y="2045494"/>
              <a:ext cx="47170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4×4 的特征图 [[3,−1,−3,−1], [−3,1,0,−3], [−3,−3,0,1],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[3,−2,−2,−1]] 做 2×2、步长 2 的最大池化，结果是什么？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7898" y="2573179"/>
              <a:ext cx="467029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四个互不重叠的窗口是 {3,−1,−3,1}、{−3,−1,0,−3}、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{−3,−3,3,−2}、{0,1,−2,−1}，最大值 3、0、3、1，结果 [[3,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0], [3, 1]]，行主序展平是 3, 0, 3, 1。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603308"/>
            <a:ext cx="5410200" cy="1914525"/>
            <a:chOff x="533400" y="3603308"/>
            <a:chExt cx="5410200" cy="1914525"/>
          </a:xfrm>
        </p:grpSpPr>
        <p:sp>
          <p:nvSpPr>
            <p:cNvPr id="13" name="Rectangle 13"/>
            <p:cNvSpPr/>
            <p:nvPr/>
          </p:nvSpPr>
          <p:spPr>
            <a:xfrm>
              <a:off x="533400" y="3603308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14375" y="378428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3832" y="381714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7898" y="4124801"/>
              <a:ext cx="39473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自注意力里为什么要把 q·k 除以 √d？不除会怎样？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7898" y="4409599"/>
              <a:ext cx="475970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q、k 的分量近似独立、均值 0 方差 1 时，点乘的方差正比于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d。d 大时 softmax 被推进饱和区，输出接近 one-hot，梯度接近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0。除以 √d 把方差拉回 1 附近。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1914525"/>
            <a:chOff x="6248400" y="1524000"/>
            <a:chExt cx="5410200" cy="191452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29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18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22898" y="2045494"/>
              <a:ext cx="457032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 RNN，权全为 1、无偏置、隐层初值 0，输入序列 (2,2)、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(1,1)、(1,1)，写出三步的输出。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22898" y="2573179"/>
              <a:ext cx="475970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步 a = 2+2+0+0 = 4，y = 8；第 2 步 a = 1+1+4+4 = 10，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20；第 3 步 a = 1+1+10+10 = 22，y = 44。与顺序 (1,1)、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(1,1)、(2,2) 得到的 4、12、32 不同，网络对顺序敏感。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603308"/>
            <a:ext cx="5410200" cy="1914525"/>
            <a:chOff x="6248400" y="3603308"/>
            <a:chExt cx="5410200" cy="1914525"/>
          </a:xfrm>
        </p:grpSpPr>
        <p:sp>
          <p:nvSpPr>
            <p:cNvPr id="25" name="Rectangle 25"/>
            <p:cNvSpPr/>
            <p:nvPr/>
          </p:nvSpPr>
          <p:spPr>
            <a:xfrm>
              <a:off x="6248400" y="3603308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29375" y="378428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18832" y="381714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22898" y="4124801"/>
              <a:ext cx="4777181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一层 GCN 对节点 i 的更新只用到了几跳以内的信息？层数是不是越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多越好？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2898" y="4652486"/>
              <a:ext cx="47271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一层只聚合一跳邻居，L 层看得到 L 跳。层数一多，各节点反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复平均邻居的表示最终趋于相同，称为过平滑，精度反而下降。实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践中常用 2 到 3 层，再深要加残差。</a:t>
              </a:r>
            </a:p>
          </p:txBody>
        </p:sp>
      </p:grpSp>
      <p:grpSp>
        <p:nvGrpSpPr>
          <p:cNvPr id="3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1" name="Rectangle 3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1273" y="6039326"/>
              <a:ext cx="74741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1 题是最容易错的一道：池化窗口互不重叠，别按步长 1 滑；展平要按行主序，先左右再上下。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544574" cy="909257"/>
            <a:chOff x="520446" y="342900"/>
            <a:chExt cx="15445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3162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3114" y="407194"/>
              <a:ext cx="1352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常用网络模型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bullets-1"/>
          <p:cNvGrpSpPr/>
          <p:nvPr/>
        </p:nvGrpSpPr>
        <p:grpSpPr>
          <a:xfrm>
            <a:off x="533400" y="1533525"/>
            <a:ext cx="5371074" cy="2019585"/>
            <a:chOff x="533400" y="1533525"/>
            <a:chExt cx="5371074" cy="2019585"/>
          </a:xfrm>
        </p:grpSpPr>
        <p:sp>
          <p:nvSpPr>
            <p:cNvPr id="7" name="Ellipse 7"/>
            <p:cNvSpPr/>
            <p:nvPr/>
          </p:nvSpPr>
          <p:spPr>
            <a:xfrm>
              <a:off x="533400" y="1533525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5307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3148" y="1545431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图像的三条性质换来三种设计：局部连接、权值共享、池化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26895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5307" y="1862519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3148" y="1837849"/>
              <a:ext cx="51013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输出尺寸 ⌊(n+2p−f)/s⌋+1，参数 (f·f·C+1)·K，与图像大小无关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120265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5307" y="21558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3148" y="2131219"/>
              <a:ext cx="39643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卷积池化在提特征，Flatten 之后的全连接在做判断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413635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5307" y="24483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3148" y="2424589"/>
              <a:ext cx="34696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RNN 用一份隐状态携带上文，对输入顺序敏感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706052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5307" y="274167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3148" y="2717006"/>
              <a:ext cx="4705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长程依赖靠 LSTM 的加法通路和门控保住，GRU 是它的精简版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2999422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85307" y="303504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3148" y="3010376"/>
              <a:ext cx="47243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注意力按相关度加权求和，自注意力还能并行，代价是 O(n²)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33400" y="3292792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85307" y="332746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3148" y="3303746"/>
              <a:ext cx="48481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GNN 在邻域上聚合消息，一层一跳，靠归一化常数摆平度的差异</a:t>
              </a:r>
            </a:p>
          </p:txBody>
        </p:sp>
      </p:grpSp>
      <p:grpSp>
        <p:nvGrpSpPr>
          <p:cNvPr id="34" name="c1-card-2"/>
          <p:cNvGrpSpPr/>
          <p:nvPr/>
        </p:nvGrpSpPr>
        <p:grpSpPr>
          <a:xfrm>
            <a:off x="533400" y="3667125"/>
            <a:ext cx="5842635" cy="1700212"/>
            <a:chOff x="533400" y="3667125"/>
            <a:chExt cx="5842635" cy="1700212"/>
          </a:xfrm>
        </p:grpSpPr>
        <p:sp>
          <p:nvSpPr>
            <p:cNvPr id="29" name="Rectangle 29"/>
            <p:cNvSpPr/>
            <p:nvPr/>
          </p:nvSpPr>
          <p:spPr>
            <a:xfrm>
              <a:off x="533400" y="3667125"/>
              <a:ext cx="5842635" cy="1700212"/>
            </a:xfrm>
            <a:prstGeom prst="roundRect">
              <a:avLst>
                <a:gd name="adj" fmla="val 7843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14375" y="3848100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2996" y="388096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接下来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05128" y="3888581"/>
              <a:ext cx="2116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5 章径向基与自组织映射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7898" y="4204811"/>
              <a:ext cx="52148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本讲四种网络改的都是“连接方式”。第 5 章换的是隐层神经元的响应方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式：径向基网络的隐层按到中心的距离响应，自组织映射则在无监督下把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高维样本排到低维格点上。</a:t>
              </a:r>
            </a:p>
          </p:txBody>
        </p:sp>
      </p:grpSp>
      <p:grpSp>
        <p:nvGrpSpPr>
          <p:cNvPr id="53" name="c2-table-1"/>
          <p:cNvGrpSpPr/>
          <p:nvPr/>
        </p:nvGrpSpPr>
        <p:grpSpPr>
          <a:xfrm>
            <a:off x="6680835" y="1524000"/>
            <a:ext cx="4977765" cy="1906905"/>
            <a:chOff x="6680835" y="1524000"/>
            <a:chExt cx="4977765" cy="1906905"/>
          </a:xfrm>
        </p:grpSpPr>
        <p:sp>
          <p:nvSpPr>
            <p:cNvPr id="35" name="Rectangle 35"/>
            <p:cNvSpPr/>
            <p:nvPr/>
          </p:nvSpPr>
          <p:spPr>
            <a:xfrm>
              <a:off x="6680835" y="1524000"/>
              <a:ext cx="4977765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13136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549575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75514" y="2023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权值共享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70901" y="2023110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同一组权在所有位置重复使用，参数与图像大小无关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680835" y="228219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680835" y="2286952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75514" y="2404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遗忘门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70901" y="2404110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决定旧细胞状态保留多少，也是梯度的通路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680835" y="266319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75514" y="27851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注意力权重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70901" y="2785110"/>
              <a:ext cx="31415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一组非负且和为 1 的系数，决定各位置被取走多少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680835" y="304514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680835" y="3049905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75514" y="316706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过平滑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970901" y="3167062"/>
              <a:ext cx="19981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GCN 层数过多后各节点表示趋同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680835" y="1524000"/>
              <a:ext cx="4977765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871460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1" name="c2-card-2"/>
          <p:cNvGrpSpPr/>
          <p:nvPr/>
        </p:nvGrpSpPr>
        <p:grpSpPr>
          <a:xfrm>
            <a:off x="6680835" y="3595688"/>
            <a:ext cx="4977765" cy="1772602"/>
            <a:chOff x="6680835" y="3595688"/>
            <a:chExt cx="4977765" cy="1772602"/>
          </a:xfrm>
        </p:grpSpPr>
        <p:sp>
          <p:nvSpPr>
            <p:cNvPr id="54" name="Rectangle 54"/>
            <p:cNvSpPr/>
            <p:nvPr/>
          </p:nvSpPr>
          <p:spPr>
            <a:xfrm>
              <a:off x="6680835" y="3595688"/>
              <a:ext cx="4977765" cy="1772602"/>
            </a:xfrm>
            <a:prstGeom prst="roundRect">
              <a:avLst>
                <a:gd name="adj" fmla="val 75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690360" y="3729038"/>
              <a:ext cx="47625" cy="150590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899910" y="377666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992582" y="38095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466838" y="381619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900862" y="4121468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952769" y="415709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170611" y="4133374"/>
              <a:ext cx="32610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“细分像素”应为二次采样（subsampling）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900862" y="4407218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952769" y="44418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170611" y="4418171"/>
              <a:ext cx="38006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Flatten 的展开顺序画反了两格，应是 3, 0, 3, 1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900862" y="4692015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952769" y="472763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170611" y="4702969"/>
              <a:ext cx="33223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GoogLeNet 的 L 要大写，BLEU 全称漏空格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6900862" y="4976812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952769" y="501243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170611" y="4987766"/>
              <a:ext cx="28062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GNN 两页的 h 时而列向量时而行向量</a:t>
              </a:r>
            </a:p>
          </p:txBody>
        </p:sp>
      </p:grpSp>
      <p:grpSp>
        <p:nvGrpSpPr>
          <p:cNvPr id="78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72" name="Rectangle 72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738188" y="5911215"/>
              <a:ext cx="200026" cy="200025"/>
              <a:chOff x="738188" y="5911215"/>
              <a:chExt cx="200026" cy="200025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38188" y="591121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777926" y="595566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12642" y="606679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041273" y="5805011"/>
              <a:ext cx="98884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动手练三件事：把 6×6 卷积例题的 16 个数自己算一遍；把 RNN 例题换两种输入顺序各算三步；用 numpy 按矩阵公式实现一次自注意力，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和本讲第 42 页的数对上。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第4章 常用神经网络模型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l_ch04b">
  <a:themeElements>
    <a:clrScheme name="ml_ch04b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l_ch04b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l_ch04b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2026-09-19T13:58:13Z</dcterms:created>
  <dcterms:modified xsi:type="dcterms:W3CDTF">2026-09-19T13:58:13Z</dcterms:modified>
  <cp:category/>
  <cp:contentStatus/>
</cp:coreProperties>
</file>