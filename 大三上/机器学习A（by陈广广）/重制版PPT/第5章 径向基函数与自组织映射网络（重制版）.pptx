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l_ch0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l_ch0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e0ebb12c625b93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db0582a2567158f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10363e67566bd84.png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372100" cy="4077843"/>
            <a:chOff x="666750" y="1619250"/>
            <a:chExt cx="5372100" cy="407784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机器学习 · 第五章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372100" cy="14592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径向基函数与自组织映</a:t>
              </a:r>
              <a:br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射网络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78714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410718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用局部响应的隐单元做逼近，用竞争学习做聚类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461676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456152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径向基函数与插值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90728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852035"/>
              <a:ext cx="1899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正则化与广义 RBF 网络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519779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514254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三类参数的训练算法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548830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543306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自组织映射与竞争学习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983290" cy="205359"/>
            <a:chOff x="680466" y="6192202"/>
            <a:chExt cx="498329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9832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自学复习版｜据吉林大学《机器学习》A、B 两版第5章课件合并整理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725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0191" y="407194"/>
              <a:ext cx="1219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113" y="1520666"/>
            <a:ext cx="6286310" cy="4735831"/>
            <a:chOff x="523113" y="1520666"/>
            <a:chExt cx="6286310" cy="4735831"/>
          </a:xfrm>
        </p:grpSpPr>
        <p:sp>
          <p:nvSpPr>
            <p:cNvPr id="7" name="TextBox 7"/>
            <p:cNvSpPr txBox="1"/>
            <p:nvPr/>
          </p:nvSpPr>
          <p:spPr>
            <a:xfrm>
              <a:off x="523113" y="152066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558" y="15487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径向基函数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183975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只看到中心的距离、三个参数、四种常见形状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39178" y="211931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113" y="221980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1558" y="2247900"/>
              <a:ext cx="1865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RBF 神经网络与插值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2538889"/>
              <a:ext cx="3295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网络结构、完全内插、插值矩阵与 Micchelli 定理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39178" y="281940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113" y="2919889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1558" y="2947988"/>
              <a:ext cx="13270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广义 RBF 网络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23897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模式可分性、升维后线性可分、四条放宽与阈值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9178" y="3518535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113" y="3619024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1558" y="364712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训练算法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938111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中心的三种定法、扩展常数、最小均方与伪逆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39178" y="421767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113" y="431911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1558" y="4347210"/>
              <a:ext cx="13718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MLP 的比较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4638199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超平面与超球、全局学习与局部学习、用于分类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39178" y="4917758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113" y="501824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1558" y="50463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应用实例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3462" y="5337334"/>
              <a:ext cx="32208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 个高斯基函数逼近 Hermit 多项式的完整代码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39178" y="561689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113" y="571738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1558" y="574548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自组织映射网络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3462" y="6036469"/>
              <a:ext cx="2939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竞争学习、胜者为王、优胜邻域、U-Matrix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4688205"/>
            <a:chOff x="7114222" y="1524000"/>
            <a:chExt cx="4544378" cy="4688205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4688205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1657350"/>
              <a:ext cx="47625" cy="44215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44728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8167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53300" y="212883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9320" y="20726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说清楚径向基函数的三个参数各管什么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53300" y="243173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09320" y="237553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写出插值矩阵，并判断它什么时候可逆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53300" y="273462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09320" y="2678430"/>
              <a:ext cx="3782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手算把 XOR 升到 φ 空间，验证它变成线性可分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53300" y="303657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09320" y="2980372"/>
              <a:ext cx="3766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k-means 选中心、用伪逆法解出输出层权值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353300" y="333946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09320" y="3283268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手算一步竞争学习，说明为什么比点积等价于比距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24080" cy="3351847"/>
            <a:chOff x="667512" y="1835468"/>
            <a:chExt cx="582408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径向基函数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8141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一类只依赖“到中心有多远”的函数，是本章所有网络的零件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327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定义：φ(x) = φ(||x − c||)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三个参数：中心、距离度量、形状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四种常见的径向基函数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扩展常数 δ 与局部特性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58175" cy="909257"/>
            <a:chOff x="520446" y="342900"/>
            <a:chExt cx="62581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5552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080" y="407194"/>
              <a:ext cx="2166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径向基函数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581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径向基函数：函数值只看“离中心有多远”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01459" cy="264033"/>
            <a:chOff x="526542" y="1545907"/>
            <a:chExt cx="710145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把输入向量先压成一个标量距离，再送进一个一元函数，这就是径向基函数的全部构造。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28812"/>
            <a:ext cx="5626418" cy="2024062"/>
            <a:chOff x="533400" y="1928812"/>
            <a:chExt cx="5626418" cy="202406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2024062"/>
            </a:xfrm>
            <a:prstGeom prst="roundRect">
              <a:avLst>
                <a:gd name="adj" fmla="val 65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75736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27471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径向基函数 radial basis function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8978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若一个函数的取值只依赖自变量到原点的距离，则 φ(x) = φ(||x||)；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把原点换成任一中心点 c，就得到一般形式。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7"/>
                <p:cNvSpPr txBox="1">
                  <a:spLocks noGrp="1"/>
                </p:cNvSpPr>
                <p:nvPr/>
              </p:nvSpPr>
              <p:spPr>
                <a:xfrm>
                  <a:off x="752475" y="2972752"/>
                  <a:ext cx="522636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ϕ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ϕ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bi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m:rPr>
                                    <m:sty m:val="bi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47141" y="3413760"/>
              <a:ext cx="48112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任何满足这个等式的函数都叫径向函数。范数一般取欧氏距离，也可以换成别的距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离。</a:t>
              </a:r>
            </a:p>
          </p:txBody>
        </p:sp>
      </p:grpSp>
      <p:grpSp>
        <p:nvGrpSpPr>
          <p:cNvPr id="26" name="c1-kv-2"/>
          <p:cNvGrpSpPr/>
          <p:nvPr/>
        </p:nvGrpSpPr>
        <p:grpSpPr>
          <a:xfrm>
            <a:off x="526923" y="4138136"/>
            <a:ext cx="5632895" cy="997077"/>
            <a:chOff x="526923" y="4138136"/>
            <a:chExt cx="5632895" cy="997077"/>
          </a:xfrm>
        </p:grpSpPr>
        <p:sp>
          <p:nvSpPr>
            <p:cNvPr id="18" name="TextBox 18"/>
            <p:cNvSpPr txBox="1"/>
            <p:nvPr/>
          </p:nvSpPr>
          <p:spPr>
            <a:xfrm>
              <a:off x="526923" y="4138136"/>
              <a:ext cx="10089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中心 center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53743" y="4138136"/>
              <a:ext cx="2175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c，隐单元最敏感的那个位置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4100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923" y="45124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距离度量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53743" y="4512469"/>
              <a:ext cx="2993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||x − c||，把 n 维输入压成一个标量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7844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923" y="4885849"/>
              <a:ext cx="9094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形状 shape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53743" y="488584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本身，决定响应随 r 衰减得多快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5250180"/>
            <a:ext cx="5626418" cy="1086802"/>
            <a:chOff x="533400" y="5250180"/>
            <a:chExt cx="5626418" cy="1086802"/>
          </a:xfrm>
        </p:grpSpPr>
        <p:sp>
          <p:nvSpPr>
            <p:cNvPr id="27" name="Rectangle 27"/>
            <p:cNvSpPr/>
            <p:nvPr/>
          </p:nvSpPr>
          <p:spPr>
            <a:xfrm>
              <a:off x="533400" y="5250180"/>
              <a:ext cx="5626418" cy="1086802"/>
            </a:xfrm>
            <a:prstGeom prst="roundRect">
              <a:avLst>
                <a:gd name="adj" fmla="val 1051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693093"/>
              <a:ext cx="200026" cy="200025"/>
              <a:chOff x="738188" y="5693093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6930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57375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58486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1273" y="5586889"/>
              <a:ext cx="47028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φ 的形状一般事先选定（多数场合就用高斯），真正由训练定出来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的是中心 c 和控制衰减快慢的扩展常数 δ。</a:t>
              </a:r>
            </a:p>
          </p:txBody>
        </p:sp>
      </p:grpSp>
      <p:grpSp>
        <p:nvGrpSpPr>
          <p:cNvPr id="42" name="c2-graph-1"/>
          <p:cNvGrpSpPr/>
          <p:nvPr/>
        </p:nvGrpSpPr>
        <p:grpSpPr>
          <a:xfrm>
            <a:off x="6753718" y="2082641"/>
            <a:ext cx="4710572" cy="1862138"/>
            <a:chOff x="6753718" y="2082641"/>
            <a:chExt cx="4710572" cy="1862138"/>
          </a:xfrm>
        </p:grpSpPr>
        <p:sp>
          <p:nvSpPr>
            <p:cNvPr id="34" name="Freeform 34"/>
            <p:cNvSpPr/>
            <p:nvPr/>
          </p:nvSpPr>
          <p:spPr>
            <a:xfrm>
              <a:off x="6762750" y="3669030"/>
              <a:ext cx="4701540" cy="9525"/>
            </a:xfrm>
            <a:custGeom>
              <a:avLst/>
              <a:gdLst/>
              <a:ahLst/>
              <a:cxnLst/>
              <a:rect l="l" t="t" r="r" b="b"/>
              <a:pathLst>
                <a:path w="4701540" h="9525">
                  <a:moveTo>
                    <a:pt x="0" y="0"/>
                  </a:moveTo>
                  <a:lnTo>
                    <a:pt x="470154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062085" y="2298382"/>
              <a:ext cx="9525" cy="1344930"/>
            </a:xfrm>
            <a:custGeom>
              <a:avLst/>
              <a:gdLst/>
              <a:ahLst/>
              <a:cxnLst/>
              <a:rect l="l" t="t" r="r" b="b"/>
              <a:pathLst>
                <a:path w="9525" h="1344930">
                  <a:moveTo>
                    <a:pt x="0" y="0"/>
                  </a:moveTo>
                  <a:lnTo>
                    <a:pt x="0" y="134493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6918008" y="2232660"/>
              <a:ext cx="4287203" cy="1363028"/>
            </a:xfrm>
            <a:custGeom>
              <a:avLst/>
              <a:gdLst/>
              <a:ahLst/>
              <a:cxnLst/>
              <a:rect l="l" t="t" r="r" b="b"/>
              <a:pathLst>
                <a:path w="4287203" h="1363028">
                  <a:moveTo>
                    <a:pt x="0" y="1363028"/>
                  </a:moveTo>
                  <a:lnTo>
                    <a:pt x="274320" y="1303020"/>
                  </a:lnTo>
                  <a:lnTo>
                    <a:pt x="585788" y="1171575"/>
                  </a:lnTo>
                  <a:lnTo>
                    <a:pt x="897255" y="957262"/>
                  </a:lnTo>
                  <a:lnTo>
                    <a:pt x="1208723" y="663893"/>
                  </a:lnTo>
                  <a:lnTo>
                    <a:pt x="1520190" y="347662"/>
                  </a:lnTo>
                  <a:lnTo>
                    <a:pt x="1831658" y="97155"/>
                  </a:lnTo>
                  <a:lnTo>
                    <a:pt x="2144078" y="0"/>
                  </a:lnTo>
                  <a:lnTo>
                    <a:pt x="2455545" y="97155"/>
                  </a:lnTo>
                  <a:lnTo>
                    <a:pt x="2767012" y="347662"/>
                  </a:lnTo>
                  <a:lnTo>
                    <a:pt x="3078480" y="663893"/>
                  </a:lnTo>
                  <a:lnTo>
                    <a:pt x="3389948" y="957262"/>
                  </a:lnTo>
                  <a:lnTo>
                    <a:pt x="3701415" y="1171575"/>
                  </a:lnTo>
                  <a:lnTo>
                    <a:pt x="4013835" y="1303020"/>
                  </a:lnTo>
                  <a:lnTo>
                    <a:pt x="4287203" y="1363028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9004935" y="217551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53718" y="2082641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φ(r)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00019" y="3782854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中心 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81386" y="2507456"/>
              <a:ext cx="8760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δ 控制钟形的宽窄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66225" y="3762851"/>
              <a:ext cx="5780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 = ||x − c||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464618" y="4117658"/>
            <a:ext cx="5193982" cy="2219325"/>
            <a:chOff x="6464618" y="4117658"/>
            <a:chExt cx="5193982" cy="2219325"/>
          </a:xfrm>
        </p:grpSpPr>
        <p:sp>
          <p:nvSpPr>
            <p:cNvPr id="43" name="Rectangle 43"/>
            <p:cNvSpPr/>
            <p:nvPr/>
          </p:nvSpPr>
          <p:spPr>
            <a:xfrm>
              <a:off x="6464618" y="4117658"/>
              <a:ext cx="5193982" cy="2219325"/>
            </a:xfrm>
            <a:prstGeom prst="roundRect">
              <a:avLst>
                <a:gd name="adj" fmla="val 60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4251008"/>
              <a:ext cx="47625" cy="19526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83692" y="429863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69214" y="433149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记号约定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99223" y="433816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与原课件的差别写在这里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93218" y="470725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48666" y="4654391"/>
              <a:ext cx="43695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样本写 x⁽ⁱ⁾ ∈ Rⁿ 共 N 个，期望输出写 d⁽ⁱ⁾（即第1至3章的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y）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93218" y="523494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48666" y="5183029"/>
              <a:ext cx="39605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隐节点（中心）数写 M，中心写 cⱼ，扩展常数写 δⱼ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93218" y="551973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48666" y="546782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 N 表示输入维数、P 表示样本数，本讲义改回全书统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一的 n 与 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78359" y="5992178"/>
              <a:ext cx="421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扩展常数 A 版写 σ，本讲义统一写 δ；σ 留给第七部分的邻域半径。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5552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080" y="407194"/>
              <a:ext cx="2166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径向基函数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常见的径向基函数：四种往下掉，一种往上走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6492240" cy="3146108"/>
            <a:chOff x="533400" y="1524000"/>
            <a:chExt cx="6492240" cy="31461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2332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74021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φ(r)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68828" y="1659731"/>
              <a:ext cx="7379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 r 增大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4158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108359"/>
              <a:ext cx="11684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 Gaussian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78658" y="2108359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exp(−r²/(2δ²))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96028" y="2108359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减到 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94286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556986"/>
              <a:ext cx="144795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反演S型 reflected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sigmoid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78658" y="2670334"/>
              <a:ext cx="1529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1/(1+exp(r²/δ²))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028" y="2670334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减到 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94286" y="267033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92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232309"/>
              <a:ext cx="132887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逆多二次 inverse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multiquadric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78658" y="3345656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1/√(r²+δ²)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96028" y="3345656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减到 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94286" y="334565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680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77285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907631"/>
              <a:ext cx="21401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逆二次 inverse quadratic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78658" y="3907631"/>
              <a:ext cx="1055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1/(1+(εr)²)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96028" y="3907631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减到 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94286" y="39076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21671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357211"/>
              <a:ext cx="16787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多二次 multiquadric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78658" y="435721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√(r²+δ²)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96028" y="4357211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增到 ∞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94286" y="435721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492240" cy="3146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866072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683442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981700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callout-2"/>
          <p:cNvGrpSpPr/>
          <p:nvPr/>
        </p:nvGrpSpPr>
        <p:grpSpPr>
          <a:xfrm>
            <a:off x="533400" y="4860608"/>
            <a:ext cx="6492240" cy="782955"/>
            <a:chOff x="533400" y="4860608"/>
            <a:chExt cx="6492240" cy="782955"/>
          </a:xfrm>
        </p:grpSpPr>
        <p:sp>
          <p:nvSpPr>
            <p:cNvPr id="43" name="Rectangle 43"/>
            <p:cNvSpPr/>
            <p:nvPr/>
          </p:nvSpPr>
          <p:spPr>
            <a:xfrm>
              <a:off x="533400" y="4860608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152073"/>
              <a:ext cx="200026" cy="200025"/>
              <a:chOff x="738188" y="5152073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1520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51965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53076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009198"/>
              <a:ext cx="5406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课件表格里用形状参数 ε 写，正文用扩展常数 δ 写。两者换算关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系是 ε = 1/(√2·δ)，指的是同一件事。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formula9"/>
              <p:cNvSpPr txBox="1">
                <a:spLocks noGrp="1"/>
              </p:cNvSpPr>
              <p:nvPr/>
            </p:nvSpPr>
            <p:spPr>
              <a:xfrm>
                <a:off x="7330440" y="1524000"/>
                <a:ext cx="432816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ϕ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r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δ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60" name="c2-card-2"/>
          <p:cNvGrpSpPr/>
          <p:nvPr/>
        </p:nvGrpSpPr>
        <p:grpSpPr>
          <a:xfrm>
            <a:off x="7330440" y="2254568"/>
            <a:ext cx="4328160" cy="3388995"/>
            <a:chOff x="7330440" y="2254568"/>
            <a:chExt cx="4328160" cy="3388995"/>
          </a:xfrm>
        </p:grpSpPr>
        <p:sp>
          <p:nvSpPr>
            <p:cNvPr id="51" name="Rectangle 51"/>
            <p:cNvSpPr/>
            <p:nvPr/>
          </p:nvSpPr>
          <p:spPr>
            <a:xfrm>
              <a:off x="7330440" y="2254568"/>
              <a:ext cx="4328160" cy="3388995"/>
            </a:xfrm>
            <a:prstGeom prst="roundRect">
              <a:avLst>
                <a:gd name="adj" fmla="val 39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39965" y="2387918"/>
              <a:ext cx="47625" cy="3122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78090" y="24641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68298" y="24998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79118" y="2499360"/>
              <a:ext cx="2494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反演 S 型函数多了一个负号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70470" y="2860358"/>
              <a:ext cx="36728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版第19页写成 φ(r)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1/(1+exp(−r²/δ²))。这个式子在 r = 0 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 0.5，随 r 增大反而升到 1，离中心越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远响应越强，当不了径向基函数。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583805" y="411575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741920" y="4052888"/>
              <a:ext cx="3529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正确写法是 φ(r) = 1/(1+exp(r²/δ²))，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版第4页写对了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71613" y="4670584"/>
              <a:ext cx="3613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自查办法：除多二次外，径向基函数都该随 r 单调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下降。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1" name="Rectangle 6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130" y="5991225"/>
              <a:ext cx="9087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多二次函数随 r 增大而增大，没有局部性，但它仍满足下一节的 Micchelli 定理，照样能用来做插值。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32916" cy="909257"/>
            <a:chOff x="520446" y="342900"/>
            <a:chExt cx="59329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5552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080" y="407194"/>
              <a:ext cx="2166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径向基函数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329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扩展常数 δ 决定一个隐单元管多大一片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10635" cy="264033"/>
            <a:chOff x="526542" y="1545907"/>
            <a:chExt cx="691063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10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δ 是高斯核的宽度。它一变，隐单元的“管辖范围”跟着变，整个网络的行为也跟着变。</a:t>
              </a:r>
            </a:p>
          </p:txBody>
        </p:sp>
      </p:grpSp>
      <p:grpSp>
        <p:nvGrpSpPr>
          <p:cNvPr id="37" name="c1-table-1"/>
          <p:cNvGrpSpPr/>
          <p:nvPr/>
        </p:nvGrpSpPr>
        <p:grpSpPr>
          <a:xfrm>
            <a:off x="533400" y="1928812"/>
            <a:ext cx="4760595" cy="2287905"/>
            <a:chOff x="533400" y="1928812"/>
            <a:chExt cx="4760595" cy="22879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76059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4970" y="2045970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/ 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30728" y="204597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φ(r)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1001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75828" y="242697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13126" y="2426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正好落在中心上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8700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9176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80892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75828" y="2808923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0.8825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13126" y="2808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几乎满激活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6800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75828" y="3189923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0.6065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13126" y="3189923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δ 之外剩六成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44900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45376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75828" y="357187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13126" y="357187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基本不起作用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83095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3952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75828" y="395287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0.0111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13126" y="39528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可以当成零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28812"/>
              <a:ext cx="476059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576388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813685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llout-2"/>
          <p:cNvGrpSpPr/>
          <p:nvPr/>
        </p:nvGrpSpPr>
        <p:grpSpPr>
          <a:xfrm>
            <a:off x="533400" y="4381500"/>
            <a:ext cx="4760595" cy="937260"/>
            <a:chOff x="533400" y="4381500"/>
            <a:chExt cx="4760595" cy="937260"/>
          </a:xfrm>
        </p:grpSpPr>
        <p:sp>
          <p:nvSpPr>
            <p:cNvPr id="38" name="Rectangle 38"/>
            <p:cNvSpPr/>
            <p:nvPr/>
          </p:nvSpPr>
          <p:spPr>
            <a:xfrm>
              <a:off x="533400" y="4381500"/>
              <a:ext cx="4760595" cy="937260"/>
            </a:xfrm>
            <a:prstGeom prst="roundRect">
              <a:avLst>
                <a:gd name="adj" fmla="val 1219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4750120"/>
              <a:ext cx="200023" cy="200023"/>
              <a:chOff x="738188" y="4750120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47501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48167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4526756"/>
              <a:ext cx="380060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隐节点的这一性质叫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局部特性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：输入离中心越远，激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活越低。MLP 的 Sigmoid 单元则是全局的，任何输入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都会让它输出一个不小的值。</a:t>
              </a:r>
            </a:p>
          </p:txBody>
        </p:sp>
      </p:grpSp>
      <p:grpSp>
        <p:nvGrpSpPr>
          <p:cNvPr id="52" name="c2-graph-1"/>
          <p:cNvGrpSpPr/>
          <p:nvPr/>
        </p:nvGrpSpPr>
        <p:grpSpPr>
          <a:xfrm>
            <a:off x="5879782" y="2420302"/>
            <a:ext cx="5558790" cy="2663667"/>
            <a:chOff x="5879782" y="2420302"/>
            <a:chExt cx="5558790" cy="2663667"/>
          </a:xfrm>
        </p:grpSpPr>
        <p:sp>
          <p:nvSpPr>
            <p:cNvPr id="44" name="Freeform 44"/>
            <p:cNvSpPr/>
            <p:nvPr/>
          </p:nvSpPr>
          <p:spPr>
            <a:xfrm>
              <a:off x="5879782" y="4748212"/>
              <a:ext cx="5558790" cy="9525"/>
            </a:xfrm>
            <a:custGeom>
              <a:avLst/>
              <a:gdLst/>
              <a:ahLst/>
              <a:cxnLst/>
              <a:rect l="l" t="t" r="r" b="b"/>
              <a:pathLst>
                <a:path w="5558790" h="9525">
                  <a:moveTo>
                    <a:pt x="0" y="0"/>
                  </a:moveTo>
                  <a:lnTo>
                    <a:pt x="555879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243638" y="2420302"/>
              <a:ext cx="4771073" cy="2294572"/>
            </a:xfrm>
            <a:custGeom>
              <a:avLst/>
              <a:gdLst/>
              <a:ahLst/>
              <a:cxnLst/>
              <a:rect l="l" t="t" r="r" b="b"/>
              <a:pathLst>
                <a:path w="4771073" h="2294572">
                  <a:moveTo>
                    <a:pt x="0" y="2294572"/>
                  </a:moveTo>
                  <a:lnTo>
                    <a:pt x="930593" y="2268855"/>
                  </a:lnTo>
                  <a:lnTo>
                    <a:pt x="1294447" y="2111692"/>
                  </a:lnTo>
                  <a:lnTo>
                    <a:pt x="1537335" y="1800225"/>
                  </a:lnTo>
                  <a:lnTo>
                    <a:pt x="1779270" y="1243013"/>
                  </a:lnTo>
                  <a:lnTo>
                    <a:pt x="2022157" y="563880"/>
                  </a:lnTo>
                  <a:lnTo>
                    <a:pt x="2203132" y="157163"/>
                  </a:lnTo>
                  <a:lnTo>
                    <a:pt x="2385060" y="0"/>
                  </a:lnTo>
                  <a:lnTo>
                    <a:pt x="2566988" y="157163"/>
                  </a:lnTo>
                  <a:lnTo>
                    <a:pt x="2748915" y="563880"/>
                  </a:lnTo>
                  <a:lnTo>
                    <a:pt x="2990850" y="1243013"/>
                  </a:lnTo>
                  <a:lnTo>
                    <a:pt x="3233738" y="1800225"/>
                  </a:lnTo>
                  <a:lnTo>
                    <a:pt x="3475672" y="2111692"/>
                  </a:lnTo>
                  <a:lnTo>
                    <a:pt x="3839527" y="2268855"/>
                  </a:lnTo>
                  <a:lnTo>
                    <a:pt x="4771073" y="2294572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121718" y="2420302"/>
              <a:ext cx="5013960" cy="2211705"/>
            </a:xfrm>
            <a:custGeom>
              <a:avLst/>
              <a:gdLst/>
              <a:ahLst/>
              <a:cxnLst/>
              <a:rect l="l" t="t" r="r" b="b"/>
              <a:pathLst>
                <a:path w="5013960" h="2211705">
                  <a:moveTo>
                    <a:pt x="0" y="2211705"/>
                  </a:moveTo>
                  <a:lnTo>
                    <a:pt x="325755" y="2111692"/>
                  </a:lnTo>
                  <a:lnTo>
                    <a:pt x="689610" y="1898332"/>
                  </a:lnTo>
                  <a:lnTo>
                    <a:pt x="1052512" y="1550670"/>
                  </a:lnTo>
                  <a:lnTo>
                    <a:pt x="1416367" y="1075372"/>
                  </a:lnTo>
                  <a:lnTo>
                    <a:pt x="1780222" y="563880"/>
                  </a:lnTo>
                  <a:lnTo>
                    <a:pt x="2144077" y="157163"/>
                  </a:lnTo>
                  <a:lnTo>
                    <a:pt x="2506980" y="0"/>
                  </a:lnTo>
                  <a:lnTo>
                    <a:pt x="2870835" y="157163"/>
                  </a:lnTo>
                  <a:lnTo>
                    <a:pt x="3234690" y="563880"/>
                  </a:lnTo>
                  <a:lnTo>
                    <a:pt x="3597592" y="1075372"/>
                  </a:lnTo>
                  <a:lnTo>
                    <a:pt x="3961447" y="1550670"/>
                  </a:lnTo>
                  <a:lnTo>
                    <a:pt x="4325302" y="1898332"/>
                  </a:lnTo>
                  <a:lnTo>
                    <a:pt x="4688205" y="2111692"/>
                  </a:lnTo>
                  <a:lnTo>
                    <a:pt x="5013960" y="221170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47" name="Freeform 47"/>
            <p:cNvSpPr/>
            <p:nvPr/>
          </p:nvSpPr>
          <p:spPr>
            <a:xfrm>
              <a:off x="6121718" y="2420302"/>
              <a:ext cx="5013960" cy="1523048"/>
            </a:xfrm>
            <a:custGeom>
              <a:avLst/>
              <a:gdLst/>
              <a:ahLst/>
              <a:cxnLst/>
              <a:rect l="l" t="t" r="r" b="b"/>
              <a:pathLst>
                <a:path w="5013960" h="1523048">
                  <a:moveTo>
                    <a:pt x="0" y="1523048"/>
                  </a:moveTo>
                  <a:lnTo>
                    <a:pt x="386715" y="1243013"/>
                  </a:lnTo>
                  <a:lnTo>
                    <a:pt x="810577" y="902018"/>
                  </a:lnTo>
                  <a:lnTo>
                    <a:pt x="1234440" y="563880"/>
                  </a:lnTo>
                  <a:lnTo>
                    <a:pt x="1659255" y="268605"/>
                  </a:lnTo>
                  <a:lnTo>
                    <a:pt x="2083117" y="72390"/>
                  </a:lnTo>
                  <a:lnTo>
                    <a:pt x="2506980" y="0"/>
                  </a:lnTo>
                  <a:lnTo>
                    <a:pt x="2931795" y="72390"/>
                  </a:lnTo>
                  <a:lnTo>
                    <a:pt x="3355657" y="268605"/>
                  </a:lnTo>
                  <a:lnTo>
                    <a:pt x="3779520" y="563880"/>
                  </a:lnTo>
                  <a:lnTo>
                    <a:pt x="4203382" y="902018"/>
                  </a:lnTo>
                  <a:lnTo>
                    <a:pt x="4628197" y="1243013"/>
                  </a:lnTo>
                  <a:lnTo>
                    <a:pt x="5013960" y="1523048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70420" y="2626519"/>
              <a:ext cx="7656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δ 小：又高又窄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91471" y="3151346"/>
              <a:ext cx="213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δ 中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42257" y="2495074"/>
              <a:ext cx="7656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δ 大：摊平铺开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66632" y="4922044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中心 c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3" name="Rectangle 5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6039326"/>
              <a:ext cx="1030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δ 取得太小，每个隐单元只认自己的那一个样本点，网络退化成查表；δ 取得太大，所有隐单元的输出几乎一样，网络退化成一条直线。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313170" cy="4030027"/>
            <a:chOff x="667512" y="1835468"/>
            <a:chExt cx="6313170" cy="403002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477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RBF 神经网络与插值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把径向基函数当激活函数装进一个隐层，先看最极端的做法：让曲面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穿过每个点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神经网络的三类典型任务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24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RBF 网络的结构与输出式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364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插值问题与 Powell 的解法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2639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插值矩阵 Φ 与 Micchelli 定理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62927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5721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完全内插的两个毛病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90900" cy="909257"/>
            <a:chOff x="520446" y="342900"/>
            <a:chExt cx="72909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178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1868" y="407194"/>
              <a:ext cx="2793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RBF 神经网络与插值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909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神经网络的三类典型任务，RBF 网络三种都能做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4985385" cy="2019300"/>
            <a:chOff x="525780" y="1548765"/>
            <a:chExt cx="4985385" cy="201930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355408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分类</a:t>
              </a:r>
              <a:br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classification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18372" y="1548765"/>
              <a:ext cx="2973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f(x)，输出是有限个类别编号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1065371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函数逼近</a:t>
              </a:r>
              <a:br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regression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18372" y="2270760"/>
              <a:ext cx="24182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f(x)，输出是连续向量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727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992755"/>
              <a:ext cx="1267301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时间序列 time</a:t>
              </a:r>
              <a:br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series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18372" y="2992755"/>
              <a:ext cx="30346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x(t) = f(x(t−1), x(t−2), …)，用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历史预测下一步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3699510"/>
            <a:ext cx="4977765" cy="1731645"/>
            <a:chOff x="533400" y="3699510"/>
            <a:chExt cx="4977765" cy="1731645"/>
          </a:xfrm>
        </p:grpSpPr>
        <p:sp>
          <p:nvSpPr>
            <p:cNvPr id="16" name="Rectangle 16"/>
            <p:cNvSpPr/>
            <p:nvPr/>
          </p:nvSpPr>
          <p:spPr>
            <a:xfrm>
              <a:off x="533400" y="3699510"/>
              <a:ext cx="4977765" cy="1731645"/>
            </a:xfrm>
            <a:prstGeom prst="roundRect">
              <a:avLst>
                <a:gd name="adj" fmla="val 660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465320"/>
              <a:ext cx="200026" cy="200026"/>
              <a:chOff x="738188" y="4465320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4653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45319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27088" y="45653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4046220"/>
              <a:ext cx="388239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1988 年 Broomhead 与 Lowe 在 Complex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Systems 上提出 RBF 网络，论文题目是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Multivariable functional interpolation and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adaptive networks。</a:t>
              </a:r>
            </a:p>
          </p:txBody>
        </p:sp>
      </p:grpSp>
      <p:grpSp>
        <p:nvGrpSpPr>
          <p:cNvPr id="37" name="c2-flow-1"/>
          <p:cNvGrpSpPr/>
          <p:nvPr/>
        </p:nvGrpSpPr>
        <p:grpSpPr>
          <a:xfrm>
            <a:off x="5952172" y="2049780"/>
            <a:ext cx="5570221" cy="1088707"/>
            <a:chOff x="5952172" y="2049780"/>
            <a:chExt cx="5570221" cy="1088707"/>
          </a:xfrm>
        </p:grpSpPr>
        <p:sp>
          <p:nvSpPr>
            <p:cNvPr id="23" name="Freeform 23"/>
            <p:cNvSpPr/>
            <p:nvPr/>
          </p:nvSpPr>
          <p:spPr>
            <a:xfrm>
              <a:off x="7626668" y="2714625"/>
              <a:ext cx="168592" cy="9525"/>
            </a:xfrm>
            <a:custGeom>
              <a:avLst/>
              <a:gdLst/>
              <a:ahLst/>
              <a:cxnLst/>
              <a:rect l="l" t="t" r="r" b="b"/>
              <a:pathLst>
                <a:path w="168592" h="9525">
                  <a:moveTo>
                    <a:pt x="0" y="0"/>
                  </a:moveTo>
                  <a:lnTo>
                    <a:pt x="168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795260" y="26622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9574530" y="2714625"/>
              <a:ext cx="167640" cy="9525"/>
            </a:xfrm>
            <a:custGeom>
              <a:avLst/>
              <a:gdLst/>
              <a:ahLst/>
              <a:cxnLst/>
              <a:rect l="l" t="t" r="r" b="b"/>
              <a:pathLst>
                <a:path w="167640" h="9525">
                  <a:moveTo>
                    <a:pt x="0" y="0"/>
                  </a:moveTo>
                  <a:lnTo>
                    <a:pt x="1676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742170" y="26622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952172" y="2400300"/>
              <a:ext cx="1674495" cy="628650"/>
            </a:xfrm>
            <a:custGeom>
              <a:avLst/>
              <a:gdLst/>
              <a:ahLst/>
              <a:cxnLst/>
              <a:rect l="l" t="t" r="r" b="b"/>
              <a:pathLst>
                <a:path w="1674495" h="628650">
                  <a:moveTo>
                    <a:pt x="133350" y="0"/>
                  </a:moveTo>
                  <a:lnTo>
                    <a:pt x="1674495" y="0"/>
                  </a:lnTo>
                  <a:lnTo>
                    <a:pt x="1541145" y="628650"/>
                  </a:lnTo>
                  <a:lnTo>
                    <a:pt x="0" y="6286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900035" y="2290762"/>
              <a:ext cx="1675448" cy="847725"/>
            </a:xfrm>
            <a:prstGeom prst="roundRect">
              <a:avLst>
                <a:gd name="adj" fmla="val 11236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846945" y="2400300"/>
              <a:ext cx="1675448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8735" y="2516029"/>
              <a:ext cx="80137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特征向量 x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 维)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49654" y="2407444"/>
              <a:ext cx="1175258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隐单元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 / 特征提取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 变换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90988" y="2516029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线性加权输出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515225" y="2049780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45515" y="20764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非线性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29762" y="204978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564052" y="20764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线性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5815965" y="4095750"/>
            <a:ext cx="5842635" cy="1335405"/>
            <a:chOff x="5815965" y="4095750"/>
            <a:chExt cx="5842635" cy="1335405"/>
          </a:xfrm>
        </p:grpSpPr>
        <p:sp>
          <p:nvSpPr>
            <p:cNvPr id="38" name="Rectangle 38"/>
            <p:cNvSpPr/>
            <p:nvPr/>
          </p:nvSpPr>
          <p:spPr>
            <a:xfrm>
              <a:off x="5815965" y="4095750"/>
              <a:ext cx="5842635" cy="1335405"/>
            </a:xfrm>
            <a:prstGeom prst="roundRect">
              <a:avLst>
                <a:gd name="adj" fmla="val 9986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25515" y="43053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15723" y="43410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25590" y="434054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非线性在隐层，线性在输出层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7895" y="4701540"/>
              <a:ext cx="5177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隐层把输入换一套坐标（换成“到各个中心的距离”），输出层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只做一次加权求和。整个网络的非线性全部集中在隐层。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8859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正因为输出层是线性的，输出权值可以用解方程或最小二乘一次求出来，不必像 BP 那样反复迭代。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90900" cy="909257"/>
            <a:chOff x="520446" y="342900"/>
            <a:chExt cx="72909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178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1868" y="407194"/>
              <a:ext cx="2793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RBF 神经网络与插值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909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RBF 网络：一个隐层，输出是基函数的线性组合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1"/>
              <p:cNvSpPr txBox="1">
                <a:spLocks noGrp="1"/>
              </p:cNvSpPr>
              <p:nvPr/>
            </p:nvSpPr>
            <p:spPr>
              <a:xfrm>
                <a:off x="533400" y="1524000"/>
                <a:ext cx="4977765" cy="691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bi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  <m:e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‖"/>
                                  <m:sepChr m:val=""/>
                                  <m:endChr m:val="‖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6" name="c1-bullets-2"/>
          <p:cNvGrpSpPr/>
          <p:nvPr/>
        </p:nvGrpSpPr>
        <p:grpSpPr>
          <a:xfrm>
            <a:off x="539115" y="2430780"/>
            <a:ext cx="4010025" cy="1327785"/>
            <a:chOff x="539115" y="2430780"/>
            <a:chExt cx="4010025" cy="1327785"/>
          </a:xfrm>
        </p:grpSpPr>
        <p:sp>
          <p:nvSpPr>
            <p:cNvPr id="8" name="Ellipse 8"/>
            <p:cNvSpPr/>
            <p:nvPr/>
          </p:nvSpPr>
          <p:spPr>
            <a:xfrm>
              <a:off x="539115" y="24936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7230" y="243078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隐层只有一层，激活函数是径向基函数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9115" y="28384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7230" y="2775585"/>
              <a:ext cx="371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隐单元 i 的中心是 cᵢ，离它越远输出越小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9115" y="31832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7230" y="312039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输出层线性加权，可逼近任意连续函数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9115" y="35280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7230" y="346519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用于函数逼近、时间序列预测、分类和控制</a:t>
              </a:r>
            </a:p>
          </p:txBody>
        </p:sp>
      </p:grpSp>
      <p:grpSp>
        <p:nvGrpSpPr>
          <p:cNvPr id="23" name="c1-card-3"/>
          <p:cNvGrpSpPr/>
          <p:nvPr/>
        </p:nvGrpSpPr>
        <p:grpSpPr>
          <a:xfrm>
            <a:off x="533400" y="3890010"/>
            <a:ext cx="4977765" cy="1621155"/>
            <a:chOff x="533400" y="3890010"/>
            <a:chExt cx="4977765" cy="1621155"/>
          </a:xfrm>
        </p:grpSpPr>
        <p:sp>
          <p:nvSpPr>
            <p:cNvPr id="17" name="Rectangle 17"/>
            <p:cNvSpPr/>
            <p:nvPr/>
          </p:nvSpPr>
          <p:spPr>
            <a:xfrm>
              <a:off x="533400" y="3890010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02336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40995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1258" y="41352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82078" y="413480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求和下标不一致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495800"/>
              <a:ext cx="4253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原课件第11、12、13、22页都写成 Σ 下标为 i、被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加项却写 wₘφ(||x − cₘ||)，求和变量与被加项对不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上。全章统一用 i。</a:t>
              </a:r>
            </a:p>
          </p:txBody>
        </p:sp>
      </p:grpSp>
      <p:grpSp>
        <p:nvGrpSpPr>
          <p:cNvPr id="58" name="c2-graph-1"/>
          <p:cNvGrpSpPr/>
          <p:nvPr/>
        </p:nvGrpSpPr>
        <p:grpSpPr>
          <a:xfrm>
            <a:off x="6219958" y="1705928"/>
            <a:ext cx="5166418" cy="3764279"/>
            <a:chOff x="6219958" y="1705928"/>
            <a:chExt cx="5166418" cy="3764279"/>
          </a:xfrm>
        </p:grpSpPr>
        <p:sp>
          <p:nvSpPr>
            <p:cNvPr id="24" name="Freeform 24"/>
            <p:cNvSpPr/>
            <p:nvPr/>
          </p:nvSpPr>
          <p:spPr>
            <a:xfrm>
              <a:off x="6579870" y="2146935"/>
              <a:ext cx="2025968" cy="390525"/>
            </a:xfrm>
            <a:custGeom>
              <a:avLst/>
              <a:gdLst/>
              <a:ahLst/>
              <a:cxnLst/>
              <a:rect l="l" t="t" r="r" b="b"/>
              <a:pathLst>
                <a:path w="2025968" h="390525">
                  <a:moveTo>
                    <a:pt x="0" y="390525"/>
                  </a:moveTo>
                  <a:lnTo>
                    <a:pt x="2025968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579870" y="2586038"/>
              <a:ext cx="2026920" cy="425767"/>
            </a:xfrm>
            <a:custGeom>
              <a:avLst/>
              <a:gdLst/>
              <a:ahLst/>
              <a:cxnLst/>
              <a:rect l="l" t="t" r="r" b="b"/>
              <a:pathLst>
                <a:path w="2026920" h="425767">
                  <a:moveTo>
                    <a:pt x="0" y="0"/>
                  </a:moveTo>
                  <a:lnTo>
                    <a:pt x="2026920" y="42576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563678" y="2625090"/>
              <a:ext cx="2059305" cy="1261110"/>
            </a:xfrm>
            <a:custGeom>
              <a:avLst/>
              <a:gdLst/>
              <a:ahLst/>
              <a:cxnLst/>
              <a:rect l="l" t="t" r="r" b="b"/>
              <a:pathLst>
                <a:path w="2059305" h="1261110">
                  <a:moveTo>
                    <a:pt x="0" y="0"/>
                  </a:moveTo>
                  <a:lnTo>
                    <a:pt x="2059305" y="126111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545580" y="2648902"/>
              <a:ext cx="2098357" cy="2129790"/>
            </a:xfrm>
            <a:custGeom>
              <a:avLst/>
              <a:gdLst/>
              <a:ahLst/>
              <a:cxnLst/>
              <a:rect l="l" t="t" r="r" b="b"/>
              <a:pathLst>
                <a:path w="2098357" h="2129790">
                  <a:moveTo>
                    <a:pt x="0" y="0"/>
                  </a:moveTo>
                  <a:lnTo>
                    <a:pt x="2098357" y="212979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562725" y="2194560"/>
              <a:ext cx="2062162" cy="1335405"/>
            </a:xfrm>
            <a:custGeom>
              <a:avLst/>
              <a:gdLst/>
              <a:ahLst/>
              <a:cxnLst/>
              <a:rect l="l" t="t" r="r" b="b"/>
              <a:pathLst>
                <a:path w="2062162" h="1335405">
                  <a:moveTo>
                    <a:pt x="0" y="1335405"/>
                  </a:moveTo>
                  <a:lnTo>
                    <a:pt x="2062162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578918" y="3070860"/>
              <a:ext cx="2028825" cy="497205"/>
            </a:xfrm>
            <a:custGeom>
              <a:avLst/>
              <a:gdLst/>
              <a:ahLst/>
              <a:cxnLst/>
              <a:rect l="l" t="t" r="r" b="b"/>
              <a:pathLst>
                <a:path w="2028825" h="497205">
                  <a:moveTo>
                    <a:pt x="0" y="497205"/>
                  </a:moveTo>
                  <a:lnTo>
                    <a:pt x="2028825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580822" y="3616642"/>
              <a:ext cx="2025015" cy="319088"/>
            </a:xfrm>
            <a:custGeom>
              <a:avLst/>
              <a:gdLst/>
              <a:ahLst/>
              <a:cxnLst/>
              <a:rect l="l" t="t" r="r" b="b"/>
              <a:pathLst>
                <a:path w="2025015" h="319088">
                  <a:moveTo>
                    <a:pt x="0" y="0"/>
                  </a:moveTo>
                  <a:lnTo>
                    <a:pt x="2025015" y="31908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566535" y="3657600"/>
              <a:ext cx="2054543" cy="1150620"/>
            </a:xfrm>
            <a:custGeom>
              <a:avLst/>
              <a:gdLst/>
              <a:ahLst/>
              <a:cxnLst/>
              <a:rect l="l" t="t" r="r" b="b"/>
              <a:pathLst>
                <a:path w="2054543" h="1150620">
                  <a:moveTo>
                    <a:pt x="0" y="0"/>
                  </a:moveTo>
                  <a:lnTo>
                    <a:pt x="2054543" y="115062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541770" y="2221230"/>
              <a:ext cx="2105978" cy="2321242"/>
            </a:xfrm>
            <a:custGeom>
              <a:avLst/>
              <a:gdLst/>
              <a:ahLst/>
              <a:cxnLst/>
              <a:rect l="l" t="t" r="r" b="b"/>
              <a:pathLst>
                <a:path w="2105978" h="2321242">
                  <a:moveTo>
                    <a:pt x="0" y="2321242"/>
                  </a:moveTo>
                  <a:lnTo>
                    <a:pt x="2105978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559868" y="3115628"/>
              <a:ext cx="2067877" cy="1447800"/>
            </a:xfrm>
            <a:custGeom>
              <a:avLst/>
              <a:gdLst/>
              <a:ahLst/>
              <a:cxnLst/>
              <a:rect l="l" t="t" r="r" b="b"/>
              <a:pathLst>
                <a:path w="2067877" h="1447800">
                  <a:moveTo>
                    <a:pt x="0" y="1447800"/>
                  </a:moveTo>
                  <a:lnTo>
                    <a:pt x="2067877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577012" y="3993832"/>
              <a:ext cx="2032635" cy="604838"/>
            </a:xfrm>
            <a:custGeom>
              <a:avLst/>
              <a:gdLst/>
              <a:ahLst/>
              <a:cxnLst/>
              <a:rect l="l" t="t" r="r" b="b"/>
              <a:pathLst>
                <a:path w="2032635" h="604838">
                  <a:moveTo>
                    <a:pt x="0" y="604838"/>
                  </a:moveTo>
                  <a:lnTo>
                    <a:pt x="2032635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581775" y="4647248"/>
              <a:ext cx="2023110" cy="212408"/>
            </a:xfrm>
            <a:custGeom>
              <a:avLst/>
              <a:gdLst/>
              <a:ahLst/>
              <a:cxnLst/>
              <a:rect l="l" t="t" r="r" b="b"/>
              <a:pathLst>
                <a:path w="2023110" h="212408">
                  <a:moveTo>
                    <a:pt x="0" y="0"/>
                  </a:moveTo>
                  <a:lnTo>
                    <a:pt x="2023110" y="21240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863965" y="2162175"/>
              <a:ext cx="2025015" cy="637222"/>
            </a:xfrm>
            <a:custGeom>
              <a:avLst/>
              <a:gdLst/>
              <a:ahLst/>
              <a:cxnLst/>
              <a:rect l="l" t="t" r="r" b="b"/>
              <a:pathLst>
                <a:path w="2025015" h="637222">
                  <a:moveTo>
                    <a:pt x="0" y="0"/>
                  </a:moveTo>
                  <a:lnTo>
                    <a:pt x="2025015" y="63722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835390" y="2211705"/>
              <a:ext cx="2082165" cy="1893570"/>
            </a:xfrm>
            <a:custGeom>
              <a:avLst/>
              <a:gdLst/>
              <a:ahLst/>
              <a:cxnLst/>
              <a:rect l="l" t="t" r="r" b="b"/>
              <a:pathLst>
                <a:path w="2082165" h="1893570">
                  <a:moveTo>
                    <a:pt x="0" y="0"/>
                  </a:moveTo>
                  <a:lnTo>
                    <a:pt x="2082165" y="189357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869680" y="2851785"/>
              <a:ext cx="2013585" cy="175260"/>
            </a:xfrm>
            <a:custGeom>
              <a:avLst/>
              <a:gdLst/>
              <a:ahLst/>
              <a:cxnLst/>
              <a:rect l="l" t="t" r="r" b="b"/>
              <a:pathLst>
                <a:path w="2013585" h="175260">
                  <a:moveTo>
                    <a:pt x="0" y="175260"/>
                  </a:moveTo>
                  <a:lnTo>
                    <a:pt x="2013585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856345" y="3099435"/>
              <a:ext cx="2040255" cy="1035368"/>
            </a:xfrm>
            <a:custGeom>
              <a:avLst/>
              <a:gdLst/>
              <a:ahLst/>
              <a:cxnLst/>
              <a:rect l="l" t="t" r="r" b="b"/>
              <a:pathLst>
                <a:path w="2040255" h="1035368">
                  <a:moveTo>
                    <a:pt x="0" y="0"/>
                  </a:moveTo>
                  <a:lnTo>
                    <a:pt x="2040255" y="103536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857298" y="2898458"/>
              <a:ext cx="2038350" cy="999172"/>
            </a:xfrm>
            <a:custGeom>
              <a:avLst/>
              <a:gdLst/>
              <a:ahLst/>
              <a:cxnLst/>
              <a:rect l="l" t="t" r="r" b="b"/>
              <a:pathLst>
                <a:path w="2038350" h="999172">
                  <a:moveTo>
                    <a:pt x="0" y="999172"/>
                  </a:moveTo>
                  <a:lnTo>
                    <a:pt x="203835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869680" y="3970020"/>
              <a:ext cx="2013585" cy="211455"/>
            </a:xfrm>
            <a:custGeom>
              <a:avLst/>
              <a:gdLst/>
              <a:ahLst/>
              <a:cxnLst/>
              <a:rect l="l" t="t" r="r" b="b"/>
              <a:pathLst>
                <a:path w="2013585" h="211455">
                  <a:moveTo>
                    <a:pt x="0" y="0"/>
                  </a:moveTo>
                  <a:lnTo>
                    <a:pt x="2013585" y="21145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836342" y="2928938"/>
              <a:ext cx="2080260" cy="1855470"/>
            </a:xfrm>
            <a:custGeom>
              <a:avLst/>
              <a:gdLst/>
              <a:ahLst/>
              <a:cxnLst/>
              <a:rect l="l" t="t" r="r" b="b"/>
              <a:pathLst>
                <a:path w="2080260" h="1855470">
                  <a:moveTo>
                    <a:pt x="0" y="1855470"/>
                  </a:moveTo>
                  <a:lnTo>
                    <a:pt x="208026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864918" y="4233862"/>
              <a:ext cx="2023110" cy="601028"/>
            </a:xfrm>
            <a:custGeom>
              <a:avLst/>
              <a:gdLst/>
              <a:ahLst/>
              <a:cxnLst/>
              <a:rect l="l" t="t" r="r" b="b"/>
              <a:pathLst>
                <a:path w="2023110" h="601028">
                  <a:moveTo>
                    <a:pt x="0" y="601028"/>
                  </a:moveTo>
                  <a:lnTo>
                    <a:pt x="202311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343650" y="2446020"/>
              <a:ext cx="228600" cy="2286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6343650" y="3483292"/>
              <a:ext cx="228600" cy="2286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6343650" y="4519612"/>
              <a:ext cx="228600" cy="2286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8613458" y="1998345"/>
              <a:ext cx="247650" cy="2476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8613458" y="2915602"/>
              <a:ext cx="247650" cy="2476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8613458" y="3831908"/>
              <a:ext cx="247650" cy="2476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613458" y="4749165"/>
              <a:ext cx="247650" cy="2476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0891838" y="2715578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0891838" y="4071938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19958" y="5214938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输入层 x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56975" y="5293995"/>
              <a:ext cx="9606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隐层 φ（径向基）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28745" y="5214938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输出层（线性）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42644" y="170592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投影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80080" y="170592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插值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178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1868" y="407194"/>
              <a:ext cx="2793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RBF 神经网络与插值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和经典前馈网络比，差别全在隐层那一步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47788" cy="308039"/>
            <a:chOff x="525399" y="1550194"/>
            <a:chExt cx="72477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两种网络的输出层做的是同一件事，分歧只在隐单元怎么把输入变成一个数。</a:t>
              </a:r>
            </a:p>
          </p:txBody>
        </p:sp>
      </p:grpSp>
      <p:grpSp>
        <p:nvGrpSpPr>
          <p:cNvPr id="32" name="c1-compare-1"/>
          <p:cNvGrpSpPr/>
          <p:nvPr/>
        </p:nvGrpSpPr>
        <p:grpSpPr>
          <a:xfrm>
            <a:off x="533400" y="1967865"/>
            <a:ext cx="5842636" cy="2324100"/>
            <a:chOff x="533400" y="1967865"/>
            <a:chExt cx="5842636" cy="232410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2673668" cy="2324100"/>
            </a:xfrm>
            <a:prstGeom prst="roundRect">
              <a:avLst>
                <a:gd name="adj" fmla="val 573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5330" y="2202180"/>
              <a:ext cx="1708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经典前馈网络 MLP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8665" y="26193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6780" y="2556510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先算内积 wᵀx + b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8665" y="2954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6780" y="2891790"/>
              <a:ext cx="19701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再过 tanh 或 Sigmoid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8665" y="3289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6780" y="3227070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一个隐单元管整个输入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8665" y="39109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6780" y="3848100"/>
              <a:ext cx="19032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权值 w 表示一个方向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702368" y="1967865"/>
              <a:ext cx="2673668" cy="2324100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711892" y="2101215"/>
              <a:ext cx="47625" cy="20574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42398" y="2202180"/>
              <a:ext cx="855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RBF 网络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955732" y="26193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13848" y="2556510"/>
              <a:ext cx="1580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先算距离 ||x − c||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3955732" y="2954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13848" y="289179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再过高斯等径向基函数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3955732" y="3289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13848" y="3227070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一个隐单元只管中心附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3955732" y="39109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113848" y="3848100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权值 c 表示一个位置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254692" y="2929890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308032" y="30641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隐层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4482465"/>
            <a:ext cx="5842635" cy="1777365"/>
            <a:chOff x="533400" y="4482465"/>
            <a:chExt cx="5842635" cy="1777365"/>
          </a:xfrm>
        </p:grpSpPr>
        <p:sp>
          <p:nvSpPr>
            <p:cNvPr id="33" name="Rectangle 33"/>
            <p:cNvSpPr/>
            <p:nvPr/>
          </p:nvSpPr>
          <p:spPr>
            <a:xfrm>
              <a:off x="533400" y="4482465"/>
              <a:ext cx="5842635" cy="1777365"/>
            </a:xfrm>
            <a:prstGeom prst="roundRect">
              <a:avLst>
                <a:gd name="adj" fmla="val 6431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271137"/>
              <a:ext cx="200023" cy="200023"/>
              <a:chOff x="738188" y="5271137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2711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53378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4990148"/>
              <a:ext cx="4777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输出层完全一样：都是把隐层输出做一次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线性加权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。所以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两种网络的差别可以归结为一句话，内积加饱和函数换成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了距离加钟形函数。</a:t>
              </a:r>
            </a:p>
          </p:txBody>
        </p:sp>
      </p:grpSp>
      <p:grpSp>
        <p:nvGrpSpPr>
          <p:cNvPr id="41" name="c2-image-1"/>
          <p:cNvGrpSpPr/>
          <p:nvPr/>
        </p:nvGrpSpPr>
        <p:grpSpPr>
          <a:xfrm>
            <a:off x="7656259" y="1967865"/>
            <a:ext cx="3026918" cy="2219802"/>
            <a:chOff x="7656259" y="1967865"/>
            <a:chExt cx="3026918" cy="2219802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rcRect l="0" t="6" r="0" b="6"/>
            <a:stretch>
              <a:fillRect/>
            </a:stretch>
          </p:blipFill>
          <p:spPr>
            <a:xfrm>
              <a:off x="7900035" y="1967865"/>
              <a:ext cx="2540318" cy="1905000"/>
            </a:xfrm>
            <a:prstGeom prst="roundRect">
              <a:avLst>
                <a:gd name="adj" fmla="val 7000"/>
              </a:avLst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7656259" y="3967639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一条光带贯穿整片地面，三个光圈各照一小块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680835" y="4352925"/>
            <a:ext cx="4977765" cy="1906905"/>
            <a:chOff x="6680835" y="4352925"/>
            <a:chExt cx="4977765" cy="1906905"/>
          </a:xfrm>
        </p:grpSpPr>
        <p:sp>
          <p:nvSpPr>
            <p:cNvPr id="42" name="Rectangle 42"/>
            <p:cNvSpPr/>
            <p:nvPr/>
          </p:nvSpPr>
          <p:spPr>
            <a:xfrm>
              <a:off x="6680835" y="4352925"/>
              <a:ext cx="4977765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90360" y="4486275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28485" y="45624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19646" y="4598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29512" y="459771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全局学习与局部学习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20865" y="4958715"/>
              <a:ext cx="42348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MLP 改一个权值，所有样本的输出都会动，所以要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全局地反复迭代；RBF 改一个中心，只影响落在它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附近的样本，学得快，但要覆盖整个空间就得铺很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多隐单元。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178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1868" y="407194"/>
              <a:ext cx="2793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RBF 神经网络与插值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插值问题：让映射曲面穿过每一个样本点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885950"/>
            <a:chOff x="533400" y="1524000"/>
            <a:chExt cx="5410200" cy="18859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85950"/>
            </a:xfrm>
            <a:prstGeom prst="roundRect">
              <a:avLst>
                <a:gd name="adj" fmla="val 70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192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1448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维到一维的插值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76288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n 维空间有 N 个输入向量 x⁽ᵖ⁾，它们对应的目标值为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d⁽ᵖ⁾。插值要找一个非线性映射 F(x)，使它在每个样本点上都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取到给定值。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9"/>
                <p:cNvSpPr txBox="1">
                  <a:spLocks noGrp="1"/>
                </p:cNvSpPr>
                <p:nvPr/>
              </p:nvSpPr>
              <p:spPr>
                <a:xfrm>
                  <a:off x="758190" y="2864168"/>
                  <a:ext cx="499872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bi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llout-2"/>
          <p:cNvGrpSpPr/>
          <p:nvPr/>
        </p:nvGrpSpPr>
        <p:grpSpPr>
          <a:xfrm>
            <a:off x="533400" y="3580448"/>
            <a:ext cx="5410200" cy="729615"/>
            <a:chOff x="533400" y="3580448"/>
            <a:chExt cx="5410200" cy="729615"/>
          </a:xfrm>
        </p:grpSpPr>
        <p:sp>
          <p:nvSpPr>
            <p:cNvPr id="15" name="Rectangle 15"/>
            <p:cNvSpPr/>
            <p:nvPr/>
          </p:nvSpPr>
          <p:spPr>
            <a:xfrm>
              <a:off x="533400" y="358044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3845243"/>
              <a:ext cx="200026" cy="200025"/>
              <a:chOff x="738188" y="3845243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38452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38896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40008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3726180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插值和回归的区别在于要求的严格程度：回归只要求整体误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差小，插值要求一个点都不差。</a:t>
              </a:r>
            </a:p>
          </p:txBody>
        </p:sp>
      </p:grpSp>
      <p:grpSp>
        <p:nvGrpSpPr>
          <p:cNvPr id="29" name="c1-graph-3"/>
          <p:cNvGrpSpPr/>
          <p:nvPr/>
        </p:nvGrpSpPr>
        <p:grpSpPr>
          <a:xfrm>
            <a:off x="1003935" y="4944428"/>
            <a:ext cx="4576762" cy="1396841"/>
            <a:chOff x="1003935" y="4944428"/>
            <a:chExt cx="4576762" cy="1396841"/>
          </a:xfrm>
        </p:grpSpPr>
        <p:sp>
          <p:nvSpPr>
            <p:cNvPr id="22" name="Freeform 22"/>
            <p:cNvSpPr/>
            <p:nvPr/>
          </p:nvSpPr>
          <p:spPr>
            <a:xfrm>
              <a:off x="1003935" y="5001578"/>
              <a:ext cx="4576762" cy="927735"/>
            </a:xfrm>
            <a:custGeom>
              <a:avLst/>
              <a:gdLst/>
              <a:ahLst/>
              <a:cxnLst/>
              <a:rect l="l" t="t" r="r" b="b"/>
              <a:pathLst>
                <a:path w="4576762" h="927735">
                  <a:moveTo>
                    <a:pt x="0" y="311467"/>
                  </a:moveTo>
                  <a:lnTo>
                    <a:pt x="162877" y="374332"/>
                  </a:lnTo>
                  <a:lnTo>
                    <a:pt x="367665" y="513397"/>
                  </a:lnTo>
                  <a:lnTo>
                    <a:pt x="568642" y="682942"/>
                  </a:lnTo>
                  <a:lnTo>
                    <a:pt x="773430" y="837247"/>
                  </a:lnTo>
                  <a:lnTo>
                    <a:pt x="974407" y="927735"/>
                  </a:lnTo>
                  <a:lnTo>
                    <a:pt x="1174432" y="920115"/>
                  </a:lnTo>
                  <a:lnTo>
                    <a:pt x="1380172" y="809625"/>
                  </a:lnTo>
                  <a:lnTo>
                    <a:pt x="1580198" y="613410"/>
                  </a:lnTo>
                  <a:lnTo>
                    <a:pt x="1785937" y="378142"/>
                  </a:lnTo>
                  <a:lnTo>
                    <a:pt x="1985962" y="163830"/>
                  </a:lnTo>
                  <a:lnTo>
                    <a:pt x="2185987" y="27622"/>
                  </a:lnTo>
                  <a:lnTo>
                    <a:pt x="2391728" y="0"/>
                  </a:lnTo>
                  <a:lnTo>
                    <a:pt x="2591752" y="84772"/>
                  </a:lnTo>
                  <a:lnTo>
                    <a:pt x="2791778" y="248603"/>
                  </a:lnTo>
                  <a:lnTo>
                    <a:pt x="2997518" y="440055"/>
                  </a:lnTo>
                  <a:lnTo>
                    <a:pt x="3197543" y="603885"/>
                  </a:lnTo>
                  <a:lnTo>
                    <a:pt x="3403282" y="690562"/>
                  </a:lnTo>
                  <a:lnTo>
                    <a:pt x="3603307" y="681038"/>
                  </a:lnTo>
                  <a:lnTo>
                    <a:pt x="3803332" y="586740"/>
                  </a:lnTo>
                  <a:lnTo>
                    <a:pt x="4009072" y="440055"/>
                  </a:lnTo>
                  <a:lnTo>
                    <a:pt x="4209098" y="285750"/>
                  </a:lnTo>
                  <a:lnTo>
                    <a:pt x="4414838" y="165735"/>
                  </a:lnTo>
                  <a:lnTo>
                    <a:pt x="4576762" y="12382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211580" y="538257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224088" y="582168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235642" y="494442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247198" y="560355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258752" y="516255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71407" y="6179344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曲线严格穿过每一个样本点</a:t>
              </a:r>
            </a:p>
          </p:txBody>
        </p:sp>
      </p:grpSp>
      <p:grpSp>
        <p:nvGrpSpPr>
          <p:cNvPr id="41" name="c2-kv-1"/>
          <p:cNvGrpSpPr/>
          <p:nvPr/>
        </p:nvGrpSpPr>
        <p:grpSpPr>
          <a:xfrm>
            <a:off x="6241542" y="1545907"/>
            <a:ext cx="5417058" cy="1441324"/>
            <a:chOff x="6241542" y="1545907"/>
            <a:chExt cx="5417058" cy="1441324"/>
          </a:xfrm>
        </p:grpSpPr>
        <p:sp>
          <p:nvSpPr>
            <p:cNvPr id="30" name="TextBox 30"/>
            <p:cNvSpPr txBox="1"/>
            <p:nvPr/>
          </p:nvSpPr>
          <p:spPr>
            <a:xfrm>
              <a:off x="6241542" y="154590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已知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24497" y="1545907"/>
              <a:ext cx="1567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对 (x⁽ᵖ⁾, d⁽ᵖ⁾)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18326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41542" y="193833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24497" y="1938338"/>
              <a:ext cx="18701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曲面严格经过这 N 个点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2250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41542" y="2330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自由度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24497" y="2330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曲面里可调的参数个数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6174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41542" y="272319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直觉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24497" y="2723198"/>
              <a:ext cx="3505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参数个数正好等于 N 时，一般恰好有唯一解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248400" y="3104198"/>
            <a:ext cx="5410200" cy="1459230"/>
            <a:chOff x="6248400" y="3104198"/>
            <a:chExt cx="5410200" cy="1459230"/>
          </a:xfrm>
        </p:grpSpPr>
        <p:sp>
          <p:nvSpPr>
            <p:cNvPr id="42" name="Rectangle 42"/>
            <p:cNvSpPr/>
            <p:nvPr/>
          </p:nvSpPr>
          <p:spPr>
            <a:xfrm>
              <a:off x="6248400" y="3104198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35090" y="32908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27762" y="33237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00684" y="332613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先固定形状，只留下线性参数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28232" y="3651885"/>
              <a:ext cx="470287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径向基函数的中心和宽度先定死，只把输出权值 w 留作未知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量。这样插值条件就是一组关于 w 的线性方程，解一次线性方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程组就完事。</a:t>
              </a:r>
            </a:p>
          </p:txBody>
        </p:sp>
      </p:grpSp>
      <p:grpSp>
        <p:nvGrpSpPr>
          <p:cNvPr id="67" name="c2-table-3"/>
          <p:cNvGrpSpPr/>
          <p:nvPr/>
        </p:nvGrpSpPr>
        <p:grpSpPr>
          <a:xfrm>
            <a:off x="6248400" y="4733925"/>
            <a:ext cx="5410200" cy="1600200"/>
            <a:chOff x="6248400" y="4733925"/>
            <a:chExt cx="5410200" cy="1600200"/>
          </a:xfrm>
        </p:grpSpPr>
        <p:sp>
          <p:nvSpPr>
            <p:cNvPr id="48" name="Rectangle 48"/>
            <p:cNvSpPr/>
            <p:nvPr/>
          </p:nvSpPr>
          <p:spPr>
            <a:xfrm>
              <a:off x="6248400" y="4733925"/>
              <a:ext cx="5410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94856" y="48553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58150" y="48553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对样本点的要求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85514" y="48553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参数个数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45555" y="52554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52398" y="525541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严格经过每一点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24110" y="525541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等于样本数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55292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48400" y="553402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45555" y="56554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52398" y="56554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整体误差最小即可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024110" y="56554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远少于样本数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59293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5555" y="605551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正则化插值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52398" y="605551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靠近但不必经过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24110" y="605551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样本数加一个罚项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4733925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50480" y="473392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922192" y="473392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19094" cy="909257"/>
            <a:chOff x="520446" y="342900"/>
            <a:chExt cx="67190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178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1868" y="407194"/>
              <a:ext cx="2793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RBF 神经网络与插值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190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Powell 的解法：每个样本点上放一个基函数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339780" cy="308039"/>
            <a:chOff x="525399" y="1550194"/>
            <a:chExt cx="833978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3397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1985 年 Powell 给出的做法，是把样本点本身当成中心，有多少样本就放多少个隐单元。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77390"/>
            <a:ext cx="3219658" cy="2529173"/>
            <a:chOff x="533400" y="1977390"/>
            <a:chExt cx="3219658" cy="2529173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785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2906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0116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选基函数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304574"/>
              <a:ext cx="25373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以每个样本 x⁽ᵖ⁾ 为中心放一个 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66223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线性组合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955131"/>
              <a:ext cx="2807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插值函数写成这 N 个基函数的加权和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127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代入条件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606641"/>
              <a:ext cx="17731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N 个样本逐个代进去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96335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解方程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257199"/>
              <a:ext cx="2350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得到关于 w 的 N 阶线性方程组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684395"/>
            <a:ext cx="5626418" cy="1059180"/>
            <a:chOff x="533400" y="4684395"/>
            <a:chExt cx="5626418" cy="1059180"/>
          </a:xfrm>
        </p:grpSpPr>
        <p:sp>
          <p:nvSpPr>
            <p:cNvPr id="27" name="Rectangle 27"/>
            <p:cNvSpPr/>
            <p:nvPr/>
          </p:nvSpPr>
          <p:spPr>
            <a:xfrm>
              <a:off x="533400" y="4684395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113973"/>
              <a:ext cx="200026" cy="200026"/>
              <a:chOff x="738188" y="5113973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1139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1806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52139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832985"/>
              <a:ext cx="46158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基函数的自变量是 x 到中心的距离，而距离是径向同性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的（各方向等价），“径向基函数”这个名字就是这么来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formula22"/>
              <p:cNvSpPr txBox="1">
                <a:spLocks noGrp="1"/>
              </p:cNvSpPr>
              <p:nvPr/>
            </p:nvSpPr>
            <p:spPr>
              <a:xfrm>
                <a:off x="6464618" y="1967865"/>
                <a:ext cx="5193982" cy="66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bi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‖"/>
                                  <m:sepChr m:val=""/>
                                  <m:endChr m:val="‖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p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23"/>
              <p:cNvSpPr txBox="1">
                <a:spLocks noGrp="1"/>
              </p:cNvSpPr>
              <p:nvPr/>
            </p:nvSpPr>
            <p:spPr>
              <a:xfrm>
                <a:off x="6464618" y="2818448"/>
                <a:ext cx="5193982" cy="66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‖"/>
                                  <m:sepChr m:val=""/>
                                  <m:endChr m:val="‖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p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41" name="c2-card-3"/>
          <p:cNvGrpSpPr/>
          <p:nvPr/>
        </p:nvGrpSpPr>
        <p:grpSpPr>
          <a:xfrm>
            <a:off x="6464618" y="3669030"/>
            <a:ext cx="5193982" cy="2075498"/>
            <a:chOff x="6464618" y="3669030"/>
            <a:chExt cx="5193982" cy="2075498"/>
          </a:xfrm>
        </p:grpSpPr>
        <p:sp>
          <p:nvSpPr>
            <p:cNvPr id="36" name="Rectangle 36"/>
            <p:cNvSpPr/>
            <p:nvPr/>
          </p:nvSpPr>
          <p:spPr>
            <a:xfrm>
              <a:off x="6464618" y="3669030"/>
              <a:ext cx="5193982" cy="2075498"/>
            </a:xfrm>
            <a:prstGeom prst="roundRect">
              <a:avLst>
                <a:gd name="adj" fmla="val 642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74168" y="38785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65328" y="39142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75195" y="3913822"/>
              <a:ext cx="12475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未知量只剩 w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6548" y="4274820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中心取成样本点、φ 的参数事先固定，于是整个插值条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件是 N 个方程、N 个未知数的线性方程组。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89732" cy="909257"/>
            <a:chOff x="520446" y="342900"/>
            <a:chExt cx="45897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178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1868" y="407194"/>
              <a:ext cx="2793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RBF 神经网络与插值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897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插值矩阵 Φ 与 Micchelli 定理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5"/>
              <p:cNvSpPr txBox="1">
                <a:spLocks noGrp="1"/>
              </p:cNvSpPr>
              <p:nvPr/>
            </p:nvSpPr>
            <p:spPr>
              <a:xfrm>
                <a:off x="533400" y="1524000"/>
                <a:ext cx="6059805" cy="7648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1N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NN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6923" y="2500789"/>
            <a:ext cx="5629402" cy="500824"/>
            <a:chOff x="526923" y="2500789"/>
            <a:chExt cx="5629402" cy="500824"/>
          </a:xfrm>
        </p:grpSpPr>
        <p:sp>
          <p:nvSpPr>
            <p:cNvPr id="8" name="TextBox 8"/>
            <p:cNvSpPr txBox="1"/>
            <p:nvPr/>
          </p:nvSpPr>
          <p:spPr>
            <a:xfrm>
              <a:off x="526923" y="2500789"/>
              <a:ext cx="562940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φᵢₚ = φ(||x⁽ⁱ⁾ − x⁽ᵖ⁾||)，行号 i 数样本，列号 p 数中心。写成矩阵就是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ΦW = d，若 Φ 可逆则 W = Φ⁻¹d。</a:t>
              </a:r>
            </a:p>
          </p:txBody>
        </p:sp>
      </p:grpSp>
      <p:grpSp>
        <p:nvGrpSpPr>
          <p:cNvPr id="30" name="c1-table-3"/>
          <p:cNvGrpSpPr/>
          <p:nvPr/>
        </p:nvGrpSpPr>
        <p:grpSpPr>
          <a:xfrm>
            <a:off x="527685" y="3141345"/>
            <a:ext cx="6065520" cy="2091214"/>
            <a:chOff x="527685" y="3141345"/>
            <a:chExt cx="6065520" cy="2091214"/>
          </a:xfrm>
        </p:grpSpPr>
        <p:sp>
          <p:nvSpPr>
            <p:cNvPr id="10" name="Rectangle 10"/>
            <p:cNvSpPr/>
            <p:nvPr/>
          </p:nvSpPr>
          <p:spPr>
            <a:xfrm>
              <a:off x="533400" y="3141345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41101" y="327612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50358" y="3276124"/>
              <a:ext cx="692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 的规模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50130" y="327612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直接求逆的代价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3725704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74723" y="3725704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× 100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34028" y="37257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一眨眼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0338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403860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4174331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10 000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74723" y="4174331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10⁴ × 10⁴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34028" y="4174331"/>
              <a:ext cx="11846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10¹² 次运算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48246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4622959"/>
              <a:ext cx="664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100 000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74723" y="4622959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10⁵ × 10⁵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34028" y="46229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内存先放不下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141345"/>
              <a:ext cx="605980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62138" y="314134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921442" y="314134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7685" y="501253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样本一多，解这个方程组就不现实了</a:t>
              </a:r>
            </a:p>
          </p:txBody>
        </p:sp>
      </p:grpSp>
      <p:grpSp>
        <p:nvGrpSpPr>
          <p:cNvPr id="37" name="c1-callout-4"/>
          <p:cNvGrpSpPr/>
          <p:nvPr/>
        </p:nvGrpSpPr>
        <p:grpSpPr>
          <a:xfrm>
            <a:off x="533400" y="5377815"/>
            <a:ext cx="6059805" cy="782955"/>
            <a:chOff x="533400" y="5377815"/>
            <a:chExt cx="6059805" cy="782955"/>
          </a:xfrm>
        </p:grpSpPr>
        <p:sp>
          <p:nvSpPr>
            <p:cNvPr id="31" name="Rectangle 31"/>
            <p:cNvSpPr/>
            <p:nvPr/>
          </p:nvSpPr>
          <p:spPr>
            <a:xfrm>
              <a:off x="533400" y="537781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670233"/>
              <a:ext cx="200026" cy="200025"/>
              <a:chOff x="738188" y="5670233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6702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7926" y="57146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642" y="58258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526405"/>
              <a:ext cx="4844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Φ 是对称矩阵，对角线上全是 φ(0)，高斯核时对角线全为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898005" y="1524000"/>
            <a:ext cx="4760595" cy="1956435"/>
            <a:chOff x="6898005" y="1524000"/>
            <a:chExt cx="4760595" cy="1956435"/>
          </a:xfrm>
        </p:grpSpPr>
        <p:sp>
          <p:nvSpPr>
            <p:cNvPr id="38" name="Rectangle 38"/>
            <p:cNvSpPr/>
            <p:nvPr/>
          </p:nvSpPr>
          <p:spPr>
            <a:xfrm>
              <a:off x="6898005" y="1524000"/>
              <a:ext cx="476059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07530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4565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3586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45730" y="1768792"/>
              <a:ext cx="1368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Micchelli 定理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38035" y="2129790"/>
              <a:ext cx="4053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对于一大类径向基函数，只要 N 个样本点 x⁽¹⁾,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x⁽²⁾, …, x⁽ᴺ⁾ 两两不同，插值矩阵 Φ 就是非奇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异的。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151370" y="30994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09485" y="303657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高斯、逆多二次、多二次都满足这个条件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898005" y="3670935"/>
            <a:ext cx="4760595" cy="2490788"/>
            <a:chOff x="6898005" y="3670935"/>
            <a:chExt cx="4760595" cy="2490788"/>
          </a:xfrm>
        </p:grpSpPr>
        <p:sp>
          <p:nvSpPr>
            <p:cNvPr id="47" name="Rectangle 47"/>
            <p:cNvSpPr/>
            <p:nvPr/>
          </p:nvSpPr>
          <p:spPr>
            <a:xfrm>
              <a:off x="6898005" y="3670935"/>
              <a:ext cx="4760595" cy="2490788"/>
            </a:xfrm>
            <a:prstGeom prst="roundRect">
              <a:avLst>
                <a:gd name="adj" fmla="val 53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907530" y="3804285"/>
              <a:ext cx="47625" cy="222408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45655" y="38804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35863" y="39162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45730" y="391572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可逆条件说的是样本点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38035" y="4276725"/>
              <a:ext cx="40919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版第18页写成“如果 φ₁, φ₂, …, φ_P 各不相同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则可逆”，把条件安在了基函数上。Micchelli 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理的条件是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样本点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两两不同，A 版第4页写对了。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39178" y="5180171"/>
              <a:ext cx="40525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想想也知道：基函数是同一个 φ，谈不上各不相同；真正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可能重合的是样本点。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178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1868" y="407194"/>
              <a:ext cx="2793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RBF 神经网络与插值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例题：三个样本的完全内插，算到底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829931" cy="293370"/>
            <a:chOff x="525780" y="1548765"/>
            <a:chExt cx="7829931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8299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x = 0, 1, 2 三个样本，目标值 d = 0, 1, 0，基函数 φ(r) = exp(−r²/2)，即 δ = 1。</a:t>
              </a:r>
            </a:p>
          </p:txBody>
        </p:sp>
      </p:grpSp>
      <p:grpSp>
        <p:nvGrpSpPr>
          <p:cNvPr id="33" name="c1-table-1"/>
          <p:cNvGrpSpPr/>
          <p:nvPr/>
        </p:nvGrpSpPr>
        <p:grpSpPr>
          <a:xfrm>
            <a:off x="533400" y="1954530"/>
            <a:ext cx="5410200" cy="1720215"/>
            <a:chOff x="533400" y="1954530"/>
            <a:chExt cx="5410200" cy="172021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35255" y="208597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57751" y="208597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中心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56008" y="208597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中心 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54266" y="208597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中心 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8746" y="2515552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53222" y="25155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52432" y="25155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0.6065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50689" y="25155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1463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946082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53222" y="294608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0.6065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52432" y="294608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0689" y="294608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0.6065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2404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376612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53222" y="337661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52432" y="337661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0.6065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50689" y="337661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954530"/>
              <a:ext cx="5410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043112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342322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640580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steps-2"/>
          <p:cNvGrpSpPr/>
          <p:nvPr/>
        </p:nvGrpSpPr>
        <p:grpSpPr>
          <a:xfrm>
            <a:off x="533400" y="3870008"/>
            <a:ext cx="4572305" cy="1790128"/>
            <a:chOff x="533400" y="3870008"/>
            <a:chExt cx="4572305" cy="1790128"/>
          </a:xfrm>
        </p:grpSpPr>
        <p:sp>
          <p:nvSpPr>
            <p:cNvPr id="34" name="Rectangle 34"/>
            <p:cNvSpPr/>
            <p:nvPr/>
          </p:nvSpPr>
          <p:spPr>
            <a:xfrm>
              <a:off x="666750" y="4012882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33400" y="38700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7024" y="39438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33400" y="44910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7024" y="45648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33400" y="511206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7024" y="51858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5261" y="390286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判可逆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6404" y="4183380"/>
              <a:ext cx="14293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det Φ = 0.3455 ≠ 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5261" y="452389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解方程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6404" y="4804410"/>
              <a:ext cx="41593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ΦW = (0, 1, 0)ᵀ，得 w₁ = w₃ = −1.5179，w₂ = 2.8413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5261" y="514492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6404" y="5425440"/>
              <a:ext cx="20250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F(0)=0，F(1)=1，F(2)=0</a:t>
              </a:r>
            </a:p>
          </p:txBody>
        </p:sp>
      </p:grpSp>
      <p:grpSp>
        <p:nvGrpSpPr>
          <p:cNvPr id="56" name="c2-graph-1"/>
          <p:cNvGrpSpPr/>
          <p:nvPr/>
        </p:nvGrpSpPr>
        <p:grpSpPr>
          <a:xfrm>
            <a:off x="6557010" y="2171700"/>
            <a:ext cx="4901565" cy="3145154"/>
            <a:chOff x="6557010" y="2171700"/>
            <a:chExt cx="4901565" cy="3145154"/>
          </a:xfrm>
        </p:grpSpPr>
        <p:sp>
          <p:nvSpPr>
            <p:cNvPr id="48" name="Freeform 48"/>
            <p:cNvSpPr/>
            <p:nvPr/>
          </p:nvSpPr>
          <p:spPr>
            <a:xfrm>
              <a:off x="6557010" y="4102418"/>
              <a:ext cx="4901565" cy="9525"/>
            </a:xfrm>
            <a:custGeom>
              <a:avLst/>
              <a:gdLst/>
              <a:ahLst/>
              <a:cxnLst/>
              <a:rect l="l" t="t" r="r" b="b"/>
              <a:pathLst>
                <a:path w="4901565" h="9525">
                  <a:moveTo>
                    <a:pt x="0" y="0"/>
                  </a:moveTo>
                  <a:lnTo>
                    <a:pt x="49015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6827520" y="2555558"/>
              <a:ext cx="4360545" cy="2420302"/>
            </a:xfrm>
            <a:custGeom>
              <a:avLst/>
              <a:gdLst/>
              <a:ahLst/>
              <a:cxnLst/>
              <a:rect l="l" t="t" r="r" b="b"/>
              <a:pathLst>
                <a:path w="4360545" h="2420302">
                  <a:moveTo>
                    <a:pt x="0" y="2402205"/>
                  </a:moveTo>
                  <a:lnTo>
                    <a:pt x="238125" y="2420302"/>
                  </a:lnTo>
                  <a:lnTo>
                    <a:pt x="519112" y="2294572"/>
                  </a:lnTo>
                  <a:lnTo>
                    <a:pt x="795338" y="1993582"/>
                  </a:lnTo>
                  <a:lnTo>
                    <a:pt x="1070610" y="1546860"/>
                  </a:lnTo>
                  <a:lnTo>
                    <a:pt x="1346835" y="1012508"/>
                  </a:lnTo>
                  <a:lnTo>
                    <a:pt x="1627823" y="502920"/>
                  </a:lnTo>
                  <a:lnTo>
                    <a:pt x="1904048" y="136208"/>
                  </a:lnTo>
                  <a:lnTo>
                    <a:pt x="2180273" y="0"/>
                  </a:lnTo>
                  <a:lnTo>
                    <a:pt x="2455545" y="136208"/>
                  </a:lnTo>
                  <a:lnTo>
                    <a:pt x="2737485" y="502920"/>
                  </a:lnTo>
                  <a:lnTo>
                    <a:pt x="3013710" y="1012508"/>
                  </a:lnTo>
                  <a:lnTo>
                    <a:pt x="3288982" y="1546860"/>
                  </a:lnTo>
                  <a:lnTo>
                    <a:pt x="3565207" y="1993582"/>
                  </a:lnTo>
                  <a:lnTo>
                    <a:pt x="3846195" y="2294572"/>
                  </a:lnTo>
                  <a:lnTo>
                    <a:pt x="4122420" y="2420302"/>
                  </a:lnTo>
                  <a:lnTo>
                    <a:pt x="4360545" y="240220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7840980" y="404526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950642" y="249840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0059352" y="404526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866727" y="2171700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 = 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14177" y="3743325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 = 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806178" y="5140642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曲线在两端掉到负值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7" name="Rectangle 5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6004084"/>
              <a:ext cx="105652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权值有正有负是正常的：中间那个基函数把曲线顶上去，两边两个再把它压回 0。代价是 F(3) = −0.553，外推完全不可信。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3178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1868" y="407194"/>
              <a:ext cx="2793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RBF 神经网络与插值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完全内插的两个毛病：怕噪声，也怕样本多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621155"/>
            <a:chOff x="533400" y="1524000"/>
            <a:chExt cx="4977765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穿过每个点，也穿过每个噪声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训练数据带噪声时，曲面被迫拐到每个噪声点上，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泛化能力很差。右图的真实规律是一条直线，插值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曲线却在样本之间反复起伏。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335655"/>
            <a:ext cx="4977765" cy="1621155"/>
            <a:chOff x="533400" y="3335655"/>
            <a:chExt cx="4977765" cy="1621155"/>
          </a:xfrm>
        </p:grpSpPr>
        <p:sp>
          <p:nvSpPr>
            <p:cNvPr id="14" name="Rectangle 14"/>
            <p:cNvSpPr/>
            <p:nvPr/>
          </p:nvSpPr>
          <p:spPr>
            <a:xfrm>
              <a:off x="533400" y="3335655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6900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54520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7308" y="358092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24000" y="358044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基函数个数等于样本数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3941445"/>
              <a:ext cx="4339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样本数远大于系统的固有自由度时，问题是超定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的，Φ 的条件数很大，求逆数值上不稳定，N 很大时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× N 求逆也算不动。</a:t>
              </a:r>
            </a:p>
          </p:txBody>
        </p:sp>
      </p:grpSp>
      <p:grpSp>
        <p:nvGrpSpPr>
          <p:cNvPr id="32" name="c2-graph-1"/>
          <p:cNvGrpSpPr/>
          <p:nvPr/>
        </p:nvGrpSpPr>
        <p:grpSpPr>
          <a:xfrm>
            <a:off x="6145530" y="2010728"/>
            <a:ext cx="5299710" cy="2578417"/>
            <a:chOff x="6145530" y="2010728"/>
            <a:chExt cx="5299710" cy="2578417"/>
          </a:xfrm>
        </p:grpSpPr>
        <p:sp>
          <p:nvSpPr>
            <p:cNvPr id="21" name="Freeform 21"/>
            <p:cNvSpPr/>
            <p:nvPr/>
          </p:nvSpPr>
          <p:spPr>
            <a:xfrm>
              <a:off x="6145530" y="4579620"/>
              <a:ext cx="5299710" cy="9525"/>
            </a:xfrm>
            <a:custGeom>
              <a:avLst/>
              <a:gdLst/>
              <a:ahLst/>
              <a:cxnLst/>
              <a:rect l="l" t="t" r="r" b="b"/>
              <a:pathLst>
                <a:path w="5299710" h="9525">
                  <a:moveTo>
                    <a:pt x="0" y="0"/>
                  </a:moveTo>
                  <a:lnTo>
                    <a:pt x="529971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905625" y="2025968"/>
              <a:ext cx="4364355" cy="2497455"/>
            </a:xfrm>
            <a:custGeom>
              <a:avLst/>
              <a:gdLst/>
              <a:ahLst/>
              <a:cxnLst/>
              <a:rect l="l" t="t" r="r" b="b"/>
              <a:pathLst>
                <a:path w="4364355" h="2497455">
                  <a:moveTo>
                    <a:pt x="0" y="2497455"/>
                  </a:moveTo>
                  <a:lnTo>
                    <a:pt x="4364355" y="0"/>
                  </a:lnTo>
                </a:path>
              </a:pathLst>
            </a:custGeom>
            <a:noFill/>
            <a:ln w="17145">
              <a:solidFill>
                <a:srgbClr val="14A38B"/>
              </a:solidFill>
              <a:custDash>
                <a:ds d="333333" sp="222222"/>
              </a:custDash>
            </a:ln>
          </p:spPr>
        </p:sp>
        <p:sp>
          <p:nvSpPr>
            <p:cNvPr id="23" name="Freeform 23"/>
            <p:cNvSpPr/>
            <p:nvPr/>
          </p:nvSpPr>
          <p:spPr>
            <a:xfrm>
              <a:off x="6320790" y="2251710"/>
              <a:ext cx="4949190" cy="2242185"/>
            </a:xfrm>
            <a:custGeom>
              <a:avLst/>
              <a:gdLst/>
              <a:ahLst/>
              <a:cxnLst/>
              <a:rect l="l" t="t" r="r" b="b"/>
              <a:pathLst>
                <a:path w="4949190" h="2242185">
                  <a:moveTo>
                    <a:pt x="0" y="2242185"/>
                  </a:moveTo>
                  <a:lnTo>
                    <a:pt x="155257" y="2214562"/>
                  </a:lnTo>
                  <a:lnTo>
                    <a:pt x="347662" y="2183130"/>
                  </a:lnTo>
                  <a:lnTo>
                    <a:pt x="546735" y="2155508"/>
                  </a:lnTo>
                  <a:lnTo>
                    <a:pt x="733425" y="2128837"/>
                  </a:lnTo>
                  <a:lnTo>
                    <a:pt x="926782" y="2086928"/>
                  </a:lnTo>
                  <a:lnTo>
                    <a:pt x="1119188" y="2032635"/>
                  </a:lnTo>
                  <a:lnTo>
                    <a:pt x="1318260" y="1960245"/>
                  </a:lnTo>
                  <a:lnTo>
                    <a:pt x="1510665" y="1877378"/>
                  </a:lnTo>
                  <a:lnTo>
                    <a:pt x="1703070" y="1764982"/>
                  </a:lnTo>
                  <a:lnTo>
                    <a:pt x="1896428" y="1585912"/>
                  </a:lnTo>
                  <a:lnTo>
                    <a:pt x="2088832" y="1339215"/>
                  </a:lnTo>
                  <a:lnTo>
                    <a:pt x="2282190" y="1088707"/>
                  </a:lnTo>
                  <a:lnTo>
                    <a:pt x="2474595" y="941070"/>
                  </a:lnTo>
                  <a:lnTo>
                    <a:pt x="2667952" y="923925"/>
                  </a:lnTo>
                  <a:lnTo>
                    <a:pt x="2860357" y="958215"/>
                  </a:lnTo>
                  <a:lnTo>
                    <a:pt x="3052762" y="943928"/>
                  </a:lnTo>
                  <a:lnTo>
                    <a:pt x="3246120" y="862012"/>
                  </a:lnTo>
                  <a:lnTo>
                    <a:pt x="3438525" y="776287"/>
                  </a:lnTo>
                  <a:lnTo>
                    <a:pt x="3631883" y="689610"/>
                  </a:lnTo>
                  <a:lnTo>
                    <a:pt x="3830002" y="552450"/>
                  </a:lnTo>
                  <a:lnTo>
                    <a:pt x="4023360" y="308610"/>
                  </a:lnTo>
                  <a:lnTo>
                    <a:pt x="4215765" y="55245"/>
                  </a:lnTo>
                  <a:lnTo>
                    <a:pt x="4409122" y="0"/>
                  </a:lnTo>
                  <a:lnTo>
                    <a:pt x="4601528" y="278130"/>
                  </a:lnTo>
                  <a:lnTo>
                    <a:pt x="4794885" y="806768"/>
                  </a:lnTo>
                  <a:lnTo>
                    <a:pt x="4949190" y="1277302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6810375" y="435006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774305" y="407193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38235" y="313563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702165" y="297084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672762" y="219456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75126" y="201072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真实规律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00329" y="355473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完全内插曲线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74580" y="3761423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出了样本范围立刻崩掉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3" name="Rectangle 3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728335"/>
              <a:ext cx="9828371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两条改法：一是加正则项，得到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正则化 RBF 网络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；二是干脆让中心数 M 远小于样本数 N，这就是下一部分的广义 RBF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网络。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68237" cy="3351847"/>
            <a:chOff x="667512" y="1835468"/>
            <a:chExt cx="646823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18485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广义 RBF 网络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为什么升到高维就容易分开，以及把完全内插的三处限制逐条松开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模式可分性的定义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升维之后用超平面切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87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XOR 的完整手算例子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31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广义 RBF 网络的四条放宽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14894" cy="909257"/>
            <a:chOff x="520446" y="342900"/>
            <a:chExt cx="59148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98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439" y="407194"/>
              <a:ext cx="23917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广义 RBF 网络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14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模式可分性：什么样的划分才算“可分”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1956435"/>
            <a:chOff x="533400" y="1524000"/>
            <a:chExt cx="5626418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关于曲面可分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110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F 是 N 个输入模式的集合，每个模式必属于 F₁ 和 F₂ 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一。若存在输入空间中的一个超曲面，把属于 F₁ 和 F₂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点分在两侧，就说这个二元划分关于该曲面是可分的。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0994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03657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该曲面若由线性方程确定，就说这个划分是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线性可分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3670935"/>
            <a:ext cx="5626418" cy="1711642"/>
            <a:chOff x="533400" y="3670935"/>
            <a:chExt cx="5626418" cy="1711642"/>
          </a:xfrm>
        </p:grpSpPr>
        <p:sp>
          <p:nvSpPr>
            <p:cNvPr id="16" name="Rectangle 16"/>
            <p:cNvSpPr/>
            <p:nvPr/>
          </p:nvSpPr>
          <p:spPr>
            <a:xfrm>
              <a:off x="533400" y="3670935"/>
              <a:ext cx="5626418" cy="1711642"/>
            </a:xfrm>
            <a:prstGeom prst="roundRect">
              <a:avLst>
                <a:gd name="adj" fmla="val 667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426268"/>
              <a:ext cx="200026" cy="200025"/>
              <a:chOff x="738188" y="4426268"/>
              <a:chExt cx="200026" cy="2000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4262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77926" y="44707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2642" y="45818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4283392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同一批点可能关于某个二次曲面可分，却不关于任何超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平面可分。XOR 就是这样的例子。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458902" y="1524000"/>
            <a:ext cx="5199698" cy="2091214"/>
            <a:chOff x="6458902" y="1524000"/>
            <a:chExt cx="5199698" cy="2091214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649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0096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分界面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26665" y="1659731"/>
              <a:ext cx="11132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XOR 是否满足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72441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线性可分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30730" y="2108359"/>
              <a:ext cx="16239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Wᵀx + b = 0，超平面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15778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72441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球面可分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30730" y="2556986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||x − c|| = ρ，超球面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15778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72441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二次可分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0730" y="30056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一般二次曲面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15778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01814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30319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58902" y="339518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几种常见的可分性（按分界面的形式分）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464618" y="3761422"/>
            <a:ext cx="5193982" cy="1621155"/>
            <a:chOff x="6464618" y="3761422"/>
            <a:chExt cx="5193982" cy="1621155"/>
          </a:xfrm>
        </p:grpSpPr>
        <p:sp>
          <p:nvSpPr>
            <p:cNvPr id="44" name="Rectangle 44"/>
            <p:cNvSpPr/>
            <p:nvPr/>
          </p:nvSpPr>
          <p:spPr>
            <a:xfrm>
              <a:off x="6464618" y="3761422"/>
              <a:ext cx="5193982" cy="1621155"/>
            </a:xfrm>
            <a:prstGeom prst="roundRect">
              <a:avLst>
                <a:gd name="adj" fmla="val 8226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74168" y="397097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60426" y="40066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出发点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17118" y="40062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分界面复杂，不如把空间换掉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6548" y="4367212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与其在原空间里去找一个复杂的曲面，不如先把点映射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到另一个空间，在那里用最简单的超平面去切。RBF 网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络的隐层干的就是这件事。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43645" cy="909257"/>
            <a:chOff x="520446" y="342900"/>
            <a:chExt cx="59436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98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439" y="407194"/>
              <a:ext cx="23917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广义 RBF 网络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436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Cover 的思路：先升维，再用超平面切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695372" cy="293370"/>
            <a:chOff x="525780" y="1548765"/>
            <a:chExt cx="869537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69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隐层把 n 维输入变成 M 维的 φ 向量，M 比 n 大。维数越高，随机一组点线性可分的可能性越大。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30"/>
              <p:cNvSpPr txBox="1">
                <a:spLocks noGrp="1"/>
              </p:cNvSpPr>
              <p:nvPr/>
            </p:nvSpPr>
            <p:spPr>
              <a:xfrm>
                <a:off x="533400" y="1954530"/>
                <a:ext cx="5193982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bi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bi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ϕ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ϕ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ϕ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31"/>
              <p:cNvSpPr txBox="1">
                <a:spLocks noGrp="1"/>
              </p:cNvSpPr>
              <p:nvPr/>
            </p:nvSpPr>
            <p:spPr>
              <a:xfrm>
                <a:off x="533400" y="2559368"/>
                <a:ext cx="5193982" cy="796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p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  <m:sup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m:rPr>
                                  <m:sty m:val="bi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sty m:val="bi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p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  <m:sup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m:rPr>
                                  <m:sty m:val="bi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&lt;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sty m:val="bi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rd-3"/>
          <p:cNvGrpSpPr/>
          <p:nvPr/>
        </p:nvGrpSpPr>
        <p:grpSpPr>
          <a:xfrm>
            <a:off x="533400" y="3540442"/>
            <a:ext cx="5193982" cy="1836420"/>
            <a:chOff x="533400" y="3540442"/>
            <a:chExt cx="5193982" cy="1836420"/>
          </a:xfrm>
        </p:grpSpPr>
        <p:sp>
          <p:nvSpPr>
            <p:cNvPr id="11" name="Rectangle 11"/>
            <p:cNvSpPr/>
            <p:nvPr/>
          </p:nvSpPr>
          <p:spPr>
            <a:xfrm>
              <a:off x="533400" y="3540442"/>
              <a:ext cx="5193982" cy="1836420"/>
            </a:xfrm>
            <a:prstGeom prst="roundRect">
              <a:avLst>
                <a:gd name="adj" fmla="val 7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673792"/>
              <a:ext cx="47625" cy="15697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75335" y="37442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5543" y="37799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76744" y="378475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多一个维度，就多一个可调的自由度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8096" y="4136231"/>
              <a:ext cx="4568063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维空间里的超平面只有 n+1 个可调参数，要把 N 个点按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任意方式二分，自由度常常不够。φ 把维数抬到 M 之后，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可调参数变成 M+1 个，M 足够大时任意一种二分都能做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到。</a:t>
              </a:r>
            </a:p>
          </p:txBody>
        </p:sp>
      </p:grpSp>
      <p:grpSp>
        <p:nvGrpSpPr>
          <p:cNvPr id="23" name="c1-callout-4"/>
          <p:cNvGrpSpPr/>
          <p:nvPr/>
        </p:nvGrpSpPr>
        <p:grpSpPr>
          <a:xfrm>
            <a:off x="533400" y="5562600"/>
            <a:ext cx="5193982" cy="756285"/>
            <a:chOff x="533400" y="5562600"/>
            <a:chExt cx="5193982" cy="756285"/>
          </a:xfrm>
        </p:grpSpPr>
        <p:sp>
          <p:nvSpPr>
            <p:cNvPr id="18" name="Rectangle 18"/>
            <p:cNvSpPr/>
            <p:nvPr/>
          </p:nvSpPr>
          <p:spPr>
            <a:xfrm>
              <a:off x="533400" y="5562600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840732"/>
              <a:ext cx="200023" cy="200023"/>
              <a:chOff x="738188" y="5840732"/>
              <a:chExt cx="200023" cy="2000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84073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71538" y="59074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511" y="5709761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Wᵀφ(x) = 0 在 M 维 φ 空间里是一个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超平面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，把它拉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 n 维 x 空间，画出来是一张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超曲面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8" name="c2-flow-1"/>
          <p:cNvGrpSpPr/>
          <p:nvPr/>
        </p:nvGrpSpPr>
        <p:grpSpPr>
          <a:xfrm>
            <a:off x="6165532" y="2382202"/>
            <a:ext cx="5359718" cy="844868"/>
            <a:chOff x="6165532" y="2382202"/>
            <a:chExt cx="5359718" cy="844868"/>
          </a:xfrm>
        </p:grpSpPr>
        <p:sp>
          <p:nvSpPr>
            <p:cNvPr id="24" name="Freeform 24"/>
            <p:cNvSpPr/>
            <p:nvPr/>
          </p:nvSpPr>
          <p:spPr>
            <a:xfrm>
              <a:off x="7774305" y="292512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936230" y="28727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9649778" y="292512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811702" y="28727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165532" y="2623185"/>
              <a:ext cx="1608773" cy="602933"/>
            </a:xfrm>
            <a:custGeom>
              <a:avLst/>
              <a:gdLst/>
              <a:ahLst/>
              <a:cxnLst/>
              <a:rect l="l" t="t" r="r" b="b"/>
              <a:pathLst>
                <a:path w="1608773" h="602933">
                  <a:moveTo>
                    <a:pt x="133350" y="0"/>
                  </a:moveTo>
                  <a:lnTo>
                    <a:pt x="1608773" y="0"/>
                  </a:lnTo>
                  <a:lnTo>
                    <a:pt x="1475423" y="602933"/>
                  </a:lnTo>
                  <a:lnTo>
                    <a:pt x="0" y="602933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041005" y="2623185"/>
              <a:ext cx="1608772" cy="603885"/>
            </a:xfrm>
            <a:prstGeom prst="roundRect">
              <a:avLst>
                <a:gd name="adj" fmla="val 15773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916478" y="2623185"/>
              <a:ext cx="1608772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65177" y="2738438"/>
              <a:ext cx="120853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空间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维，线性不可分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19719" y="2738438"/>
              <a:ext cx="8503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空间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维，M &gt; 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98239" y="2738438"/>
              <a:ext cx="844296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超平面判别</a:t>
              </a:r>
              <a:br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Wᵀφ(x) = 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726680" y="238220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60970" y="240887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隐层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535478" y="2382202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565767" y="240887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输出层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032182" y="4080510"/>
            <a:ext cx="5626418" cy="2238375"/>
            <a:chOff x="6032182" y="4080510"/>
            <a:chExt cx="5626418" cy="2238375"/>
          </a:xfrm>
        </p:grpSpPr>
        <p:sp>
          <p:nvSpPr>
            <p:cNvPr id="39" name="Rectangle 39"/>
            <p:cNvSpPr/>
            <p:nvPr/>
          </p:nvSpPr>
          <p:spPr>
            <a:xfrm>
              <a:off x="6032182" y="4080510"/>
              <a:ext cx="5626418" cy="2238375"/>
            </a:xfrm>
            <a:prstGeom prst="roundRect">
              <a:avLst>
                <a:gd name="adj" fmla="val 59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41708" y="4213860"/>
              <a:ext cx="47625" cy="19716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74118" y="42843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64326" y="43200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74574" y="4323874"/>
              <a:ext cx="27653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令隐节点数 M 大于输入节点数 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66879" y="4675346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设置一个隐层，用 φ 当隐节点的激活函数，并令 M ≥ n。M 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够大时，模式点在隐空间就是线性可分的，从隐层到输出层可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以直接套感知器那一类解线性可分问题的算法。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65176" cy="909257"/>
            <a:chOff x="520446" y="342900"/>
            <a:chExt cx="60651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98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439" y="407194"/>
              <a:ext cx="23917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广义 RBF 网络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651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例题：XOR 升到二维 φ 空间后线性可分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283827" cy="293370"/>
            <a:chOff x="525780" y="1548765"/>
            <a:chExt cx="9283827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2838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取两个高斯基函数，中心分别是 c₁ = (1, 1) 和 c₂ = (0, 0)，φᵢ(x) = exp(−||x − cᵢ||²)，即 2δ² = 1。</a:t>
              </a:r>
            </a:p>
          </p:txBody>
        </p:sp>
      </p:grpSp>
      <p:grpSp>
        <p:nvGrpSpPr>
          <p:cNvPr id="45" name="c1-table-1"/>
          <p:cNvGrpSpPr/>
          <p:nvPr/>
        </p:nvGrpSpPr>
        <p:grpSpPr>
          <a:xfrm>
            <a:off x="533400" y="1954530"/>
            <a:ext cx="5410200" cy="2150745"/>
            <a:chOff x="533400" y="1954530"/>
            <a:chExt cx="5410200" cy="215074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75971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52390" y="208597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φ₁(x)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88722" y="208597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φ₂(x)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97432" y="208597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φ₁+φ₂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39288" y="2085975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XOR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8746" y="2515552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29372" y="25155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64752" y="25155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01084" y="25155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1.1353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8312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1463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2946082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29372" y="294608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64752" y="294608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01084" y="294608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1.1353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8312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404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3376612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29372" y="337661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0.3679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64752" y="337661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0.3679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01084" y="337661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0.7358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83124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67474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8746" y="3806190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29372" y="380619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0.3679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64752" y="380619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0.3679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01084" y="380619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0.7358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83124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54530"/>
              <a:ext cx="5410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719262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2854642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990975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073015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1-callout-2"/>
          <p:cNvGrpSpPr/>
          <p:nvPr/>
        </p:nvGrpSpPr>
        <p:grpSpPr>
          <a:xfrm>
            <a:off x="533400" y="4291012"/>
            <a:ext cx="5410200" cy="1018222"/>
            <a:chOff x="533400" y="4291012"/>
            <a:chExt cx="5410200" cy="1018222"/>
          </a:xfrm>
        </p:grpSpPr>
        <p:sp>
          <p:nvSpPr>
            <p:cNvPr id="46" name="Rectangle 46"/>
            <p:cNvSpPr/>
            <p:nvPr/>
          </p:nvSpPr>
          <p:spPr>
            <a:xfrm>
              <a:off x="533400" y="4291012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4699637"/>
              <a:ext cx="200023" cy="200023"/>
              <a:chOff x="738188" y="4699637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46996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1538" y="47663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4438174"/>
              <a:ext cx="4486910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φ 平面上，直线 φ₁ + φ₂ = 1 把两类彻底分开：和大于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的判 0 类，小于 1 的判 1 类。原空间里做不到的事，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升维之后一条直线就够了。</a:t>
              </a:r>
            </a:p>
          </p:txBody>
        </p:sp>
      </p:grpSp>
      <p:grpSp>
        <p:nvGrpSpPr>
          <p:cNvPr id="64" name="c2-graph-1"/>
          <p:cNvGrpSpPr/>
          <p:nvPr/>
        </p:nvGrpSpPr>
        <p:grpSpPr>
          <a:xfrm>
            <a:off x="6495689" y="2260282"/>
            <a:ext cx="4861329" cy="2966752"/>
            <a:chOff x="6495689" y="2260282"/>
            <a:chExt cx="4861329" cy="2966752"/>
          </a:xfrm>
        </p:grpSpPr>
        <p:sp>
          <p:nvSpPr>
            <p:cNvPr id="52" name="Freeform 52"/>
            <p:cNvSpPr/>
            <p:nvPr/>
          </p:nvSpPr>
          <p:spPr>
            <a:xfrm>
              <a:off x="6827520" y="4906328"/>
              <a:ext cx="4522470" cy="9525"/>
            </a:xfrm>
            <a:custGeom>
              <a:avLst/>
              <a:gdLst/>
              <a:ahLst/>
              <a:cxnLst/>
              <a:rect l="l" t="t" r="r" b="b"/>
              <a:pathLst>
                <a:path w="4522470" h="9525">
                  <a:moveTo>
                    <a:pt x="0" y="0"/>
                  </a:moveTo>
                  <a:lnTo>
                    <a:pt x="452247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6898005" y="2411730"/>
              <a:ext cx="9525" cy="2506980"/>
            </a:xfrm>
            <a:custGeom>
              <a:avLst/>
              <a:gdLst/>
              <a:ahLst/>
              <a:cxnLst/>
              <a:rect l="l" t="t" r="r" b="b"/>
              <a:pathLst>
                <a:path w="9525" h="2506980">
                  <a:moveTo>
                    <a:pt x="0" y="25069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936105" y="2611755"/>
              <a:ext cx="3759518" cy="2271713"/>
            </a:xfrm>
            <a:custGeom>
              <a:avLst/>
              <a:gdLst/>
              <a:ahLst/>
              <a:cxnLst/>
              <a:rect l="l" t="t" r="r" b="b"/>
              <a:pathLst>
                <a:path w="3759518" h="2271713">
                  <a:moveTo>
                    <a:pt x="0" y="0"/>
                  </a:moveTo>
                  <a:lnTo>
                    <a:pt x="3759518" y="2271713"/>
                  </a:lnTo>
                </a:path>
              </a:pathLst>
            </a:custGeom>
            <a:noFill/>
            <a:ln w="17145">
              <a:solidFill>
                <a:srgbClr val="14A38B"/>
              </a:solidFill>
              <a:custDash>
                <a:ds d="333333" sp="222222"/>
              </a:custDash>
            </a:ln>
          </p:spPr>
        </p:sp>
        <p:sp>
          <p:nvSpPr>
            <p:cNvPr id="55" name="Ellipse 55"/>
            <p:cNvSpPr/>
            <p:nvPr/>
          </p:nvSpPr>
          <p:spPr>
            <a:xfrm>
              <a:off x="10667048" y="4528185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7350442" y="2522220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8242935" y="3988118"/>
              <a:ext cx="133350" cy="1333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201992" y="503634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φ₁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95689" y="228552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φ₂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513790" y="4239578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(1,1)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83888" y="2260282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(0,0)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49805" y="4105275"/>
              <a:ext cx="11484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(0,1) 与 (1,0) 重合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92419" y="2930842"/>
              <a:ext cx="6213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φ₁ + φ₂ = 1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65" name="Rectangle 65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511" y="5753576"/>
              <a:ext cx="990612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注意 (0,1) 和 (1,0) 映到了 φ 平面上的同一个点。这不是错，它们对两个中心的距离本来就一样，同类样本被压到一起反而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更好分。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32030" cy="909257"/>
            <a:chOff x="520446" y="342900"/>
            <a:chExt cx="60320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98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439" y="407194"/>
              <a:ext cx="23917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广义 RBF 网络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320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广义 RBF 网络：四条放宽，加一个阈值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33400" y="1535430"/>
            <a:ext cx="4702060" cy="1278351"/>
            <a:chOff x="533400" y="1535430"/>
            <a:chExt cx="4702060" cy="1278351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1745" y="1574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4293" y="1547336"/>
              <a:ext cx="4213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基函数个数 M 与样本数 N 不同，一般 M 远小于 N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64043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1745" y="190438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293" y="187690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中心不再限制在样本点上，由训练确定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93608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1745" y="223394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293" y="2206466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各基函数的扩展常数不再统一，各自由训练确定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52317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1745" y="256351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293" y="2535079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线性组合里含阈值参数，补偿输出与目标的均值之差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34"/>
              <p:cNvSpPr txBox="1">
                <a:spLocks noGrp="1"/>
              </p:cNvSpPr>
              <p:nvPr/>
            </p:nvSpPr>
            <p:spPr>
              <a:xfrm>
                <a:off x="533400" y="2943225"/>
                <a:ext cx="5410200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bi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‖"/>
                                  <m:sepChr m:val=""/>
                                  <m:endChr m:val="‖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27" name="c1-card-3"/>
          <p:cNvGrpSpPr/>
          <p:nvPr/>
        </p:nvGrpSpPr>
        <p:grpSpPr>
          <a:xfrm>
            <a:off x="533400" y="3757612"/>
            <a:ext cx="5410200" cy="1836420"/>
            <a:chOff x="533400" y="3757612"/>
            <a:chExt cx="5410200" cy="1836420"/>
          </a:xfrm>
        </p:grpSpPr>
        <p:sp>
          <p:nvSpPr>
            <p:cNvPr id="21" name="Rectangle 21"/>
            <p:cNvSpPr/>
            <p:nvPr/>
          </p:nvSpPr>
          <p:spPr>
            <a:xfrm>
              <a:off x="533400" y="3757612"/>
              <a:ext cx="5410200" cy="1836420"/>
            </a:xfrm>
            <a:prstGeom prst="roundRect">
              <a:avLst>
                <a:gd name="adj" fmla="val 7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890962"/>
              <a:ext cx="47625" cy="15697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5335" y="396144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5543" y="39971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76744" y="400097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阈值是加上去的，不是乘上去的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096" y="4352449"/>
              <a:ext cx="4721352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版第22页把输出写成 f(x) = α·Σ wᵢφ(…)，把阈值写成了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乘在求和外面的系数。既然第4条说的是“线性组合中包含阈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值参数”，正确写法是加一项 w₀，对应图中那个恒为 1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φ₀ 单元。</a:t>
              </a:r>
            </a:p>
          </p:txBody>
        </p:sp>
      </p:grpSp>
      <p:grpSp>
        <p:nvGrpSpPr>
          <p:cNvPr id="59" name="c2-graph-1"/>
          <p:cNvGrpSpPr/>
          <p:nvPr/>
        </p:nvGrpSpPr>
        <p:grpSpPr>
          <a:xfrm>
            <a:off x="6472676" y="1548765"/>
            <a:ext cx="4722819" cy="3961447"/>
            <a:chOff x="6472676" y="1548765"/>
            <a:chExt cx="4722819" cy="3961447"/>
          </a:xfrm>
        </p:grpSpPr>
        <p:sp>
          <p:nvSpPr>
            <p:cNvPr id="28" name="Freeform 28"/>
            <p:cNvSpPr/>
            <p:nvPr/>
          </p:nvSpPr>
          <p:spPr>
            <a:xfrm>
              <a:off x="6912292" y="2758440"/>
              <a:ext cx="1908810" cy="215265"/>
            </a:xfrm>
            <a:custGeom>
              <a:avLst/>
              <a:gdLst/>
              <a:ahLst/>
              <a:cxnLst/>
              <a:rect l="l" t="t" r="r" b="b"/>
              <a:pathLst>
                <a:path w="1908810" h="215265">
                  <a:moveTo>
                    <a:pt x="0" y="0"/>
                  </a:moveTo>
                  <a:lnTo>
                    <a:pt x="1908810" y="21526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897052" y="2806065"/>
              <a:ext cx="1940242" cy="1094422"/>
            </a:xfrm>
            <a:custGeom>
              <a:avLst/>
              <a:gdLst/>
              <a:ahLst/>
              <a:cxnLst/>
              <a:rect l="l" t="t" r="r" b="b"/>
              <a:pathLst>
                <a:path w="1940242" h="1094422">
                  <a:moveTo>
                    <a:pt x="0" y="0"/>
                  </a:moveTo>
                  <a:lnTo>
                    <a:pt x="1940242" y="109442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876098" y="2832735"/>
              <a:ext cx="1984058" cy="2014538"/>
            </a:xfrm>
            <a:custGeom>
              <a:avLst/>
              <a:gdLst/>
              <a:ahLst/>
              <a:cxnLst/>
              <a:rect l="l" t="t" r="r" b="b"/>
              <a:pathLst>
                <a:path w="1984058" h="2014538">
                  <a:moveTo>
                    <a:pt x="0" y="0"/>
                  </a:moveTo>
                  <a:lnTo>
                    <a:pt x="1984058" y="201453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905625" y="3035618"/>
              <a:ext cx="1923097" cy="723900"/>
            </a:xfrm>
            <a:custGeom>
              <a:avLst/>
              <a:gdLst/>
              <a:ahLst/>
              <a:cxnLst/>
              <a:rect l="l" t="t" r="r" b="b"/>
              <a:pathLst>
                <a:path w="1923097" h="723900">
                  <a:moveTo>
                    <a:pt x="0" y="723900"/>
                  </a:moveTo>
                  <a:lnTo>
                    <a:pt x="1923097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913245" y="3811905"/>
              <a:ext cx="1906905" cy="143828"/>
            </a:xfrm>
            <a:custGeom>
              <a:avLst/>
              <a:gdLst/>
              <a:ahLst/>
              <a:cxnLst/>
              <a:rect l="l" t="t" r="r" b="b"/>
              <a:pathLst>
                <a:path w="1906905" h="143828">
                  <a:moveTo>
                    <a:pt x="0" y="0"/>
                  </a:moveTo>
                  <a:lnTo>
                    <a:pt x="1906905" y="14382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898958" y="3860482"/>
              <a:ext cx="1936433" cy="1020127"/>
            </a:xfrm>
            <a:custGeom>
              <a:avLst/>
              <a:gdLst/>
              <a:ahLst/>
              <a:cxnLst/>
              <a:rect l="l" t="t" r="r" b="b"/>
              <a:pathLst>
                <a:path w="1936433" h="1020127">
                  <a:moveTo>
                    <a:pt x="0" y="0"/>
                  </a:moveTo>
                  <a:lnTo>
                    <a:pt x="1936433" y="102012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882765" y="3076575"/>
              <a:ext cx="1969770" cy="1703070"/>
            </a:xfrm>
            <a:custGeom>
              <a:avLst/>
              <a:gdLst/>
              <a:ahLst/>
              <a:cxnLst/>
              <a:rect l="l" t="t" r="r" b="b"/>
              <a:pathLst>
                <a:path w="1969770" h="1703070">
                  <a:moveTo>
                    <a:pt x="0" y="1703070"/>
                  </a:moveTo>
                  <a:lnTo>
                    <a:pt x="196977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903720" y="4016692"/>
              <a:ext cx="1926908" cy="797242"/>
            </a:xfrm>
            <a:custGeom>
              <a:avLst/>
              <a:gdLst/>
              <a:ahLst/>
              <a:cxnLst/>
              <a:rect l="l" t="t" r="r" b="b"/>
              <a:pathLst>
                <a:path w="1926908" h="797242">
                  <a:moveTo>
                    <a:pt x="0" y="797242"/>
                  </a:moveTo>
                  <a:lnTo>
                    <a:pt x="1926908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913245" y="4865370"/>
              <a:ext cx="1906905" cy="72390"/>
            </a:xfrm>
            <a:custGeom>
              <a:avLst/>
              <a:gdLst/>
              <a:ahLst/>
              <a:cxnLst/>
              <a:rect l="l" t="t" r="r" b="b"/>
              <a:pathLst>
                <a:path w="1906905" h="72390">
                  <a:moveTo>
                    <a:pt x="0" y="0"/>
                  </a:moveTo>
                  <a:lnTo>
                    <a:pt x="1906905" y="7239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072562" y="1990725"/>
              <a:ext cx="1871662" cy="938212"/>
            </a:xfrm>
            <a:custGeom>
              <a:avLst/>
              <a:gdLst/>
              <a:ahLst/>
              <a:cxnLst/>
              <a:rect l="l" t="t" r="r" b="b"/>
              <a:pathLst>
                <a:path w="1871662" h="938212">
                  <a:moveTo>
                    <a:pt x="0" y="0"/>
                  </a:moveTo>
                  <a:lnTo>
                    <a:pt x="1871662" y="938212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041130" y="2031682"/>
              <a:ext cx="1935480" cy="2240280"/>
            </a:xfrm>
            <a:custGeom>
              <a:avLst/>
              <a:gdLst/>
              <a:ahLst/>
              <a:cxnLst/>
              <a:rect l="l" t="t" r="r" b="b"/>
              <a:pathLst>
                <a:path w="1935480" h="2240280">
                  <a:moveTo>
                    <a:pt x="0" y="0"/>
                  </a:moveTo>
                  <a:lnTo>
                    <a:pt x="1935480" y="2240280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086850" y="2988945"/>
              <a:ext cx="1843088" cy="9525"/>
            </a:xfrm>
            <a:custGeom>
              <a:avLst/>
              <a:gdLst/>
              <a:ahLst/>
              <a:cxnLst/>
              <a:rect l="l" t="t" r="r" b="b"/>
              <a:pathLst>
                <a:path w="1843088" h="9525">
                  <a:moveTo>
                    <a:pt x="0" y="0"/>
                  </a:moveTo>
                  <a:lnTo>
                    <a:pt x="1843088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064942" y="3062288"/>
              <a:ext cx="1886902" cy="1237297"/>
            </a:xfrm>
            <a:custGeom>
              <a:avLst/>
              <a:gdLst/>
              <a:ahLst/>
              <a:cxnLst/>
              <a:rect l="l" t="t" r="r" b="b"/>
              <a:pathLst>
                <a:path w="1886902" h="1237297">
                  <a:moveTo>
                    <a:pt x="0" y="0"/>
                  </a:moveTo>
                  <a:lnTo>
                    <a:pt x="1886902" y="123729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074468" y="3045142"/>
              <a:ext cx="1867852" cy="864870"/>
            </a:xfrm>
            <a:custGeom>
              <a:avLst/>
              <a:gdLst/>
              <a:ahLst/>
              <a:cxnLst/>
              <a:rect l="l" t="t" r="r" b="b"/>
              <a:pathLst>
                <a:path w="1867852" h="864870">
                  <a:moveTo>
                    <a:pt x="0" y="864870"/>
                  </a:moveTo>
                  <a:lnTo>
                    <a:pt x="1867852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083992" y="3990975"/>
              <a:ext cx="1848802" cy="356235"/>
            </a:xfrm>
            <a:custGeom>
              <a:avLst/>
              <a:gdLst/>
              <a:ahLst/>
              <a:cxnLst/>
              <a:rect l="l" t="t" r="r" b="b"/>
              <a:pathLst>
                <a:path w="1848802" h="356235">
                  <a:moveTo>
                    <a:pt x="0" y="0"/>
                  </a:moveTo>
                  <a:lnTo>
                    <a:pt x="1848802" y="35623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051608" y="3079432"/>
              <a:ext cx="1913573" cy="1772602"/>
            </a:xfrm>
            <a:custGeom>
              <a:avLst/>
              <a:gdLst/>
              <a:ahLst/>
              <a:cxnLst/>
              <a:rect l="l" t="t" r="r" b="b"/>
              <a:pathLst>
                <a:path w="1913573" h="1772602">
                  <a:moveTo>
                    <a:pt x="0" y="1772602"/>
                  </a:moveTo>
                  <a:lnTo>
                    <a:pt x="1913573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082088" y="4407218"/>
              <a:ext cx="1852612" cy="500063"/>
            </a:xfrm>
            <a:custGeom>
              <a:avLst/>
              <a:gdLst/>
              <a:ahLst/>
              <a:cxnLst/>
              <a:rect l="l" t="t" r="r" b="b"/>
              <a:pathLst>
                <a:path w="1852612" h="500063">
                  <a:moveTo>
                    <a:pt x="0" y="500063"/>
                  </a:moveTo>
                  <a:lnTo>
                    <a:pt x="1852612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6675120" y="2630805"/>
              <a:ext cx="228600" cy="2286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6675120" y="3689032"/>
              <a:ext cx="228600" cy="2286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6675120" y="4746308"/>
              <a:ext cx="228600" cy="2286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8829675" y="1806892"/>
              <a:ext cx="247650" cy="2476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8829675" y="2865120"/>
              <a:ext cx="247650" cy="2476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829675" y="3842385"/>
              <a:ext cx="247650" cy="2476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829675" y="4818698"/>
              <a:ext cx="247650" cy="2476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0939462" y="2865120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0939462" y="4249102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900758" y="18564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72676" y="5293042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输入层 n 个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59432" y="5334000"/>
              <a:ext cx="7881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隐层 M 个中心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22496" y="529304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21611" y="1548765"/>
              <a:ext cx="6637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阈值单元 φ₀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0" name="Rectangle 6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511" y="6004084"/>
              <a:ext cx="96150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 远小于 N 是关键的一条：隐单元少了，Φ 从方阵变成长方阵，插值问题变成最小二乘问题，噪声也就压下去了。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5608015" cy="3706177"/>
            <a:chOff x="667512" y="1835468"/>
            <a:chExt cx="5608015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60801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广义 RBF 网络的训练算法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中心、扩展常数、输出权值这三类参数各自怎么定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三类参数与三条路线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中心从样本中选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中心用聚类选（k-means 与竞争学习）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扩展常数、最小均方与伪逆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中心的监督学习与梯度推导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6134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785" y="407194"/>
              <a:ext cx="31456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广义 RBF 网络的训练算法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三类参数，各有各的定法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759962" cy="308039"/>
            <a:chOff x="525399" y="1550194"/>
            <a:chExt cx="875996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75996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结构设计（隐节点数 M）多凭经验，参数学习分三类，其中输出权值总是用有监督的办法定。</a:t>
              </a:r>
            </a:p>
          </p:txBody>
        </p:sp>
      </p:grpSp>
      <p:grpSp>
        <p:nvGrpSpPr>
          <p:cNvPr id="33" name="c1-table-1"/>
          <p:cNvGrpSpPr/>
          <p:nvPr/>
        </p:nvGrpSpPr>
        <p:grpSpPr>
          <a:xfrm>
            <a:off x="533400" y="1967865"/>
            <a:ext cx="6059805" cy="2244090"/>
            <a:chOff x="533400" y="1967865"/>
            <a:chExt cx="6059805" cy="224409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039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9679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287" y="21026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常用确定方式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31836" y="255127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隐节点（中心）的个数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34028" y="255127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多凭经验，或试几个取最好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03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6512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00085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31836" y="3000851"/>
              <a:ext cx="15465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j 个基函数的中心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34028" y="3000851"/>
              <a:ext cx="2132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从样本选 / 聚类 / 监督学习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089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44947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31836" y="3449479"/>
              <a:ext cx="18911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j 个基函数的扩展常数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34028" y="3449479"/>
              <a:ext cx="2278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由中心的分布算出 / 监督学习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576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76237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3898106"/>
              <a:ext cx="2481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31836" y="3898106"/>
              <a:ext cx="20117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输出层权值（含阈值 w₀）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34028" y="3898106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最小均方算法 / 伪逆法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967865"/>
              <a:ext cx="605980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619250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921442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flow-2"/>
          <p:cNvGrpSpPr/>
          <p:nvPr/>
        </p:nvGrpSpPr>
        <p:grpSpPr>
          <a:xfrm>
            <a:off x="666750" y="4992052"/>
            <a:ext cx="5792153" cy="629602"/>
            <a:chOff x="666750" y="4992052"/>
            <a:chExt cx="5792153" cy="629602"/>
          </a:xfrm>
        </p:grpSpPr>
        <p:sp>
          <p:nvSpPr>
            <p:cNvPr id="34" name="Freeform 34"/>
            <p:cNvSpPr/>
            <p:nvPr/>
          </p:nvSpPr>
          <p:spPr>
            <a:xfrm>
              <a:off x="1914525" y="530733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2076450" y="52549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3429952" y="530733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3591878" y="52549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4944428" y="530733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5106352" y="52549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6750" y="4992052"/>
              <a:ext cx="1247775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181225" y="5088255"/>
              <a:ext cx="124777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3696652" y="4992052"/>
              <a:ext cx="124777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211128" y="4992052"/>
              <a:ext cx="1247775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7760" y="5108734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定隐节点数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20498" y="521827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定中心 cⱼ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07663" y="5108734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定扩展常数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δⱼ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22138" y="5108734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解输出权值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wⱼ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6898005" y="1967865"/>
            <a:ext cx="4760595" cy="1720215"/>
            <a:chOff x="6898005" y="1967865"/>
            <a:chExt cx="4760595" cy="1720215"/>
          </a:xfrm>
        </p:grpSpPr>
        <p:sp>
          <p:nvSpPr>
            <p:cNvPr id="49" name="Rectangle 49"/>
            <p:cNvSpPr/>
            <p:nvPr/>
          </p:nvSpPr>
          <p:spPr>
            <a:xfrm>
              <a:off x="6898005" y="1967865"/>
              <a:ext cx="4760595" cy="1720215"/>
            </a:xfrm>
            <a:prstGeom prst="roundRect">
              <a:avLst>
                <a:gd name="adj" fmla="val 775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107555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88911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三条路线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92428" y="2212658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中心怎么定，决定了整个算法长什么样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107555" y="256032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69404" y="26026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08545" y="257365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从样本中直接选，最省事，靠分布的代表性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107555" y="289560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69404" y="29378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08545" y="2908935"/>
              <a:ext cx="3818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用聚类算出来，k-means 或 SOM，最常用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107555" y="323088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69404" y="32731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08545" y="324421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和权值一起做梯度下降，最灵活也最慢</a:t>
              </a:r>
            </a:p>
          </p:txBody>
        </p:sp>
      </p:grpSp>
      <p:grpSp>
        <p:nvGrpSpPr>
          <p:cNvPr id="69" name="c2-callout-2"/>
          <p:cNvGrpSpPr/>
          <p:nvPr/>
        </p:nvGrpSpPr>
        <p:grpSpPr>
          <a:xfrm>
            <a:off x="6898005" y="3878580"/>
            <a:ext cx="4760595" cy="1059180"/>
            <a:chOff x="6898005" y="3878580"/>
            <a:chExt cx="4760595" cy="1059180"/>
          </a:xfrm>
        </p:grpSpPr>
        <p:sp>
          <p:nvSpPr>
            <p:cNvPr id="63" name="Rectangle 63"/>
            <p:cNvSpPr/>
            <p:nvPr/>
          </p:nvSpPr>
          <p:spPr>
            <a:xfrm>
              <a:off x="6898005" y="3878580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102793" y="4308158"/>
              <a:ext cx="200026" cy="200026"/>
              <a:chOff x="7102793" y="4308158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102793" y="43081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202805" y="43748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191693" y="44081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404735" y="4027170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前两条路线里，隐层参数是无监督定出来的，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只有输出层用到标签，所以训练一遍就好，比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BP 快得多。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6134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785" y="407194"/>
              <a:ext cx="31456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广义 RBF 网络的训练算法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定法一：中心直接从样本里挑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39115" y="1548765"/>
            <a:ext cx="4615815" cy="982980"/>
            <a:chOff x="539115" y="1548765"/>
            <a:chExt cx="4615815" cy="982980"/>
          </a:xfrm>
        </p:grpSpPr>
        <p:sp>
          <p:nvSpPr>
            <p:cNvPr id="7" name="Ellipse 7"/>
            <p:cNvSpPr/>
            <p:nvPr/>
          </p:nvSpPr>
          <p:spPr>
            <a:xfrm>
              <a:off x="539115" y="16116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230" y="154876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样本密集的地方中心放多一些，稀疏的地方少一些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39115" y="19564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230" y="189357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样本均匀分布时，中心也可以均匀分布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9115" y="23012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230" y="22383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选出来的中心必须有代表性，不能全挤在一角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36"/>
              <p:cNvSpPr txBox="1">
                <a:spLocks noGrp="1"/>
              </p:cNvSpPr>
              <p:nvPr/>
            </p:nvSpPr>
            <p:spPr>
              <a:xfrm>
                <a:off x="533400" y="2663190"/>
                <a:ext cx="5626418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2M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6" name="c1-text-3"/>
          <p:cNvGrpSpPr/>
          <p:nvPr/>
        </p:nvGrpSpPr>
        <p:grpSpPr>
          <a:xfrm>
            <a:off x="526923" y="3440906"/>
            <a:ext cx="5263642" cy="500824"/>
            <a:chOff x="526923" y="3440906"/>
            <a:chExt cx="5263642" cy="500824"/>
          </a:xfrm>
        </p:grpSpPr>
        <p:sp>
          <p:nvSpPr>
            <p:cNvPr id="15" name="TextBox 15"/>
            <p:cNvSpPr txBox="1"/>
            <p:nvPr/>
          </p:nvSpPr>
          <p:spPr>
            <a:xfrm>
              <a:off x="526923" y="3440906"/>
              <a:ext cx="526364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d_max 是所选中心之间的最大距离，M 是中心数目。中心越多，每个中心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分到的地盘越小，δ 也就越小。</a:t>
              </a:r>
            </a:p>
          </p:txBody>
        </p:sp>
      </p:grpSp>
      <p:grpSp>
        <p:nvGrpSpPr>
          <p:cNvPr id="38" name="c1-graph-4"/>
          <p:cNvGrpSpPr/>
          <p:nvPr/>
        </p:nvGrpSpPr>
        <p:grpSpPr>
          <a:xfrm>
            <a:off x="688467" y="4257675"/>
            <a:ext cx="5264658" cy="1682114"/>
            <a:chOff x="688467" y="4257675"/>
            <a:chExt cx="5264658" cy="1682114"/>
          </a:xfrm>
        </p:grpSpPr>
        <p:sp>
          <p:nvSpPr>
            <p:cNvPr id="17" name="Freeform 17"/>
            <p:cNvSpPr/>
            <p:nvPr/>
          </p:nvSpPr>
          <p:spPr>
            <a:xfrm>
              <a:off x="796290" y="5495925"/>
              <a:ext cx="5156835" cy="9525"/>
            </a:xfrm>
            <a:custGeom>
              <a:avLst/>
              <a:gdLst/>
              <a:ahLst/>
              <a:cxnLst/>
              <a:rect l="l" t="t" r="r" b="b"/>
              <a:pathLst>
                <a:path w="5156835" h="9525">
                  <a:moveTo>
                    <a:pt x="0" y="0"/>
                  </a:moveTo>
                  <a:lnTo>
                    <a:pt x="515683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161098" y="5448300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329690" y="5448300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498282" y="5448300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667828" y="5448300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836420" y="5448300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005012" y="5448300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173605" y="5448300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342198" y="5448300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186112" y="5448300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973830" y="5448300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4761548" y="5448300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549265" y="5448300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347788" y="4725352"/>
              <a:ext cx="171450" cy="1714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798320" y="4725352"/>
              <a:ext cx="171450" cy="1714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2247900" y="4725352"/>
              <a:ext cx="171450" cy="1714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386262" y="4725352"/>
              <a:ext cx="171450" cy="1714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8467" y="5763577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8467" y="471392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中心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15809" y="425767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密集处中心多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03751" y="425767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稀疏处中心少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464618" y="1524000"/>
            <a:ext cx="5193982" cy="2823210"/>
            <a:chOff x="6464618" y="1524000"/>
            <a:chExt cx="5193982" cy="2823210"/>
          </a:xfrm>
        </p:grpSpPr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2823210"/>
            </a:xfrm>
            <a:prstGeom prst="roundRect">
              <a:avLst>
                <a:gd name="adj" fmla="val 4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4142" y="1657350"/>
              <a:ext cx="47625" cy="25565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12268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07378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71373" y="1768792"/>
              <a:ext cx="801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算一个 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04648" y="2129790"/>
              <a:ext cx="4025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M = 4 个中心，其中相距最远的两个中心距离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d_max = 6。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17983" y="28136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76098" y="2750820"/>
              <a:ext cx="35217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代入得 δ = 6/√8 = 6/2.8284 =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2.1213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717983" y="31489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76098" y="3086100"/>
              <a:ext cx="4215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若中心增加到 M = 9，同样的 d_max 下 δ = 6/√18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1.4142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05791" y="3703796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中心数翻一倍多，宽度就缩到原来的三分之二，隐单元之间的重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叠程度大体不变。</a:t>
              </a:r>
            </a:p>
          </p:txBody>
        </p:sp>
      </p:grpSp>
      <p:grpSp>
        <p:nvGrpSpPr>
          <p:cNvPr id="57" name="c2-callout-2"/>
          <p:cNvGrpSpPr/>
          <p:nvPr/>
        </p:nvGrpSpPr>
        <p:grpSpPr>
          <a:xfrm>
            <a:off x="6464618" y="4537710"/>
            <a:ext cx="5193982" cy="1163002"/>
            <a:chOff x="6464618" y="4537710"/>
            <a:chExt cx="5193982" cy="1163002"/>
          </a:xfrm>
        </p:grpSpPr>
        <p:sp>
          <p:nvSpPr>
            <p:cNvPr id="51" name="Rectangle 51"/>
            <p:cNvSpPr/>
            <p:nvPr/>
          </p:nvSpPr>
          <p:spPr>
            <a:xfrm>
              <a:off x="6464618" y="4537710"/>
              <a:ext cx="5193982" cy="1163002"/>
            </a:xfrm>
            <a:prstGeom prst="roundRect">
              <a:avLst>
                <a:gd name="adj" fmla="val 982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57347" y="5015031"/>
              <a:ext cx="224134" cy="192560"/>
              <a:chOff x="6657347" y="5015031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769418" y="508539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657347" y="501503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69418" y="516318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71348" y="4737735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这个公式只是个经验值，它假定中心大致均匀铺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开。中心分布很不均匀时，应改用下一页按每个中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心的最近邻距离单独定 δⱼ。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6134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785" y="407194"/>
              <a:ext cx="31456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广义 RBF 网络的训练算法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定法二：用聚类选中心，均值法或竞争学习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781362" cy="264033"/>
            <a:chOff x="526542" y="1545907"/>
            <a:chExt cx="678136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781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先估一个中心数 M，用 C(k) 表示第 k 次迭代时的中心集合，反复做“分配再更新”。</a:t>
              </a:r>
            </a:p>
          </p:txBody>
        </p:sp>
      </p:grpSp>
      <p:grpSp>
        <p:nvGrpSpPr>
          <p:cNvPr id="30" name="c1-steps-1"/>
          <p:cNvGrpSpPr/>
          <p:nvPr/>
        </p:nvGrpSpPr>
        <p:grpSpPr>
          <a:xfrm>
            <a:off x="533400" y="1938338"/>
            <a:ext cx="3161370" cy="2851309"/>
            <a:chOff x="533400" y="1938338"/>
            <a:chExt cx="3161370" cy="2851309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2331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2126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95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0419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78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68712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7609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27005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3438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196977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237899"/>
              <a:ext cx="16648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 c₁(0), …, c_M(0)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5527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算距离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282082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每个样本到各中心的欧氏距离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13563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相似匹配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40375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样本归给距离最小的那个中心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71856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更新中心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398668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均值法或竞争学习法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43014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4569619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中心改变量小于阈值就停，否则回第 2 步</a:t>
              </a:r>
            </a:p>
          </p:txBody>
        </p:sp>
      </p:grpSp>
      <p:grpSp>
        <p:nvGrpSpPr>
          <p:cNvPr id="37" name="c1-callout-2"/>
          <p:cNvGrpSpPr/>
          <p:nvPr/>
        </p:nvGrpSpPr>
        <p:grpSpPr>
          <a:xfrm>
            <a:off x="533400" y="4953000"/>
            <a:ext cx="5193982" cy="729615"/>
            <a:chOff x="533400" y="4953000"/>
            <a:chExt cx="5193982" cy="729615"/>
          </a:xfrm>
        </p:grpSpPr>
        <p:sp>
          <p:nvSpPr>
            <p:cNvPr id="31" name="Rectangle 31"/>
            <p:cNvSpPr/>
            <p:nvPr/>
          </p:nvSpPr>
          <p:spPr>
            <a:xfrm>
              <a:off x="533400" y="4953000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217795"/>
              <a:ext cx="200026" cy="200025"/>
              <a:chOff x="738188" y="5217795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2177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7926" y="52622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642" y="53733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892" y="5098733"/>
              <a:ext cx="418852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这一步完全用不上标签，是无监督的。SOM 也能做这件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事，见第七部分。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032182" y="1928812"/>
            <a:ext cx="5626418" cy="1594485"/>
            <a:chOff x="6032182" y="1928812"/>
            <a:chExt cx="5626418" cy="1594485"/>
          </a:xfrm>
        </p:grpSpPr>
        <p:sp>
          <p:nvSpPr>
            <p:cNvPr id="38" name="Rectangle 38"/>
            <p:cNvSpPr/>
            <p:nvPr/>
          </p:nvSpPr>
          <p:spPr>
            <a:xfrm>
              <a:off x="6032182" y="1928812"/>
              <a:ext cx="5626418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41708" y="2062162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6972" y="21155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1542" y="21483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更新式一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71170" y="2150745"/>
              <a:ext cx="18769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均值方法（k-means）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50114" y="2476500"/>
              <a:ext cx="39937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把归到第 j 类的所有样本求平均，作为新的中心。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47"/>
                <p:cNvSpPr txBox="1">
                  <a:spLocks noGrp="1"/>
                </p:cNvSpPr>
                <p:nvPr/>
              </p:nvSpPr>
              <p:spPr>
                <a:xfrm>
                  <a:off x="6256972" y="2754630"/>
                  <a:ext cx="521493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b>
                          <m:sup/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3" name="c2-card-2"/>
          <p:cNvGrpSpPr/>
          <p:nvPr/>
        </p:nvGrpSpPr>
        <p:grpSpPr>
          <a:xfrm>
            <a:off x="6032182" y="3693795"/>
            <a:ext cx="5626418" cy="1988820"/>
            <a:chOff x="6032182" y="3693795"/>
            <a:chExt cx="5626418" cy="1988820"/>
          </a:xfrm>
        </p:grpSpPr>
        <p:sp>
          <p:nvSpPr>
            <p:cNvPr id="46" name="Rectangle 46"/>
            <p:cNvSpPr/>
            <p:nvPr/>
          </p:nvSpPr>
          <p:spPr>
            <a:xfrm>
              <a:off x="6032182" y="3693795"/>
              <a:ext cx="5626418" cy="1988820"/>
            </a:xfrm>
            <a:prstGeom prst="roundRect">
              <a:avLst>
                <a:gd name="adj" fmla="val 6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41708" y="3827145"/>
              <a:ext cx="47625" cy="172212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6972" y="388048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41542" y="391334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更新式二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71170" y="3914775"/>
              <a:ext cx="16992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竞争学习法（SOM）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50114" y="4241482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只把获胜的那个中心往样本方向挪一点，其余中心不动。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formula48"/>
                <p:cNvSpPr txBox="1">
                  <a:spLocks noGrp="1"/>
                </p:cNvSpPr>
                <p:nvPr/>
              </p:nvSpPr>
              <p:spPr>
                <a:xfrm>
                  <a:off x="6256972" y="4518660"/>
                  <a:ext cx="521493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η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bi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4" name="Rectangle 5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8373"/>
              <a:ext cx="8373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均值法一次看完全部样本再更新，竞争学习法看一个样本就动一次。样本一个一个来的场合只能用后者。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43059" cy="909257"/>
            <a:chOff x="520446" y="342900"/>
            <a:chExt cx="67430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6134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785" y="407194"/>
              <a:ext cx="31456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广义 RBF 网络的训练算法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430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例题：k-means 两轮就把六个样本分成两簇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357366" cy="264033"/>
            <a:chOff x="526542" y="1545907"/>
            <a:chExt cx="635736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3573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六个二维样本，取 M = 2，初始中心故意选得很差：c₁ = (0,0)，c₂ = (1,0)。</a:t>
              </a:r>
            </a:p>
          </p:txBody>
        </p:sp>
      </p:grpSp>
      <p:grpSp>
        <p:nvGrpSpPr>
          <p:cNvPr id="51" name="c1-table-1"/>
          <p:cNvGrpSpPr/>
          <p:nvPr/>
        </p:nvGrpSpPr>
        <p:grpSpPr>
          <a:xfrm>
            <a:off x="528447" y="1928812"/>
            <a:ext cx="5847588" cy="2933414"/>
            <a:chOff x="528447" y="1928812"/>
            <a:chExt cx="5847588" cy="2933414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6301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07138" y="2045970"/>
              <a:ext cx="359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 c₁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10170" y="2045970"/>
              <a:ext cx="359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 c₂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8736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426970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80678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83711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85791" y="2426970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87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91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808923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80678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83711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85791" y="2808923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68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89923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80678" y="3189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83711" y="3189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1.414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85791" y="3189923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449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453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357187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(5, 5)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80678" y="3571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7.071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83711" y="3571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6.403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85791" y="3571875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830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78" y="395287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(6, 5)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380678" y="3952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7.810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83711" y="3952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7.071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85791" y="3952875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211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21671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8078" y="433387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(5, 6)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380678" y="4333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7.810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783711" y="4333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7.211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85791" y="4333875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928812"/>
              <a:ext cx="584263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281238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368427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08635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8447" y="4671536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1 轮：到两个初始中心的距离</a:t>
              </a:r>
            </a:p>
          </p:txBody>
        </p:sp>
      </p:grpSp>
      <p:grpSp>
        <p:nvGrpSpPr>
          <p:cNvPr id="58" name="c1-callout-2"/>
          <p:cNvGrpSpPr/>
          <p:nvPr/>
        </p:nvGrpSpPr>
        <p:grpSpPr>
          <a:xfrm>
            <a:off x="533400" y="4988242"/>
            <a:ext cx="5842635" cy="702945"/>
            <a:chOff x="533400" y="4988242"/>
            <a:chExt cx="5842635" cy="702945"/>
          </a:xfrm>
        </p:grpSpPr>
        <p:sp>
          <p:nvSpPr>
            <p:cNvPr id="52" name="Rectangle 52"/>
            <p:cNvSpPr/>
            <p:nvPr/>
          </p:nvSpPr>
          <p:spPr>
            <a:xfrm>
              <a:off x="533400" y="4988242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26129" y="5236011"/>
              <a:ext cx="224134" cy="192560"/>
              <a:chOff x="726129" y="5236011"/>
              <a:chExt cx="224134" cy="1925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38200" y="53063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26129" y="52360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53841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1273" y="5133499"/>
              <a:ext cx="49222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1 轮的划分是错的：(1,0) 明明和左下角三个点一伙，却因为初始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中心正好落在它身上被单独分了出去。</a:t>
              </a:r>
            </a:p>
          </p:txBody>
        </p:sp>
      </p:grpSp>
      <p:grpSp>
        <p:nvGrpSpPr>
          <p:cNvPr id="72" name="c2-steps-1"/>
          <p:cNvGrpSpPr/>
          <p:nvPr/>
        </p:nvGrpSpPr>
        <p:grpSpPr>
          <a:xfrm>
            <a:off x="6680835" y="1938338"/>
            <a:ext cx="4418266" cy="1789366"/>
            <a:chOff x="6680835" y="1938338"/>
            <a:chExt cx="4418266" cy="1789366"/>
          </a:xfrm>
        </p:grpSpPr>
        <p:sp>
          <p:nvSpPr>
            <p:cNvPr id="59" name="Rectangle 59"/>
            <p:cNvSpPr/>
            <p:nvPr/>
          </p:nvSpPr>
          <p:spPr>
            <a:xfrm>
              <a:off x="6814185" y="2081212"/>
              <a:ext cx="19050" cy="12992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6680835" y="19383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74459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680835" y="249078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74459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680835" y="323754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74459" y="33113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93458" y="1968341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轮更新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94601" y="2223135"/>
              <a:ext cx="20390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 = (0, 0.5)，c₂ = (4.25, 4)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093458" y="2521744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轮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94601" y="2776538"/>
              <a:ext cx="400450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左下三点归 C₁，右上三点归 C₂；更新得 c₁ = (⅓, ⅓)，c₂ = (16/3,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16/3)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93458" y="3268504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轮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094601" y="352234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划分不变，中心不动，收敛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6680835" y="3890010"/>
            <a:ext cx="4977765" cy="1802130"/>
            <a:chOff x="6680835" y="3890010"/>
            <a:chExt cx="4977765" cy="1802130"/>
          </a:xfrm>
        </p:grpSpPr>
        <p:sp>
          <p:nvSpPr>
            <p:cNvPr id="73" name="Rectangle 73"/>
            <p:cNvSpPr/>
            <p:nvPr/>
          </p:nvSpPr>
          <p:spPr>
            <a:xfrm>
              <a:off x="6680835" y="3890010"/>
              <a:ext cx="4977765" cy="1802130"/>
            </a:xfrm>
            <a:prstGeom prst="roundRect">
              <a:avLst>
                <a:gd name="adj" fmla="val 74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861810" y="4070985"/>
              <a:ext cx="69437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947755" y="4103846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接着算 δ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664006" y="41105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从中心的间距定扩展常数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855333" y="4426744"/>
              <a:ext cx="42313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两中心距离 d_max = 5√2 = 7.0711，按 δ = d_max/√(2M)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得 δ =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3.5355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856476" y="4951095"/>
              <a:ext cx="31415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只有两个中心时这个 δ 偏大，实际用时会再调小。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0" name="Rectangle 8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1273" y="6039326"/>
              <a:ext cx="93781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初始中心选得差，k-means 照样能自己纠正过来，但纠正要多花一轮。实践中一般随机多试几次初值，取误差最小的那次。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6134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785" y="407194"/>
              <a:ext cx="31456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广义 RBF 网络的训练算法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扩展常数与输出权值：最小均方还是伪逆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51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5200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≠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sepChr m:val=""/>
                              <m:endChr m:val="‖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κ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rd-2"/>
          <p:cNvGrpSpPr/>
          <p:nvPr/>
        </p:nvGrpSpPr>
        <p:grpSpPr>
          <a:xfrm>
            <a:off x="533400" y="2234565"/>
            <a:ext cx="5410200" cy="1631632"/>
            <a:chOff x="533400" y="2234565"/>
            <a:chExt cx="5410200" cy="1631632"/>
          </a:xfrm>
        </p:grpSpPr>
        <p:sp>
          <p:nvSpPr>
            <p:cNvPr id="8" name="Rectangle 8"/>
            <p:cNvSpPr/>
            <p:nvPr/>
          </p:nvSpPr>
          <p:spPr>
            <a:xfrm>
              <a:off x="533400" y="2234565"/>
              <a:ext cx="5410200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367915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81050" y="24441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1258" y="24798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82078" y="2479358"/>
              <a:ext cx="19911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重叠系数写 κ，不写 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840355"/>
              <a:ext cx="4634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κ 叫重叠系数，一般取 1 到 2。原课件这里写 λ，与第1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章的正则化系数撞名，本讲义改用 κ。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4573" y="3458051"/>
              <a:ext cx="41226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κ 越大，相邻隐单元的响应重叠得越多，函数越平滑。</a:t>
              </a:r>
            </a:p>
          </p:txBody>
        </p:sp>
      </p:grpSp>
      <p:grpSp>
        <p:nvGrpSpPr>
          <p:cNvPr id="22" name="c1-callout-3"/>
          <p:cNvGrpSpPr/>
          <p:nvPr/>
        </p:nvGrpSpPr>
        <p:grpSpPr>
          <a:xfrm>
            <a:off x="533400" y="4056698"/>
            <a:ext cx="5410200" cy="1059180"/>
            <a:chOff x="533400" y="4056698"/>
            <a:chExt cx="5410200" cy="1059180"/>
          </a:xfrm>
        </p:grpSpPr>
        <p:sp>
          <p:nvSpPr>
            <p:cNvPr id="16" name="Rectangle 16"/>
            <p:cNvSpPr/>
            <p:nvPr/>
          </p:nvSpPr>
          <p:spPr>
            <a:xfrm>
              <a:off x="533400" y="4056698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486275"/>
              <a:ext cx="200026" cy="200025"/>
              <a:chOff x="738188" y="4486275"/>
              <a:chExt cx="200026" cy="2000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4862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77926" y="45307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2642" y="46418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4205288"/>
              <a:ext cx="4530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这种按最近邻距离逐个定 δⱼ 的办法，比上一页那个统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一的 d_max/√(2M) 更能适应中心分布不均匀的情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形。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1524000"/>
            <a:ext cx="5410200" cy="1335405"/>
            <a:chOff x="6248400" y="1524000"/>
            <a:chExt cx="5410200" cy="133540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82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办法一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39000" y="1768792"/>
              <a:ext cx="1708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最小均方算法 LMS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8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把隐层输出当成新的特征，输出层就是一个线性回归，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照第2章的梯度下降一轮轮迭代即可。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248400" y="3049905"/>
            <a:ext cx="5410200" cy="2065972"/>
            <a:chOff x="6248400" y="3049905"/>
            <a:chExt cx="5410200" cy="2065972"/>
          </a:xfrm>
        </p:grpSpPr>
        <p:sp>
          <p:nvSpPr>
            <p:cNvPr id="30" name="Rectangle 30"/>
            <p:cNvSpPr/>
            <p:nvPr/>
          </p:nvSpPr>
          <p:spPr>
            <a:xfrm>
              <a:off x="6248400" y="3049905"/>
              <a:ext cx="5410200" cy="2065972"/>
            </a:xfrm>
            <a:prstGeom prst="roundRect">
              <a:avLst>
                <a:gd name="adj" fmla="val 64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3183255"/>
              <a:ext cx="47625" cy="179927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96050" y="325945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82308" y="329517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办法二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39000" y="3294698"/>
              <a:ext cx="22642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伪逆法 pseudo-inverse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3655695"/>
              <a:ext cx="4644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隐层输出矩阵记 Φ̂（N 行 M+1 列，最后一列全 1 对应阈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值），令 Φ̂W = d，直接用最小二乘解一次到位。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52"/>
                <p:cNvSpPr txBox="1">
                  <a:spLocks noGrp="1"/>
                </p:cNvSpPr>
                <p:nvPr/>
              </p:nvSpPr>
              <p:spPr>
                <a:xfrm>
                  <a:off x="6496050" y="4251960"/>
                  <a:ext cx="495300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acc>
                              <m:accPr>
                                <m:chr m:val="ˆ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</m:sup>
                        </m:sSup>
                        <m:r>
                          <m:rPr>
                            <m:sty m:val="bi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p>
                          <m:e>
                            <m:acc>
                              <m:accPr>
                                <m:chr m:val="ˆ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Φ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  <m:acc>
                                  <m:accPr>
                                    <m:chr m:val="ˆ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Φ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acc>
                              <m:accPr>
                                <m:chr m:val="ˆ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</m:acc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8" name="Rectangle 3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输出层是线性的，所以伪逆法一步就给出全局最优解，没有学习率要调，也不会陷进局部极小。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21638" cy="909257"/>
            <a:chOff x="520446" y="342900"/>
            <a:chExt cx="54216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6134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785" y="407194"/>
              <a:ext cx="31456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广义 RBF 网络的训练算法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216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例题：伪逆法解出 XOR 的输出权值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535570" cy="264033"/>
            <a:chOff x="526542" y="1545907"/>
            <a:chExt cx="75355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535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沿用第19页的两个中心 c₁ = (1,1)、c₂ = (0,0)，目标值取 XOR 的真值 d = (0, 0, 1, 1)ᵀ。</a:t>
              </a:r>
            </a:p>
          </p:txBody>
        </p:sp>
      </p:grpSp>
      <p:grpSp>
        <p:nvGrpSpPr>
          <p:cNvPr id="46" name="c1-table-1"/>
          <p:cNvGrpSpPr/>
          <p:nvPr/>
        </p:nvGrpSpPr>
        <p:grpSpPr>
          <a:xfrm>
            <a:off x="528447" y="1928812"/>
            <a:ext cx="5631371" cy="2170462"/>
            <a:chOff x="528447" y="1928812"/>
            <a:chExt cx="5631371" cy="217046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98960" y="204597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 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59056" y="204597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84911" y="204597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38233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5074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8078" y="2426970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78724" y="242697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03626" y="242697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29481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2959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687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6917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2808923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78724" y="2808923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03626" y="2808923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29481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2959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068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3189923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78724" y="3189923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0.3679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03626" y="3189923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0.3679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29481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2959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449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4537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078" y="357187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78724" y="357187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0.3679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03626" y="357187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0.3679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29481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2959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28812"/>
              <a:ext cx="5626418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87928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004185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130040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03015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8447" y="3908584"/>
              <a:ext cx="21073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隐层输出矩阵 Φ̂（最后一列是阈值）</a:t>
              </a:r>
            </a:p>
          </p:txBody>
        </p:sp>
      </p:grpSp>
      <p:grpSp>
        <p:nvGrpSpPr>
          <p:cNvPr id="53" name="c1-callout-2"/>
          <p:cNvGrpSpPr/>
          <p:nvPr/>
        </p:nvGrpSpPr>
        <p:grpSpPr>
          <a:xfrm>
            <a:off x="533400" y="4226242"/>
            <a:ext cx="5626418" cy="1471612"/>
            <a:chOff x="533400" y="4226242"/>
            <a:chExt cx="5626418" cy="1471612"/>
          </a:xfrm>
        </p:grpSpPr>
        <p:sp>
          <p:nvSpPr>
            <p:cNvPr id="47" name="Rectangle 47"/>
            <p:cNvSpPr/>
            <p:nvPr/>
          </p:nvSpPr>
          <p:spPr>
            <a:xfrm>
              <a:off x="533400" y="4226242"/>
              <a:ext cx="5626418" cy="1471612"/>
            </a:xfrm>
            <a:prstGeom prst="roundRect">
              <a:avLst>
                <a:gd name="adj" fmla="val 776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4861560"/>
              <a:ext cx="200026" cy="200026"/>
              <a:chOff x="738188" y="4861560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48615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49282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7088" y="49615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1273" y="4755356"/>
              <a:ext cx="46784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四行里有两行完全相同，Φ̂ 的秩是 3，正好等于未知数个数，最小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二乘解恰好把四个点全部拟合到位，残差为 0。</a:t>
              </a:r>
            </a:p>
          </p:txBody>
        </p:sp>
      </p:grpSp>
      <p:grpSp>
        <p:nvGrpSpPr>
          <p:cNvPr id="71" name="c2-steps-1"/>
          <p:cNvGrpSpPr/>
          <p:nvPr/>
        </p:nvGrpSpPr>
        <p:grpSpPr>
          <a:xfrm>
            <a:off x="6464618" y="1938338"/>
            <a:ext cx="2883941" cy="2149411"/>
            <a:chOff x="6464618" y="1938338"/>
            <a:chExt cx="2883941" cy="2149411"/>
          </a:xfrm>
        </p:grpSpPr>
        <p:sp>
          <p:nvSpPr>
            <p:cNvPr id="54" name="Rectangle 54"/>
            <p:cNvSpPr/>
            <p:nvPr/>
          </p:nvSpPr>
          <p:spPr>
            <a:xfrm>
              <a:off x="6597968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6464618" y="19383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58241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64618" y="249078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58241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64618" y="30441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58241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64618" y="359759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58241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77241" y="19683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用对称性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78384" y="2223135"/>
              <a:ext cx="1982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两个中心对称，故 w₁ = w₂ = w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77241" y="25217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列两个方程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78384" y="2776538"/>
              <a:ext cx="2470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1.1353w + w₀ = 0；0.7358w + w₀ = 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77241" y="30751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78384" y="3328988"/>
              <a:ext cx="20390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0.3996w = −1，得 w = −2.5027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77241" y="36275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78384" y="3882390"/>
              <a:ext cx="20814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w₀ = 1.1353 × 2.5027 = 2.8413</a:t>
              </a:r>
            </a:p>
          </p:txBody>
        </p:sp>
      </p:grpSp>
      <p:grpSp>
        <p:nvGrpSpPr>
          <p:cNvPr id="82" name="c2-card-2"/>
          <p:cNvGrpSpPr/>
          <p:nvPr/>
        </p:nvGrpSpPr>
        <p:grpSpPr>
          <a:xfrm>
            <a:off x="6464618" y="4249102"/>
            <a:ext cx="5193982" cy="1448752"/>
            <a:chOff x="6464618" y="4249102"/>
            <a:chExt cx="5193982" cy="1448752"/>
          </a:xfrm>
        </p:grpSpPr>
        <p:sp>
          <p:nvSpPr>
            <p:cNvPr id="72" name="Rectangle 72"/>
            <p:cNvSpPr/>
            <p:nvPr/>
          </p:nvSpPr>
          <p:spPr>
            <a:xfrm>
              <a:off x="6464618" y="4249102"/>
              <a:ext cx="5193982" cy="1448752"/>
            </a:xfrm>
            <a:prstGeom prst="roundRect">
              <a:avLst>
                <a:gd name="adj" fmla="val 92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474142" y="4382452"/>
              <a:ext cx="47625" cy="11820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683692" y="44300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776364" y="44629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250620" y="446960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四个样本全部命中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693218" y="483870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848666" y="4786789"/>
              <a:ext cx="4154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F(1,1) = 1.1353 × (−2.5027) + 2.8413 = 0.0000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693218" y="512349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848666" y="5071586"/>
              <a:ext cx="4154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F(0,1) = 0.7358 × (−2.5027) + 2.8413 = 1.0000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678359" y="5353050"/>
              <a:ext cx="45126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权值为负说明输出层在做减法：两个隐单元同时强响应时把输出压到 0。</a:t>
              </a:r>
            </a:p>
          </p:txBody>
        </p:sp>
      </p:grpSp>
      <p:grpSp>
        <p:nvGrpSpPr>
          <p:cNvPr id="8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3" name="Rectangle 8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041273" y="6039326"/>
              <a:ext cx="87950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这就是一个完整的 RBF 网络解 XOR 的过程：两个隐单元定好中心和宽度，输出层一次最小二乘，不需要任何迭代。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6134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785" y="407194"/>
              <a:ext cx="31456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广义 RBF 网络的训练算法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定法三：监督学习，三类参数一起调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194302" cy="308039"/>
            <a:chOff x="525399" y="1550194"/>
            <a:chExt cx="819430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19430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当中心的位置也想由误差来决定时，就把 c、δ、w 全部当成待优化参数，做梯度下降。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57"/>
              <p:cNvSpPr txBox="1">
                <a:spLocks noGrp="1"/>
              </p:cNvSpPr>
              <p:nvPr/>
            </p:nvSpPr>
            <p:spPr>
              <a:xfrm>
                <a:off x="533400" y="1967865"/>
                <a:ext cx="5410200" cy="633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grow m:val="off"/>
                                      <m:subHide m:val="off"/>
                                      <m:supHide m:val="off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=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</m:t>
                                      </m:r>
                                    </m:sup>
                                    <m:e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G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d>
                                            <m:dPr>
                                              <m:begChr m:val="‖"/>
                                              <m:sepChr m:val=""/>
                                              <m:endChr m:val="‖"/>
                                              <m:grow m:val="on"/>
                                              <m:ctrlP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e>
                                                  <m:r>
                                                    <m:rPr>
                                                      <m:sty m:val="bi"/>
                                                    </m:rP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x</m:t>
                                                  </m:r>
                                                </m:e>
                                                <m:sup>
                                                  <m:d>
                                                    <m:dPr>
                                                      <m:begChr m:val="("/>
                                                      <m:sepChr m:val=""/>
                                                      <m:endChr m:val=")"/>
                                                      <m:grow m:val="on"/>
                                                      <m:ctrlPr>
                                                        <a:rPr lang="zh-CN" sz="1420" dirty="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  <a:latin typeface="Cambria Math"/>
                                                          <a:ea typeface="Cambria Math"/>
                                                          <a:cs typeface="Cambria Math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zh-CN" sz="1420" dirty="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  <a:latin typeface="Cambria Math"/>
                                                          <a:ea typeface="Cambria Math"/>
                                                          <a:cs typeface="Cambria Math"/>
                                                        </a:rPr>
                                                        <m:t>i</m:t>
                                                      </m:r>
                                                    </m:e>
                                                  </m:d>
                                                </m:sup>
                                              </m:s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e>
                                                  <m:r>
                                                    <m:rPr>
                                                      <m:sty m:val="bi"/>
                                                    </m:rP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c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j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2" name="c1-text-2"/>
          <p:cNvGrpSpPr/>
          <p:nvPr/>
        </p:nvGrpSpPr>
        <p:grpSpPr>
          <a:xfrm>
            <a:off x="526923" y="2812256"/>
            <a:ext cx="4573900" cy="545592"/>
            <a:chOff x="526923" y="2812256"/>
            <a:chExt cx="4573900" cy="545592"/>
          </a:xfrm>
        </p:grpSpPr>
        <p:sp>
          <p:nvSpPr>
            <p:cNvPr id="10" name="TextBox 10"/>
            <p:cNvSpPr txBox="1"/>
            <p:nvPr/>
          </p:nvSpPr>
          <p:spPr>
            <a:xfrm>
              <a:off x="526923" y="2812256"/>
              <a:ext cx="44486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式中 G(r) = exp(−r²/(2δ²))，eᵢ 是第 i 个样本的误差。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6923" y="3108484"/>
              <a:ext cx="45739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三类参数都按 Δ = −η ∂E/∂ 更新，与第4章的 BP 同一套路。</a:t>
              </a:r>
            </a:p>
          </p:txBody>
        </p:sp>
      </p:grpSp>
      <p:grpSp>
        <p:nvGrpSpPr>
          <p:cNvPr id="19" name="c1-card-3"/>
          <p:cNvGrpSpPr/>
          <p:nvPr/>
        </p:nvGrpSpPr>
        <p:grpSpPr>
          <a:xfrm>
            <a:off x="533400" y="3498532"/>
            <a:ext cx="5410200" cy="1891665"/>
            <a:chOff x="533400" y="3498532"/>
            <a:chExt cx="5410200" cy="1891665"/>
          </a:xfrm>
        </p:grpSpPr>
        <p:sp>
          <p:nvSpPr>
            <p:cNvPr id="13" name="Rectangle 13"/>
            <p:cNvSpPr/>
            <p:nvPr/>
          </p:nvSpPr>
          <p:spPr>
            <a:xfrm>
              <a:off x="533400" y="3498532"/>
              <a:ext cx="5410200" cy="1891665"/>
            </a:xfrm>
            <a:prstGeom prst="roundRect">
              <a:avLst>
                <a:gd name="adj" fmla="val 70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631882"/>
              <a:ext cx="47625" cy="16249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70808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3359" y="37438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两种时机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65922" y="3743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批量版与单样本版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104322"/>
              <a:ext cx="4682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上面的式子把 N 个样本的贡献累加起来，是批量版；把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换成 E = ½e²、去掉求和号，就是每来一个样本修正一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次的在线版。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58"/>
              <p:cNvSpPr txBox="1">
                <a:spLocks noGrp="1"/>
              </p:cNvSpPr>
              <p:nvPr/>
            </p:nvSpPr>
            <p:spPr>
              <a:xfrm>
                <a:off x="6248400" y="1967865"/>
                <a:ext cx="5410200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η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‖"/>
                                  <m:sepChr m:val=""/>
                                  <m:endChr m:val="‖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59"/>
              <p:cNvSpPr txBox="1">
                <a:spLocks noGrp="1"/>
              </p:cNvSpPr>
              <p:nvPr/>
            </p:nvSpPr>
            <p:spPr>
              <a:xfrm>
                <a:off x="6248400" y="2755582"/>
                <a:ext cx="5410200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η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num>
                        <m:den>
                          <m:sSub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60"/>
              <p:cNvSpPr txBox="1">
                <a:spLocks noGrp="1"/>
              </p:cNvSpPr>
              <p:nvPr/>
            </p:nvSpPr>
            <p:spPr>
              <a:xfrm>
                <a:off x="6248400" y="3543300"/>
                <a:ext cx="5410200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η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num>
                        <m:den>
                          <m:sSub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p>
                            <m:e>
                              <m:d>
                                <m:dPr>
                                  <m:begChr m:val="‖"/>
                                  <m:sepChr m:val=""/>
                                  <m:endChr m:val="‖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9" name="c2-callout-4"/>
          <p:cNvGrpSpPr/>
          <p:nvPr/>
        </p:nvGrpSpPr>
        <p:grpSpPr>
          <a:xfrm>
            <a:off x="6248400" y="4331018"/>
            <a:ext cx="5410200" cy="1059180"/>
            <a:chOff x="6248400" y="4331018"/>
            <a:chExt cx="5410200" cy="1059180"/>
          </a:xfrm>
        </p:grpSpPr>
        <p:sp>
          <p:nvSpPr>
            <p:cNvPr id="23" name="Rectangle 23"/>
            <p:cNvSpPr/>
            <p:nvPr/>
          </p:nvSpPr>
          <p:spPr>
            <a:xfrm>
              <a:off x="6248400" y="4331018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41129" y="4756903"/>
              <a:ext cx="224134" cy="192560"/>
              <a:chOff x="6441129" y="4756903"/>
              <a:chExt cx="224134" cy="192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553200" y="48272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41129" y="47569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53200" y="49050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755130" y="4479608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三个更新式里都带着 wⱼ：某个隐单元的权值接近 0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时，它的中心和宽度几乎不再移动，这个单元就等于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废掉了。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74302" cy="909257"/>
            <a:chOff x="520446" y="342900"/>
            <a:chExt cx="31743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6134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785" y="407194"/>
              <a:ext cx="31456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广义 RBF 网络的训练算法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三个梯度是怎么来的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396990" cy="308039"/>
            <a:chOff x="525399" y="1550194"/>
            <a:chExt cx="63969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3969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链式法则走两步：先对网络输出求导，再对高斯核内部的参数求导。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77390"/>
            <a:ext cx="3743817" cy="2529173"/>
            <a:chOff x="533400" y="1977390"/>
            <a:chExt cx="3743817" cy="2529173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785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2906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011680"/>
              <a:ext cx="1023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wⱼ 求导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304574"/>
              <a:ext cx="33311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∂F/∂wⱼ = Gᵢⱼ，于是 ∂E/∂wⱼ = −Σ eᵢ Gᵢⱼ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66223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高斯核对中心求导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955131"/>
              <a:ext cx="2058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∂G/∂cⱼ = G·(x − cⱼ)/δⱼ²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1279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高斯核对宽度求导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606641"/>
              <a:ext cx="21724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∂G/∂δⱼ = G·||x − cⱼ||²/δⱼ³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96335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串起来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257199"/>
              <a:ext cx="2785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再乘上 ∂F/∂G = wⱼ 和 ∂E/∂F = −eᵢ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684395"/>
            <a:ext cx="5842635" cy="1246822"/>
            <a:chOff x="533400" y="4684395"/>
            <a:chExt cx="5842635" cy="1246822"/>
          </a:xfrm>
        </p:grpSpPr>
        <p:sp>
          <p:nvSpPr>
            <p:cNvPr id="27" name="Rectangle 27"/>
            <p:cNvSpPr/>
            <p:nvPr/>
          </p:nvSpPr>
          <p:spPr>
            <a:xfrm>
              <a:off x="533400" y="4684395"/>
              <a:ext cx="5842635" cy="1246822"/>
            </a:xfrm>
            <a:prstGeom prst="roundRect">
              <a:avLst>
                <a:gd name="adj" fmla="val 9167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208272"/>
              <a:ext cx="200023" cy="200023"/>
              <a:chOff x="738188" y="5208272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2082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52749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4927282"/>
              <a:ext cx="49396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三个式子里的 </a:t>
              </a:r>
              <a:r>
                <a:rPr lang="en-US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Gᵢⱼ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起了门控作用：样本离中心远，Gᵢⱼ 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近 0，这个样本对该中心的梯度贡献几乎为零。局部性在训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练阶段同样成立。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680835" y="1967865"/>
            <a:ext cx="4977765" cy="2152650"/>
            <a:chOff x="6680835" y="1967865"/>
            <a:chExt cx="4977765" cy="2152650"/>
          </a:xfrm>
        </p:grpSpPr>
        <p:sp>
          <p:nvSpPr>
            <p:cNvPr id="33" name="Rectangle 33"/>
            <p:cNvSpPr/>
            <p:nvPr/>
          </p:nvSpPr>
          <p:spPr>
            <a:xfrm>
              <a:off x="6680835" y="1967865"/>
              <a:ext cx="4977765" cy="2152650"/>
            </a:xfrm>
            <a:prstGeom prst="roundRect">
              <a:avLst>
                <a:gd name="adj" fmla="val 6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90360" y="2101215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928485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19646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9512" y="221265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对中心的那一步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20865" y="2573655"/>
              <a:ext cx="40824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u = −||x − cⱼ||²/(2δⱼ²)，则 G = eᵘ，∂u/∂cⱼ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(x − cⱼ)/δⱼ²，于是 ∂G/∂cⱼ = G·(x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cⱼ)/δⱼ²。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22008" y="3476149"/>
              <a:ext cx="42232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方向是从中心指向样本：误差为正（输出偏小）且 wⱼ 为正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时，中心朝样本靠拢。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680835" y="4310062"/>
            <a:ext cx="4977765" cy="1621155"/>
            <a:chOff x="6680835" y="4310062"/>
            <a:chExt cx="4977765" cy="1621155"/>
          </a:xfrm>
        </p:grpSpPr>
        <p:sp>
          <p:nvSpPr>
            <p:cNvPr id="41" name="Rectangle 41"/>
            <p:cNvSpPr/>
            <p:nvPr/>
          </p:nvSpPr>
          <p:spPr>
            <a:xfrm>
              <a:off x="6680835" y="4310062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90360" y="4443412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28485" y="451961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10794" y="45553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实现要点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14310" y="4554855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要加下界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20865" y="4915852"/>
              <a:ext cx="4282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δⱼ 出现在分母的二次方和三次方上，一旦被更新成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很小的数，梯度会炸掉。实现时给 δⱼ 设一个下界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（例如 0.05）并裁剪。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01868" cy="3351847"/>
            <a:chOff x="667512" y="1835468"/>
            <a:chExt cx="58018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与多层感知器的比较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同样是前馈网络，切分方式、学习方式、求解难度都不一样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超平面与超球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全局学习与局部学习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结构与解析解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42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RBF 网络用于分类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06755" cy="909257"/>
            <a:chOff x="520446" y="342900"/>
            <a:chExt cx="57067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2511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329" y="407194"/>
              <a:ext cx="27692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与多层感知器的比较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067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RBF 与 MLP：切法不同，学法也不同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5842635" cy="3368040"/>
            <a:chOff x="533400" y="1524000"/>
            <a:chExt cx="5842635" cy="33680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139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75155" y="1659731"/>
              <a:ext cx="3666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MLP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72652" y="165973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RBF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分类方式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27098" y="21083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用超平面切开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05478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用超球罩住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学习方式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27098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全局化学习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05478" y="255698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局部化学习，训练更快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隐层数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27098" y="30056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一个或多个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05478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5675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隐层性质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27098" y="3454241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隐层与输出层对分类都非线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05478" y="35675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隐层非线性，输出层线性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900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1305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解析解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27098" y="41305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05478" y="41305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386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44341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5791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27098" y="45791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隐单元少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05478" y="457914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隐单元多，有维数灾难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5842635" cy="3368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814512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092892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callout-2"/>
          <p:cNvGrpSpPr/>
          <p:nvPr/>
        </p:nvGrpSpPr>
        <p:grpSpPr>
          <a:xfrm>
            <a:off x="533400" y="5082540"/>
            <a:ext cx="5842635" cy="782955"/>
            <a:chOff x="533400" y="5082540"/>
            <a:chExt cx="5842635" cy="782955"/>
          </a:xfrm>
        </p:grpSpPr>
        <p:sp>
          <p:nvSpPr>
            <p:cNvPr id="41" name="Rectangle 41"/>
            <p:cNvSpPr/>
            <p:nvPr/>
          </p:nvSpPr>
          <p:spPr>
            <a:xfrm>
              <a:off x="533400" y="508254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374005"/>
              <a:ext cx="200026" cy="200026"/>
              <a:chOff x="738188" y="5374005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3740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54406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27088" y="54740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231130"/>
              <a:ext cx="4796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MLP 做非线性回归时，输出层也是线性的，这一点和 RBF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一致；差别只在分类任务上。</a:t>
              </a:r>
            </a:p>
          </p:txBody>
        </p:sp>
      </p:grpSp>
      <p:grpSp>
        <p:nvGrpSpPr>
          <p:cNvPr id="74" name="c2-graph-1"/>
          <p:cNvGrpSpPr/>
          <p:nvPr/>
        </p:nvGrpSpPr>
        <p:grpSpPr>
          <a:xfrm>
            <a:off x="7167562" y="1877378"/>
            <a:ext cx="4063365" cy="3274694"/>
            <a:chOff x="7167562" y="1877378"/>
            <a:chExt cx="4063365" cy="3274694"/>
          </a:xfrm>
        </p:grpSpPr>
        <p:sp>
          <p:nvSpPr>
            <p:cNvPr id="48" name="Freeform 48"/>
            <p:cNvSpPr/>
            <p:nvPr/>
          </p:nvSpPr>
          <p:spPr>
            <a:xfrm>
              <a:off x="9169718" y="1877378"/>
              <a:ext cx="9525" cy="3150870"/>
            </a:xfrm>
            <a:custGeom>
              <a:avLst/>
              <a:gdLst/>
              <a:ahLst/>
              <a:cxnLst/>
              <a:rect l="l" t="t" r="r" b="b"/>
              <a:pathLst>
                <a:path w="9525" h="3150870">
                  <a:moveTo>
                    <a:pt x="0" y="0"/>
                  </a:moveTo>
                  <a:lnTo>
                    <a:pt x="0" y="3150870"/>
                  </a:lnTo>
                </a:path>
              </a:pathLst>
            </a:custGeom>
            <a:noFill/>
            <a:ln w="17145">
              <a:solidFill>
                <a:srgbClr val="D9DFEA"/>
              </a:solidFill>
              <a:custDash>
                <a:ds d="333333" sp="222222"/>
              </a:custDash>
            </a:ln>
          </p:spPr>
        </p:sp>
        <p:sp>
          <p:nvSpPr>
            <p:cNvPr id="49" name="Freeform 49"/>
            <p:cNvSpPr/>
            <p:nvPr/>
          </p:nvSpPr>
          <p:spPr>
            <a:xfrm>
              <a:off x="7167562" y="3118485"/>
              <a:ext cx="1764982" cy="591503"/>
            </a:xfrm>
            <a:custGeom>
              <a:avLst/>
              <a:gdLst/>
              <a:ahLst/>
              <a:cxnLst/>
              <a:rect l="l" t="t" r="r" b="b"/>
              <a:pathLst>
                <a:path w="1764982" h="591503">
                  <a:moveTo>
                    <a:pt x="0" y="591503"/>
                  </a:moveTo>
                  <a:lnTo>
                    <a:pt x="176498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647872" y="2179320"/>
              <a:ext cx="637222" cy="848677"/>
            </a:xfrm>
            <a:custGeom>
              <a:avLst/>
              <a:gdLst/>
              <a:ahLst/>
              <a:cxnLst/>
              <a:rect l="l" t="t" r="r" b="b"/>
              <a:pathLst>
                <a:path w="637222" h="848677">
                  <a:moveTo>
                    <a:pt x="612458" y="546735"/>
                  </a:moveTo>
                  <a:lnTo>
                    <a:pt x="594360" y="637222"/>
                  </a:lnTo>
                  <a:lnTo>
                    <a:pt x="478155" y="792480"/>
                  </a:lnTo>
                  <a:lnTo>
                    <a:pt x="318135" y="848677"/>
                  </a:lnTo>
                  <a:lnTo>
                    <a:pt x="159067" y="792480"/>
                  </a:lnTo>
                  <a:lnTo>
                    <a:pt x="42862" y="637222"/>
                  </a:lnTo>
                  <a:lnTo>
                    <a:pt x="0" y="424815"/>
                  </a:lnTo>
                  <a:lnTo>
                    <a:pt x="42862" y="212407"/>
                  </a:lnTo>
                  <a:lnTo>
                    <a:pt x="159067" y="57150"/>
                  </a:lnTo>
                  <a:lnTo>
                    <a:pt x="318135" y="0"/>
                  </a:lnTo>
                  <a:lnTo>
                    <a:pt x="478155" y="57150"/>
                  </a:lnTo>
                  <a:lnTo>
                    <a:pt x="594360" y="212407"/>
                  </a:lnTo>
                  <a:lnTo>
                    <a:pt x="637222" y="424815"/>
                  </a:lnTo>
                  <a:lnTo>
                    <a:pt x="637222" y="42481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593705" y="3799522"/>
              <a:ext cx="637222" cy="849630"/>
            </a:xfrm>
            <a:custGeom>
              <a:avLst/>
              <a:gdLst/>
              <a:ahLst/>
              <a:cxnLst/>
              <a:rect l="l" t="t" r="r" b="b"/>
              <a:pathLst>
                <a:path w="637222" h="849630">
                  <a:moveTo>
                    <a:pt x="612457" y="546735"/>
                  </a:moveTo>
                  <a:lnTo>
                    <a:pt x="594360" y="637223"/>
                  </a:lnTo>
                  <a:lnTo>
                    <a:pt x="477202" y="792480"/>
                  </a:lnTo>
                  <a:lnTo>
                    <a:pt x="318135" y="849630"/>
                  </a:lnTo>
                  <a:lnTo>
                    <a:pt x="159068" y="792480"/>
                  </a:lnTo>
                  <a:lnTo>
                    <a:pt x="42862" y="637223"/>
                  </a:lnTo>
                  <a:lnTo>
                    <a:pt x="0" y="424815"/>
                  </a:lnTo>
                  <a:lnTo>
                    <a:pt x="42862" y="212408"/>
                  </a:lnTo>
                  <a:lnTo>
                    <a:pt x="159068" y="57150"/>
                  </a:lnTo>
                  <a:lnTo>
                    <a:pt x="318135" y="0"/>
                  </a:lnTo>
                  <a:lnTo>
                    <a:pt x="477202" y="57150"/>
                  </a:lnTo>
                  <a:lnTo>
                    <a:pt x="594360" y="212408"/>
                  </a:lnTo>
                  <a:lnTo>
                    <a:pt x="637222" y="424815"/>
                  </a:lnTo>
                  <a:lnTo>
                    <a:pt x="637222" y="42481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7429500" y="244030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7629525" y="251841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7529512" y="267271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7379970" y="263366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7679055" y="236410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8375332" y="4099560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8574405" y="4215765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8475345" y="4331018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8325802" y="4253865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8624888" y="4061460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9819322" y="244030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10018395" y="251841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9918382" y="267271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9769792" y="263366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10067925" y="236410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10765155" y="4099560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10964228" y="4215765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10864215" y="4331018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10714672" y="4253865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1013758" y="4061460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499680" y="4975860"/>
              <a:ext cx="8521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MLP：一刀切开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990315" y="4975860"/>
              <a:ext cx="9476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RBF：各罩一个球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70984" cy="909257"/>
            <a:chOff x="520446" y="342900"/>
            <a:chExt cx="59709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2511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329" y="407194"/>
              <a:ext cx="27692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与多层感知器的比较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709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RBF 网络做分类：隐单元存的是“代表”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374784" cy="308039"/>
            <a:chOff x="525399" y="1550194"/>
            <a:chExt cx="937478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3747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把训练集里有代表性的样本当中心，一个隐单元就相当于记住了一个样板，输出是与样板的相似度。</a:t>
              </a:r>
            </a:p>
          </p:txBody>
        </p:sp>
      </p:grpSp>
      <p:grpSp>
        <p:nvGrpSpPr>
          <p:cNvPr id="17" name="c1-bullets-1"/>
          <p:cNvGrpSpPr/>
          <p:nvPr/>
        </p:nvGrpSpPr>
        <p:grpSpPr>
          <a:xfrm>
            <a:off x="539115" y="1992630"/>
            <a:ext cx="4615815" cy="1327785"/>
            <a:chOff x="539115" y="1992630"/>
            <a:chExt cx="4615815" cy="1327785"/>
          </a:xfrm>
        </p:grpSpPr>
        <p:sp>
          <p:nvSpPr>
            <p:cNvPr id="9" name="Ellipse 9"/>
            <p:cNvSpPr/>
            <p:nvPr/>
          </p:nvSpPr>
          <p:spPr>
            <a:xfrm>
              <a:off x="539115" y="20554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230" y="1992630"/>
              <a:ext cx="4130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RBF 神经元存一个代表向量，取自训练集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9115" y="24003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230" y="233743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新输入来了，各神经元算它与自己代表的欧氏距离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9115" y="27451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230" y="2682240"/>
              <a:ext cx="371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距离经激活函数变成 0 到 1 之间的相似度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9115" y="30899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7230" y="3027045"/>
              <a:ext cx="2727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输入更像 A 类的代表就判 A 类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3451860"/>
            <a:ext cx="5193982" cy="1628775"/>
            <a:chOff x="533400" y="3451860"/>
            <a:chExt cx="5193982" cy="1628775"/>
          </a:xfrm>
        </p:grpSpPr>
        <p:sp>
          <p:nvSpPr>
            <p:cNvPr id="18" name="Rectangle 18"/>
            <p:cNvSpPr/>
            <p:nvPr/>
          </p:nvSpPr>
          <p:spPr>
            <a:xfrm>
              <a:off x="533400" y="3451860"/>
              <a:ext cx="5193982" cy="1628775"/>
            </a:xfrm>
            <a:prstGeom prst="roundRect">
              <a:avLst>
                <a:gd name="adj" fmla="val 7018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165285"/>
              <a:ext cx="200023" cy="200023"/>
              <a:chOff x="738188" y="4165285"/>
              <a:chExt cx="200023" cy="2000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1652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71538" y="42319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3884295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相似度函数的选择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就是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激活函数的选择：高斯核下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相似度随距离指数衰减，逆多二次核下衰减得慢一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些。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032182" y="1967865"/>
            <a:ext cx="5626418" cy="3112770"/>
            <a:chOff x="6032182" y="1967865"/>
            <a:chExt cx="5626418" cy="3112770"/>
          </a:xfrm>
        </p:grpSpPr>
        <p:sp>
          <p:nvSpPr>
            <p:cNvPr id="24" name="Rectangle 24"/>
            <p:cNvSpPr/>
            <p:nvPr/>
          </p:nvSpPr>
          <p:spPr>
            <a:xfrm>
              <a:off x="6032182" y="1967865"/>
              <a:ext cx="5626418" cy="3112770"/>
            </a:xfrm>
            <a:prstGeom prst="roundRect">
              <a:avLst>
                <a:gd name="adj" fmla="val 42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41708" y="2101215"/>
              <a:ext cx="47625" cy="28460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79832" y="217741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3990" y="22131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37985" y="221265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两个代表点，判一个新样本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72212" y="2573655"/>
              <a:ext cx="4825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类代表 c_A = (1, 1)，B 类代表 c_B = (5, 5)，δ = 2，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待判样本 x = (2, 2)。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79832" y="3169920"/>
              <a:ext cx="51692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49149" y="330469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19559" y="3304699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距离 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61799" y="330469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r²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0635" y="3304699"/>
              <a:ext cx="13156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 = exp(−r²/8)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87656" y="375332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11556" y="375332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1.4142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55533" y="37533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95688" y="375332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0.7788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79832" y="4062412"/>
              <a:ext cx="51692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79832" y="4067175"/>
              <a:ext cx="51692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87656" y="420290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11556" y="420290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4.2426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55533" y="42029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95688" y="420290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0.1054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79832" y="3169920"/>
              <a:ext cx="5169218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98970" y="316992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342948" y="316992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583102" y="316992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285548" y="469868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43662" y="4635818"/>
              <a:ext cx="31336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0.7788 远大于 0.1054，判为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类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2" name="Rectangle 5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130" y="5991225"/>
              <a:ext cx="106165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两个相似度都很小（例如都不到 0.05）时，说明这个样本离所有代表都远，正确的做法是拒识，而不是硬挑一个大的。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28422" cy="3675697"/>
            <a:chOff x="667512" y="1835468"/>
            <a:chExt cx="6428422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应用实例：函数逼近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185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50 个高斯基函数去拟合一条 Hermit 曲线，三类参数全部用梯度下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降调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目标函数与网络配置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网络类与前向计算的代码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训练循环的代码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误差随迭代下降的过程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88685" cy="909257"/>
            <a:chOff x="520446" y="342900"/>
            <a:chExt cx="7188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2511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329" y="407194"/>
              <a:ext cx="27692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应用实例：函数逼近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88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任务：用 50 个高斯基函数逼近 Hermit 多项式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62"/>
              <p:cNvSpPr txBox="1">
                <a:spLocks noGrp="1"/>
              </p:cNvSpPr>
              <p:nvPr/>
            </p:nvSpPr>
            <p:spPr>
              <a:xfrm>
                <a:off x="533400" y="1524000"/>
                <a:ext cx="4977765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1.1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29" name="c1-table-2"/>
          <p:cNvGrpSpPr/>
          <p:nvPr/>
        </p:nvGrpSpPr>
        <p:grpSpPr>
          <a:xfrm>
            <a:off x="533400" y="2254568"/>
            <a:ext cx="4977765" cy="2692718"/>
            <a:chOff x="533400" y="2254568"/>
            <a:chExt cx="4977765" cy="2692718"/>
          </a:xfrm>
        </p:grpSpPr>
        <p:sp>
          <p:nvSpPr>
            <p:cNvPr id="8" name="Rectangle 8"/>
            <p:cNvSpPr/>
            <p:nvPr/>
          </p:nvSpPr>
          <p:spPr>
            <a:xfrm>
              <a:off x="533400" y="2254568"/>
              <a:ext cx="497776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13358" y="239029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配置项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88397" y="239029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83892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31033" y="2838926"/>
              <a:ext cx="1960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在 [−5, 5] 上取 250 点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14706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3151822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1223" y="3287554"/>
              <a:ext cx="902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隐节点数 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31033" y="328755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5966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736181"/>
              <a:ext cx="19320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学习率 η_w / η_c / η_δ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31033" y="3736181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/ 0.2 / 0.1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0452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050030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41848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迭代次数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31033" y="418480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4938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6343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31033" y="4634389"/>
              <a:ext cx="16580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½Σe²，阈值 1e−5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2254568"/>
              <a:ext cx="497776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818448" y="2254568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llout-3"/>
          <p:cNvGrpSpPr/>
          <p:nvPr/>
        </p:nvGrpSpPr>
        <p:grpSpPr>
          <a:xfrm>
            <a:off x="533400" y="5137785"/>
            <a:ext cx="4977765" cy="782955"/>
            <a:chOff x="533400" y="5137785"/>
            <a:chExt cx="4977765" cy="782955"/>
          </a:xfrm>
        </p:grpSpPr>
        <p:sp>
          <p:nvSpPr>
            <p:cNvPr id="30" name="Rectangle 30"/>
            <p:cNvSpPr/>
            <p:nvPr/>
          </p:nvSpPr>
          <p:spPr>
            <a:xfrm>
              <a:off x="533400" y="513778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429250"/>
              <a:ext cx="200026" cy="200026"/>
              <a:chOff x="738188" y="5429250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4292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4959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7088" y="55292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286375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这条曲线有一个高峰和一个小峰，还有大片接近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的尾巴，很适合检验局部逼近能力。</a:t>
              </a:r>
            </a:p>
          </p:txBody>
        </p:sp>
      </p:grpSp>
      <p:grpSp>
        <p:nvGrpSpPr>
          <p:cNvPr id="44" name="c2-graph-1"/>
          <p:cNvGrpSpPr/>
          <p:nvPr/>
        </p:nvGrpSpPr>
        <p:grpSpPr>
          <a:xfrm>
            <a:off x="6087428" y="1613535"/>
            <a:ext cx="5357812" cy="2523172"/>
            <a:chOff x="6087428" y="1613535"/>
            <a:chExt cx="5357812" cy="2523172"/>
          </a:xfrm>
        </p:grpSpPr>
        <p:sp>
          <p:nvSpPr>
            <p:cNvPr id="37" name="Freeform 37"/>
            <p:cNvSpPr/>
            <p:nvPr/>
          </p:nvSpPr>
          <p:spPr>
            <a:xfrm>
              <a:off x="6087428" y="3870960"/>
              <a:ext cx="5357812" cy="9525"/>
            </a:xfrm>
            <a:custGeom>
              <a:avLst/>
              <a:gdLst/>
              <a:ahLst/>
              <a:cxnLst/>
              <a:rect l="l" t="t" r="r" b="b"/>
              <a:pathLst>
                <a:path w="5357812" h="9525">
                  <a:moveTo>
                    <a:pt x="0" y="0"/>
                  </a:moveTo>
                  <a:lnTo>
                    <a:pt x="535781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320790" y="1900238"/>
              <a:ext cx="4949190" cy="1969770"/>
            </a:xfrm>
            <a:custGeom>
              <a:avLst/>
              <a:gdLst/>
              <a:ahLst/>
              <a:cxnLst/>
              <a:rect l="l" t="t" r="r" b="b"/>
              <a:pathLst>
                <a:path w="4949190" h="1969770">
                  <a:moveTo>
                    <a:pt x="0" y="1969770"/>
                  </a:moveTo>
                  <a:lnTo>
                    <a:pt x="464820" y="1960245"/>
                  </a:lnTo>
                  <a:lnTo>
                    <a:pt x="966788" y="1776412"/>
                  </a:lnTo>
                  <a:lnTo>
                    <a:pt x="1218247" y="1410653"/>
                  </a:lnTo>
                  <a:lnTo>
                    <a:pt x="1469707" y="783908"/>
                  </a:lnTo>
                  <a:lnTo>
                    <a:pt x="1721167" y="160020"/>
                  </a:lnTo>
                  <a:lnTo>
                    <a:pt x="1896428" y="0"/>
                  </a:lnTo>
                  <a:lnTo>
                    <a:pt x="1972628" y="40005"/>
                  </a:lnTo>
                  <a:lnTo>
                    <a:pt x="2223135" y="564833"/>
                  </a:lnTo>
                  <a:lnTo>
                    <a:pt x="2474595" y="1173480"/>
                  </a:lnTo>
                  <a:lnTo>
                    <a:pt x="2726055" y="1266825"/>
                  </a:lnTo>
                  <a:lnTo>
                    <a:pt x="2977515" y="1004888"/>
                  </a:lnTo>
                  <a:lnTo>
                    <a:pt x="3228022" y="936308"/>
                  </a:lnTo>
                  <a:lnTo>
                    <a:pt x="3479483" y="1216342"/>
                  </a:lnTo>
                  <a:lnTo>
                    <a:pt x="3730942" y="1586865"/>
                  </a:lnTo>
                  <a:lnTo>
                    <a:pt x="3982402" y="1829753"/>
                  </a:lnTo>
                  <a:lnTo>
                    <a:pt x="4233862" y="1933575"/>
                  </a:lnTo>
                  <a:lnTo>
                    <a:pt x="4484370" y="1963103"/>
                  </a:lnTo>
                  <a:lnTo>
                    <a:pt x="4949190" y="196977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169592" y="185261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934134" y="1613535"/>
              <a:ext cx="5547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峰值 2.72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28632" y="2600325"/>
              <a:ext cx="5547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次峰 1.43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08306" y="3960495"/>
              <a:ext cx="3487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= −5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49857" y="3960495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= 5</a:t>
              </a:r>
            </a:p>
          </p:txBody>
        </p:sp>
      </p:grpSp>
      <p:grpSp>
        <p:nvGrpSpPr>
          <p:cNvPr id="48" name="c2-code-2"/>
          <p:cNvGrpSpPr/>
          <p:nvPr/>
        </p:nvGrpSpPr>
        <p:grpSpPr>
          <a:xfrm>
            <a:off x="5815965" y="4381500"/>
            <a:ext cx="5842635" cy="1033462"/>
            <a:chOff x="5815965" y="4381500"/>
            <a:chExt cx="5842635" cy="1033462"/>
          </a:xfrm>
        </p:grpSpPr>
        <p:sp>
          <p:nvSpPr>
            <p:cNvPr id="45" name="Rectangle 45"/>
            <p:cNvSpPr/>
            <p:nvPr/>
          </p:nvSpPr>
          <p:spPr>
            <a:xfrm>
              <a:off x="5815965" y="4381500"/>
              <a:ext cx="5842635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44362" y="45334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驱动代码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44362" y="4794409"/>
              <a:ext cx="3706368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= np.linspace(-5, 5, 500)[::2].reshape(-1, 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y = 1.1 * (1 - X + 2 * X ** 2) * np.exp(-0.5 * X ** 2)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net = RBFnetwork(50, 0.1, 0.2, 0.1).train(X, y, 1000)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2511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329" y="407194"/>
              <a:ext cx="27692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应用实例：函数逼近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代码（一）：网络类与前向计算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3847148"/>
            <a:chOff x="533400" y="1524000"/>
            <a:chExt cx="6276022" cy="38471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847148"/>
            </a:xfrm>
            <a:prstGeom prst="roundRect">
              <a:avLst>
                <a:gd name="adj" fmla="val 24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911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RBF 网络类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911727" cy="33625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numpy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as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np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RBFnetwork: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__init__(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h, r_w, r_c, r_sigma):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.h = h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隐节点数 M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.r = {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r_w,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r_c,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"sigma"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 r_sigma}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.errList = []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phi(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X, c, sigma):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r2[i][j] = ||x_i - c_j||^2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dx = X[:,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None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:] - c[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None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:, :]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r2 = (dx ** 2).sum(axis=2)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np.exp(-r2 / (2 * sigma.ravel() ** 2)), r2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forward(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X, c, sigma, w):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G, r2 =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.phi(X, c, sigma)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ones = np.ones((X.shape[0], 1))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Gb = np.hstack([G, ones])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末列对应阈值 w0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G, r2, Gb, Gb @ w</a:t>
              </a:r>
            </a:p>
          </p:txBody>
        </p:sp>
      </p:grpSp>
      <p:grpSp>
        <p:nvGrpSpPr>
          <p:cNvPr id="25" name="c2-kv-1"/>
          <p:cNvGrpSpPr/>
          <p:nvPr/>
        </p:nvGrpSpPr>
        <p:grpSpPr>
          <a:xfrm>
            <a:off x="7106602" y="1548765"/>
            <a:ext cx="4551998" cy="2053590"/>
            <a:chOff x="7106602" y="1548765"/>
            <a:chExt cx="4551998" cy="2053590"/>
          </a:xfrm>
        </p:grpSpPr>
        <p:sp>
          <p:nvSpPr>
            <p:cNvPr id="11" name="TextBox 11"/>
            <p:cNvSpPr txBox="1"/>
            <p:nvPr/>
          </p:nvSpPr>
          <p:spPr>
            <a:xfrm>
              <a:off x="7106602" y="15487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2852" y="1548765"/>
              <a:ext cx="1046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隐节点数 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114222" y="186880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06602" y="198882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82852" y="198882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三类参数各自的学习率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114222" y="230886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06602" y="24288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82852" y="2428875"/>
              <a:ext cx="2015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× M 的隐层输出矩阵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14222" y="274891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06602" y="2868930"/>
              <a:ext cx="25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Gb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82852" y="2868930"/>
              <a:ext cx="16403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补上全 1 列后的 Φ̂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114222" y="318897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06602" y="330898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82852" y="330898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距离平方，更新 δ 时要用</a:t>
              </a:r>
            </a:p>
          </p:txBody>
        </p:sp>
      </p:grpSp>
      <p:grpSp>
        <p:nvGrpSpPr>
          <p:cNvPr id="32" name="c2-callout-2"/>
          <p:cNvGrpSpPr/>
          <p:nvPr/>
        </p:nvGrpSpPr>
        <p:grpSpPr>
          <a:xfrm>
            <a:off x="7114222" y="3733800"/>
            <a:ext cx="4544378" cy="1637348"/>
            <a:chOff x="7114222" y="3733800"/>
            <a:chExt cx="4544378" cy="1637348"/>
          </a:xfrm>
        </p:grpSpPr>
        <p:sp>
          <p:nvSpPr>
            <p:cNvPr id="26" name="Rectangle 26"/>
            <p:cNvSpPr/>
            <p:nvPr/>
          </p:nvSpPr>
          <p:spPr>
            <a:xfrm>
              <a:off x="7114222" y="3733800"/>
              <a:ext cx="4544378" cy="1637348"/>
            </a:xfrm>
            <a:prstGeom prst="roundRect">
              <a:avLst>
                <a:gd name="adj" fmla="val 698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19010" y="4451985"/>
              <a:ext cx="200026" cy="200025"/>
              <a:chOff x="7319010" y="4451985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19010" y="44519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358749" y="44964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393464" y="46075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620952" y="4309110"/>
              <a:ext cx="3625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 r2 一起返回，是因为 Δδⱼ 的式子里要用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到 ||x − cⱼ||²，重算一遍纯属浪费。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2511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329" y="407194"/>
              <a:ext cx="27692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应用实例：函数逼近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代码（二）：训练循环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3294698"/>
            <a:chOff x="533400" y="1524000"/>
            <a:chExt cx="6276022" cy="32946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294698"/>
            </a:xfrm>
            <a:prstGeom prst="roundRect">
              <a:avLst>
                <a:gd name="adj" fmla="val 289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三类参数一起梯度下降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3793998" cy="27908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train(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X, y, iters):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y = y.reshape(-1, 1)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 = X.shape[0]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sigma, c, w =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.init(X)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随机初始化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range(iters):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G, r2, Gb, pred =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.forward(X, c, sigma, w)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 = y - pred              </a:t>
              </a:r>
              <a:r>
                <a:rPr lang="en-US" sz="86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e_i = d_i - F(x_i)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.errList.append(0.5 * float((e ** 2).sum()))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 = w +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.r[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] * (Gb.T @ e) / N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ew = (e * G) * w[:-1].ravel()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ds = (ew * r2).sum(axis=0) / sigma.ravel() ** 3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sigma = sigma +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.r[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"sigma"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] * ds.reshape(-1, 1) / N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sigma = np.clip(sigma, 0.05,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None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dx = X[:,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None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:] - c[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None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:, :]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dc = np.einsum(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"ij,ijk-&gt;jk"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ew, dx) / sigma ** 2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 = c +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.r[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] * dc / N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.c,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.w,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.sigma = c, w, sigma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988242"/>
            <a:ext cx="6276022" cy="1283018"/>
            <a:chOff x="533400" y="4988242"/>
            <a:chExt cx="6276022" cy="1283018"/>
          </a:xfrm>
        </p:grpSpPr>
        <p:sp>
          <p:nvSpPr>
            <p:cNvPr id="11" name="Rectangle 11"/>
            <p:cNvSpPr/>
            <p:nvPr/>
          </p:nvSpPr>
          <p:spPr>
            <a:xfrm>
              <a:off x="533400" y="4988242"/>
              <a:ext cx="6276022" cy="1283018"/>
            </a:xfrm>
            <a:prstGeom prst="roundRect">
              <a:avLst>
                <a:gd name="adj" fmla="val 742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514016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三类参数的随机初始化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5399818"/>
              <a:ext cx="3253359" cy="784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init(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X):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rng = np.random.default_rng(0)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sigma = rng.random((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.h, 1)) + 0.5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 = rng.random((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.h, X.shape[1])) * 10 - 5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sigma, c, rng.random((</a:t>
              </a:r>
              <a:r>
                <a:rPr lang="en-US" sz="86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self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.h + 1, 1)) - 0.5</a:t>
              </a:r>
            </a:p>
          </p:txBody>
        </p:sp>
      </p:grpSp>
      <p:grpSp>
        <p:nvGrpSpPr>
          <p:cNvPr id="27" name="c2-bullets-1"/>
          <p:cNvGrpSpPr/>
          <p:nvPr/>
        </p:nvGrpSpPr>
        <p:grpSpPr>
          <a:xfrm>
            <a:off x="7114222" y="1532572"/>
            <a:ext cx="2808789" cy="1039655"/>
            <a:chOff x="7114222" y="1532572"/>
            <a:chExt cx="2808789" cy="1039655"/>
          </a:xfrm>
        </p:grpSpPr>
        <p:sp>
          <p:nvSpPr>
            <p:cNvPr id="15" name="Ellipse 15"/>
            <p:cNvSpPr/>
            <p:nvPr/>
          </p:nvSpPr>
          <p:spPr>
            <a:xfrm>
              <a:off x="7114222" y="1532572"/>
              <a:ext cx="160020" cy="16002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59928" y="156429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63778" y="1542574"/>
              <a:ext cx="2003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正向算出隐层输出 G 与预测值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114222" y="1802130"/>
              <a:ext cx="160020" cy="16002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9928" y="1833848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63778" y="1812131"/>
              <a:ext cx="1631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求误差 e，累计本轮的 E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114222" y="2071688"/>
              <a:ext cx="160020" cy="16002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59928" y="210340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3778" y="2081689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三个更新式按第28页逐条落到代码上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114222" y="2342198"/>
              <a:ext cx="160020" cy="16002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59928" y="237391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3778" y="2352199"/>
              <a:ext cx="25592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每步都除以 N，让学习率与样本数无关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7114222" y="2697480"/>
            <a:ext cx="4544378" cy="729615"/>
            <a:chOff x="7114222" y="2697480"/>
            <a:chExt cx="4544378" cy="729615"/>
          </a:xfrm>
        </p:grpSpPr>
        <p:sp>
          <p:nvSpPr>
            <p:cNvPr id="28" name="Rectangle 28"/>
            <p:cNvSpPr/>
            <p:nvPr/>
          </p:nvSpPr>
          <p:spPr>
            <a:xfrm>
              <a:off x="7114222" y="2697480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06952" y="2958583"/>
              <a:ext cx="224134" cy="192560"/>
              <a:chOff x="7306952" y="2958583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419023" y="30289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06952" y="29585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419023" y="31067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621714" y="2843212"/>
              <a:ext cx="354558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np.clip 那一行对应第29页的实现要点：δ 在分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母的三次方上，不设下界迟早会出现除零。</a:t>
              </a:r>
            </a:p>
          </p:txBody>
        </p:sp>
      </p:grpSp>
      <p:grpSp>
        <p:nvGrpSpPr>
          <p:cNvPr id="41" name="c2-callout-3"/>
          <p:cNvGrpSpPr/>
          <p:nvPr/>
        </p:nvGrpSpPr>
        <p:grpSpPr>
          <a:xfrm>
            <a:off x="7114222" y="3596640"/>
            <a:ext cx="4544378" cy="978218"/>
            <a:chOff x="7114222" y="3596640"/>
            <a:chExt cx="4544378" cy="978218"/>
          </a:xfrm>
        </p:grpSpPr>
        <p:sp>
          <p:nvSpPr>
            <p:cNvPr id="35" name="Rectangle 35"/>
            <p:cNvSpPr/>
            <p:nvPr/>
          </p:nvSpPr>
          <p:spPr>
            <a:xfrm>
              <a:off x="7114222" y="3596640"/>
              <a:ext cx="4544378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19010" y="3986213"/>
              <a:ext cx="200026" cy="200026"/>
              <a:chOff x="7319010" y="3986213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19010" y="39862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419023" y="40528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407910" y="40862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621714" y="3743325"/>
              <a:ext cx="357130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原课件的写法是 w -= r*delta，误差取 pred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y；这里把误差取成 y − pred，所以符号统一成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加号，与第28页的公式一致。</a:t>
              </a:r>
            </a:p>
          </p:txBody>
        </p:sp>
      </p:grpSp>
      <p:grpSp>
        <p:nvGrpSpPr>
          <p:cNvPr id="48" name="c2-callout-4"/>
          <p:cNvGrpSpPr/>
          <p:nvPr/>
        </p:nvGrpSpPr>
        <p:grpSpPr>
          <a:xfrm>
            <a:off x="7114222" y="4744402"/>
            <a:ext cx="4544378" cy="1526858"/>
            <a:chOff x="7114222" y="4744402"/>
            <a:chExt cx="4544378" cy="1526858"/>
          </a:xfrm>
        </p:grpSpPr>
        <p:sp>
          <p:nvSpPr>
            <p:cNvPr id="42" name="Rectangle 42"/>
            <p:cNvSpPr/>
            <p:nvPr/>
          </p:nvSpPr>
          <p:spPr>
            <a:xfrm>
              <a:off x="7114222" y="4744402"/>
              <a:ext cx="4544378" cy="1526858"/>
            </a:xfrm>
            <a:prstGeom prst="roundRect">
              <a:avLst>
                <a:gd name="adj" fmla="val 748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19010" y="5408295"/>
              <a:ext cx="200026" cy="200025"/>
              <a:chOff x="7319010" y="5408295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19010" y="54082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358749" y="54527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393464" y="55638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621714" y="5165408"/>
              <a:ext cx="357130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einsum 那一行换成显式的双重循环结果一样，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但 250 个样本乘 50 个中心再乘 1000 轮，跑下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来要慢十几倍。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2511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329" y="407194"/>
              <a:ext cx="27692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应用实例：函数逼近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训练结果：误差是怎么降下来的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060362" cy="278702"/>
            <a:chOff x="526161" y="1547336"/>
            <a:chExt cx="706036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0603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复现课件的实验，每一轮记录一次 E = ½Σe²，1000 轮后曲线已经和目标函数重合。</a:t>
              </a:r>
            </a:p>
          </p:txBody>
        </p:sp>
      </p:grpSp>
      <p:grpSp>
        <p:nvGrpSpPr>
          <p:cNvPr id="37" name="c1-table-1"/>
          <p:cNvGrpSpPr/>
          <p:nvPr/>
        </p:nvGrpSpPr>
        <p:grpSpPr>
          <a:xfrm>
            <a:off x="533400" y="1941195"/>
            <a:ext cx="4977765" cy="2434590"/>
            <a:chOff x="533400" y="1941195"/>
            <a:chExt cx="4977765" cy="243459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97776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3354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迭代轮次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98990" y="2065496"/>
              <a:ext cx="652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= ½Σe²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08514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拟合情况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27848" y="247126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226.87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1355" y="247126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随机初值，完全对不上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479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52725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87702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27848" y="28770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21355" y="287702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大致跟上高峰的位置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537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28279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27848" y="32827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21355" y="328279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两个峰都出来了，边缘有毛刺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59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64255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6885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27848" y="36885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21355" y="3688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毛刺基本消掉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652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09432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27848" y="409432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21355" y="409432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肉眼已看不出差别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41195"/>
              <a:ext cx="497776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723072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116580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llout-2"/>
          <p:cNvGrpSpPr/>
          <p:nvPr/>
        </p:nvGrpSpPr>
        <p:grpSpPr>
          <a:xfrm>
            <a:off x="533400" y="4551045"/>
            <a:ext cx="4977765" cy="729615"/>
            <a:chOff x="533400" y="4551045"/>
            <a:chExt cx="4977765" cy="729615"/>
          </a:xfrm>
        </p:grpSpPr>
        <p:sp>
          <p:nvSpPr>
            <p:cNvPr id="38" name="Rectangle 38"/>
            <p:cNvSpPr/>
            <p:nvPr/>
          </p:nvSpPr>
          <p:spPr>
            <a:xfrm>
              <a:off x="533400" y="4551045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4815842"/>
              <a:ext cx="200023" cy="200023"/>
              <a:chOff x="738188" y="4815842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48158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48825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4697730"/>
              <a:ext cx="4002500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1000 轮后最大绝对误差只有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0.0145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，而目标函数峰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值是 2.72，相对误差不到千分之六。</a:t>
              </a:r>
            </a:p>
          </p:txBody>
        </p:sp>
      </p:grpSp>
      <p:grpSp>
        <p:nvGrpSpPr>
          <p:cNvPr id="51" name="c2-graph-1"/>
          <p:cNvGrpSpPr/>
          <p:nvPr/>
        </p:nvGrpSpPr>
        <p:grpSpPr>
          <a:xfrm>
            <a:off x="6204585" y="2231231"/>
            <a:ext cx="5182552" cy="2752725"/>
            <a:chOff x="6204585" y="2231231"/>
            <a:chExt cx="5182552" cy="2752725"/>
          </a:xfrm>
        </p:grpSpPr>
        <p:sp>
          <p:nvSpPr>
            <p:cNvPr id="44" name="Freeform 44"/>
            <p:cNvSpPr/>
            <p:nvPr/>
          </p:nvSpPr>
          <p:spPr>
            <a:xfrm>
              <a:off x="6204585" y="4658678"/>
              <a:ext cx="5182552" cy="9525"/>
            </a:xfrm>
            <a:custGeom>
              <a:avLst/>
              <a:gdLst/>
              <a:ahLst/>
              <a:cxnLst/>
              <a:rect l="l" t="t" r="r" b="b"/>
              <a:pathLst>
                <a:path w="5182552" h="9525">
                  <a:moveTo>
                    <a:pt x="0" y="0"/>
                  </a:moveTo>
                  <a:lnTo>
                    <a:pt x="518255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399848" y="2371725"/>
              <a:ext cx="9525" cy="2299335"/>
            </a:xfrm>
            <a:custGeom>
              <a:avLst/>
              <a:gdLst/>
              <a:ahLst/>
              <a:cxnLst/>
              <a:rect l="l" t="t" r="r" b="b"/>
              <a:pathLst>
                <a:path w="9525" h="2299335">
                  <a:moveTo>
                    <a:pt x="0" y="22993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411278" y="2624138"/>
              <a:ext cx="4741545" cy="1880235"/>
            </a:xfrm>
            <a:custGeom>
              <a:avLst/>
              <a:gdLst/>
              <a:ahLst/>
              <a:cxnLst/>
              <a:rect l="l" t="t" r="r" b="b"/>
              <a:pathLst>
                <a:path w="4741545" h="1880235">
                  <a:moveTo>
                    <a:pt x="0" y="0"/>
                  </a:moveTo>
                  <a:lnTo>
                    <a:pt x="35242" y="353378"/>
                  </a:lnTo>
                  <a:lnTo>
                    <a:pt x="111442" y="482917"/>
                  </a:lnTo>
                  <a:lnTo>
                    <a:pt x="228600" y="602933"/>
                  </a:lnTo>
                  <a:lnTo>
                    <a:pt x="467678" y="780097"/>
                  </a:lnTo>
                  <a:lnTo>
                    <a:pt x="946785" y="1093470"/>
                  </a:lnTo>
                  <a:lnTo>
                    <a:pt x="1425892" y="1370647"/>
                  </a:lnTo>
                  <a:lnTo>
                    <a:pt x="2384107" y="1662112"/>
                  </a:lnTo>
                  <a:lnTo>
                    <a:pt x="3342322" y="1772603"/>
                  </a:lnTo>
                  <a:lnTo>
                    <a:pt x="4741545" y="1880235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40930" y="2231231"/>
              <a:ext cx="3845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log₁₀ 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628401" y="482203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迭代轮次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79263" y="2674144"/>
              <a:ext cx="12513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前 100 轮掉了两个数量级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02013" y="406384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之后进入慢速微调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2" name="Rectangle 52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897880"/>
              <a:ext cx="200026" cy="200025"/>
              <a:chOff x="738188" y="5897880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77926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642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5779770"/>
              <a:ext cx="987209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误差下降得这么快，是因为占大头的输出权值 w 对应的是凸的最小二乘问题；难走的是中心 c 那部分，它决定了后面那段长长的平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台。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313170" cy="4030027"/>
            <a:chOff x="667512" y="1835468"/>
            <a:chExt cx="6313170" cy="403002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自组织特征映射神经网络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不用标签，让神经元互相竞争，把高维数据摊成一张保持邻近关系的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二维图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17282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SOM 的结构与特点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竞争学习与胜者为王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0474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SOFM 算法与优胜邻域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邻域函数与参数衰减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62927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572125"/>
              <a:ext cx="1979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U-Matrix 与聚类实例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55861" cy="909257"/>
            <a:chOff x="520446" y="342900"/>
            <a:chExt cx="59558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0896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477" y="407194"/>
              <a:ext cx="3070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自组织特征映射神经网络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558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SOM：把高维数据摊到一张二维网格上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906905"/>
            <a:chOff x="533400" y="1524000"/>
            <a:chExt cx="5626418" cy="1906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1345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自组织映射 self-organizing map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68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Kohonen 于 1981 年提出（1982 年正式发表），也叫自组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织特征映射（SOFM）。它是一种无监督学习技术，用来生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成高维数据集的低维（通常二维）表示，同时保留数据的拓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扑结构。</a:t>
              </a:r>
            </a:p>
          </p:txBody>
        </p:sp>
      </p:grpSp>
      <p:grpSp>
        <p:nvGrpSpPr>
          <p:cNvPr id="24" name="c1-bullets-2"/>
          <p:cNvGrpSpPr/>
          <p:nvPr/>
        </p:nvGrpSpPr>
        <p:grpSpPr>
          <a:xfrm>
            <a:off x="533400" y="3646170"/>
            <a:ext cx="4708208" cy="1672590"/>
            <a:chOff x="533400" y="3646170"/>
            <a:chExt cx="4708208" cy="1672590"/>
          </a:xfrm>
        </p:grpSpPr>
        <p:sp>
          <p:nvSpPr>
            <p:cNvPr id="14" name="Freeform 14"/>
            <p:cNvSpPr/>
            <p:nvPr/>
          </p:nvSpPr>
          <p:spPr>
            <a:xfrm>
              <a:off x="533400" y="3677602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3908" y="364617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用竞争学习策略，不靠损失函数的反向传播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402240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3908" y="39909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无监督，不需要额外标签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436721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3908" y="433578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适合高维数据可视化，能维持输入空间的拓扑结构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33400" y="471201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3908" y="468058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泛化能力强，能识别之前没遇到过的输入样本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33400" y="505682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3908" y="502539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权重存的就是竞争层每个节点的特征</a:t>
              </a:r>
            </a:p>
          </p:txBody>
        </p:sp>
      </p:grpSp>
      <p:grpSp>
        <p:nvGrpSpPr>
          <p:cNvPr id="58" name="c2-graph-1"/>
          <p:cNvGrpSpPr/>
          <p:nvPr/>
        </p:nvGrpSpPr>
        <p:grpSpPr>
          <a:xfrm>
            <a:off x="7502842" y="1688782"/>
            <a:ext cx="3117533" cy="3537585"/>
            <a:chOff x="7502842" y="1688782"/>
            <a:chExt cx="3117533" cy="3537585"/>
          </a:xfrm>
        </p:grpSpPr>
        <p:sp>
          <p:nvSpPr>
            <p:cNvPr id="25" name="Freeform 25"/>
            <p:cNvSpPr/>
            <p:nvPr/>
          </p:nvSpPr>
          <p:spPr>
            <a:xfrm>
              <a:off x="8137208" y="2196465"/>
              <a:ext cx="810578" cy="9525"/>
            </a:xfrm>
            <a:custGeom>
              <a:avLst/>
              <a:gdLst/>
              <a:ahLst/>
              <a:cxnLst/>
              <a:rect l="l" t="t" r="r" b="b"/>
              <a:pathLst>
                <a:path w="810578" h="9525">
                  <a:moveTo>
                    <a:pt x="0" y="0"/>
                  </a:moveTo>
                  <a:lnTo>
                    <a:pt x="810578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176385" y="2196465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137208" y="2943225"/>
              <a:ext cx="810578" cy="9525"/>
            </a:xfrm>
            <a:custGeom>
              <a:avLst/>
              <a:gdLst/>
              <a:ahLst/>
              <a:cxnLst/>
              <a:rect l="l" t="t" r="r" b="b"/>
              <a:pathLst>
                <a:path w="810578" h="9525">
                  <a:moveTo>
                    <a:pt x="0" y="0"/>
                  </a:moveTo>
                  <a:lnTo>
                    <a:pt x="810578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176385" y="2943225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137208" y="3690938"/>
              <a:ext cx="810578" cy="9525"/>
            </a:xfrm>
            <a:custGeom>
              <a:avLst/>
              <a:gdLst/>
              <a:ahLst/>
              <a:cxnLst/>
              <a:rect l="l" t="t" r="r" b="b"/>
              <a:pathLst>
                <a:path w="810578" h="9525">
                  <a:moveTo>
                    <a:pt x="0" y="0"/>
                  </a:moveTo>
                  <a:lnTo>
                    <a:pt x="810578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176385" y="3690938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022908" y="2310765"/>
              <a:ext cx="9525" cy="518160"/>
            </a:xfrm>
            <a:custGeom>
              <a:avLst/>
              <a:gdLst/>
              <a:ahLst/>
              <a:cxnLst/>
              <a:rect l="l" t="t" r="r" b="b"/>
              <a:pathLst>
                <a:path w="9525" h="518160">
                  <a:moveTo>
                    <a:pt x="0" y="0"/>
                  </a:moveTo>
                  <a:lnTo>
                    <a:pt x="0" y="51816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022908" y="3057525"/>
              <a:ext cx="9525" cy="519112"/>
            </a:xfrm>
            <a:custGeom>
              <a:avLst/>
              <a:gdLst/>
              <a:ahLst/>
              <a:cxnLst/>
              <a:rect l="l" t="t" r="r" b="b"/>
              <a:pathLst>
                <a:path w="9525" h="519112">
                  <a:moveTo>
                    <a:pt x="0" y="0"/>
                  </a:moveTo>
                  <a:lnTo>
                    <a:pt x="0" y="51911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62085" y="2310765"/>
              <a:ext cx="9525" cy="518160"/>
            </a:xfrm>
            <a:custGeom>
              <a:avLst/>
              <a:gdLst/>
              <a:ahLst/>
              <a:cxnLst/>
              <a:rect l="l" t="t" r="r" b="b"/>
              <a:pathLst>
                <a:path w="9525" h="518160">
                  <a:moveTo>
                    <a:pt x="0" y="0"/>
                  </a:moveTo>
                  <a:lnTo>
                    <a:pt x="0" y="51816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062085" y="3057525"/>
              <a:ext cx="9525" cy="519112"/>
            </a:xfrm>
            <a:custGeom>
              <a:avLst/>
              <a:gdLst/>
              <a:ahLst/>
              <a:cxnLst/>
              <a:rect l="l" t="t" r="r" b="b"/>
              <a:pathLst>
                <a:path w="9525" h="519112">
                  <a:moveTo>
                    <a:pt x="0" y="0"/>
                  </a:moveTo>
                  <a:lnTo>
                    <a:pt x="0" y="51911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100310" y="2310765"/>
              <a:ext cx="9525" cy="518160"/>
            </a:xfrm>
            <a:custGeom>
              <a:avLst/>
              <a:gdLst/>
              <a:ahLst/>
              <a:cxnLst/>
              <a:rect l="l" t="t" r="r" b="b"/>
              <a:pathLst>
                <a:path w="9525" h="518160">
                  <a:moveTo>
                    <a:pt x="0" y="0"/>
                  </a:moveTo>
                  <a:lnTo>
                    <a:pt x="0" y="51816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100310" y="3057525"/>
              <a:ext cx="9525" cy="519112"/>
            </a:xfrm>
            <a:custGeom>
              <a:avLst/>
              <a:gdLst/>
              <a:ahLst/>
              <a:cxnLst/>
              <a:rect l="l" t="t" r="r" b="b"/>
              <a:pathLst>
                <a:path w="9525" h="519112">
                  <a:moveTo>
                    <a:pt x="0" y="0"/>
                  </a:moveTo>
                  <a:lnTo>
                    <a:pt x="0" y="51911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647622" y="3797618"/>
              <a:ext cx="335280" cy="906780"/>
            </a:xfrm>
            <a:custGeom>
              <a:avLst/>
              <a:gdLst/>
              <a:ahLst/>
              <a:cxnLst/>
              <a:rect l="l" t="t" r="r" b="b"/>
              <a:pathLst>
                <a:path w="335280" h="906780">
                  <a:moveTo>
                    <a:pt x="0" y="90678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698105" y="3760470"/>
              <a:ext cx="1273492" cy="981075"/>
            </a:xfrm>
            <a:custGeom>
              <a:avLst/>
              <a:gdLst/>
              <a:ahLst/>
              <a:cxnLst/>
              <a:rect l="l" t="t" r="r" b="b"/>
              <a:pathLst>
                <a:path w="1273492" h="981075">
                  <a:moveTo>
                    <a:pt x="0" y="981075"/>
                  </a:moveTo>
                  <a:lnTo>
                    <a:pt x="1273492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101012" y="3774758"/>
              <a:ext cx="882968" cy="952500"/>
            </a:xfrm>
            <a:custGeom>
              <a:avLst/>
              <a:gdLst/>
              <a:ahLst/>
              <a:cxnLst/>
              <a:rect l="l" t="t" r="r" b="b"/>
              <a:pathLst>
                <a:path w="882968" h="952500">
                  <a:moveTo>
                    <a:pt x="882968" y="95250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062085" y="3805238"/>
              <a:ext cx="9525" cy="891540"/>
            </a:xfrm>
            <a:custGeom>
              <a:avLst/>
              <a:gdLst/>
              <a:ahLst/>
              <a:cxnLst/>
              <a:rect l="l" t="t" r="r" b="b"/>
              <a:pathLst>
                <a:path w="9525" h="891540">
                  <a:moveTo>
                    <a:pt x="0" y="89154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139238" y="3774758"/>
              <a:ext cx="883920" cy="952500"/>
            </a:xfrm>
            <a:custGeom>
              <a:avLst/>
              <a:gdLst/>
              <a:ahLst/>
              <a:cxnLst/>
              <a:rect l="l" t="t" r="r" b="b"/>
              <a:pathLst>
                <a:path w="883920" h="952500">
                  <a:moveTo>
                    <a:pt x="0" y="952500"/>
                  </a:moveTo>
                  <a:lnTo>
                    <a:pt x="88392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152572" y="3760470"/>
              <a:ext cx="1272540" cy="981075"/>
            </a:xfrm>
            <a:custGeom>
              <a:avLst/>
              <a:gdLst/>
              <a:ahLst/>
              <a:cxnLst/>
              <a:rect l="l" t="t" r="r" b="b"/>
              <a:pathLst>
                <a:path w="1272540" h="981075">
                  <a:moveTo>
                    <a:pt x="1272540" y="9810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140315" y="3797618"/>
              <a:ext cx="336233" cy="906780"/>
            </a:xfrm>
            <a:custGeom>
              <a:avLst/>
              <a:gdLst/>
              <a:ahLst/>
              <a:cxnLst/>
              <a:rect l="l" t="t" r="r" b="b"/>
              <a:pathLst>
                <a:path w="336233" h="906780">
                  <a:moveTo>
                    <a:pt x="336233" y="9067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7918132" y="2091690"/>
              <a:ext cx="209550" cy="2095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957310" y="2091690"/>
              <a:ext cx="209550" cy="2095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9995535" y="2091690"/>
              <a:ext cx="209550" cy="2095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7918132" y="2838450"/>
              <a:ext cx="209550" cy="2095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8957310" y="2838450"/>
              <a:ext cx="209550" cy="2095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9995535" y="2838450"/>
              <a:ext cx="209550" cy="2095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7918132" y="3586162"/>
              <a:ext cx="209550" cy="2095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957310" y="3586162"/>
              <a:ext cx="209550" cy="2095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9995535" y="3586162"/>
              <a:ext cx="209550" cy="2095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7502842" y="4706302"/>
              <a:ext cx="209550" cy="2095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8957310" y="4706302"/>
              <a:ext cx="209550" cy="2095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10410825" y="4706302"/>
              <a:ext cx="209550" cy="2095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027480" y="1688782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竞争层（输出层），节点排成二维网格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97235" y="5050155"/>
              <a:ext cx="23297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输入层 n 个节点，全连接到每个竞争层节点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9" name="Rectangle 5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130" y="5728335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竞争层节点之间的连线不是权值，只表示网格上的邻居关系。真正的权值在输入层到竞争层的全连接上，每个竞争层节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点有一个 n 维权向量。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85051" cy="909257"/>
            <a:chOff x="520446" y="342900"/>
            <a:chExt cx="4885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0896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477" y="407194"/>
              <a:ext cx="3070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自组织特征映射神经网络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85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竞争学习：侧抑制与“胜者为王”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2066925"/>
            <a:chOff x="533400" y="1524000"/>
            <a:chExt cx="5626418" cy="20669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66925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0022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生物背景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0588" y="1767364"/>
              <a:ext cx="22840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侧抑制 lateral inhibition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神经细胞兴奋后会抑制周围的细胞。开始时可能多个细胞同时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兴奋，但兴奋程度最强的那个对周围的抑制也最强，结果是周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围细胞的兴奋度被压下去。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9239" y="2978468"/>
              <a:ext cx="4888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这种抑制一般满足某种分布关系，最简单的一种就是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胜者为王</a:t>
              </a: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：只留一个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赢家，其余全部归零。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776662"/>
            <a:ext cx="5626418" cy="1662112"/>
            <a:chOff x="533400" y="3776662"/>
            <a:chExt cx="5626418" cy="1662112"/>
          </a:xfrm>
        </p:grpSpPr>
        <p:sp>
          <p:nvSpPr>
            <p:cNvPr id="15" name="Rectangle 15"/>
            <p:cNvSpPr/>
            <p:nvPr/>
          </p:nvSpPr>
          <p:spPr>
            <a:xfrm>
              <a:off x="533400" y="3776662"/>
              <a:ext cx="5626418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10012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398049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7644" y="40162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最简形式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60588" y="4020026"/>
              <a:ext cx="16188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Kohonen 规则聚类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5335" y="435959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680" y="43989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6228" y="4371499"/>
              <a:ext cx="2145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随机初始化 k 个聚类中心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75335" y="467963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3680" y="47190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228" y="4691539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每次取一个样本，把离它最近的那个中心往它的方向挪一点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75335" y="499967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3680" y="503905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6228" y="5011579"/>
              <a:ext cx="8460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 m 次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65"/>
              <p:cNvSpPr txBox="1">
                <a:spLocks noGrp="1"/>
              </p:cNvSpPr>
              <p:nvPr/>
            </p:nvSpPr>
            <p:spPr>
              <a:xfrm>
                <a:off x="6464618" y="1524000"/>
                <a:ext cx="5193982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bi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←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η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bi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9" name="c2-kv-2"/>
          <p:cNvGrpSpPr/>
          <p:nvPr/>
        </p:nvGrpSpPr>
        <p:grpSpPr>
          <a:xfrm>
            <a:off x="6457379" y="2133124"/>
            <a:ext cx="5201221" cy="1121664"/>
            <a:chOff x="6457379" y="2133124"/>
            <a:chExt cx="5201221" cy="1121664"/>
          </a:xfrm>
        </p:grpSpPr>
        <p:sp>
          <p:nvSpPr>
            <p:cNvPr id="31" name="TextBox 31"/>
            <p:cNvSpPr txBox="1"/>
            <p:nvPr/>
          </p:nvSpPr>
          <p:spPr>
            <a:xfrm>
              <a:off x="6457379" y="2133124"/>
              <a:ext cx="2754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wₖ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96531" y="213312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离样本最近的那个聚类中心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24384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57379" y="255508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96531" y="2555081"/>
              <a:ext cx="19547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学习率（原课件写 lr）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8603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57379" y="2976086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x − wₖ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96531" y="297608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从中心指向样本的向量</a:t>
              </a:r>
            </a:p>
          </p:txBody>
        </p:sp>
      </p:grpSp>
      <p:grpSp>
        <p:nvGrpSpPr>
          <p:cNvPr id="45" name="c2-callout-3"/>
          <p:cNvGrpSpPr/>
          <p:nvPr/>
        </p:nvGrpSpPr>
        <p:grpSpPr>
          <a:xfrm>
            <a:off x="6464618" y="3384232"/>
            <a:ext cx="5193982" cy="2053590"/>
            <a:chOff x="6464618" y="3384232"/>
            <a:chExt cx="5193982" cy="2053590"/>
          </a:xfrm>
        </p:grpSpPr>
        <p:sp>
          <p:nvSpPr>
            <p:cNvPr id="40" name="Rectangle 40"/>
            <p:cNvSpPr/>
            <p:nvPr/>
          </p:nvSpPr>
          <p:spPr>
            <a:xfrm>
              <a:off x="6464618" y="3384232"/>
              <a:ext cx="5193982" cy="2053590"/>
            </a:xfrm>
            <a:prstGeom prst="roundRect">
              <a:avLst>
                <a:gd name="adj" fmla="val 5566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669405" y="4311017"/>
              <a:ext cx="200023" cy="200023"/>
              <a:chOff x="6669405" y="4311017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669405" y="43110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802755" y="43776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971729" y="4049554"/>
              <a:ext cx="4324604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这个式子就是第24页竞争学习法的更新式，也是后面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SOFM 算法的核心。η 取 1 时中心直接跳到样本上，取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 时完全不动。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6" name="Rectangle 4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6004084"/>
              <a:ext cx="91901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 k-means 的区别在这里：k-means 要看完一批样本再算平均，竞争学习看一个样本就挪一下，是在线的。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0896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477" y="407194"/>
              <a:ext cx="3070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自组织特征映射神经网络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胜者为王三步：归一化、比点积、调权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2686431" cy="1693069"/>
            <a:chOff x="533400" y="1533525"/>
            <a:chExt cx="2686431" cy="169306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070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向量归一化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183308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样本和所有权向量都化成单位向量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1526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找获胜神经元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41982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取欧氏距离最小的那个 j*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73939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网络输出与调权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006566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j* 输出 1 并更新权值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82"/>
              <p:cNvSpPr txBox="1">
                <a:spLocks noGrp="1"/>
              </p:cNvSpPr>
              <p:nvPr/>
            </p:nvSpPr>
            <p:spPr>
              <a:xfrm>
                <a:off x="533400" y="3395662"/>
                <a:ext cx="5410200" cy="445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‖"/>
                          <m:sepChr m:val=""/>
                          <m:endChr m:val="‖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ˆ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</m:acc>
                            </m:e>
                            <m:sub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*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sepChr m:val=""/>
                              <m:endChr m:val="‖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ˆ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83"/>
              <p:cNvSpPr txBox="1">
                <a:spLocks noGrp="1"/>
              </p:cNvSpPr>
              <p:nvPr/>
            </p:nvSpPr>
            <p:spPr>
              <a:xfrm>
                <a:off x="533400" y="4016692"/>
                <a:ext cx="54102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</m:acc>
                        </m:e>
                        <m:sub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*</m:t>
                              </m:r>
                            </m:sup>
                          </m:sSup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</m:acc>
                        </m:e>
                        <m:sub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*</m:t>
                              </m:r>
                            </m:sup>
                          </m:sSup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ˆ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</m:acc>
                            </m:e>
                            <m:sub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*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formula84"/>
              <p:cNvSpPr txBox="1">
                <a:spLocks noGrp="1"/>
              </p:cNvSpPr>
              <p:nvPr/>
            </p:nvSpPr>
            <p:spPr>
              <a:xfrm>
                <a:off x="533400" y="4534852"/>
                <a:ext cx="5410200" cy="6515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*</m:t>
                                  </m:r>
                                </m:sup>
                              </m:sSup>
                            </m: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≠</m:t>
                              </m:r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*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5" name="c1-text-5"/>
          <p:cNvGrpSpPr/>
          <p:nvPr/>
        </p:nvGrpSpPr>
        <p:grpSpPr>
          <a:xfrm>
            <a:off x="527685" y="5379244"/>
            <a:ext cx="4034191" cy="220028"/>
            <a:chOff x="527685" y="5379244"/>
            <a:chExt cx="4034191" cy="220028"/>
          </a:xfrm>
        </p:grpSpPr>
        <p:sp>
          <p:nvSpPr>
            <p:cNvPr id="24" name="TextBox 24"/>
            <p:cNvSpPr txBox="1"/>
            <p:nvPr/>
          </p:nvSpPr>
          <p:spPr>
            <a:xfrm>
              <a:off x="527685" y="5379244"/>
              <a:ext cx="4034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非获胜神经元的权值原样保留，Wⱼ(t+1) = Wⱼ(t)，j ≠ j*。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524000"/>
            <a:ext cx="5410200" cy="1940242"/>
            <a:chOff x="6248400" y="1524000"/>
            <a:chExt cx="5410200" cy="1940242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940242"/>
            </a:xfrm>
            <a:prstGeom prst="roundRect">
              <a:avLst>
                <a:gd name="adj" fmla="val 68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167354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8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70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化简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62597" y="175641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比距离等价于比点积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72047" y="209073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两个向量都归一化之后，距离的平方可以展开成一个只含点积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的式子。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85"/>
                <p:cNvSpPr txBox="1">
                  <a:spLocks noGrp="1"/>
                </p:cNvSpPr>
                <p:nvPr/>
              </p:nvSpPr>
              <p:spPr>
                <a:xfrm>
                  <a:off x="6478905" y="2627948"/>
                  <a:ext cx="498729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W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Sup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bSup>
                            <m:acc>
                              <m:accPr>
                                <m:chr m:val="ˆ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Ellipse 33"/>
            <p:cNvSpPr/>
            <p:nvPr/>
          </p:nvSpPr>
          <p:spPr>
            <a:xfrm>
              <a:off x="6487478" y="311658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43497" y="3060382"/>
              <a:ext cx="4584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距离最小 ⇔ 点积最大，而点积正是竞争层神经元的净输入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6248400" y="3638550"/>
            <a:ext cx="5410200" cy="1916430"/>
            <a:chOff x="6248400" y="3638550"/>
            <a:chExt cx="5410200" cy="1916430"/>
          </a:xfrm>
        </p:grpSpPr>
        <p:sp>
          <p:nvSpPr>
            <p:cNvPr id="36" name="Rectangle 36"/>
            <p:cNvSpPr/>
            <p:nvPr/>
          </p:nvSpPr>
          <p:spPr>
            <a:xfrm>
              <a:off x="6248400" y="3638550"/>
              <a:ext cx="5410200" cy="1916430"/>
            </a:xfrm>
            <a:prstGeom prst="roundRect">
              <a:avLst>
                <a:gd name="adj" fmla="val 5964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453188" y="4496755"/>
              <a:ext cx="200023" cy="200023"/>
              <a:chOff x="6453188" y="4496755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453188" y="44967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86538" y="45634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755892" y="4253865"/>
              <a:ext cx="44714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这一步很要紧：硬件上只要做一次乘加就能选出赢家，不必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开方算距离。代价是必须先把向量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归一化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，否则长的向量会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无条件获胜。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2" name="Rectangle 4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7748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展开过程：‖X̂ − Ŵ‖² = X̂ᵀX̂ − 2ŴᵀX̂ + ŴᵀŴ = 1 − 2ŴᵀX̂ + 1，两个单位向量的自身点积都等于 1。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0896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477" y="407194"/>
              <a:ext cx="3070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自组织特征映射神经网络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例题：一步竞争学习，算到底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445818" cy="293370"/>
            <a:chOff x="525780" y="1548765"/>
            <a:chExt cx="844581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4458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三个竞争层神经元，权向量都已归一化；输入样本 x = (0.8, 0.6)，模长 1。学习率 α = 0.5。</a:t>
              </a:r>
            </a:p>
          </p:txBody>
        </p:sp>
      </p:grpSp>
      <p:grpSp>
        <p:nvGrpSpPr>
          <p:cNvPr id="38" name="c1-table-1"/>
          <p:cNvGrpSpPr/>
          <p:nvPr/>
        </p:nvGrpSpPr>
        <p:grpSpPr>
          <a:xfrm>
            <a:off x="533400" y="1954530"/>
            <a:ext cx="5626418" cy="1720215"/>
            <a:chOff x="533400" y="1954530"/>
            <a:chExt cx="5626418" cy="172021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626418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1718" y="20859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神经元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72818" y="20859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权向量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35643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48150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距离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39823" y="2085975"/>
              <a:ext cx="801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2(1−点积)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8746" y="2515552"/>
              <a:ext cx="232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51254" y="251555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01899" y="251555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14407" y="25155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0.6325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27866" y="251555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09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1463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2946082"/>
              <a:ext cx="232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51254" y="294608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01899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14407" y="294608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0.8944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27866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404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3376612"/>
              <a:ext cx="232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51254" y="3376612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(0.6, 0.8)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01899" y="337661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14407" y="337661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0.2828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27866" y="337661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954530"/>
              <a:ext cx="5626418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541145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891790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904298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17758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1-steps-2"/>
          <p:cNvGrpSpPr/>
          <p:nvPr/>
        </p:nvGrpSpPr>
        <p:grpSpPr>
          <a:xfrm>
            <a:off x="533400" y="3870008"/>
            <a:ext cx="4084168" cy="1790128"/>
            <a:chOff x="533400" y="3870008"/>
            <a:chExt cx="4084168" cy="1790128"/>
          </a:xfrm>
        </p:grpSpPr>
        <p:sp>
          <p:nvSpPr>
            <p:cNvPr id="39" name="Rectangle 39"/>
            <p:cNvSpPr/>
            <p:nvPr/>
          </p:nvSpPr>
          <p:spPr>
            <a:xfrm>
              <a:off x="666750" y="4012882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533400" y="38700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7024" y="39438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33400" y="44910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7024" y="45648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33400" y="511206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7024" y="51858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5261" y="390286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选赢家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6404" y="418338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w₃ 点积最大、距离最小，j* = 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5261" y="452389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6404" y="4804410"/>
              <a:ext cx="36711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w₃ + 0.5[(0.8,0.6) − (0.6,0.8)] = (0.7, 0.7)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5261" y="514492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归一化后检验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6404" y="5425440"/>
              <a:ext cx="31623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(0.7071, 0.7071)，新点积 0.9899 &gt; 0.96</a:t>
              </a:r>
            </a:p>
          </p:txBody>
        </p:sp>
      </p:grpSp>
      <p:grpSp>
        <p:nvGrpSpPr>
          <p:cNvPr id="74" name="c2-graph-1"/>
          <p:cNvGrpSpPr/>
          <p:nvPr/>
        </p:nvGrpSpPr>
        <p:grpSpPr>
          <a:xfrm>
            <a:off x="7031355" y="2446020"/>
            <a:ext cx="4432935" cy="2818448"/>
            <a:chOff x="7031355" y="2446020"/>
            <a:chExt cx="4432935" cy="2818448"/>
          </a:xfrm>
        </p:grpSpPr>
        <p:sp>
          <p:nvSpPr>
            <p:cNvPr id="53" name="Freeform 53"/>
            <p:cNvSpPr/>
            <p:nvPr/>
          </p:nvSpPr>
          <p:spPr>
            <a:xfrm>
              <a:off x="7126605" y="5207318"/>
              <a:ext cx="4242435" cy="9525"/>
            </a:xfrm>
            <a:custGeom>
              <a:avLst/>
              <a:gdLst/>
              <a:ahLst/>
              <a:cxnLst/>
              <a:rect l="l" t="t" r="r" b="b"/>
              <a:pathLst>
                <a:path w="4242435" h="9525">
                  <a:moveTo>
                    <a:pt x="0" y="0"/>
                  </a:moveTo>
                  <a:lnTo>
                    <a:pt x="424243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1369040" y="51596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7088505" y="2541270"/>
              <a:ext cx="9525" cy="2544127"/>
            </a:xfrm>
            <a:custGeom>
              <a:avLst/>
              <a:gdLst/>
              <a:ahLst/>
              <a:cxnLst/>
              <a:rect l="l" t="t" r="r" b="b"/>
              <a:pathLst>
                <a:path w="9525" h="2544127">
                  <a:moveTo>
                    <a:pt x="0" y="254412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040880" y="24460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7126605" y="3244215"/>
              <a:ext cx="2207895" cy="1929765"/>
            </a:xfrm>
            <a:custGeom>
              <a:avLst/>
              <a:gdLst/>
              <a:ahLst/>
              <a:cxnLst/>
              <a:rect l="l" t="t" r="r" b="b"/>
              <a:pathLst>
                <a:path w="2207895" h="1929765">
                  <a:moveTo>
                    <a:pt x="0" y="1929765"/>
                  </a:moveTo>
                  <a:lnTo>
                    <a:pt x="2207895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9303068" y="3181350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102870" y="0"/>
                  </a:moveTo>
                  <a:lnTo>
                    <a:pt x="62865" y="98108"/>
                  </a:lnTo>
                  <a:lnTo>
                    <a:pt x="0" y="2667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7126605" y="3726180"/>
              <a:ext cx="2973705" cy="1462088"/>
            </a:xfrm>
            <a:custGeom>
              <a:avLst/>
              <a:gdLst/>
              <a:ahLst/>
              <a:cxnLst/>
              <a:rect l="l" t="t" r="r" b="b"/>
              <a:pathLst>
                <a:path w="2973705" h="1462088">
                  <a:moveTo>
                    <a:pt x="0" y="1462088"/>
                  </a:moveTo>
                  <a:lnTo>
                    <a:pt x="297370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0079355" y="3683318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953"/>
                  </a:moveTo>
                  <a:lnTo>
                    <a:pt x="4191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7126605" y="2623185"/>
              <a:ext cx="3884295" cy="2462212"/>
            </a:xfrm>
            <a:custGeom>
              <a:avLst/>
              <a:gdLst/>
              <a:ahLst/>
              <a:cxnLst/>
              <a:rect l="l" t="t" r="r" b="b"/>
              <a:pathLst>
                <a:path w="3884295" h="2462212">
                  <a:moveTo>
                    <a:pt x="3884295" y="2462212"/>
                  </a:moveTo>
                  <a:lnTo>
                    <a:pt x="3773805" y="1915478"/>
                  </a:lnTo>
                  <a:lnTo>
                    <a:pt x="3378518" y="1290638"/>
                  </a:lnTo>
                  <a:lnTo>
                    <a:pt x="2750820" y="754380"/>
                  </a:lnTo>
                  <a:lnTo>
                    <a:pt x="1935480" y="343853"/>
                  </a:lnTo>
                  <a:lnTo>
                    <a:pt x="984885" y="85725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  <a:custDash>
                <a:ds d="333333" sp="222222"/>
              </a:custDash>
            </a:ln>
          </p:spPr>
        </p:sp>
        <p:sp>
          <p:nvSpPr>
            <p:cNvPr id="62" name="Freeform 62"/>
            <p:cNvSpPr/>
            <p:nvPr/>
          </p:nvSpPr>
          <p:spPr>
            <a:xfrm>
              <a:off x="9514522" y="3170872"/>
              <a:ext cx="221933" cy="126683"/>
            </a:xfrm>
            <a:custGeom>
              <a:avLst/>
              <a:gdLst/>
              <a:ahLst/>
              <a:cxnLst/>
              <a:rect l="l" t="t" r="r" b="b"/>
              <a:pathLst>
                <a:path w="221933" h="126683">
                  <a:moveTo>
                    <a:pt x="0" y="0"/>
                  </a:moveTo>
                  <a:lnTo>
                    <a:pt x="221933" y="126683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9712642" y="3255645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88583"/>
                  </a:moveTo>
                  <a:lnTo>
                    <a:pt x="0" y="82867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10978515" y="515016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7031355" y="256317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9399270" y="308038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10188892" y="3597592"/>
              <a:ext cx="114300" cy="1143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9820275" y="3320415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159795" y="4888230"/>
              <a:ext cx="1670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w₁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16457" y="2448878"/>
              <a:ext cx="1670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82392" y="2855595"/>
              <a:ext cx="1670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w₃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442010" y="3705225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样本 x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225278" y="296608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更新后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5" name="Rectangle 7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511" y="6004084"/>
              <a:ext cx="68962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更新完必须重新归一化，否则权向量会越来越短，下一轮的点积比较就不公平了。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22862" cy="909257"/>
            <a:chOff x="520446" y="342900"/>
            <a:chExt cx="66228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0896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477" y="407194"/>
              <a:ext cx="3070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自组织特征映射神经网络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228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SOFM 算法：在胜者为王上加一个优胜邻域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688580" cy="293370"/>
            <a:chOff x="525780" y="1548765"/>
            <a:chExt cx="76885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与纯竞争学习的唯一差别，是赢家周围一圈神经元也跟着调整，调整幅度按距离递减。</a:t>
              </a:r>
            </a:p>
          </p:txBody>
        </p:sp>
      </p:grpSp>
      <p:grpSp>
        <p:nvGrpSpPr>
          <p:cNvPr id="34" name="c1-steps-1"/>
          <p:cNvGrpSpPr/>
          <p:nvPr/>
        </p:nvGrpSpPr>
        <p:grpSpPr>
          <a:xfrm>
            <a:off x="533400" y="1964055"/>
            <a:ext cx="3348228" cy="3652266"/>
            <a:chOff x="533400" y="1964055"/>
            <a:chExt cx="3348228" cy="3652266"/>
          </a:xfrm>
        </p:grpSpPr>
        <p:sp>
          <p:nvSpPr>
            <p:cNvPr id="9" name="Rectangle 9"/>
            <p:cNvSpPr/>
            <p:nvPr/>
          </p:nvSpPr>
          <p:spPr>
            <a:xfrm>
              <a:off x="666750" y="2106930"/>
              <a:ext cx="19050" cy="31041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40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850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58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0611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79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2619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000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44722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521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06825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1420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199691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权重初始化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2277428"/>
              <a:ext cx="17391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Wⱼ 取小随机数并归一化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26179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样本选择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2898457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随机取一个训练样本并归一化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323897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竞争过程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3519488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点积最大者为获胜神经元 j*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261" y="386000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自组织过程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404" y="4140518"/>
              <a:ext cx="2935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定义优胜邻域 N_{j*}(t)，初始大后期小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261" y="448008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调整权值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404" y="476059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邻域内的神经元一起朝样本移动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5261" y="510111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结束检查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404" y="5381625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η(t) 衰减到足够小就停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90"/>
              <p:cNvSpPr txBox="1">
                <a:spLocks noGrp="1"/>
              </p:cNvSpPr>
              <p:nvPr/>
            </p:nvSpPr>
            <p:spPr>
              <a:xfrm>
                <a:off x="6248400" y="1954530"/>
                <a:ext cx="54102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η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</m:d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91"/>
              <p:cNvSpPr txBox="1">
                <a:spLocks noGrp="1"/>
              </p:cNvSpPr>
              <p:nvPr/>
            </p:nvSpPr>
            <p:spPr>
              <a:xfrm>
                <a:off x="6248400" y="2502218"/>
                <a:ext cx="54102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η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η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61" name="c2-table-3"/>
          <p:cNvGrpSpPr/>
          <p:nvPr/>
        </p:nvGrpSpPr>
        <p:grpSpPr>
          <a:xfrm>
            <a:off x="6248400" y="3048952"/>
            <a:ext cx="5410200" cy="2151698"/>
            <a:chOff x="6248400" y="3048952"/>
            <a:chExt cx="5410200" cy="2151698"/>
          </a:xfrm>
        </p:grpSpPr>
        <p:sp>
          <p:nvSpPr>
            <p:cNvPr id="37" name="Rectangle 37"/>
            <p:cNvSpPr/>
            <p:nvPr/>
          </p:nvSpPr>
          <p:spPr>
            <a:xfrm>
              <a:off x="6248400" y="3048952"/>
              <a:ext cx="5410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92651" y="3180398"/>
              <a:ext cx="810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网格距离 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95937" y="318039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e⁻ᴺ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08127" y="3180398"/>
              <a:ext cx="17786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η(t)=0.3 时的实际步长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53747" y="3610927"/>
              <a:ext cx="751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0（赢家）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52004" y="3610927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42629" y="3610927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0.3000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904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390906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3747" y="4040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52004" y="404050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0.3679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42629" y="404050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0.1104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4334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53747" y="44710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52004" y="447103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42629" y="447103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0.0406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4765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48400" y="477012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53747" y="49006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52004" y="490061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0.0498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42629" y="490061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0.0149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3048952"/>
              <a:ext cx="5410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541895" y="304895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732520" y="304895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2" name="Rectangle 6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511" y="6004084"/>
              <a:ext cx="103371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没有输出误差这个概念，所以停止条件不是误差够小，而是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学习率衰减到足够小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。优胜邻域可以取正方形、六角形等形状。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0896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477" y="407194"/>
              <a:ext cx="3070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自组织特征映射神经网络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邻域函数：由近及远，由兴奋转为抑制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4977765" cy="2244090"/>
            <a:chOff x="533400" y="1524000"/>
            <a:chExt cx="4977765" cy="22440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136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902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34743" y="2108359"/>
              <a:ext cx="2916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高斯形，随距离平滑衰减到 0，最常用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大礼帽型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34743" y="2556986"/>
              <a:ext cx="2571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邻域内全是同一个值，邻域外为 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厨师帽型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34743" y="3005614"/>
              <a:ext cx="222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中间一块平顶，边缘直落到 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542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墨西哥帽型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34743" y="345424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近处兴奋，中距离抑制（取负），远处归零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497776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2215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llout-2"/>
          <p:cNvGrpSpPr/>
          <p:nvPr/>
        </p:nvGrpSpPr>
        <p:grpSpPr>
          <a:xfrm>
            <a:off x="533400" y="3958590"/>
            <a:ext cx="4977765" cy="1059180"/>
            <a:chOff x="533400" y="3958590"/>
            <a:chExt cx="4977765" cy="1059180"/>
          </a:xfrm>
        </p:grpSpPr>
        <p:sp>
          <p:nvSpPr>
            <p:cNvPr id="26" name="Rectangle 26"/>
            <p:cNvSpPr/>
            <p:nvPr/>
          </p:nvSpPr>
          <p:spPr>
            <a:xfrm>
              <a:off x="533400" y="3958590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4388168"/>
              <a:ext cx="200026" cy="200026"/>
              <a:chOff x="738188" y="4388168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43881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44548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27088" y="44881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4107180"/>
              <a:ext cx="40824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工程实现里常用的两种是 Gaussian 函数和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Bubble 函数，后者就是大礼帽型。墨西哥帽最接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近生物上的侧抑制，但计算量大。</a:t>
              </a:r>
            </a:p>
          </p:txBody>
        </p:sp>
      </p:grpSp>
      <p:grpSp>
        <p:nvGrpSpPr>
          <p:cNvPr id="40" name="c2-graph-1"/>
          <p:cNvGrpSpPr/>
          <p:nvPr/>
        </p:nvGrpSpPr>
        <p:grpSpPr>
          <a:xfrm>
            <a:off x="6145530" y="2093595"/>
            <a:ext cx="5299710" cy="2863215"/>
            <a:chOff x="6145530" y="2093595"/>
            <a:chExt cx="5299710" cy="2863215"/>
          </a:xfrm>
        </p:grpSpPr>
        <p:sp>
          <p:nvSpPr>
            <p:cNvPr id="33" name="Freeform 33"/>
            <p:cNvSpPr/>
            <p:nvPr/>
          </p:nvSpPr>
          <p:spPr>
            <a:xfrm>
              <a:off x="6145530" y="3710940"/>
              <a:ext cx="5299710" cy="9525"/>
            </a:xfrm>
            <a:custGeom>
              <a:avLst/>
              <a:gdLst/>
              <a:ahLst/>
              <a:cxnLst/>
              <a:rect l="l" t="t" r="r" b="b"/>
              <a:pathLst>
                <a:path w="5299710" h="9525">
                  <a:moveTo>
                    <a:pt x="0" y="0"/>
                  </a:moveTo>
                  <a:lnTo>
                    <a:pt x="529971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4" name="Freeform 34"/>
            <p:cNvSpPr/>
            <p:nvPr/>
          </p:nvSpPr>
          <p:spPr>
            <a:xfrm>
              <a:off x="6320790" y="2093595"/>
              <a:ext cx="4949190" cy="1616392"/>
            </a:xfrm>
            <a:custGeom>
              <a:avLst/>
              <a:gdLst/>
              <a:ahLst/>
              <a:cxnLst/>
              <a:rect l="l" t="t" r="r" b="b"/>
              <a:pathLst>
                <a:path w="4949190" h="1616392">
                  <a:moveTo>
                    <a:pt x="0" y="1616392"/>
                  </a:moveTo>
                  <a:lnTo>
                    <a:pt x="593407" y="1600200"/>
                  </a:lnTo>
                  <a:lnTo>
                    <a:pt x="902970" y="1544002"/>
                  </a:lnTo>
                  <a:lnTo>
                    <a:pt x="1218247" y="1397318"/>
                  </a:lnTo>
                  <a:lnTo>
                    <a:pt x="1534478" y="1089660"/>
                  </a:lnTo>
                  <a:lnTo>
                    <a:pt x="1849755" y="635317"/>
                  </a:lnTo>
                  <a:lnTo>
                    <a:pt x="2159317" y="188595"/>
                  </a:lnTo>
                  <a:lnTo>
                    <a:pt x="2474595" y="0"/>
                  </a:lnTo>
                  <a:lnTo>
                    <a:pt x="2789872" y="188595"/>
                  </a:lnTo>
                  <a:lnTo>
                    <a:pt x="3106102" y="635317"/>
                  </a:lnTo>
                  <a:lnTo>
                    <a:pt x="3415665" y="1089660"/>
                  </a:lnTo>
                  <a:lnTo>
                    <a:pt x="3730942" y="1397318"/>
                  </a:lnTo>
                  <a:lnTo>
                    <a:pt x="4046220" y="1544002"/>
                  </a:lnTo>
                  <a:lnTo>
                    <a:pt x="4362450" y="1600200"/>
                  </a:lnTo>
                  <a:lnTo>
                    <a:pt x="4949190" y="1616392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320790" y="2093595"/>
              <a:ext cx="4949190" cy="2270760"/>
            </a:xfrm>
            <a:custGeom>
              <a:avLst/>
              <a:gdLst/>
              <a:ahLst/>
              <a:cxnLst/>
              <a:rect l="l" t="t" r="r" b="b"/>
              <a:pathLst>
                <a:path w="4949190" h="2270760">
                  <a:moveTo>
                    <a:pt x="0" y="1632585"/>
                  </a:moveTo>
                  <a:lnTo>
                    <a:pt x="593407" y="1761172"/>
                  </a:lnTo>
                  <a:lnTo>
                    <a:pt x="902970" y="1987868"/>
                  </a:lnTo>
                  <a:lnTo>
                    <a:pt x="1218247" y="2270760"/>
                  </a:lnTo>
                  <a:lnTo>
                    <a:pt x="1534478" y="2270760"/>
                  </a:lnTo>
                  <a:lnTo>
                    <a:pt x="1849755" y="1617345"/>
                  </a:lnTo>
                  <a:lnTo>
                    <a:pt x="2159317" y="548640"/>
                  </a:lnTo>
                  <a:lnTo>
                    <a:pt x="2474595" y="0"/>
                  </a:lnTo>
                  <a:lnTo>
                    <a:pt x="2789872" y="548640"/>
                  </a:lnTo>
                  <a:lnTo>
                    <a:pt x="3106102" y="1617345"/>
                  </a:lnTo>
                  <a:lnTo>
                    <a:pt x="3415665" y="2270760"/>
                  </a:lnTo>
                  <a:lnTo>
                    <a:pt x="3730942" y="2270760"/>
                  </a:lnTo>
                  <a:lnTo>
                    <a:pt x="4046220" y="1987868"/>
                  </a:lnTo>
                  <a:lnTo>
                    <a:pt x="4362450" y="1761172"/>
                  </a:lnTo>
                  <a:lnTo>
                    <a:pt x="4949190" y="163258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93230" y="24745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正态分布型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82225" y="450151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墨西哥帽型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82066" y="453675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抑制区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84832" y="4780598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到获胜节点的网格距离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991225"/>
              <a:ext cx="97280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邻域函数决定“影响谁、影响多少”。它和权值更新式相乘，所以邻域内的节点更新幅度大，邻域外几乎不动。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0896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477" y="407194"/>
              <a:ext cx="3070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自组织特征映射神经网络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学习率和邻域半径都要随迭代衰减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482884" cy="278702"/>
            <a:chOff x="526161" y="1547336"/>
            <a:chExt cx="848288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482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迭代次数增加时，学习率 η 应逐步减小以促进收敛，邻域半径 σ 也应逐渐缩小，好更细地调整权重。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96"/>
              <p:cNvSpPr txBox="1">
                <a:spLocks noGrp="1"/>
              </p:cNvSpPr>
              <p:nvPr/>
            </p:nvSpPr>
            <p:spPr>
              <a:xfrm>
                <a:off x="533400" y="1941195"/>
                <a:ext cx="5193982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η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2" name="c1-text-2"/>
          <p:cNvGrpSpPr/>
          <p:nvPr/>
        </p:nvGrpSpPr>
        <p:grpSpPr>
          <a:xfrm>
            <a:off x="527685" y="2623661"/>
            <a:ext cx="3837402" cy="483871"/>
            <a:chOff x="527685" y="2623661"/>
            <a:chExt cx="3837402" cy="483871"/>
          </a:xfrm>
        </p:grpSpPr>
        <p:sp>
          <p:nvSpPr>
            <p:cNvPr id="10" name="TextBox 10"/>
            <p:cNvSpPr txBox="1"/>
            <p:nvPr/>
          </p:nvSpPr>
          <p:spPr>
            <a:xfrm>
              <a:off x="527685" y="2623661"/>
              <a:ext cx="2235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是总迭代次数，t 是当前轮次。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7685" y="2887504"/>
              <a:ext cx="3837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T/2 时两者降到初值的一半，t = T 时降到三分之一。</a:t>
              </a:r>
            </a:p>
          </p:txBody>
        </p:sp>
      </p:grpSp>
      <p:grpSp>
        <p:nvGrpSpPr>
          <p:cNvPr id="38" name="c1-table-3"/>
          <p:cNvGrpSpPr/>
          <p:nvPr/>
        </p:nvGrpSpPr>
        <p:grpSpPr>
          <a:xfrm>
            <a:off x="528066" y="3238500"/>
            <a:ext cx="5199316" cy="2308479"/>
            <a:chOff x="528066" y="3238500"/>
            <a:chExt cx="5199316" cy="2308479"/>
          </a:xfrm>
        </p:grpSpPr>
        <p:sp>
          <p:nvSpPr>
            <p:cNvPr id="13" name="Rectangle 13"/>
            <p:cNvSpPr/>
            <p:nvPr/>
          </p:nvSpPr>
          <p:spPr>
            <a:xfrm>
              <a:off x="533400" y="3238500"/>
              <a:ext cx="519398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63294" y="33628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20516" y="336280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η(t)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38838" y="336280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σ(t)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3412" y="37685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91702" y="376856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09072" y="376856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4.000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0452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0500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417433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91702" y="417433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0.3333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09072" y="417433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2.667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4510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458009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91702" y="458009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09072" y="458009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2.000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8567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86156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98586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91702" y="498586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0.1667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09072" y="49858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1.333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238500"/>
              <a:ext cx="5193982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086928" y="32385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904298" y="32385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066" y="5341620"/>
              <a:ext cx="2009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T = 1000，η₀ = 0.5，σ₀ = 4</a:t>
              </a:r>
            </a:p>
          </p:txBody>
        </p:sp>
      </p:grpSp>
      <p:grpSp>
        <p:nvGrpSpPr>
          <p:cNvPr id="46" name="c2-graph-1"/>
          <p:cNvGrpSpPr/>
          <p:nvPr/>
        </p:nvGrpSpPr>
        <p:grpSpPr>
          <a:xfrm>
            <a:off x="6407468" y="2179796"/>
            <a:ext cx="4988242" cy="1987868"/>
            <a:chOff x="6407468" y="2179796"/>
            <a:chExt cx="4988242" cy="1987868"/>
          </a:xfrm>
        </p:grpSpPr>
        <p:sp>
          <p:nvSpPr>
            <p:cNvPr id="39" name="Freeform 39"/>
            <p:cNvSpPr/>
            <p:nvPr/>
          </p:nvSpPr>
          <p:spPr>
            <a:xfrm>
              <a:off x="6407468" y="3930968"/>
              <a:ext cx="4988242" cy="9525"/>
            </a:xfrm>
            <a:custGeom>
              <a:avLst/>
              <a:gdLst/>
              <a:ahLst/>
              <a:cxnLst/>
              <a:rect l="l" t="t" r="r" b="b"/>
              <a:pathLst>
                <a:path w="4988242" h="9525">
                  <a:moveTo>
                    <a:pt x="0" y="0"/>
                  </a:moveTo>
                  <a:lnTo>
                    <a:pt x="498824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595110" y="2289810"/>
              <a:ext cx="9525" cy="1620202"/>
            </a:xfrm>
            <a:custGeom>
              <a:avLst/>
              <a:gdLst/>
              <a:ahLst/>
              <a:cxnLst/>
              <a:rect l="l" t="t" r="r" b="b"/>
              <a:pathLst>
                <a:path w="9525" h="1620202">
                  <a:moveTo>
                    <a:pt x="0" y="162020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633210" y="2463165"/>
              <a:ext cx="4536758" cy="968692"/>
            </a:xfrm>
            <a:custGeom>
              <a:avLst/>
              <a:gdLst/>
              <a:ahLst/>
              <a:cxnLst/>
              <a:rect l="l" t="t" r="r" b="b"/>
              <a:pathLst>
                <a:path w="4536758" h="968692">
                  <a:moveTo>
                    <a:pt x="0" y="0"/>
                  </a:moveTo>
                  <a:lnTo>
                    <a:pt x="422910" y="227647"/>
                  </a:lnTo>
                  <a:lnTo>
                    <a:pt x="883920" y="404812"/>
                  </a:lnTo>
                  <a:lnTo>
                    <a:pt x="1345883" y="536257"/>
                  </a:lnTo>
                  <a:lnTo>
                    <a:pt x="1806893" y="639127"/>
                  </a:lnTo>
                  <a:lnTo>
                    <a:pt x="2267902" y="723900"/>
                  </a:lnTo>
                  <a:lnTo>
                    <a:pt x="2729865" y="791527"/>
                  </a:lnTo>
                  <a:lnTo>
                    <a:pt x="3190875" y="847725"/>
                  </a:lnTo>
                  <a:lnTo>
                    <a:pt x="3652838" y="894397"/>
                  </a:lnTo>
                  <a:lnTo>
                    <a:pt x="4113848" y="936307"/>
                  </a:lnTo>
                  <a:lnTo>
                    <a:pt x="4536758" y="968692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49908" y="2179796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η(t)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29146" y="40057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14489" y="2367439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前期大步走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52964" y="3139916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后期慢慢磨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032182" y="4456748"/>
            <a:ext cx="5626418" cy="1226820"/>
            <a:chOff x="6032182" y="4456748"/>
            <a:chExt cx="5626418" cy="1226820"/>
          </a:xfrm>
        </p:grpSpPr>
        <p:sp>
          <p:nvSpPr>
            <p:cNvPr id="47" name="Rectangle 47"/>
            <p:cNvSpPr/>
            <p:nvPr/>
          </p:nvSpPr>
          <p:spPr>
            <a:xfrm>
              <a:off x="6032182" y="4456748"/>
              <a:ext cx="5626418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41708" y="4590098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62688" y="464915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6127" y="468344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两个阶段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13080" y="468915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先排序，后微调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55830" y="5023485"/>
              <a:ext cx="48657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 η 和 σ 都大，网格整体被拽到数据分布上，叫排序阶段；后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期两者都小，节点在各自位置上做局部微调，叫收敛阶段。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4" name="Rectangle 5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3610"/>
              <a:ext cx="8891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σ 衰减太快，网格来不及展开就被冻住，会出现扭结；衰减太慢，后期网格还在整体晃动，细节永远调不出来。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81332" cy="909257"/>
            <a:chOff x="520446" y="342900"/>
            <a:chExt cx="79813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0896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477" y="407194"/>
              <a:ext cx="3070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自组织特征映射神经网络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813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SOM 与 k-means：多更新了邻居，于是保住了拓扑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842635" cy="2150745"/>
            <a:chOff x="533400" y="1524000"/>
            <a:chExt cx="5842635" cy="21507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7926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08886" y="1655445"/>
              <a:ext cx="699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k-means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47046" y="1655445"/>
              <a:ext cx="379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更新范围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24622" y="208502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只更新获胜中心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03002" y="208502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获胜节点加它的邻域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节点关系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24622" y="251555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中心之间互相独立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03002" y="251555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节点排在固定网格上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24622" y="294608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一组互不相干的簇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03002" y="294608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一张保持邻近关系的图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94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4421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375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24622" y="3375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03002" y="33756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聚类加可视化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842635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81451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09289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llout-2"/>
          <p:cNvGrpSpPr/>
          <p:nvPr/>
        </p:nvGrpSpPr>
        <p:grpSpPr>
          <a:xfrm>
            <a:off x="533400" y="3860482"/>
            <a:ext cx="5842635" cy="1504950"/>
            <a:chOff x="533400" y="3860482"/>
            <a:chExt cx="5842635" cy="1504950"/>
          </a:xfrm>
        </p:grpSpPr>
        <p:sp>
          <p:nvSpPr>
            <p:cNvPr id="32" name="Rectangle 32"/>
            <p:cNvSpPr/>
            <p:nvPr/>
          </p:nvSpPr>
          <p:spPr>
            <a:xfrm>
              <a:off x="533400" y="3860482"/>
              <a:ext cx="5842635" cy="1504950"/>
            </a:xfrm>
            <a:prstGeom prst="roundRect">
              <a:avLst>
                <a:gd name="adj" fmla="val 759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4512947"/>
              <a:ext cx="200023" cy="200023"/>
              <a:chOff x="738188" y="4512947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45129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45796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4250531"/>
              <a:ext cx="491070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邻域半径衰减到 0 之后，SOM 的更新式就退化成 k-means 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在线版本。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拓扑保持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这件事全靠前期那段半径还大的时间挣出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来。</a:t>
              </a:r>
            </a:p>
          </p:txBody>
        </p:sp>
      </p:grpSp>
      <p:grpSp>
        <p:nvGrpSpPr>
          <p:cNvPr id="40" name="c2-image-1"/>
          <p:cNvGrpSpPr/>
          <p:nvPr/>
        </p:nvGrpSpPr>
        <p:grpSpPr>
          <a:xfrm>
            <a:off x="7957807" y="1524000"/>
            <a:ext cx="2423820" cy="2115979"/>
            <a:chOff x="7957807" y="1524000"/>
            <a:chExt cx="2423820" cy="2115979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rcRect l="13" t="0" r="13" b="0"/>
            <a:stretch>
              <a:fillRect/>
            </a:stretch>
          </p:blipFill>
          <p:spPr>
            <a:xfrm>
              <a:off x="7968615" y="1524000"/>
              <a:ext cx="2402205" cy="1802130"/>
            </a:xfrm>
            <a:prstGeom prst="roundRect">
              <a:avLst>
                <a:gd name="adj" fmla="val 7399"/>
              </a:avLst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957807" y="341995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拉住一个结，周围的结跟着挪一小段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680835" y="3800475"/>
            <a:ext cx="4977765" cy="1564958"/>
            <a:chOff x="6680835" y="3800475"/>
            <a:chExt cx="4977765" cy="1564958"/>
          </a:xfrm>
        </p:grpSpPr>
        <p:sp>
          <p:nvSpPr>
            <p:cNvPr id="41" name="Rectangle 41"/>
            <p:cNvSpPr/>
            <p:nvPr/>
          </p:nvSpPr>
          <p:spPr>
            <a:xfrm>
              <a:off x="6680835" y="3800475"/>
              <a:ext cx="497776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90360" y="3933825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22770" y="40043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13931" y="40400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24179" y="404383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训练过程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15531" y="4396264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网格初始位置是随机的；每来一个样本，最近的节点被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拉过去，它在网格上的邻居也跟着挪一小段。多次迭代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之后，网格就贴合了数据的分布形状。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48" name="Rectangle 48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5753576"/>
              <a:ext cx="988809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第24页说中心的聚类选择既可以用 k-means 也可以用 SOM，原因就在这里：两者做的是同一件事，只是 SOM 顺带给出了中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心之间的排列关系。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91737" cy="909257"/>
            <a:chOff x="520446" y="342900"/>
            <a:chExt cx="61917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0896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477" y="407194"/>
              <a:ext cx="3070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 · 自组织特征映射神经网络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917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U-Matrix 与实例：从权值看出簇的边界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564958"/>
            <a:chOff x="533400" y="1524000"/>
            <a:chExt cx="5410200" cy="1564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1098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统一距离矩阵 U-Matrix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5742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U-Matrix 的每个元素是 SOM 网格中相邻节点权向量之间的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平均距离，可以用欧氏距离、曼哈顿距离或别的度量。可视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化时用颜色深浅表示距离大小。</a:t>
              </a:r>
            </a:p>
          </p:txBody>
        </p:sp>
      </p:grpSp>
      <p:grpSp>
        <p:nvGrpSpPr>
          <p:cNvPr id="23" name="c1-bullets-2"/>
          <p:cNvGrpSpPr/>
          <p:nvPr/>
        </p:nvGrpSpPr>
        <p:grpSpPr>
          <a:xfrm>
            <a:off x="533400" y="3285172"/>
            <a:ext cx="4893221" cy="949739"/>
            <a:chOff x="533400" y="3285172"/>
            <a:chExt cx="4893221" cy="949739"/>
          </a:xfrm>
        </p:grpSpPr>
        <p:sp>
          <p:nvSpPr>
            <p:cNvPr id="14" name="Ellipse 14"/>
            <p:cNvSpPr/>
            <p:nvPr/>
          </p:nvSpPr>
          <p:spPr>
            <a:xfrm>
              <a:off x="533400" y="328517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1745" y="332551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4293" y="329803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颜色一致、平滑的区域对应一个聚类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614738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1745" y="365507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4293" y="3626644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高值（深色）区域是簇与簇之间的边界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394430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1745" y="398368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4293" y="395620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把它和输出节点的位置对照，就能读出数据的组织方式</a:t>
              </a:r>
            </a:p>
          </p:txBody>
        </p:sp>
      </p:grpSp>
      <p:grpSp>
        <p:nvGrpSpPr>
          <p:cNvPr id="30" name="c1-callout-3"/>
          <p:cNvGrpSpPr/>
          <p:nvPr/>
        </p:nvGrpSpPr>
        <p:grpSpPr>
          <a:xfrm>
            <a:off x="533400" y="4364355"/>
            <a:ext cx="5410200" cy="1122998"/>
            <a:chOff x="533400" y="4364355"/>
            <a:chExt cx="5410200" cy="1122998"/>
          </a:xfrm>
        </p:grpSpPr>
        <p:sp>
          <p:nvSpPr>
            <p:cNvPr id="24" name="Rectangle 24"/>
            <p:cNvSpPr/>
            <p:nvPr/>
          </p:nvSpPr>
          <p:spPr>
            <a:xfrm>
              <a:off x="533400" y="4364355"/>
              <a:ext cx="5410200" cy="1122998"/>
            </a:xfrm>
            <a:prstGeom prst="roundRect">
              <a:avLst>
                <a:gd name="adj" fmla="val 1017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825365"/>
              <a:ext cx="200026" cy="200025"/>
              <a:chOff x="738188" y="4825365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48253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48698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49809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511" y="4563904"/>
              <a:ext cx="447789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竞争层节点本身只告诉你“样本落在哪个格子”，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U-Matrix 才告诉你“哪些格子属于同一簇”。两张图要配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着看。</a:t>
              </a:r>
            </a:p>
          </p:txBody>
        </p:sp>
      </p:grpSp>
      <p:grpSp>
        <p:nvGrpSpPr>
          <p:cNvPr id="45" name="c2-table-1"/>
          <p:cNvGrpSpPr/>
          <p:nvPr/>
        </p:nvGrpSpPr>
        <p:grpSpPr>
          <a:xfrm>
            <a:off x="6248400" y="1524000"/>
            <a:ext cx="5410200" cy="1933575"/>
            <a:chOff x="6248400" y="1524000"/>
            <a:chExt cx="5410200" cy="193357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25223" y="1655445"/>
              <a:ext cx="12104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SOM 实例：Iris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6790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53747" y="208502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17826" y="2085022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150，实数属性，无缺失值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53747" y="251555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17826" y="2515552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4（花萼与花瓣的长度和宽度）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53747" y="305276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17826" y="2946082"/>
              <a:ext cx="28849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个亚属：山鸢尾、变色鸢尾、维吉尼亚鸢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1524000"/>
              <a:ext cx="5410200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407718" y="152400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2"/>
          <p:cNvGrpSpPr/>
          <p:nvPr/>
        </p:nvGrpSpPr>
        <p:grpSpPr>
          <a:xfrm>
            <a:off x="6248400" y="3643312"/>
            <a:ext cx="5410200" cy="1844040"/>
            <a:chOff x="6248400" y="3643312"/>
            <a:chExt cx="5410200" cy="1844040"/>
          </a:xfrm>
        </p:grpSpPr>
        <p:sp>
          <p:nvSpPr>
            <p:cNvPr id="46" name="Rectangle 46"/>
            <p:cNvSpPr/>
            <p:nvPr/>
          </p:nvSpPr>
          <p:spPr>
            <a:xfrm>
              <a:off x="6248400" y="3643312"/>
              <a:ext cx="5410200" cy="1844040"/>
            </a:xfrm>
            <a:prstGeom prst="roundRect">
              <a:avLst>
                <a:gd name="adj" fmla="val 72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57925" y="3776662"/>
              <a:ext cx="47625" cy="15773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90335" y="384714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72644" y="38828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实现细节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75588" y="388667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初始化与预处理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97955" y="429863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54546" y="4239101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权重初始化有三种：随机、用初始样本、线性初始化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97955" y="461867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54546" y="455914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优胜节点是与样本距离最近的竞争层节点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84239" y="4874895"/>
              <a:ext cx="46908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预处理时把每个特征标准化到均值 0、标准差 1，各特征的贡献才一样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7" name="Rectangle 5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511" y="6004084"/>
              <a:ext cx="101275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Iris 只有 4 维，摊到二维网格上之后，U-Matrix 显示山鸢尾单独占一块区域，另外两个亚属挨得很近，边界并不清晰。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自测题（一）概念与结构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175809" cy="278702"/>
            <a:chOff x="526161" y="1547336"/>
            <a:chExt cx="517580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先自己写出答案，再对照。带计算的题请把每一步都写出来。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768792"/>
            <a:chOff x="533400" y="1941195"/>
            <a:chExt cx="5410200" cy="176879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径向基函数的三个参数是什么？各自控制什么？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2792730"/>
              <a:ext cx="47457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 c 决定隐单元对哪一片输入最敏感；距离度量 r = ||x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c|| 把 n 维输入压成一个标量，一般取欧氏距离；形状 φ 决定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响应随距离衰减的方式，高斯核里再由 δ 控制衰减快慢。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86200"/>
            <a:ext cx="5410200" cy="1768792"/>
            <a:chOff x="533400" y="3886200"/>
            <a:chExt cx="5410200" cy="1768792"/>
          </a:xfrm>
        </p:grpSpPr>
        <p:sp>
          <p:nvSpPr>
            <p:cNvPr id="15" name="Rectangle 15"/>
            <p:cNvSpPr/>
            <p:nvPr/>
          </p:nvSpPr>
          <p:spPr>
            <a:xfrm>
              <a:off x="533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434840"/>
              <a:ext cx="48664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Micchelli 定理的条件是什么？完全内插为什么还是不好用？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737735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条件是 N 个样本点两两不同，此时 Φ 非奇异，W = Φ⁻¹d 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唯一解。不好用有两条：曲面被迫穿过每个带噪样本，泛化差；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隐单元数等于样本数，N 大时 Φ 病态也算不动。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1768792"/>
            <a:chOff x="6248400" y="1941195"/>
            <a:chExt cx="5410200" cy="1768792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4563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为什么说 RBF 隐单元有“局部特性”，MLP 隐单元没有？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2792730"/>
              <a:ext cx="48314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RBF 隐单元先算距离再过钟形函数，输入离中心两三个 δ 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外输出已接近 0；MLP 隐单元先算内积再过 Sigmoid，内积是整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个空间上的线性函数，任何输入都会得到不接近 0 的输出。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886200"/>
            <a:ext cx="5410200" cy="1768792"/>
            <a:chOff x="6248400" y="3886200"/>
            <a:chExt cx="5410200" cy="1768792"/>
          </a:xfrm>
        </p:grpSpPr>
        <p:sp>
          <p:nvSpPr>
            <p:cNvPr id="27" name="Rectangle 27"/>
            <p:cNvSpPr/>
            <p:nvPr/>
          </p:nvSpPr>
          <p:spPr>
            <a:xfrm>
              <a:off x="6248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434840"/>
              <a:ext cx="3556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广义 RBF 网络相对完全内插放宽了哪四条？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4737735"/>
              <a:ext cx="478002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M 与 N 不同，一般 M ≪ N；2. 中心不再限制在样本点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上；3. 各基函数的扩展常数不再统一；4. 输出的线性组合里加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一个阈值 w₀。后三条都由训练确定。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7811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 题的两条毛病对应两条改法：加正则项得到正则化 RBF 网络，减隐单元得到广义 RBF 网络。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自测题（二）计算与易错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14525"/>
            <a:chOff x="533400" y="1524000"/>
            <a:chExt cx="5410200" cy="19145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475198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c₁ = (1,1)、c₂ = (0,0)，φᵢ(x) = exp(−||x − cᵢ||²)。算出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(0,1) 与 (1,0) 的 φ 向量。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573179"/>
              <a:ext cx="48084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(0,1) 到两个中心的距离平方都是 1，故 φ = (0.3679,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0.3679)；(1,0) 完全一样，两点在 φ 空间重合。它们本是 XOR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同一类，压到一起反而好分，直线 φ₁ + φ₂ = 1 即可分开两类。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03308"/>
            <a:ext cx="5410200" cy="1914525"/>
            <a:chOff x="533400" y="3603308"/>
            <a:chExt cx="5410200" cy="1914525"/>
          </a:xfrm>
        </p:grpSpPr>
        <p:sp>
          <p:nvSpPr>
            <p:cNvPr id="13" name="Rectangle 13"/>
            <p:cNvSpPr/>
            <p:nvPr/>
          </p:nvSpPr>
          <p:spPr>
            <a:xfrm>
              <a:off x="533400" y="3603308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37842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38171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4124801"/>
              <a:ext cx="392618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归一化权向量 (1,0)、(0,1)、(0.6,0.8)，样本 x =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(0.8,0.6)，α = 0.5。谁获胜？更新一步。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4652486"/>
              <a:ext cx="48166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点积 0.80、0.60、0.96，w₃ 获胜（距离 0.6325、0.8944、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0.2828 同样是它最小）。更新得 (0.7,0.7)，归一化为 (0.7071,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0.7071)，新点积 0.9899 大于原来的 0.96。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14525"/>
            <a:chOff x="6248400" y="1524000"/>
            <a:chExt cx="5410200" cy="191452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29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18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2898" y="2045494"/>
              <a:ext cx="468614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个中心，d_max = 6，用 δ = d_max/√(2M) 算 δ；中心增到 9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个呢？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2898" y="2573179"/>
              <a:ext cx="47678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4 时 δ = 6/√8 = 2.1213；M = 9 时 δ = 6/√18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1.4142。中心数从 4 增到 9，宽度缩到原来的 2/3，隐单元之间的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重叠程度大体不变。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03308"/>
            <a:ext cx="5410200" cy="1914525"/>
            <a:chOff x="6248400" y="3603308"/>
            <a:chExt cx="5410200" cy="191452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03308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29375" y="37842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18832" y="38171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2898" y="4124801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用点积代替距离选获胜神经元，前提是什么？不满足会怎样？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2898" y="4409599"/>
              <a:ext cx="47597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前提是样本和所有权向量都已归一化。此时 ||X̂ − Ŵ||² = 2(1 −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ŴᵀX̂)，距离最小等价于点积最大。不归一化时模长大的神经元无条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件获胜，其余神经元永远学不到东西，这叫死神经元。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1" name="Rectangle 3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1273" y="6039326"/>
              <a:ext cx="5654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 题的易错点是把 √(2M) 看成 2M；第 3 题更新完别忘了重新归一化。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725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0191" y="407194"/>
              <a:ext cx="1219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RBF与SOM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3525"/>
            <a:ext cx="5279796" cy="2019585"/>
            <a:chOff x="533400" y="1533525"/>
            <a:chExt cx="5279796" cy="2019585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径向基函数只看到中心的距离，三个参数是中心、距离度量、形状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4174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扩展常数 δ 决定隐单元的管辖范围，局部特性由此而来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2026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31219"/>
              <a:ext cx="4910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完全内插以样本为中心，解 ΦW = d，可逆条件是样本点两两不同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1363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2458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完全内插怕噪声也怕样本多，改法是正则化或减少隐单元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0605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2717006"/>
              <a:ext cx="44669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升到 M 维 φ 空间后用超平面切，XOR 两个高斯基函数就够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99942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5307" y="30350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3148" y="3010376"/>
              <a:ext cx="49391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三类参数：中心可选可聚类可监督学习，输出权值用 LMS 或伪逆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329279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5307" y="33274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3148" y="3303746"/>
              <a:ext cx="4920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SOM 靠竞争学习和优胜邻域，把高维数据摊成保拓扑的二维网格</a:t>
              </a:r>
            </a:p>
          </p:txBody>
        </p:sp>
      </p:grpSp>
      <p:grpSp>
        <p:nvGrpSpPr>
          <p:cNvPr id="41" name="c1-card-2"/>
          <p:cNvGrpSpPr/>
          <p:nvPr/>
        </p:nvGrpSpPr>
        <p:grpSpPr>
          <a:xfrm>
            <a:off x="533400" y="3667125"/>
            <a:ext cx="5842635" cy="1835468"/>
            <a:chOff x="533400" y="3667125"/>
            <a:chExt cx="5842635" cy="1835468"/>
          </a:xfrm>
        </p:grpSpPr>
        <p:sp>
          <p:nvSpPr>
            <p:cNvPr id="29" name="Rectangle 29"/>
            <p:cNvSpPr/>
            <p:nvPr/>
          </p:nvSpPr>
          <p:spPr>
            <a:xfrm>
              <a:off x="533400" y="3667125"/>
              <a:ext cx="5842635" cy="1835468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800475"/>
              <a:ext cx="47625" cy="15687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384810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4642" y="388096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24148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188619"/>
              <a:ext cx="53160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Micchelli 可逆条件说的是样本点两两不同，B 版写成基函数（13 页）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452628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473416"/>
              <a:ext cx="53655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反演 S 型应为 1/(1+exp(r²/δ²))，B 版少了负号会单调递增（5 页）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2000" y="481107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7448" y="4758214"/>
              <a:ext cx="48593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广义 RBF 的阈值是加项 w₀，B 版写成乘在求和外的 α（20 页）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62000" y="509587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7448" y="5043964"/>
              <a:ext cx="4441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求和下标 i 与被加项下标 m 不一致，全章统一为 i（9 页）</a:t>
              </a:r>
            </a:p>
          </p:txBody>
        </p:sp>
      </p:grpSp>
      <p:grpSp>
        <p:nvGrpSpPr>
          <p:cNvPr id="67" name="c2-table-1"/>
          <p:cNvGrpSpPr/>
          <p:nvPr/>
        </p:nvGrpSpPr>
        <p:grpSpPr>
          <a:xfrm>
            <a:off x="6680835" y="1524000"/>
            <a:ext cx="4977765" cy="2669858"/>
            <a:chOff x="6680835" y="1524000"/>
            <a:chExt cx="4977765" cy="2669858"/>
          </a:xfrm>
        </p:grpSpPr>
        <p:sp>
          <p:nvSpPr>
            <p:cNvPr id="42" name="Rectangle 42"/>
            <p:cNvSpPr/>
            <p:nvPr/>
          </p:nvSpPr>
          <p:spPr>
            <a:xfrm>
              <a:off x="6680835" y="1524000"/>
              <a:ext cx="497776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8185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00057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75514" y="2023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径向基函数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69961" y="2023110"/>
              <a:ext cx="2477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φ(x) = φ(||x − c||)，只看到中心的距离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80835" y="2282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80835" y="228695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75514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插值矩阵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69961" y="2404110"/>
              <a:ext cx="27246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φᵢₚ = φ(||x⁽ⁱ⁾ − x⁽ᵖ⁾||)，样本互异则可逆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0835" y="2663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75514" y="2785110"/>
              <a:ext cx="599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广义 RBF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69961" y="2785110"/>
              <a:ext cx="24615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≪ N，中心与 δ 由训练定，输出加 w₀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80835" y="3045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80835" y="3049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75514" y="3167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伪逆法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69961" y="3167062"/>
              <a:ext cx="2234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(Φ̂ᵀΦ̂)⁻¹Φ̂ᵀd，输出层一步到位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680835" y="3426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75514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胜者为王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69961" y="354806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归一化后点积最大者获胜并更新权值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680835" y="3807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680835" y="3811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75514" y="3930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优胜邻域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69961" y="3930015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赢家的邻居也更新，幅度按距离递减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680835" y="1524000"/>
              <a:ext cx="497776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97052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card-2"/>
          <p:cNvGrpSpPr/>
          <p:nvPr/>
        </p:nvGrpSpPr>
        <p:grpSpPr>
          <a:xfrm>
            <a:off x="6680835" y="4358640"/>
            <a:ext cx="4977765" cy="1143952"/>
            <a:chOff x="6680835" y="4358640"/>
            <a:chExt cx="4977765" cy="1143952"/>
          </a:xfrm>
        </p:grpSpPr>
        <p:sp>
          <p:nvSpPr>
            <p:cNvPr id="68" name="Rectangle 68"/>
            <p:cNvSpPr/>
            <p:nvPr/>
          </p:nvSpPr>
          <p:spPr>
            <a:xfrm>
              <a:off x="6680835" y="4358640"/>
              <a:ext cx="4977765" cy="1143952"/>
            </a:xfrm>
            <a:prstGeom prst="roundRect">
              <a:avLst>
                <a:gd name="adj" fmla="val 11657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61810" y="453961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950431" y="457247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55333" y="4879181"/>
              <a:ext cx="43451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第6章的支持向量机还会用“升维之后线性可分”这个思路，只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是那里不显式构造 φ，而用核函数直接算内积。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3" name="Rectangle 7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1273" y="6039326"/>
              <a:ext cx="9488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复习时动手做三件事：把第14页的插值矩阵解一遍，把第19、27页的 XOR 从升维算到权值，把第42页的竞争学习手推一步。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第5章 径向基函数与自组织映射网络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l_ch05">
  <a:themeElements>
    <a:clrScheme name="ml_ch0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l_ch0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l_ch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2026-09-19T13:53:34Z</dcterms:created>
  <dcterms:modified xsi:type="dcterms:W3CDTF">2026-09-19T13:53:34Z</dcterms:modified>
  <cp:category/>
  <cp:contentStatus/>
</cp:coreProperties>
</file>