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a5f8c216cfcdb9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ad8b8b123195155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c69b9de3e7f9325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第二章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怎样从数据里解出一条最好的直线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最小二乘与正规方程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梯度下降与学习率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概率解释与最大似然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加权回归与正则化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83290" cy="205359"/>
            <a:chOff x="680466" y="6192202"/>
            <a:chExt cx="498329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832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自学复习版｜据吉林大学《机器学习》A、B 两版第2章课件合并整理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从数据到一条直线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监督学习范式、线性模型、代价函数、特征规范化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最小二乘与正规方程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矩阵形式求导，一步得到闭式解，附两道完整例题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80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更新式推导、BGD 与 SGD、学习率、凸性保证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概率解释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误差服从高斯分布时，最大似然就是最小二乘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两种扩展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局部加权线性回归、用基函数做非线性回归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若干讨论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96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离群点、过拟合、正则化、评价指标与 Python 实现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把一批样本写成矩阵 X 与向量 Y，并写出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J(Θ) 的矩阵形式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推导正规方程，说明 XᵀX 什么时候不可逆以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及怎么补救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手算一步批梯度下降，并判断学习率取大了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会发生什么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说明平方误差与高斯噪声下的最大似然估计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是同一回事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区分岭回归与 LASSO，知道各自的惩罚项和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解的形态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2" name="section-title"/>
          <p:cNvGrpSpPr/>
          <p:nvPr/>
        </p:nvGrpSpPr>
        <p:grpSpPr>
          <a:xfrm>
            <a:off x="667512" y="1835468"/>
            <a:ext cx="5801868" cy="4060507"/>
            <a:chOff x="667512" y="1835468"/>
            <a:chExt cx="5801868" cy="406050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从数据到一条直线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先把监督学习的框架摆好，再看线性模型在框架里占哪一格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监督学习的一般范式与五个术语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看输出 y 的取值判断回归还是分类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线性模型 h(x) 与本章记号约定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建模三步：定函数集、评估、挑最优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代价函数为什么用误差平方和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56597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56026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特征规范化：把量纲拉平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监督学习：拿训练集喂给算法，得到一个能用的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训练阶段产出的是一个函数 h，预测阶段才把新样本送进 h 算出结果。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666750" y="2084070"/>
            <a:ext cx="5359718" cy="2189798"/>
            <a:chOff x="666750" y="2084070"/>
            <a:chExt cx="5359718" cy="2189798"/>
          </a:xfrm>
        </p:grpSpPr>
        <p:sp>
          <p:nvSpPr>
            <p:cNvPr id="9" name="Freeform 9"/>
            <p:cNvSpPr/>
            <p:nvPr/>
          </p:nvSpPr>
          <p:spPr>
            <a:xfrm>
              <a:off x="3347085" y="2636520"/>
              <a:ext cx="9525" cy="296227"/>
            </a:xfrm>
            <a:custGeom>
              <a:avLst/>
              <a:gdLst/>
              <a:ahLst/>
              <a:cxnLst/>
              <a:rect l="l" t="t" r="r" b="b"/>
              <a:pathLst>
                <a:path w="9525" h="296227">
                  <a:moveTo>
                    <a:pt x="0" y="0"/>
                  </a:moveTo>
                  <a:lnTo>
                    <a:pt x="0" y="2962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4698" y="2932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3409950"/>
              <a:ext cx="9525" cy="386715"/>
            </a:xfrm>
            <a:custGeom>
              <a:avLst/>
              <a:gdLst/>
              <a:ahLst/>
              <a:cxnLst/>
              <a:rect l="l" t="t" r="r" b="b"/>
              <a:pathLst>
                <a:path w="9525" h="386715">
                  <a:moveTo>
                    <a:pt x="0" y="0"/>
                  </a:moveTo>
                  <a:lnTo>
                    <a:pt x="0" y="386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94698" y="37966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75522" y="408717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37448" y="4034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0995" y="408717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12920" y="4034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542222" y="2084070"/>
              <a:ext cx="160877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42222" y="3037522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42222" y="3901440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66750" y="3901440"/>
              <a:ext cx="1608772" cy="372427"/>
            </a:xfrm>
            <a:custGeom>
              <a:avLst/>
              <a:gdLst/>
              <a:ahLst/>
              <a:cxnLst/>
              <a:rect l="l" t="t" r="r" b="b"/>
              <a:pathLst>
                <a:path w="1608772" h="372427">
                  <a:moveTo>
                    <a:pt x="133350" y="0"/>
                  </a:moveTo>
                  <a:lnTo>
                    <a:pt x="1608772" y="0"/>
                  </a:lnTo>
                  <a:lnTo>
                    <a:pt x="1475422" y="372427"/>
                  </a:lnTo>
                  <a:lnTo>
                    <a:pt x="0" y="372427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417695" y="3901440"/>
              <a:ext cx="1608773" cy="372427"/>
            </a:xfrm>
            <a:custGeom>
              <a:avLst/>
              <a:gdLst/>
              <a:ahLst/>
              <a:cxnLst/>
              <a:rect l="l" t="t" r="r" b="b"/>
              <a:pathLst>
                <a:path w="1608773" h="372427">
                  <a:moveTo>
                    <a:pt x="133350" y="0"/>
                  </a:moveTo>
                  <a:lnTo>
                    <a:pt x="1608773" y="0"/>
                  </a:lnTo>
                  <a:lnTo>
                    <a:pt x="1475423" y="372427"/>
                  </a:lnTo>
                  <a:lnTo>
                    <a:pt x="0" y="372427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75026" y="2197418"/>
              <a:ext cx="9441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已知面积与价格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59049" y="31508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学习算法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40326" y="4013835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 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2827" y="4013835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新房屋面积 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7833" y="4013835"/>
              <a:ext cx="929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预测价格 h(x)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84395"/>
            <a:ext cx="5626418" cy="1623060"/>
            <a:chOff x="533400" y="4684395"/>
            <a:chExt cx="5626418" cy="1623060"/>
          </a:xfrm>
        </p:grpSpPr>
        <p:sp>
          <p:nvSpPr>
            <p:cNvPr id="28" name="Rectangle 28"/>
            <p:cNvSpPr/>
            <p:nvPr/>
          </p:nvSpPr>
          <p:spPr>
            <a:xfrm>
              <a:off x="533400" y="4684395"/>
              <a:ext cx="5626418" cy="1623060"/>
            </a:xfrm>
            <a:prstGeom prst="roundRect">
              <a:avLst>
                <a:gd name="adj" fmla="val 704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95915"/>
              <a:ext cx="200023" cy="200023"/>
              <a:chOff x="738188" y="5395915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3959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462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5289709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训练集里的每一行都给了正确答案 y，这就是这类问题被称为有监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督学习的原因。</a:t>
              </a:r>
            </a:p>
          </p:txBody>
        </p:sp>
      </p:grpSp>
      <p:grpSp>
        <p:nvGrpSpPr>
          <p:cNvPr id="48" name="c2-kv-1"/>
          <p:cNvGrpSpPr/>
          <p:nvPr/>
        </p:nvGrpSpPr>
        <p:grpSpPr>
          <a:xfrm>
            <a:off x="6458141" y="1949291"/>
            <a:ext cx="5200459" cy="2225802"/>
            <a:chOff x="6458141" y="1949291"/>
            <a:chExt cx="5200459" cy="2225802"/>
          </a:xfrm>
        </p:grpSpPr>
        <p:sp>
          <p:nvSpPr>
            <p:cNvPr id="34" name="TextBox 34"/>
            <p:cNvSpPr txBox="1"/>
            <p:nvPr/>
          </p:nvSpPr>
          <p:spPr>
            <a:xfrm>
              <a:off x="6458141" y="1949291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特征 feature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430" y="1949291"/>
              <a:ext cx="335356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样本的输入部分，记 x⁽ⁱ⁾；多个特征时 xⱼ⁽ⁱ⁾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是第 i 个样本的第 j 个分量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461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58141" y="2563654"/>
              <a:ext cx="1008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目标 target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6430" y="2563654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样本的输出部分，记 y⁽ⁱ⁾，也叫标签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835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8141" y="29370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训练样本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6430" y="2937034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一对输入输出，写作 (x⁽ⁱ⁾, y⁽ⁱ⁾)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2089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8141" y="33113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训练集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6430" y="3311366"/>
              <a:ext cx="2290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所有训练样本的集合，共 N 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5833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58141" y="3685699"/>
              <a:ext cx="1361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假设 hypothesis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16430" y="3685699"/>
              <a:ext cx="340233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学习算法输出的那个函数 h，用它对新样本作预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4289108"/>
            <a:ext cx="5193982" cy="2018348"/>
            <a:chOff x="6464618" y="4289108"/>
            <a:chExt cx="5193982" cy="2018348"/>
          </a:xfrm>
        </p:grpSpPr>
        <p:sp>
          <p:nvSpPr>
            <p:cNvPr id="49" name="Rectangle 49"/>
            <p:cNvSpPr/>
            <p:nvPr/>
          </p:nvSpPr>
          <p:spPr>
            <a:xfrm>
              <a:off x="6464618" y="4289108"/>
              <a:ext cx="5193982" cy="2018348"/>
            </a:xfrm>
            <a:prstGeom prst="roundRect">
              <a:avLst>
                <a:gd name="adj" fmla="val 66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4422458"/>
              <a:ext cx="47625" cy="17516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83692" y="447008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69214" y="45029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记号对照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9223" y="450961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本讲义与原课件的记号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93218" y="487870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8666" y="4826794"/>
              <a:ext cx="2418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样本数：本讲义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，原课件写 m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93218" y="516350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48666" y="5111591"/>
              <a:ext cx="2550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特征维数：本讲义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，原课件写 n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93218" y="544830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48666" y="5396389"/>
              <a:ext cx="2740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参数向量：Θ，分量 θ₀, θ₁, …, θ_d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693218" y="573405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48666" y="5681186"/>
              <a:ext cx="23783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学习率：本讲义 </a:t>
              </a:r>
              <a:r>
                <a:rPr lang="el-GR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，原课件写 α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78359" y="5962650"/>
              <a:ext cx="4187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第1章已把这套记号定下来，全书统一，读原课件时按这张表换算。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看一眼输出 y 的取值，就知道该用回归还是分类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33400" y="1524000"/>
            <a:ext cx="4977765" cy="1800225"/>
            <a:chOff x="533400" y="1524000"/>
            <a:chExt cx="4977765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9335" y="1659731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y 的取值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20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360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97083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是实数（连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36432" y="1982152"/>
              <a:ext cx="157353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34730" y="2221706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 regression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27310" y="22217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房价、气温、剩余寿命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431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647950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783681"/>
              <a:ext cx="67863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∈ {1,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…, C}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4730" y="2783681"/>
              <a:ext cx="11021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classification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7310" y="28970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手写数字、垃圾邮件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524000"/>
              <a:ext cx="497776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2214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1472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bullets-2"/>
          <p:cNvGrpSpPr/>
          <p:nvPr/>
        </p:nvGrpSpPr>
        <p:grpSpPr>
          <a:xfrm>
            <a:off x="525780" y="3539490"/>
            <a:ext cx="4831080" cy="1337310"/>
            <a:chOff x="525780" y="3539490"/>
            <a:chExt cx="4831080" cy="1337310"/>
          </a:xfrm>
        </p:grpSpPr>
        <p:sp>
          <p:nvSpPr>
            <p:cNvPr id="24" name="TextBox 24"/>
            <p:cNvSpPr txBox="1"/>
            <p:nvPr/>
          </p:nvSpPr>
          <p:spPr>
            <a:xfrm>
              <a:off x="525780" y="353949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本章要解决的问题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9115" y="3956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7230" y="38938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已知若干房屋的面积与成交价，预测一套新房的价格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9115" y="43014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7230" y="42386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输出是连续的钱数，属于回归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9115" y="46462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7230" y="458343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先用最简单的假设：价格随面积线性变化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008245"/>
            <a:ext cx="4977765" cy="782955"/>
            <a:chOff x="533400" y="5008245"/>
            <a:chExt cx="497776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00824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299710"/>
              <a:ext cx="200026" cy="200025"/>
              <a:chOff x="738188" y="529971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2997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3441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4552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15683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同一批特征，换一个输出就换了一类任务。第3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章的逻辑回归就是把这里的输出换成离散标签。</a:t>
              </a:r>
            </a:p>
          </p:txBody>
        </p:sp>
      </p:grpSp>
      <p:grpSp>
        <p:nvGrpSpPr>
          <p:cNvPr id="62" name="c2-tree-1"/>
          <p:cNvGrpSpPr/>
          <p:nvPr/>
        </p:nvGrpSpPr>
        <p:grpSpPr>
          <a:xfrm>
            <a:off x="5815965" y="1644015"/>
            <a:ext cx="5842635" cy="3531870"/>
            <a:chOff x="5815965" y="1644015"/>
            <a:chExt cx="5842635" cy="3531870"/>
          </a:xfrm>
        </p:grpSpPr>
        <p:sp>
          <p:nvSpPr>
            <p:cNvPr id="39" name="Freeform 39"/>
            <p:cNvSpPr/>
            <p:nvPr/>
          </p:nvSpPr>
          <p:spPr>
            <a:xfrm>
              <a:off x="8518208" y="1910715"/>
              <a:ext cx="419100" cy="386715"/>
            </a:xfrm>
            <a:custGeom>
              <a:avLst/>
              <a:gdLst/>
              <a:ahLst/>
              <a:cxnLst/>
              <a:rect l="l" t="t" r="r" b="b"/>
              <a:pathLst>
                <a:path w="419100" h="386715">
                  <a:moveTo>
                    <a:pt x="0" y="386715"/>
                  </a:moveTo>
                  <a:lnTo>
                    <a:pt x="209550" y="3867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518208" y="2297430"/>
              <a:ext cx="419100" cy="385762"/>
            </a:xfrm>
            <a:custGeom>
              <a:avLst/>
              <a:gdLst/>
              <a:ahLst/>
              <a:cxnLst/>
              <a:rect l="l" t="t" r="r" b="b"/>
              <a:pathLst>
                <a:path w="419100" h="385762">
                  <a:moveTo>
                    <a:pt x="0" y="0"/>
                  </a:moveTo>
                  <a:lnTo>
                    <a:pt x="209550" y="0"/>
                  </a:lnTo>
                  <a:lnTo>
                    <a:pt x="209550" y="385762"/>
                  </a:lnTo>
                  <a:lnTo>
                    <a:pt x="419100" y="3857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518208" y="3456622"/>
              <a:ext cx="419100" cy="773430"/>
            </a:xfrm>
            <a:custGeom>
              <a:avLst/>
              <a:gdLst/>
              <a:ahLst/>
              <a:cxnLst/>
              <a:rect l="l" t="t" r="r" b="b"/>
              <a:pathLst>
                <a:path w="419100" h="773430">
                  <a:moveTo>
                    <a:pt x="0" y="773430"/>
                  </a:moveTo>
                  <a:lnTo>
                    <a:pt x="209550" y="77343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518208" y="423005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518208" y="4230052"/>
              <a:ext cx="419100" cy="772478"/>
            </a:xfrm>
            <a:custGeom>
              <a:avLst/>
              <a:gdLst/>
              <a:ahLst/>
              <a:cxnLst/>
              <a:rect l="l" t="t" r="r" b="b"/>
              <a:pathLst>
                <a:path w="419100" h="772478">
                  <a:moveTo>
                    <a:pt x="0" y="0"/>
                  </a:moveTo>
                  <a:lnTo>
                    <a:pt x="209550" y="0"/>
                  </a:lnTo>
                  <a:lnTo>
                    <a:pt x="209550" y="772478"/>
                  </a:lnTo>
                  <a:lnTo>
                    <a:pt x="419100" y="77247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71372" y="2297430"/>
              <a:ext cx="419100" cy="965835"/>
            </a:xfrm>
            <a:custGeom>
              <a:avLst/>
              <a:gdLst/>
              <a:ahLst/>
              <a:cxnLst/>
              <a:rect l="l" t="t" r="r" b="b"/>
              <a:pathLst>
                <a:path w="419100" h="965835">
                  <a:moveTo>
                    <a:pt x="0" y="965835"/>
                  </a:moveTo>
                  <a:lnTo>
                    <a:pt x="209550" y="9658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171372" y="3263265"/>
              <a:ext cx="419100" cy="966788"/>
            </a:xfrm>
            <a:custGeom>
              <a:avLst/>
              <a:gdLst/>
              <a:ahLst/>
              <a:cxnLst/>
              <a:rect l="l" t="t" r="r" b="b"/>
              <a:pathLst>
                <a:path w="419100" h="966788">
                  <a:moveTo>
                    <a:pt x="0" y="0"/>
                  </a:moveTo>
                  <a:lnTo>
                    <a:pt x="209550" y="0"/>
                  </a:lnTo>
                  <a:lnTo>
                    <a:pt x="209550" y="966788"/>
                  </a:lnTo>
                  <a:lnTo>
                    <a:pt x="419100" y="9667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37308" y="1644015"/>
              <a:ext cx="2721292" cy="532448"/>
            </a:xfrm>
            <a:prstGeom prst="roundRect">
              <a:avLst>
                <a:gd name="adj" fmla="val 17889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937308" y="2417445"/>
              <a:ext cx="2721292" cy="532448"/>
            </a:xfrm>
            <a:prstGeom prst="roundRect">
              <a:avLst>
                <a:gd name="adj" fmla="val 17889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90472" y="2124075"/>
              <a:ext cx="928688" cy="346710"/>
            </a:xfrm>
            <a:prstGeom prst="roundRect">
              <a:avLst>
                <a:gd name="adj" fmla="val 27473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37308" y="3189922"/>
              <a:ext cx="2721292" cy="532448"/>
            </a:xfrm>
            <a:prstGeom prst="roundRect">
              <a:avLst>
                <a:gd name="adj" fmla="val 17889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37308" y="3963352"/>
              <a:ext cx="2721292" cy="532448"/>
            </a:xfrm>
            <a:prstGeom prst="roundRect">
              <a:avLst>
                <a:gd name="adj" fmla="val 17889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37308" y="4829175"/>
              <a:ext cx="272129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90472" y="4056698"/>
              <a:ext cx="928688" cy="346710"/>
            </a:xfrm>
            <a:prstGeom prst="roundRect">
              <a:avLst>
                <a:gd name="adj" fmla="val 27473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3089910"/>
              <a:ext cx="1355408" cy="346710"/>
            </a:xfrm>
            <a:prstGeom prst="roundRect">
              <a:avLst>
                <a:gd name="adj" fmla="val 2747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26842" y="1738789"/>
              <a:ext cx="580390" cy="405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线性模型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26842" y="2512219"/>
              <a:ext cx="1149350" cy="405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非线性模型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基函数、神经网络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80008" y="22188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26842" y="3284696"/>
              <a:ext cx="580390" cy="405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线性模型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26842" y="4058126"/>
              <a:ext cx="1298702" cy="405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非线性模型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SVM、决策树、K-NN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26842" y="49239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深度学习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80008" y="41514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05500" y="31846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有监督学习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5815965" y="5579745"/>
            <a:ext cx="5842635" cy="782955"/>
            <a:chOff x="5815965" y="5579745"/>
            <a:chExt cx="5842635" cy="782955"/>
          </a:xfrm>
        </p:grpSpPr>
        <p:sp>
          <p:nvSpPr>
            <p:cNvPr id="63" name="Rectangle 63"/>
            <p:cNvSpPr/>
            <p:nvPr/>
          </p:nvSpPr>
          <p:spPr>
            <a:xfrm>
              <a:off x="5815965" y="557974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020753" y="5871212"/>
              <a:ext cx="200023" cy="200023"/>
              <a:chOff x="6020753" y="5871212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020753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154103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322695" y="572833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线性模型是这张图的起点：它自己能解回归问题，加一个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映射能解分类问题，堆起来就是神经网络。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房价数据：一张表，两种用法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29300" cy="264033"/>
            <a:chOff x="526542" y="1545907"/>
            <a:chExt cx="58293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同一批房屋，只用面积就是单变量回归，再加上卧室数就是多变量回归。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8447" y="1928812"/>
            <a:ext cx="4982718" cy="2552414"/>
            <a:chOff x="528447" y="1928812"/>
            <a:chExt cx="4982718" cy="25524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5049" y="2045970"/>
              <a:ext cx="909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 (feet²)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492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卧室数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60209" y="2045970"/>
              <a:ext cx="909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价格 (1000$)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1973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3238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1973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13238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1973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13238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369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49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53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571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1973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13238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830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952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1973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13238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28812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32029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71379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4290536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只用第一列是单变量回归，两列一起用就是多变量回归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7"/>
              <p:cNvSpPr txBox="1">
                <a:spLocks noGrp="1"/>
              </p:cNvSpPr>
              <p:nvPr/>
            </p:nvSpPr>
            <p:spPr>
              <a:xfrm>
                <a:off x="533400" y="4607242"/>
                <a:ext cx="497776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50" name="c2-card-1"/>
          <p:cNvGrpSpPr/>
          <p:nvPr/>
        </p:nvGrpSpPr>
        <p:grpSpPr>
          <a:xfrm>
            <a:off x="5815965" y="1928812"/>
            <a:ext cx="5842635" cy="1976438"/>
            <a:chOff x="5815965" y="1928812"/>
            <a:chExt cx="5842635" cy="1976438"/>
          </a:xfrm>
        </p:grpSpPr>
        <p:sp>
          <p:nvSpPr>
            <p:cNvPr id="40" name="Rectangle 40"/>
            <p:cNvSpPr/>
            <p:nvPr/>
          </p:nvSpPr>
          <p:spPr>
            <a:xfrm>
              <a:off x="5815965" y="1928812"/>
              <a:ext cx="5842635" cy="1976438"/>
            </a:xfrm>
            <a:prstGeom prst="roundRect">
              <a:avLst>
                <a:gd name="adj" fmla="val 674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9694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8865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2916" y="21493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先写下要找的函数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90463" y="2465546"/>
              <a:ext cx="5231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 是权重（weight），b 是偏置（bias），两个数一定，直线就定了；写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成参数向量就是 Θ = (θ₀, θ₁)。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06465" y="30460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61913" y="2994184"/>
              <a:ext cx="2296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单变量：h(x) = θ₀ + θ₁·面积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06465" y="333089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61913" y="3278981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多变量：h(x) = θ₀ + θ₁·面积 + θ₂·卧室数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91606" y="3560445"/>
              <a:ext cx="51261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 x_la 的下标 la 是 living area 的缩写，课件沿用斯坦福 CS229 的房价数据。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5815965" y="4070032"/>
            <a:ext cx="5842635" cy="2173605"/>
            <a:chOff x="5815965" y="4070032"/>
            <a:chExt cx="5842635" cy="2173605"/>
          </a:xfrm>
        </p:grpSpPr>
        <p:sp>
          <p:nvSpPr>
            <p:cNvPr id="51" name="Rectangle 51"/>
            <p:cNvSpPr/>
            <p:nvPr/>
          </p:nvSpPr>
          <p:spPr>
            <a:xfrm>
              <a:off x="5815965" y="4070032"/>
              <a:ext cx="5842635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25490" y="4203382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5040" y="425100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15558" y="428386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74396" y="42905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两处容易对不上的数字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44565" y="465963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00013" y="4606766"/>
              <a:ext cx="5076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2400 平方英尺对应的价格，A 版课件写 360，B 版写 369。CS229 原始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数据是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369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，本讲义按 369。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44565" y="518731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00013" y="5135404"/>
              <a:ext cx="4979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表里只是数据集的前 5 行，完整数据有几十个样本（课件散点图上约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个点）。课件给出的 θ₀ = 71.27、θ₁ = 0.1345 是在完整数据上跑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批梯度下降的结果；只用这 5 行做最小二乘得到的是 θ₀ ≈ 26.79、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≈ 0.1651（本讲义复核），对不上属于正常。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7726" cy="909257"/>
            <a:chOff x="520446" y="342900"/>
            <a:chExt cx="69277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77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线性模型：把偏置也塞进参数向量，写成 Θᵀx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406015"/>
            <a:ext cx="5842635" cy="2291715"/>
            <a:chOff x="533400" y="2406015"/>
            <a:chExt cx="5842635" cy="2291715"/>
          </a:xfrm>
        </p:grpSpPr>
        <p:sp>
          <p:nvSpPr>
            <p:cNvPr id="8" name="Rectangle 8"/>
            <p:cNvSpPr/>
            <p:nvPr/>
          </p:nvSpPr>
          <p:spPr>
            <a:xfrm>
              <a:off x="533400" y="2406015"/>
              <a:ext cx="584263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53936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6155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258" y="26512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技巧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2078" y="2650808"/>
              <a:ext cx="107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 x₀ =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011805"/>
              <a:ext cx="5082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给每个样本的特征向量前面补一个常数 1，偏置 θ₀ 就变成了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普通的权重，求和式从 j = 0 开始，后面所有矩阵推导都省掉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9814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918585"/>
              <a:ext cx="5164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 1 之前：x = (x₁, …, x_d)ᵀ，模型有一个额外的常数项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3167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53865"/>
              <a:ext cx="4841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 1 之后：x = (1, x₁, …, x_d)ᵀ，模型就是一个内积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888230"/>
            <a:ext cx="5842635" cy="1146810"/>
            <a:chOff x="533400" y="4888230"/>
            <a:chExt cx="5842635" cy="1146810"/>
          </a:xfrm>
        </p:grpSpPr>
        <p:sp>
          <p:nvSpPr>
            <p:cNvPr id="19" name="Rectangle 19"/>
            <p:cNvSpPr/>
            <p:nvPr/>
          </p:nvSpPr>
          <p:spPr>
            <a:xfrm>
              <a:off x="533400" y="4888230"/>
              <a:ext cx="5842635" cy="1146810"/>
            </a:xfrm>
            <a:prstGeom prst="roundRect">
              <a:avLst>
                <a:gd name="adj" fmla="val 996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361625"/>
              <a:ext cx="200023" cy="200023"/>
              <a:chOff x="738188" y="5361625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3616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5428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218748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线性指的是对参数 Θ 线性。第5部分把 x 换成 x²、exp(x)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之类的基函数，模型仍然叫线性模型。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6673215" y="1548765"/>
            <a:ext cx="4716780" cy="1967865"/>
            <a:chOff x="6673215" y="1548765"/>
            <a:chExt cx="4716780" cy="1967865"/>
          </a:xfrm>
        </p:grpSpPr>
        <p:sp>
          <p:nvSpPr>
            <p:cNvPr id="25" name="TextBox 25"/>
            <p:cNvSpPr txBox="1"/>
            <p:nvPr/>
          </p:nvSpPr>
          <p:spPr>
            <a:xfrm>
              <a:off x="6673215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线性模型值得先学的理由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680835" y="193452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32295" y="19030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形式简单，容易建模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680835" y="2279332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32295" y="22479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可解释：系数直接反映每个特征对结果的影响强弱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680835" y="262413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32295" y="259270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是非线性模型的基础，引入层级结构或高维映射就得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到神经网络与核方法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680835" y="325469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32295" y="322326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有闭式解，可以用来检验别的算法写得对不对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680835" y="3648075"/>
            <a:ext cx="4977765" cy="2386965"/>
            <a:chOff x="6680835" y="3648075"/>
            <a:chExt cx="4977765" cy="2386965"/>
          </a:xfrm>
        </p:grpSpPr>
        <p:sp>
          <p:nvSpPr>
            <p:cNvPr id="35" name="Rectangle 35"/>
            <p:cNvSpPr/>
            <p:nvPr/>
          </p:nvSpPr>
          <p:spPr>
            <a:xfrm>
              <a:off x="6680835" y="3648075"/>
              <a:ext cx="4977765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3781425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28485" y="38576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19646" y="38933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9512" y="389286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线性化是近代科学的老传统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20865" y="4253865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世纪到 19 世纪末，牛顿范式的做法是把复杂系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统放进理想模型和理想环境，线性化成理想方程再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22008" y="5157311"/>
              <a:ext cx="434517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郑志明院士《第四次人工智能危机与突破》（2019 年 7 月）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指出，牛顿研究范式的核心就是线性化，而真实世界是非线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性、随机的。线性模型是起点，不是终点。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建模三步：定函数集、给函数打分、挑分数最高的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20570" cy="264033"/>
            <a:chOff x="526542" y="1545907"/>
            <a:chExt cx="50205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2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第1章的三步流程落到线性回归上，就是下面这三件具体的事。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912495" y="1920240"/>
            <a:ext cx="4652962" cy="1621156"/>
            <a:chOff x="912495" y="1920240"/>
            <a:chExt cx="4652962" cy="1621156"/>
          </a:xfrm>
        </p:grpSpPr>
        <p:sp>
          <p:nvSpPr>
            <p:cNvPr id="9" name="Freeform 9"/>
            <p:cNvSpPr/>
            <p:nvPr/>
          </p:nvSpPr>
          <p:spPr>
            <a:xfrm>
              <a:off x="3238500" y="2471738"/>
              <a:ext cx="9525" cy="88583"/>
            </a:xfrm>
            <a:custGeom>
              <a:avLst/>
              <a:gdLst/>
              <a:ahLst/>
              <a:cxnLst/>
              <a:rect l="l" t="t" r="r" b="b"/>
              <a:pathLst>
                <a:path w="9525" h="88583">
                  <a:moveTo>
                    <a:pt x="0" y="0"/>
                  </a:moveTo>
                  <a:lnTo>
                    <a:pt x="0" y="88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455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007042"/>
              <a:ext cx="9525" cy="87630"/>
            </a:xfrm>
            <a:custGeom>
              <a:avLst/>
              <a:gdLst/>
              <a:ahLst/>
              <a:cxnLst/>
              <a:rect l="l" t="t" r="r" b="b"/>
              <a:pathLst>
                <a:path w="9525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6112" y="29898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1920240"/>
              <a:ext cx="465296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12495" y="2455545"/>
              <a:ext cx="465296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2495" y="2989898"/>
              <a:ext cx="4652962" cy="551498"/>
            </a:xfrm>
            <a:prstGeom prst="roundRect">
              <a:avLst>
                <a:gd name="adj" fmla="val 1727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76442" y="2032635"/>
              <a:ext cx="92411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 定函数集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b + w·x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99778" y="2567940"/>
              <a:ext cx="877443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步骤2 评估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损失函数 L(f)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79763" y="3102293"/>
              <a:ext cx="1117473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步骤3 找最优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f* = arg min L(f)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67075" y="2385060"/>
              <a:ext cx="6667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90888" y="24079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候选无穷多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67075" y="2919412"/>
              <a:ext cx="10096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90888" y="2942273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每个候选一个分数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3698558"/>
            <a:ext cx="5410200" cy="1995488"/>
            <a:chOff x="533400" y="3698558"/>
            <a:chExt cx="5410200" cy="1995488"/>
          </a:xfrm>
        </p:grpSpPr>
        <p:sp>
          <p:nvSpPr>
            <p:cNvPr id="24" name="Rectangle 24"/>
            <p:cNvSpPr/>
            <p:nvPr/>
          </p:nvSpPr>
          <p:spPr>
            <a:xfrm>
              <a:off x="533400" y="3698558"/>
              <a:ext cx="5410200" cy="1995488"/>
            </a:xfrm>
            <a:prstGeom prst="roundRect">
              <a:avLst>
                <a:gd name="adj" fmla="val 66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831908"/>
              <a:ext cx="47625" cy="17287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2475" y="387953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8246" y="391239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4625" y="39190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函数集里的三个候选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428815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7448" y="4235291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f₁: y = 10.0 + 9.0·x_la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2000" y="457295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7448" y="4521041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f₂: y = 9.8 + 9.2·x_la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85775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80583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f₃: y = −0.8 − 1.2·x_la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7141" y="5087302"/>
              <a:ext cx="3438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f₃ 显然荒唐，但要靠步骤2 的分数才说得出荒唐在哪。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928812"/>
            <a:ext cx="5410200" cy="1987868"/>
            <a:chOff x="6248400" y="1928812"/>
            <a:chExt cx="5410200" cy="1987868"/>
          </a:xfrm>
        </p:grpSpPr>
        <p:sp>
          <p:nvSpPr>
            <p:cNvPr id="37" name="Rectangle 37"/>
            <p:cNvSpPr/>
            <p:nvPr/>
          </p:nvSpPr>
          <p:spPr>
            <a:xfrm>
              <a:off x="6248400" y="1928812"/>
              <a:ext cx="5410200" cy="1987868"/>
            </a:xfrm>
            <a:prstGeom prst="roundRect">
              <a:avLst>
                <a:gd name="adj" fmla="val 67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2062162"/>
              <a:ext cx="47625" cy="17211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7475" y="2109788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7295" y="2142649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步骤2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05841" y="2149316"/>
              <a:ext cx="2300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损失函数 L 的输入是一个函数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0998" y="2465546"/>
              <a:ext cx="4678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的输入是候选函数 f，输出是它对数据的拟合程度；写成参数形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式就是 L(w, b)。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2"/>
                <p:cNvSpPr txBox="1">
                  <a:spLocks noGrp="1"/>
                </p:cNvSpPr>
                <p:nvPr/>
              </p:nvSpPr>
              <p:spPr>
                <a:xfrm>
                  <a:off x="6467475" y="2972752"/>
                  <a:ext cx="5010150" cy="5000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⋅</m:t>
                                        </m:r>
                                        <m:sSubSup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la</m:t>
                                            </m:r>
                                          </m:sub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6462141" y="3570923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括号里是估计误差，对所有样本求和。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4080510"/>
            <a:ext cx="5410200" cy="1612582"/>
            <a:chOff x="6248400" y="4080510"/>
            <a:chExt cx="5410200" cy="1612582"/>
          </a:xfrm>
        </p:grpSpPr>
        <p:sp>
          <p:nvSpPr>
            <p:cNvPr id="46" name="Rectangle 46"/>
            <p:cNvSpPr/>
            <p:nvPr/>
          </p:nvSpPr>
          <p:spPr>
            <a:xfrm>
              <a:off x="6248400" y="408051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29375" y="426148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19195" y="429434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7741" y="4301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23"/>
                <p:cNvSpPr txBox="1">
                  <a:spLocks noGrp="1"/>
                </p:cNvSpPr>
                <p:nvPr/>
              </p:nvSpPr>
              <p:spPr>
                <a:xfrm>
                  <a:off x="6429375" y="4596765"/>
                  <a:ext cx="5048250" cy="3714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1" name="TextBox 51"/>
            <p:cNvSpPr txBox="1"/>
            <p:nvPr/>
          </p:nvSpPr>
          <p:spPr>
            <a:xfrm>
              <a:off x="6422898" y="5070634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两条路：第2部分用正规方程一步算出闭式解，第3部分用梯度下降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逐步逼近。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5845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三步里只有步骤1 是人定的。模型选错了，后面两步再努力也找不到好函数。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代价函数：用误差平方和给每组参数打分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271389" cy="838772"/>
            <a:chOff x="526161" y="1547336"/>
            <a:chExt cx="5271389" cy="83877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271389" cy="838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真实分布未知，期望风险最小化做不到，实际做的是经验风险最小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化：让模型在手上这 N 个样本上的总误差最小。总误差有两种常见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3"/>
              <p:cNvSpPr txBox="1">
                <a:spLocks noGrp="1"/>
              </p:cNvSpPr>
              <p:nvPr/>
            </p:nvSpPr>
            <p:spPr>
              <a:xfrm>
                <a:off x="533400" y="2511742"/>
                <a:ext cx="5626418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34"/>
              <p:cNvSpPr txBox="1">
                <a:spLocks noGrp="1"/>
              </p:cNvSpPr>
              <p:nvPr/>
            </p:nvSpPr>
            <p:spPr>
              <a:xfrm>
                <a:off x="533400" y="3320415"/>
                <a:ext cx="5626418" cy="70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6" name="c1-table-4"/>
          <p:cNvGrpSpPr/>
          <p:nvPr/>
        </p:nvGrpSpPr>
        <p:grpSpPr>
          <a:xfrm>
            <a:off x="533400" y="4200525"/>
            <a:ext cx="5626418" cy="2122170"/>
            <a:chOff x="533400" y="4200525"/>
            <a:chExt cx="5626418" cy="2122170"/>
          </a:xfrm>
        </p:grpSpPr>
        <p:sp>
          <p:nvSpPr>
            <p:cNvPr id="11" name="Rectangle 11"/>
            <p:cNvSpPr/>
            <p:nvPr/>
          </p:nvSpPr>
          <p:spPr>
            <a:xfrm>
              <a:off x="533400" y="4200525"/>
              <a:ext cx="562641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508" y="43291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79763" y="43291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绝对误差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1156" y="43291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平方和误差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889" y="4752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可导性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98929" y="4752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在零点不可导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23944" y="4752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处处可导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0444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504920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51777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对离群点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8929" y="51777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3944" y="517779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敏感，误差被平方放大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4692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56026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闭式解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8929" y="56026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30980" y="5483542"/>
              <a:ext cx="2119312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23944" y="56026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有，即正规方程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8931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897880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602646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概率背景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8929" y="602646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对应拉普拉斯噪声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3944" y="602646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对应高斯噪声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00525"/>
              <a:ext cx="562641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91678" y="420052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16692" y="420052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image-1"/>
          <p:cNvGrpSpPr/>
          <p:nvPr/>
        </p:nvGrpSpPr>
        <p:grpSpPr>
          <a:xfrm>
            <a:off x="6512433" y="1524000"/>
            <a:ext cx="5099304" cy="2402777"/>
            <a:chOff x="6512433" y="1524000"/>
            <a:chExt cx="5099304" cy="2402777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6" t="0" r="5" b="0"/>
            <a:stretch>
              <a:fillRect/>
            </a:stretch>
          </p:blipFill>
          <p:spPr>
            <a:xfrm>
              <a:off x="7659052" y="1524000"/>
              <a:ext cx="2805112" cy="2104072"/>
            </a:xfrm>
            <a:prstGeom prst="roundRect">
              <a:avLst>
                <a:gd name="adj" fmla="val 6337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512433" y="372141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每个样本到直线的竖直距离画成正方形，最小二乘就是让这些正方形面积之和最小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4085272"/>
            <a:ext cx="5193982" cy="2237422"/>
            <a:chOff x="6464618" y="4085272"/>
            <a:chExt cx="5193982" cy="2237422"/>
          </a:xfrm>
        </p:grpSpPr>
        <p:sp>
          <p:nvSpPr>
            <p:cNvPr id="40" name="Rectangle 40"/>
            <p:cNvSpPr/>
            <p:nvPr/>
          </p:nvSpPr>
          <p:spPr>
            <a:xfrm>
              <a:off x="6464618" y="4085272"/>
              <a:ext cx="5193982" cy="2237422"/>
            </a:xfrm>
            <a:prstGeom prst="roundRect">
              <a:avLst>
                <a:gd name="adj" fmla="val 59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4218622"/>
              <a:ext cx="47625" cy="19707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00838" y="42833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2278" y="43176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84148" y="4318159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前面的 ½ 是怎么来的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93598" y="4662011"/>
              <a:ext cx="44688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½ 不改变最优参数，只是为了求导时和平方求导产生的 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约掉，式子干净。也叫最小均方（Least Mean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Squares, LMS）准则。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4742" y="5518785"/>
              <a:ext cx="4370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有的教材写成 1/(2N)，那是把总误差换成平均误差，同样不改变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arg min。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从数据到一条直线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特征规范化：量纲差太多时，先把尺度拉平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面积的取值是几千，卧室数只有个位数。两个方向的坡度差几百倍，梯度下降就会来回折。</a:t>
              </a:r>
            </a:p>
          </p:txBody>
        </p:sp>
      </p:grpSp>
      <p:grpSp>
        <p:nvGrpSpPr>
          <p:cNvPr id="18" name="c1-graph-1"/>
          <p:cNvGrpSpPr/>
          <p:nvPr/>
        </p:nvGrpSpPr>
        <p:grpSpPr>
          <a:xfrm>
            <a:off x="624134" y="2059305"/>
            <a:ext cx="4687958" cy="3433286"/>
            <a:chOff x="624134" y="2059305"/>
            <a:chExt cx="4687958" cy="3433286"/>
          </a:xfrm>
        </p:grpSpPr>
        <p:sp>
          <p:nvSpPr>
            <p:cNvPr id="9" name="Freeform 9"/>
            <p:cNvSpPr/>
            <p:nvPr/>
          </p:nvSpPr>
          <p:spPr>
            <a:xfrm>
              <a:off x="948690" y="3332798"/>
              <a:ext cx="4363402" cy="986790"/>
            </a:xfrm>
            <a:custGeom>
              <a:avLst/>
              <a:gdLst/>
              <a:ahLst/>
              <a:cxnLst/>
              <a:rect l="l" t="t" r="r" b="b"/>
              <a:pathLst>
                <a:path w="4363402" h="986790">
                  <a:moveTo>
                    <a:pt x="2219325" y="493395"/>
                  </a:moveTo>
                  <a:lnTo>
                    <a:pt x="4363402" y="493395"/>
                  </a:lnTo>
                  <a:lnTo>
                    <a:pt x="4196715" y="682943"/>
                  </a:lnTo>
                  <a:lnTo>
                    <a:pt x="3724275" y="842010"/>
                  </a:lnTo>
                  <a:lnTo>
                    <a:pt x="3017520" y="948690"/>
                  </a:lnTo>
                  <a:lnTo>
                    <a:pt x="2181225" y="986790"/>
                  </a:lnTo>
                  <a:lnTo>
                    <a:pt x="1344930" y="948690"/>
                  </a:lnTo>
                  <a:lnTo>
                    <a:pt x="639128" y="842010"/>
                  </a:lnTo>
                  <a:lnTo>
                    <a:pt x="166688" y="682943"/>
                  </a:lnTo>
                  <a:lnTo>
                    <a:pt x="0" y="493395"/>
                  </a:lnTo>
                  <a:lnTo>
                    <a:pt x="166688" y="303848"/>
                  </a:lnTo>
                  <a:lnTo>
                    <a:pt x="639128" y="143828"/>
                  </a:lnTo>
                  <a:lnTo>
                    <a:pt x="1344930" y="38100"/>
                  </a:lnTo>
                  <a:lnTo>
                    <a:pt x="2181225" y="0"/>
                  </a:lnTo>
                  <a:lnTo>
                    <a:pt x="3017520" y="38100"/>
                  </a:lnTo>
                  <a:lnTo>
                    <a:pt x="3724275" y="143828"/>
                  </a:lnTo>
                  <a:lnTo>
                    <a:pt x="4196715" y="303848"/>
                  </a:lnTo>
                  <a:lnTo>
                    <a:pt x="4363402" y="493395"/>
                  </a:lnTo>
                  <a:lnTo>
                    <a:pt x="2219325" y="49339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39302" y="3579495"/>
              <a:ext cx="2181225" cy="493395"/>
            </a:xfrm>
            <a:custGeom>
              <a:avLst/>
              <a:gdLst/>
              <a:ahLst/>
              <a:cxnLst/>
              <a:rect l="l" t="t" r="r" b="b"/>
              <a:pathLst>
                <a:path w="2181225" h="493395">
                  <a:moveTo>
                    <a:pt x="1128713" y="246697"/>
                  </a:moveTo>
                  <a:lnTo>
                    <a:pt x="2181225" y="246697"/>
                  </a:lnTo>
                  <a:lnTo>
                    <a:pt x="2098358" y="340995"/>
                  </a:lnTo>
                  <a:lnTo>
                    <a:pt x="1859280" y="421005"/>
                  </a:lnTo>
                  <a:lnTo>
                    <a:pt x="1506855" y="474345"/>
                  </a:lnTo>
                  <a:lnTo>
                    <a:pt x="1090613" y="493395"/>
                  </a:lnTo>
                  <a:lnTo>
                    <a:pt x="675322" y="474345"/>
                  </a:lnTo>
                  <a:lnTo>
                    <a:pt x="321945" y="421005"/>
                  </a:lnTo>
                  <a:lnTo>
                    <a:pt x="83820" y="340995"/>
                  </a:lnTo>
                  <a:lnTo>
                    <a:pt x="0" y="246697"/>
                  </a:lnTo>
                  <a:lnTo>
                    <a:pt x="83820" y="151447"/>
                  </a:lnTo>
                  <a:lnTo>
                    <a:pt x="321945" y="72390"/>
                  </a:lnTo>
                  <a:lnTo>
                    <a:pt x="675322" y="19050"/>
                  </a:lnTo>
                  <a:lnTo>
                    <a:pt x="1090613" y="0"/>
                  </a:lnTo>
                  <a:lnTo>
                    <a:pt x="1506855" y="19050"/>
                  </a:lnTo>
                  <a:lnTo>
                    <a:pt x="1859280" y="72390"/>
                  </a:lnTo>
                  <a:lnTo>
                    <a:pt x="2098358" y="151447"/>
                  </a:lnTo>
                  <a:lnTo>
                    <a:pt x="2181225" y="246697"/>
                  </a:lnTo>
                  <a:lnTo>
                    <a:pt x="1128713" y="24669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86828" y="2900362"/>
              <a:ext cx="1790700" cy="1836420"/>
            </a:xfrm>
            <a:custGeom>
              <a:avLst/>
              <a:gdLst/>
              <a:ahLst/>
              <a:cxnLst/>
              <a:rect l="l" t="t" r="r" b="b"/>
              <a:pathLst>
                <a:path w="1790700" h="1836420">
                  <a:moveTo>
                    <a:pt x="0" y="0"/>
                  </a:moveTo>
                  <a:lnTo>
                    <a:pt x="804862" y="1836420"/>
                  </a:lnTo>
                  <a:lnTo>
                    <a:pt x="1220152" y="242888"/>
                  </a:lnTo>
                  <a:lnTo>
                    <a:pt x="1531620" y="1532572"/>
                  </a:lnTo>
                  <a:lnTo>
                    <a:pt x="1739265" y="621983"/>
                  </a:lnTo>
                  <a:lnTo>
                    <a:pt x="1790700" y="772478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32760" y="3657600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76200" y="105728"/>
                  </a:moveTo>
                  <a:lnTo>
                    <a:pt x="0" y="30480"/>
                  </a:lnTo>
                  <a:lnTo>
                    <a:pt x="9048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203008" y="2782252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072765" y="376904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37626" y="205930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未归一化时的代价函数等高线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37492" y="5330666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θ₁ 面积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134" y="350948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42"/>
              <p:cNvSpPr txBox="1">
                <a:spLocks noGrp="1"/>
              </p:cNvSpPr>
              <p:nvPr/>
            </p:nvSpPr>
            <p:spPr>
              <a:xfrm>
                <a:off x="6032182" y="1928812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5" name="c2-table-2"/>
          <p:cNvGrpSpPr/>
          <p:nvPr/>
        </p:nvGrpSpPr>
        <p:grpSpPr>
          <a:xfrm>
            <a:off x="6027230" y="2582228"/>
            <a:ext cx="5631370" cy="2170461"/>
            <a:chOff x="6027230" y="2582228"/>
            <a:chExt cx="5631370" cy="2170461"/>
          </a:xfrm>
        </p:grpSpPr>
        <p:sp>
          <p:nvSpPr>
            <p:cNvPr id="20" name="Rectangle 20"/>
            <p:cNvSpPr/>
            <p:nvPr/>
          </p:nvSpPr>
          <p:spPr>
            <a:xfrm>
              <a:off x="6032182" y="2582228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88062" y="26993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面积原值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88287" y="26993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减去均值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87381" y="26993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除以标准差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26861" y="308038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4691" y="308038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+627.5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27311" y="308038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+1.222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32182" y="33404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32182" y="334518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26861" y="346233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4691" y="346233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−60.5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27311" y="34623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−0.118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37214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6861" y="384333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1534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14691" y="384333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+57.5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27311" y="38433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+0.112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41024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2182" y="410718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6861" y="422529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14691" y="422529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−624.5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27311" y="422529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−1.216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2582228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715250" y="25822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27870" y="25822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7230" y="4561999"/>
              <a:ext cx="49146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 = 1476.5，σ = 513.39（除以 N−1 的样本标准差），归一化后取值落在 ±1.3 之内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032182" y="4879658"/>
            <a:ext cx="5626418" cy="702945"/>
            <a:chOff x="6032182" y="4879658"/>
            <a:chExt cx="5626418" cy="702945"/>
          </a:xfrm>
        </p:grpSpPr>
        <p:sp>
          <p:nvSpPr>
            <p:cNvPr id="46" name="Rectangle 46"/>
            <p:cNvSpPr/>
            <p:nvPr/>
          </p:nvSpPr>
          <p:spPr>
            <a:xfrm>
              <a:off x="6032182" y="487965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224912" y="5126473"/>
              <a:ext cx="224134" cy="192560"/>
              <a:chOff x="6224912" y="5126473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336983" y="51968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224912" y="51264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336983" y="5274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540056" y="5023961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归一化用的 μ 和 σ 必须来自训练集，测试集要用同一组数去变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换。用测试集自己的均值方差是常见错误。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梯度下降必须先归一化；正规方程不需要，它一步解方程，不受等高线形状影响。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183276" cy="3706177"/>
            <a:chOff x="667512" y="1835468"/>
            <a:chExt cx="5183276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最小二乘与正规方程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73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N 个方程叠成一个矩阵式，求一次导就能解出参数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59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样本矩阵 X 与目标向量 Y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65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J(Θ) 的矩阵形式 ½(XΘ−Y)ᵀ(XΘ−Y)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令梯度为零得到正规方程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94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闭式解 Θ = (XᵀX)⁻¹XᵀY 与可逆前提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两道完整例题，其中一道是课件算错的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最小二乘与正规方程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第一步：把训练集写成一个矩阵和一个向量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6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895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rd-2"/>
          <p:cNvGrpSpPr/>
          <p:nvPr/>
        </p:nvGrpSpPr>
        <p:grpSpPr>
          <a:xfrm>
            <a:off x="533400" y="2609850"/>
            <a:ext cx="5626418" cy="2537460"/>
            <a:chOff x="533400" y="2609850"/>
            <a:chExt cx="5626418" cy="2537460"/>
          </a:xfrm>
        </p:grpSpPr>
        <p:sp>
          <p:nvSpPr>
            <p:cNvPr id="8" name="Rectangle 8"/>
            <p:cNvSpPr/>
            <p:nvPr/>
          </p:nvSpPr>
          <p:spPr>
            <a:xfrm>
              <a:off x="533400" y="2609850"/>
              <a:ext cx="5626418" cy="2537460"/>
            </a:xfrm>
            <a:prstGeom prst="roundRect">
              <a:avLst>
                <a:gd name="adj" fmla="val 5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743200"/>
              <a:ext cx="47625" cy="22707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8194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258" y="28551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2078" y="285464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三个对象的尺寸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2785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215640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 N × (d+1) 矩阵：N 个样本，d 个特征，加上首列的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8995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836670"/>
              <a:ext cx="2057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是长度为 N 的列向量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2348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171950"/>
              <a:ext cx="2266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是长度为 d+1 的列向量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4503896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原课件写成 m × (n+1)，m 是样本数、n 是特征数，与这里一一对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47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895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48"/>
              <p:cNvSpPr txBox="1">
                <a:spLocks noGrp="1"/>
              </p:cNvSpPr>
              <p:nvPr/>
            </p:nvSpPr>
            <p:spPr>
              <a:xfrm>
                <a:off x="6464618" y="2609850"/>
                <a:ext cx="5193982" cy="695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8" name="c2-callout-3"/>
          <p:cNvGrpSpPr/>
          <p:nvPr/>
        </p:nvGrpSpPr>
        <p:grpSpPr>
          <a:xfrm>
            <a:off x="6464618" y="3495675"/>
            <a:ext cx="5193982" cy="1651635"/>
            <a:chOff x="6464618" y="3495675"/>
            <a:chExt cx="5193982" cy="1651635"/>
          </a:xfrm>
        </p:grpSpPr>
        <p:sp>
          <p:nvSpPr>
            <p:cNvPr id="23" name="Rectangle 23"/>
            <p:cNvSpPr/>
            <p:nvPr/>
          </p:nvSpPr>
          <p:spPr>
            <a:xfrm>
              <a:off x="6464618" y="3495675"/>
              <a:ext cx="5193982" cy="1651635"/>
            </a:xfrm>
            <a:prstGeom prst="roundRect">
              <a:avLst>
                <a:gd name="adj" fmla="val 692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669405" y="4221482"/>
              <a:ext cx="200023" cy="200023"/>
              <a:chOff x="6669405" y="422148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69405" y="42214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02755" y="42881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71348" y="4078605"/>
              <a:ext cx="4149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XΘ 一次算出全部 N 个预测值，减去 Y 就是全部残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差。矩阵写法的好处从这里开始显现。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 的行数是样本数 N，列数是参数个数 d+1。这两个数的大小关系决定了后面 XᵀX 能不能求逆，第15、17页会回到这件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最小二乘与正规方程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第二步：代价函数写成向量的内积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090738"/>
            <a:chOff x="533400" y="1524000"/>
            <a:chExt cx="5410200" cy="20907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90738"/>
            </a:xfrm>
            <a:prstGeom prst="roundRect">
              <a:avLst>
                <a:gd name="adj" fmla="val 637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7822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平方和就是向量与自己的内积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52"/>
                <p:cNvSpPr txBox="1">
                  <a:spLocks noGrp="1"/>
                </p:cNvSpPr>
                <p:nvPr/>
              </p:nvSpPr>
              <p:spPr>
                <a:xfrm>
                  <a:off x="742950" y="2105025"/>
                  <a:ext cx="499110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ϕ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35330" y="2885122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φ 取成残差向量 XΘ − Y，代价函数立刻变成矩阵表达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53"/>
              <p:cNvSpPr txBox="1">
                <a:spLocks noGrp="1"/>
              </p:cNvSpPr>
              <p:nvPr/>
            </p:nvSpPr>
            <p:spPr>
              <a:xfrm>
                <a:off x="533400" y="3805238"/>
                <a:ext cx="5410200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3"/>
          <p:cNvGrpSpPr/>
          <p:nvPr/>
        </p:nvGrpSpPr>
        <p:grpSpPr>
          <a:xfrm>
            <a:off x="533400" y="4662488"/>
            <a:ext cx="5410200" cy="1664970"/>
            <a:chOff x="533400" y="4662488"/>
            <a:chExt cx="5410200" cy="1664970"/>
          </a:xfrm>
        </p:grpSpPr>
        <p:sp>
          <p:nvSpPr>
            <p:cNvPr id="15" name="Rectangle 15"/>
            <p:cNvSpPr/>
            <p:nvPr/>
          </p:nvSpPr>
          <p:spPr>
            <a:xfrm>
              <a:off x="533400" y="4662488"/>
              <a:ext cx="5410200" cy="1664970"/>
            </a:xfrm>
            <a:prstGeom prst="roundRect">
              <a:avLst>
                <a:gd name="adj" fmla="val 8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795838"/>
              <a:ext cx="47625" cy="13982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87203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8457" y="49077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先展开备用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08797" y="490728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下一页求导时直接用这一行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54"/>
                <p:cNvSpPr txBox="1">
                  <a:spLocks noGrp="1"/>
                </p:cNvSpPr>
                <p:nvPr/>
              </p:nvSpPr>
              <p:spPr>
                <a:xfrm>
                  <a:off x="781050" y="5243512"/>
                  <a:ext cx="495300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4573" y="5684044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中间两项 ΘᵀXᵀY 与 YᵀXΘ 都是 1 × 1 的数，互为转置因而相等，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合成一个 2ΘᵀXᵀY。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916430"/>
            <a:chOff x="6248400" y="1524000"/>
            <a:chExt cx="5410200" cy="1916430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用到的矩阵知识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7642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内积与外积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2129790"/>
              <a:ext cx="4513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内积：x, y ∈ ℝⁿ 时 xᵀy = Σᵢ xᵢyᵢ，结果是一个数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465070"/>
              <a:ext cx="3862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外积：x ∈ ℝᵐ, y ∈ ℝⁿ 时 xyᵀ 是 m × n 矩阵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9573" y="2797016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展开 J(Θ) 时会用到 (AB)ᵀ = BᵀAᵀ 以及 ΘᵀXᵀY 是一个数，所以它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等于自己的转置 YᵀXΘ。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248400" y="3630930"/>
            <a:ext cx="5410200" cy="1059180"/>
            <a:chOff x="6248400" y="3630930"/>
            <a:chExt cx="5410200" cy="1059180"/>
          </a:xfrm>
        </p:grpSpPr>
        <p:sp>
          <p:nvSpPr>
            <p:cNvPr id="34" name="Rectangle 34"/>
            <p:cNvSpPr/>
            <p:nvPr/>
          </p:nvSpPr>
          <p:spPr>
            <a:xfrm>
              <a:off x="6248400" y="363093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4060508"/>
              <a:ext cx="200026" cy="200025"/>
              <a:chOff x="6453188" y="406050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40605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92926" y="41049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27642" y="42160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130" y="377952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矩阵求导的完整规则可查斯坦福 CS229 的讲义汇编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（课件给的参考链接就是它），本讲义只用到下面两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条。</a:t>
              </a:r>
            </a:p>
          </p:txBody>
        </p:sp>
      </p:grpSp>
      <p:grpSp>
        <p:nvGrpSpPr>
          <p:cNvPr id="48" name="c2-bullets-3"/>
          <p:cNvGrpSpPr/>
          <p:nvPr/>
        </p:nvGrpSpPr>
        <p:grpSpPr>
          <a:xfrm>
            <a:off x="6240780" y="4905375"/>
            <a:ext cx="3296412" cy="992505"/>
            <a:chOff x="6240780" y="4905375"/>
            <a:chExt cx="3296412" cy="992505"/>
          </a:xfrm>
        </p:grpSpPr>
        <p:sp>
          <p:nvSpPr>
            <p:cNvPr id="41" name="TextBox 41"/>
            <p:cNvSpPr txBox="1"/>
            <p:nvPr/>
          </p:nvSpPr>
          <p:spPr>
            <a:xfrm>
              <a:off x="6240780" y="49053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本章要用的两条求导公式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52463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10249" y="5288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9390" y="5259705"/>
              <a:ext cx="2987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∇_Θ (ΘᵀAΘ) = 2AΘ，其中 A 对称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559117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10249" y="56334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9390" y="5604510"/>
              <a:ext cx="1380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∇_Θ (ΘᵀB) = B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最小二乘与正规方程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第三步：令梯度为零，得到正规方程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3419196" cy="308039"/>
            <a:chOff x="525399" y="1550194"/>
            <a:chExt cx="341919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展开、求导、令零，四行就到终点。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59"/>
              <p:cNvSpPr txBox="1">
                <a:spLocks noGrp="1"/>
              </p:cNvSpPr>
              <p:nvPr/>
            </p:nvSpPr>
            <p:spPr>
              <a:xfrm>
                <a:off x="533400" y="1967865"/>
                <a:ext cx="605980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60"/>
              <p:cNvSpPr txBox="1">
                <a:spLocks noGrp="1"/>
              </p:cNvSpPr>
              <p:nvPr/>
            </p:nvSpPr>
            <p:spPr>
              <a:xfrm>
                <a:off x="533400" y="2646998"/>
                <a:ext cx="605980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Θ−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Θ+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61"/>
              <p:cNvSpPr txBox="1">
                <a:spLocks noGrp="1"/>
              </p:cNvSpPr>
              <p:nvPr/>
            </p:nvSpPr>
            <p:spPr>
              <a:xfrm>
                <a:off x="533400" y="3326130"/>
                <a:ext cx="605980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Θ−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llout-4"/>
          <p:cNvGrpSpPr/>
          <p:nvPr/>
        </p:nvGrpSpPr>
        <p:grpSpPr>
          <a:xfrm>
            <a:off x="533400" y="4005262"/>
            <a:ext cx="6059805" cy="1624012"/>
            <a:chOff x="533400" y="4005262"/>
            <a:chExt cx="6059805" cy="1624012"/>
          </a:xfrm>
        </p:grpSpPr>
        <p:sp>
          <p:nvSpPr>
            <p:cNvPr id="12" name="Rectangle 12"/>
            <p:cNvSpPr/>
            <p:nvPr/>
          </p:nvSpPr>
          <p:spPr>
            <a:xfrm>
              <a:off x="533400" y="4005262"/>
              <a:ext cx="6059805" cy="1624012"/>
            </a:xfrm>
            <a:prstGeom prst="roundRect">
              <a:avLst>
                <a:gd name="adj" fmla="val 7038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716782"/>
              <a:ext cx="200023" cy="200023"/>
              <a:chOff x="738188" y="4716782"/>
              <a:chExt cx="200023" cy="2000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47167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8" y="47834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573905"/>
              <a:ext cx="5149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YᵀY 与 Θ 无关，求导后消失；ΘᵀXᵀY 和 YᵀXΘ 是同一个数，合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并成 2XᵀY。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898005" y="1967865"/>
            <a:ext cx="4760595" cy="1849755"/>
            <a:chOff x="6898005" y="1967865"/>
            <a:chExt cx="4760595" cy="1849755"/>
          </a:xfrm>
        </p:grpSpPr>
        <p:sp>
          <p:nvSpPr>
            <p:cNvPr id="18" name="Rectangle 18"/>
            <p:cNvSpPr/>
            <p:nvPr/>
          </p:nvSpPr>
          <p:spPr>
            <a:xfrm>
              <a:off x="6898005" y="1967865"/>
              <a:ext cx="4760595" cy="1849755"/>
            </a:xfrm>
            <a:prstGeom prst="roundRect">
              <a:avLst>
                <a:gd name="adj" fmla="val 72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07530" y="2101215"/>
              <a:ext cx="47625" cy="15830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565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27011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正规方程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0528" y="2212658"/>
              <a:ext cx="1647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normal equation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62"/>
                <p:cNvSpPr txBox="1">
                  <a:spLocks noGrp="1"/>
                </p:cNvSpPr>
                <p:nvPr/>
              </p:nvSpPr>
              <p:spPr>
                <a:xfrm>
                  <a:off x="7145655" y="2548890"/>
                  <a:ext cx="430339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7138035" y="3088005"/>
              <a:ext cx="4110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这是一个 (d+1) 元一次方程组，未知数就是 Θ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各个分量。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4008120"/>
            <a:ext cx="4760595" cy="1621155"/>
            <a:chOff x="6898005" y="4008120"/>
            <a:chExt cx="4760595" cy="1621155"/>
          </a:xfrm>
        </p:grpSpPr>
        <p:sp>
          <p:nvSpPr>
            <p:cNvPr id="26" name="Rectangle 26"/>
            <p:cNvSpPr/>
            <p:nvPr/>
          </p:nvSpPr>
          <p:spPr>
            <a:xfrm>
              <a:off x="6898005" y="4008120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7530" y="414147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45655" y="421767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27011" y="42533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几何解释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30528" y="425291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残差与每一列特征都垂直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8035" y="4613910"/>
              <a:ext cx="4072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把正规方程写成 Xᵀ(XΘ − Y) = 0，意思是残差向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量与 X 的每一列都正交。最优拟合就是把 Y 投影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X 的列空间上，残差是投影剩下的那一截。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214" cy="909257"/>
            <a:chOff x="520446" y="342900"/>
            <a:chExt cx="523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最小二乘与正规方程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闭式解与它的前提：XᵀX 必须可逆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4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171700"/>
            <a:ext cx="5193982" cy="2487930"/>
            <a:chOff x="533400" y="2171700"/>
            <a:chExt cx="5193982" cy="2487930"/>
          </a:xfrm>
        </p:grpSpPr>
        <p:sp>
          <p:nvSpPr>
            <p:cNvPr id="8" name="Rectangle 8"/>
            <p:cNvSpPr/>
            <p:nvPr/>
          </p:nvSpPr>
          <p:spPr>
            <a:xfrm>
              <a:off x="533400" y="2171700"/>
              <a:ext cx="5193982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305050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3812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258" y="24169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2078" y="2416492"/>
              <a:ext cx="2325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XᵀX 可逆等价于 X 列满秩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403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774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两个特征成比例（面积按平方英尺和按平方米各记一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列），两列线性相关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61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9852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样本数 N 小于参数个数 d+1，行数不够，秩必然小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d+1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016216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原课件在 B 版写前提是 XᵀX 可逆，A 版写满秩或者正定，说的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是同一件事。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850130"/>
            <a:ext cx="5193982" cy="782955"/>
            <a:chOff x="533400" y="4850130"/>
            <a:chExt cx="5193982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485013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141595"/>
              <a:ext cx="200026" cy="200025"/>
              <a:chOff x="738188" y="5141595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1415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1860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2971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998720"/>
              <a:ext cx="3701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实际编程别写 inv(X.T @ X) @ X.T @ y，用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np.linalg.lstsq 或 solve，数值稳定得多。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032182" y="1524000"/>
            <a:ext cx="5626418" cy="2022158"/>
            <a:chOff x="6032182" y="1524000"/>
            <a:chExt cx="5626418" cy="2022158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8986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不可逆的原因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7586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怎么补救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40006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特征之间线性相关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3158" y="21083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删掉冗余特征，或做主成分分析降维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2430780"/>
              <a:ext cx="234410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40006" y="2556986"/>
              <a:ext cx="16701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样本太少（N &lt; d+1）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03158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增加样本，或减少特征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311896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数值上接近奇异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3158" y="3005614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改用伪逆取最小范数解，或加正则项变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(XᵀX + λI)⁻¹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1524000"/>
              <a:ext cx="5626418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90572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2"/>
          <p:cNvGrpSpPr/>
          <p:nvPr/>
        </p:nvGrpSpPr>
        <p:grpSpPr>
          <a:xfrm>
            <a:off x="6032182" y="3736658"/>
            <a:ext cx="5626418" cy="1896428"/>
            <a:chOff x="6032182" y="3736658"/>
            <a:chExt cx="5626418" cy="1896428"/>
          </a:xfrm>
        </p:grpSpPr>
        <p:sp>
          <p:nvSpPr>
            <p:cNvPr id="42" name="Rectangle 42"/>
            <p:cNvSpPr/>
            <p:nvPr/>
          </p:nvSpPr>
          <p:spPr>
            <a:xfrm>
              <a:off x="6032182" y="3736658"/>
              <a:ext cx="5626418" cy="1896428"/>
            </a:xfrm>
            <a:prstGeom prst="roundRect">
              <a:avLst>
                <a:gd name="adj" fmla="val 703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1732" y="394620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6337" y="39819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岭回归的顺带好处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34112" y="4323398"/>
              <a:ext cx="4882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XᵀX + λI 在 λ &gt; 0 时一定可逆，所以岭回归不仅能防过拟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合，还能直接治好这里的奇异问题。第6部分会再回到这一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7880" cy="909257"/>
            <a:chOff x="520446" y="342900"/>
            <a:chExt cx="57878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最小二乘与正规方程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7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例题一：4 个样本、2 个特征的闭式解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67766" cy="264033"/>
            <a:chOff x="526542" y="1545907"/>
            <a:chExt cx="726776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67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数据取自 B 版课件第 31 页，面积与卧室数预测价格。全部中间量都列出来，可以对着算。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28447" y="1928812"/>
            <a:ext cx="5631371" cy="2170462"/>
            <a:chOff x="528447" y="1928812"/>
            <a:chExt cx="5631371" cy="2170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91254" y="2045970"/>
              <a:ext cx="909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 (feet²)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29724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卧室数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92657" y="2045970"/>
              <a:ext cx="909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价格 (1000$)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404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29481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404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29481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1534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5404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29481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5718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5404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29481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28812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5460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13004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447" y="3908584"/>
              <a:ext cx="34217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增广后 X 的首列补 1，X 是 4 × 3 矩阵，Y 是长度 4 的向量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77"/>
              <p:cNvSpPr txBox="1">
                <a:spLocks noGrp="1"/>
              </p:cNvSpPr>
              <p:nvPr/>
            </p:nvSpPr>
            <p:spPr>
              <a:xfrm>
                <a:off x="533400" y="4226242"/>
                <a:ext cx="5626418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5906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5906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9510932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21074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21074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78"/>
              <p:cNvSpPr txBox="1">
                <a:spLocks noGrp="1"/>
              </p:cNvSpPr>
              <p:nvPr/>
            </p:nvSpPr>
            <p:spPr>
              <a:xfrm>
                <a:off x="533400" y="4912042"/>
                <a:ext cx="5626418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1185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1931218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4297</m:t>
                              </m:r>
                            </m:e>
                          </m:d>
                        </m:e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9" name="c2-card-1"/>
          <p:cNvGrpSpPr/>
          <p:nvPr/>
        </p:nvGrpSpPr>
        <p:grpSpPr>
          <a:xfrm>
            <a:off x="6464618" y="1928812"/>
            <a:ext cx="5193982" cy="1733550"/>
            <a:chOff x="6464618" y="1928812"/>
            <a:chExt cx="5193982" cy="1733550"/>
          </a:xfrm>
        </p:grpSpPr>
        <p:sp>
          <p:nvSpPr>
            <p:cNvPr id="37" name="Rectangle 37"/>
            <p:cNvSpPr/>
            <p:nvPr/>
          </p:nvSpPr>
          <p:spPr>
            <a:xfrm>
              <a:off x="6464618" y="1928812"/>
              <a:ext cx="5193982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2062162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3692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921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解方程组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99223" y="21493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高斯消元得到的有理数精确解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93218" y="251841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8666" y="2465546"/>
              <a:ext cx="2816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θ₀ = −3324108/111707 ≈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−29.7574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93218" y="280320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48666" y="2751296"/>
              <a:ext cx="2532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θ₁ = 24649/223414 ≈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0.110329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93218" y="308800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8666" y="3036094"/>
              <a:ext cx="2622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θ₂ = 5606210/111707 ≈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50.1867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78359" y="3317558"/>
              <a:ext cx="46116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与课件打印的 [−29.75738315, 0.11032881, 50.18673852] 完全一致。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3827145"/>
            <a:ext cx="5193982" cy="1448752"/>
            <a:chOff x="6464618" y="3827145"/>
            <a:chExt cx="5193982" cy="1448752"/>
          </a:xfrm>
        </p:grpSpPr>
        <p:sp>
          <p:nvSpPr>
            <p:cNvPr id="50" name="Rectangle 50"/>
            <p:cNvSpPr/>
            <p:nvPr/>
          </p:nvSpPr>
          <p:spPr>
            <a:xfrm>
              <a:off x="6464618" y="3827145"/>
              <a:ext cx="5193982" cy="1448752"/>
            </a:xfrm>
            <a:prstGeom prst="roundRect">
              <a:avLst>
                <a:gd name="adj" fmla="val 920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45592" y="40081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38264" y="40409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12520" y="4047649"/>
              <a:ext cx="1438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Θ 代回去看残差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55118" y="4416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10566" y="4363879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预测值 453.31, 277.03, 290.05, 164.62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55118" y="470154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10566" y="4649629"/>
              <a:ext cx="3028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残差 −6.69, +45.03, −24.95, −13.38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40259" y="4930140"/>
              <a:ext cx="49014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残差平方和 2874.1。4 个样本 3 个参数，只剩一个自由度，拟合不可能完美。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9050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读系数：面积每多 1 平方英尺涨 0.11 千美元，卧室每多一间涨 50.19 千美元。样本只有 4 个，这个读数只能当演示。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最小二乘与正规方程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例题二：样本比参数还少时，闭式解不存在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01205" cy="264033"/>
            <a:chOff x="526542" y="1545907"/>
            <a:chExt cx="690120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01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版课件第 37 页把特征加到 4 个，样本仍是 4 个。这道题课件算错了，值得仔细看。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33400" y="1928812"/>
            <a:ext cx="5410200" cy="1906905"/>
            <a:chOff x="533400" y="1928812"/>
            <a:chExt cx="5410200" cy="1906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02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406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卧室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752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楼层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93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房龄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4731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870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92158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65613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0021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870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2158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65613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40021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1534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1870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2158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65613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0021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35718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1870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92158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65613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40021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71926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69271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66617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64058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ard-2"/>
          <p:cNvGrpSpPr/>
          <p:nvPr/>
        </p:nvGrpSpPr>
        <p:grpSpPr>
          <a:xfrm>
            <a:off x="533400" y="4000500"/>
            <a:ext cx="5410200" cy="1667828"/>
            <a:chOff x="533400" y="4000500"/>
            <a:chExt cx="5410200" cy="1667828"/>
          </a:xfrm>
        </p:grpSpPr>
        <p:sp>
          <p:nvSpPr>
            <p:cNvPr id="46" name="Rectangle 46"/>
            <p:cNvSpPr/>
            <p:nvPr/>
          </p:nvSpPr>
          <p:spPr>
            <a:xfrm>
              <a:off x="533400" y="4000500"/>
              <a:ext cx="5410200" cy="1667828"/>
            </a:xfrm>
            <a:prstGeom prst="roundRect">
              <a:avLst>
                <a:gd name="adj" fmla="val 79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133850"/>
              <a:ext cx="47625" cy="14011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2475" y="4181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5147" y="4214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诊断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18450" y="4221004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XᵀX 一定奇异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5998" y="4537234"/>
              <a:ext cx="43126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增广后 X 是 4 × 5，rank(X) ≤ 4，而 XᵀX 是 5 × 5，所以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rank(XᵀX) = 4 &lt; 5，行列式为 0，逆不存在。numpy 复核：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det(XᵀX) ≈ −1.4×10⁻⁶ 是浮点噪声，条件数约 4×10¹⁸。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7141" y="530447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方程个数少于未知数个数，解有无穷多个。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928812"/>
            <a:ext cx="5410200" cy="2173605"/>
            <a:chOff x="6248400" y="1928812"/>
            <a:chExt cx="5410200" cy="2173605"/>
          </a:xfrm>
        </p:grpSpPr>
        <p:sp>
          <p:nvSpPr>
            <p:cNvPr id="54" name="Rectangle 54"/>
            <p:cNvSpPr/>
            <p:nvPr/>
          </p:nvSpPr>
          <p:spPr>
            <a:xfrm>
              <a:off x="6248400" y="1928812"/>
              <a:ext cx="541020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2062162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7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0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33451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原课件给出的解代回去差了上万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0998" y="2465546"/>
              <a:ext cx="48166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原课件打印的结果是 Θ = 10³ × (0.1839, −0.0042, 4.5771,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1.5943, −0.0083)。代回模型，四个样本的预测值比真值分别高出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14993、10593、10097、6877，而价格本身只有一两百。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0998" y="3237071"/>
              <a:ext cx="473776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这不是解，是对奇异矩阵强行求逆得到的数值噪声。课件后一页归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一化后重算，结果同样不唯一，只有截距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296.25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确定，它正好是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四个价格的平均值。</a:t>
              </a:r>
            </a:p>
          </p:txBody>
        </p:sp>
      </p:grpSp>
      <p:grpSp>
        <p:nvGrpSpPr>
          <p:cNvPr id="75" name="c2-bullets-2"/>
          <p:cNvGrpSpPr/>
          <p:nvPr/>
        </p:nvGrpSpPr>
        <p:grpSpPr>
          <a:xfrm>
            <a:off x="6241923" y="4288631"/>
            <a:ext cx="3020350" cy="1429512"/>
            <a:chOff x="6241923" y="4288631"/>
            <a:chExt cx="3020350" cy="1429512"/>
          </a:xfrm>
        </p:grpSpPr>
        <p:sp>
          <p:nvSpPr>
            <p:cNvPr id="62" name="TextBox 62"/>
            <p:cNvSpPr txBox="1"/>
            <p:nvPr/>
          </p:nvSpPr>
          <p:spPr>
            <a:xfrm>
              <a:off x="6241923" y="42886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正确的处理办法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48400" y="457866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0307" y="46142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18148" y="4589621"/>
              <a:ext cx="2109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补样本，让 N 明显大于 d+1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48400" y="487203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00307" y="49067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18148" y="48829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减特征，或先做降维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248400" y="516445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00307" y="52000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18148" y="5175409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用伪逆取最小范数解：本例残差为 0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248400" y="54578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00307" y="54934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18148" y="5468779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加岭惩罚：λ = 100 时解就稳定下来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6" name="Rectangle 7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1273" y="6039326"/>
              <a:ext cx="7307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看到 MATLAB 提示矩阵接近奇异、结果可能不准确，就别再往下算了，先检查样本数和特征数。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2" name="section-title"/>
          <p:cNvGrpSpPr/>
          <p:nvPr/>
        </p:nvGrpSpPr>
        <p:grpSpPr>
          <a:xfrm>
            <a:off x="667512" y="1835468"/>
            <a:ext cx="5627522" cy="4060507"/>
            <a:chOff x="667512" y="1835468"/>
            <a:chExt cx="5627522" cy="406050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17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 X 很大、求逆代价太高时，一步步往下走也能到最低点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梯度的方向与一维直观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线性回归的更新式与关键因子推导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301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LMS 规则与 BGD、SGD、mini-batch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学习率过大过小分别怎样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线性回归的全局最优保证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56597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56026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梯度下降与正规方程怎么选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梯度指向上升最快的方向，所以要沿负梯度走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205990"/>
            <a:chOff x="533400" y="1524000"/>
            <a:chExt cx="4977765" cy="2205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05990"/>
            </a:xfrm>
            <a:prstGeom prst="roundRect">
              <a:avLst>
                <a:gd name="adj" fmla="val 60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92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162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 gradient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2720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z = f(x, y) 在区域 D 内有一阶连续偏导数，对 D 内每个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点，向量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91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457771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grad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107531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 f 在该点的梯度。它指向函数值增长最快的方向，负梯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度就是下降最快的方向。</a:t>
              </a:r>
            </a:p>
          </p:txBody>
        </p:sp>
      </p:grpSp>
      <p:grpSp>
        <p:nvGrpSpPr>
          <p:cNvPr id="18" name="c1-image-2"/>
          <p:cNvGrpSpPr/>
          <p:nvPr/>
        </p:nvGrpSpPr>
        <p:grpSpPr>
          <a:xfrm>
            <a:off x="1104379" y="3894772"/>
            <a:ext cx="3835806" cy="1538002"/>
            <a:chOff x="1104379" y="3894772"/>
            <a:chExt cx="3835806" cy="153800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rcRect l="10" t="0" r="9" b="0"/>
            <a:stretch>
              <a:fillRect/>
            </a:stretch>
          </p:blipFill>
          <p:spPr>
            <a:xfrm>
              <a:off x="2185035" y="3894772"/>
              <a:ext cx="1673542" cy="1255395"/>
            </a:xfrm>
            <a:prstGeom prst="roundRect">
              <a:avLst>
                <a:gd name="adj" fmla="val 10622"/>
              </a:avLst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104379" y="5242084"/>
              <a:ext cx="3835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雾里下山：看不到谷底，只能试出脚下哪边更陡，再往那边迈一步</a:t>
              </a:r>
            </a:p>
          </p:txBody>
        </p:sp>
      </p:grpSp>
      <p:grpSp>
        <p:nvGrpSpPr>
          <p:cNvPr id="34" name="c2-graph-1"/>
          <p:cNvGrpSpPr/>
          <p:nvPr/>
        </p:nvGrpSpPr>
        <p:grpSpPr>
          <a:xfrm>
            <a:off x="6073352" y="1593056"/>
            <a:ext cx="5371888" cy="3730943"/>
            <a:chOff x="6073352" y="1593056"/>
            <a:chExt cx="5371888" cy="3730943"/>
          </a:xfrm>
        </p:grpSpPr>
        <p:sp>
          <p:nvSpPr>
            <p:cNvPr id="19" name="Freeform 19"/>
            <p:cNvSpPr/>
            <p:nvPr/>
          </p:nvSpPr>
          <p:spPr>
            <a:xfrm>
              <a:off x="6204585" y="5013008"/>
              <a:ext cx="5145405" cy="9525"/>
            </a:xfrm>
            <a:custGeom>
              <a:avLst/>
              <a:gdLst/>
              <a:ahLst/>
              <a:cxnLst/>
              <a:rect l="l" t="t" r="r" b="b"/>
              <a:pathLst>
                <a:path w="5145405" h="9525">
                  <a:moveTo>
                    <a:pt x="0" y="0"/>
                  </a:moveTo>
                  <a:lnTo>
                    <a:pt x="51454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1349990" y="49653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166485" y="1964055"/>
              <a:ext cx="9525" cy="2942273"/>
            </a:xfrm>
            <a:custGeom>
              <a:avLst/>
              <a:gdLst/>
              <a:ahLst/>
              <a:cxnLst/>
              <a:rect l="l" t="t" r="r" b="b"/>
              <a:pathLst>
                <a:path w="9525" h="2942273">
                  <a:moveTo>
                    <a:pt x="0" y="294227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118860" y="18688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437948" y="2156460"/>
              <a:ext cx="4773930" cy="2737485"/>
            </a:xfrm>
            <a:custGeom>
              <a:avLst/>
              <a:gdLst/>
              <a:ahLst/>
              <a:cxnLst/>
              <a:rect l="l" t="t" r="r" b="b"/>
              <a:pathLst>
                <a:path w="4773930" h="2737485">
                  <a:moveTo>
                    <a:pt x="0" y="0"/>
                  </a:moveTo>
                  <a:lnTo>
                    <a:pt x="312420" y="636270"/>
                  </a:lnTo>
                  <a:lnTo>
                    <a:pt x="662940" y="1230630"/>
                  </a:lnTo>
                  <a:lnTo>
                    <a:pt x="1072515" y="1745932"/>
                  </a:lnTo>
                  <a:lnTo>
                    <a:pt x="1481138" y="2143125"/>
                  </a:lnTo>
                  <a:lnTo>
                    <a:pt x="1948815" y="2460307"/>
                  </a:lnTo>
                  <a:lnTo>
                    <a:pt x="2415540" y="2658428"/>
                  </a:lnTo>
                  <a:lnTo>
                    <a:pt x="2883218" y="2737485"/>
                  </a:lnTo>
                  <a:lnTo>
                    <a:pt x="3350895" y="2539365"/>
                  </a:lnTo>
                  <a:lnTo>
                    <a:pt x="3818572" y="2063115"/>
                  </a:lnTo>
                  <a:lnTo>
                    <a:pt x="4344352" y="1508760"/>
                  </a:lnTo>
                  <a:lnTo>
                    <a:pt x="4773930" y="107156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333172" y="2012632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326630" y="371760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320088" y="4550092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138285" y="4827270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73352" y="1593056"/>
              <a:ext cx="5367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损失 L(w)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20024" y="5162074"/>
              <a:ext cx="923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23333" y="5162074"/>
              <a:ext cx="1530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6790" y="5162074"/>
              <a:ext cx="1530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0248" y="5162074"/>
              <a:ext cx="1530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92006" y="2465546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坡越缓，走得越短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35" name="Rectangle 3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5805011"/>
              <a:ext cx="995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四步：随机选 w⁰，算 dL/dw，按 w ← w − η·dL/dw 更新，重复到导数接近 0。导数为负时参数增加，为正时参数减少，负号已经替你管好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以线性回归为例：更新式里的关键因子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2501" cy="264033"/>
            <a:chOff x="526542" y="1545907"/>
            <a:chExt cx="492250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2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先看一个样本，把 ∂J/∂θⱼ 算到底，多样本只是把它加起来。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7"/>
              <p:cNvSpPr txBox="1">
                <a:spLocks noGrp="1"/>
              </p:cNvSpPr>
              <p:nvPr/>
            </p:nvSpPr>
            <p:spPr>
              <a:xfrm>
                <a:off x="533400" y="1928812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18"/>
              <p:cNvSpPr txBox="1">
                <a:spLocks noGrp="1"/>
              </p:cNvSpPr>
              <p:nvPr/>
            </p:nvSpPr>
            <p:spPr>
              <a:xfrm>
                <a:off x="533400" y="2505075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19"/>
              <p:cNvSpPr txBox="1">
                <a:spLocks noGrp="1"/>
              </p:cNvSpPr>
              <p:nvPr/>
            </p:nvSpPr>
            <p:spPr>
              <a:xfrm>
                <a:off x="533400" y="3081338"/>
                <a:ext cx="584263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llout-4"/>
          <p:cNvGrpSpPr/>
          <p:nvPr/>
        </p:nvGrpSpPr>
        <p:grpSpPr>
          <a:xfrm>
            <a:off x="533400" y="3779520"/>
            <a:ext cx="5842635" cy="702945"/>
            <a:chOff x="533400" y="3779520"/>
            <a:chExt cx="5842635" cy="702945"/>
          </a:xfrm>
        </p:grpSpPr>
        <p:sp>
          <p:nvSpPr>
            <p:cNvPr id="12" name="Rectangle 12"/>
            <p:cNvSpPr/>
            <p:nvPr/>
          </p:nvSpPr>
          <p:spPr>
            <a:xfrm>
              <a:off x="533400" y="377952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030982"/>
              <a:ext cx="200023" cy="200023"/>
              <a:chOff x="738188" y="4030982"/>
              <a:chExt cx="200023" cy="2000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40309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8" y="40976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3923824"/>
              <a:ext cx="481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求和式里只有 k = j 这一项含 θⱼ，其余对 θⱼ 求导全是 0，所以只剩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 xⱼ。</a:t>
              </a:r>
            </a:p>
          </p:txBody>
        </p:sp>
      </p:grpSp>
      <p:grpSp>
        <p:nvGrpSpPr>
          <p:cNvPr id="25" name="c1-card-5"/>
          <p:cNvGrpSpPr/>
          <p:nvPr/>
        </p:nvGrpSpPr>
        <p:grpSpPr>
          <a:xfrm>
            <a:off x="533400" y="4647248"/>
            <a:ext cx="5842635" cy="1649730"/>
            <a:chOff x="533400" y="4647248"/>
            <a:chExt cx="5842635" cy="1649730"/>
          </a:xfrm>
        </p:grpSpPr>
        <p:sp>
          <p:nvSpPr>
            <p:cNvPr id="18" name="Rectangle 18"/>
            <p:cNvSpPr/>
            <p:nvPr/>
          </p:nvSpPr>
          <p:spPr>
            <a:xfrm>
              <a:off x="533400" y="4647248"/>
              <a:ext cx="5842635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780598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48282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147" y="48610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450" y="486775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θⱼ 必须同时更新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5183981"/>
              <a:ext cx="50279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先用当前这组 Θ 把 d+1 个偏导全部算完，再一起写回去。算一个改一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个，后面的偏导就用上了被改过的 θ，走的方向已经不是这一点的梯度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141" y="5951220"/>
              <a:ext cx="4855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写代码时用一个临时向量存新值，或者直接用向量式 Θ ← Θ − η·Xᵀ(XΘ − Y)。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928812"/>
            <a:ext cx="4977765" cy="1743075"/>
            <a:chOff x="6680835" y="1928812"/>
            <a:chExt cx="4977765" cy="1743075"/>
          </a:xfrm>
        </p:grpSpPr>
        <p:sp>
          <p:nvSpPr>
            <p:cNvPr id="26" name="Rectangle 26"/>
            <p:cNvSpPr/>
            <p:nvPr/>
          </p:nvSpPr>
          <p:spPr>
            <a:xfrm>
              <a:off x="6680835" y="1928812"/>
              <a:ext cx="497776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0360" y="2062162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99910" y="2109788"/>
              <a:ext cx="73914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76210" y="2142649"/>
              <a:ext cx="5884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LMS 规则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7826" y="21493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单样本的更新式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120"/>
                <p:cNvSpPr txBox="1">
                  <a:spLocks noGrp="1"/>
                </p:cNvSpPr>
                <p:nvPr/>
              </p:nvSpPr>
              <p:spPr>
                <a:xfrm>
                  <a:off x="6899910" y="2445068"/>
                  <a:ext cx="457771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←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η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893433" y="2851309"/>
              <a:ext cx="4025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也叫 LMS update rule 或 Widrow-Hoff 学习规则。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4576" y="3132773"/>
              <a:ext cx="439788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性质：更新量的大小正比于回归误差 |h_Θ(x) − y|。预测得越准，这一步挪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得越少；差得越远，挪得越猛。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3835718"/>
            <a:ext cx="4977765" cy="2460308"/>
            <a:chOff x="6680835" y="3835718"/>
            <a:chExt cx="4977765" cy="2460308"/>
          </a:xfrm>
        </p:grpSpPr>
        <p:sp>
          <p:nvSpPr>
            <p:cNvPr id="35" name="Rectangle 35"/>
            <p:cNvSpPr/>
            <p:nvPr/>
          </p:nvSpPr>
          <p:spPr>
            <a:xfrm>
              <a:off x="6680835" y="3835718"/>
              <a:ext cx="4977765" cy="2460308"/>
            </a:xfrm>
            <a:prstGeom prst="roundRect">
              <a:avLst>
                <a:gd name="adj" fmla="val 54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3969068"/>
              <a:ext cx="47625" cy="21936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99910" y="401669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81380" y="404955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更正与对照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09435" y="44100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4883" y="4357211"/>
              <a:ext cx="417083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原课件用 α 表示学习率，本讲义按第1章的约定统一写 </a:t>
              </a:r>
              <a:r>
                <a:rPr lang="el-GR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避免与正则化系数 λ、显著性水平等混用。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09435" y="493776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64883" y="4884896"/>
              <a:ext cx="41501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BGD 写成 θⱼ := θⱼ + α Σ(y⁽ⁱ⁾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h(x⁽ⁱ⁾))xⱼ⁽ⁱ⁾，加号配 (y − h)，与这里减号配 (h − y)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完全等价。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55498" cy="909257"/>
            <a:chOff x="520446" y="342900"/>
            <a:chExt cx="71554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554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推广到整个样本集：BGD、SGD 与 mini-batch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724150"/>
            <a:chOff x="533400" y="1524000"/>
            <a:chExt cx="5842635" cy="2724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724150"/>
            </a:xfrm>
            <a:prstGeom prst="roundRect">
              <a:avLst>
                <a:gd name="adj" fmla="val 34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三种更新方式的骨架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205808" cy="22307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bgd(X, y, eta=0.01, epochs=100):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 = np.zeros(X.shape[1])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range(epochs):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 = X.T @ (X @ th - y)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全部样本的梯度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 -= eta * g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扫完一遍才更新一次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sgd(X, y, eta=0.01, epochs=100):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 = np.zeros(X.shape[1])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range(epochs):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np.random.permutation(len(y)):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每轮打乱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th -= eta * (X[i] @ th - y[i]) * X[i]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看一个就更新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33888"/>
            <a:ext cx="5842635" cy="1823085"/>
            <a:chOff x="533400" y="4433888"/>
            <a:chExt cx="5842635" cy="1823085"/>
          </a:xfrm>
        </p:grpSpPr>
        <p:sp>
          <p:nvSpPr>
            <p:cNvPr id="11" name="Rectangle 11"/>
            <p:cNvSpPr/>
            <p:nvPr/>
          </p:nvSpPr>
          <p:spPr>
            <a:xfrm>
              <a:off x="533400" y="4433888"/>
              <a:ext cx="5842635" cy="1823085"/>
            </a:xfrm>
            <a:prstGeom prst="roundRect">
              <a:avLst>
                <a:gd name="adj" fmla="val 627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241726"/>
              <a:ext cx="224134" cy="192560"/>
              <a:chOff x="726129" y="524172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3120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2417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3898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114449"/>
              <a:ext cx="487464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SGD 不打乱顺序就等于按固定次序反复扫，容易在数据本身有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排序时走出系统性偏差。作业里特意点名要打乱。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680835" y="1524000"/>
            <a:ext cx="4977765" cy="2360295"/>
            <a:chOff x="6680835" y="1524000"/>
            <a:chExt cx="4977765" cy="236029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6089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9284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何时更新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377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每次代价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3218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收敛表现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6182" y="219170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BGD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0629" y="2085022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扫完整个训练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75076" y="2191702"/>
              <a:ext cx="598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O(N·d)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70439" y="208502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平稳，大样本时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80835" y="25927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0835" y="2597468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6182" y="283559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SGD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80629" y="28355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每看一个样本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75076" y="283559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70439" y="272891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快但震荡，难落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到极小点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32365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0360" y="3250882"/>
              <a:ext cx="1275398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6182" y="3479482"/>
              <a:ext cx="8942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mini-batch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0629" y="34794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每看一小批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75076" y="3479482"/>
              <a:ext cx="598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O(B·d)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70439" y="337280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折中，实际最常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1524000"/>
              <a:ext cx="4977765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70520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264968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260330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680835" y="4070032"/>
            <a:ext cx="4977765" cy="2185988"/>
            <a:chOff x="6680835" y="4070032"/>
            <a:chExt cx="4977765" cy="2185988"/>
          </a:xfrm>
        </p:grpSpPr>
        <p:sp>
          <p:nvSpPr>
            <p:cNvPr id="44" name="Rectangle 44"/>
            <p:cNvSpPr/>
            <p:nvPr/>
          </p:nvSpPr>
          <p:spPr>
            <a:xfrm>
              <a:off x="6680835" y="4070032"/>
              <a:ext cx="4977765" cy="2185988"/>
            </a:xfrm>
            <a:prstGeom prst="roundRect">
              <a:avLst>
                <a:gd name="adj" fmla="val 61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84670" y="427386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70928" y="43095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892290" y="470725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48881" y="4646771"/>
              <a:ext cx="41172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样本量大时推荐 SGD 或 mini-batch：实际应用中最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优解附近的任意解，往往已经足够近似最优解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892290" y="52987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48881" y="5238274"/>
              <a:ext cx="40721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mini-batch 用若干样本的平均梯度作为更新方向，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批大小 B 常取 32 到 256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92290" y="58902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48881" y="5829776"/>
              <a:ext cx="36867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收敛后期把 η 调小，SGD 的震荡会明显收窄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 η：太小走不到，太大跳过去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graph-1"/>
          <p:cNvGrpSpPr/>
          <p:nvPr/>
        </p:nvGrpSpPr>
        <p:grpSpPr>
          <a:xfrm>
            <a:off x="880110" y="1620203"/>
            <a:ext cx="5073015" cy="4579619"/>
            <a:chOff x="880110" y="1620203"/>
            <a:chExt cx="5073015" cy="4579619"/>
          </a:xfrm>
        </p:grpSpPr>
        <p:sp>
          <p:nvSpPr>
            <p:cNvPr id="7" name="Freeform 7"/>
            <p:cNvSpPr/>
            <p:nvPr/>
          </p:nvSpPr>
          <p:spPr>
            <a:xfrm>
              <a:off x="965835" y="5781675"/>
              <a:ext cx="4892040" cy="9525"/>
            </a:xfrm>
            <a:custGeom>
              <a:avLst/>
              <a:gdLst/>
              <a:ahLst/>
              <a:cxnLst/>
              <a:rect l="l" t="t" r="r" b="b"/>
              <a:pathLst>
                <a:path w="4892040" h="9525">
                  <a:moveTo>
                    <a:pt x="0" y="0"/>
                  </a:moveTo>
                  <a:lnTo>
                    <a:pt x="48920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857875" y="5734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27735" y="2024062"/>
              <a:ext cx="9525" cy="3643312"/>
            </a:xfrm>
            <a:custGeom>
              <a:avLst/>
              <a:gdLst/>
              <a:ahLst/>
              <a:cxnLst/>
              <a:rect l="l" t="t" r="r" b="b"/>
              <a:pathLst>
                <a:path w="9525" h="3643312">
                  <a:moveTo>
                    <a:pt x="0" y="36433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80110" y="1928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8230" y="2025015"/>
              <a:ext cx="1331595" cy="1434465"/>
            </a:xfrm>
            <a:custGeom>
              <a:avLst/>
              <a:gdLst/>
              <a:ahLst/>
              <a:cxnLst/>
              <a:rect l="l" t="t" r="r" b="b"/>
              <a:pathLst>
                <a:path w="1331595" h="1434465">
                  <a:moveTo>
                    <a:pt x="0" y="560070"/>
                  </a:moveTo>
                  <a:lnTo>
                    <a:pt x="355282" y="1434465"/>
                  </a:lnTo>
                  <a:lnTo>
                    <a:pt x="693420" y="563880"/>
                  </a:lnTo>
                  <a:lnTo>
                    <a:pt x="1030605" y="950595"/>
                  </a:lnTo>
                  <a:lnTo>
                    <a:pt x="133159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78230" y="2575560"/>
              <a:ext cx="4593908" cy="1270635"/>
            </a:xfrm>
            <a:custGeom>
              <a:avLst/>
              <a:gdLst/>
              <a:ahLst/>
              <a:cxnLst/>
              <a:rect l="l" t="t" r="r" b="b"/>
              <a:pathLst>
                <a:path w="4593908" h="1270635">
                  <a:moveTo>
                    <a:pt x="0" y="0"/>
                  </a:moveTo>
                  <a:lnTo>
                    <a:pt x="580072" y="1270635"/>
                  </a:lnTo>
                  <a:lnTo>
                    <a:pt x="1255395" y="981075"/>
                  </a:lnTo>
                  <a:lnTo>
                    <a:pt x="2043112" y="1125855"/>
                  </a:lnTo>
                  <a:lnTo>
                    <a:pt x="2830830" y="1028700"/>
                  </a:lnTo>
                  <a:lnTo>
                    <a:pt x="3730942" y="1077278"/>
                  </a:lnTo>
                  <a:lnTo>
                    <a:pt x="4593908" y="10772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78230" y="2539365"/>
              <a:ext cx="4593908" cy="1982152"/>
            </a:xfrm>
            <a:custGeom>
              <a:avLst/>
              <a:gdLst/>
              <a:ahLst/>
              <a:cxnLst/>
              <a:rect l="l" t="t" r="r" b="b"/>
              <a:pathLst>
                <a:path w="4593908" h="1982152">
                  <a:moveTo>
                    <a:pt x="0" y="0"/>
                  </a:moveTo>
                  <a:lnTo>
                    <a:pt x="580072" y="726757"/>
                  </a:lnTo>
                  <a:lnTo>
                    <a:pt x="1311592" y="1306830"/>
                  </a:lnTo>
                  <a:lnTo>
                    <a:pt x="2155508" y="1694497"/>
                  </a:lnTo>
                  <a:lnTo>
                    <a:pt x="3056573" y="1887855"/>
                  </a:lnTo>
                  <a:lnTo>
                    <a:pt x="3956685" y="1936432"/>
                  </a:lnTo>
                  <a:lnTo>
                    <a:pt x="4593908" y="198215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77278" y="2606040"/>
              <a:ext cx="4594860" cy="2788920"/>
            </a:xfrm>
            <a:custGeom>
              <a:avLst/>
              <a:gdLst/>
              <a:ahLst/>
              <a:cxnLst/>
              <a:rect l="l" t="t" r="r" b="b"/>
              <a:pathLst>
                <a:path w="4594860" h="2788920">
                  <a:moveTo>
                    <a:pt x="0" y="0"/>
                  </a:moveTo>
                  <a:lnTo>
                    <a:pt x="468630" y="1434465"/>
                  </a:lnTo>
                  <a:lnTo>
                    <a:pt x="1031558" y="2207895"/>
                  </a:lnTo>
                  <a:lnTo>
                    <a:pt x="1819275" y="2595562"/>
                  </a:lnTo>
                  <a:lnTo>
                    <a:pt x="2719388" y="2740342"/>
                  </a:lnTo>
                  <a:lnTo>
                    <a:pt x="3731895" y="2788920"/>
                  </a:lnTo>
                  <a:lnTo>
                    <a:pt x="4594860" y="278892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4210" y="162020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损失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40823" y="602361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参数更新次数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23440" y="191881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学习率非常大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46448" y="332184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大学习率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46448" y="462867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小学习率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46448" y="554783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理想情况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6457760" y="1545907"/>
            <a:ext cx="4546854" cy="1207008"/>
            <a:chOff x="6457760" y="1545907"/>
            <a:chExt cx="4546854" cy="1207008"/>
          </a:xfrm>
        </p:grpSpPr>
        <p:sp>
          <p:nvSpPr>
            <p:cNvPr id="22" name="TextBox 22"/>
            <p:cNvSpPr txBox="1"/>
            <p:nvPr/>
          </p:nvSpPr>
          <p:spPr>
            <a:xfrm>
              <a:off x="6457760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两个方向的毛病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73190" y="19221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29210" y="1865947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 过小：迭代次数高，跑很久还没到底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73190" y="223361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9210" y="2177415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 过大：每次迈过极小值，来回震荡甚至发散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73190" y="25450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9210" y="248888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只看最终损失看不出问题，要画损失随迭代次数的曲线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464618" y="2874645"/>
            <a:ext cx="5193982" cy="2223135"/>
            <a:chOff x="6464618" y="2874645"/>
            <a:chExt cx="5193982" cy="2223135"/>
          </a:xfrm>
        </p:grpSpPr>
        <p:sp>
          <p:nvSpPr>
            <p:cNvPr id="30" name="Rectangle 30"/>
            <p:cNvSpPr/>
            <p:nvPr/>
          </p:nvSpPr>
          <p:spPr>
            <a:xfrm>
              <a:off x="6464618" y="2874645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85064" y="29989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改进方向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7144" y="29989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代表算法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07676" y="29989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4630" y="350472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动态学习率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9098" y="3404711"/>
              <a:ext cx="6372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Adagrad,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RMSProp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9742" y="3404711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按历史梯度大小自动缩放每个参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数的步长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881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3886200"/>
              <a:ext cx="519398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4630" y="41105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处理梯度为零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19098" y="4110514"/>
              <a:ext cx="7706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Momentum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9742" y="4010501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累积上一步的方向，冲过平台和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鞍点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44872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4630" y="47163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9098" y="4716304"/>
              <a:ext cx="378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69742" y="4616291"/>
              <a:ext cx="1853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RMSProp 与 Momentum 合起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来，深度学习默认选项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874645"/>
              <a:ext cx="5193982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14322" y="2874645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64968" y="2874645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3"/>
          <p:cNvGrpSpPr/>
          <p:nvPr/>
        </p:nvGrpSpPr>
        <p:grpSpPr>
          <a:xfrm>
            <a:off x="6464618" y="5273040"/>
            <a:ext cx="5193982" cy="978218"/>
            <a:chOff x="6464618" y="5273040"/>
            <a:chExt cx="5193982" cy="978218"/>
          </a:xfrm>
        </p:grpSpPr>
        <p:sp>
          <p:nvSpPr>
            <p:cNvPr id="50" name="Rectangle 50"/>
            <p:cNvSpPr/>
            <p:nvPr/>
          </p:nvSpPr>
          <p:spPr>
            <a:xfrm>
              <a:off x="6464618" y="5273040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69405" y="5661660"/>
              <a:ext cx="200026" cy="200025"/>
              <a:chOff x="6669405" y="5661660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56616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9144" y="57061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43859" y="58172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2110" y="5418773"/>
              <a:ext cx="418852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手工调参时按 3 倍或 10 倍的跨度试：0.001、0.003、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0.01、0.03、0.1，看哪一档的损失曲线下降最快又不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抖。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线性回归的代价函数是凸的，不用担心局部极小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graph-1"/>
          <p:cNvGrpSpPr/>
          <p:nvPr/>
        </p:nvGrpSpPr>
        <p:grpSpPr>
          <a:xfrm>
            <a:off x="896302" y="1593532"/>
            <a:ext cx="4847273" cy="3763804"/>
            <a:chOff x="896302" y="1593532"/>
            <a:chExt cx="4847273" cy="3763804"/>
          </a:xfrm>
        </p:grpSpPr>
        <p:sp>
          <p:nvSpPr>
            <p:cNvPr id="7" name="Freeform 7"/>
            <p:cNvSpPr/>
            <p:nvPr/>
          </p:nvSpPr>
          <p:spPr>
            <a:xfrm>
              <a:off x="896302" y="5117782"/>
              <a:ext cx="4752022" cy="9525"/>
            </a:xfrm>
            <a:custGeom>
              <a:avLst/>
              <a:gdLst/>
              <a:ahLst/>
              <a:cxnLst/>
              <a:rect l="l" t="t" r="r" b="b"/>
              <a:pathLst>
                <a:path w="4752022" h="9525">
                  <a:moveTo>
                    <a:pt x="0" y="0"/>
                  </a:moveTo>
                  <a:lnTo>
                    <a:pt x="4752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48325" y="50701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57275" y="2139315"/>
              <a:ext cx="4577715" cy="2727007"/>
            </a:xfrm>
            <a:custGeom>
              <a:avLst/>
              <a:gdLst/>
              <a:ahLst/>
              <a:cxnLst/>
              <a:rect l="l" t="t" r="r" b="b"/>
              <a:pathLst>
                <a:path w="4577715" h="2727007">
                  <a:moveTo>
                    <a:pt x="0" y="0"/>
                  </a:moveTo>
                  <a:lnTo>
                    <a:pt x="233362" y="721995"/>
                  </a:lnTo>
                  <a:lnTo>
                    <a:pt x="558165" y="1390650"/>
                  </a:lnTo>
                  <a:lnTo>
                    <a:pt x="990600" y="1683068"/>
                  </a:lnTo>
                  <a:lnTo>
                    <a:pt x="1423988" y="1473518"/>
                  </a:lnTo>
                  <a:lnTo>
                    <a:pt x="1856422" y="1765935"/>
                  </a:lnTo>
                  <a:lnTo>
                    <a:pt x="2289810" y="1975485"/>
                  </a:lnTo>
                  <a:lnTo>
                    <a:pt x="2722245" y="1891665"/>
                  </a:lnTo>
                  <a:lnTo>
                    <a:pt x="3101340" y="2309813"/>
                  </a:lnTo>
                  <a:lnTo>
                    <a:pt x="3479482" y="2727007"/>
                  </a:lnTo>
                  <a:lnTo>
                    <a:pt x="3912870" y="2142172"/>
                  </a:lnTo>
                  <a:lnTo>
                    <a:pt x="4291012" y="1223010"/>
                  </a:lnTo>
                  <a:lnTo>
                    <a:pt x="4577715" y="70675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981200" y="3755708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80410" y="4048125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470082" y="4799648"/>
              <a:ext cx="133350" cy="1333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7712" y="4192429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变化很慢，像停住了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04249" y="4526756"/>
              <a:ext cx="986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鞍点附近导数接近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5001" y="519541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全局最优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7368" y="1593532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非凸函数的三种停住方式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2742248"/>
            <a:chOff x="6248400" y="1524000"/>
            <a:chExt cx="5410200" cy="2742248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742248"/>
            </a:xfrm>
            <a:prstGeom prst="roundRect">
              <a:avLst>
                <a:gd name="adj" fmla="val 4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24755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62597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线性回归只有一个全局最优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25"/>
                <p:cNvSpPr txBox="1">
                  <a:spLocks noGrp="1"/>
                </p:cNvSpPr>
                <p:nvPr/>
              </p:nvSpPr>
              <p:spPr>
                <a:xfrm>
                  <a:off x="6478905" y="2067878"/>
                  <a:ext cx="498729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472047" y="2744152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是 Θ 的二次函数，二阶导数矩阵（Hessian）就是 XᵀX，它半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正定，所以 J 是凸二次函数（convex quadratic function）。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87478" y="33594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3497" y="330327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凸函数的驻点就是全局极小点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87478" y="36623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43497" y="3606165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XᵀX 正定时最优解唯一；只是半正定时最优值唯一，但取到它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Θ 有多个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248400" y="4441508"/>
            <a:ext cx="5410200" cy="978218"/>
            <a:chOff x="6248400" y="4441508"/>
            <a:chExt cx="5410200" cy="978218"/>
          </a:xfrm>
        </p:grpSpPr>
        <p:sp>
          <p:nvSpPr>
            <p:cNvPr id="30" name="Rectangle 30"/>
            <p:cNvSpPr/>
            <p:nvPr/>
          </p:nvSpPr>
          <p:spPr>
            <a:xfrm>
              <a:off x="6248400" y="444150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41129" y="4826436"/>
              <a:ext cx="224134" cy="192560"/>
              <a:chOff x="6441129" y="4826436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53200" y="48968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41129" y="48264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53200" y="49745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892" y="4587240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这个好性质是线性回归独有的。第4章的神经网络代价函数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非凸，上图三种情况都会遇到，初值和优化器的选择才变得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重要。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凸不凸看的是代价函数关于参数的形状，与数据本身是不是线性无关。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例题三：手算一步批梯度下降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44902" cy="264033"/>
            <a:chOff x="526542" y="1545907"/>
            <a:chExt cx="584490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44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三个样本，模型 h(x) = θ₀ + θ₁x，初值 Θ = (0, 0)，学习率 η = 0.05。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28447" y="1928812"/>
            <a:ext cx="5415153" cy="1863757"/>
            <a:chOff x="528447" y="1928812"/>
            <a:chExt cx="5415153" cy="186375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144" y="2050256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 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14676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x⁽ⁱ⁾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88131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y⁽ⁱ⁾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39562" y="205025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h(x⁽ⁱ⁾)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3750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401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78418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187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2498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401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78418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187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42498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0401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78418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187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2498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28812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02092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47650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449955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4058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3601879"/>
              <a:ext cx="20854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初值下 J(Θ) = ½(1 + 9 + 16) = 13</a:t>
              </a:r>
            </a:p>
          </p:txBody>
        </p:sp>
      </p:grpSp>
      <p:grpSp>
        <p:nvGrpSpPr>
          <p:cNvPr id="57" name="c1-steps-2"/>
          <p:cNvGrpSpPr/>
          <p:nvPr/>
        </p:nvGrpSpPr>
        <p:grpSpPr>
          <a:xfrm>
            <a:off x="533400" y="3933825"/>
            <a:ext cx="2096704" cy="2268379"/>
            <a:chOff x="533400" y="3933825"/>
            <a:chExt cx="2096704" cy="2268379"/>
          </a:xfrm>
        </p:grpSpPr>
        <p:sp>
          <p:nvSpPr>
            <p:cNvPr id="40" name="Rectangle 40"/>
            <p:cNvSpPr/>
            <p:nvPr/>
          </p:nvSpPr>
          <p:spPr>
            <a:xfrm>
              <a:off x="666750" y="40767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33400" y="39338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7024" y="4007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33400" y="45167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7024" y="45905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33400" y="50996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024" y="5173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33400" y="56826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024" y="575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5642" y="396525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算两个偏导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6785" y="4233386"/>
              <a:ext cx="1434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∂J/∂θ₀ = Σ误差 = −8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5642" y="454818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带上 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785" y="4816316"/>
              <a:ext cx="1683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∂J/∂θ₁ = Σ误差·x = −19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5642" y="513111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 θ₀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785" y="539924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0 − 0.05×(−8) = 0.4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5642" y="571404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 θ₁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785" y="598217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0 − 0.05×(−19) = 0.95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248400" y="1928812"/>
            <a:ext cx="5410200" cy="1506855"/>
            <a:chOff x="6248400" y="1928812"/>
            <a:chExt cx="5410200" cy="1506855"/>
          </a:xfrm>
        </p:grpSpPr>
        <p:sp>
          <p:nvSpPr>
            <p:cNvPr id="58" name="Rectangle 58"/>
            <p:cNvSpPr/>
            <p:nvPr/>
          </p:nvSpPr>
          <p:spPr>
            <a:xfrm>
              <a:off x="6248400" y="1928812"/>
              <a:ext cx="5410200" cy="1506855"/>
            </a:xfrm>
            <a:prstGeom prst="roundRect">
              <a:avLst>
                <a:gd name="adj" fmla="val 8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2062162"/>
              <a:ext cx="47625" cy="1240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3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7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一步之后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88339" y="2150745"/>
              <a:ext cx="1933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损失从 13 降到 0.5875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6332" y="247650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新预测值 h = 1.35, 2.30, 3.25，误差 0.35, −0.70, −0.75。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6332" y="2776538"/>
              <a:ext cx="3639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 = ½(0.1225 + 0.49 + 0.5625)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0.5875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7475" y="3073241"/>
              <a:ext cx="4638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再走一步得到 Θ = (0.455, 1.115)，J = 0.232，正在往闭式解靠。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248400" y="3605212"/>
            <a:ext cx="5410200" cy="1463992"/>
            <a:chOff x="6248400" y="3605212"/>
            <a:chExt cx="5410200" cy="1463992"/>
          </a:xfrm>
        </p:grpSpPr>
        <p:sp>
          <p:nvSpPr>
            <p:cNvPr id="67" name="Rectangle 67"/>
            <p:cNvSpPr/>
            <p:nvPr/>
          </p:nvSpPr>
          <p:spPr>
            <a:xfrm>
              <a:off x="6248400" y="3605212"/>
              <a:ext cx="5410200" cy="1463992"/>
            </a:xfrm>
            <a:prstGeom prst="roundRect">
              <a:avLst>
                <a:gd name="adj" fmla="val 910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35090" y="37919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27762" y="38247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00684" y="38271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这道题的正规方程解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28232" y="415290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θ₁ = 3/2，θ₀ = −1/3，此时 J = 1/12 ≈ 0.0833，残差平方和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1/6。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29375" y="4706779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梯度下降走几十步就能逼近这个值；四个数相加就能验算的题目，考试常考。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248400" y="5238750"/>
            <a:ext cx="5410200" cy="978218"/>
            <a:chOff x="6248400" y="5238750"/>
            <a:chExt cx="5410200" cy="978218"/>
          </a:xfrm>
        </p:grpSpPr>
        <p:sp>
          <p:nvSpPr>
            <p:cNvPr id="74" name="Rectangle 74"/>
            <p:cNvSpPr/>
            <p:nvPr/>
          </p:nvSpPr>
          <p:spPr>
            <a:xfrm>
              <a:off x="6248400" y="523875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441129" y="5624631"/>
              <a:ext cx="224134" cy="192560"/>
              <a:chOff x="6441129" y="5624631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553200" y="56949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441129" y="56246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553200" y="57727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755892" y="5385435"/>
              <a:ext cx="43342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 η 换成 0.1，第一步得到 θ₁ = 1.9，第二步又被拉回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0.66，损失虽然还在降，但已经开始来回荡。再大就会发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散。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梯度下降法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梯度下降与正规方程，什么时候用哪个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6059805" cy="3011805"/>
            <a:chOff x="533400" y="1524000"/>
            <a:chExt cx="6059805" cy="3011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174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2853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梯度下降法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167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正规方程法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 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93214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需要设置并调试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5406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3214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需要多次迭代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540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一次求解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特征归一化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3214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5406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每步代价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3214" y="3375660"/>
              <a:ext cx="1852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O(N·d)，k 轮共 O(kNd)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5406" y="3375660"/>
              <a:ext cx="2159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O(Nd² + d³)，要算 XᵀX 的逆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80619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特征数 d 很大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97392" y="3684270"/>
              <a:ext cx="22831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93214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仍然可用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5406" y="380619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上万时求逆很慢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00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10527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42357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适用模型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93214" y="423576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几乎所有模型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95406" y="423576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只有少数模型有闭式解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98310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28529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rd-2"/>
          <p:cNvGrpSpPr/>
          <p:nvPr/>
        </p:nvGrpSpPr>
        <p:grpSpPr>
          <a:xfrm>
            <a:off x="533400" y="4720590"/>
            <a:ext cx="6059805" cy="1564958"/>
            <a:chOff x="533400" y="4720590"/>
            <a:chExt cx="6059805" cy="1564958"/>
          </a:xfrm>
        </p:grpSpPr>
        <p:sp>
          <p:nvSpPr>
            <p:cNvPr id="42" name="Rectangle 42"/>
            <p:cNvSpPr/>
            <p:nvPr/>
          </p:nvSpPr>
          <p:spPr>
            <a:xfrm>
              <a:off x="533400" y="4720590"/>
              <a:ext cx="605980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485394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5335" y="49244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5543" y="49601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76744" y="496395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关于时间复杂度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8096" y="5315426"/>
              <a:ext cx="528040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原课件写梯度下降 O(kn²)、正规方程 O(n³)，其中 n 是特征数、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是迭代次数，前者是在 N 与 n 同量级时的粗估。按样本数和特征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数分开写更准确，见上表。</a:t>
              </a:r>
            </a:p>
          </p:txBody>
        </p:sp>
      </p:grpSp>
      <p:grpSp>
        <p:nvGrpSpPr>
          <p:cNvPr id="56" name="c2-bullets-1"/>
          <p:cNvGrpSpPr/>
          <p:nvPr/>
        </p:nvGrpSpPr>
        <p:grpSpPr>
          <a:xfrm>
            <a:off x="6890766" y="1547336"/>
            <a:ext cx="4575653" cy="1547432"/>
            <a:chOff x="6890766" y="1547336"/>
            <a:chExt cx="4575653" cy="1547432"/>
          </a:xfrm>
        </p:grpSpPr>
        <p:sp>
          <p:nvSpPr>
            <p:cNvPr id="49" name="TextBox 49"/>
            <p:cNvSpPr txBox="1"/>
            <p:nvPr/>
          </p:nvSpPr>
          <p:spPr>
            <a:xfrm>
              <a:off x="6890766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实践上的经验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898005" y="1916430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41274" y="1886426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在一万以内，样本不算特别多，直接用正规方程或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lstsq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6898005" y="2516505"/>
              <a:ext cx="136207" cy="111442"/>
            </a:xfrm>
            <a:custGeom>
              <a:avLst/>
              <a:gdLst/>
              <a:ahLst/>
              <a:cxnLst/>
              <a:rect l="l" t="t" r="r" b="b"/>
              <a:pathLst>
                <a:path w="136207" h="111442">
                  <a:moveTo>
                    <a:pt x="0" y="59055"/>
                  </a:moveTo>
                  <a:lnTo>
                    <a:pt x="51435" y="111442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41274" y="2486501"/>
              <a:ext cx="40403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数据大到装不进内存，或者要在线更新，用 SGD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898005" y="2846070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9055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41274" y="2816066"/>
              <a:ext cx="4325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第4章以后的模型没有闭式解，梯度下降是唯一选择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898005" y="3224212"/>
            <a:ext cx="4760595" cy="1018222"/>
            <a:chOff x="6898005" y="3224212"/>
            <a:chExt cx="4760595" cy="1018222"/>
          </a:xfrm>
        </p:grpSpPr>
        <p:sp>
          <p:nvSpPr>
            <p:cNvPr id="57" name="Rectangle 57"/>
            <p:cNvSpPr/>
            <p:nvPr/>
          </p:nvSpPr>
          <p:spPr>
            <a:xfrm>
              <a:off x="6898005" y="3224212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102793" y="3633788"/>
              <a:ext cx="200026" cy="200025"/>
              <a:chOff x="7102793" y="363378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102793" y="36337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42531" y="36782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77247" y="37893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405116" y="3371374"/>
              <a:ext cx="384670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正规方程不需要迭代，也就没有收敛判断的麻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烦；但只要 XᵀX 病态，它的数值稳定性反而不如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迭代法。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线性回归的概率解释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为什么偏偏是平方和，而不是三次方、四次方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把噪声写成随机变量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高斯假设与中心极限定理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似然函数与对数似然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最大似然估计等价于最小二乘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线性回归的概率解释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先给误差一个分布：独立同分布的高斯噪声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9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133600"/>
            <a:ext cx="5410200" cy="2577465"/>
            <a:chOff x="533400" y="2133600"/>
            <a:chExt cx="5410200" cy="2577465"/>
          </a:xfrm>
        </p:grpSpPr>
        <p:sp>
          <p:nvSpPr>
            <p:cNvPr id="8" name="Rectangle 8"/>
            <p:cNvSpPr/>
            <p:nvPr/>
          </p:nvSpPr>
          <p:spPr>
            <a:xfrm>
              <a:off x="533400" y="21336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2669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3431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258" y="2378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2078" y="2378392"/>
              <a:ext cx="3130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ε⁽ⁱ⁾ 独立同分布，服从 N(0, σ²)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39390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对给定的 y⁽ⁱ⁾，总能找到一个 ε⁽ⁱ⁾ 让等式成立，所以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这一步不是假设；真正的假设是这些 ε⁽ⁱ⁾ 相互独立、同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分布、均值为 0、方差同为 σ²。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90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461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由中心极限定理，大量独立随机因素之和近似服从正态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3300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672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实际问题里的误差常常正是众多微小因素的综合反应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901565"/>
            <a:ext cx="5410200" cy="782955"/>
            <a:chOff x="533400" y="4901565"/>
            <a:chExt cx="5410200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49015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189338"/>
              <a:ext cx="224134" cy="192560"/>
              <a:chOff x="726129" y="5189338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2597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1893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3374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050155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均值为 0 不是随便写的：若误差均值是个非零常数，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它会被截距 θ₀ 吸收，等价于重新定义 h。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30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</m:e>
                          </m:ra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ε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50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50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31"/>
              <p:cNvSpPr txBox="1">
                <a:spLocks noGrp="1"/>
              </p:cNvSpPr>
              <p:nvPr/>
            </p:nvSpPr>
            <p:spPr>
              <a:xfrm>
                <a:off x="6248400" y="2228850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</m:e>
                          </m:ra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sSup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sSup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y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3" name="c2-callout-3"/>
          <p:cNvGrpSpPr/>
          <p:nvPr/>
        </p:nvGrpSpPr>
        <p:grpSpPr>
          <a:xfrm>
            <a:off x="6248400" y="2907982"/>
            <a:ext cx="5410200" cy="782955"/>
            <a:chOff x="6248400" y="2907982"/>
            <a:chExt cx="5410200" cy="782955"/>
          </a:xfrm>
        </p:grpSpPr>
        <p:sp>
          <p:nvSpPr>
            <p:cNvPr id="28" name="Rectangle 28"/>
            <p:cNvSpPr/>
            <p:nvPr/>
          </p:nvSpPr>
          <p:spPr>
            <a:xfrm>
              <a:off x="6248400" y="290798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53188" y="3199450"/>
              <a:ext cx="200023" cy="200023"/>
              <a:chOff x="6453188" y="319945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31994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86538" y="32661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755130" y="3056572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ε 换成 y − Θᵀx 就得到第二个式子。分号表示 Θ 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待定参数而不是随机变量，这是频率派的写法。</a:t>
              </a:r>
            </a:p>
          </p:txBody>
        </p:sp>
      </p:grpSp>
      <p:grpSp>
        <p:nvGrpSpPr>
          <p:cNvPr id="42" name="c2-kv-4"/>
          <p:cNvGrpSpPr/>
          <p:nvPr/>
        </p:nvGrpSpPr>
        <p:grpSpPr>
          <a:xfrm>
            <a:off x="6240780" y="3906202"/>
            <a:ext cx="5417820" cy="1455420"/>
            <a:chOff x="6240780" y="3906202"/>
            <a:chExt cx="5417820" cy="1455420"/>
          </a:xfrm>
        </p:grpSpPr>
        <p:sp>
          <p:nvSpPr>
            <p:cNvPr id="34" name="TextBox 34"/>
            <p:cNvSpPr txBox="1"/>
            <p:nvPr/>
          </p:nvSpPr>
          <p:spPr>
            <a:xfrm>
              <a:off x="6240780" y="390620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独立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60908" y="3906202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似然函数才能写成连乘，这是下一页推导的前提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42262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0780" y="434625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同分布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60908" y="4346258"/>
              <a:ext cx="3987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所有样本共用一个 σ，不必为每个样本单独估方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9482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0780" y="5068252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均值为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60908" y="506825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模型没有系统性的高估或低估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线性回归的概率解释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最大化对数似然，化出来就是最小二乘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408087" cy="278702"/>
            <a:chOff x="526161" y="1547336"/>
            <a:chExt cx="540808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408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似然函数把 N 个样本的概率连乘起来，取对数把连乘变成求和。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48"/>
              <p:cNvSpPr txBox="1">
                <a:spLocks noGrp="1"/>
              </p:cNvSpPr>
              <p:nvPr/>
            </p:nvSpPr>
            <p:spPr>
              <a:xfrm>
                <a:off x="533400" y="1941195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;Θ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49"/>
              <p:cNvSpPr txBox="1">
                <a:spLocks noGrp="1"/>
              </p:cNvSpPr>
              <p:nvPr/>
            </p:nvSpPr>
            <p:spPr>
              <a:xfrm>
                <a:off x="533400" y="2682240"/>
                <a:ext cx="5626418" cy="500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2π</m:t>
                                          </m:r>
                                        </m:e>
                                      </m:rad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 </m:t>
                                      </m:r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den>
                                  </m:f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bar"/>
                                              <m:ctrlPr>
                                                <a:rPr lang="zh-CN" sz="11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e>
                                                  <m:d>
                                                    <m:dPr>
                                                      <m:begChr m:val="("/>
                                                      <m:sepChr m:val=""/>
                                                      <m:endChr m:val=")"/>
                                                      <m:grow m:val="on"/>
                                                      <m:ctrlPr>
                                                        <a:rPr lang="zh-CN" sz="1120" dirty="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  <a:latin typeface="Cambria Math"/>
                                                          <a:ea typeface="Cambria Math"/>
                                                          <a:cs typeface="Cambria Math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e>
                                                          <m:r>
                                                            <m:rPr>
                                                              <m:sty m:val="p"/>
                                                            </m:rPr>
                                                            <a:rPr lang="zh-CN" sz="1120" dirty="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  <a:latin typeface="Cambria Math"/>
                                                              <a:ea typeface="Cambria Math"/>
                                                              <a:cs typeface="Cambria Math"/>
                                                            </a:rPr>
                                                            <m:t>Θ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zh-CN" sz="1120" dirty="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  <a:latin typeface="Cambria Math"/>
                                                              <a:ea typeface="Cambria Math"/>
                                                              <a:cs typeface="Cambria Math"/>
                                                            </a:rPr>
                                                            <m:t>T</m:t>
                                                          </m:r>
                                                        </m:sup>
                                                      </m:sSup>
                                                      <m:sSup>
                                                        <m:e>
                                                          <m:r>
                                                            <a:rPr lang="zh-CN" sz="1120" dirty="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  <a:latin typeface="Cambria Math"/>
                                                              <a:ea typeface="Cambria Math"/>
                                                              <a:cs typeface="Cambria Math"/>
                                                            </a:rPr>
                                                            <m:t>x</m:t>
                                                          </m:r>
                                                        </m:e>
                                                        <m:sup>
                                                          <m:d>
                                                            <m:dPr>
                                                              <m:begChr m:val="("/>
                                                              <m:sepChr m:val=""/>
                                                              <m:endChr m:val=")"/>
                                                              <m:grow m:val="on"/>
                                                              <m:ctrlPr>
                                                                <a:rPr lang="zh-CN" sz="1120" dirty="0">
                                                                  <a:solidFill>
                                                                    <a:srgbClr val="1F2937"/>
                                                                  </a:solidFill>
                                                                  <a:latin typeface="Cambria Math"/>
                                                                  <a:ea typeface="Cambria Math"/>
                                                                  <a:cs typeface="Cambria Math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zh-CN" sz="1120" dirty="0">
                                                                  <a:solidFill>
                                                                    <a:srgbClr val="1F2937"/>
                                                                  </a:solidFill>
                                                                  <a:latin typeface="Cambria Math"/>
                                                                  <a:ea typeface="Cambria Math"/>
                                                                  <a:cs typeface="Cambria Math"/>
                                                                </a:rPr>
                                                                <m:t>i</m:t>
                                                              </m:r>
                                                            </m:e>
                                                          </m:d>
                                                        </m:sup>
                                                      </m:sSup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zh-CN" sz="1120" dirty="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  <a:latin typeface="Cambria Math"/>
                                                          <a:ea typeface="Cambria Math"/>
                                                          <a:cs typeface="Cambria Math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e>
                                                          <m:r>
                                                            <a:rPr lang="zh-CN" sz="1120" dirty="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  <a:latin typeface="Cambria Math"/>
                                                              <a:ea typeface="Cambria Math"/>
                                                              <a:cs typeface="Cambria Math"/>
                                                            </a:rPr>
                                                            <m:t>y</m:t>
                                                          </m:r>
                                                        </m:e>
                                                        <m:sup>
                                                          <m:d>
                                                            <m:dPr>
                                                              <m:begChr m:val="("/>
                                                              <m:sepChr m:val=""/>
                                                              <m:endChr m:val=")"/>
                                                              <m:grow m:val="on"/>
                                                              <m:ctrlPr>
                                                                <a:rPr lang="zh-CN" sz="1120" dirty="0">
                                                                  <a:solidFill>
                                                                    <a:srgbClr val="1F2937"/>
                                                                  </a:solidFill>
                                                                  <a:latin typeface="Cambria Math"/>
                                                                  <a:ea typeface="Cambria Math"/>
                                                                  <a:cs typeface="Cambria Math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zh-CN" sz="1120" dirty="0">
                                                                  <a:solidFill>
                                                                    <a:srgbClr val="1F2937"/>
                                                                  </a:solidFill>
                                                                  <a:latin typeface="Cambria Math"/>
                                                                  <a:ea typeface="Cambria Math"/>
                                                                  <a:cs typeface="Cambria Math"/>
                                                                </a:rPr>
                                                                <m:t>i</m:t>
                                                              </m:r>
                                                            </m:e>
                                                          </m:d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zh-CN" sz="11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num>
                                            <m:den>
                                              <m:r>
                                                <a:rPr lang="zh-CN" sz="11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  <m:sSup>
                                                <m:e>
                                                  <m:r>
                                                    <a:rPr lang="zh-CN" sz="11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σ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zh-CN" sz="11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50"/>
              <p:cNvSpPr txBox="1">
                <a:spLocks noGrp="1"/>
              </p:cNvSpPr>
              <p:nvPr/>
            </p:nvSpPr>
            <p:spPr>
              <a:xfrm>
                <a:off x="533400" y="3357562"/>
                <a:ext cx="5626418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ℓ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2π</m:t>
                                  </m:r>
                                </m:e>
                              </m:rad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sup>
                                  </m:sSup>
                                  <m:sSup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2" name="c1-bullets-4"/>
          <p:cNvGrpSpPr/>
          <p:nvPr/>
        </p:nvGrpSpPr>
        <p:grpSpPr>
          <a:xfrm>
            <a:off x="526542" y="4088130"/>
            <a:ext cx="4481322" cy="1206055"/>
            <a:chOff x="526542" y="4088130"/>
            <a:chExt cx="4481322" cy="1206055"/>
          </a:xfrm>
        </p:grpSpPr>
        <p:sp>
          <p:nvSpPr>
            <p:cNvPr id="12" name="TextBox 12"/>
            <p:cNvSpPr txBox="1"/>
            <p:nvPr/>
          </p:nvSpPr>
          <p:spPr>
            <a:xfrm>
              <a:off x="526542" y="408813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三步看清楚等价关系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439578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44341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4408170"/>
              <a:ext cx="3215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第一项与 Θ 无关，对 arg max 没有贡献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70725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47456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47196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第二项前面是负号，最大化它等于最小化后面的求和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01872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50571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503015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1/(2σ²) 是正常数，不改变 arg min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941195"/>
            <a:ext cx="5193982" cy="1846898"/>
            <a:chOff x="6464618" y="1941195"/>
            <a:chExt cx="5193982" cy="1846898"/>
          </a:xfrm>
        </p:grpSpPr>
        <p:sp>
          <p:nvSpPr>
            <p:cNvPr id="23" name="Rectangle 23"/>
            <p:cNvSpPr/>
            <p:nvPr/>
          </p:nvSpPr>
          <p:spPr>
            <a:xfrm>
              <a:off x="6464618" y="1941195"/>
              <a:ext cx="5193982" cy="1846898"/>
            </a:xfrm>
            <a:prstGeom prst="roundRect">
              <a:avLst>
                <a:gd name="adj" fmla="val 72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2074545"/>
              <a:ext cx="47625" cy="15801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5122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6562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78814" y="217360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极大似然估计与最小二乘同解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51"/>
                <p:cNvSpPr txBox="1">
                  <a:spLocks noGrp="1"/>
                </p:cNvSpPr>
                <p:nvPr/>
              </p:nvSpPr>
              <p:spPr>
                <a:xfrm>
                  <a:off x="6695122" y="2486025"/>
                  <a:ext cx="4771072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ℓ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func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688264" y="3128010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这就是第9页那个 ½ 平方和的来历：在高斯噪声假设下，它不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是随便挑的，而是极大似然估计的必然结果。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464618" y="3963352"/>
            <a:ext cx="5193982" cy="1697355"/>
            <a:chOff x="6464618" y="3963352"/>
            <a:chExt cx="5193982" cy="1697355"/>
          </a:xfrm>
        </p:grpSpPr>
        <p:sp>
          <p:nvSpPr>
            <p:cNvPr id="31" name="Rectangle 31"/>
            <p:cNvSpPr/>
            <p:nvPr/>
          </p:nvSpPr>
          <p:spPr>
            <a:xfrm>
              <a:off x="6464618" y="3963352"/>
              <a:ext cx="5193982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4096702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5122" y="415575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8562" y="41900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课件原话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45514" y="419576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概率假设并非必需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8264" y="4530090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课件引了 CS229 讲义的一段话：概率假设对最小二乘来说绝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不是必需的，也确实存在其他自然的假设能为它辩护。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9408" y="5085874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换句话说，不接受高斯噪声假设，最小二乘照样是一个合理的准则；接受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了，就多了一层解释。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6023610"/>
              <a:ext cx="56593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 在最优 Θ 里消失了，但它并非没用：置信区间和预测区间都要靠它。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023991" cy="3706177"/>
            <a:chOff x="667512" y="1835468"/>
            <a:chExt cx="6023991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线性回归的两种扩展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数据不是一条直线时，改权重或者改特征，模型形式都不用换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局部加权线性回归的目标函数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加权闭式解与高斯核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 k 的影响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用基函数做非线性回归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基函数回归的正规方程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线性回归的两种扩展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局部加权线性回归：离得近的样本说话更算数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ompare-1"/>
          <p:cNvGrpSpPr/>
          <p:nvPr/>
        </p:nvGrpSpPr>
        <p:grpSpPr>
          <a:xfrm>
            <a:off x="533400" y="1524000"/>
            <a:ext cx="5410200" cy="2817495"/>
            <a:chOff x="533400" y="1524000"/>
            <a:chExt cx="5410200" cy="2817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817495"/>
            </a:xfrm>
            <a:prstGeom prst="roundRect">
              <a:avLst>
                <a:gd name="adj" fmla="val 534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标准线性回归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486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112645"/>
              <a:ext cx="175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拟合 Θ 使 Σᵢ(y⁽ⁱ⁾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Θᵀx⁽ⁱ⁾)² 最小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733675"/>
              <a:ext cx="824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Θᵀx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31318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3068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训练一次，处处使用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48050" y="1524000"/>
              <a:ext cx="2495550" cy="2817495"/>
            </a:xfrm>
            <a:prstGeom prst="roundRect">
              <a:avLst>
                <a:gd name="adj" fmla="val 534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49980" y="1758315"/>
              <a:ext cx="1539240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局部加权线性回归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LWLR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663315" y="24326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21430" y="2369820"/>
              <a:ext cx="1291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拟合 Θ 使 Σᵢ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w⁽ⁱ⁾(y⁽ⁱ⁾ 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Θᵀx⁽ⁱ⁾)² 最小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63315" y="33394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21430" y="3276600"/>
              <a:ext cx="824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Θᵀx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63315" y="36747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21430" y="361188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权重依赖待预测点，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来一个点训练一次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076575" y="27708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46915" y="286702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55"/>
              <p:cNvSpPr txBox="1">
                <a:spLocks noGrp="1"/>
              </p:cNvSpPr>
              <p:nvPr/>
            </p:nvSpPr>
            <p:spPr>
              <a:xfrm>
                <a:off x="533400" y="4531995"/>
                <a:ext cx="5410200" cy="600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sup>
                                  </m:sSup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3" name="c1-callout-3"/>
          <p:cNvGrpSpPr/>
          <p:nvPr/>
        </p:nvGrpSpPr>
        <p:grpSpPr>
          <a:xfrm>
            <a:off x="533400" y="5322570"/>
            <a:ext cx="5410200" cy="1034415"/>
            <a:chOff x="533400" y="5322570"/>
            <a:chExt cx="5410200" cy="1034415"/>
          </a:xfrm>
        </p:grpSpPr>
        <p:sp>
          <p:nvSpPr>
            <p:cNvPr id="27" name="Rectangle 27"/>
            <p:cNvSpPr/>
            <p:nvPr/>
          </p:nvSpPr>
          <p:spPr>
            <a:xfrm>
              <a:off x="533400" y="5322570"/>
              <a:ext cx="5410200" cy="1034415"/>
            </a:xfrm>
            <a:prstGeom prst="roundRect">
              <a:avLst>
                <a:gd name="adj" fmla="val 1105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739765"/>
              <a:ext cx="200026" cy="200025"/>
              <a:chOff x="738188" y="573976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7397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7842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8953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596890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 是对角矩阵，第 i 个对角元就是第 i 个样本的权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重。权重为 0 的样本相当于没参加这次拟合。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089785"/>
            <a:chOff x="6248400" y="1524000"/>
            <a:chExt cx="5410200" cy="208978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2089785"/>
            </a:xfrm>
            <a:prstGeom prst="roundRect">
              <a:avLst>
                <a:gd name="adj" fmla="val 63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18230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闭式解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9000" y="1768792"/>
              <a:ext cx="1282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Θ 求导令零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156"/>
                <p:cNvSpPr txBox="1">
                  <a:spLocks noGrp="1"/>
                </p:cNvSpPr>
                <p:nvPr/>
              </p:nvSpPr>
              <p:spPr>
                <a:xfrm>
                  <a:off x="6496050" y="2105025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57"/>
                <p:cNvSpPr txBox="1">
                  <a:spLocks noGrp="1"/>
                </p:cNvSpPr>
                <p:nvPr/>
              </p:nvSpPr>
              <p:spPr>
                <a:xfrm>
                  <a:off x="6496050" y="2688908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WX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WY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489573" y="3205639"/>
              <a:ext cx="4566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W 换成单位矩阵就退回普通最小二乘，两个式子是一家。</a:t>
              </a:r>
            </a:p>
          </p:txBody>
        </p:sp>
      </p:grpSp>
      <p:grpSp>
        <p:nvGrpSpPr>
          <p:cNvPr id="50" name="c2-bullets-2"/>
          <p:cNvGrpSpPr/>
          <p:nvPr/>
        </p:nvGrpSpPr>
        <p:grpSpPr>
          <a:xfrm>
            <a:off x="6240780" y="3829050"/>
            <a:ext cx="4427220" cy="1337310"/>
            <a:chOff x="6240780" y="3829050"/>
            <a:chExt cx="4427220" cy="1337310"/>
          </a:xfrm>
        </p:grpSpPr>
        <p:sp>
          <p:nvSpPr>
            <p:cNvPr id="43" name="TextBox 43"/>
            <p:cNvSpPr txBox="1"/>
            <p:nvPr/>
          </p:nvSpPr>
          <p:spPr>
            <a:xfrm>
              <a:off x="6240780" y="38290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权值在做什么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54115" y="42462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0" y="418338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放大邻近点的贡献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54115" y="45910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0" y="45281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缩小甚至忽略远距离点的贡献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54115" y="49358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12230" y="48729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结果是一条随位置弯曲的曲线，而不是一条直线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5297805"/>
            <a:ext cx="5410200" cy="1059180"/>
            <a:chOff x="6248400" y="5297805"/>
            <a:chExt cx="5410200" cy="1059180"/>
          </a:xfrm>
        </p:grpSpPr>
        <p:sp>
          <p:nvSpPr>
            <p:cNvPr id="51" name="Rectangle 51"/>
            <p:cNvSpPr/>
            <p:nvPr/>
          </p:nvSpPr>
          <p:spPr>
            <a:xfrm>
              <a:off x="6248400" y="529780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41129" y="5723691"/>
              <a:ext cx="224134" cy="192560"/>
              <a:chOff x="6441129" y="572369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53200" y="57940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41129" y="57236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58718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5446395"/>
              <a:ext cx="4530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LWLR 属于非参数方法：预测时必须带着整个训练集，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每预测一个点重解一次方程，预测代价远高于普通线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性回归。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51658" cy="909257"/>
            <a:chOff x="520446" y="342900"/>
            <a:chExt cx="44516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线性回归的两种扩展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516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权重怎么给：高斯核与带宽 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64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58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58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2244090"/>
            <a:ext cx="5410200" cy="2040255"/>
            <a:chOff x="533400" y="2244090"/>
            <a:chExt cx="5410200" cy="2040255"/>
          </a:xfrm>
        </p:grpSpPr>
        <p:sp>
          <p:nvSpPr>
            <p:cNvPr id="8" name="Rectangle 8"/>
            <p:cNvSpPr/>
            <p:nvPr/>
          </p:nvSpPr>
          <p:spPr>
            <a:xfrm>
              <a:off x="533400" y="2244090"/>
              <a:ext cx="5410200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37744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9620" y="24422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1060" y="24765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2931" y="247792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核函数里的平方不能丢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820829"/>
              <a:ext cx="46672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版课件第 66 页写成 w_ii = exp(|x_i − x| / (−2k²))，指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数里是绝对值而不是平方；A 版第 53 页写的是 (x⁽ⁱ⁾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x)²，才是高斯核。本讲义按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带平方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的写法。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524" y="3677602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差别不只是形式：少了平方就不再是高斯函数，离得近的点权重不再接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近 1 的二阶平坦。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165"/>
              <p:cNvSpPr txBox="1">
                <a:spLocks noGrp="1"/>
              </p:cNvSpPr>
              <p:nvPr/>
            </p:nvSpPr>
            <p:spPr>
              <a:xfrm>
                <a:off x="533400" y="4464368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35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35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τ</m:t>
                                      </m:r>
                                    </m:e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llout-4"/>
          <p:cNvGrpSpPr/>
          <p:nvPr/>
        </p:nvGrpSpPr>
        <p:grpSpPr>
          <a:xfrm>
            <a:off x="533400" y="5108258"/>
            <a:ext cx="5410200" cy="1204912"/>
            <a:chOff x="533400" y="5108258"/>
            <a:chExt cx="5410200" cy="1204912"/>
          </a:xfrm>
        </p:grpSpPr>
        <p:sp>
          <p:nvSpPr>
            <p:cNvPr id="17" name="Rectangle 17"/>
            <p:cNvSpPr/>
            <p:nvPr/>
          </p:nvSpPr>
          <p:spPr>
            <a:xfrm>
              <a:off x="533400" y="5108258"/>
              <a:ext cx="5410200" cy="1204912"/>
            </a:xfrm>
            <a:prstGeom prst="roundRect">
              <a:avLst>
                <a:gd name="adj" fmla="val 94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610225"/>
              <a:ext cx="200026" cy="200025"/>
              <a:chOff x="738188" y="561022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6102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6546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7658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5348764"/>
              <a:ext cx="396392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代个数看看：k = 0.1 时，距离 0.2 的样本权重是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exp(−2) ≈ 0.14，距离 0.3 的只剩 exp(−4.5) ≈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0.011，基本不参与拟合。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8400" y="1524000"/>
            <a:ext cx="5410200" cy="2124075"/>
            <a:chOff x="6248400" y="1524000"/>
            <a:chExt cx="5410200" cy="212407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95398" y="165258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带宽 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227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权重差距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87574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参与拟合的点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794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0889" y="218313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24344" y="21831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23554" y="21831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几乎所有点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38029" y="207645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曲线接近直线，欠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586038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0889" y="282130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适中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4344" y="28213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3554" y="282130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邻域内的点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045065" y="2595562"/>
              <a:ext cx="1604010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38029" y="2714625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跟住趋势又不追噪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219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0889" y="335280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4344" y="3352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23554" y="3352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只有极少数点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38029" y="33528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曲线抖动，过拟合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1709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1630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030778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248400" y="3829050"/>
            <a:ext cx="5410200" cy="1547812"/>
            <a:chOff x="6248400" y="3829050"/>
            <a:chExt cx="5410200" cy="1547812"/>
          </a:xfrm>
        </p:grpSpPr>
        <p:sp>
          <p:nvSpPr>
            <p:cNvPr id="50" name="Rectangle 50"/>
            <p:cNvSpPr/>
            <p:nvPr/>
          </p:nvSpPr>
          <p:spPr>
            <a:xfrm>
              <a:off x="6248400" y="3829050"/>
              <a:ext cx="5410200" cy="1547812"/>
            </a:xfrm>
            <a:prstGeom prst="roundRect">
              <a:avLst>
                <a:gd name="adj" fmla="val 8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962400"/>
              <a:ext cx="47625" cy="1281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84620" y="402717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8059" y="40614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课件的图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34631" y="4061936"/>
              <a:ext cx="20292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0.5 / 0.1 / 0.03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7381" y="4405789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同一批数据，K = 0.5 时几乎是直线；K = 0.1 时曲线贴合数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据的起伏；K = 0.03 时曲线开始跟着单个点抖。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8524" y="4991100"/>
              <a:ext cx="5054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是向量时，高斯核里的 τ 或协方差矩阵 Σ 同样称为带宽，作用一样。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5556885"/>
            <a:ext cx="5410200" cy="756285"/>
            <a:chOff x="6248400" y="5556885"/>
            <a:chExt cx="5410200" cy="756285"/>
          </a:xfrm>
        </p:grpSpPr>
        <p:sp>
          <p:nvSpPr>
            <p:cNvPr id="58" name="Rectangle 58"/>
            <p:cNvSpPr/>
            <p:nvPr/>
          </p:nvSpPr>
          <p:spPr>
            <a:xfrm>
              <a:off x="6248400" y="555688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835017"/>
              <a:ext cx="200023" cy="200023"/>
              <a:chOff x="6453188" y="583501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8350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86538" y="5901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511" y="570404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带宽是这个算法唯一的超参数，用交叉验证挑，别靠眼睛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看训练集拟合得好不好。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线性回归的两种扩展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非线性回归：换特征，不换模型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116087" cy="278702"/>
            <a:chOff x="526161" y="1547336"/>
            <a:chExt cx="711608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116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实际数据不一定适合直线。与其换模型，不如把 x 先变成一组新特征再做线性回归。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70"/>
              <p:cNvSpPr txBox="1">
                <a:spLocks noGrp="1"/>
              </p:cNvSpPr>
              <p:nvPr/>
            </p:nvSpPr>
            <p:spPr>
              <a:xfrm>
                <a:off x="533400" y="1941195"/>
                <a:ext cx="5193982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ϕ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9" name="c1-table-2"/>
          <p:cNvGrpSpPr/>
          <p:nvPr/>
        </p:nvGrpSpPr>
        <p:grpSpPr>
          <a:xfrm>
            <a:off x="533400" y="2745105"/>
            <a:ext cx="5193982" cy="2023110"/>
            <a:chOff x="533400" y="2745105"/>
            <a:chExt cx="5193982" cy="2023110"/>
          </a:xfrm>
        </p:grpSpPr>
        <p:sp>
          <p:nvSpPr>
            <p:cNvPr id="10" name="Rectangle 10"/>
            <p:cNvSpPr/>
            <p:nvPr/>
          </p:nvSpPr>
          <p:spPr>
            <a:xfrm>
              <a:off x="533400" y="2745105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204" y="2869406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基函数 φⱼ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61958" y="2869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87926" y="2869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27517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6412" y="32751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φⱼ(x) = xʲ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61460" y="327517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拟合弯曲的趋势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5518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556635"/>
              <a:ext cx="519398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37809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6412" y="378094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exp(−(x−μⱼ)²/(2σⱼ²))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1460" y="3680936"/>
              <a:ext cx="1362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局部响应，第5章 RBF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1576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4386739"/>
              <a:ext cx="771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sigmoid 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76412" y="4386739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 + exp(−sⱼx))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1460" y="4286726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平滑的阶跃，接近神经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745105"/>
              <a:ext cx="5193982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71638" y="274510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56685" y="274510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3"/>
          <p:cNvGrpSpPr/>
          <p:nvPr/>
        </p:nvGrpSpPr>
        <p:grpSpPr>
          <a:xfrm>
            <a:off x="533400" y="4943475"/>
            <a:ext cx="5193982" cy="1309688"/>
            <a:chOff x="533400" y="4943475"/>
            <a:chExt cx="5193982" cy="1309688"/>
          </a:xfrm>
        </p:grpSpPr>
        <p:sp>
          <p:nvSpPr>
            <p:cNvPr id="30" name="Rectangle 30"/>
            <p:cNvSpPr/>
            <p:nvPr/>
          </p:nvSpPr>
          <p:spPr>
            <a:xfrm>
              <a:off x="533400" y="4943475"/>
              <a:ext cx="5193982" cy="1309688"/>
            </a:xfrm>
            <a:prstGeom prst="roundRect">
              <a:avLst>
                <a:gd name="adj" fmla="val 872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97832"/>
              <a:ext cx="200023" cy="200023"/>
              <a:chOff x="738188" y="5497832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4978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5645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5379720"/>
              <a:ext cx="42056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θ₀ + θ₁x₁ + θ₂x₂ 里如果 x₂ = x₁²，模型对 x 是二次曲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线，对 Θ 仍是线性的，所有结论照旧。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032182" y="1941195"/>
            <a:ext cx="5626418" cy="1741170"/>
            <a:chOff x="6032182" y="1941195"/>
            <a:chExt cx="5626418" cy="1741170"/>
          </a:xfrm>
        </p:grpSpPr>
        <p:sp>
          <p:nvSpPr>
            <p:cNvPr id="36" name="Rectangle 36"/>
            <p:cNvSpPr/>
            <p:nvPr/>
          </p:nvSpPr>
          <p:spPr>
            <a:xfrm>
              <a:off x="6032182" y="1941195"/>
              <a:ext cx="5626418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2074545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62688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4128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46380" y="2173605"/>
              <a:ext cx="1657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高斯基函数漏了 exp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55830" y="2507932"/>
              <a:ext cx="490861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版课件第 56 页写 φⱼ = (x − μⱼ)²/(2σⱼ²)，B 版第 69 页写 φⱼ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(x − μⱼ)/(2σⱼ²)，两处都没有指数函数和负号。正确写法是</a:t>
              </a:r>
              <a:br/>
              <a:r>
                <a:rPr lang="el-GR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exp(−(x−μⱼ)²/(2σⱼ²))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，否则它就是一条抛物线，谈不上局部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032182" y="3857625"/>
            <a:ext cx="5626418" cy="1490662"/>
            <a:chOff x="6032182" y="3857625"/>
            <a:chExt cx="5626418" cy="1490662"/>
          </a:xfrm>
        </p:grpSpPr>
        <p:sp>
          <p:nvSpPr>
            <p:cNvPr id="43" name="Rectangle 43"/>
            <p:cNvSpPr/>
            <p:nvPr/>
          </p:nvSpPr>
          <p:spPr>
            <a:xfrm>
              <a:off x="6032182" y="3857625"/>
              <a:ext cx="5626418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3990975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62688" y="40500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4128" y="40843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46380" y="409003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特征越多越容易过拟合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55830" y="4424362"/>
              <a:ext cx="48743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同一组数据，用 θ₀ + θ₁x 拟合是一条直线，用 Σⱼ₌₀⁵ θⱼxʲ 就能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画出剧烈起伏的曲线，把每个样本点都穿过去。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56972" y="4980146"/>
              <a:ext cx="3411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阶数是超参数，取法见第6部分的欠拟合与过拟合。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032182" y="5523548"/>
            <a:ext cx="5626418" cy="729615"/>
            <a:chOff x="6032182" y="5523548"/>
            <a:chExt cx="5626418" cy="729615"/>
          </a:xfrm>
        </p:grpSpPr>
        <p:sp>
          <p:nvSpPr>
            <p:cNvPr id="51" name="Rectangle 51"/>
            <p:cNvSpPr/>
            <p:nvPr/>
          </p:nvSpPr>
          <p:spPr>
            <a:xfrm>
              <a:off x="6032182" y="5523548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236970" y="5788343"/>
              <a:ext cx="200026" cy="200025"/>
              <a:chOff x="6236970" y="5788343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236970" y="57883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276709" y="58327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311424" y="59439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539674" y="5669280"/>
              <a:ext cx="46514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做多项式特征前务必归一化：x 取值上千时 x⁵ 会溢出到 10¹⁵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量级，矩阵直接病态。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线性回归的两种扩展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基函数回归照样有正规方程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75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625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76"/>
              <p:cNvSpPr txBox="1">
                <a:spLocks noGrp="1"/>
              </p:cNvSpPr>
              <p:nvPr/>
            </p:nvSpPr>
            <p:spPr>
              <a:xfrm>
                <a:off x="533400" y="2340292"/>
                <a:ext cx="562641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llout-3"/>
          <p:cNvGrpSpPr/>
          <p:nvPr/>
        </p:nvGrpSpPr>
        <p:grpSpPr>
          <a:xfrm>
            <a:off x="533400" y="2968942"/>
            <a:ext cx="5626418" cy="782955"/>
            <a:chOff x="533400" y="2968942"/>
            <a:chExt cx="5626418" cy="782955"/>
          </a:xfrm>
        </p:grpSpPr>
        <p:sp>
          <p:nvSpPr>
            <p:cNvPr id="9" name="Rectangle 9"/>
            <p:cNvSpPr/>
            <p:nvPr/>
          </p:nvSpPr>
          <p:spPr>
            <a:xfrm>
              <a:off x="533400" y="2968942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38188" y="3260410"/>
              <a:ext cx="200023" cy="200023"/>
              <a:chOff x="738188" y="3260410"/>
              <a:chExt cx="200023" cy="20002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38188" y="32604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71538" y="33270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0130" y="3117532"/>
              <a:ext cx="4692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把第2部分推导里的 X 整体换成 Φ，一个字都不用改。这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就是坚持对参数线性的好处。</a:t>
              </a:r>
            </a:p>
          </p:txBody>
        </p:sp>
      </p:grpSp>
      <p:grpSp>
        <p:nvGrpSpPr>
          <p:cNvPr id="26" name="c1-card-4"/>
          <p:cNvGrpSpPr/>
          <p:nvPr/>
        </p:nvGrpSpPr>
        <p:grpSpPr>
          <a:xfrm>
            <a:off x="533400" y="3942398"/>
            <a:ext cx="5626418" cy="2302192"/>
            <a:chOff x="533400" y="3942398"/>
            <a:chExt cx="5626418" cy="2302192"/>
          </a:xfrm>
        </p:grpSpPr>
        <p:sp>
          <p:nvSpPr>
            <p:cNvPr id="15" name="Rectangle 15"/>
            <p:cNvSpPr/>
            <p:nvPr/>
          </p:nvSpPr>
          <p:spPr>
            <a:xfrm>
              <a:off x="533400" y="3942398"/>
              <a:ext cx="5626418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75748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15194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6160" y="41876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9202" y="4187190"/>
              <a:ext cx="2696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二次多项式回归的 Φ 长什么样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548188"/>
              <a:ext cx="4316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φ(x) = (1, x, x²)，三个样本 x = 1, 2, 3 时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94633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883468"/>
              <a:ext cx="4568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的三行依次是 (1, 1, 1)、(1, 2, 4)、(1, 3, 9)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528161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218748"/>
              <a:ext cx="3901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是 3 × 3 矩阵，Θ 有 3 个分量，照样代进 Θ =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(ΦᵀΦ)⁻¹ΦᵀY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573" y="5836444"/>
              <a:ext cx="5199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样本数必须不小于基函数个数，否则又回到第17页那种奇异的情形。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77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633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ϕ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78"/>
              <p:cNvSpPr txBox="1">
                <a:spLocks noGrp="1"/>
              </p:cNvSpPr>
              <p:nvPr/>
            </p:nvSpPr>
            <p:spPr>
              <a:xfrm>
                <a:off x="6464618" y="2347912"/>
                <a:ext cx="5193982" cy="600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ϕ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ϕ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rd-3"/>
          <p:cNvGrpSpPr/>
          <p:nvPr/>
        </p:nvGrpSpPr>
        <p:grpSpPr>
          <a:xfrm>
            <a:off x="6464618" y="3138488"/>
            <a:ext cx="5193982" cy="3106102"/>
            <a:chOff x="6464618" y="3138488"/>
            <a:chExt cx="5193982" cy="3106102"/>
          </a:xfrm>
        </p:grpSpPr>
        <p:sp>
          <p:nvSpPr>
            <p:cNvPr id="29" name="Rectangle 29"/>
            <p:cNvSpPr/>
            <p:nvPr/>
          </p:nvSpPr>
          <p:spPr>
            <a:xfrm>
              <a:off x="6464618" y="3138488"/>
              <a:ext cx="5193982" cy="3106102"/>
            </a:xfrm>
            <a:prstGeom prst="roundRect">
              <a:avLst>
                <a:gd name="adj" fmla="val 42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3271838"/>
              <a:ext cx="47625" cy="28394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33480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3428" y="3383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3295" y="3383280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偏导数前面的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3744278"/>
              <a:ext cx="4434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57 页和 B 版第 70 页的偏导式写成 Σ(Θᵀφ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y)φⱼ，少了系数 2。目标函数不带 ½ 时，平方求导必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然留下一个 2。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5791" y="4647724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令偏导为零时 2 会被约掉，所以最终的正规方程不受影响；但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写梯度下降的更新式时漏掉 2 就等于把学习率悄悄减半。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22" name="section-title"/>
          <p:cNvGrpSpPr/>
          <p:nvPr/>
        </p:nvGrpSpPr>
        <p:grpSpPr>
          <a:xfrm>
            <a:off x="667512" y="1835468"/>
            <a:ext cx="6023991" cy="4060507"/>
            <a:chOff x="667512" y="1835468"/>
            <a:chExt cx="6023991" cy="406050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机器学习中的若干讨论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这几件事在每一章都会重新出现，先在最简单的模型上看清楚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离群点对相关系数的破坏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欠拟合与过拟合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结构风险最小化与奥卡姆剃刀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516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岭回归与 LASSO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回归的评价指标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56597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5602605"/>
              <a:ext cx="2162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实现与课后作业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3727" cy="909257"/>
            <a:chOff x="520446" y="342900"/>
            <a:chExt cx="72837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机器学习中的若干讨论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37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一个离群点就能把相关系数从 −0.15 拉到 0.98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40818" cy="264033"/>
            <a:chOff x="526542" y="1545907"/>
            <a:chExt cx="65408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4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 R 做了一次演示：先生成 50 个互不相关的点，再加进一个远离群体的点。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4977765" cy="1556385"/>
            <a:chOff x="533400" y="1928812"/>
            <a:chExt cx="4977765" cy="15563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378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 R 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2524506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= rnorm(50); y = rnorm(50)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cor(x, y)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-0.1545128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cor(x, y, method=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"spearman"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-0.184922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x[51] = 50; y[51] = 50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加一个离群点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cor(x, y)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0.9775784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cor(x, y, method=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"spearman"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-0.1165611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649980"/>
            <a:ext cx="4977765" cy="702945"/>
            <a:chOff x="533400" y="3649980"/>
            <a:chExt cx="4977765" cy="702945"/>
          </a:xfrm>
        </p:grpSpPr>
        <p:sp>
          <p:nvSpPr>
            <p:cNvPr id="13" name="Rectangle 13"/>
            <p:cNvSpPr/>
            <p:nvPr/>
          </p:nvSpPr>
          <p:spPr>
            <a:xfrm>
              <a:off x="533400" y="3649980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901440"/>
              <a:ext cx="200026" cy="200025"/>
              <a:chOff x="738188" y="390144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39014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39458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0570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379428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rnorm(50) 生成 50 个标准正态随机数，均值 0、标准差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1，所以 x 与 y 本来毫无关系。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5815965" y="1928812"/>
            <a:ext cx="5842635" cy="1143953"/>
            <a:chOff x="5815965" y="1928812"/>
            <a:chExt cx="5842635" cy="1143953"/>
          </a:xfrm>
        </p:grpSpPr>
        <p:sp>
          <p:nvSpPr>
            <p:cNvPr id="20" name="Rectangle 20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032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227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皮尔逊相关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6518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斯皮尔曼相关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7656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10644" y="2426970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 50 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2724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−0.155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97646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−0.185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3521" y="2426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判定为不相关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10644" y="280892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多一个离群点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27570" y="2701290"/>
              <a:ext cx="126682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12724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+0.978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97646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−0.117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83521" y="2808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皮尔逊被完全带偏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1928812"/>
              <a:ext cx="584263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1328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98205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784080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5815965" y="3237548"/>
            <a:ext cx="5842635" cy="1160145"/>
            <a:chOff x="5815965" y="3237548"/>
            <a:chExt cx="5842635" cy="1160145"/>
          </a:xfrm>
        </p:grpSpPr>
        <p:sp>
          <p:nvSpPr>
            <p:cNvPr id="41" name="Rectangle 41"/>
            <p:cNvSpPr/>
            <p:nvPr/>
          </p:nvSpPr>
          <p:spPr>
            <a:xfrm>
              <a:off x="5815965" y="3237548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25490" y="337089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5040" y="34185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6759" y="34513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01016" y="34580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换一组随机数重做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8563" y="3775234"/>
              <a:ext cx="4979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本讲义用 numpy 独立重做一次：50 个点的皮尔逊相关 −0.108，加入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(50, 50) 后变成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0.980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。随机数不同，结论一致。</a:t>
              </a:r>
            </a:p>
          </p:txBody>
        </p:sp>
      </p:grpSp>
      <p:grpSp>
        <p:nvGrpSpPr>
          <p:cNvPr id="55" name="c2-bullets-3"/>
          <p:cNvGrpSpPr/>
          <p:nvPr/>
        </p:nvGrpSpPr>
        <p:grpSpPr>
          <a:xfrm>
            <a:off x="5809488" y="4583906"/>
            <a:ext cx="3523132" cy="1136142"/>
            <a:chOff x="5809488" y="4583906"/>
            <a:chExt cx="3523132" cy="1136142"/>
          </a:xfrm>
        </p:grpSpPr>
        <p:sp>
          <p:nvSpPr>
            <p:cNvPr id="48" name="TextBox 48"/>
            <p:cNvSpPr txBox="1"/>
            <p:nvPr/>
          </p:nvSpPr>
          <p:spPr>
            <a:xfrm>
              <a:off x="5809488" y="45839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该怎么办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5815965" y="4912042"/>
              <a:ext cx="121920" cy="99060"/>
            </a:xfrm>
            <a:custGeom>
              <a:avLst/>
              <a:gdLst/>
              <a:ahLst/>
              <a:cxnLst/>
              <a:rect l="l" t="t" r="r" b="b"/>
              <a:pathLst>
                <a:path w="121920" h="99060">
                  <a:moveTo>
                    <a:pt x="0" y="52388"/>
                  </a:moveTo>
                  <a:lnTo>
                    <a:pt x="46672" y="99060"/>
                  </a:lnTo>
                  <a:lnTo>
                    <a:pt x="12192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45708" y="488489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先画散点图，别只看一个相关系数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815965" y="5204460"/>
              <a:ext cx="121920" cy="99060"/>
            </a:xfrm>
            <a:custGeom>
              <a:avLst/>
              <a:gdLst/>
              <a:ahLst/>
              <a:cxnLst/>
              <a:rect l="l" t="t" r="r" b="b"/>
              <a:pathLst>
                <a:path w="121920" h="99060">
                  <a:moveTo>
                    <a:pt x="0" y="53340"/>
                  </a:moveTo>
                  <a:lnTo>
                    <a:pt x="46672" y="99060"/>
                  </a:lnTo>
                  <a:lnTo>
                    <a:pt x="12192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5708" y="517826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用基于秩的斯皮尔曼相关，或稳健回归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5815965" y="5497830"/>
              <a:ext cx="121920" cy="99060"/>
            </a:xfrm>
            <a:custGeom>
              <a:avLst/>
              <a:gdLst/>
              <a:ahLst/>
              <a:cxnLst/>
              <a:rect l="l" t="t" r="r" b="b"/>
              <a:pathLst>
                <a:path w="121920" h="99060">
                  <a:moveTo>
                    <a:pt x="0" y="52388"/>
                  </a:moveTo>
                  <a:lnTo>
                    <a:pt x="46672" y="99060"/>
                  </a:lnTo>
                  <a:lnTo>
                    <a:pt x="12192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5708" y="547068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确认是录入错误再删，不要因为不好看就删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平方误差把离群点的影响放大了平方倍，所以最小二乘同样怕离群点，这是它最主要的弱点。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机器学习中的若干讨论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欠拟合与过拟合：同一批点，两种失败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847077" y="2201228"/>
            <a:ext cx="4787913" cy="4040981"/>
            <a:chOff x="847077" y="2201228"/>
            <a:chExt cx="4787913" cy="4040981"/>
          </a:xfrm>
        </p:grpSpPr>
        <p:sp>
          <p:nvSpPr>
            <p:cNvPr id="7" name="Freeform 7"/>
            <p:cNvSpPr/>
            <p:nvPr/>
          </p:nvSpPr>
          <p:spPr>
            <a:xfrm>
              <a:off x="950595" y="3228975"/>
              <a:ext cx="4684395" cy="1380172"/>
            </a:xfrm>
            <a:custGeom>
              <a:avLst/>
              <a:gdLst/>
              <a:ahLst/>
              <a:cxnLst/>
              <a:rect l="l" t="t" r="r" b="b"/>
              <a:pathLst>
                <a:path w="4684395" h="1380172">
                  <a:moveTo>
                    <a:pt x="0" y="0"/>
                  </a:moveTo>
                  <a:lnTo>
                    <a:pt x="4684395" y="138017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94422" y="2201228"/>
              <a:ext cx="4378642" cy="3580448"/>
            </a:xfrm>
            <a:custGeom>
              <a:avLst/>
              <a:gdLst/>
              <a:ahLst/>
              <a:cxnLst/>
              <a:rect l="l" t="t" r="r" b="b"/>
              <a:pathLst>
                <a:path w="4378642" h="3580448">
                  <a:moveTo>
                    <a:pt x="0" y="1724978"/>
                  </a:moveTo>
                  <a:lnTo>
                    <a:pt x="304800" y="0"/>
                  </a:lnTo>
                  <a:lnTo>
                    <a:pt x="629602" y="387668"/>
                  </a:lnTo>
                  <a:lnTo>
                    <a:pt x="953452" y="967740"/>
                  </a:lnTo>
                  <a:lnTo>
                    <a:pt x="1278255" y="532448"/>
                  </a:lnTo>
                  <a:lnTo>
                    <a:pt x="1603057" y="1451610"/>
                  </a:lnTo>
                  <a:lnTo>
                    <a:pt x="1927860" y="1064895"/>
                  </a:lnTo>
                  <a:lnTo>
                    <a:pt x="2252662" y="2128838"/>
                  </a:lnTo>
                  <a:lnTo>
                    <a:pt x="2576512" y="2612707"/>
                  </a:lnTo>
                  <a:lnTo>
                    <a:pt x="2901315" y="3484245"/>
                  </a:lnTo>
                  <a:lnTo>
                    <a:pt x="3226118" y="3000375"/>
                  </a:lnTo>
                  <a:lnTo>
                    <a:pt x="3550920" y="3580448"/>
                  </a:lnTo>
                  <a:lnTo>
                    <a:pt x="3875722" y="2903220"/>
                  </a:lnTo>
                  <a:lnTo>
                    <a:pt x="4146233" y="2225992"/>
                  </a:lnTo>
                  <a:lnTo>
                    <a:pt x="4378642" y="168592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17270" y="398335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666875" y="253174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15528" y="26765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965132" y="320897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613785" y="475678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63390" y="514445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912995" y="504729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54015" y="374142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7077" y="278939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直线：欠拟合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00769" y="6080284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高次曲线：过拟合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248400" y="1524000"/>
            <a:ext cx="5410200" cy="1617345"/>
            <a:chOff x="6248400" y="1524000"/>
            <a:chExt cx="5410200" cy="1617345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243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3939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训练误差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521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测试误差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23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991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8412" y="21540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欠拟合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4235" y="21540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80058" y="21540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4928" y="21540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假设空间太小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51770" y="2054066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加特征、提高阶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53555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2759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过拟合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14235" y="2759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89570" y="2545080"/>
              <a:ext cx="846772" cy="5867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80058" y="27598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4928" y="2659856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假设空间太大，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把噪声也学了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51770" y="2659856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加数据、正则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化、降阶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1617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09460" y="1524000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75282" y="1524000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840152" y="1524000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246995" y="1524000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2"/>
          <p:cNvGrpSpPr/>
          <p:nvPr/>
        </p:nvGrpSpPr>
        <p:grpSpPr>
          <a:xfrm>
            <a:off x="6248400" y="3316605"/>
            <a:ext cx="5410200" cy="1954530"/>
            <a:chOff x="6248400" y="3316605"/>
            <a:chExt cx="5410200" cy="1954530"/>
          </a:xfrm>
        </p:grpSpPr>
        <p:sp>
          <p:nvSpPr>
            <p:cNvPr id="45" name="Rectangle 45"/>
            <p:cNvSpPr/>
            <p:nvPr/>
          </p:nvSpPr>
          <p:spPr>
            <a:xfrm>
              <a:off x="6248400" y="3316605"/>
              <a:ext cx="5410200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449955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350901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8344" y="35433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课件的例子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62647" y="3549015"/>
              <a:ext cx="1739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多项式阶数 M 的影响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3882390"/>
              <a:ext cx="47028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同一组由正弦函数加噪声生成的点：M = 0 是一条水平线，M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是直线，两者都没跟上趋势；M = 3 贴合得刚好；M = 9 时曲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线穿过每一个点，但在点与点之间剧烈摆动。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3190" y="4696301"/>
              <a:ext cx="4712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训练误差在 M = 9 时最小，测试误差却最大。用训练误差选模型必然选到过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拟合的那个。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248400" y="5446395"/>
            <a:ext cx="5410200" cy="729615"/>
            <a:chOff x="6248400" y="5446395"/>
            <a:chExt cx="5410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6248400" y="544639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5711192"/>
              <a:ext cx="200023" cy="200023"/>
              <a:chOff x="6453188" y="5711192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7111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86538" y="57778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892" y="559212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模型复杂度必须和数据量匹配。样本翻十倍，能安全使用的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阶数才能往上抬。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机器学习中的若干讨论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结构风险最小化：经验风险加上一个置信范围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918210" y="1571625"/>
            <a:ext cx="4771072" cy="4579619"/>
            <a:chOff x="918210" y="1571625"/>
            <a:chExt cx="4771072" cy="4579619"/>
          </a:xfrm>
        </p:grpSpPr>
        <p:sp>
          <p:nvSpPr>
            <p:cNvPr id="7" name="Freeform 7"/>
            <p:cNvSpPr/>
            <p:nvPr/>
          </p:nvSpPr>
          <p:spPr>
            <a:xfrm>
              <a:off x="1003935" y="5685472"/>
              <a:ext cx="4590098" cy="9525"/>
            </a:xfrm>
            <a:custGeom>
              <a:avLst/>
              <a:gdLst/>
              <a:ahLst/>
              <a:cxnLst/>
              <a:rect l="l" t="t" r="r" b="b"/>
              <a:pathLst>
                <a:path w="4590098" h="9525">
                  <a:moveTo>
                    <a:pt x="0" y="0"/>
                  </a:moveTo>
                  <a:lnTo>
                    <a:pt x="45900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594032" y="5637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65835" y="2024062"/>
              <a:ext cx="9525" cy="3547110"/>
            </a:xfrm>
            <a:custGeom>
              <a:avLst/>
              <a:gdLst/>
              <a:ahLst/>
              <a:cxnLst/>
              <a:rect l="l" t="t" r="r" b="b"/>
              <a:pathLst>
                <a:path w="9525" h="3547110">
                  <a:moveTo>
                    <a:pt x="0" y="35471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18210" y="1928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21105" y="2546985"/>
              <a:ext cx="4251960" cy="2651760"/>
            </a:xfrm>
            <a:custGeom>
              <a:avLst/>
              <a:gdLst/>
              <a:ahLst/>
              <a:cxnLst/>
              <a:rect l="l" t="t" r="r" b="b"/>
              <a:pathLst>
                <a:path w="4251960" h="2651760">
                  <a:moveTo>
                    <a:pt x="0" y="0"/>
                  </a:moveTo>
                  <a:lnTo>
                    <a:pt x="826770" y="1203008"/>
                  </a:lnTo>
                  <a:lnTo>
                    <a:pt x="1692592" y="1977390"/>
                  </a:lnTo>
                  <a:lnTo>
                    <a:pt x="2667000" y="2412683"/>
                  </a:lnTo>
                  <a:lnTo>
                    <a:pt x="3531870" y="2606040"/>
                  </a:lnTo>
                  <a:lnTo>
                    <a:pt x="4251960" y="265176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21105" y="2424112"/>
              <a:ext cx="4251960" cy="2958465"/>
            </a:xfrm>
            <a:custGeom>
              <a:avLst/>
              <a:gdLst/>
              <a:ahLst/>
              <a:cxnLst/>
              <a:rect l="l" t="t" r="r" b="b"/>
              <a:pathLst>
                <a:path w="4251960" h="2958465">
                  <a:moveTo>
                    <a:pt x="0" y="2958465"/>
                  </a:moveTo>
                  <a:lnTo>
                    <a:pt x="826770" y="2680335"/>
                  </a:lnTo>
                  <a:lnTo>
                    <a:pt x="1692592" y="2196465"/>
                  </a:lnTo>
                  <a:lnTo>
                    <a:pt x="2667000" y="1325880"/>
                  </a:lnTo>
                  <a:lnTo>
                    <a:pt x="3531870" y="551497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21105" y="2059305"/>
              <a:ext cx="4251960" cy="2270760"/>
            </a:xfrm>
            <a:custGeom>
              <a:avLst/>
              <a:gdLst/>
              <a:ahLst/>
              <a:cxnLst/>
              <a:rect l="l" t="t" r="r" b="b"/>
              <a:pathLst>
                <a:path w="4251960" h="2270760">
                  <a:moveTo>
                    <a:pt x="0" y="221933"/>
                  </a:moveTo>
                  <a:lnTo>
                    <a:pt x="610553" y="1497330"/>
                  </a:lnTo>
                  <a:lnTo>
                    <a:pt x="1367790" y="2077403"/>
                  </a:lnTo>
                  <a:lnTo>
                    <a:pt x="2125980" y="2270760"/>
                  </a:lnTo>
                  <a:lnTo>
                    <a:pt x="2883218" y="1786890"/>
                  </a:lnTo>
                  <a:lnTo>
                    <a:pt x="3640455" y="819150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280410" y="4263390"/>
              <a:ext cx="133350" cy="1333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8500" y="157162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79918" y="5975032"/>
              <a:ext cx="4128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VC 维 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8486" y="307990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实际风险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5001" y="307990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置信范围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78783" y="525732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经验风险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5095" y="588692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欠学习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4997" y="588692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过学习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2302192"/>
            <a:chOff x="6248400" y="1524000"/>
            <a:chExt cx="5410200" cy="230219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89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43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统计学习理论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95997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实际风险的上界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2047" y="20907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实际风险 ≤ 经验风险 + 置信范围。置信范围随函数集的 VC 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增大而增大，随样本数增大而减小。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87478" y="27060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3497" y="2649855"/>
              <a:ext cx="2724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函数子集越来越大：S₁ ⊂ S₂ ⊂ S₃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87478" y="30089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3497" y="2952750"/>
              <a:ext cx="2390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VC 维随之升高：h₁ ≤ h₂ ≤ h₃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3190" y="3251359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结构风险最小化就是在这一串子集里挑一个，使上界最小，而不是使经验风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险最小。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001452"/>
            <a:ext cx="5410200" cy="2049780"/>
            <a:chOff x="6248400" y="4001452"/>
            <a:chExt cx="5410200" cy="2049780"/>
          </a:xfrm>
        </p:grpSpPr>
        <p:sp>
          <p:nvSpPr>
            <p:cNvPr id="35" name="Rectangle 35"/>
            <p:cNvSpPr/>
            <p:nvPr/>
          </p:nvSpPr>
          <p:spPr>
            <a:xfrm>
              <a:off x="6248400" y="4001452"/>
              <a:ext cx="5410200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134802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419385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2344" y="42281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模型选择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29297" y="4233862"/>
              <a:ext cx="2380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奥卡姆剃刀 Occam's razor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4568190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世纪方济各会修士奥卡姆的威廉在《箴言书注》第 2 卷第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题里说，切勿浪费多余功夫去做本可以较少功夫完成之事。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2047" y="512730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换句话说，如果关于同一个问题有许多种理论，每一种都能作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出同样准确的预言，那么应该挑选其中使用假定最少的。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3190" y="568404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落到做法上就是两条：正则化与特征选择。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机器学习中的若干讨论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正则化：在代价里给大参数加一笔罚款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89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lim>
                          </m:limLow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  <m:sup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  <m:e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90"/>
              <p:cNvSpPr txBox="1">
                <a:spLocks noGrp="1"/>
              </p:cNvSpPr>
              <p:nvPr/>
            </p:nvSpPr>
            <p:spPr>
              <a:xfrm>
                <a:off x="533400" y="2260282"/>
                <a:ext cx="5626418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lim>
                          </m:limLow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  <m:sup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3"/>
          <p:cNvGrpSpPr/>
          <p:nvPr/>
        </p:nvGrpSpPr>
        <p:grpSpPr>
          <a:xfrm>
            <a:off x="533400" y="2997518"/>
            <a:ext cx="5626418" cy="2674620"/>
            <a:chOff x="533400" y="2997518"/>
            <a:chExt cx="5626418" cy="2674620"/>
          </a:xfrm>
        </p:grpSpPr>
        <p:sp>
          <p:nvSpPr>
            <p:cNvPr id="9" name="Rectangle 9"/>
            <p:cNvSpPr/>
            <p:nvPr/>
          </p:nvSpPr>
          <p:spPr>
            <a:xfrm>
              <a:off x="533400" y="2997518"/>
              <a:ext cx="5626418" cy="2674620"/>
            </a:xfrm>
            <a:prstGeom prst="roundRect">
              <a:avLst>
                <a:gd name="adj" fmla="val 4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130868"/>
              <a:ext cx="47625" cy="24079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31842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32170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3219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两个惩罚项的名字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60140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54520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上式的惩罚项是 L₂ 范数的平方，这个模型叫岭回归（Ridge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regression，Tikhonov &amp; Arsenin, 1977）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41586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410241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下式的惩罚项是 L₁ 范数，这个模型叫 LASSO 回归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（Tibshirani, 1996），全称 least absolute shrinkage and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selection operator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475" y="4913471"/>
              <a:ext cx="5160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范数本身不含系数，λ 写在范数外面；求和从 j = 1 开始，截距 θ₀ 不受惩罚。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64618" y="1524000"/>
            <a:ext cx="5193982" cy="3000375"/>
            <a:chOff x="6464618" y="1524000"/>
            <a:chExt cx="5193982" cy="3000375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0806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0696" y="1645444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岭回归 L₂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02274" y="1645444"/>
              <a:ext cx="739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LASSO L₁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1772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惩罚项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2417" y="2045494"/>
              <a:ext cx="52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Σ θⱼ²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82175" y="2045494"/>
              <a:ext cx="53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Σ |θⱼ|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1772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解的形态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12417" y="24455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系数整体缩小但都不为零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82175" y="24455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部分系数正好压到零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1772" y="2945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是否稀疏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2417" y="29456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694545" y="2733675"/>
              <a:ext cx="1954530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82175" y="2845594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是，等于顺带做了特征选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择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3324225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1772" y="35456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闭式解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12417" y="3545681"/>
              <a:ext cx="1497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有：(XᵀX + λI)⁻¹XᵀY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82175" y="3445669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没有，要用坐标下降等迭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1772" y="414575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变大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2417" y="4045744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都向零收缩，偏差变大方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差变小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82175" y="41457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同左，且零系数越来越多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810500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80258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6464618" y="4693920"/>
            <a:ext cx="5193982" cy="978218"/>
            <a:chOff x="6464618" y="4693920"/>
            <a:chExt cx="5193982" cy="978218"/>
          </a:xfrm>
        </p:grpSpPr>
        <p:sp>
          <p:nvSpPr>
            <p:cNvPr id="50" name="Rectangle 50"/>
            <p:cNvSpPr/>
            <p:nvPr/>
          </p:nvSpPr>
          <p:spPr>
            <a:xfrm>
              <a:off x="6464618" y="4693920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083495"/>
              <a:ext cx="200023" cy="200023"/>
              <a:chOff x="6669405" y="508349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50834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802755" y="5150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2110" y="4840605"/>
              <a:ext cx="429139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回到第17页那道奇异的例题：加上 λ = 100 的岭惩罚后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XᵀX + λI 可逆，解立刻稳定下来。正则化同时治过拟合和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病态。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6" name="Rectangle 5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8373"/>
              <a:ext cx="792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 要在验证集上挑，训练误差总是随 λ 变大而变大，拿它挑只会挑出 λ = 0，也就是普通最小二乘。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67116" cy="909257"/>
            <a:chOff x="520446" y="342900"/>
            <a:chExt cx="56671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机器学习中的若干讨论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671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回归怎么评价：MAE、MSE 与 RMSE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97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MAE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98"/>
              <p:cNvSpPr txBox="1">
                <a:spLocks noGrp="1"/>
              </p:cNvSpPr>
              <p:nvPr/>
            </p:nvSpPr>
            <p:spPr>
              <a:xfrm>
                <a:off x="533400" y="2275522"/>
                <a:ext cx="5626418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MSE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RMSE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MSE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33" name="c1-table-3"/>
          <p:cNvGrpSpPr/>
          <p:nvPr/>
        </p:nvGrpSpPr>
        <p:grpSpPr>
          <a:xfrm>
            <a:off x="533400" y="3027045"/>
            <a:ext cx="5626418" cy="2151697"/>
            <a:chOff x="533400" y="3027045"/>
            <a:chExt cx="5626418" cy="2151697"/>
          </a:xfrm>
        </p:grpSpPr>
        <p:sp>
          <p:nvSpPr>
            <p:cNvPr id="9" name="Rectangle 9"/>
            <p:cNvSpPr/>
            <p:nvPr/>
          </p:nvSpPr>
          <p:spPr>
            <a:xfrm>
              <a:off x="533400" y="3027045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4885" y="31584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8380" y="31584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2940" y="31584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3589020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6996" y="358902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y 相同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6689" y="358902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对离群点稳健，不可导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823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88715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4018598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6996" y="401859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的平方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6689" y="401859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训练时用它，对大误差敏感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129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449128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6996" y="4449128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y 相同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6689" y="444912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报告时用它，量级直观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434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74821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48787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6996" y="48787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无量纲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26689" y="4878705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解释了多少比例的方差，越接近 1 越好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027045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766888" y="302704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16580" y="302704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199"/>
              <p:cNvSpPr txBox="1">
                <a:spLocks noGrp="1"/>
              </p:cNvSpPr>
              <p:nvPr/>
            </p:nvSpPr>
            <p:spPr>
              <a:xfrm>
                <a:off x="533400" y="5363528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/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35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35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/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8" name="c2-code-1"/>
          <p:cNvGrpSpPr/>
          <p:nvPr/>
        </p:nvGrpSpPr>
        <p:grpSpPr>
          <a:xfrm>
            <a:off x="6464618" y="1524000"/>
            <a:ext cx="5193982" cy="1530668"/>
            <a:chOff x="6464618" y="1524000"/>
            <a:chExt cx="5193982" cy="1530668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93015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课件给的计算与画图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93167" y="1936337"/>
              <a:ext cx="3602939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mse = np.average((y_hat - np.array(y_test)) ** 2)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rmse = np.sqrt(mse)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 = np.log(np.square(y_test - y_hat))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取对数压缩量级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plt.boxplot(se)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plt.show()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3239452"/>
            <a:ext cx="5193982" cy="2757488"/>
            <a:chOff x="6464618" y="3239452"/>
            <a:chExt cx="5193982" cy="2757488"/>
          </a:xfrm>
        </p:grpSpPr>
        <p:sp>
          <p:nvSpPr>
            <p:cNvPr id="39" name="Rectangle 39"/>
            <p:cNvSpPr/>
            <p:nvPr/>
          </p:nvSpPr>
          <p:spPr>
            <a:xfrm>
              <a:off x="6464618" y="3239452"/>
              <a:ext cx="5193982" cy="2757488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3372802"/>
              <a:ext cx="47625" cy="24907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06552" y="344328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2811" y="34790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箱线图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49884" y="34837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五个数与两条须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4172" y="38947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0764" y="3835241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箱子下沿是下四分位数 Q₁，上沿是上四分位数 Q₃，箱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 IQR = Q₃ − Q₁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14172" y="448627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0764" y="442674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箱中那条线是中位数，它把样本分成数量相等的上下两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4172" y="507777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70764" y="5018246"/>
              <a:ext cx="42344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须的上下界是 Q₃ + 1.5·IQR 与 Q₁ − 1.5·IQR，之外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的点标为潜在离群点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0456" y="5605462"/>
              <a:ext cx="4559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正态分布下，箱子覆盖中间 50% 的数据，两须之外约占 0.7%。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98405" cy="909257"/>
            <a:chOff x="520446" y="342900"/>
            <a:chExt cx="5798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 · 机器学习中的若干讨论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98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实现：五行代码跑完一次回归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83755" cy="264033"/>
            <a:chOff x="526542" y="1545907"/>
            <a:chExt cx="71837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83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课件用波士顿房价数据（14 个字段，MEDV 是自住房中位数价格）演示 sklearn 的用法。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1855470"/>
            <a:chOff x="533400" y="1928812"/>
            <a:chExt cx="5842635" cy="185547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14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sklearn 五步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2987929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sklearn.model_selection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train_test_split</a:t>
              </a:r>
              <a:br/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sklearn.linear_model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LinearRegression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x_train, x_test, y_train, y_test = train_test_split(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x, y, train_size=0.7, random_state=1)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linreg = LinearRegression()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model = linreg.fit(x_train, y_train)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print(linreg.coef_, linreg.intercept_)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y_hat = linreg.predict(x_test)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49065"/>
            <a:ext cx="5842635" cy="2252662"/>
            <a:chOff x="533400" y="3949065"/>
            <a:chExt cx="5842635" cy="2252662"/>
          </a:xfrm>
        </p:grpSpPr>
        <p:sp>
          <p:nvSpPr>
            <p:cNvPr id="13" name="Rectangle 13"/>
            <p:cNvSpPr/>
            <p:nvPr/>
          </p:nvSpPr>
          <p:spPr>
            <a:xfrm>
              <a:off x="533400" y="3949065"/>
              <a:ext cx="5842635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082415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13004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946" y="416290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课件的结果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91830" y="41695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只取三个特征时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485799"/>
              <a:ext cx="462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2.1283 + 4.9827·RM − 0.4667·DIS − 0.7282·LSTAT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7141" y="4767262"/>
              <a:ext cx="516464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RM 是平均房间数，系数为正；LSTAT 是低收入人群比例，系数为负。符号与常识一致，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这是检查模型的第一步。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680835" y="1928812"/>
            <a:ext cx="4977765" cy="1645920"/>
            <a:chOff x="6680835" y="1928812"/>
            <a:chExt cx="4977765" cy="1645920"/>
          </a:xfrm>
        </p:grpSpPr>
        <p:sp>
          <p:nvSpPr>
            <p:cNvPr id="21" name="Rectangle 21"/>
            <p:cNvSpPr/>
            <p:nvPr/>
          </p:nvSpPr>
          <p:spPr>
            <a:xfrm>
              <a:off x="6680835" y="1928812"/>
              <a:ext cx="4977765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90360" y="2062162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999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25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66838" y="2149316"/>
              <a:ext cx="1978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load_boston 已经被移除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93433" y="2465546"/>
              <a:ext cx="435330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scikit-learn 从 1.2 版起删掉了 load_boston（该数据集含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有带种族偏见的字段 B）。现在要么从 UCI 或 openml 自行下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载原始文件，要么改用 fetch_california_housing，代码其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余部分不变。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3739515"/>
            <a:ext cx="4977765" cy="2462212"/>
            <a:chOff x="6680835" y="3739515"/>
            <a:chExt cx="4977765" cy="2462212"/>
          </a:xfrm>
        </p:grpSpPr>
        <p:sp>
          <p:nvSpPr>
            <p:cNvPr id="28" name="Rectangle 28"/>
            <p:cNvSpPr/>
            <p:nvPr/>
          </p:nvSpPr>
          <p:spPr>
            <a:xfrm>
              <a:off x="6680835" y="3739515"/>
              <a:ext cx="4977765" cy="2462212"/>
            </a:xfrm>
            <a:prstGeom prst="roundRect">
              <a:avLst>
                <a:gd name="adj" fmla="val 5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0360" y="3872865"/>
              <a:ext cx="47625" cy="2195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99910" y="39204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5432" y="39533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课后作业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15441" y="3960019"/>
              <a:ext cx="1726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版课件布置的三件事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900862" y="426529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52769" y="43009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0611" y="4277201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自己实现梯度下降版线性回归（不许调库），用原始数据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与归一化数据各跑一次，结果以图或表对比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900862" y="479393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2769" y="482860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70611" y="4804886"/>
              <a:ext cx="3987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同一份数据分别用 BGD 与 SGD 训练并对比，SGD 要打乱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样本顺序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00862" y="532161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52769" y="53572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611" y="5332571"/>
              <a:ext cx="4003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调库用岭回归与 LASSO 再做一次房价预测，对比三个模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型的系数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4576" y="5856922"/>
              <a:ext cx="4626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另一道笔头题：写出目标函数 J(Θ) 的梯度推导过程，对应本讲第 14 页。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自测题（一）概念与选择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0615" cy="264033"/>
            <a:chOff x="526542" y="1545907"/>
            <a:chExt cx="49206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先自己写出答案，再对照。带计算的题请把每一步都写出来。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代价函数为什么常用误差平方和，而不是绝对误差？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751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平方和处处可导，关于 Θ 是凸二次函数，有闭式解，且在高斯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噪声假设下等价于极大似然估计。绝对误差更稳健，但零点不可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导，也没有闭式解。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839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10⁶、d = 10 与 N = 500、d = 10000 分别该用哪种解法？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571524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 XᵀX 只有 11 阶，正规方程一次解完。后者 d 远大于 N，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XᵀX 奇异，只能用梯度下降加正则化。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914525"/>
            <a:chOff x="6248400" y="1928812"/>
            <a:chExt cx="5410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75808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正规方程 Θ = (XᵀX)⁻¹XᵀY 成立的前提是什么？哪两种情况会让它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 XᵀX 可逆，等价于 X 列满秩。一是特征线性相关，二是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小于参数个数 d+1。补救：删冗余特征、加样本、用伪逆、或加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λI 变成岭回归。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8120"/>
            <a:ext cx="5410200" cy="1671638"/>
            <a:chOff x="6248400" y="4008120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529614"/>
              <a:ext cx="476092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局部加权线性回归为什么每预测一个点都要重新拟合？带宽 k 取大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取小各会怎样？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5057299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权重是待预测点 x 到各样本距离的函数，换一个 x 权重全变，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必须重解 Θ = (XᵀWX)⁻¹XᵀWY。k 大趋于欠拟合，k 小则过拟合。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1903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题答不上来时，回到第 15 页把不可逆的两种原因和四种补救办法各抄一遍。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自测题（二）计算与易错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000250"/>
            <a:chOff x="533400" y="1524000"/>
            <a:chExt cx="54102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4581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已知三个样本 (1, 1)、(2, 3)、(3, 4)，用最小二乘拟合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h(x) = θ₀ + θ₁x，求 θ₀、θ₁ 和残差平方和。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均值 2，y 均值 8/3。θ₁ = Σ(x−x̄)(y−ȳ)/Σ(x−x̄)²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3/2；θ₀ = 8/3 − 3 = −1/3。预测 7/6, 8/3, 25/6，残差 1/6,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−1/3, 1/6，平方和 1/6。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93795"/>
            <a:ext cx="5410200" cy="2000250"/>
            <a:chOff x="533400" y="3693795"/>
            <a:chExt cx="54102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533400" y="369379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225290"/>
              <a:ext cx="3426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上一题把 η 换成 0.1 会怎样？换成 1 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525328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 = 0.1 时第一步 θ₁ = 1.9，第二步掉回 0.66，在 1.5 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侧来回荡；η = 1 时越跳越远，J 发散。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000250"/>
            <a:chOff x="6248400" y="1524000"/>
            <a:chExt cx="54102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8232" y="2054542"/>
              <a:ext cx="47294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同一批数据，Θ 初值 (0, 0)、η = 0.05，写出一步批梯度下降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的结果和新的 J(Θ)。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8232" y="2612708"/>
              <a:ext cx="45142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初值下预测全为 0，误差 −1, −3, −4。∂J/∂θ₀ = −8，∂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J/∂θ₁ = Σ误差·x = −19，故 θ₀ = 0.4，θ₁ = 0.95。新预测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1.35, 2.30, 3.25，J = 0.5875，远小于初值的 13。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93795"/>
            <a:ext cx="5410200" cy="2000250"/>
            <a:chOff x="6248400" y="3693795"/>
            <a:chExt cx="54102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6248400" y="369379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422529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特征归一化会改变正规方程解出来的模型吗？梯度下降为什么必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须先归一化？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4782502"/>
              <a:ext cx="48400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预测不变，参数会变：归一化是对 X 做可逆线性变换，拟合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出的函数仍是同一个。梯度下降对所有参数用同一个 η，等高线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极扁时步长对一个方向合适、对另一个就过大。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1" name="Rectangle 3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8373"/>
              <a:ext cx="9409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1、2 题是本章最常考的计算题：先写出误差列，再分别乘 1 和 x 求和，别跳步。归一化的 μ、σ 一律取自训练集。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线性回归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4478"/>
            <a:ext cx="5693816" cy="1831847"/>
            <a:chOff x="533400" y="1534478"/>
            <a:chExt cx="5693816" cy="1831847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5370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线性回归假设 h(x) = Θᵀx，约定 x₀ = 1，代价取误差平方和的一半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452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求导令零得正规方程 XᵀXΘ = XᵀY，闭式解要求 X 列满秩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5375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梯度下降按 θⱼ ← θⱼ − η(h−y)xⱼ 更新，分 BGD、SGD、mini-batch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高斯噪声下最大似然估计与最小二乘同解，平方和不是随便挑的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7844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90825"/>
              <a:ext cx="453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加权重得到 LWLR，换基函数得到非线性回归，形式不变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08991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078" y="31282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197" y="3102292"/>
              <a:ext cx="5413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过拟合靠正则化压制，L₂ 是岭回归，L₁ 是 LASSO 且能得到稀疏解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488055"/>
            <a:ext cx="5842635" cy="2162175"/>
            <a:chOff x="533400" y="3488055"/>
            <a:chExt cx="5842635" cy="2162175"/>
          </a:xfrm>
        </p:grpSpPr>
        <p:sp>
          <p:nvSpPr>
            <p:cNvPr id="26" name="Rectangle 26"/>
            <p:cNvSpPr/>
            <p:nvPr/>
          </p:nvSpPr>
          <p:spPr>
            <a:xfrm>
              <a:off x="533400" y="3488055"/>
              <a:ext cx="5842635" cy="2162175"/>
            </a:xfrm>
            <a:prstGeom prst="roundRect">
              <a:avLst>
                <a:gd name="adj" fmla="val 61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621405"/>
              <a:ext cx="47625" cy="18954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368046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3341" y="37147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40938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4037648"/>
              <a:ext cx="4077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版例题 4 个样本 5 个参数，XᵀX 奇异（第17页）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43957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4339590"/>
              <a:ext cx="4557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LWLR 高斯核漏平方、高斯基函数漏 exp（第31、32页）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469868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4642485"/>
              <a:ext cx="3275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基函数回归的偏导漏了系数 2（第33页）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50006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494442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学习率记号 α 改为 η（第20页）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530352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5247323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房价表 2400 对应价格应为 369（第6页）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680835" y="1524000"/>
            <a:ext cx="4977765" cy="2434590"/>
            <a:chOff x="6680835" y="1524000"/>
            <a:chExt cx="4977765" cy="2434590"/>
          </a:xfrm>
        </p:grpSpPr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215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3507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80848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正规方程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75308" y="205406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令梯度为零解出的线性方程组，一步得到闭式解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0848" y="2459831"/>
              <a:ext cx="67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LMS 规则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75308" y="245983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更新量正比于当前预测误差乘以对应特征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0848" y="2865596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 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75308" y="286559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每步走多远，过小慢过大震荡，要画损失曲线来定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0848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凸二次函数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75308" y="3271361"/>
              <a:ext cx="2369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 J(Θ)，驻点即全局最优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35480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0848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岭回归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75308" y="3677126"/>
              <a:ext cx="2600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L₂ 惩罚，顺带把奇异的 XᵀX 变可逆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0835" y="1524000"/>
              <a:ext cx="497776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07053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rd-2"/>
          <p:cNvGrpSpPr/>
          <p:nvPr/>
        </p:nvGrpSpPr>
        <p:grpSpPr>
          <a:xfrm>
            <a:off x="6680835" y="4133850"/>
            <a:ext cx="4977765" cy="1516380"/>
            <a:chOff x="6680835" y="4133850"/>
            <a:chExt cx="4977765" cy="1516380"/>
          </a:xfrm>
        </p:grpSpPr>
        <p:sp>
          <p:nvSpPr>
            <p:cNvPr id="63" name="Rectangle 63"/>
            <p:cNvSpPr/>
            <p:nvPr/>
          </p:nvSpPr>
          <p:spPr>
            <a:xfrm>
              <a:off x="6680835" y="4133850"/>
              <a:ext cx="4977765" cy="1516380"/>
            </a:xfrm>
            <a:prstGeom prst="roundRect">
              <a:avLst>
                <a:gd name="adj" fmla="val 879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73240" y="432625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60680" y="43605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66382" y="4682490"/>
              <a:ext cx="43942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第3章把输出从实数换成类别标签：在线性函数外面套一个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sigmoid，代价函数换成交叉熵，就是逻辑回归。梯度下降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那一套原封不动搬过去，正规方程则不再有闭式解。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8" name="Rectangle 6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3610"/>
              <a:ext cx="7683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复习时先默写正规方程的四行推导，再把第16页和第24页两道例题重算一遍，中间步骤不许跳。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第2章 线性回归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2">
  <a:themeElements>
    <a:clrScheme name="ml_ch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2026-09-19T13:53:30Z</dcterms:created>
  <dcterms:modified xsi:type="dcterms:W3CDTF">2026-09-19T13:53:30Z</dcterms:modified>
  <cp:category/>
  <cp:contentStatus/>
</cp:coreProperties>
</file>