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l_ch0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l_ch0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dff0a26170b2c77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1cc8c35a6344ffa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4b8d417826a5308.png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389882" cy="3437763"/>
            <a:chOff x="666750" y="1619250"/>
            <a:chExt cx="438988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9353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4010" y="171831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机器学习 · 第九章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把问题拆成重叠的子问题，每个只算一次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最优子结构与重叠子问题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斐波那契与最大和区间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最长公共子序列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序列比对与线性空间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864875" cy="205359"/>
            <a:chOff x="680466" y="6192202"/>
            <a:chExt cx="486487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8648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自学复习版｜据吉林大学《机器学习》A 版第9章课件（SXH）整理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动态规划的思想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多阶段决策、最优子结构、重叠子问题、三个基本元素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两个入门例子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8184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斐波那契数的表格计算，最大和区间的 O(n) 解法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最长公共子序列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递推关系、填长度表与箭头表、按箭头回溯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全局序列比对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0222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得分方案、比对图、S(i, j) 的三种来源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局部比对与空位罚分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451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 0 的递推、仿射罚分的三张表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线性空间方法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只存两行算得分，分治找最优路径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能说清最优子结构和重叠子问题各指什么，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并据此判断一个问题能否用动态规划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给出一个数列，手算每个位置的 S(i)，回溯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出最大和区间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491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给出两个短串，填出 LCS 的长度表和箭头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表，回溯出一个最长公共子序列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给定打分方案，填出全局比对和局部比对的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得分表，写出最优比对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说清仿射罚分为什么要三张表，线性空间方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法为什么时间仍是 O(mn)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69130" cy="3351847"/>
            <a:chOff x="667512" y="1835468"/>
            <a:chExt cx="44691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动态规划的思想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先判断问题有没有这两条性质，再动手写递推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多阶段决策过程与动态规划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与贪婪算法、分治算法的区别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最优子结构（最优化原理）与重叠子问题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递推关系、表格计算、回溯三个基本元素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动态规划的思想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多阶段决策：一连串决策中找最优的那一串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564958"/>
            <a:chOff x="533400" y="1524000"/>
            <a:chExt cx="5410200" cy="15649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40221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多阶段决策过程 multistep decision process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一类特殊的活动过程：可以按时间顺序分解成若干个相互联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系的阶段，每个阶段都要做出决策，全部过程的决策构成一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个决策序列。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273742"/>
            <a:ext cx="5410200" cy="2066925"/>
            <a:chOff x="533400" y="3273742"/>
            <a:chExt cx="5410200" cy="2066925"/>
          </a:xfrm>
        </p:grpSpPr>
        <p:sp>
          <p:nvSpPr>
            <p:cNvPr id="14" name="Rectangle 14"/>
            <p:cNvSpPr/>
            <p:nvPr/>
          </p:nvSpPr>
          <p:spPr>
            <a:xfrm>
              <a:off x="533400" y="3273742"/>
              <a:ext cx="5410200" cy="2066925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07092"/>
              <a:ext cx="47625" cy="180022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5335" y="34775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543" y="35132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76744" y="3518059"/>
              <a:ext cx="29067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 dynamic programming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8096" y="3869531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求解多阶段决策过程最优化问题的一种方法。它把问题的解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看成一系列决策的结果，先求出所有子问题的最优值，再由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这些值拼出整体最优解。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9239" y="4729162"/>
              <a:ext cx="473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很多贪婪算法或分治算法解决不了的问题，用动态规划可以既简洁又高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效地解决。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5526405"/>
            <a:ext cx="5410200" cy="756285"/>
            <a:chOff x="533400" y="5526405"/>
            <a:chExt cx="5410200" cy="756285"/>
          </a:xfrm>
        </p:grpSpPr>
        <p:sp>
          <p:nvSpPr>
            <p:cNvPr id="22" name="Rectangle 22"/>
            <p:cNvSpPr/>
            <p:nvPr/>
          </p:nvSpPr>
          <p:spPr>
            <a:xfrm>
              <a:off x="533400" y="5526405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804535"/>
              <a:ext cx="200026" cy="200026"/>
              <a:chOff x="738188" y="5804535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8045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58712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7088" y="59045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511" y="5673566"/>
              <a:ext cx="445084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programming 在这里指“填表”，和写程序无关。动态规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划的计算过程就是按一定顺序把一张表填满。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6248400" y="1524000"/>
            <a:ext cx="5410200" cy="2790825"/>
            <a:chOff x="6248400" y="1524000"/>
            <a:chExt cx="5410200" cy="2790825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14338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7753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贪婪算法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5675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分治算法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1788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动态规划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53747" y="219170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每步决策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81494" y="2085022"/>
              <a:ext cx="1078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按贪婪准则当场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选定，不可撤回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2629" y="2085022"/>
              <a:ext cx="92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拆成子问题分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别求解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045065" y="1964055"/>
              <a:ext cx="1604010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140886" y="2085022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先保留各子问题的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最优值，最后再定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25927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2597468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53747" y="2728912"/>
              <a:ext cx="621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子问题之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81494" y="2728912"/>
              <a:ext cx="1078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每步之后只剩一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个子问题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42629" y="28355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互相独立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045065" y="2606992"/>
              <a:ext cx="1604010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140886" y="28355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大量重叠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2365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53747" y="3372802"/>
              <a:ext cx="621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正确的前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81494" y="347948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贪婪选择性质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42629" y="3372802"/>
              <a:ext cx="92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子问题的解能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40886" y="34794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最优子结构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3879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48400" y="388429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53747" y="40157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典型例子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81494" y="4015740"/>
              <a:ext cx="10436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Huffman 编码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42629" y="40157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140886" y="4015740"/>
              <a:ext cx="11015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LCS、序列比对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1524000"/>
              <a:ext cx="5410200" cy="2790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271385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8732520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030778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llout-2"/>
          <p:cNvGrpSpPr/>
          <p:nvPr/>
        </p:nvGrpSpPr>
        <p:grpSpPr>
          <a:xfrm>
            <a:off x="6248400" y="4500562"/>
            <a:ext cx="5410200" cy="1782128"/>
            <a:chOff x="6248400" y="4500562"/>
            <a:chExt cx="5410200" cy="1782128"/>
          </a:xfrm>
        </p:grpSpPr>
        <p:sp>
          <p:nvSpPr>
            <p:cNvPr id="62" name="Rectangle 62"/>
            <p:cNvSpPr/>
            <p:nvPr/>
          </p:nvSpPr>
          <p:spPr>
            <a:xfrm>
              <a:off x="6248400" y="4500562"/>
              <a:ext cx="5410200" cy="1782128"/>
            </a:xfrm>
            <a:prstGeom prst="roundRect">
              <a:avLst>
                <a:gd name="adj" fmla="val 641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453188" y="5291138"/>
              <a:ext cx="200026" cy="200025"/>
              <a:chOff x="6453188" y="5291138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453188" y="52911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492926" y="53355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527642" y="54467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755511" y="5029676"/>
              <a:ext cx="452297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动态规划比贪婪算法多考察一件事：每个最优决策序列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中，是否包含一个最优的决策子序列。这就是下一页的最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优子结构性质。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动态规划的思想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能用动态规划的两条性质：最优子结构、重叠子问题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747838"/>
            <a:chOff x="533400" y="1524000"/>
            <a:chExt cx="5410200" cy="17478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47838"/>
            </a:xfrm>
            <a:prstGeom prst="roundRect">
              <a:avLst>
                <a:gd name="adj" fmla="val 7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8113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322" y="175069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66660" y="175641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最优子结构（最优化原理）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6943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作为全过程的最优策略具有这样的性质：对于最优策略过程中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的任意状态，无论其过去的状态和决策如何，余下的诸决策必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构成一个最优子策略。即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一个最优策略的子策略总是最优的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8190" y="2903696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一个问题满足最优化原理，又称其具有最优子结构性质。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447098"/>
            <a:ext cx="5410200" cy="1226820"/>
            <a:chOff x="533400" y="3447098"/>
            <a:chExt cx="5410200" cy="1226820"/>
          </a:xfrm>
        </p:grpSpPr>
        <p:sp>
          <p:nvSpPr>
            <p:cNvPr id="15" name="Rectangle 15"/>
            <p:cNvSpPr/>
            <p:nvPr/>
          </p:nvSpPr>
          <p:spPr>
            <a:xfrm>
              <a:off x="533400" y="3447098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580448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6395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5345" y="36737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47597" y="367855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最短路径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4012882"/>
              <a:ext cx="47714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A 到 C 的最短路经过 B，则其中 A 到 B 的一段必是 A 到 B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最短路。否则换成更短的那条，整条路也跟着变短，矛盾。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4848225"/>
            <a:ext cx="5410200" cy="978218"/>
            <a:chOff x="533400" y="4848225"/>
            <a:chExt cx="5410200" cy="978218"/>
          </a:xfrm>
        </p:grpSpPr>
        <p:sp>
          <p:nvSpPr>
            <p:cNvPr id="22" name="Rectangle 22"/>
            <p:cNvSpPr/>
            <p:nvPr/>
          </p:nvSpPr>
          <p:spPr>
            <a:xfrm>
              <a:off x="533400" y="4848225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26129" y="5234106"/>
              <a:ext cx="224134" cy="192560"/>
              <a:chOff x="726129" y="5234106"/>
              <a:chExt cx="224134" cy="1925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38200" y="53044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6129" y="52341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53822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892" y="4994910"/>
              <a:ext cx="44714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反例：最长简单路径没有最优子结构。两段各自最长的简单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路径拼起来，可能重复经过同一个结点，拼出的已不是简单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路径。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248400" y="1524000"/>
            <a:ext cx="5410200" cy="1483995"/>
            <a:chOff x="6248400" y="1524000"/>
            <a:chExt cx="5410200" cy="1483995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165735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8905" y="1716405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66322" y="175069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81660" y="175641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重叠子问题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2047" y="2090738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用递归自顶向下求解时，产生的子问题并不总是新问题，有些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会被重复计算多次。动态规划对每个子问题只解一次，把解存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进表格，以后再用到时直接查表。</a:t>
              </a:r>
            </a:p>
          </p:txBody>
        </p:sp>
      </p:grpSp>
      <p:grpSp>
        <p:nvGrpSpPr>
          <p:cNvPr id="65" name="c2-graph-2"/>
          <p:cNvGrpSpPr/>
          <p:nvPr/>
        </p:nvGrpSpPr>
        <p:grpSpPr>
          <a:xfrm>
            <a:off x="6470332" y="3414078"/>
            <a:ext cx="4963907" cy="1011872"/>
            <a:chOff x="6470332" y="3414078"/>
            <a:chExt cx="4963907" cy="1011872"/>
          </a:xfrm>
        </p:grpSpPr>
        <p:sp>
          <p:nvSpPr>
            <p:cNvPr id="36" name="Freeform 36"/>
            <p:cNvSpPr/>
            <p:nvPr/>
          </p:nvSpPr>
          <p:spPr>
            <a:xfrm>
              <a:off x="6901815" y="3919538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378065" y="38719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837170" y="3919538"/>
              <a:ext cx="514350" cy="9525"/>
            </a:xfrm>
            <a:custGeom>
              <a:avLst/>
              <a:gdLst/>
              <a:ahLst/>
              <a:cxnLst/>
              <a:rect l="l" t="t" r="r" b="b"/>
              <a:pathLst>
                <a:path w="514350" h="952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351520" y="38719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810625" y="3919538"/>
              <a:ext cx="515303" cy="9525"/>
            </a:xfrm>
            <a:custGeom>
              <a:avLst/>
              <a:gdLst/>
              <a:ahLst/>
              <a:cxnLst/>
              <a:rect l="l" t="t" r="r" b="b"/>
              <a:pathLst>
                <a:path w="515303" h="9525">
                  <a:moveTo>
                    <a:pt x="0" y="0"/>
                  </a:moveTo>
                  <a:lnTo>
                    <a:pt x="51530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325928" y="38719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784080" y="3919538"/>
              <a:ext cx="515302" cy="9525"/>
            </a:xfrm>
            <a:custGeom>
              <a:avLst/>
              <a:gdLst/>
              <a:ahLst/>
              <a:cxnLst/>
              <a:rect l="l" t="t" r="r" b="b"/>
              <a:pathLst>
                <a:path w="515302" h="9525">
                  <a:moveTo>
                    <a:pt x="0" y="0"/>
                  </a:moveTo>
                  <a:lnTo>
                    <a:pt x="51530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299382" y="38719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10758488" y="3919538"/>
              <a:ext cx="460057" cy="9525"/>
            </a:xfrm>
            <a:custGeom>
              <a:avLst/>
              <a:gdLst/>
              <a:ahLst/>
              <a:cxnLst/>
              <a:rect l="l" t="t" r="r" b="b"/>
              <a:pathLst>
                <a:path w="460057" h="9525">
                  <a:moveTo>
                    <a:pt x="0" y="0"/>
                  </a:moveTo>
                  <a:lnTo>
                    <a:pt x="46005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1218545" y="38719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6861810" y="4046220"/>
              <a:ext cx="1540193" cy="379730"/>
            </a:xfrm>
            <a:custGeom>
              <a:avLst/>
              <a:gdLst/>
              <a:ahLst/>
              <a:cxnLst/>
              <a:rect l="l" t="t" r="r" b="b"/>
              <a:pathLst>
                <a:path w="1540193" h="379730">
                  <a:moveTo>
                    <a:pt x="0" y="0"/>
                  </a:moveTo>
                  <a:cubicBezTo>
                    <a:pt x="528955" y="368935"/>
                    <a:pt x="1042353" y="379730"/>
                    <a:pt x="1540193" y="3238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374380" y="4024312"/>
              <a:ext cx="105727" cy="93345"/>
            </a:xfrm>
            <a:custGeom>
              <a:avLst/>
              <a:gdLst/>
              <a:ahLst/>
              <a:cxnLst/>
              <a:rect l="l" t="t" r="r" b="b"/>
              <a:pathLst>
                <a:path w="105727" h="93345">
                  <a:moveTo>
                    <a:pt x="105727" y="0"/>
                  </a:moveTo>
                  <a:lnTo>
                    <a:pt x="54292" y="93345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7803832" y="3414078"/>
              <a:ext cx="1571625" cy="401638"/>
            </a:xfrm>
            <a:custGeom>
              <a:avLst/>
              <a:gdLst/>
              <a:ahLst/>
              <a:cxnLst/>
              <a:rect l="l" t="t" r="r" b="b"/>
              <a:pathLst>
                <a:path w="1571625" h="401638">
                  <a:moveTo>
                    <a:pt x="0" y="401638"/>
                  </a:moveTo>
                  <a:cubicBezTo>
                    <a:pt x="549910" y="18097"/>
                    <a:pt x="1073785" y="0"/>
                    <a:pt x="1571625" y="34734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347835" y="3722370"/>
              <a:ext cx="105728" cy="93345"/>
            </a:xfrm>
            <a:custGeom>
              <a:avLst/>
              <a:gdLst/>
              <a:ahLst/>
              <a:cxnLst/>
              <a:rect l="l" t="t" r="r" b="b"/>
              <a:pathLst>
                <a:path w="105728" h="93345">
                  <a:moveTo>
                    <a:pt x="105728" y="93345"/>
                  </a:moveTo>
                  <a:lnTo>
                    <a:pt x="0" y="78105"/>
                  </a:lnTo>
                  <a:lnTo>
                    <a:pt x="5524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8778240" y="4024312"/>
              <a:ext cx="1570672" cy="401637"/>
            </a:xfrm>
            <a:custGeom>
              <a:avLst/>
              <a:gdLst/>
              <a:ahLst/>
              <a:cxnLst/>
              <a:rect l="l" t="t" r="r" b="b"/>
              <a:pathLst>
                <a:path w="1570672" h="401637">
                  <a:moveTo>
                    <a:pt x="0" y="0"/>
                  </a:moveTo>
                  <a:cubicBezTo>
                    <a:pt x="549910" y="383540"/>
                    <a:pt x="1073467" y="401637"/>
                    <a:pt x="1570672" y="5429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322242" y="4024312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104775" y="0"/>
                  </a:moveTo>
                  <a:lnTo>
                    <a:pt x="54293" y="93345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9751695" y="3467417"/>
              <a:ext cx="1483995" cy="348298"/>
            </a:xfrm>
            <a:custGeom>
              <a:avLst/>
              <a:gdLst/>
              <a:ahLst/>
              <a:cxnLst/>
              <a:rect l="l" t="t" r="r" b="b"/>
              <a:pathLst>
                <a:path w="1483995" h="348298">
                  <a:moveTo>
                    <a:pt x="0" y="348298"/>
                  </a:moveTo>
                  <a:cubicBezTo>
                    <a:pt x="495935" y="953"/>
                    <a:pt x="990600" y="0"/>
                    <a:pt x="1483995" y="3454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11208068" y="3773805"/>
              <a:ext cx="105727" cy="93345"/>
            </a:xfrm>
            <a:custGeom>
              <a:avLst/>
              <a:gdLst/>
              <a:ahLst/>
              <a:cxnLst/>
              <a:rect l="l" t="t" r="r" b="b"/>
              <a:pathLst>
                <a:path w="105727" h="93345">
                  <a:moveTo>
                    <a:pt x="105727" y="93345"/>
                  </a:moveTo>
                  <a:lnTo>
                    <a:pt x="0" y="78105"/>
                  </a:lnTo>
                  <a:lnTo>
                    <a:pt x="5429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6470332" y="3709035"/>
              <a:ext cx="421005" cy="421005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7482840" y="3747135"/>
              <a:ext cx="344805" cy="3448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8456295" y="3747135"/>
              <a:ext cx="344805" cy="34480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9430702" y="3747135"/>
              <a:ext cx="344805" cy="34480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10404158" y="3747135"/>
              <a:ext cx="344805" cy="34480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46125" y="385476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F10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63658" y="385476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F9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37113" y="385476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F8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511520" y="385476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484975" y="385476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341941" y="38547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72" name="c2-callout-3"/>
          <p:cNvGrpSpPr/>
          <p:nvPr/>
        </p:nvGrpSpPr>
        <p:grpSpPr>
          <a:xfrm>
            <a:off x="6248400" y="4832032"/>
            <a:ext cx="5410200" cy="995362"/>
            <a:chOff x="6248400" y="4832032"/>
            <a:chExt cx="5410200" cy="995362"/>
          </a:xfrm>
        </p:grpSpPr>
        <p:sp>
          <p:nvSpPr>
            <p:cNvPr id="66" name="Rectangle 66"/>
            <p:cNvSpPr/>
            <p:nvPr/>
          </p:nvSpPr>
          <p:spPr>
            <a:xfrm>
              <a:off x="6248400" y="4832032"/>
              <a:ext cx="5410200" cy="995362"/>
            </a:xfrm>
            <a:prstGeom prst="roundRect">
              <a:avLst>
                <a:gd name="adj" fmla="val 1148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453188" y="5229225"/>
              <a:ext cx="200026" cy="200026"/>
              <a:chOff x="6453188" y="5229225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453188" y="52292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553200" y="5295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542088" y="53292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755892" y="4986338"/>
              <a:ext cx="451427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F10 的递归树里相同的结点合并，就得到上面这张子问题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图。树里 F8 出现 2 次、F7 出现 3 次、F6 出现 5 次，合并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后每个只剩一个。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动态规划的思想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三个基本元素：递推关系、表格计算、回溯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706239" cy="2315051"/>
            <a:chOff x="533400" y="1533525"/>
            <a:chExt cx="4706239" cy="2315051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5878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2791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12134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951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1564957"/>
              <a:ext cx="2648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递推关系 recurrence relation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785" y="1833086"/>
              <a:ext cx="42786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定义最优解的值：用规模更小的子问题的最优值，写出当前子问题的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359342"/>
              <a:ext cx="26870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表格计算 tabular computation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627471"/>
              <a:ext cx="42928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计算最优解的值：按“被依赖的先算”的顺序填表，每个子问题只算一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3153727"/>
              <a:ext cx="1379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 traceback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420904"/>
              <a:ext cx="42786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给出最优解本身：从答案所在的格子出发，沿记下的来源方向倒着走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回起点</a:t>
              </a:r>
            </a:p>
          </p:txBody>
        </p:sp>
      </p:grpSp>
      <p:grpSp>
        <p:nvGrpSpPr>
          <p:cNvPr id="23" name="c1-image-2"/>
          <p:cNvGrpSpPr/>
          <p:nvPr/>
        </p:nvGrpSpPr>
        <p:grpSpPr>
          <a:xfrm>
            <a:off x="1179386" y="4017645"/>
            <a:ext cx="3685794" cy="2367534"/>
            <a:chOff x="1179386" y="4017645"/>
            <a:chExt cx="3685794" cy="2367534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rcRect l="5556" t="0" r="5555" b="0"/>
            <a:stretch>
              <a:fillRect/>
            </a:stretch>
          </p:blipFill>
          <p:spPr>
            <a:xfrm>
              <a:off x="1643062" y="4017645"/>
              <a:ext cx="2758440" cy="2068830"/>
            </a:xfrm>
            <a:prstGeom prst="roundRect">
              <a:avLst>
                <a:gd name="adj" fmla="val 6445"/>
              </a:avLst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179386" y="6179820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每个子问题的解算出后放进自己的抽屉，再用到时直接取出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5810631" y="1524000"/>
            <a:ext cx="5847969" cy="2714244"/>
            <a:chOff x="5810631" y="1524000"/>
            <a:chExt cx="5847969" cy="2714244"/>
          </a:xfrm>
        </p:grpSpPr>
        <p:sp>
          <p:nvSpPr>
            <p:cNvPr id="24" name="Rectangle 24"/>
            <p:cNvSpPr/>
            <p:nvPr/>
          </p:nvSpPr>
          <p:spPr>
            <a:xfrm>
              <a:off x="5815965" y="1524000"/>
              <a:ext cx="584263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6051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6259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5579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答案所在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7503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回溯得到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15978" y="205406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斐波那契数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18058" y="2054066"/>
              <a:ext cx="956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 F[0..n]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20138" y="2054066"/>
              <a:ext cx="352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F[n]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006012" y="205406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不需要回溯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15965" y="2330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15965" y="23355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15978" y="24598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最大和区间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18058" y="2459831"/>
              <a:ext cx="956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 S(1..n)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20138" y="2459831"/>
              <a:ext cx="749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的最大值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06012" y="24598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区间的起点与终点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2736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15978" y="28655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最长公共子序列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18058" y="2865596"/>
              <a:ext cx="953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(m+1)×(n+1)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20138" y="28655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右下角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06012" y="28655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公共子序列本身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15965" y="3142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815965" y="314706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15978" y="32713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全局序列比对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18058" y="3271361"/>
              <a:ext cx="953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(m+1)×(n+1)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20138" y="32713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右下角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06012" y="32713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带空格的比对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35480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15978" y="36771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局部序列比对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18058" y="3677126"/>
              <a:ext cx="953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(m+1)×(n+1)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20138" y="36771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全表最大值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06012" y="367712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一对片段的比对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15965" y="1524000"/>
              <a:ext cx="5842635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21328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61536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901238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810631" y="403288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本章五个例子对照</a:t>
              </a:r>
            </a:p>
          </p:txBody>
        </p:sp>
      </p:grpSp>
      <p:grpSp>
        <p:nvGrpSpPr>
          <p:cNvPr id="77" name="c2-card-2"/>
          <p:cNvGrpSpPr/>
          <p:nvPr/>
        </p:nvGrpSpPr>
        <p:grpSpPr>
          <a:xfrm>
            <a:off x="5815965" y="4371975"/>
            <a:ext cx="5842635" cy="1877378"/>
            <a:chOff x="5815965" y="4371975"/>
            <a:chExt cx="5842635" cy="1877378"/>
          </a:xfrm>
        </p:grpSpPr>
        <p:sp>
          <p:nvSpPr>
            <p:cNvPr id="61" name="Rectangle 61"/>
            <p:cNvSpPr/>
            <p:nvPr/>
          </p:nvSpPr>
          <p:spPr>
            <a:xfrm>
              <a:off x="5815965" y="4371975"/>
              <a:ext cx="5842635" cy="1877378"/>
            </a:xfrm>
            <a:prstGeom prst="roundRect">
              <a:avLst>
                <a:gd name="adj" fmla="val 710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08370" y="456438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91809" y="45986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做题套路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858762" y="460438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写动态规划解法的四个问题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007417" y="4926330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063096" y="496471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88214" y="493871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子问题是什么，表里一格代表什么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007417" y="5229225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063096" y="52676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88214" y="524065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一格由哪几格算出，边界格填什么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007417" y="5531167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063096" y="55695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288214" y="554355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按什么顺序填，才能保证依赖的格子已经算好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007417" y="5834062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063096" y="58724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88214" y="584644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答案在哪一格，回溯时每一步往哪里走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889248" cy="3351847"/>
            <a:chOff x="667512" y="1835468"/>
            <a:chExt cx="388924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两个入门例子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一维的表就能看清动态规划的全部套路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斐波那契数：朴素递归为什么是指数时间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393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表格计算把时间降到 O(n)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最大和区间：定义“在 i 点结束”的子问题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一遍扫描加一次回溯得到最大和区间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两个入门例子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斐波那契数：朴素递归把同一个数算了很多遍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4"/>
              <p:cNvSpPr txBox="1">
                <a:spLocks noGrp="1"/>
              </p:cNvSpPr>
              <p:nvPr/>
            </p:nvSpPr>
            <p:spPr>
              <a:xfrm>
                <a:off x="533400" y="1524000"/>
                <a:ext cx="5193982" cy="1049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&gt;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1" name="c1-code-2"/>
          <p:cNvGrpSpPr/>
          <p:nvPr/>
        </p:nvGrpSpPr>
        <p:grpSpPr>
          <a:xfrm>
            <a:off x="533400" y="2759392"/>
            <a:ext cx="5193982" cy="1313498"/>
            <a:chOff x="533400" y="2759392"/>
            <a:chExt cx="5193982" cy="1313498"/>
          </a:xfrm>
        </p:grpSpPr>
        <p:sp>
          <p:nvSpPr>
            <p:cNvPr id="8" name="Rectangle 8"/>
            <p:cNvSpPr/>
            <p:nvPr/>
          </p:nvSpPr>
          <p:spPr>
            <a:xfrm>
              <a:off x="533400" y="2759392"/>
              <a:ext cx="5193982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1797" y="291131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递归算法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1035" y="3174206"/>
              <a:ext cx="2045462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F(n):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n = 0 then F = 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 if n = 1 then F =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 F = F(n-1) + F(n-2)</a:t>
              </a:r>
            </a:p>
          </p:txBody>
        </p:sp>
      </p:grpSp>
      <p:grpSp>
        <p:nvGrpSpPr>
          <p:cNvPr id="41" name="c1-table-3"/>
          <p:cNvGrpSpPr/>
          <p:nvPr/>
        </p:nvGrpSpPr>
        <p:grpSpPr>
          <a:xfrm>
            <a:off x="527685" y="4258628"/>
            <a:ext cx="5199697" cy="1155859"/>
            <a:chOff x="527685" y="4258628"/>
            <a:chExt cx="5199697" cy="1155859"/>
          </a:xfrm>
        </p:grpSpPr>
        <p:sp>
          <p:nvSpPr>
            <p:cNvPr id="12" name="Rectangle 12"/>
            <p:cNvSpPr/>
            <p:nvPr/>
          </p:nvSpPr>
          <p:spPr>
            <a:xfrm>
              <a:off x="533400" y="4258628"/>
              <a:ext cx="5193982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2289" y="439007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01234" y="439007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F9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64162" y="439007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27089" y="439007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90017" y="439007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52944" y="439007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15872" y="439007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78799" y="439007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40774" y="439007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8746" y="48196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30262" y="48196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93189" y="48196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56116" y="48196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19044" y="48196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81019" y="48196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43946" y="48196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06874" y="48196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69802" y="48196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258628"/>
              <a:ext cx="5193982" cy="860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220152" y="4258628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783080" y="4258628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346008" y="4258628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908935" y="4258628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470910" y="4258628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033838" y="4258628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596765" y="4258628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159692" y="4258628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7685" y="5194459"/>
              <a:ext cx="205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 F(10) 时各项被计算的次数</a:t>
              </a:r>
            </a:p>
          </p:txBody>
        </p:sp>
      </p:grpSp>
      <p:grpSp>
        <p:nvGrpSpPr>
          <p:cNvPr id="48" name="c1-callout-4"/>
          <p:cNvGrpSpPr/>
          <p:nvPr/>
        </p:nvGrpSpPr>
        <p:grpSpPr>
          <a:xfrm>
            <a:off x="533400" y="5554980"/>
            <a:ext cx="5193982" cy="762000"/>
            <a:chOff x="533400" y="5554980"/>
            <a:chExt cx="5193982" cy="762000"/>
          </a:xfrm>
        </p:grpSpPr>
        <p:sp>
          <p:nvSpPr>
            <p:cNvPr id="42" name="Rectangle 42"/>
            <p:cNvSpPr/>
            <p:nvPr/>
          </p:nvSpPr>
          <p:spPr>
            <a:xfrm>
              <a:off x="533400" y="5554980"/>
              <a:ext cx="5193982" cy="762000"/>
            </a:xfrm>
            <a:prstGeom prst="roundRect">
              <a:avLst>
                <a:gd name="adj" fmla="val 1500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835968"/>
              <a:ext cx="200026" cy="200026"/>
              <a:chOff x="738188" y="5835968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8359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59026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088" y="59359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5705951"/>
              <a:ext cx="427050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次数本身又是斐波那契数。算 F(10) 共调用 177 次，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而不同的子问题只有 11 个。</a:t>
              </a:r>
            </a:p>
          </p:txBody>
        </p:sp>
      </p:grpSp>
      <p:grpSp>
        <p:nvGrpSpPr>
          <p:cNvPr id="93" name="c2-tree-1"/>
          <p:cNvGrpSpPr/>
          <p:nvPr/>
        </p:nvGrpSpPr>
        <p:grpSpPr>
          <a:xfrm>
            <a:off x="6180773" y="1598295"/>
            <a:ext cx="5329237" cy="2623185"/>
            <a:chOff x="6180773" y="1598295"/>
            <a:chExt cx="5329237" cy="2623185"/>
          </a:xfrm>
        </p:grpSpPr>
        <p:sp>
          <p:nvSpPr>
            <p:cNvPr id="49" name="Freeform 49"/>
            <p:cNvSpPr/>
            <p:nvPr/>
          </p:nvSpPr>
          <p:spPr>
            <a:xfrm>
              <a:off x="6383655" y="3464242"/>
              <a:ext cx="351472" cy="554355"/>
            </a:xfrm>
            <a:custGeom>
              <a:avLst/>
              <a:gdLst/>
              <a:ahLst/>
              <a:cxnLst/>
              <a:rect l="l" t="t" r="r" b="b"/>
              <a:pathLst>
                <a:path w="351472" h="554355">
                  <a:moveTo>
                    <a:pt x="351472" y="0"/>
                  </a:moveTo>
                  <a:lnTo>
                    <a:pt x="0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6735128" y="3464242"/>
              <a:ext cx="351472" cy="554355"/>
            </a:xfrm>
            <a:custGeom>
              <a:avLst/>
              <a:gdLst/>
              <a:ahLst/>
              <a:cxnLst/>
              <a:rect l="l" t="t" r="r" b="b"/>
              <a:pathLst>
                <a:path w="351472" h="554355">
                  <a:moveTo>
                    <a:pt x="0" y="0"/>
                  </a:moveTo>
                  <a:lnTo>
                    <a:pt x="351472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6735128" y="2909888"/>
              <a:ext cx="351472" cy="554355"/>
            </a:xfrm>
            <a:custGeom>
              <a:avLst/>
              <a:gdLst/>
              <a:ahLst/>
              <a:cxnLst/>
              <a:rect l="l" t="t" r="r" b="b"/>
              <a:pathLst>
                <a:path w="351472" h="554355">
                  <a:moveTo>
                    <a:pt x="351472" y="0"/>
                  </a:moveTo>
                  <a:lnTo>
                    <a:pt x="0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086600" y="2909888"/>
              <a:ext cx="703897" cy="554355"/>
            </a:xfrm>
            <a:custGeom>
              <a:avLst/>
              <a:gdLst/>
              <a:ahLst/>
              <a:cxnLst/>
              <a:rect l="l" t="t" r="r" b="b"/>
              <a:pathLst>
                <a:path w="703897" h="554355">
                  <a:moveTo>
                    <a:pt x="0" y="0"/>
                  </a:moveTo>
                  <a:lnTo>
                    <a:pt x="703897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493442" y="2909888"/>
              <a:ext cx="351472" cy="554355"/>
            </a:xfrm>
            <a:custGeom>
              <a:avLst/>
              <a:gdLst/>
              <a:ahLst/>
              <a:cxnLst/>
              <a:rect l="l" t="t" r="r" b="b"/>
              <a:pathLst>
                <a:path w="351472" h="554355">
                  <a:moveTo>
                    <a:pt x="351472" y="0"/>
                  </a:moveTo>
                  <a:lnTo>
                    <a:pt x="0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8844915" y="2909888"/>
              <a:ext cx="352425" cy="554355"/>
            </a:xfrm>
            <a:custGeom>
              <a:avLst/>
              <a:gdLst/>
              <a:ahLst/>
              <a:cxnLst/>
              <a:rect l="l" t="t" r="r" b="b"/>
              <a:pathLst>
                <a:path w="352425" h="554355">
                  <a:moveTo>
                    <a:pt x="0" y="0"/>
                  </a:moveTo>
                  <a:lnTo>
                    <a:pt x="352425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086600" y="2355532"/>
              <a:ext cx="703897" cy="554355"/>
            </a:xfrm>
            <a:custGeom>
              <a:avLst/>
              <a:gdLst/>
              <a:ahLst/>
              <a:cxnLst/>
              <a:rect l="l" t="t" r="r" b="b"/>
              <a:pathLst>
                <a:path w="703897" h="554355">
                  <a:moveTo>
                    <a:pt x="703897" y="0"/>
                  </a:moveTo>
                  <a:lnTo>
                    <a:pt x="0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790498" y="2355532"/>
              <a:ext cx="1054418" cy="554355"/>
            </a:xfrm>
            <a:custGeom>
              <a:avLst/>
              <a:gdLst/>
              <a:ahLst/>
              <a:cxnLst/>
              <a:rect l="l" t="t" r="r" b="b"/>
              <a:pathLst>
                <a:path w="1054418" h="554355">
                  <a:moveTo>
                    <a:pt x="0" y="0"/>
                  </a:moveTo>
                  <a:lnTo>
                    <a:pt x="1054418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9900285" y="2909888"/>
              <a:ext cx="351472" cy="554355"/>
            </a:xfrm>
            <a:custGeom>
              <a:avLst/>
              <a:gdLst/>
              <a:ahLst/>
              <a:cxnLst/>
              <a:rect l="l" t="t" r="r" b="b"/>
              <a:pathLst>
                <a:path w="351472" h="554355">
                  <a:moveTo>
                    <a:pt x="351472" y="0"/>
                  </a:moveTo>
                  <a:lnTo>
                    <a:pt x="0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10251758" y="2909888"/>
              <a:ext cx="351473" cy="554355"/>
            </a:xfrm>
            <a:custGeom>
              <a:avLst/>
              <a:gdLst/>
              <a:ahLst/>
              <a:cxnLst/>
              <a:rect l="l" t="t" r="r" b="b"/>
              <a:pathLst>
                <a:path w="351473" h="554355">
                  <a:moveTo>
                    <a:pt x="0" y="0"/>
                  </a:moveTo>
                  <a:lnTo>
                    <a:pt x="351473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0251758" y="2355532"/>
              <a:ext cx="351473" cy="554355"/>
            </a:xfrm>
            <a:custGeom>
              <a:avLst/>
              <a:gdLst/>
              <a:ahLst/>
              <a:cxnLst/>
              <a:rect l="l" t="t" r="r" b="b"/>
              <a:pathLst>
                <a:path w="351473" h="554355">
                  <a:moveTo>
                    <a:pt x="351473" y="0"/>
                  </a:moveTo>
                  <a:lnTo>
                    <a:pt x="0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0603230" y="2355532"/>
              <a:ext cx="703897" cy="554355"/>
            </a:xfrm>
            <a:custGeom>
              <a:avLst/>
              <a:gdLst/>
              <a:ahLst/>
              <a:cxnLst/>
              <a:rect l="l" t="t" r="r" b="b"/>
              <a:pathLst>
                <a:path w="703897" h="554355">
                  <a:moveTo>
                    <a:pt x="0" y="0"/>
                  </a:moveTo>
                  <a:lnTo>
                    <a:pt x="703897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7790498" y="1801178"/>
              <a:ext cx="1054418" cy="554355"/>
            </a:xfrm>
            <a:custGeom>
              <a:avLst/>
              <a:gdLst/>
              <a:ahLst/>
              <a:cxnLst/>
              <a:rect l="l" t="t" r="r" b="b"/>
              <a:pathLst>
                <a:path w="1054418" h="554355">
                  <a:moveTo>
                    <a:pt x="1054418" y="0"/>
                  </a:moveTo>
                  <a:lnTo>
                    <a:pt x="0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8844915" y="1801178"/>
              <a:ext cx="1758315" cy="554355"/>
            </a:xfrm>
            <a:custGeom>
              <a:avLst/>
              <a:gdLst/>
              <a:ahLst/>
              <a:cxnLst/>
              <a:rect l="l" t="t" r="r" b="b"/>
              <a:pathLst>
                <a:path w="1758315" h="554355">
                  <a:moveTo>
                    <a:pt x="0" y="0"/>
                  </a:moveTo>
                  <a:lnTo>
                    <a:pt x="1758315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6180773" y="381571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6883718" y="381571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6532245" y="3261360"/>
              <a:ext cx="405765" cy="40576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7587615" y="326136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6883718" y="2707005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8290560" y="326136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8994458" y="326136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8642032" y="2707005"/>
              <a:ext cx="405765" cy="40576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7587615" y="215265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9697403" y="326136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10400348" y="326136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10048875" y="2707005"/>
              <a:ext cx="405765" cy="40576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11104245" y="270700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10400348" y="2152650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8642032" y="1598295"/>
              <a:ext cx="405765" cy="405765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292070" y="39528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995015" y="39528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643543" y="339852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98913" y="339852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995015" y="28441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401858" y="339852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105755" y="339852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753330" y="28441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698913" y="22898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F4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808700" y="339852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F1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511645" y="339852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F0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160173" y="28441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F2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15543" y="28441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511645" y="22898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F3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753330" y="173545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F5</a:t>
              </a:r>
            </a:p>
          </p:txBody>
        </p:sp>
      </p:grpSp>
      <p:grpSp>
        <p:nvGrpSpPr>
          <p:cNvPr id="100" name="c2-card-2"/>
          <p:cNvGrpSpPr/>
          <p:nvPr/>
        </p:nvGrpSpPr>
        <p:grpSpPr>
          <a:xfrm>
            <a:off x="6032182" y="4481512"/>
            <a:ext cx="5626418" cy="1836420"/>
            <a:chOff x="6032182" y="4481512"/>
            <a:chExt cx="5626418" cy="1836420"/>
          </a:xfrm>
        </p:grpSpPr>
        <p:sp>
          <p:nvSpPr>
            <p:cNvPr id="94" name="Rectangle 94"/>
            <p:cNvSpPr/>
            <p:nvPr/>
          </p:nvSpPr>
          <p:spPr>
            <a:xfrm>
              <a:off x="6032182" y="4481512"/>
              <a:ext cx="5626418" cy="1836420"/>
            </a:xfrm>
            <a:prstGeom prst="roundRect">
              <a:avLst>
                <a:gd name="adj" fmla="val 7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6041708" y="4614862"/>
              <a:ext cx="47625" cy="15697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6274118" y="468534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360376" y="47210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017448" y="472487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调用次数按指数增长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266879" y="5076349"/>
              <a:ext cx="4964811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F5 的递归树有 15 个结点：F3（橙）算了 2 次，F2（红）算了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次。调用次数满足 T(n) = T(n−1) + T(n−2) + 1，增长速度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约为 1.618 的 n 次方，课件记作 T(n) = O(2ⁿ)，这是它的一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个上界。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52407" cy="909257"/>
            <a:chOff x="520446" y="342900"/>
            <a:chExt cx="68524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两个入门例子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524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表格计算：从 F0 往上填，每项只做一次加法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508702" cy="278702"/>
            <a:chOff x="526161" y="1547336"/>
            <a:chExt cx="650870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5087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用数组把前 n−1 个数存起来，每次只用一个加法 F[n] = F[n−1] + F[n−2]。</a:t>
              </a:r>
            </a:p>
          </p:txBody>
        </p:sp>
      </p:grpSp>
      <p:grpSp>
        <p:nvGrpSpPr>
          <p:cNvPr id="55" name="c1-cells-1"/>
          <p:cNvGrpSpPr/>
          <p:nvPr/>
        </p:nvGrpSpPr>
        <p:grpSpPr>
          <a:xfrm>
            <a:off x="528066" y="1941195"/>
            <a:ext cx="5199316" cy="781050"/>
            <a:chOff x="528066" y="1941195"/>
            <a:chExt cx="5199316" cy="781050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023110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3902" y="1941195"/>
              <a:ext cx="453390" cy="294322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4448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96340" y="1941195"/>
              <a:ext cx="453390" cy="294322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76886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49730" y="1941195"/>
              <a:ext cx="453390" cy="294322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30276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103120" y="1941195"/>
              <a:ext cx="453390" cy="294322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83666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55558" y="1941195"/>
              <a:ext cx="453390" cy="294322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736103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008948" y="1941195"/>
              <a:ext cx="453390" cy="294322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89493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462338" y="1941195"/>
              <a:ext cx="453390" cy="294322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641931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914775" y="1941195"/>
              <a:ext cx="453390" cy="294322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095321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368165" y="1941195"/>
              <a:ext cx="453390" cy="294322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48711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821555" y="1941195"/>
              <a:ext cx="453390" cy="294322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001148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273992" y="1941195"/>
              <a:ext cx="453390" cy="294322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13723" y="2023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8066" y="249174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43902" y="2392680"/>
              <a:ext cx="453390" cy="32956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4448" y="24917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96340" y="2392680"/>
              <a:ext cx="453390" cy="32956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376886" y="24917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649730" y="2392680"/>
              <a:ext cx="45339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830276" y="24917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103120" y="2392680"/>
              <a:ext cx="45339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283666" y="24917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555558" y="2392680"/>
              <a:ext cx="45339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736103" y="24917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008948" y="2392680"/>
              <a:ext cx="45339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189493" y="24917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462338" y="2392680"/>
              <a:ext cx="45339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641931" y="24917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914775" y="2392680"/>
              <a:ext cx="45339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054506" y="24917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368165" y="2392680"/>
              <a:ext cx="45339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07896" y="24917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821555" y="2392680"/>
              <a:ext cx="45339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960333" y="24917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273992" y="2392680"/>
              <a:ext cx="453390" cy="32956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413723" y="24917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  <p:grpSp>
        <p:nvGrpSpPr>
          <p:cNvPr id="60" name="c1-code-2"/>
          <p:cNvGrpSpPr/>
          <p:nvPr/>
        </p:nvGrpSpPr>
        <p:grpSpPr>
          <a:xfrm>
            <a:off x="533400" y="2896552"/>
            <a:ext cx="5193982" cy="1640205"/>
            <a:chOff x="533400" y="2896552"/>
            <a:chExt cx="5193982" cy="1640205"/>
          </a:xfrm>
        </p:grpSpPr>
        <p:sp>
          <p:nvSpPr>
            <p:cNvPr id="56" name="Rectangle 56"/>
            <p:cNvSpPr/>
            <p:nvPr/>
          </p:nvSpPr>
          <p:spPr>
            <a:xfrm>
              <a:off x="533400" y="2896552"/>
              <a:ext cx="5193982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1797" y="304847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自底向上填表（已更正初值）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52450" y="3649028"/>
              <a:ext cx="515588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1416" y="3309938"/>
              <a:ext cx="2064258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Algorithm F(n)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T[0..n]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T[0] = 0;  T[1] = 1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i = 2 to n do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T[i] = T[i-1] + T[i-2]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 = T[n]</a:t>
              </a:r>
            </a:p>
          </p:txBody>
        </p:sp>
      </p:grpSp>
      <p:grpSp>
        <p:nvGrpSpPr>
          <p:cNvPr id="67" name="c1-card-3"/>
          <p:cNvGrpSpPr/>
          <p:nvPr/>
        </p:nvGrpSpPr>
        <p:grpSpPr>
          <a:xfrm>
            <a:off x="533400" y="4712018"/>
            <a:ext cx="5193982" cy="1458278"/>
            <a:chOff x="533400" y="4712018"/>
            <a:chExt cx="5193982" cy="1458278"/>
          </a:xfrm>
        </p:grpSpPr>
        <p:sp>
          <p:nvSpPr>
            <p:cNvPr id="61" name="Rectangle 61"/>
            <p:cNvSpPr/>
            <p:nvPr/>
          </p:nvSpPr>
          <p:spPr>
            <a:xfrm>
              <a:off x="533400" y="4712018"/>
              <a:ext cx="5193982" cy="1458278"/>
            </a:xfrm>
            <a:prstGeom prst="roundRect">
              <a:avLst>
                <a:gd name="adj" fmla="val 91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542925" y="4845368"/>
              <a:ext cx="47625" cy="11915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63905" y="490442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55345" y="49387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347597" y="4944428"/>
              <a:ext cx="15874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初值应为 T[0] = 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57047" y="5278755"/>
              <a:ext cx="44285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12 页写作 T[0] = T[1] = 1，与定义 F(0) = 0 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同页的表格矛盾，照此算出的 T[10] 是 89 而不是 55。</a:t>
              </a:r>
            </a:p>
          </p:txBody>
        </p:sp>
      </p:grpSp>
      <p:grpSp>
        <p:nvGrpSpPr>
          <p:cNvPr id="101" name="c2-table-1"/>
          <p:cNvGrpSpPr/>
          <p:nvPr/>
        </p:nvGrpSpPr>
        <p:grpSpPr>
          <a:xfrm>
            <a:off x="6026848" y="1941195"/>
            <a:ext cx="5631752" cy="2309432"/>
            <a:chOff x="6026848" y="1941195"/>
            <a:chExt cx="5631752" cy="2309432"/>
          </a:xfrm>
        </p:grpSpPr>
        <p:sp>
          <p:nvSpPr>
            <p:cNvPr id="68" name="Rectangle 68"/>
            <p:cNvSpPr/>
            <p:nvPr/>
          </p:nvSpPr>
          <p:spPr>
            <a:xfrm>
              <a:off x="6032182" y="1941195"/>
              <a:ext cx="5626418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71960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19656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工作量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64568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732211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额外空间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132195" y="24712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朴素递归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820025" y="2471261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177 次调用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192578" y="2356485"/>
              <a:ext cx="1219200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283065" y="24712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指数级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520362" y="2471261"/>
              <a:ext cx="882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 递归栈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032182" y="27479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032182" y="275272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132195" y="28770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备忘录递归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820025" y="287702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 次调用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283065" y="2877026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520362" y="2877026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032182" y="31537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132195" y="328279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自底向上填表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820025" y="3282791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次加法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9192578" y="3168015"/>
              <a:ext cx="121920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283065" y="3282791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520362" y="3282791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032182" y="3559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6032182" y="356425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132195" y="3688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只保留最近两项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820025" y="36885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次加法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283065" y="3688556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520362" y="3688556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032182" y="1941195"/>
              <a:ext cx="5626418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7715250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9178290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10415588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026848" y="4045268"/>
              <a:ext cx="13591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 F(10) 的四种做法</a:t>
              </a:r>
            </a:p>
          </p:txBody>
        </p:sp>
      </p:grpSp>
      <p:grpSp>
        <p:nvGrpSpPr>
          <p:cNvPr id="109" name="c2-card-2"/>
          <p:cNvGrpSpPr/>
          <p:nvPr/>
        </p:nvGrpSpPr>
        <p:grpSpPr>
          <a:xfrm>
            <a:off x="6032182" y="4384358"/>
            <a:ext cx="5626418" cy="1786890"/>
            <a:chOff x="6032182" y="4384358"/>
            <a:chExt cx="5626418" cy="1786890"/>
          </a:xfrm>
        </p:grpSpPr>
        <p:sp>
          <p:nvSpPr>
            <p:cNvPr id="102" name="Rectangle 102"/>
            <p:cNvSpPr/>
            <p:nvPr/>
          </p:nvSpPr>
          <p:spPr>
            <a:xfrm>
              <a:off x="6032182" y="4384358"/>
              <a:ext cx="5626418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6041708" y="4517708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6262688" y="457676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346127" y="4611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两种写法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113080" y="461581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备忘录与自底向上填的是同一张表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255830" y="4950142"/>
              <a:ext cx="49771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备忘录（memoization）照常递归，但每项第一次算出后就记进表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里。F(10) 沿 F9 … F1 一路下去 10 次调用，每层的第二个调用查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表（最底层是 F0）立即返回，再加 9 次，合计 19 次。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255830" y="5767388"/>
              <a:ext cx="4884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自底向上则按 i = 2, 3, …, n 的顺序直接填，没有递归开销。</a:t>
              </a:r>
            </a:p>
          </p:txBody>
        </p:sp>
      </p:grpSp>
      <p:grpSp>
        <p:nvGrpSpPr>
          <p:cNvPr id="11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0" name="TextBox 11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39294" cy="909257"/>
            <a:chOff x="520446" y="342900"/>
            <a:chExt cx="62392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两个入门例子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392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最大和区间：定义“在 i 点结束”的子问题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216195" cy="308039"/>
            <a:chOff x="525399" y="1550194"/>
            <a:chExt cx="621619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2161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对给定的实数序列 a₁a₂…aₙ，找出和最大的连续子序列（区间）。</a:t>
              </a:r>
            </a:p>
          </p:txBody>
        </p:sp>
      </p:grpSp>
      <p:grpSp>
        <p:nvGrpSpPr>
          <p:cNvPr id="55" name="c1-cells-1"/>
          <p:cNvGrpSpPr/>
          <p:nvPr/>
        </p:nvGrpSpPr>
        <p:grpSpPr>
          <a:xfrm>
            <a:off x="528066" y="1967865"/>
            <a:ext cx="5415534" cy="558641"/>
            <a:chOff x="528066" y="1967865"/>
            <a:chExt cx="5415534" cy="558641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0735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3902" y="1967865"/>
              <a:ext cx="34671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1108" y="20735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90612" y="1967865"/>
              <a:ext cx="34671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77003" y="20735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437322" y="1967865"/>
              <a:ext cx="34671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64528" y="20735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784032" y="1967865"/>
              <a:ext cx="34671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11238" y="20735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130742" y="1967865"/>
              <a:ext cx="34671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176318" y="2073592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477452" y="1967865"/>
              <a:ext cx="34671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604658" y="20735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824162" y="1967865"/>
              <a:ext cx="34671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950416" y="20735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169920" y="1967865"/>
              <a:ext cx="34671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256311" y="20735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-4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516630" y="1967865"/>
              <a:ext cx="34671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643836" y="20735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863340" y="1967865"/>
              <a:ext cx="34671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49731" y="20735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-7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210050" y="1967865"/>
              <a:ext cx="34671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337256" y="20735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56760" y="1967865"/>
              <a:ext cx="34671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643151" y="20735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903470" y="1967865"/>
              <a:ext cx="34671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030676" y="20735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250180" y="1967865"/>
              <a:ext cx="34671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377386" y="20735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596890" y="1967865"/>
              <a:ext cx="34671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83281" y="20735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2138" y="23645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28848" y="23645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75558" y="23645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922268" y="23645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268978" y="23645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15688" y="23645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961446" y="23645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08156" y="23645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654866" y="23645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971219" y="236458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317929" y="236458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664639" y="236458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011349" y="236458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358059" y="236458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704769" y="236458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  <p:grpSp>
        <p:nvGrpSpPr>
          <p:cNvPr id="62" name="c1-card-2"/>
          <p:cNvGrpSpPr/>
          <p:nvPr/>
        </p:nvGrpSpPr>
        <p:grpSpPr>
          <a:xfrm>
            <a:off x="533400" y="2682240"/>
            <a:ext cx="5410200" cy="1621155"/>
            <a:chOff x="533400" y="2682240"/>
            <a:chExt cx="5410200" cy="1621155"/>
          </a:xfrm>
        </p:grpSpPr>
        <p:sp>
          <p:nvSpPr>
            <p:cNvPr id="56" name="Rectangle 56"/>
            <p:cNvSpPr/>
            <p:nvPr/>
          </p:nvSpPr>
          <p:spPr>
            <a:xfrm>
              <a:off x="533400" y="268224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42925" y="281559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81050" y="289179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63359" y="29275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朴素做法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665922" y="2927032"/>
              <a:ext cx="1668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枚举起点，O(n²)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3430" y="328803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对每个位置，从它往右累加一遍，用 O(n) 时间就能算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出由这个位置开始的最大和区间。n 个起点合计</a:t>
              </a:r>
              <a:br/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O(n²)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0" name="c1-card-3"/>
          <p:cNvGrpSpPr/>
          <p:nvPr/>
        </p:nvGrpSpPr>
        <p:grpSpPr>
          <a:xfrm>
            <a:off x="533400" y="4493895"/>
            <a:ext cx="5410200" cy="1866900"/>
            <a:chOff x="533400" y="4493895"/>
            <a:chExt cx="5410200" cy="1866900"/>
          </a:xfrm>
        </p:grpSpPr>
        <p:sp>
          <p:nvSpPr>
            <p:cNvPr id="63" name="Rectangle 63"/>
            <p:cNvSpPr/>
            <p:nvPr/>
          </p:nvSpPr>
          <p:spPr>
            <a:xfrm>
              <a:off x="533400" y="4493895"/>
              <a:ext cx="5410200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42925" y="4627245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81050" y="470344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67308" y="473916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子问题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524000" y="4738688"/>
              <a:ext cx="3321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S(i) 为在 i 点结束的最大和区间的值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3430" y="5099685"/>
              <a:ext cx="4634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最优区间总要在某个位置结束，所以答案就是所有 S(i)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中的最大值。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4573" y="5716429"/>
              <a:ext cx="46621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 i 结尾的最优区间去掉 aᵢ 后，要么为空，要么正是以 i−1 结尾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的最优区间，这就是本题的最优子结构。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formula6"/>
              <p:cNvSpPr txBox="1">
                <a:spLocks noGrp="1"/>
              </p:cNvSpPr>
              <p:nvPr/>
            </p:nvSpPr>
            <p:spPr>
              <a:xfrm>
                <a:off x="6248400" y="1967865"/>
                <a:ext cx="5410200" cy="868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eqArr>
                                <m:eqArrPr>
                                  <m:baseJc m:val="center"/>
                                </m:eqArr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&amp;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&amp;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85" name="c2-steps-2"/>
          <p:cNvGrpSpPr/>
          <p:nvPr/>
        </p:nvGrpSpPr>
        <p:grpSpPr>
          <a:xfrm>
            <a:off x="6248400" y="3036570"/>
            <a:ext cx="5180457" cy="2347246"/>
            <a:chOff x="6248400" y="3036570"/>
            <a:chExt cx="5180457" cy="2347246"/>
          </a:xfrm>
        </p:grpSpPr>
        <p:sp>
          <p:nvSpPr>
            <p:cNvPr id="72" name="Rectangle 72"/>
            <p:cNvSpPr/>
            <p:nvPr/>
          </p:nvSpPr>
          <p:spPr>
            <a:xfrm>
              <a:off x="6381750" y="3179445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6248400" y="303657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342024" y="31103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248400" y="392144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342024" y="39952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248400" y="457200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342024" y="46458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659880" y="307086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前面为负就丢掉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661023" y="3363754"/>
              <a:ext cx="47515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S(i−1) &lt; 0，aᵢ 与其前的最大和区间连接，和会小于 aᵢ 本身，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所以从 aᵢ 重新开始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659880" y="395573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前面非负就接上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661023" y="4249579"/>
              <a:ext cx="41300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S(i−1) ≥ 0，把 aᵢ 接在以 i−1 结尾的最优区间后面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659880" y="460629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答案取最大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661023" y="4900136"/>
              <a:ext cx="4767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从左到右扫一遍得到全部 S(i)，最大的那个就是答案；顺便记下每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步是“接上”还是“重开”，供回溯用</a:t>
              </a:r>
            </a:p>
          </p:txBody>
        </p:sp>
      </p:grpSp>
      <p:grpSp>
        <p:nvGrpSpPr>
          <p:cNvPr id="92" name="c2-callout-3"/>
          <p:cNvGrpSpPr/>
          <p:nvPr/>
        </p:nvGrpSpPr>
        <p:grpSpPr>
          <a:xfrm>
            <a:off x="6248400" y="5562600"/>
            <a:ext cx="5410200" cy="797242"/>
            <a:chOff x="6248400" y="5562600"/>
            <a:chExt cx="5410200" cy="797242"/>
          </a:xfrm>
        </p:grpSpPr>
        <p:sp>
          <p:nvSpPr>
            <p:cNvPr id="86" name="Rectangle 86"/>
            <p:cNvSpPr/>
            <p:nvPr/>
          </p:nvSpPr>
          <p:spPr>
            <a:xfrm>
              <a:off x="6248400" y="5562600"/>
              <a:ext cx="5410200" cy="797242"/>
            </a:xfrm>
            <a:prstGeom prst="roundRect">
              <a:avLst>
                <a:gd name="adj" fmla="val 1433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6453188" y="5861685"/>
              <a:ext cx="200026" cy="200025"/>
              <a:chOff x="6453188" y="5861685"/>
              <a:chExt cx="200026" cy="200025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6453188" y="58616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6492926" y="59061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6527642" y="60172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6755130" y="5718810"/>
              <a:ext cx="4463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只看 S(i−1) 的正负就能决定取舍，每个位置 O(1)，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整个算法 O(n)。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90066" cy="909257"/>
            <a:chOff x="520446" y="342900"/>
            <a:chExt cx="77900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两个入门例子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900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填表与回溯：一遍扫描得到区间 6 −2 8 4，和为 16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5" name="c1-cells-1"/>
          <p:cNvGrpSpPr/>
          <p:nvPr/>
        </p:nvGrpSpPr>
        <p:grpSpPr>
          <a:xfrm>
            <a:off x="528447" y="1524000"/>
            <a:ext cx="11130153" cy="1395413"/>
            <a:chOff x="528447" y="1524000"/>
            <a:chExt cx="11130153" cy="1395413"/>
          </a:xfrm>
        </p:grpSpPr>
        <p:sp>
          <p:nvSpPr>
            <p:cNvPr id="7" name="TextBox 7"/>
            <p:cNvSpPr txBox="1"/>
            <p:nvPr/>
          </p:nvSpPr>
          <p:spPr>
            <a:xfrm>
              <a:off x="528447" y="161686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aᵢ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22020" y="1524000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36160" y="16168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637348" y="1524000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14346" y="161686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353628" y="1524000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667768" y="16168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068955" y="1524000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84048" y="16168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785235" y="1524000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023187" y="161686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500562" y="1524000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15655" y="16168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216842" y="1524000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530983" y="16168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932170" y="1524000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09169" y="161686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-4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648450" y="1524000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62590" y="16168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363778" y="1524000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40776" y="161686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-7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080058" y="1524000"/>
              <a:ext cx="715328" cy="30765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94198" y="16168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795385" y="1524000"/>
              <a:ext cx="715328" cy="30765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72384" y="161686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511665" y="1524000"/>
              <a:ext cx="715328" cy="30765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25805" y="16168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226992" y="1524000"/>
              <a:ext cx="715328" cy="30765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542085" y="16168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943272" y="1524000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219319" y="161686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44088" y="1885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60368" y="1885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75696" y="1885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91976" y="1885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07303" y="1885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23583" y="1885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38911" y="1885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55191" y="1885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70518" y="1885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56441" y="188547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71769" y="188547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088049" y="188547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03376" y="188547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519656" y="188547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34984" y="188547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8447" y="2251234"/>
              <a:ext cx="2876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S(i)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22020" y="215836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236160" y="22512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637348" y="215836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952440" y="22512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2353628" y="215836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667768" y="22512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068955" y="2158365"/>
              <a:ext cx="715328" cy="30765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345954" y="225123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3785235" y="215836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061281" y="225123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500562" y="215836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815655" y="22512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216842" y="215836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530983" y="22512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932170" y="215836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247263" y="22512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648450" y="215836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962590" y="22512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363778" y="215836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640776" y="225123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-4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080058" y="215836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394198" y="22512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795385" y="215836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110478" y="22512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511665" y="215836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787711" y="225123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0226992" y="2158365"/>
              <a:ext cx="715328" cy="307658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503991" y="225123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10943272" y="215836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1257413" y="22512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28447" y="27046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来源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922020" y="2611755"/>
              <a:ext cx="715328" cy="30765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236160" y="27046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1637348" y="261175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952440" y="27046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2353628" y="261175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2667768" y="27046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3068955" y="261175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3384048" y="27046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3785235" y="261175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4099375" y="27046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4500562" y="2611755"/>
              <a:ext cx="715328" cy="30765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4815655" y="27046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5216842" y="261175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5530983" y="27046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5932170" y="261175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247263" y="27046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6648450" y="261175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962590" y="27046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7363778" y="261175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678870" y="27046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8080058" y="2611755"/>
              <a:ext cx="715328" cy="30765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8394198" y="27046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8795385" y="261175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9110478" y="27046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9511665" y="261175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9825805" y="27046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10226992" y="261175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10542085" y="27046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10943272" y="2611755"/>
              <a:ext cx="715328" cy="30765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11257413" y="27046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</a:t>
              </a:r>
            </a:p>
          </p:txBody>
        </p:sp>
      </p:grpSp>
      <p:grpSp>
        <p:nvGrpSpPr>
          <p:cNvPr id="145" name="c1-table-2"/>
          <p:cNvGrpSpPr/>
          <p:nvPr/>
        </p:nvGrpSpPr>
        <p:grpSpPr>
          <a:xfrm>
            <a:off x="533400" y="3084195"/>
            <a:ext cx="11125200" cy="2287905"/>
            <a:chOff x="533400" y="3084195"/>
            <a:chExt cx="11125200" cy="2287905"/>
          </a:xfrm>
        </p:grpSpPr>
        <p:sp>
          <p:nvSpPr>
            <p:cNvPr id="116" name="Rectangle 116"/>
            <p:cNvSpPr/>
            <p:nvPr/>
          </p:nvSpPr>
          <p:spPr>
            <a:xfrm>
              <a:off x="533400" y="3084195"/>
              <a:ext cx="11125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1165860" y="32013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4948238" y="32013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731692" y="32013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628078" y="3583305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2185416" y="3583305"/>
              <a:ext cx="904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S(1) = a₁ = 9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8192834" y="3583305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起点，记 ↑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533400" y="38423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533400" y="3847148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628078" y="3964305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5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2185416" y="3964305"/>
              <a:ext cx="24072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S(4) = 14 ≥ 0，S(5) = 14 − 15 = −1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8192834" y="3964305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接上，记 ←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533400" y="42233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628078" y="4345305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6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2185416" y="4345305"/>
              <a:ext cx="19644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S(5) = −1 &lt; 0，S(6) = a₆ = 2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8192834" y="4345305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重开，记 ↑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533400" y="4605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533400" y="4610100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628078" y="4727258"/>
              <a:ext cx="3891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11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2185416" y="4727258"/>
              <a:ext cx="2206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S(10) = −4 &lt; 0，S(11) = a₁₁ = 6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8192834" y="4727258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重开，记 ↑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533400" y="4986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628078" y="5108258"/>
              <a:ext cx="3891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14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2185416" y="5108258"/>
              <a:ext cx="2489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S(13) = 12 ≥ 0，S(14) = 12 + 4 = 16</a:t>
              </a:r>
            </a:p>
          </p:txBody>
        </p:sp>
        <p:sp>
          <p:nvSpPr>
            <p:cNvPr id="140" name="Rectangle 140"/>
            <p:cNvSpPr/>
            <p:nvPr/>
          </p:nvSpPr>
          <p:spPr>
            <a:xfrm>
              <a:off x="8107680" y="5000625"/>
              <a:ext cx="354139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8192834" y="510825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全表最大</a:t>
              </a:r>
            </a:p>
          </p:txBody>
        </p:sp>
        <p:sp>
          <p:nvSpPr>
            <p:cNvPr id="142" name="Rectangle 142"/>
            <p:cNvSpPr/>
            <p:nvPr/>
          </p:nvSpPr>
          <p:spPr>
            <a:xfrm>
              <a:off x="533400" y="3084195"/>
              <a:ext cx="11125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2085975" y="308419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8093392" y="308419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51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146" name="Rectangle 146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149" name="Group 149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147" name="Freeform 147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48" name="Freeform 148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0" name="TextBox 150"/>
            <p:cNvSpPr txBox="1"/>
            <p:nvPr/>
          </p:nvSpPr>
          <p:spPr>
            <a:xfrm>
              <a:off x="1041273" y="5805011"/>
              <a:ext cx="98153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回溯：从最大值 S(14) = 16 出发沿 ← 往左走，到记 ↑ 的位置 11 停下，区间为 a₁₁…a₁₄ = 6 −2 8 4。S(4) = 14 也是一个局部高点，但比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 小。</a:t>
              </a:r>
            </a:p>
          </p:txBody>
        </p:sp>
      </p:grpSp>
      <p:grpSp>
        <p:nvGrpSpPr>
          <p:cNvPr id="1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2" name="TextBox 15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802761" cy="3351847"/>
            <a:chOff x="667512" y="1835468"/>
            <a:chExt cx="380276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最长公共子序列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二维的表：比较两个串的最后一个字符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992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子序列与最长公共子序列（LCS）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递推关系的三种情况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7692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LCS-Length：长度表与箭头表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8106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Output-LCS：沿箭头回溯输出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最长公共子序列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最长公共子序列：两个串都含有的最长子序列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1917382"/>
            <a:chOff x="533400" y="1524000"/>
            <a:chExt cx="5193982" cy="19173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917382"/>
            </a:xfrm>
            <a:prstGeom prst="roundRect">
              <a:avLst>
                <a:gd name="adj" fmla="val 6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5068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9673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子序列 subsequence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的子序列是由 S 删除掉 0 个或多个字符后得到的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串，剩下的字符保持原来的先后次序。如 president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的子序列可以是 pred、sdn、predent 等。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303323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子序列不要求连续；要求连续的叫子串。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631882"/>
            <a:ext cx="5193982" cy="1335405"/>
            <a:chOff x="533400" y="3631882"/>
            <a:chExt cx="5193982" cy="1335405"/>
          </a:xfrm>
        </p:grpSpPr>
        <p:sp>
          <p:nvSpPr>
            <p:cNvPr id="15" name="Rectangle 15"/>
            <p:cNvSpPr/>
            <p:nvPr/>
          </p:nvSpPr>
          <p:spPr>
            <a:xfrm>
              <a:off x="533400" y="3631882"/>
              <a:ext cx="5193982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765232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384143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38771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2078" y="3876675"/>
              <a:ext cx="26061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最长公共子序列问题（LCS）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4237672"/>
              <a:ext cx="4377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 longest common subsequence：确定两个序列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的公共子序列中长度最大者。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5157788"/>
            <a:ext cx="5193982" cy="1059180"/>
            <a:chOff x="533400" y="5157788"/>
            <a:chExt cx="5193982" cy="1059180"/>
          </a:xfrm>
        </p:grpSpPr>
        <p:sp>
          <p:nvSpPr>
            <p:cNvPr id="22" name="Rectangle 22"/>
            <p:cNvSpPr/>
            <p:nvPr/>
          </p:nvSpPr>
          <p:spPr>
            <a:xfrm>
              <a:off x="533400" y="5157788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587365"/>
              <a:ext cx="200026" cy="200026"/>
              <a:chOff x="738188" y="5587365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5873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56540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7088" y="56873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5306378"/>
              <a:ext cx="41490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穷举 A 的全部 2ᵐ 个子序列、逐个检查是否也是 B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的子序列，需要 O(n·2ᵐ) 时间，m 稍大就不可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032182" y="1524000"/>
            <a:ext cx="5626418" cy="1335405"/>
            <a:chOff x="6032182" y="1524000"/>
            <a:chExt cx="5626418" cy="1335405"/>
          </a:xfrm>
        </p:grpSpPr>
        <p:sp>
          <p:nvSpPr>
            <p:cNvPr id="29" name="Rectangle 29"/>
            <p:cNvSpPr/>
            <p:nvPr/>
          </p:nvSpPr>
          <p:spPr>
            <a:xfrm>
              <a:off x="6032182" y="1524000"/>
              <a:ext cx="5626418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41708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79832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66575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举例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07542" y="1768792"/>
              <a:ext cx="41532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 1 为 president，序列 2 为 providence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72212" y="212979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按字母逐个对照，两串中都能按顺序找到的最长的一组字母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是：</a:t>
              </a:r>
            </a:p>
          </p:txBody>
        </p:sp>
      </p:grpSp>
      <p:grpSp>
        <p:nvGrpSpPr>
          <p:cNvPr id="76" name="c2-cells-2"/>
          <p:cNvGrpSpPr/>
          <p:nvPr/>
        </p:nvGrpSpPr>
        <p:grpSpPr>
          <a:xfrm>
            <a:off x="6026086" y="3049905"/>
            <a:ext cx="5632514" cy="933450"/>
            <a:chOff x="6026086" y="3049905"/>
            <a:chExt cx="5632514" cy="933450"/>
          </a:xfrm>
        </p:grpSpPr>
        <p:sp>
          <p:nvSpPr>
            <p:cNvPr id="36" name="TextBox 36"/>
            <p:cNvSpPr txBox="1"/>
            <p:nvPr/>
          </p:nvSpPr>
          <p:spPr>
            <a:xfrm>
              <a:off x="6026086" y="31661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序列 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06540" y="3049905"/>
              <a:ext cx="50482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06211" y="3166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111365" y="3049905"/>
              <a:ext cx="50482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311036" y="3166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616190" y="3049905"/>
              <a:ext cx="50482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816813" y="3166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121968" y="3049905"/>
              <a:ext cx="50482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21638" y="3166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626792" y="3049905"/>
              <a:ext cx="50482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848618" y="3166110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32570" y="3049905"/>
              <a:ext cx="50482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32241" y="3166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637395" y="3049905"/>
              <a:ext cx="50482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837066" y="3166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143172" y="3049905"/>
              <a:ext cx="50482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342843" y="3166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647998" y="3049905"/>
              <a:ext cx="50482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847668" y="3166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26086" y="37185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序列 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606540" y="3602355"/>
              <a:ext cx="50482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06211" y="3718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111365" y="3602355"/>
              <a:ext cx="50482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311036" y="3718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616190" y="3602355"/>
              <a:ext cx="50482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816813" y="3718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121968" y="3602355"/>
              <a:ext cx="50482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321638" y="3718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626792" y="3602355"/>
              <a:ext cx="50482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848618" y="3718560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132570" y="3602355"/>
              <a:ext cx="50482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332241" y="3718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637395" y="3602355"/>
              <a:ext cx="50482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837066" y="3718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0143172" y="3602355"/>
              <a:ext cx="50482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342843" y="3718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0647998" y="3602355"/>
              <a:ext cx="50482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847668" y="3718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1153775" y="3602355"/>
              <a:ext cx="50482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1353446" y="3718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82" name="c2-callout-3"/>
          <p:cNvGrpSpPr/>
          <p:nvPr/>
        </p:nvGrpSpPr>
        <p:grpSpPr>
          <a:xfrm>
            <a:off x="6032182" y="4173855"/>
            <a:ext cx="5626418" cy="782955"/>
            <a:chOff x="6032182" y="4173855"/>
            <a:chExt cx="5626418" cy="782955"/>
          </a:xfrm>
        </p:grpSpPr>
        <p:sp>
          <p:nvSpPr>
            <p:cNvPr id="77" name="Rectangle 77"/>
            <p:cNvSpPr/>
            <p:nvPr/>
          </p:nvSpPr>
          <p:spPr>
            <a:xfrm>
              <a:off x="6032182" y="4173855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6236970" y="4465320"/>
              <a:ext cx="200026" cy="200026"/>
              <a:chOff x="6236970" y="4465320"/>
              <a:chExt cx="200026" cy="200026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6236970" y="44653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303645" y="454310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6538912" y="4322445"/>
              <a:ext cx="4654391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最长公共子序列为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priden</a:t>
              </a: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，长度 6。后面的填表会算出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这个长度，脚本枚举确认它是唯一的一个。</a:t>
              </a:r>
            </a:p>
          </p:txBody>
        </p:sp>
      </p:grpSp>
      <p:grpSp>
        <p:nvGrpSpPr>
          <p:cNvPr id="89" name="c2-callout-4"/>
          <p:cNvGrpSpPr/>
          <p:nvPr/>
        </p:nvGrpSpPr>
        <p:grpSpPr>
          <a:xfrm>
            <a:off x="6032182" y="5147310"/>
            <a:ext cx="5626418" cy="1069658"/>
            <a:chOff x="6032182" y="5147310"/>
            <a:chExt cx="5626418" cy="1069658"/>
          </a:xfrm>
        </p:grpSpPr>
        <p:sp>
          <p:nvSpPr>
            <p:cNvPr id="83" name="Rectangle 83"/>
            <p:cNvSpPr/>
            <p:nvPr/>
          </p:nvSpPr>
          <p:spPr>
            <a:xfrm>
              <a:off x="6032182" y="5147310"/>
              <a:ext cx="5626418" cy="1069658"/>
            </a:xfrm>
            <a:prstGeom prst="roundRect">
              <a:avLst>
                <a:gd name="adj" fmla="val 1068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6236970" y="5582603"/>
              <a:ext cx="200026" cy="200025"/>
              <a:chOff x="6236970" y="5582603"/>
              <a:chExt cx="200026" cy="200025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6236970" y="55826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276709" y="56270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6311424" y="57381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6538912" y="5439728"/>
              <a:ext cx="45205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文件比较工具 diff 找的就是两份文本在“行”这一层的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LCS：LCS 之外的行就是增删的行。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最长公共子序列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递推关系：比较末尾两个字符，分三种情况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993761" cy="293370"/>
            <a:chOff x="525780" y="1548765"/>
            <a:chExt cx="7993761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9937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令 A = a₁a₂…aₘ，B = b₁b₂…bₙ；len(i, j) 为 a₁…aᵢ 与 b₁…bⱼ 的最长公共子序列的长度。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9"/>
              <p:cNvSpPr txBox="1">
                <a:spLocks noGrp="1"/>
              </p:cNvSpPr>
              <p:nvPr/>
            </p:nvSpPr>
            <p:spPr>
              <a:xfrm>
                <a:off x="533400" y="1954530"/>
                <a:ext cx="6059805" cy="1000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len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nor m:val="on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or 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len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&gt;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sepChr m:val=""/>
                                      <m:endChr m:val="}"/>
                                      <m:grow m:val="on"/>
                                      <m:ctrl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len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 xml:space="preserve"> </m:t>
                                      </m:r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len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&gt;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≠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3" name="c1-steps-2"/>
          <p:cNvGrpSpPr/>
          <p:nvPr/>
        </p:nvGrpSpPr>
        <p:grpSpPr>
          <a:xfrm>
            <a:off x="533400" y="3149918"/>
            <a:ext cx="5591556" cy="2010156"/>
            <a:chOff x="533400" y="3149918"/>
            <a:chExt cx="5591556" cy="2010156"/>
          </a:xfrm>
        </p:grpSpPr>
        <p:sp>
          <p:nvSpPr>
            <p:cNvPr id="10" name="Rectangle 10"/>
            <p:cNvSpPr/>
            <p:nvPr/>
          </p:nvSpPr>
          <p:spPr>
            <a:xfrm>
              <a:off x="666750" y="3292792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33400" y="314991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7024" y="32237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376999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38438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46120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4685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5261" y="3182779"/>
              <a:ext cx="11289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0 或 j = 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404" y="3463290"/>
              <a:ext cx="3218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有一个是空串，公共子序列只能为空，长度 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5261" y="3803809"/>
              <a:ext cx="6868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 = bⱼ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404" y="4084320"/>
              <a:ext cx="51785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这个字符可以作为公共子序列的最后一个字符，接在 a₁…aᵢ₋₁ 与 b₁…bⱼ₋₁ 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 后面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261" y="4644866"/>
              <a:ext cx="6868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 ≠ bⱼ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404" y="4925378"/>
              <a:ext cx="4874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两个末字符不可能都用上，去掉 aᵢ 或去掉 bⱼ，取两种情况中较长的</a:t>
              </a:r>
            </a:p>
          </p:txBody>
        </p:sp>
      </p:grpSp>
      <p:grpSp>
        <p:nvGrpSpPr>
          <p:cNvPr id="30" name="c1-callout-3"/>
          <p:cNvGrpSpPr/>
          <p:nvPr/>
        </p:nvGrpSpPr>
        <p:grpSpPr>
          <a:xfrm>
            <a:off x="533400" y="5336858"/>
            <a:ext cx="6059805" cy="1018222"/>
            <a:chOff x="533400" y="5336858"/>
            <a:chExt cx="6059805" cy="1018222"/>
          </a:xfrm>
        </p:grpSpPr>
        <p:sp>
          <p:nvSpPr>
            <p:cNvPr id="24" name="Rectangle 24"/>
            <p:cNvSpPr/>
            <p:nvPr/>
          </p:nvSpPr>
          <p:spPr>
            <a:xfrm>
              <a:off x="533400" y="5336858"/>
              <a:ext cx="6059805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746433"/>
              <a:ext cx="200026" cy="200025"/>
              <a:chOff x="738188" y="5746433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57464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7926" y="57908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2642" y="59020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511" y="5484019"/>
              <a:ext cx="503694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拿下一页的表试两格：len(3, 7) 处 a₃ = b₇ = e，取 len(2, 6)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+ 1 = 3；len(3, 8) 处 e ≠ n，取 max(len(3, 7), len(2, 8))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= max(3, 2) = 3。</a:t>
              </a:r>
            </a:p>
          </p:txBody>
        </p:sp>
      </p:grpSp>
      <p:grpSp>
        <p:nvGrpSpPr>
          <p:cNvPr id="51" name="c2-graph-1"/>
          <p:cNvGrpSpPr/>
          <p:nvPr/>
        </p:nvGrpSpPr>
        <p:grpSpPr>
          <a:xfrm>
            <a:off x="7561898" y="2204085"/>
            <a:ext cx="3445192" cy="1718787"/>
            <a:chOff x="7561898" y="2204085"/>
            <a:chExt cx="3445192" cy="1718787"/>
          </a:xfrm>
        </p:grpSpPr>
        <p:sp>
          <p:nvSpPr>
            <p:cNvPr id="31" name="Freeform 31"/>
            <p:cNvSpPr/>
            <p:nvPr/>
          </p:nvSpPr>
          <p:spPr>
            <a:xfrm>
              <a:off x="8386762" y="2504122"/>
              <a:ext cx="1795462" cy="1069658"/>
            </a:xfrm>
            <a:custGeom>
              <a:avLst/>
              <a:gdLst/>
              <a:ahLst/>
              <a:cxnLst/>
              <a:rect l="l" t="t" r="r" b="b"/>
              <a:pathLst>
                <a:path w="1795462" h="1069658">
                  <a:moveTo>
                    <a:pt x="0" y="0"/>
                  </a:moveTo>
                  <a:lnTo>
                    <a:pt x="1795462" y="1069658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158412" y="3532822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89535"/>
                  </a:moveTo>
                  <a:lnTo>
                    <a:pt x="0" y="81915"/>
                  </a:lnTo>
                  <a:lnTo>
                    <a:pt x="48577" y="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15600" y="2504122"/>
              <a:ext cx="9525" cy="1022985"/>
            </a:xfrm>
            <a:custGeom>
              <a:avLst/>
              <a:gdLst/>
              <a:ahLst/>
              <a:cxnLst/>
              <a:rect l="l" t="t" r="r" b="b"/>
              <a:pathLst>
                <a:path w="9525" h="1022985">
                  <a:moveTo>
                    <a:pt x="0" y="0"/>
                  </a:moveTo>
                  <a:lnTo>
                    <a:pt x="0" y="1022985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467975" y="35271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8626792" y="3772852"/>
              <a:ext cx="1384935" cy="9525"/>
            </a:xfrm>
            <a:custGeom>
              <a:avLst/>
              <a:gdLst/>
              <a:ahLst/>
              <a:cxnLst/>
              <a:rect l="l" t="t" r="r" b="b"/>
              <a:pathLst>
                <a:path w="1384935" h="9525">
                  <a:moveTo>
                    <a:pt x="0" y="0"/>
                  </a:moveTo>
                  <a:lnTo>
                    <a:pt x="1384935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011728" y="37252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561898" y="2204085"/>
              <a:ext cx="114681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024110" y="2204085"/>
              <a:ext cx="98298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643812" y="3622358"/>
              <a:ext cx="98298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106978" y="3622358"/>
              <a:ext cx="818198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42775" y="2283619"/>
              <a:ext cx="985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len(i−1, j−1)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10144" y="2283619"/>
              <a:ext cx="810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len(i−1, j)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29847" y="3702844"/>
              <a:ext cx="810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len(i, j−1)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97217" y="3702844"/>
              <a:ext cx="636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len(i, j)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857298" y="2963228"/>
              <a:ext cx="936308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864737" y="3000375"/>
              <a:ext cx="922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+1（aᵢ = bⱼ）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354628" y="2963228"/>
              <a:ext cx="322898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79516" y="3000375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max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204960" y="3672840"/>
              <a:ext cx="322898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30801" y="3709988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max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898005" y="4357688"/>
            <a:ext cx="4760595" cy="1998345"/>
            <a:chOff x="6898005" y="4357688"/>
            <a:chExt cx="4760595" cy="1998345"/>
          </a:xfrm>
        </p:grpSpPr>
        <p:sp>
          <p:nvSpPr>
            <p:cNvPr id="52" name="Rectangle 52"/>
            <p:cNvSpPr/>
            <p:nvPr/>
          </p:nvSpPr>
          <p:spPr>
            <a:xfrm>
              <a:off x="6898005" y="4357688"/>
              <a:ext cx="4760595" cy="1998345"/>
            </a:xfrm>
            <a:prstGeom prst="roundRect">
              <a:avLst>
                <a:gd name="adj" fmla="val 6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907530" y="4491038"/>
              <a:ext cx="47625" cy="17316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139940" y="456152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21296" y="45972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填表顺序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25194" y="460105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逐行从左到右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32701" y="4952524"/>
              <a:ext cx="39819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每格只依赖左、上、左上三格，所以逐行从左到右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填即可。表共 (m+1)(n+1) 格，每格 O(1)，时间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和空间都是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O(mn)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77601" cy="909257"/>
            <a:chOff x="520446" y="342900"/>
            <a:chExt cx="61776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最长公共子序列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776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LCS-Length：填长度表的同时记下箭头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3154680"/>
            <a:chOff x="533400" y="1524000"/>
            <a:chExt cx="6059805" cy="31546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154680"/>
            </a:xfrm>
            <a:prstGeom prst="roundRect">
              <a:avLst>
                <a:gd name="adj" fmla="val 301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539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procedure LCS-Length(A, B)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223260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0466" y="1937385"/>
              <a:ext cx="157353" cy="26694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492"/>
                </a:lnSpc>
              </a:pPr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1451" y="1937385"/>
              <a:ext cx="2944368" cy="26694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← 0 to m do len(i,0) = 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j ← 1 to n do len(0,j) = 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← 1 to m do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j ← 1 to n do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a[i] = b[j] then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len(i,j) = len(i-1,j-1) + 1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prev(i,j) =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"↖"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 if len(i-1,j) ≥ len(i,j-1) then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len(i,j) = len(i-1,j)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prev(i,j) =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"↑"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len(i,j) = len(i,j-1)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prev(i,j) =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"←"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return len and prev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853940"/>
            <a:ext cx="6059805" cy="1483995"/>
            <a:chOff x="533400" y="4853940"/>
            <a:chExt cx="6059805" cy="1483995"/>
          </a:xfrm>
        </p:grpSpPr>
        <p:sp>
          <p:nvSpPr>
            <p:cNvPr id="13" name="Rectangle 13"/>
            <p:cNvSpPr/>
            <p:nvPr/>
          </p:nvSpPr>
          <p:spPr>
            <a:xfrm>
              <a:off x="533400" y="4853940"/>
              <a:ext cx="6059805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98729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504634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1344" y="50806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80947" y="5086350"/>
              <a:ext cx="22295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两张表各 (m+1)×(n+1) 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5420678"/>
              <a:ext cx="53200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填表时间 O(mn)、空间 O(mn)，课件原话 Running time and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memory: O(mn) and O(mn)。回溯每步 i 或 j 至少减 1，只要 O(m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n)。</a:t>
              </a:r>
            </a:p>
          </p:txBody>
        </p:sp>
      </p:grpSp>
      <p:grpSp>
        <p:nvGrpSpPr>
          <p:cNvPr id="28" name="c2-kv-1"/>
          <p:cNvGrpSpPr/>
          <p:nvPr/>
        </p:nvGrpSpPr>
        <p:grpSpPr>
          <a:xfrm>
            <a:off x="6891147" y="1545907"/>
            <a:ext cx="4767453" cy="1060324"/>
            <a:chOff x="6891147" y="1545907"/>
            <a:chExt cx="4767453" cy="1060324"/>
          </a:xfrm>
        </p:grpSpPr>
        <p:sp>
          <p:nvSpPr>
            <p:cNvPr id="20" name="TextBox 20"/>
            <p:cNvSpPr txBox="1"/>
            <p:nvPr/>
          </p:nvSpPr>
          <p:spPr>
            <a:xfrm>
              <a:off x="6891147" y="1545907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4532" y="1545907"/>
              <a:ext cx="3541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 = bⱼ，这个字符属于 LCS，回溯时输出它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898005" y="183546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91147" y="194405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04532" y="1944052"/>
              <a:ext cx="2085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长度取自上一格：去掉 aᵢ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898005" y="223266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91147" y="234219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04532" y="2342198"/>
              <a:ext cx="2085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长度取自左一格：去掉 bⱼ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6898005" y="2727960"/>
            <a:ext cx="4760595" cy="978218"/>
            <a:chOff x="6898005" y="2727960"/>
            <a:chExt cx="4760595" cy="978218"/>
          </a:xfrm>
        </p:grpSpPr>
        <p:sp>
          <p:nvSpPr>
            <p:cNvPr id="29" name="Rectangle 29"/>
            <p:cNvSpPr/>
            <p:nvPr/>
          </p:nvSpPr>
          <p:spPr>
            <a:xfrm>
              <a:off x="6898005" y="2727960"/>
              <a:ext cx="4760595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090734" y="3112888"/>
              <a:ext cx="224134" cy="192560"/>
              <a:chOff x="7090734" y="3112888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202805" y="31832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090734" y="31128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202805" y="32610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405497" y="2873692"/>
              <a:ext cx="377704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8 行用的是 ≥：上方和左方一样长时优先记 ↑。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LCS 不唯一时，这个约定决定回溯输出的是哪一个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（见自测题）。</a:t>
              </a:r>
            </a:p>
          </p:txBody>
        </p:sp>
      </p:grpSp>
      <p:grpSp>
        <p:nvGrpSpPr>
          <p:cNvPr id="43" name="c2-card-3"/>
          <p:cNvGrpSpPr/>
          <p:nvPr/>
        </p:nvGrpSpPr>
        <p:grpSpPr>
          <a:xfrm>
            <a:off x="6898005" y="3881438"/>
            <a:ext cx="4760595" cy="2457450"/>
            <a:chOff x="6898005" y="3881438"/>
            <a:chExt cx="4760595" cy="2457450"/>
          </a:xfrm>
        </p:grpSpPr>
        <p:sp>
          <p:nvSpPr>
            <p:cNvPr id="36" name="Rectangle 36"/>
            <p:cNvSpPr/>
            <p:nvPr/>
          </p:nvSpPr>
          <p:spPr>
            <a:xfrm>
              <a:off x="6898005" y="3881438"/>
              <a:ext cx="4760595" cy="245745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07530" y="4014788"/>
              <a:ext cx="47625" cy="21907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128510" y="4073842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15950" y="410813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45552" y="4112895"/>
              <a:ext cx="1284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ab，B = ba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21652" y="4447222"/>
              <a:ext cx="405993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len(1,1)：a ≠ b，上、左都是 0，按 ≥ 记 ↑0；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len(1,2)：a = a，记 ↖1；len(2,1)：b = b，记 ↖1；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len(2,2)：b ≠ a，上、左都是 1，记 ↑1。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22795" y="5260181"/>
              <a:ext cx="40652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回溯从 (2,2) 走 ↑ 到 (1,2)，输出 a。另一个 LCS 是 b，改成优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 ← 时才会输出它。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42671" cy="909257"/>
            <a:chOff x="520446" y="342900"/>
            <a:chExt cx="87426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最长公共子序列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426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填表计算：president 与 providence 的长度表和箭头表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0" name="c1-table-1"/>
          <p:cNvGrpSpPr/>
          <p:nvPr/>
        </p:nvGrpSpPr>
        <p:grpSpPr>
          <a:xfrm>
            <a:off x="533400" y="1524000"/>
            <a:ext cx="11125200" cy="4194810"/>
            <a:chOff x="533400" y="1524000"/>
            <a:chExt cx="11125200" cy="41948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6257" y="1641157"/>
              <a:ext cx="241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i＼j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36943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42546" y="1641157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72186" y="1641157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 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01826" y="1641157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 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32418" y="1641157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v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80610" y="1641157"/>
              <a:ext cx="1813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 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1698" y="1641157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 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22291" y="1641157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 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51931" y="1641157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 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81571" y="1641157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 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007543" y="1641157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 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8078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489710" y="1914525"/>
              <a:ext cx="787718" cy="361950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3888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0756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3720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6684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9743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2707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5671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8731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1695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4659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1337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2282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2286952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078" y="2404110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p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38887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295525" y="2296478"/>
              <a:ext cx="91059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668695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↖1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98335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27975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58568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88208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17848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48440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78080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107720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74508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2663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8078" y="2785110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838887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668695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226118" y="2677478"/>
              <a:ext cx="91059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598335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↖2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155758" y="2677478"/>
              <a:ext cx="910590" cy="361950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527975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085398" y="2677478"/>
              <a:ext cx="910590" cy="361950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458568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88208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17848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48440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78080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107720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074508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3045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33400" y="3049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28078" y="3167062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838887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668695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598335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527975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085398" y="3059430"/>
              <a:ext cx="910590" cy="361950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458568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388208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317848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48440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↖3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178080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107720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074508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↖3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33400" y="3426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28078" y="3548062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s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838887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668695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3598335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4527975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085398" y="3440430"/>
              <a:ext cx="910590" cy="361950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458568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388208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317848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248440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178080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↑3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107720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↑3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074508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↑3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533400" y="3807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533400" y="3811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28078" y="3930015"/>
              <a:ext cx="1813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i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838887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2668695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↑1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3598335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527975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5458568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6015990" y="3821430"/>
              <a:ext cx="91059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388208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↖3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317848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←3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248440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↑3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178080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↑3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107720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↑3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074508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↑3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533400" y="41890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28078" y="4311015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d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838887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2668695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↑1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3598335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4527975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5458568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6388208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↑3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6945630" y="4203382"/>
              <a:ext cx="91059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7317848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↖4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8248440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←4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178080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←4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0107720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←4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1074508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←4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533400" y="45700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533400" y="4574858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628078" y="4692015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e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838887" y="4692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2668695" y="4692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↑1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3598335" y="4692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4527975" y="4692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5458568" y="4692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6388208" y="4692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↑3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7317848" y="4692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↑4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7876222" y="4584382"/>
              <a:ext cx="91059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8248440" y="4692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↖5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9178080" y="4692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←5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0107720" y="4692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←5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11074508" y="4692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↖5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533400" y="495204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628078" y="507396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n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1838887" y="50739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2668695" y="5073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↑1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3598335" y="5073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4527975" y="5073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5458568" y="5073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6388208" y="5073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↑3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7317848" y="5073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↑4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8248440" y="5073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↑5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8805862" y="4966335"/>
              <a:ext cx="91059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9178080" y="5073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↖6</a:t>
              </a:r>
            </a:p>
          </p:txBody>
        </p:sp>
        <p:sp>
          <p:nvSpPr>
            <p:cNvPr id="149" name="Rectangle 149"/>
            <p:cNvSpPr/>
            <p:nvPr/>
          </p:nvSpPr>
          <p:spPr>
            <a:xfrm>
              <a:off x="9735502" y="4966335"/>
              <a:ext cx="910590" cy="361950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10107720" y="5073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←6</a:t>
              </a:r>
            </a:p>
          </p:txBody>
        </p:sp>
        <p:sp>
          <p:nvSpPr>
            <p:cNvPr id="151" name="Rectangle 151"/>
            <p:cNvSpPr/>
            <p:nvPr/>
          </p:nvSpPr>
          <p:spPr>
            <a:xfrm>
              <a:off x="10666095" y="4966335"/>
              <a:ext cx="982980" cy="361950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11074508" y="5073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←6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533400" y="533304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533400" y="5337810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5" name="TextBox 155"/>
            <p:cNvSpPr txBox="1"/>
            <p:nvPr/>
          </p:nvSpPr>
          <p:spPr>
            <a:xfrm>
              <a:off x="628078" y="545496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t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1838887" y="54549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2668695" y="5454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↑1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3598335" y="5454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4527975" y="5454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5458568" y="5454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↑2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6388208" y="5454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↑3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7317848" y="5454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↑4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8248440" y="5454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↑5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9178080" y="5454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↑6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10107720" y="5454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↑6</a:t>
              </a:r>
            </a:p>
          </p:txBody>
        </p:sp>
        <p:sp>
          <p:nvSpPr>
            <p:cNvPr id="166" name="Rectangle 166"/>
            <p:cNvSpPr/>
            <p:nvPr/>
          </p:nvSpPr>
          <p:spPr>
            <a:xfrm>
              <a:off x="10666095" y="5347335"/>
              <a:ext cx="982980" cy="361950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11074508" y="5454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↑6</a:t>
              </a:r>
            </a:p>
          </p:txBody>
        </p:sp>
        <p:sp>
          <p:nvSpPr>
            <p:cNvPr id="168" name="Rectangle 168"/>
            <p:cNvSpPr/>
            <p:nvPr/>
          </p:nvSpPr>
          <p:spPr>
            <a:xfrm>
              <a:off x="533400" y="1524000"/>
              <a:ext cx="11125200" cy="4194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69" name="Rectangle 169"/>
            <p:cNvSpPr/>
            <p:nvPr/>
          </p:nvSpPr>
          <p:spPr>
            <a:xfrm>
              <a:off x="1475422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0" name="Rectangle 170"/>
            <p:cNvSpPr/>
            <p:nvPr/>
          </p:nvSpPr>
          <p:spPr>
            <a:xfrm>
              <a:off x="2281238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1" name="Rectangle 171"/>
            <p:cNvSpPr/>
            <p:nvPr/>
          </p:nvSpPr>
          <p:spPr>
            <a:xfrm>
              <a:off x="3211830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4141470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3" name="Rectangle 173"/>
            <p:cNvSpPr/>
            <p:nvPr/>
          </p:nvSpPr>
          <p:spPr>
            <a:xfrm>
              <a:off x="5071110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4" name="Rectangle 174"/>
            <p:cNvSpPr/>
            <p:nvPr/>
          </p:nvSpPr>
          <p:spPr>
            <a:xfrm>
              <a:off x="6001702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5" name="Rectangle 175"/>
            <p:cNvSpPr/>
            <p:nvPr/>
          </p:nvSpPr>
          <p:spPr>
            <a:xfrm>
              <a:off x="6931342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6" name="Rectangle 176"/>
            <p:cNvSpPr/>
            <p:nvPr/>
          </p:nvSpPr>
          <p:spPr>
            <a:xfrm>
              <a:off x="7861935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7" name="Rectangle 177"/>
            <p:cNvSpPr/>
            <p:nvPr/>
          </p:nvSpPr>
          <p:spPr>
            <a:xfrm>
              <a:off x="8791575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9721215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9" name="Rectangle 179"/>
            <p:cNvSpPr/>
            <p:nvPr/>
          </p:nvSpPr>
          <p:spPr>
            <a:xfrm>
              <a:off x="10651808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8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81" name="Rectangle 18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85" name="Group 185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182" name="Freeform 182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3" name="Freeform 183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4" name="Freeform 184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6" name="TextBox 186"/>
            <p:cNvSpPr txBox="1"/>
            <p:nvPr/>
          </p:nvSpPr>
          <p:spPr>
            <a:xfrm>
              <a:off x="1041273" y="6039326"/>
              <a:ext cx="105632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橙色格是回溯时输出字符的 ↖，浅青色格是回溯只路过的格子。右下角 len(9, 10) = 6 就是 LCS 的长度。本表与原课件第 21 页逐格一致。</a:t>
              </a:r>
            </a:p>
          </p:txBody>
        </p:sp>
      </p:grpSp>
      <p:grpSp>
        <p:nvGrpSpPr>
          <p:cNvPr id="1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88" name="TextBox 18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189" name="TextBox 1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62759" cy="909257"/>
            <a:chOff x="520446" y="342900"/>
            <a:chExt cx="69627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最长公共子序列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627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回溯：从右下角沿箭头走回去，遇到 ↖ 就输出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4869180" cy="2125028"/>
            <a:chOff x="533400" y="1524000"/>
            <a:chExt cx="4869180" cy="21250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5245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procedure Output-LCS(A, prev, i, j)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504122"/>
              <a:ext cx="483108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8063" y="1937861"/>
              <a:ext cx="89662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598"/>
                </a:lnSpc>
              </a:pPr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0595" y="1937861"/>
              <a:ext cx="2436622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i = 0 or j = 0 then return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if prev(i,j) =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"↖"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then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Output-LCS(A, prev, i-1, j-1)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print a[i]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else if prev(i,j) =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"↑"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then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Output-LCS(A, prev, i-1, j)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Output-LCS(A, prev, i, j-1)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3834765"/>
            <a:ext cx="4869180" cy="1018222"/>
            <a:chOff x="533400" y="3834765"/>
            <a:chExt cx="4869180" cy="1018222"/>
          </a:xfrm>
        </p:grpSpPr>
        <p:sp>
          <p:nvSpPr>
            <p:cNvPr id="13" name="Rectangle 13"/>
            <p:cNvSpPr/>
            <p:nvPr/>
          </p:nvSpPr>
          <p:spPr>
            <a:xfrm>
              <a:off x="533400" y="3834765"/>
              <a:ext cx="486918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243388"/>
              <a:ext cx="200026" cy="200026"/>
              <a:chOff x="738188" y="4243388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2433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43100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27088" y="43434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511" y="3981926"/>
              <a:ext cx="398195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先递归、后打印，所以虽然是从右下角往回走，字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符仍按从前到后的顺序输出。首次调用写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Output-LCS(A, prev, m, n)。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5038725"/>
            <a:ext cx="4869180" cy="1018222"/>
            <a:chOff x="533400" y="5038725"/>
            <a:chExt cx="4869180" cy="1018222"/>
          </a:xfrm>
        </p:grpSpPr>
        <p:sp>
          <p:nvSpPr>
            <p:cNvPr id="20" name="Rectangle 20"/>
            <p:cNvSpPr/>
            <p:nvPr/>
          </p:nvSpPr>
          <p:spPr>
            <a:xfrm>
              <a:off x="533400" y="5038725"/>
              <a:ext cx="4869180" cy="1018222"/>
            </a:xfrm>
            <a:prstGeom prst="roundRect">
              <a:avLst>
                <a:gd name="adj" fmla="val 1122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447348"/>
              <a:ext cx="200026" cy="200026"/>
              <a:chOff x="738188" y="5447348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4473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04863" y="552513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511" y="5185886"/>
              <a:ext cx="4009460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倒着收集到 n、e、d、i、r、p，按递归返回的顺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序打印出来就是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priden</a:t>
              </a: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。每步 i 或 j 至少减 1，回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溯只需 O(m + n)。</a:t>
              </a:r>
            </a:p>
          </p:txBody>
        </p:sp>
      </p:grpSp>
      <p:grpSp>
        <p:nvGrpSpPr>
          <p:cNvPr id="77" name="c2-table-1"/>
          <p:cNvGrpSpPr/>
          <p:nvPr/>
        </p:nvGrpSpPr>
        <p:grpSpPr>
          <a:xfrm>
            <a:off x="5707380" y="1524000"/>
            <a:ext cx="5951220" cy="4514850"/>
            <a:chOff x="5707380" y="1524000"/>
            <a:chExt cx="5951220" cy="4514850"/>
          </a:xfrm>
        </p:grpSpPr>
        <p:sp>
          <p:nvSpPr>
            <p:cNvPr id="26" name="Rectangle 26"/>
            <p:cNvSpPr/>
            <p:nvPr/>
          </p:nvSpPr>
          <p:spPr>
            <a:xfrm>
              <a:off x="5707380" y="1524000"/>
              <a:ext cx="595122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44284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经过的格子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8878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箭头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71753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12726" y="2085022"/>
              <a:ext cx="2649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(9,10) → (8,10) → (8,9) → (8,8)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07399" y="2085022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 ← 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17086" y="208502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只移动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07380" y="237934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07380" y="2384108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12726" y="2515552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(8,8)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0739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↖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121265" y="2393632"/>
              <a:ext cx="152781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217086" y="2515552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n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707380" y="280987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812726" y="2946082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(7,7)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0739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↖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121265" y="2824162"/>
              <a:ext cx="152781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217086" y="2946082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e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707380" y="323945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707380" y="3244215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812726" y="3375660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(6,6)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07399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↖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121265" y="3253740"/>
              <a:ext cx="152781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217086" y="337566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d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07380" y="366998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812726" y="3806190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(5,5)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907399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↖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121265" y="3684270"/>
              <a:ext cx="152781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217086" y="3806190"/>
              <a:ext cx="432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i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707380" y="41005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707380" y="4105275"/>
              <a:ext cx="595122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812726" y="4235768"/>
              <a:ext cx="2460498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(4,4) → (3,4) → (2,4) → (2,3) →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(2,2)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07399" y="4342448"/>
              <a:ext cx="512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↑ ↑ ← ←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17086" y="434244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只移动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707380" y="474345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812726" y="487965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(2,2)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907399" y="487965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↖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0121265" y="4757738"/>
              <a:ext cx="152781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217086" y="4879658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r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707380" y="517398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707380" y="5178742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812726" y="531018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(1,1)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907399" y="531018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↖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121265" y="5188268"/>
              <a:ext cx="152781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217086" y="5310188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p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707380" y="560355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812726" y="5739765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(0,0)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217086" y="57397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707380" y="1524000"/>
              <a:ext cx="5951220" cy="4514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8797290" y="1524000"/>
              <a:ext cx="9525" cy="4514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10106978" y="1524000"/>
              <a:ext cx="9525" cy="4514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889248" cy="3351847"/>
            <a:chOff x="667512" y="1835468"/>
            <a:chExt cx="388924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全局序列比对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4324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两条 DNA 序列怎样对齐，得分最高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比对的四种列：匹配、错配、插入、删除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每一种比对是网格中的一条路径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3919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得分方案与 S(i, j) 的递推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填表、回溯，以及对原课件表格的更正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全局序列比对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序列比对：插入空格，让两条序列逐列对齐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931548" cy="308039"/>
            <a:chOff x="525399" y="1550194"/>
            <a:chExt cx="693154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93154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生物信息学中的序列比对问题。序列 A：CTTAACT，序列 B：CGGATCAT。</a:t>
              </a:r>
            </a:p>
          </p:txBody>
        </p:sp>
      </p:grpSp>
      <p:grpSp>
        <p:nvGrpSpPr>
          <p:cNvPr id="10" name="c1-text-1"/>
          <p:cNvGrpSpPr/>
          <p:nvPr/>
        </p:nvGrpSpPr>
        <p:grpSpPr>
          <a:xfrm>
            <a:off x="525780" y="1992630"/>
            <a:ext cx="5473065" cy="883920"/>
            <a:chOff x="525780" y="1992630"/>
            <a:chExt cx="5473065" cy="883920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5473065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在两条序列里插入空格“-”，使它们等长后逐列对齐，不允许一列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上下都是空格。下面是 A 与 B 的一种比对（an alignment of A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 B）：</a:t>
              </a:r>
            </a:p>
          </p:txBody>
        </p:sp>
      </p:grpSp>
      <p:grpSp>
        <p:nvGrpSpPr>
          <p:cNvPr id="53" name="c1-cells-2"/>
          <p:cNvGrpSpPr/>
          <p:nvPr/>
        </p:nvGrpSpPr>
        <p:grpSpPr>
          <a:xfrm>
            <a:off x="527304" y="3007995"/>
            <a:ext cx="5848731" cy="933450"/>
            <a:chOff x="527304" y="3007995"/>
            <a:chExt cx="5848731" cy="933450"/>
          </a:xfrm>
        </p:grpSpPr>
        <p:sp>
          <p:nvSpPr>
            <p:cNvPr id="11" name="TextBox 11"/>
            <p:cNvSpPr txBox="1"/>
            <p:nvPr/>
          </p:nvSpPr>
          <p:spPr>
            <a:xfrm>
              <a:off x="527304" y="312324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54380" y="3007995"/>
              <a:ext cx="56197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0938" y="312324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317308" y="3007995"/>
              <a:ext cx="56197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45553" y="31232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879282" y="3007995"/>
              <a:ext cx="56197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07528" y="31232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41258" y="3007995"/>
              <a:ext cx="56197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669503" y="31232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003232" y="3007995"/>
              <a:ext cx="56197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228838" y="312324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565208" y="3007995"/>
              <a:ext cx="561975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90813" y="312324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128135" y="3007995"/>
              <a:ext cx="56197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353740" y="312324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690110" y="3007995"/>
              <a:ext cx="561975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915715" y="312324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252085" y="3007995"/>
              <a:ext cx="561975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77690" y="312324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814060" y="3007995"/>
              <a:ext cx="56197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39665" y="312324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7304" y="367569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54380" y="3560445"/>
              <a:ext cx="56197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80938" y="367569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317308" y="3560445"/>
              <a:ext cx="56197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542913" y="367569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879282" y="3560445"/>
              <a:ext cx="56197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104888" y="367569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441258" y="3560445"/>
              <a:ext cx="56197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666863" y="367569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003232" y="3560445"/>
              <a:ext cx="56197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28838" y="367569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565208" y="3560445"/>
              <a:ext cx="561975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790813" y="367569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128135" y="3560445"/>
              <a:ext cx="56197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353740" y="367569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690110" y="3560445"/>
              <a:ext cx="561975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918356" y="36756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252085" y="3560445"/>
              <a:ext cx="561975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480331" y="36756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814060" y="3560445"/>
              <a:ext cx="56197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39665" y="367569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</p:grpSp>
      <p:grpSp>
        <p:nvGrpSpPr>
          <p:cNvPr id="65" name="c1-kv-3"/>
          <p:cNvGrpSpPr/>
          <p:nvPr/>
        </p:nvGrpSpPr>
        <p:grpSpPr>
          <a:xfrm>
            <a:off x="525780" y="4156710"/>
            <a:ext cx="5850255" cy="1613535"/>
            <a:chOff x="525780" y="4156710"/>
            <a:chExt cx="5850255" cy="1613535"/>
          </a:xfrm>
        </p:grpSpPr>
        <p:sp>
          <p:nvSpPr>
            <p:cNvPr id="54" name="TextBox 54"/>
            <p:cNvSpPr txBox="1"/>
            <p:nvPr/>
          </p:nvSpPr>
          <p:spPr>
            <a:xfrm>
              <a:off x="525780" y="4156710"/>
              <a:ext cx="11159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匹配 Match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566035" y="415671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上下字符相同（绿）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44767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5780" y="4596765"/>
              <a:ext cx="14547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错配 Mismatch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66035" y="459676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上下字符不同（红）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49168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5780" y="5036820"/>
              <a:ext cx="18463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插入 Insertion gap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566035" y="5036820"/>
              <a:ext cx="2801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中是空格，B 多出字符（橙）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535686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25780" y="5476875"/>
              <a:ext cx="1729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删除 Deletion gap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566035" y="5476875"/>
              <a:ext cx="36522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中是空格，A 的字符在 B 中缺失（灰）</a:t>
              </a:r>
            </a:p>
          </p:txBody>
        </p:sp>
      </p:grpSp>
      <p:grpSp>
        <p:nvGrpSpPr>
          <p:cNvPr id="68" name="c2-image-1"/>
          <p:cNvGrpSpPr/>
          <p:nvPr/>
        </p:nvGrpSpPr>
        <p:grpSpPr>
          <a:xfrm>
            <a:off x="6977774" y="1967865"/>
            <a:ext cx="4383888" cy="3170397"/>
            <a:chOff x="6977774" y="1967865"/>
            <a:chExt cx="4383888" cy="3170397"/>
          </a:xfrm>
        </p:grpSpPr>
        <p:pic>
          <p:nvPicPr>
            <p:cNvPr id="66" name="Image 66"/>
            <p:cNvPicPr>
              <a:picLocks noChangeAspect="1"/>
            </p:cNvPicPr>
            <p:nvPr/>
          </p:nvPicPr>
          <p:blipFill>
            <a:blip r:embed="rId2"/>
            <a:srcRect l="0" t="12506" r="0" b="12507"/>
            <a:stretch>
              <a:fillRect/>
            </a:stretch>
          </p:blipFill>
          <p:spPr>
            <a:xfrm>
              <a:off x="7265670" y="1967865"/>
              <a:ext cx="3808095" cy="2855595"/>
            </a:xfrm>
            <a:prstGeom prst="roundRect">
              <a:avLst>
                <a:gd name="adj" fmla="val 4669"/>
              </a:avLst>
            </a:prstGeom>
          </p:spPr>
        </p:pic>
        <p:sp>
          <p:nvSpPr>
            <p:cNvPr id="67" name="TextBox 67"/>
            <p:cNvSpPr txBox="1"/>
            <p:nvPr/>
          </p:nvSpPr>
          <p:spPr>
            <a:xfrm>
              <a:off x="6977774" y="4918234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比对像把两串珠子对齐：同色尽量上下对齐，缺的地方留一段空线</a:t>
              </a:r>
            </a:p>
          </p:txBody>
        </p:sp>
      </p:grpSp>
      <p:grpSp>
        <p:nvGrpSpPr>
          <p:cNvPr id="75" name="c2-callout-2"/>
          <p:cNvGrpSpPr/>
          <p:nvPr/>
        </p:nvGrpSpPr>
        <p:grpSpPr>
          <a:xfrm>
            <a:off x="6680835" y="5303520"/>
            <a:ext cx="4977765" cy="1059180"/>
            <a:chOff x="6680835" y="5303520"/>
            <a:chExt cx="4977765" cy="1059180"/>
          </a:xfrm>
        </p:grpSpPr>
        <p:sp>
          <p:nvSpPr>
            <p:cNvPr id="69" name="Rectangle 69"/>
            <p:cNvSpPr/>
            <p:nvPr/>
          </p:nvSpPr>
          <p:spPr>
            <a:xfrm>
              <a:off x="6680835" y="5303520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885623" y="5733098"/>
              <a:ext cx="200026" cy="200026"/>
              <a:chOff x="6885623" y="5733098"/>
              <a:chExt cx="200026" cy="20002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885623" y="57330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985635" y="57997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974523" y="58331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7187565" y="5452110"/>
              <a:ext cx="4015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生物学上相似的序列往往有相似的功能。两条序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列比对得分高，说明它们可能来自同一祖先，差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异来自进化中的突变、插入和删除。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全局序列比对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比对图：每一种比对是网格中从左上到右下的一条路径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5" name="c1-graph-1"/>
          <p:cNvGrpSpPr/>
          <p:nvPr/>
        </p:nvGrpSpPr>
        <p:grpSpPr>
          <a:xfrm>
            <a:off x="726322" y="1618774"/>
            <a:ext cx="5577323" cy="4231481"/>
            <a:chOff x="726322" y="1618774"/>
            <a:chExt cx="5577323" cy="4231481"/>
          </a:xfrm>
        </p:grpSpPr>
        <p:sp>
          <p:nvSpPr>
            <p:cNvPr id="7" name="Freeform 7"/>
            <p:cNvSpPr/>
            <p:nvPr/>
          </p:nvSpPr>
          <p:spPr>
            <a:xfrm>
              <a:off x="1247775" y="2057400"/>
              <a:ext cx="4998720" cy="3735705"/>
            </a:xfrm>
            <a:custGeom>
              <a:avLst/>
              <a:gdLst/>
              <a:ahLst/>
              <a:cxnLst/>
              <a:rect l="l" t="t" r="r" b="b"/>
              <a:pathLst>
                <a:path w="4998720" h="3735705">
                  <a:moveTo>
                    <a:pt x="0" y="114300"/>
                  </a:moveTo>
                  <a:lnTo>
                    <a:pt x="0" y="3735705"/>
                  </a:lnTo>
                  <a:lnTo>
                    <a:pt x="624840" y="3735705"/>
                  </a:lnTo>
                  <a:lnTo>
                    <a:pt x="624840" y="0"/>
                  </a:lnTo>
                  <a:lnTo>
                    <a:pt x="1249680" y="0"/>
                  </a:lnTo>
                  <a:lnTo>
                    <a:pt x="1249680" y="3735705"/>
                  </a:lnTo>
                  <a:lnTo>
                    <a:pt x="1874520" y="3735705"/>
                  </a:lnTo>
                  <a:lnTo>
                    <a:pt x="1874520" y="0"/>
                  </a:lnTo>
                  <a:lnTo>
                    <a:pt x="2499360" y="0"/>
                  </a:lnTo>
                  <a:lnTo>
                    <a:pt x="2499360" y="3735705"/>
                  </a:lnTo>
                  <a:lnTo>
                    <a:pt x="3124200" y="3735705"/>
                  </a:lnTo>
                  <a:lnTo>
                    <a:pt x="3124200" y="0"/>
                  </a:lnTo>
                  <a:lnTo>
                    <a:pt x="3749040" y="0"/>
                  </a:lnTo>
                  <a:lnTo>
                    <a:pt x="3749040" y="3735705"/>
                  </a:lnTo>
                  <a:lnTo>
                    <a:pt x="4373880" y="3735705"/>
                  </a:lnTo>
                  <a:lnTo>
                    <a:pt x="4373880" y="0"/>
                  </a:lnTo>
                  <a:lnTo>
                    <a:pt x="4998720" y="0"/>
                  </a:lnTo>
                  <a:lnTo>
                    <a:pt x="4998720" y="3621405"/>
                  </a:lnTo>
                </a:path>
              </a:pathLst>
            </a:custGeom>
            <a:noFill/>
            <a:ln w="17145">
              <a:solidFill>
                <a:srgbClr val="B8C2D3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247775" y="2057400"/>
              <a:ext cx="4998720" cy="3735705"/>
            </a:xfrm>
            <a:custGeom>
              <a:avLst/>
              <a:gdLst/>
              <a:ahLst/>
              <a:cxnLst/>
              <a:rect l="l" t="t" r="r" b="b"/>
              <a:pathLst>
                <a:path w="4998720" h="3735705">
                  <a:moveTo>
                    <a:pt x="38100" y="0"/>
                  </a:moveTo>
                  <a:lnTo>
                    <a:pt x="4998720" y="0"/>
                  </a:lnTo>
                  <a:lnTo>
                    <a:pt x="4998720" y="533400"/>
                  </a:lnTo>
                  <a:lnTo>
                    <a:pt x="0" y="533400"/>
                  </a:lnTo>
                  <a:lnTo>
                    <a:pt x="0" y="1067753"/>
                  </a:lnTo>
                  <a:lnTo>
                    <a:pt x="4998720" y="1067753"/>
                  </a:lnTo>
                  <a:lnTo>
                    <a:pt x="4998720" y="1601153"/>
                  </a:lnTo>
                  <a:lnTo>
                    <a:pt x="0" y="1601153"/>
                  </a:lnTo>
                  <a:lnTo>
                    <a:pt x="0" y="2134552"/>
                  </a:lnTo>
                  <a:lnTo>
                    <a:pt x="4998720" y="2134552"/>
                  </a:lnTo>
                  <a:lnTo>
                    <a:pt x="4998720" y="2667952"/>
                  </a:lnTo>
                  <a:lnTo>
                    <a:pt x="0" y="2667952"/>
                  </a:lnTo>
                  <a:lnTo>
                    <a:pt x="0" y="3201352"/>
                  </a:lnTo>
                  <a:lnTo>
                    <a:pt x="4998720" y="3201352"/>
                  </a:lnTo>
                  <a:lnTo>
                    <a:pt x="4998720" y="3735705"/>
                  </a:lnTo>
                  <a:lnTo>
                    <a:pt x="38100" y="3735705"/>
                  </a:lnTo>
                </a:path>
              </a:pathLst>
            </a:custGeom>
            <a:noFill/>
            <a:ln w="17145">
              <a:solidFill>
                <a:srgbClr val="B8C2D3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298258" y="2101215"/>
              <a:ext cx="451485" cy="384810"/>
            </a:xfrm>
            <a:custGeom>
              <a:avLst/>
              <a:gdLst/>
              <a:ahLst/>
              <a:cxnLst/>
              <a:rect l="l" t="t" r="r" b="b"/>
              <a:pathLst>
                <a:path w="451485" h="384810">
                  <a:moveTo>
                    <a:pt x="0" y="0"/>
                  </a:moveTo>
                  <a:lnTo>
                    <a:pt x="451485" y="384810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18310" y="2449830"/>
              <a:ext cx="103823" cy="98108"/>
            </a:xfrm>
            <a:custGeom>
              <a:avLst/>
              <a:gdLst/>
              <a:ahLst/>
              <a:cxnLst/>
              <a:rect l="l" t="t" r="r" b="b"/>
              <a:pathLst>
                <a:path w="103823" h="98108">
                  <a:moveTo>
                    <a:pt x="103823" y="98108"/>
                  </a:moveTo>
                  <a:lnTo>
                    <a:pt x="0" y="72390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39290" y="2590800"/>
              <a:ext cx="396240" cy="9525"/>
            </a:xfrm>
            <a:custGeom>
              <a:avLst/>
              <a:gdLst/>
              <a:ahLst/>
              <a:cxnLst/>
              <a:rect l="l" t="t" r="r" b="b"/>
              <a:pathLst>
                <a:path w="396240" h="9525">
                  <a:moveTo>
                    <a:pt x="0" y="0"/>
                  </a:moveTo>
                  <a:lnTo>
                    <a:pt x="396240" y="0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335530" y="25431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564130" y="2590800"/>
              <a:ext cx="396240" cy="9525"/>
            </a:xfrm>
            <a:custGeom>
              <a:avLst/>
              <a:gdLst/>
              <a:ahLst/>
              <a:cxnLst/>
              <a:rect l="l" t="t" r="r" b="b"/>
              <a:pathLst>
                <a:path w="396240" h="9525">
                  <a:moveTo>
                    <a:pt x="0" y="0"/>
                  </a:moveTo>
                  <a:lnTo>
                    <a:pt x="396240" y="0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60370" y="25431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188970" y="2590800"/>
              <a:ext cx="396240" cy="9525"/>
            </a:xfrm>
            <a:custGeom>
              <a:avLst/>
              <a:gdLst/>
              <a:ahLst/>
              <a:cxnLst/>
              <a:rect l="l" t="t" r="r" b="b"/>
              <a:pathLst>
                <a:path w="396240" h="9525">
                  <a:moveTo>
                    <a:pt x="0" y="0"/>
                  </a:moveTo>
                  <a:lnTo>
                    <a:pt x="396240" y="0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585210" y="25431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797618" y="2634615"/>
              <a:ext cx="451485" cy="384810"/>
            </a:xfrm>
            <a:custGeom>
              <a:avLst/>
              <a:gdLst/>
              <a:ahLst/>
              <a:cxnLst/>
              <a:rect l="l" t="t" r="r" b="b"/>
              <a:pathLst>
                <a:path w="451485" h="384810">
                  <a:moveTo>
                    <a:pt x="0" y="0"/>
                  </a:moveTo>
                  <a:lnTo>
                    <a:pt x="451485" y="384810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217670" y="2983230"/>
              <a:ext cx="103822" cy="98108"/>
            </a:xfrm>
            <a:custGeom>
              <a:avLst/>
              <a:gdLst/>
              <a:ahLst/>
              <a:cxnLst/>
              <a:rect l="l" t="t" r="r" b="b"/>
              <a:pathLst>
                <a:path w="103822" h="98108">
                  <a:moveTo>
                    <a:pt x="103822" y="98108"/>
                  </a:moveTo>
                  <a:lnTo>
                    <a:pt x="0" y="72390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422458" y="3168015"/>
              <a:ext cx="451485" cy="384810"/>
            </a:xfrm>
            <a:custGeom>
              <a:avLst/>
              <a:gdLst/>
              <a:ahLst/>
              <a:cxnLst/>
              <a:rect l="l" t="t" r="r" b="b"/>
              <a:pathLst>
                <a:path w="451485" h="384810">
                  <a:moveTo>
                    <a:pt x="0" y="0"/>
                  </a:moveTo>
                  <a:lnTo>
                    <a:pt x="451485" y="38481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842510" y="3516630"/>
              <a:ext cx="103822" cy="98108"/>
            </a:xfrm>
            <a:custGeom>
              <a:avLst/>
              <a:gdLst/>
              <a:ahLst/>
              <a:cxnLst/>
              <a:rect l="l" t="t" r="r" b="b"/>
              <a:pathLst>
                <a:path w="103822" h="98108">
                  <a:moveTo>
                    <a:pt x="103822" y="98108"/>
                  </a:moveTo>
                  <a:lnTo>
                    <a:pt x="0" y="72390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047298" y="3701415"/>
              <a:ext cx="451485" cy="385762"/>
            </a:xfrm>
            <a:custGeom>
              <a:avLst/>
              <a:gdLst/>
              <a:ahLst/>
              <a:cxnLst/>
              <a:rect l="l" t="t" r="r" b="b"/>
              <a:pathLst>
                <a:path w="451485" h="385762">
                  <a:moveTo>
                    <a:pt x="0" y="0"/>
                  </a:moveTo>
                  <a:lnTo>
                    <a:pt x="451485" y="385762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467350" y="4050982"/>
              <a:ext cx="103822" cy="98108"/>
            </a:xfrm>
            <a:custGeom>
              <a:avLst/>
              <a:gdLst/>
              <a:ahLst/>
              <a:cxnLst/>
              <a:rect l="l" t="t" r="r" b="b"/>
              <a:pathLst>
                <a:path w="103822" h="98108">
                  <a:moveTo>
                    <a:pt x="103822" y="98108"/>
                  </a:moveTo>
                  <a:lnTo>
                    <a:pt x="0" y="72390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621655" y="425862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7145">
              <a:solidFill>
                <a:srgbClr val="6B7280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574030" y="45634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6B7280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5621655" y="4792028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7145">
              <a:solidFill>
                <a:srgbClr val="6B7280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574030" y="50968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6B7280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672138" y="5302568"/>
              <a:ext cx="451485" cy="384810"/>
            </a:xfrm>
            <a:custGeom>
              <a:avLst/>
              <a:gdLst/>
              <a:ahLst/>
              <a:cxnLst/>
              <a:rect l="l" t="t" r="r" b="b"/>
              <a:pathLst>
                <a:path w="451485" h="384810">
                  <a:moveTo>
                    <a:pt x="0" y="0"/>
                  </a:moveTo>
                  <a:lnTo>
                    <a:pt x="451485" y="384810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092190" y="5651182"/>
              <a:ext cx="103822" cy="98108"/>
            </a:xfrm>
            <a:custGeom>
              <a:avLst/>
              <a:gdLst/>
              <a:ahLst/>
              <a:cxnLst/>
              <a:rect l="l" t="t" r="r" b="b"/>
              <a:pathLst>
                <a:path w="103822" h="98108">
                  <a:moveTo>
                    <a:pt x="103822" y="98108"/>
                  </a:moveTo>
                  <a:lnTo>
                    <a:pt x="0" y="72390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190625" y="200025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815465" y="253365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440305" y="253365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3065145" y="253365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3689985" y="253365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4314825" y="3068002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939665" y="3601402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564505" y="4134802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5564505" y="4668202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5564505" y="5201602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189345" y="573595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514992" y="16187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139832" y="16187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764672" y="16187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89512" y="16187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014352" y="16187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39192" y="16187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64032" y="16187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888872" y="16187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6322" y="221884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6322" y="275224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6322" y="328660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6322" y="382000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6322" y="435340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6322" y="488680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6322" y="542020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</p:grpSp>
      <p:grpSp>
        <p:nvGrpSpPr>
          <p:cNvPr id="75" name="c2-table-1"/>
          <p:cNvGrpSpPr/>
          <p:nvPr/>
        </p:nvGrpSpPr>
        <p:grpSpPr>
          <a:xfrm>
            <a:off x="6789420" y="1524000"/>
            <a:ext cx="4869180" cy="1623060"/>
            <a:chOff x="6789420" y="1524000"/>
            <a:chExt cx="4869180" cy="1623060"/>
          </a:xfrm>
        </p:grpSpPr>
        <p:sp>
          <p:nvSpPr>
            <p:cNvPr id="56" name="Rectangle 56"/>
            <p:cNvSpPr/>
            <p:nvPr/>
          </p:nvSpPr>
          <p:spPr>
            <a:xfrm>
              <a:off x="6789420" y="1524000"/>
              <a:ext cx="486918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6823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走法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3001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对应的列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40373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本例中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89432" y="205406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↘ 对角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960995" y="2054066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 与 bⱼ 对齐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713595" y="2054066"/>
              <a:ext cx="19288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C/C、T/T、T/C、A/A、T/T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789420" y="233076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789420" y="2335530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889432" y="245983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水平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60995" y="2459831"/>
              <a:ext cx="1277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空格对 bⱼ（插入）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713595" y="2459831"/>
              <a:ext cx="11015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-/G、-/G、-/A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789420" y="273653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889432" y="286559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↓ 竖直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960995" y="2865596"/>
              <a:ext cx="1277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 对空格（删除）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713595" y="2865596"/>
              <a:ext cx="687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A/-、C/-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789420" y="1524000"/>
              <a:ext cx="486918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85622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960882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3" name="c2-card-2"/>
          <p:cNvGrpSpPr/>
          <p:nvPr/>
        </p:nvGrpSpPr>
        <p:grpSpPr>
          <a:xfrm>
            <a:off x="6789420" y="3322320"/>
            <a:ext cx="4869180" cy="1954530"/>
            <a:chOff x="6789420" y="3322320"/>
            <a:chExt cx="4869180" cy="1954530"/>
          </a:xfrm>
        </p:grpSpPr>
        <p:sp>
          <p:nvSpPr>
            <p:cNvPr id="76" name="Rectangle 76"/>
            <p:cNvSpPr/>
            <p:nvPr/>
          </p:nvSpPr>
          <p:spPr>
            <a:xfrm>
              <a:off x="6789420" y="3322320"/>
              <a:ext cx="4869180" cy="1954530"/>
            </a:xfrm>
            <a:prstGeom prst="roundRect">
              <a:avLst>
                <a:gd name="adj" fmla="val 68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798945" y="3455670"/>
              <a:ext cx="47625" cy="16878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7019925" y="351472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111365" y="35490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603617" y="355473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左图画的是上一页的比对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013067" y="3888105"/>
              <a:ext cx="424853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横轴是 B，纵轴是 A。绿色对角线为匹配，红色为错配，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橙色水平段是 A 中的三个空格，灰色竖直段是 B 中的两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个空格。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014210" y="4702016"/>
              <a:ext cx="41008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长 m、B 长 n 时网格有 (m+1)×(n+1) 个格点。本例这样的路径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共 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108545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条（脚本枚举），逐条打分不可行。</a:t>
              </a:r>
            </a:p>
          </p:txBody>
        </p:sp>
      </p:grpSp>
      <p:grpSp>
        <p:nvGrpSpPr>
          <p:cNvPr id="90" name="c2-callout-3"/>
          <p:cNvGrpSpPr/>
          <p:nvPr/>
        </p:nvGrpSpPr>
        <p:grpSpPr>
          <a:xfrm>
            <a:off x="6789420" y="5452110"/>
            <a:ext cx="4869180" cy="729615"/>
            <a:chOff x="6789420" y="5452110"/>
            <a:chExt cx="4869180" cy="729615"/>
          </a:xfrm>
        </p:grpSpPr>
        <p:sp>
          <p:nvSpPr>
            <p:cNvPr id="84" name="Rectangle 84"/>
            <p:cNvSpPr/>
            <p:nvPr/>
          </p:nvSpPr>
          <p:spPr>
            <a:xfrm>
              <a:off x="6789420" y="5452110"/>
              <a:ext cx="486918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6994208" y="5716905"/>
              <a:ext cx="200026" cy="200025"/>
              <a:chOff x="6994208" y="5716905"/>
              <a:chExt cx="200026" cy="200025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6994208" y="57169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7033946" y="57613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7068662" y="58724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7296912" y="5597842"/>
              <a:ext cx="381990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路径上到格点 (i, j) 为止的那一段，正好是 a₁…aᵢ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与 b₁…bⱼ 的一个比对。这是下面递推的出发点。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88992" cy="909257"/>
            <a:chOff x="520446" y="342900"/>
            <a:chExt cx="66889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全局序列比对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889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得分方案：匹配 +8，错配 −5，每个空格 −3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705092" cy="278702"/>
            <a:chOff x="526161" y="1547336"/>
            <a:chExt cx="670509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比对得分是各列得分之和。序列比对问题就是在全部比对中找得分最大的一个。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9"/>
              <p:cNvSpPr txBox="1">
                <a:spLocks noGrp="1"/>
              </p:cNvSpPr>
              <p:nvPr/>
            </p:nvSpPr>
            <p:spPr>
              <a:xfrm>
                <a:off x="533400" y="1941195"/>
                <a:ext cx="4544378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≠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20"/>
              <p:cNvSpPr txBox="1">
                <a:spLocks noGrp="1"/>
              </p:cNvSpPr>
              <p:nvPr/>
            </p:nvSpPr>
            <p:spPr>
              <a:xfrm>
                <a:off x="533400" y="2840355"/>
                <a:ext cx="4544378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,−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7" name="c1-card-3"/>
          <p:cNvGrpSpPr/>
          <p:nvPr/>
        </p:nvGrpSpPr>
        <p:grpSpPr>
          <a:xfrm>
            <a:off x="533400" y="3396615"/>
            <a:ext cx="4544378" cy="1741170"/>
            <a:chOff x="533400" y="3396615"/>
            <a:chExt cx="4544378" cy="1741170"/>
          </a:xfrm>
        </p:grpSpPr>
        <p:sp>
          <p:nvSpPr>
            <p:cNvPr id="11" name="Rectangle 11"/>
            <p:cNvSpPr/>
            <p:nvPr/>
          </p:nvSpPr>
          <p:spPr>
            <a:xfrm>
              <a:off x="533400" y="3396615"/>
              <a:ext cx="4544378" cy="1741170"/>
            </a:xfrm>
            <a:prstGeom prst="roundRect">
              <a:avLst>
                <a:gd name="adj" fmla="val 76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529965"/>
              <a:ext cx="47625" cy="147447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3905" y="35890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5345" y="36233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47597" y="3629025"/>
              <a:ext cx="13045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是一列的得分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3963352"/>
              <a:ext cx="39570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match 记 +8，mismatch 记 −5，each gap symbol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（即一个空格）记 −3。这是课件用的一个简单得分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方案，实际应用中常换成按氨基酸替换概率算出的得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分矩阵。</a:t>
              </a:r>
            </a:p>
          </p:txBody>
        </p:sp>
      </p:grpSp>
      <p:grpSp>
        <p:nvGrpSpPr>
          <p:cNvPr id="24" name="c1-callout-4"/>
          <p:cNvGrpSpPr/>
          <p:nvPr/>
        </p:nvGrpSpPr>
        <p:grpSpPr>
          <a:xfrm>
            <a:off x="533400" y="5313045"/>
            <a:ext cx="4544378" cy="978218"/>
            <a:chOff x="533400" y="5313045"/>
            <a:chExt cx="4544378" cy="978218"/>
          </a:xfrm>
        </p:grpSpPr>
        <p:sp>
          <p:nvSpPr>
            <p:cNvPr id="18" name="Rectangle 18"/>
            <p:cNvSpPr/>
            <p:nvPr/>
          </p:nvSpPr>
          <p:spPr>
            <a:xfrm>
              <a:off x="533400" y="5313045"/>
              <a:ext cx="4544378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26129" y="5697973"/>
              <a:ext cx="224134" cy="192560"/>
              <a:chOff x="726129" y="5697973"/>
              <a:chExt cx="224134" cy="19256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8200" y="576834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6129" y="569797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8461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5458778"/>
              <a:ext cx="363988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课件第 28 页的比对得 +12，但它不是最优的。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右边第二种比对只用 1 个空格，多一次匹配，错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配从 1 次增加到 3 次，得分反而到 14。</a:t>
              </a:r>
            </a:p>
          </p:txBody>
        </p:sp>
      </p:grpSp>
      <p:grpSp>
        <p:nvGrpSpPr>
          <p:cNvPr id="89" name="c2-table-1"/>
          <p:cNvGrpSpPr/>
          <p:nvPr/>
        </p:nvGrpSpPr>
        <p:grpSpPr>
          <a:xfrm>
            <a:off x="5377244" y="1941195"/>
            <a:ext cx="6281356" cy="1903666"/>
            <a:chOff x="5377244" y="1941195"/>
            <a:chExt cx="6281356" cy="1903666"/>
          </a:xfrm>
        </p:grpSpPr>
        <p:sp>
          <p:nvSpPr>
            <p:cNvPr id="25" name="Rectangle 25"/>
            <p:cNvSpPr/>
            <p:nvPr/>
          </p:nvSpPr>
          <p:spPr>
            <a:xfrm>
              <a:off x="5382578" y="1941195"/>
              <a:ext cx="6276022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12943" y="20654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07721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10641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14514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17434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20354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23274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26194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29114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32034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91418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9064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482590" y="24712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05525" y="247126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08445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11365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15238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18158" y="247126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21078" y="247126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23998" y="247126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26918" y="247126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29838" y="247126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632758" y="247126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82578" y="27479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82578" y="275272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482590" y="287702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05525" y="287702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08445" y="287702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11365" y="287702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15238" y="287702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18158" y="287702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21078" y="287702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23998" y="287702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626918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129838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32758" y="287702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82578" y="31537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482590" y="32827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05525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+8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08445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11365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615238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18158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+8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621078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123998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+8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626918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129838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632758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+8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1045190" y="3168015"/>
              <a:ext cx="60388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1135678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+12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382578" y="1941195"/>
              <a:ext cx="6276022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000750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503670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006590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751046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801338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851630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901922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952214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1002506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1052798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1103090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377244" y="3639502"/>
              <a:ext cx="16220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课件给出的比对，得分 12</a:t>
              </a:r>
            </a:p>
          </p:txBody>
        </p:sp>
      </p:grpSp>
      <p:grpSp>
        <p:nvGrpSpPr>
          <p:cNvPr id="144" name="c2-table-2"/>
          <p:cNvGrpSpPr/>
          <p:nvPr/>
        </p:nvGrpSpPr>
        <p:grpSpPr>
          <a:xfrm>
            <a:off x="5377244" y="3978592"/>
            <a:ext cx="6281356" cy="1902715"/>
            <a:chOff x="5377244" y="3978592"/>
            <a:chExt cx="6281356" cy="1902715"/>
          </a:xfrm>
        </p:grpSpPr>
        <p:sp>
          <p:nvSpPr>
            <p:cNvPr id="90" name="Rectangle 90"/>
            <p:cNvSpPr/>
            <p:nvPr/>
          </p:nvSpPr>
          <p:spPr>
            <a:xfrm>
              <a:off x="5382578" y="3978592"/>
              <a:ext cx="6276022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663425" y="41028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列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359169" y="41028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962101" y="41028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565986" y="41028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169871" y="41028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772804" y="41028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376689" y="41028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980574" y="41028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583506" y="41028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140161" y="41028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5482590" y="450865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206490" y="4508659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810375" y="4508659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413308" y="4508659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017192" y="4508659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621078" y="4508659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224010" y="4508659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827895" y="45086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0431780" y="4508659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5382578" y="478536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5382578" y="4790122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5482590" y="491442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6206490" y="491442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6810375" y="491442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413308" y="491442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8017192" y="491442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8621078" y="491442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9224010" y="491442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827895" y="491442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0431780" y="491442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5382578" y="519112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5482590" y="53201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得分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6206490" y="53201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+8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6810375" y="53201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7413308" y="53201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8017192" y="53201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+8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8621078" y="53201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9224010" y="53201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+8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9827895" y="53201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0431780" y="53201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+8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10944225" y="5205412"/>
              <a:ext cx="70485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11034712" y="532018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+14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5382578" y="3978592"/>
              <a:ext cx="6276022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6101715" y="397859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6705600" y="397859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7308532" y="397859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7" name="Rectangle 137"/>
            <p:cNvSpPr/>
            <p:nvPr/>
          </p:nvSpPr>
          <p:spPr>
            <a:xfrm>
              <a:off x="7912418" y="397859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8" name="Rectangle 138"/>
            <p:cNvSpPr/>
            <p:nvPr/>
          </p:nvSpPr>
          <p:spPr>
            <a:xfrm>
              <a:off x="8516302" y="397859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9119235" y="397859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0" name="Rectangle 140"/>
            <p:cNvSpPr/>
            <p:nvPr/>
          </p:nvSpPr>
          <p:spPr>
            <a:xfrm>
              <a:off x="9723120" y="397859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1" name="Rectangle 141"/>
            <p:cNvSpPr/>
            <p:nvPr/>
          </p:nvSpPr>
          <p:spPr>
            <a:xfrm>
              <a:off x="10327005" y="397859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10929938" y="397859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5377244" y="5675948"/>
              <a:ext cx="16220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得分最高的比对，得分 14</a:t>
              </a:r>
            </a:p>
          </p:txBody>
        </p:sp>
      </p:grpSp>
      <p:grpSp>
        <p:nvGrpSpPr>
          <p:cNvPr id="1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5" name="TextBox 14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全局序列比对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递推关系：最后一列只有三种可能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928420" cy="293370"/>
            <a:chOff x="525780" y="1548765"/>
            <a:chExt cx="792842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928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令 A = a₁…aₘ，B = b₁…bₙ；S(i, j) 为 a₁…aᵢ 与 b₁…bⱼ 的最优比对（alignment）得分。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5"/>
              <p:cNvSpPr txBox="1">
                <a:spLocks noGrp="1"/>
              </p:cNvSpPr>
              <p:nvPr/>
            </p:nvSpPr>
            <p:spPr>
              <a:xfrm>
                <a:off x="533400" y="1954530"/>
                <a:ext cx="6059805" cy="1100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eqArr>
                                <m:eqArrPr>
                                  <m:baseJc m:val="center"/>
                                </m:eqArr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&amp;</m:t>
                                  </m:r>
                                  <m:sSub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6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a:rPr lang="zh-CN" sz="16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,−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&amp;</m:t>
                                  </m:r>
                                  <m:sSub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6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a:rPr lang="zh-CN" sz="16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sSub>
                                        <m:e>
                                          <m:r>
                                            <a:rPr lang="zh-CN" sz="16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a:rPr lang="zh-CN" sz="16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&amp;</m:t>
                                  </m:r>
                                  <m:sSub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−,</m:t>
                                      </m:r>
                                      <m:sSub>
                                        <m:e>
                                          <m:r>
                                            <a:rPr lang="zh-CN" sz="16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a:rPr lang="zh-CN" sz="16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29" name="c1-table-2"/>
          <p:cNvGrpSpPr/>
          <p:nvPr/>
        </p:nvGrpSpPr>
        <p:grpSpPr>
          <a:xfrm>
            <a:off x="533400" y="3240405"/>
            <a:ext cx="6059805" cy="1720215"/>
            <a:chOff x="533400" y="3240405"/>
            <a:chExt cx="6059805" cy="1720215"/>
          </a:xfrm>
        </p:grpSpPr>
        <p:sp>
          <p:nvSpPr>
            <p:cNvPr id="10" name="Rectangle 10"/>
            <p:cNvSpPr/>
            <p:nvPr/>
          </p:nvSpPr>
          <p:spPr>
            <a:xfrm>
              <a:off x="533400" y="3240405"/>
              <a:ext cx="605980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0966" y="337089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最后一列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06980" y="337089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前面剩下的比对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73992" y="33708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8746" y="3801427"/>
              <a:ext cx="734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 对空格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72246" y="3801427"/>
              <a:ext cx="1336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a₁…aᵢ₋₁ 与 b₁…bⱼ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95406" y="3801427"/>
              <a:ext cx="9832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S(i−1, j) − 3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0957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4100512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4231958"/>
              <a:ext cx="648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 对 bⱼ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72246" y="4231958"/>
              <a:ext cx="1514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a₁…aᵢ₋₁ 与 b₁…bⱼ₋₁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5406" y="4231958"/>
              <a:ext cx="1863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S(i−1, j−1) + w(aᵢ, bⱼ)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5253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4661535"/>
              <a:ext cx="734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空格对 bⱼ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72246" y="4661535"/>
              <a:ext cx="1336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a₁…aᵢ 与 b₁…bⱼ₋₁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95406" y="4661535"/>
              <a:ext cx="9832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S(i, j−1) − 3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240405"/>
              <a:ext cx="605980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62138" y="3240405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285298" y="3240405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formula26"/>
              <p:cNvSpPr txBox="1">
                <a:spLocks noGrp="1"/>
              </p:cNvSpPr>
              <p:nvPr/>
            </p:nvSpPr>
            <p:spPr>
              <a:xfrm>
                <a:off x="533400" y="5146358"/>
                <a:ext cx="6059805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3i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3j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51" name="c2-graph-1"/>
          <p:cNvGrpSpPr/>
          <p:nvPr/>
        </p:nvGrpSpPr>
        <p:grpSpPr>
          <a:xfrm>
            <a:off x="7530465" y="2186940"/>
            <a:ext cx="3509011" cy="1660208"/>
            <a:chOff x="7530465" y="2186940"/>
            <a:chExt cx="3509011" cy="1660208"/>
          </a:xfrm>
        </p:grpSpPr>
        <p:sp>
          <p:nvSpPr>
            <p:cNvPr id="31" name="Freeform 31"/>
            <p:cNvSpPr/>
            <p:nvPr/>
          </p:nvSpPr>
          <p:spPr>
            <a:xfrm>
              <a:off x="8323898" y="2486978"/>
              <a:ext cx="1919288" cy="1015365"/>
            </a:xfrm>
            <a:custGeom>
              <a:avLst/>
              <a:gdLst/>
              <a:ahLst/>
              <a:cxnLst/>
              <a:rect l="l" t="t" r="r" b="b"/>
              <a:pathLst>
                <a:path w="1919288" h="1015365">
                  <a:moveTo>
                    <a:pt x="0" y="0"/>
                  </a:moveTo>
                  <a:lnTo>
                    <a:pt x="1919288" y="1015365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221278" y="3460432"/>
              <a:ext cx="106680" cy="86677"/>
            </a:xfrm>
            <a:custGeom>
              <a:avLst/>
              <a:gdLst/>
              <a:ahLst/>
              <a:cxnLst/>
              <a:rect l="l" t="t" r="r" b="b"/>
              <a:pathLst>
                <a:path w="106680" h="86677">
                  <a:moveTo>
                    <a:pt x="106680" y="86677"/>
                  </a:moveTo>
                  <a:lnTo>
                    <a:pt x="0" y="83820"/>
                  </a:lnTo>
                  <a:lnTo>
                    <a:pt x="44768" y="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0610850" y="2486978"/>
              <a:ext cx="9525" cy="964882"/>
            </a:xfrm>
            <a:custGeom>
              <a:avLst/>
              <a:gdLst/>
              <a:ahLst/>
              <a:cxnLst/>
              <a:rect l="l" t="t" r="r" b="b"/>
              <a:pathLst>
                <a:path w="9525" h="964882">
                  <a:moveTo>
                    <a:pt x="0" y="0"/>
                  </a:moveTo>
                  <a:lnTo>
                    <a:pt x="0" y="964882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563225" y="34518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8467725" y="3696652"/>
              <a:ext cx="1702118" cy="9525"/>
            </a:xfrm>
            <a:custGeom>
              <a:avLst/>
              <a:gdLst/>
              <a:ahLst/>
              <a:cxnLst/>
              <a:rect l="l" t="t" r="r" b="b"/>
              <a:pathLst>
                <a:path w="1702118" h="9525">
                  <a:moveTo>
                    <a:pt x="0" y="0"/>
                  </a:moveTo>
                  <a:lnTo>
                    <a:pt x="1702118" y="0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169842" y="36490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530465" y="2186940"/>
              <a:ext cx="1020128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183178" y="2186940"/>
              <a:ext cx="856298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612380" y="3547110"/>
              <a:ext cx="856298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265092" y="3547110"/>
              <a:ext cx="691515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06892" y="2267426"/>
              <a:ext cx="8663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S(i−1, j−1)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66405" y="2267426"/>
              <a:ext cx="68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S(i−1, j)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95607" y="3626644"/>
              <a:ext cx="68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S(i, j−1)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55120" y="3626644"/>
              <a:ext cx="511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S(i, j)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923972" y="2916555"/>
              <a:ext cx="802958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935412" y="2954655"/>
              <a:ext cx="7810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+w(aᵢ, bⱼ)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246042" y="2916555"/>
              <a:ext cx="729615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259206" y="2954655"/>
              <a:ext cx="7032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+w(aᵢ, −)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002078" y="3596640"/>
              <a:ext cx="729615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015241" y="3634740"/>
              <a:ext cx="7032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+w(−, bⱼ)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6898005" y="4265295"/>
            <a:ext cx="4760595" cy="756285"/>
            <a:chOff x="6898005" y="4265295"/>
            <a:chExt cx="4760595" cy="756285"/>
          </a:xfrm>
        </p:grpSpPr>
        <p:sp>
          <p:nvSpPr>
            <p:cNvPr id="52" name="Rectangle 52"/>
            <p:cNvSpPr/>
            <p:nvPr/>
          </p:nvSpPr>
          <p:spPr>
            <a:xfrm>
              <a:off x="6898005" y="4265295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102793" y="4543425"/>
              <a:ext cx="200026" cy="200026"/>
              <a:chOff x="7102793" y="4543425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102793" y="45434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202805" y="4610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191693" y="46434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7405116" y="4412456"/>
              <a:ext cx="378358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列表示 A 的前 i 个字符全对空格，得 −3i；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行同理。答案是右下角的 S(m, n)。</a:t>
              </a:r>
            </a:p>
          </p:txBody>
        </p:sp>
      </p:grpSp>
      <p:grpSp>
        <p:nvGrpSpPr>
          <p:cNvPr id="65" name="c2-callout-3"/>
          <p:cNvGrpSpPr/>
          <p:nvPr/>
        </p:nvGrpSpPr>
        <p:grpSpPr>
          <a:xfrm>
            <a:off x="6898005" y="5206365"/>
            <a:ext cx="4760595" cy="756285"/>
            <a:chOff x="6898005" y="5206365"/>
            <a:chExt cx="4760595" cy="756285"/>
          </a:xfrm>
        </p:grpSpPr>
        <p:sp>
          <p:nvSpPr>
            <p:cNvPr id="59" name="Rectangle 59"/>
            <p:cNvSpPr/>
            <p:nvPr/>
          </p:nvSpPr>
          <p:spPr>
            <a:xfrm>
              <a:off x="6898005" y="5206365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102793" y="5484495"/>
              <a:ext cx="200026" cy="200025"/>
              <a:chOff x="7102793" y="5484495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102793" y="54844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142531" y="55289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177247" y="56400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7405116" y="5353526"/>
              <a:ext cx="381965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LCS 是它的特例：匹配记 1 分、错配和空格都记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 分时，最优比对得分就等于 LCS 的长度。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90709" cy="909257"/>
            <a:chOff x="520446" y="342900"/>
            <a:chExt cx="66907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全局序列比对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907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填表：先写第 0 行和第 0 列，再逐格三选一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6" name="c1-table-1"/>
          <p:cNvGrpSpPr/>
          <p:nvPr/>
        </p:nvGrpSpPr>
        <p:grpSpPr>
          <a:xfrm>
            <a:off x="528066" y="1524000"/>
            <a:ext cx="5631752" cy="3931539"/>
            <a:chOff x="528066" y="1524000"/>
            <a:chExt cx="5631752" cy="393153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85657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07627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28645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91572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95457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99342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02275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06160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27267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48732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70702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91719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13184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17069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0954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23886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27771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−24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330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233553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1712" y="245983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85804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90195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12165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33182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54647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58532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2417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123886" y="24598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27771" y="24598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27365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1712" y="28655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85804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90195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312165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833182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150870" y="2750820"/>
              <a:ext cx="584835" cy="386715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354647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754755" y="2750820"/>
              <a:ext cx="584835" cy="386715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999995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03880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06812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769234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31422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314706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1712" y="32713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85804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790195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312165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791719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150870" y="3156585"/>
              <a:ext cx="584835" cy="386715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354647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754755" y="3156585"/>
              <a:ext cx="58483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999995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35480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1712" y="367712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44341" y="36771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39538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33400" y="395859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01712" y="408289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44341" y="40828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−15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33400" y="43595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01712" y="44886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44341" y="44886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−18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3400" y="47653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33400" y="477012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01712" y="489442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44341" y="489442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−21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33400" y="1524000"/>
              <a:ext cx="5626418" cy="3651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967740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1571625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2093595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2614612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3136582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3740468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4344352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4948238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5551170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28066" y="5250180"/>
              <a:ext cx="18228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课件第 31 页：算到 S(3, 5)</a:t>
              </a:r>
            </a:p>
          </p:txBody>
        </p:sp>
      </p:grpSp>
      <p:grpSp>
        <p:nvGrpSpPr>
          <p:cNvPr id="93" name="c1-callout-2"/>
          <p:cNvGrpSpPr/>
          <p:nvPr/>
        </p:nvGrpSpPr>
        <p:grpSpPr>
          <a:xfrm>
            <a:off x="533400" y="5589270"/>
            <a:ext cx="5626418" cy="729615"/>
            <a:chOff x="533400" y="5589270"/>
            <a:chExt cx="5626418" cy="729615"/>
          </a:xfrm>
        </p:grpSpPr>
        <p:sp>
          <p:nvSpPr>
            <p:cNvPr id="87" name="Rectangle 87"/>
            <p:cNvSpPr/>
            <p:nvPr/>
          </p:nvSpPr>
          <p:spPr>
            <a:xfrm>
              <a:off x="533400" y="5589270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738188" y="5854065"/>
              <a:ext cx="200026" cy="200026"/>
              <a:chOff x="738188" y="5854065"/>
              <a:chExt cx="200026" cy="200026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738188" y="58540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38200" y="59207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27088" y="59540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1040892" y="5735955"/>
              <a:ext cx="46428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行、第 0 列按 −3 递减。之后逐行从左到右填，填到哪一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格时它的左、上、左上三格都已算好。</a:t>
              </a:r>
            </a:p>
          </p:txBody>
        </p:sp>
      </p:grpSp>
      <p:grpSp>
        <p:nvGrpSpPr>
          <p:cNvPr id="115" name="c2-steps-1"/>
          <p:cNvGrpSpPr/>
          <p:nvPr/>
        </p:nvGrpSpPr>
        <p:grpSpPr>
          <a:xfrm>
            <a:off x="6464618" y="1533525"/>
            <a:ext cx="3363137" cy="2867502"/>
            <a:chOff x="6464618" y="1533525"/>
            <a:chExt cx="3363137" cy="2867502"/>
          </a:xfrm>
        </p:grpSpPr>
        <p:sp>
          <p:nvSpPr>
            <p:cNvPr id="94" name="Rectangle 94"/>
            <p:cNvSpPr/>
            <p:nvPr/>
          </p:nvSpPr>
          <p:spPr>
            <a:xfrm>
              <a:off x="6597968" y="1676400"/>
              <a:ext cx="19050" cy="23479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7" name="Ellipse 97"/>
            <p:cNvSpPr/>
            <p:nvPr/>
          </p:nvSpPr>
          <p:spPr>
            <a:xfrm>
              <a:off x="6464618" y="21202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558241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9" name="Ellipse 99"/>
            <p:cNvSpPr/>
            <p:nvPr/>
          </p:nvSpPr>
          <p:spPr>
            <a:xfrm>
              <a:off x="6464618" y="27070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558241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6464618" y="329469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558241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6464618" y="38814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558241" y="3955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876860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看字符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878002" y="1833086"/>
              <a:ext cx="25801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 = T，b₅ = T，相同，w(T, T) = +8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876860" y="2152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从上方来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878002" y="2419826"/>
              <a:ext cx="2147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S(2, 5) + w(T, −) = 7 − 3 = 4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6876860" y="27393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从左上来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878002" y="3006566"/>
              <a:ext cx="22433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S(2, 4) + w(T, T) = −3 + 8 = 5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6876860" y="332613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从左方来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6878002" y="3593306"/>
              <a:ext cx="23192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S(3, 4) + w(−, T) = −5 − 3 = −8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6876860" y="391287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取最大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6878002" y="4180999"/>
              <a:ext cx="2949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S(3, 5) = max(4, 5, −8) = 5，来自左上方</a:t>
              </a:r>
            </a:p>
          </p:txBody>
        </p:sp>
      </p:grpSp>
      <p:grpSp>
        <p:nvGrpSpPr>
          <p:cNvPr id="122" name="c2-callout-2"/>
          <p:cNvGrpSpPr/>
          <p:nvPr/>
        </p:nvGrpSpPr>
        <p:grpSpPr>
          <a:xfrm>
            <a:off x="6464618" y="4569142"/>
            <a:ext cx="5193982" cy="1749742"/>
            <a:chOff x="6464618" y="4569142"/>
            <a:chExt cx="5193982" cy="1749742"/>
          </a:xfrm>
        </p:grpSpPr>
        <p:sp>
          <p:nvSpPr>
            <p:cNvPr id="116" name="Rectangle 116"/>
            <p:cNvSpPr/>
            <p:nvPr/>
          </p:nvSpPr>
          <p:spPr>
            <a:xfrm>
              <a:off x="6464618" y="4569142"/>
              <a:ext cx="5193982" cy="1749742"/>
            </a:xfrm>
            <a:prstGeom prst="roundRect">
              <a:avLst>
                <a:gd name="adj" fmla="val 653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20" name="Group 120"/>
            <p:cNvGrpSpPr/>
            <p:nvPr/>
          </p:nvGrpSpPr>
          <p:grpSpPr>
            <a:xfrm>
              <a:off x="6669405" y="5344478"/>
              <a:ext cx="200026" cy="200025"/>
              <a:chOff x="6669405" y="5344478"/>
              <a:chExt cx="200026" cy="200025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6669405" y="53444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6709144" y="53889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9" name="Freeform 119"/>
              <p:cNvSpPr/>
              <p:nvPr/>
            </p:nvSpPr>
            <p:spPr>
              <a:xfrm>
                <a:off x="6743859" y="55000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1" name="TextBox 121"/>
            <p:cNvSpPr txBox="1"/>
            <p:nvPr/>
          </p:nvSpPr>
          <p:spPr>
            <a:xfrm>
              <a:off x="6972110" y="5225415"/>
              <a:ext cx="399992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填表时顺手记下每格取的是哪一个来源（像 LCS 的箭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头），回溯时就不必重算三个候选。</a:t>
              </a:r>
            </a:p>
          </p:txBody>
        </p:sp>
      </p:grpSp>
      <p:grpSp>
        <p:nvGrpSpPr>
          <p:cNvPr id="12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3" name="TextBox 12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17249" cy="909257"/>
            <a:chOff x="520446" y="342900"/>
            <a:chExt cx="97172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全局序列比对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172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完整得分表：最优得分 14，回溯得到 CTTAAC-T 对 CGGATCAT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9" name="c1-table-1"/>
          <p:cNvGrpSpPr/>
          <p:nvPr/>
        </p:nvGrpSpPr>
        <p:grpSpPr>
          <a:xfrm>
            <a:off x="533400" y="1524000"/>
            <a:ext cx="5951220" cy="3871912"/>
            <a:chOff x="533400" y="1524000"/>
            <a:chExt cx="5951220" cy="38719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3425" y="16554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46835" y="16554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59293" y="16554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71750" y="16554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85160" y="16554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97618" y="16554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10075" y="16554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22533" y="16554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79170" y="1964055"/>
              <a:ext cx="59340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2582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93862" y="20850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07272" y="20850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19730" y="20850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−9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763" y="208502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01173" y="208502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13630" y="208502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26088" y="208502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38545" y="208502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−24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37934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2384108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6140" y="251555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81405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592580" y="2393632"/>
              <a:ext cx="59340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83828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5169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6415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32187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45597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58055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26088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38545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280987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6140" y="294608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81405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83828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205038" y="2824162"/>
              <a:ext cx="59340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45169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06415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632187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9002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0247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1493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82970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323945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33400" y="3244215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6140" y="33756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81405" y="33756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−9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838287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451697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817495" y="3253740"/>
              <a:ext cx="59340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019730" y="33756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632187" y="33756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290022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655820" y="3253740"/>
              <a:ext cx="593408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902479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268278" y="3253740"/>
              <a:ext cx="593408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470512" y="33756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27394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366998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96140" y="380619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36980" y="380619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793862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407272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019730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3430905" y="3684270"/>
              <a:ext cx="59340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3676612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290022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902479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268278" y="3684270"/>
              <a:ext cx="593408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470512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881688" y="3684270"/>
              <a:ext cx="593408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127394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33400" y="41005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533400" y="4105275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96140" y="423576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36980" y="4235768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−15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793862" y="423576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2407272" y="423576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019730" y="423576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−8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3676612" y="42357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4043362" y="4114800"/>
              <a:ext cx="59340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4290022" y="42357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4858055" y="423576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514937" y="42357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127394" y="42357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533400" y="453009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96140" y="466629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36980" y="4666298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−18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793862" y="466629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−7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2407272" y="466629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−9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2975305" y="4666298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−11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3676612" y="466629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4245597" y="466629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4655820" y="4544378"/>
              <a:ext cx="59340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4902479" y="466629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5268278" y="4544378"/>
              <a:ext cx="59340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5514937" y="466629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127394" y="466629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533400" y="496062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533400" y="4965382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696140" y="509682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36980" y="5096828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−21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749438" y="5096828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−10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2362848" y="5096828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−12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2975305" y="5096828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−14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3632187" y="509682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4290022" y="509682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4902479" y="509682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5514937" y="509682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5881688" y="4974908"/>
              <a:ext cx="59340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6082970" y="509682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533400" y="1524000"/>
              <a:ext cx="5951220" cy="38709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964882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1578292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2190750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2803208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3416618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4029075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4641532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5253990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5867400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6" name="c1-callout-2"/>
          <p:cNvGrpSpPr/>
          <p:nvPr/>
        </p:nvGrpSpPr>
        <p:grpSpPr>
          <a:xfrm>
            <a:off x="533400" y="5580698"/>
            <a:ext cx="5951220" cy="756285"/>
            <a:chOff x="533400" y="5580698"/>
            <a:chExt cx="5951220" cy="756285"/>
          </a:xfrm>
        </p:grpSpPr>
        <p:sp>
          <p:nvSpPr>
            <p:cNvPr id="130" name="Rectangle 130"/>
            <p:cNvSpPr/>
            <p:nvPr/>
          </p:nvSpPr>
          <p:spPr>
            <a:xfrm>
              <a:off x="533400" y="5580698"/>
              <a:ext cx="595122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34" name="Group 134"/>
            <p:cNvGrpSpPr/>
            <p:nvPr/>
          </p:nvGrpSpPr>
          <p:grpSpPr>
            <a:xfrm>
              <a:off x="738188" y="5858828"/>
              <a:ext cx="200026" cy="200026"/>
              <a:chOff x="738188" y="5858828"/>
              <a:chExt cx="200026" cy="200026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738188" y="58588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2" name="Freeform 132"/>
              <p:cNvSpPr/>
              <p:nvPr/>
            </p:nvSpPr>
            <p:spPr>
              <a:xfrm>
                <a:off x="838200" y="59255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3" name="Freeform 133"/>
              <p:cNvSpPr/>
              <p:nvPr/>
            </p:nvSpPr>
            <p:spPr>
              <a:xfrm>
                <a:off x="827088" y="59588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35" name="TextBox 135"/>
            <p:cNvSpPr txBox="1"/>
            <p:nvPr/>
          </p:nvSpPr>
          <p:spPr>
            <a:xfrm>
              <a:off x="1040511" y="5727859"/>
              <a:ext cx="494677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绿色格是回溯路径，从 S(7, 8) = 14 按来源倒推到 S(0, 0)。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红色四格与原课件不同，见右侧更正。</a:t>
              </a:r>
            </a:p>
          </p:txBody>
        </p:sp>
      </p:grpSp>
      <p:grpSp>
        <p:nvGrpSpPr>
          <p:cNvPr id="140" name="c2-code-1"/>
          <p:cNvGrpSpPr/>
          <p:nvPr/>
        </p:nvGrpSpPr>
        <p:grpSpPr>
          <a:xfrm>
            <a:off x="6789420" y="1524000"/>
            <a:ext cx="4869180" cy="1110615"/>
            <a:chOff x="6789420" y="1524000"/>
            <a:chExt cx="4869180" cy="1110615"/>
          </a:xfrm>
        </p:grpSpPr>
        <p:sp>
          <p:nvSpPr>
            <p:cNvPr id="137" name="Rectangle 137"/>
            <p:cNvSpPr/>
            <p:nvPr/>
          </p:nvSpPr>
          <p:spPr>
            <a:xfrm>
              <a:off x="6789420" y="1524000"/>
              <a:ext cx="4869180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6917817" y="1675924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最优比对（唯一，脚本枚举确认）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6917055" y="1937861"/>
              <a:ext cx="2514854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A:  C  T  T  A  A  C  -  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B:  C  G  G  A  T  C  A  T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+8 -5 -5 +8 -5 +8 -3 +8  = 14</a:t>
              </a:r>
            </a:p>
          </p:txBody>
        </p:sp>
      </p:grpSp>
      <p:grpSp>
        <p:nvGrpSpPr>
          <p:cNvPr id="154" name="c2-card-2"/>
          <p:cNvGrpSpPr/>
          <p:nvPr/>
        </p:nvGrpSpPr>
        <p:grpSpPr>
          <a:xfrm>
            <a:off x="6789420" y="2820352"/>
            <a:ext cx="4869180" cy="2534602"/>
            <a:chOff x="6789420" y="2820352"/>
            <a:chExt cx="4869180" cy="2534602"/>
          </a:xfrm>
        </p:grpSpPr>
        <p:sp>
          <p:nvSpPr>
            <p:cNvPr id="141" name="Rectangle 141"/>
            <p:cNvSpPr/>
            <p:nvPr/>
          </p:nvSpPr>
          <p:spPr>
            <a:xfrm>
              <a:off x="6789420" y="2820352"/>
              <a:ext cx="4869180" cy="2534602"/>
            </a:xfrm>
            <a:prstGeom prst="roundRect">
              <a:avLst>
                <a:gd name="adj" fmla="val 5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6798945" y="2953702"/>
              <a:ext cx="47625" cy="22679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7031355" y="302418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7121563" y="30599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7632764" y="3063716"/>
              <a:ext cx="26792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32、33 页的四个格子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7024116" y="3415189"/>
              <a:ext cx="413524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S(3, 6) 写成 −1，应为 max(4 − 3, 7 − 5, 5 − 3) =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。由此连带：</a:t>
              </a:r>
            </a:p>
          </p:txBody>
        </p:sp>
        <p:sp>
          <p:nvSpPr>
            <p:cNvPr id="147" name="Ellipse 147"/>
            <p:cNvSpPr/>
            <p:nvPr/>
          </p:nvSpPr>
          <p:spPr>
            <a:xfrm>
              <a:off x="7038975" y="406717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7195566" y="4006691"/>
              <a:ext cx="22932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S(3, 7) 应为 −1（原 −4）</a:t>
              </a:r>
            </a:p>
          </p:txBody>
        </p:sp>
        <p:sp>
          <p:nvSpPr>
            <p:cNvPr id="149" name="Ellipse 149"/>
            <p:cNvSpPr/>
            <p:nvPr/>
          </p:nvSpPr>
          <p:spPr>
            <a:xfrm>
              <a:off x="7038975" y="438721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7195566" y="4326731"/>
              <a:ext cx="28380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S(4, 7) 应为 2 + 8 = 10（原 7）</a:t>
              </a:r>
            </a:p>
          </p:txBody>
        </p:sp>
        <p:sp>
          <p:nvSpPr>
            <p:cNvPr id="151" name="Ellipse 151"/>
            <p:cNvSpPr/>
            <p:nvPr/>
          </p:nvSpPr>
          <p:spPr>
            <a:xfrm>
              <a:off x="7038975" y="470725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7195566" y="4646771"/>
              <a:ext cx="28380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S(4, 8) 应为 10 − 3 = 7（原 6）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7025259" y="4963478"/>
              <a:ext cx="4163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四格都不在最优路径上，右下角 14 和回溯结果不受影响。</a:t>
              </a:r>
            </a:p>
          </p:txBody>
        </p:sp>
      </p:grpSp>
      <p:grpSp>
        <p:nvGrpSpPr>
          <p:cNvPr id="161" name="c2-callout-3"/>
          <p:cNvGrpSpPr/>
          <p:nvPr/>
        </p:nvGrpSpPr>
        <p:grpSpPr>
          <a:xfrm>
            <a:off x="6789420" y="5539740"/>
            <a:ext cx="4869180" cy="797242"/>
            <a:chOff x="6789420" y="5539740"/>
            <a:chExt cx="4869180" cy="797242"/>
          </a:xfrm>
        </p:grpSpPr>
        <p:sp>
          <p:nvSpPr>
            <p:cNvPr id="155" name="Rectangle 155"/>
            <p:cNvSpPr/>
            <p:nvPr/>
          </p:nvSpPr>
          <p:spPr>
            <a:xfrm>
              <a:off x="6789420" y="5539740"/>
              <a:ext cx="4869180" cy="797242"/>
            </a:xfrm>
            <a:prstGeom prst="roundRect">
              <a:avLst>
                <a:gd name="adj" fmla="val 1433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9" name="Group 159"/>
            <p:cNvGrpSpPr/>
            <p:nvPr/>
          </p:nvGrpSpPr>
          <p:grpSpPr>
            <a:xfrm>
              <a:off x="6994208" y="5838825"/>
              <a:ext cx="200026" cy="200025"/>
              <a:chOff x="6994208" y="5838825"/>
              <a:chExt cx="200026" cy="200025"/>
            </a:xfrm>
          </p:grpSpPr>
          <p:sp>
            <p:nvSpPr>
              <p:cNvPr id="156" name="Freeform 156"/>
              <p:cNvSpPr/>
              <p:nvPr/>
            </p:nvSpPr>
            <p:spPr>
              <a:xfrm>
                <a:off x="6994208" y="58388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7" name="Freeform 157"/>
              <p:cNvSpPr/>
              <p:nvPr/>
            </p:nvSpPr>
            <p:spPr>
              <a:xfrm>
                <a:off x="7033946" y="58832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8" name="Freeform 158"/>
              <p:cNvSpPr/>
              <p:nvPr/>
            </p:nvSpPr>
            <p:spPr>
              <a:xfrm>
                <a:off x="7068662" y="59944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0" name="TextBox 160"/>
            <p:cNvSpPr txBox="1"/>
            <p:nvPr/>
          </p:nvSpPr>
          <p:spPr>
            <a:xfrm>
              <a:off x="7296531" y="5707856"/>
              <a:ext cx="391883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回溯途中 (6, 7) 取的是左方来源：C 对 C 之后，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 的 A 对了一个空格。</a:t>
              </a:r>
            </a:p>
          </p:txBody>
        </p:sp>
      </p:grpSp>
      <p:grpSp>
        <p:nvGrpSpPr>
          <p:cNvPr id="1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62" name="TextBox 16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局部比对与空位罚分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改一处递推找相似片段，拆三张表处理成段的空格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全局比对与局部比对的区别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13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局部比对的递推里为什么多一个 0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仿射空位罚分：开空格窗口额外罚分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680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Gotoh 算法的 D、I、S 三张表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局部比对与空位罚分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局部比对：只找两条序列里最相似的一对片段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160145"/>
            <a:chOff x="533400" y="1524000"/>
            <a:chExt cx="5626418" cy="1160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24038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局部序列比对 local alignment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对两条给定序列，寻找它们之间得分最大的一对片段（连续的子串）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的比对。全局比对则要求两条序列从头到尾全部参与。</a:t>
              </a:r>
            </a:p>
          </p:txBody>
        </p:sp>
      </p:grpSp>
      <p:grpSp>
        <p:nvGrpSpPr>
          <p:cNvPr id="44" name="c1-table-2"/>
          <p:cNvGrpSpPr/>
          <p:nvPr/>
        </p:nvGrpSpPr>
        <p:grpSpPr>
          <a:xfrm>
            <a:off x="533400" y="2848928"/>
            <a:ext cx="5626418" cy="2287905"/>
            <a:chOff x="533400" y="2848928"/>
            <a:chExt cx="5626418" cy="2287905"/>
          </a:xfrm>
        </p:grpSpPr>
        <p:sp>
          <p:nvSpPr>
            <p:cNvPr id="14" name="Rectangle 14"/>
            <p:cNvSpPr/>
            <p:nvPr/>
          </p:nvSpPr>
          <p:spPr>
            <a:xfrm>
              <a:off x="533400" y="2848928"/>
              <a:ext cx="5626418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62038" y="29660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08516" y="296608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全局比对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46879" y="296608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局部比对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8078" y="3348038"/>
              <a:ext cx="1058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行和第 0 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78724" y="3348038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−3i 与 −3j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03738" y="3348038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全是 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6071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611880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37290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78724" y="372903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三个候选取最大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918585" y="3621405"/>
              <a:ext cx="223170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003738" y="3729038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三个候选与 0 一起取最大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9881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4110990"/>
              <a:ext cx="9488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S(i, j) 的含义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78724" y="4110990"/>
              <a:ext cx="1763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a₁…aᵢ 与 b₁…bⱼ 的最优比对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03738" y="4110990"/>
              <a:ext cx="1961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aᵢ、bⱼ 结尾的最优局部比对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3700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37483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44919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78724" y="4491990"/>
              <a:ext cx="1025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右下角 S(m, n)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918585" y="4384358"/>
              <a:ext cx="223170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003738" y="449199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全表的最大值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7510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48729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回溯终点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78724" y="4872990"/>
              <a:ext cx="9082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左上角 (0, 0)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03738" y="4872990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遇到的第一个 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2848928"/>
              <a:ext cx="5626418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879282" y="284892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904298" y="284892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callout-3"/>
          <p:cNvGrpSpPr/>
          <p:nvPr/>
        </p:nvGrpSpPr>
        <p:grpSpPr>
          <a:xfrm>
            <a:off x="533400" y="5302568"/>
            <a:ext cx="5626418" cy="702945"/>
            <a:chOff x="533400" y="5302568"/>
            <a:chExt cx="5626418" cy="702945"/>
          </a:xfrm>
        </p:grpSpPr>
        <p:sp>
          <p:nvSpPr>
            <p:cNvPr id="45" name="Rectangle 45"/>
            <p:cNvSpPr/>
            <p:nvPr/>
          </p:nvSpPr>
          <p:spPr>
            <a:xfrm>
              <a:off x="533400" y="5302568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553075"/>
              <a:ext cx="200026" cy="200026"/>
              <a:chOff x="738188" y="5553075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5530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04863" y="56308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1273" y="5446871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用途：两条长序列只共有一段相似的功能区时，全局比对被两端的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差异拖低，局部比对能单独找出这一段。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formula33"/>
              <p:cNvSpPr txBox="1">
                <a:spLocks noGrp="1"/>
              </p:cNvSpPr>
              <p:nvPr/>
            </p:nvSpPr>
            <p:spPr>
              <a:xfrm>
                <a:off x="6464618" y="1524000"/>
                <a:ext cx="5193982" cy="12125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eqArr>
                                <m:eqArrPr>
                                  <m:baseJc m:val="center"/>
                                </m:eqArr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&amp;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&amp;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,−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&amp;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−,</m:t>
                                      </m:r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&amp;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58" name="c2-callout-2"/>
          <p:cNvGrpSpPr/>
          <p:nvPr/>
        </p:nvGrpSpPr>
        <p:grpSpPr>
          <a:xfrm>
            <a:off x="6464618" y="2901315"/>
            <a:ext cx="5193982" cy="937260"/>
            <a:chOff x="6464618" y="2901315"/>
            <a:chExt cx="5193982" cy="937260"/>
          </a:xfrm>
        </p:grpSpPr>
        <p:sp>
          <p:nvSpPr>
            <p:cNvPr id="52" name="Rectangle 52"/>
            <p:cNvSpPr/>
            <p:nvPr/>
          </p:nvSpPr>
          <p:spPr>
            <a:xfrm>
              <a:off x="6464618" y="2901315"/>
              <a:ext cx="5193982" cy="937260"/>
            </a:xfrm>
            <a:prstGeom prst="roundRect">
              <a:avLst>
                <a:gd name="adj" fmla="val 121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669405" y="3269933"/>
              <a:ext cx="200026" cy="200025"/>
              <a:chOff x="6669405" y="3269933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669405" y="32699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09144" y="33143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743859" y="34255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972491" y="3046571"/>
              <a:ext cx="426389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这个 0 与最大和区间里的 max{S(i−1), 0} 是同一个想法：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前面比对的得分已经为负，就整个丢掉，从 aᵢ、bⱼ 重新开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始。</a:t>
              </a:r>
            </a:p>
          </p:txBody>
        </p:sp>
      </p:grpSp>
      <p:grpSp>
        <p:nvGrpSpPr>
          <p:cNvPr id="65" name="c2-card-3"/>
          <p:cNvGrpSpPr/>
          <p:nvPr/>
        </p:nvGrpSpPr>
        <p:grpSpPr>
          <a:xfrm>
            <a:off x="6464618" y="4003358"/>
            <a:ext cx="5193982" cy="2001202"/>
            <a:chOff x="6464618" y="4003358"/>
            <a:chExt cx="5193982" cy="2001202"/>
          </a:xfrm>
        </p:grpSpPr>
        <p:sp>
          <p:nvSpPr>
            <p:cNvPr id="59" name="Rectangle 59"/>
            <p:cNvSpPr/>
            <p:nvPr/>
          </p:nvSpPr>
          <p:spPr>
            <a:xfrm>
              <a:off x="6464618" y="4003358"/>
              <a:ext cx="5193982" cy="2001202"/>
            </a:xfrm>
            <a:prstGeom prst="roundRect">
              <a:avLst>
                <a:gd name="adj" fmla="val 6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74142" y="4136708"/>
              <a:ext cx="47625" cy="17345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683692" y="418433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76364" y="42171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50620" y="422386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片段是子串，不是子序列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77216" y="4541044"/>
              <a:ext cx="44833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34 页写“得分最大的子序列比对”。按第 17 页的定义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子序列可以不连续，局部比对取的却是连续片段，这里改称子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73890" cy="909257"/>
            <a:chOff x="520446" y="342900"/>
            <a:chExt cx="77738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局部比对与空位罚分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738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局部比对填表：最高分 18，对应 A-C-T 与 ATCAT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854677" cy="264033"/>
            <a:chOff x="526542" y="1545907"/>
            <a:chExt cx="785467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854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打分方案不变（Match 8，Mismatch −5，Gap symbol −3），序列仍是 CTTAACT 与 CGGATCAT。</a:t>
              </a:r>
            </a:p>
          </p:txBody>
        </p:sp>
      </p:grpSp>
      <p:grpSp>
        <p:nvGrpSpPr>
          <p:cNvPr id="124" name="c1-table-1"/>
          <p:cNvGrpSpPr/>
          <p:nvPr/>
        </p:nvGrpSpPr>
        <p:grpSpPr>
          <a:xfrm>
            <a:off x="533400" y="1928812"/>
            <a:ext cx="5951220" cy="3432810"/>
            <a:chOff x="533400" y="1928812"/>
            <a:chExt cx="5951220" cy="343281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95122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95593" y="20459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60426" y="20459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24306" y="20459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89138" y="20459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91118" y="20459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33103" y="20459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74136" y="20459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15168" y="20459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35967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99847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6467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2855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93392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95372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37357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7838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19422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268700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2691765"/>
              <a:ext cx="595122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6881" y="28089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35967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99847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6467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2855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93392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95372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37357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7838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19422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06800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6881" y="31899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35967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899847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46467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02855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93392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195372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837357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47838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80550" y="3189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344900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3453765"/>
              <a:ext cx="595122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6881" y="35718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35967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899847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464679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028559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593392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195372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37357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478389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80550" y="3571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383095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66881" y="39528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335967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899847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464679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2800350" y="3845242"/>
              <a:ext cx="54483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028559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593392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195372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837357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439518" y="3952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080550" y="3952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33400" y="421195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533400" y="4216718"/>
              <a:ext cx="595122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66881" y="43338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335967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899847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464679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028559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3364230" y="4226242"/>
              <a:ext cx="54483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3593392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3929062" y="4226242"/>
              <a:ext cx="62198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4195372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4837357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439518" y="4333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119422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33400" y="459390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66881" y="471582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335967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899847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2464679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3028559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3593392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195372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4570095" y="4608195"/>
              <a:ext cx="62198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4798485" y="47158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5211128" y="4608195"/>
              <a:ext cx="62198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439518" y="47158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119422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533400" y="497490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533400" y="4979670"/>
              <a:ext cx="595122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66881" y="509682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335967" y="5096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899847" y="5096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2464679" y="5096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3028559" y="5096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3593392" y="5096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4156500" y="50968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4798485" y="50968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5478389" y="5096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5853112" y="4989195"/>
              <a:ext cx="62198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080550" y="50968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533400" y="1928812"/>
              <a:ext cx="5951220" cy="3432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1092518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1657350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2221230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2786062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3349942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3914775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4555808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5196840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5838825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1" name="c1-callout-2"/>
          <p:cNvGrpSpPr/>
          <p:nvPr/>
        </p:nvGrpSpPr>
        <p:grpSpPr>
          <a:xfrm>
            <a:off x="533400" y="5525452"/>
            <a:ext cx="5951220" cy="702945"/>
            <a:chOff x="533400" y="5525452"/>
            <a:chExt cx="5951220" cy="702945"/>
          </a:xfrm>
        </p:grpSpPr>
        <p:sp>
          <p:nvSpPr>
            <p:cNvPr id="125" name="Rectangle 125"/>
            <p:cNvSpPr/>
            <p:nvPr/>
          </p:nvSpPr>
          <p:spPr>
            <a:xfrm>
              <a:off x="533400" y="5525452"/>
              <a:ext cx="595122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29" name="Group 129"/>
            <p:cNvGrpSpPr/>
            <p:nvPr/>
          </p:nvGrpSpPr>
          <p:grpSpPr>
            <a:xfrm>
              <a:off x="738188" y="5776913"/>
              <a:ext cx="200026" cy="200026"/>
              <a:chOff x="738188" y="5776913"/>
              <a:chExt cx="200026" cy="200026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738188" y="57769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7" name="Freeform 127"/>
              <p:cNvSpPr/>
              <p:nvPr/>
            </p:nvSpPr>
            <p:spPr>
              <a:xfrm>
                <a:off x="838200" y="58435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8" name="Freeform 128"/>
              <p:cNvSpPr/>
              <p:nvPr/>
            </p:nvSpPr>
            <p:spPr>
              <a:xfrm>
                <a:off x="827088" y="58769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30" name="TextBox 130"/>
            <p:cNvSpPr txBox="1"/>
            <p:nvPr/>
          </p:nvSpPr>
          <p:spPr>
            <a:xfrm>
              <a:off x="1041273" y="5670709"/>
              <a:ext cx="48247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本表与原课件第 37、38 页逐格一致。两个橙色格是回溯的起点 18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（全表最大值）和终点 S(4, 3) = 0，浅绿色格是中间经过的路径。</a:t>
              </a:r>
            </a:p>
          </p:txBody>
        </p:sp>
      </p:grpSp>
      <p:grpSp>
        <p:nvGrpSpPr>
          <p:cNvPr id="135" name="c2-code-1"/>
          <p:cNvGrpSpPr/>
          <p:nvPr/>
        </p:nvGrpSpPr>
        <p:grpSpPr>
          <a:xfrm>
            <a:off x="6789420" y="1928812"/>
            <a:ext cx="4869180" cy="1033462"/>
            <a:chOff x="6789420" y="1928812"/>
            <a:chExt cx="4869180" cy="1033462"/>
          </a:xfrm>
        </p:grpSpPr>
        <p:sp>
          <p:nvSpPr>
            <p:cNvPr id="132" name="Rectangle 132"/>
            <p:cNvSpPr/>
            <p:nvPr/>
          </p:nvSpPr>
          <p:spPr>
            <a:xfrm>
              <a:off x="6789420" y="1928812"/>
              <a:ext cx="4869180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6917817" y="20807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最优局部比对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6917817" y="2340769"/>
              <a:ext cx="1584325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A:  A  -  C  -  T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B:  A  T  C  A  T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+8 -3 +8 -3 +8  = 18</a:t>
              </a:r>
            </a:p>
          </p:txBody>
        </p:sp>
      </p:grpSp>
      <p:grpSp>
        <p:nvGrpSpPr>
          <p:cNvPr id="149" name="c2-steps-2"/>
          <p:cNvGrpSpPr/>
          <p:nvPr/>
        </p:nvGrpSpPr>
        <p:grpSpPr>
          <a:xfrm>
            <a:off x="6789420" y="3136582"/>
            <a:ext cx="4471607" cy="1790319"/>
            <a:chOff x="6789420" y="3136582"/>
            <a:chExt cx="4471607" cy="1790319"/>
          </a:xfrm>
        </p:grpSpPr>
        <p:sp>
          <p:nvSpPr>
            <p:cNvPr id="136" name="Rectangle 136"/>
            <p:cNvSpPr/>
            <p:nvPr/>
          </p:nvSpPr>
          <p:spPr>
            <a:xfrm>
              <a:off x="6922770" y="3279458"/>
              <a:ext cx="19050" cy="12992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7" name="Ellipse 137"/>
            <p:cNvSpPr/>
            <p:nvPr/>
          </p:nvSpPr>
          <p:spPr>
            <a:xfrm>
              <a:off x="6789420" y="31365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6883044" y="32104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9" name="Ellipse 139"/>
            <p:cNvSpPr/>
            <p:nvPr/>
          </p:nvSpPr>
          <p:spPr>
            <a:xfrm>
              <a:off x="6789420" y="36899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6883044" y="37638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1" name="Ellipse 141"/>
            <p:cNvSpPr/>
            <p:nvPr/>
          </p:nvSpPr>
          <p:spPr>
            <a:xfrm>
              <a:off x="6789420" y="443579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6883044" y="45096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7202043" y="31675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找最大值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7203186" y="3421380"/>
              <a:ext cx="1996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扫描全表，最大值 18 在 (7, 8)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7202043" y="37199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按来源倒推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7203186" y="3974782"/>
              <a:ext cx="4057841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(7,8) ← (6,7) ← (6,6) ← (5,5) ← (5,4)，每步都按递推里取到最大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的那一项走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7202043" y="4466749"/>
              <a:ext cx="7379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 0 停止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7203186" y="4721542"/>
              <a:ext cx="40122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S(4, 3) = 0 停下：A 取 a₅…a₇ = ACT，B 取 b₄…b₈ = ATCAT</a:t>
              </a:r>
            </a:p>
          </p:txBody>
        </p:sp>
      </p:grpSp>
      <p:grpSp>
        <p:nvGrpSpPr>
          <p:cNvPr id="156" name="c2-callout-3"/>
          <p:cNvGrpSpPr/>
          <p:nvPr/>
        </p:nvGrpSpPr>
        <p:grpSpPr>
          <a:xfrm>
            <a:off x="6789420" y="5088255"/>
            <a:ext cx="4869180" cy="1140142"/>
            <a:chOff x="6789420" y="5088255"/>
            <a:chExt cx="4869180" cy="1140142"/>
          </a:xfrm>
        </p:grpSpPr>
        <p:sp>
          <p:nvSpPr>
            <p:cNvPr id="150" name="Rectangle 150"/>
            <p:cNvSpPr/>
            <p:nvPr/>
          </p:nvSpPr>
          <p:spPr>
            <a:xfrm>
              <a:off x="6789420" y="5088255"/>
              <a:ext cx="4869180" cy="1140142"/>
            </a:xfrm>
            <a:prstGeom prst="roundRect">
              <a:avLst>
                <a:gd name="adj" fmla="val 100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54" name="Group 154"/>
            <p:cNvGrpSpPr/>
            <p:nvPr/>
          </p:nvGrpSpPr>
          <p:grpSpPr>
            <a:xfrm>
              <a:off x="6982149" y="5554146"/>
              <a:ext cx="224134" cy="192560"/>
              <a:chOff x="6982149" y="5554146"/>
              <a:chExt cx="224134" cy="192560"/>
            </a:xfrm>
          </p:grpSpPr>
          <p:sp>
            <p:nvSpPr>
              <p:cNvPr id="151" name="Freeform 151"/>
              <p:cNvSpPr/>
              <p:nvPr/>
            </p:nvSpPr>
            <p:spPr>
              <a:xfrm>
                <a:off x="7094220" y="56245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2" name="Freeform 152"/>
              <p:cNvSpPr/>
              <p:nvPr/>
            </p:nvSpPr>
            <p:spPr>
              <a:xfrm>
                <a:off x="6982149" y="55541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3" name="Freeform 153"/>
              <p:cNvSpPr/>
              <p:nvPr/>
            </p:nvSpPr>
            <p:spPr>
              <a:xfrm>
                <a:off x="7094220" y="57023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55" name="TextBox 155"/>
            <p:cNvSpPr txBox="1"/>
            <p:nvPr/>
          </p:nvSpPr>
          <p:spPr>
            <a:xfrm>
              <a:off x="7297293" y="5451634"/>
              <a:ext cx="39875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本例最大值恰好在右下角，一般情况下它可以出现在表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中任何位置（课件原话 not always at the corner）。</a:t>
              </a:r>
            </a:p>
          </p:txBody>
        </p:sp>
      </p:grpSp>
      <p:grpSp>
        <p:nvGrpSpPr>
          <p:cNvPr id="1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7" name="TextBox 15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局部比对与空位罚分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仿射空位罚分：每开一段空格，额外罚一次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800184" cy="308039"/>
            <a:chOff x="525399" y="1550194"/>
            <a:chExt cx="980018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8001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带开窗口罚分的序列比对：除了每个空格的罚分，还对每开一个空格窗口（连续的一段空格）另外罚分。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35"/>
              <p:cNvSpPr txBox="1">
                <a:spLocks noGrp="1"/>
              </p:cNvSpPr>
              <p:nvPr/>
            </p:nvSpPr>
            <p:spPr>
              <a:xfrm>
                <a:off x="533400" y="1967865"/>
                <a:ext cx="5193982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1" name="c1-kv-2"/>
          <p:cNvGrpSpPr/>
          <p:nvPr/>
        </p:nvGrpSpPr>
        <p:grpSpPr>
          <a:xfrm>
            <a:off x="525780" y="2640330"/>
            <a:ext cx="5201602" cy="1613535"/>
            <a:chOff x="525780" y="2640330"/>
            <a:chExt cx="5201602" cy="1613535"/>
          </a:xfrm>
        </p:grpSpPr>
        <p:sp>
          <p:nvSpPr>
            <p:cNvPr id="10" name="TextBox 10"/>
            <p:cNvSpPr txBox="1"/>
            <p:nvPr/>
          </p:nvSpPr>
          <p:spPr>
            <a:xfrm>
              <a:off x="525780" y="264033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65935" y="26403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空格段的长度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9603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3080385"/>
              <a:ext cx="492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x = 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65935" y="3080385"/>
              <a:ext cx="33369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gap-open penalty，每开一段罚 4 分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40042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520440"/>
              <a:ext cx="492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y = 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65935" y="3520440"/>
              <a:ext cx="39528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gap-symbol penalty，段内每个空格罚 3 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8404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396049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匹配与错配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65935" y="396049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仍记 +8 与 −5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4385310"/>
            <a:ext cx="5193982" cy="1633538"/>
            <a:chOff x="533400" y="4385310"/>
            <a:chExt cx="5193982" cy="1633538"/>
          </a:xfrm>
        </p:grpSpPr>
        <p:sp>
          <p:nvSpPr>
            <p:cNvPr id="22" name="Rectangle 22"/>
            <p:cNvSpPr/>
            <p:nvPr/>
          </p:nvSpPr>
          <p:spPr>
            <a:xfrm>
              <a:off x="533400" y="4385310"/>
              <a:ext cx="5193982" cy="1633538"/>
            </a:xfrm>
            <a:prstGeom prst="roundRect">
              <a:avLst>
                <a:gd name="adj" fmla="val 699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101590"/>
              <a:ext cx="200026" cy="200026"/>
              <a:chOff x="738188" y="5101590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1015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51682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7088" y="52016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4682490"/>
              <a:ext cx="423481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生物序列里一段连续的空格常常来自一次插入或删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除事件，所以一段长度为 3 的空格应该比三个分散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的空格罚得轻。线性罚分 −3k 区分不了这两种情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况，仿射罚分可以。</a:t>
              </a:r>
            </a:p>
          </p:txBody>
        </p:sp>
      </p:grpSp>
      <p:grpSp>
        <p:nvGrpSpPr>
          <p:cNvPr id="32" name="c2-code-1"/>
          <p:cNvGrpSpPr/>
          <p:nvPr/>
        </p:nvGrpSpPr>
        <p:grpSpPr>
          <a:xfrm>
            <a:off x="6032182" y="1967865"/>
            <a:ext cx="5626418" cy="1313498"/>
            <a:chOff x="6032182" y="1967865"/>
            <a:chExt cx="5626418" cy="1313498"/>
          </a:xfrm>
        </p:grpSpPr>
        <p:sp>
          <p:nvSpPr>
            <p:cNvPr id="29" name="Rectangle 29"/>
            <p:cNvSpPr/>
            <p:nvPr/>
          </p:nvSpPr>
          <p:spPr>
            <a:xfrm>
              <a:off x="6032182" y="1967865"/>
              <a:ext cx="5626418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60580" y="2119789"/>
              <a:ext cx="11688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课件第 39 页的例子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59817" y="2381726"/>
              <a:ext cx="2749550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  -  -  -  T  T  A  A  C  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  G  G  A  T  C  A  -  -  T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+8 -3 -3 -3 +8 -5 +8 -3 -3 +8 = +12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两段空格各罚 4：12 - 4 - 4 = 4</a:t>
              </a:r>
            </a:p>
          </p:txBody>
        </p:sp>
      </p:grpSp>
      <p:grpSp>
        <p:nvGrpSpPr>
          <p:cNvPr id="53" name="c2-table-2"/>
          <p:cNvGrpSpPr/>
          <p:nvPr/>
        </p:nvGrpSpPr>
        <p:grpSpPr>
          <a:xfrm>
            <a:off x="6032182" y="3471862"/>
            <a:ext cx="5626418" cy="1573530"/>
            <a:chOff x="6032182" y="3471862"/>
            <a:chExt cx="5626418" cy="1573530"/>
          </a:xfrm>
        </p:grpSpPr>
        <p:sp>
          <p:nvSpPr>
            <p:cNvPr id="33" name="Rectangle 33"/>
            <p:cNvSpPr/>
            <p:nvPr/>
          </p:nvSpPr>
          <p:spPr>
            <a:xfrm>
              <a:off x="6032182" y="3471862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78294" y="36066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37613" y="36066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空格段数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07271" y="36066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线性罚分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688371" y="36066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仿射罚分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40006" y="4055269"/>
              <a:ext cx="1096823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C---TTAACT /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CGGATCA--T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90763" y="416861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03270" y="416861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28173" y="416861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32182" y="45910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32182" y="459581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40006" y="4731544"/>
              <a:ext cx="19151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CTTAAC-T / CGGATCAT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90763" y="473154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03270" y="473154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429875" y="4605338"/>
              <a:ext cx="121920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528173" y="473154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3471862"/>
              <a:ext cx="5626418" cy="1573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278178" y="3471862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290685" y="3471862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415588" y="3471862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allout-3"/>
          <p:cNvGrpSpPr/>
          <p:nvPr/>
        </p:nvGrpSpPr>
        <p:grpSpPr>
          <a:xfrm>
            <a:off x="6032182" y="5234940"/>
            <a:ext cx="5626418" cy="782955"/>
            <a:chOff x="6032182" y="5234940"/>
            <a:chExt cx="5626418" cy="782955"/>
          </a:xfrm>
        </p:grpSpPr>
        <p:sp>
          <p:nvSpPr>
            <p:cNvPr id="54" name="Rectangle 54"/>
            <p:cNvSpPr/>
            <p:nvPr/>
          </p:nvSpPr>
          <p:spPr>
            <a:xfrm>
              <a:off x="6032182" y="523494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236970" y="5526405"/>
              <a:ext cx="200026" cy="200026"/>
              <a:chOff x="6236970" y="5526405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236970" y="55264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303645" y="560419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538912" y="5383530"/>
              <a:ext cx="4720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脚本枚举全部 108545 种比对：x = 4、y = 3 时最高分是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</a:t>
              </a: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，最优比对仍是 CTTAAC-T 对 CGGATCAT。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86926" cy="909257"/>
            <a:chOff x="520446" y="342900"/>
            <a:chExt cx="62869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局部比对与空位罚分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869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Gotoh 算法：按最后一列的类型分三张表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542" y="1545907"/>
            <a:ext cx="5849493" cy="1303211"/>
            <a:chOff x="526542" y="1545907"/>
            <a:chExt cx="5849493" cy="1303211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1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D(i, j)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55217" y="1545907"/>
              <a:ext cx="460857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a₁…aᵢ 与 b₁…bⱼ 的比对中，以删除（aᵢ 对空格）结尾的最高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得分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0859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542" y="2192655"/>
              <a:ext cx="567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I(i, j)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5217" y="2192655"/>
              <a:ext cx="3539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同上，以插入（空格对 bⱼ）结尾的最高得分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784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542" y="2585085"/>
              <a:ext cx="61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S(i, j)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55217" y="2585085"/>
              <a:ext cx="2994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a₁…aᵢ 与 b₁…bⱼ 任意比对的最高得分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51"/>
              <p:cNvSpPr txBox="1">
                <a:spLocks noGrp="1"/>
              </p:cNvSpPr>
              <p:nvPr/>
            </p:nvSpPr>
            <p:spPr>
              <a:xfrm>
                <a:off x="533400" y="2966085"/>
                <a:ext cx="5842635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formula52"/>
              <p:cNvSpPr txBox="1">
                <a:spLocks noGrp="1"/>
              </p:cNvSpPr>
              <p:nvPr/>
            </p:nvSpPr>
            <p:spPr>
              <a:xfrm>
                <a:off x="533400" y="3478530"/>
                <a:ext cx="5842635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53"/>
              <p:cNvSpPr txBox="1">
                <a:spLocks noGrp="1"/>
              </p:cNvSpPr>
              <p:nvPr/>
            </p:nvSpPr>
            <p:spPr>
              <a:xfrm>
                <a:off x="533400" y="3990975"/>
                <a:ext cx="5842635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39" name="c1-table-5"/>
          <p:cNvGrpSpPr/>
          <p:nvPr/>
        </p:nvGrpSpPr>
        <p:grpSpPr>
          <a:xfrm>
            <a:off x="528447" y="4504372"/>
            <a:ext cx="5847588" cy="1863757"/>
            <a:chOff x="528447" y="4504372"/>
            <a:chExt cx="5847588" cy="1863757"/>
          </a:xfrm>
        </p:grpSpPr>
        <p:sp>
          <p:nvSpPr>
            <p:cNvPr id="19" name="Rectangle 19"/>
            <p:cNvSpPr/>
            <p:nvPr/>
          </p:nvSpPr>
          <p:spPr>
            <a:xfrm>
              <a:off x="533400" y="4504372"/>
              <a:ext cx="584263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45628" y="46258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39871" y="46258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最后一列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43246" y="46258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0555" y="5025866"/>
              <a:ext cx="2071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一对字符对齐 an aligned pair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67990" y="5025866"/>
              <a:ext cx="5843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 对 bⱼ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20590" y="5025866"/>
              <a:ext cx="900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的对角来源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2997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5304472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5425916"/>
              <a:ext cx="1112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 a deletion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67990" y="542591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 对空格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20590" y="5425916"/>
              <a:ext cx="4876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D(i, j)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69976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0555" y="5825966"/>
              <a:ext cx="12866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 an insertion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67990" y="582596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空格对 bⱼ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20590" y="5825966"/>
              <a:ext cx="4492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I(i, j)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504372"/>
              <a:ext cx="584263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866072" y="450437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618672" y="450437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8447" y="6177439"/>
              <a:ext cx="36553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比对结尾的三种情况（Three cases for alignment endings）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680835" y="1524000"/>
            <a:ext cx="4977765" cy="2060258"/>
            <a:chOff x="6680835" y="1524000"/>
            <a:chExt cx="4977765" cy="2060258"/>
          </a:xfrm>
        </p:grpSpPr>
        <p:sp>
          <p:nvSpPr>
            <p:cNvPr id="40" name="Rectangle 40"/>
            <p:cNvSpPr/>
            <p:nvPr/>
          </p:nvSpPr>
          <p:spPr>
            <a:xfrm>
              <a:off x="6680835" y="1524000"/>
              <a:ext cx="4977765" cy="2060258"/>
            </a:xfrm>
            <a:prstGeom prst="roundRect">
              <a:avLst>
                <a:gd name="adj" fmla="val 6472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67525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48996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为什么分表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07452" y="174593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开段费收不收，取决于前一列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60667" y="2071688"/>
              <a:ext cx="434282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一列空格要不要收开段费 x，取决于它前一列是不是同方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向的空格。只记一个 S(i, j) 无从得知，所以把“以什么结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尾”拆开记。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876098" y="294227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32117" y="2886075"/>
              <a:ext cx="4345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D(i−1, j) − y：前一列也是删除，空格段延长，只收 y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876098" y="324231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32117" y="3186112"/>
              <a:ext cx="35096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S(i−1, j) − x − y：新开一段删除，收 x + y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680835" y="3753802"/>
            <a:ext cx="4977765" cy="2575560"/>
            <a:chOff x="6680835" y="3753802"/>
            <a:chExt cx="4977765" cy="2575560"/>
          </a:xfrm>
        </p:grpSpPr>
        <p:sp>
          <p:nvSpPr>
            <p:cNvPr id="50" name="Rectangle 50"/>
            <p:cNvSpPr/>
            <p:nvPr/>
          </p:nvSpPr>
          <p:spPr>
            <a:xfrm>
              <a:off x="6680835" y="3753802"/>
              <a:ext cx="4977765" cy="2575560"/>
            </a:xfrm>
            <a:prstGeom prst="roundRect">
              <a:avLst>
                <a:gd name="adj" fmla="val 51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90360" y="3887152"/>
              <a:ext cx="47625" cy="23088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905625" y="394049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98297" y="39733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72172" y="397573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初始化（原课件未给出）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98767" y="4301490"/>
              <a:ext cx="40170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S(0, 0) = 0；D(i, 0) = S(i, 0) = −x − iy；I(0, j)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S(0, j) = −x − jy；第 0 行的 D 和第 0 列的 I 取 −∞。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98767" y="4858702"/>
              <a:ext cx="43771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例：D(2, 1) = max(D(1, 1) − 3, S(1, 1) − 7)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max(−17, 1) = 1，对应 CT 对 C-：C/C 得 8，T 对空格新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开一段罚 7。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99910" y="5669756"/>
              <a:ext cx="29538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时间与空间仍是 O(mn)，只是要填三张表。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05280" cy="909257"/>
            <a:chOff x="520446" y="342900"/>
            <a:chExt cx="680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局部比对与空位罚分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0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Gotoh 实算：x = 4、y = 3 时最优得分为 10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graph-1"/>
          <p:cNvGrpSpPr/>
          <p:nvPr/>
        </p:nvGrpSpPr>
        <p:grpSpPr>
          <a:xfrm>
            <a:off x="958215" y="1644968"/>
            <a:ext cx="4337685" cy="2271712"/>
            <a:chOff x="958215" y="1644968"/>
            <a:chExt cx="4337685" cy="2271712"/>
          </a:xfrm>
        </p:grpSpPr>
        <p:sp>
          <p:nvSpPr>
            <p:cNvPr id="7" name="Freeform 7"/>
            <p:cNvSpPr/>
            <p:nvPr/>
          </p:nvSpPr>
          <p:spPr>
            <a:xfrm>
              <a:off x="1754505" y="1905000"/>
              <a:ext cx="2665095" cy="1700212"/>
            </a:xfrm>
            <a:custGeom>
              <a:avLst/>
              <a:gdLst/>
              <a:ahLst/>
              <a:cxnLst/>
              <a:rect l="l" t="t" r="r" b="b"/>
              <a:pathLst>
                <a:path w="2665095" h="1700212">
                  <a:moveTo>
                    <a:pt x="0" y="0"/>
                  </a:moveTo>
                  <a:lnTo>
                    <a:pt x="2665095" y="1700212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393882" y="3565208"/>
              <a:ext cx="105727" cy="91440"/>
            </a:xfrm>
            <a:custGeom>
              <a:avLst/>
              <a:gdLst/>
              <a:ahLst/>
              <a:cxnLst/>
              <a:rect l="l" t="t" r="r" b="b"/>
              <a:pathLst>
                <a:path w="105727" h="91440">
                  <a:moveTo>
                    <a:pt x="105727" y="91440"/>
                  </a:moveTo>
                  <a:lnTo>
                    <a:pt x="0" y="80010"/>
                  </a:lnTo>
                  <a:lnTo>
                    <a:pt x="51435" y="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512820" y="1905000"/>
              <a:ext cx="584835" cy="578167"/>
            </a:xfrm>
            <a:custGeom>
              <a:avLst/>
              <a:gdLst/>
              <a:ahLst/>
              <a:cxnLst/>
              <a:rect l="l" t="t" r="r" b="b"/>
              <a:pathLst>
                <a:path w="584835" h="578167">
                  <a:moveTo>
                    <a:pt x="0" y="0"/>
                  </a:moveTo>
                  <a:lnTo>
                    <a:pt x="584835" y="578167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064318" y="2449830"/>
              <a:ext cx="100965" cy="100012"/>
            </a:xfrm>
            <a:custGeom>
              <a:avLst/>
              <a:gdLst/>
              <a:ahLst/>
              <a:cxnLst/>
              <a:rect l="l" t="t" r="r" b="b"/>
              <a:pathLst>
                <a:path w="100965" h="100012">
                  <a:moveTo>
                    <a:pt x="100965" y="100012"/>
                  </a:moveTo>
                  <a:lnTo>
                    <a:pt x="0" y="67628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437698" y="1905000"/>
              <a:ext cx="381953" cy="566738"/>
            </a:xfrm>
            <a:custGeom>
              <a:avLst/>
              <a:gdLst/>
              <a:ahLst/>
              <a:cxnLst/>
              <a:rect l="l" t="t" r="r" b="b"/>
              <a:pathLst>
                <a:path w="381953" h="566738">
                  <a:moveTo>
                    <a:pt x="381953" y="0"/>
                  </a:moveTo>
                  <a:lnTo>
                    <a:pt x="0" y="566738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384358" y="2445068"/>
              <a:ext cx="92392" cy="104775"/>
            </a:xfrm>
            <a:custGeom>
              <a:avLst/>
              <a:gdLst/>
              <a:ahLst/>
              <a:cxnLst/>
              <a:rect l="l" t="t" r="r" b="b"/>
              <a:pathLst>
                <a:path w="92392" h="104775">
                  <a:moveTo>
                    <a:pt x="0" y="104775"/>
                  </a:moveTo>
                  <a:lnTo>
                    <a:pt x="14288" y="0"/>
                  </a:lnTo>
                  <a:lnTo>
                    <a:pt x="92392" y="52388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719262" y="3124200"/>
              <a:ext cx="862012" cy="213360"/>
            </a:xfrm>
            <a:custGeom>
              <a:avLst/>
              <a:gdLst/>
              <a:ahLst/>
              <a:cxnLst/>
              <a:rect l="l" t="t" r="r" b="b"/>
              <a:pathLst>
                <a:path w="862012" h="213360">
                  <a:moveTo>
                    <a:pt x="0" y="0"/>
                  </a:moveTo>
                  <a:lnTo>
                    <a:pt x="862012" y="21336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569845" y="3290888"/>
              <a:ext cx="103822" cy="92392"/>
            </a:xfrm>
            <a:custGeom>
              <a:avLst/>
              <a:gdLst/>
              <a:ahLst/>
              <a:cxnLst/>
              <a:rect l="l" t="t" r="r" b="b"/>
              <a:pathLst>
                <a:path w="103822" h="92392">
                  <a:moveTo>
                    <a:pt x="103822" y="69533"/>
                  </a:moveTo>
                  <a:lnTo>
                    <a:pt x="0" y="92392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735455" y="3519488"/>
              <a:ext cx="845820" cy="182880"/>
            </a:xfrm>
            <a:custGeom>
              <a:avLst/>
              <a:gdLst/>
              <a:ahLst/>
              <a:cxnLst/>
              <a:rect l="l" t="t" r="r" b="b"/>
              <a:pathLst>
                <a:path w="845820" h="182880">
                  <a:moveTo>
                    <a:pt x="0" y="182880"/>
                  </a:moveTo>
                  <a:lnTo>
                    <a:pt x="84582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570798" y="3472815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6670"/>
                  </a:moveTo>
                  <a:lnTo>
                    <a:pt x="20003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344352" y="2809875"/>
              <a:ext cx="278130" cy="757238"/>
            </a:xfrm>
            <a:custGeom>
              <a:avLst/>
              <a:gdLst/>
              <a:ahLst/>
              <a:cxnLst/>
              <a:rect l="l" t="t" r="r" b="b"/>
              <a:pathLst>
                <a:path w="278130" h="757238">
                  <a:moveTo>
                    <a:pt x="0" y="0"/>
                  </a:moveTo>
                  <a:lnTo>
                    <a:pt x="278130" y="757238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4577715" y="3549968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78105" y="106680"/>
                  </a:moveTo>
                  <a:lnTo>
                    <a:pt x="0" y="33338"/>
                  </a:lnTo>
                  <a:lnTo>
                    <a:pt x="8953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274695" y="3495675"/>
              <a:ext cx="1018222" cy="206692"/>
            </a:xfrm>
            <a:custGeom>
              <a:avLst/>
              <a:gdLst/>
              <a:ahLst/>
              <a:cxnLst/>
              <a:rect l="l" t="t" r="r" b="b"/>
              <a:pathLst>
                <a:path w="1018222" h="206692">
                  <a:moveTo>
                    <a:pt x="0" y="0"/>
                  </a:moveTo>
                  <a:lnTo>
                    <a:pt x="1018222" y="206692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4284345" y="3655695"/>
              <a:ext cx="101917" cy="93345"/>
            </a:xfrm>
            <a:custGeom>
              <a:avLst/>
              <a:gdLst/>
              <a:ahLst/>
              <a:cxnLst/>
              <a:rect l="l" t="t" r="r" b="b"/>
              <a:pathLst>
                <a:path w="101917" h="93345">
                  <a:moveTo>
                    <a:pt x="101917" y="65722"/>
                  </a:moveTo>
                  <a:lnTo>
                    <a:pt x="0" y="93345"/>
                  </a:lnTo>
                  <a:lnTo>
                    <a:pt x="18097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089660" y="1644968"/>
              <a:ext cx="921068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992755" y="1644968"/>
              <a:ext cx="77724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518660" y="1644968"/>
              <a:ext cx="77724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979545" y="2549842"/>
              <a:ext cx="633412" cy="260032"/>
            </a:xfrm>
            <a:prstGeom prst="roundRect">
              <a:avLst>
                <a:gd name="adj" fmla="val 36630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974408" y="2902268"/>
              <a:ext cx="744855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58215" y="3656648"/>
              <a:ext cx="77724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673668" y="3304222"/>
              <a:ext cx="601028" cy="260032"/>
            </a:xfrm>
            <a:prstGeom prst="roundRect">
              <a:avLst>
                <a:gd name="adj" fmla="val 36630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386262" y="3656648"/>
              <a:ext cx="633412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71702" y="1714976"/>
              <a:ext cx="7579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S(i−1, j−1)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80033" y="1714976"/>
              <a:ext cx="6026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D(i−1, j)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05938" y="1714976"/>
              <a:ext cx="6026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S(i−1, j)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73011" y="2619851"/>
              <a:ext cx="44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D(i, j)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63135" y="2971324"/>
              <a:ext cx="5674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I(i, j−1)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5493" y="3725704"/>
              <a:ext cx="6026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S(i, j−1)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68583" y="3373279"/>
              <a:ext cx="4121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I(i, j)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79729" y="3725704"/>
              <a:ext cx="44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S(i, j)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749868" y="2687955"/>
              <a:ext cx="75438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762602" y="2722721"/>
              <a:ext cx="7289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+w(aᵢ, bⱼ)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732848" y="2134552"/>
              <a:ext cx="2133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761062" y="216931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−y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427220" y="2134552"/>
              <a:ext cx="34956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51454" y="2169319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−x−y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089785" y="3148965"/>
              <a:ext cx="2133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118952" y="318373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−y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029778" y="3508058"/>
              <a:ext cx="34956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054964" y="3542824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−x−y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347210" y="3140392"/>
              <a:ext cx="30670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373576" y="3175159"/>
              <a:ext cx="2539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max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677602" y="3515678"/>
              <a:ext cx="30670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703969" y="3550444"/>
              <a:ext cx="2539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max</a:t>
              </a:r>
            </a:p>
          </p:txBody>
        </p:sp>
      </p:grpSp>
      <p:grpSp>
        <p:nvGrpSpPr>
          <p:cNvPr id="58" name="c1-callout-2"/>
          <p:cNvGrpSpPr/>
          <p:nvPr/>
        </p:nvGrpSpPr>
        <p:grpSpPr>
          <a:xfrm>
            <a:off x="533400" y="4212908"/>
            <a:ext cx="5085398" cy="729615"/>
            <a:chOff x="533400" y="4212908"/>
            <a:chExt cx="5085398" cy="729615"/>
          </a:xfrm>
        </p:grpSpPr>
        <p:sp>
          <p:nvSpPr>
            <p:cNvPr id="52" name="Rectangle 52"/>
            <p:cNvSpPr/>
            <p:nvPr/>
          </p:nvSpPr>
          <p:spPr>
            <a:xfrm>
              <a:off x="533400" y="4212908"/>
              <a:ext cx="508539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4477703"/>
              <a:ext cx="200026" cy="200026"/>
              <a:chOff x="738188" y="4477703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44777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45443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7088" y="45777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4358640"/>
              <a:ext cx="4051363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红色边是新开一段空格，要付 x + y；深青色边是延长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已有的空格段，只付 y。</a:t>
              </a:r>
            </a:p>
          </p:txBody>
        </p:sp>
      </p:grpSp>
      <p:grpSp>
        <p:nvGrpSpPr>
          <p:cNvPr id="68" name="c1-steps-3"/>
          <p:cNvGrpSpPr/>
          <p:nvPr/>
        </p:nvGrpSpPr>
        <p:grpSpPr>
          <a:xfrm>
            <a:off x="533400" y="5126355"/>
            <a:ext cx="3826058" cy="1106329"/>
            <a:chOff x="533400" y="5126355"/>
            <a:chExt cx="3826058" cy="1106329"/>
          </a:xfrm>
        </p:grpSpPr>
        <p:sp>
          <p:nvSpPr>
            <p:cNvPr id="59" name="Rectangle 59"/>
            <p:cNvSpPr/>
            <p:nvPr/>
          </p:nvSpPr>
          <p:spPr>
            <a:xfrm>
              <a:off x="666750" y="5269230"/>
              <a:ext cx="19050" cy="586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533400" y="51263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7024" y="52001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533400" y="571404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27024" y="57878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5642" y="515874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开一段插入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46785" y="5425916"/>
              <a:ext cx="34126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S(6, 7) = I(6, 7) = S(6, 6) − 4 − 3 = 9 − 7 = 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45642" y="574548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最后一列匹配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6785" y="6012656"/>
              <a:ext cx="2997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S(7, 8) = S(6, 7) + w(T, T) = 2 + 8 = 10</a:t>
              </a:r>
            </a:p>
          </p:txBody>
        </p:sp>
      </p:grpSp>
      <p:grpSp>
        <p:nvGrpSpPr>
          <p:cNvPr id="188" name="c2-table-1"/>
          <p:cNvGrpSpPr/>
          <p:nvPr/>
        </p:nvGrpSpPr>
        <p:grpSpPr>
          <a:xfrm>
            <a:off x="5918264" y="1524000"/>
            <a:ext cx="5740336" cy="3931539"/>
            <a:chOff x="5918264" y="1524000"/>
            <a:chExt cx="5740336" cy="3931539"/>
          </a:xfrm>
        </p:grpSpPr>
        <p:sp>
          <p:nvSpPr>
            <p:cNvPr id="69" name="Rectangle 69"/>
            <p:cNvSpPr/>
            <p:nvPr/>
          </p:nvSpPr>
          <p:spPr>
            <a:xfrm>
              <a:off x="5923598" y="1524000"/>
              <a:ext cx="5735002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182522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772120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62670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952267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541865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132415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722012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311610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358890" y="1939290"/>
              <a:ext cx="57054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59746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145597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−7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93731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284281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873879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−16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463476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−19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054026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643624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−25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233221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−28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923598" y="233076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5923598" y="2335530"/>
              <a:ext cx="573500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085242" y="245983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555999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−7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948488" y="2345055"/>
              <a:ext cx="57054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187060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776657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325744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915342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504939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−8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054026" y="24598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−11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643624" y="24598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−14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233221" y="24598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−17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5923598" y="273653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085242" y="28655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514536" y="286559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−10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187060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7539038" y="2750820"/>
              <a:ext cx="57054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7776657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325744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915342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−7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546402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0095489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0685087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−7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274684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5923598" y="314229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5923598" y="3147060"/>
              <a:ext cx="573500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085242" y="32713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6514536" y="32713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−13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145597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735194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8128635" y="3156585"/>
              <a:ext cx="57054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8325744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8915342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−9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9546402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0095489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0685087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−9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1316147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5923598" y="354806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6085242" y="367712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6514536" y="36771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−16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7145597" y="36771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7735194" y="36771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−7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8325744" y="36771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−9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8718232" y="3562350"/>
              <a:ext cx="57054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8956805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9504939" y="36771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0095489" y="36771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10726550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1274684" y="36771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5923598" y="395382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5923598" y="3958590"/>
              <a:ext cx="573500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6085242" y="408289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6514536" y="40828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−19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7145597" y="40828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−8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7693731" y="40828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−10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8284281" y="40828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−12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8915342" y="40828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46" name="Rectangle 146"/>
            <p:cNvSpPr/>
            <p:nvPr/>
          </p:nvSpPr>
          <p:spPr>
            <a:xfrm>
              <a:off x="9308782" y="3968115"/>
              <a:ext cx="57054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9546402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10095489" y="40828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10726550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11316147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1" name="Rectangle 151"/>
            <p:cNvSpPr/>
            <p:nvPr/>
          </p:nvSpPr>
          <p:spPr>
            <a:xfrm>
              <a:off x="5923598" y="435959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6085242" y="44886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6514536" y="44886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−22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7104134" y="44886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−11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7693731" y="44886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−13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8284281" y="44886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−15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8915342" y="44886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9504939" y="44886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</a:t>
              </a:r>
            </a:p>
          </p:txBody>
        </p:sp>
        <p:sp>
          <p:nvSpPr>
            <p:cNvPr id="159" name="Rectangle 159"/>
            <p:cNvSpPr/>
            <p:nvPr/>
          </p:nvSpPr>
          <p:spPr>
            <a:xfrm>
              <a:off x="9898380" y="4373880"/>
              <a:ext cx="57054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10136952" y="4488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61" name="Rectangle 161"/>
            <p:cNvSpPr/>
            <p:nvPr/>
          </p:nvSpPr>
          <p:spPr>
            <a:xfrm>
              <a:off x="10487978" y="4373880"/>
              <a:ext cx="57054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2" name="TextBox 162"/>
            <p:cNvSpPr txBox="1"/>
            <p:nvPr/>
          </p:nvSpPr>
          <p:spPr>
            <a:xfrm>
              <a:off x="10726550" y="4488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11274684" y="44886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64" name="Rectangle 164"/>
            <p:cNvSpPr/>
            <p:nvPr/>
          </p:nvSpPr>
          <p:spPr>
            <a:xfrm>
              <a:off x="5923598" y="476535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5" name="Rectangle 165"/>
            <p:cNvSpPr/>
            <p:nvPr/>
          </p:nvSpPr>
          <p:spPr>
            <a:xfrm>
              <a:off x="5923598" y="4770120"/>
              <a:ext cx="573500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6" name="TextBox 166"/>
            <p:cNvSpPr txBox="1"/>
            <p:nvPr/>
          </p:nvSpPr>
          <p:spPr>
            <a:xfrm>
              <a:off x="6085242" y="489442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6514536" y="489442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−25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7104134" y="489442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−14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7693731" y="489442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−16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8284281" y="489442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−18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8915342" y="48944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−7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9546402" y="48944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10136952" y="48944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10726550" y="48944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5" name="Rectangle 175"/>
            <p:cNvSpPr/>
            <p:nvPr/>
          </p:nvSpPr>
          <p:spPr>
            <a:xfrm>
              <a:off x="11078528" y="4779645"/>
              <a:ext cx="57054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6" name="TextBox 176"/>
            <p:cNvSpPr txBox="1"/>
            <p:nvPr/>
          </p:nvSpPr>
          <p:spPr>
            <a:xfrm>
              <a:off x="11274684" y="48944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77" name="Rectangle 177"/>
            <p:cNvSpPr/>
            <p:nvPr/>
          </p:nvSpPr>
          <p:spPr>
            <a:xfrm>
              <a:off x="5923598" y="1524000"/>
              <a:ext cx="5735002" cy="3651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6344602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9" name="Rectangle 179"/>
            <p:cNvSpPr/>
            <p:nvPr/>
          </p:nvSpPr>
          <p:spPr>
            <a:xfrm>
              <a:off x="6934200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0" name="Rectangle 180"/>
            <p:cNvSpPr/>
            <p:nvPr/>
          </p:nvSpPr>
          <p:spPr>
            <a:xfrm>
              <a:off x="7524750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1" name="Rectangle 181"/>
            <p:cNvSpPr/>
            <p:nvPr/>
          </p:nvSpPr>
          <p:spPr>
            <a:xfrm>
              <a:off x="8114348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2" name="Rectangle 182"/>
            <p:cNvSpPr/>
            <p:nvPr/>
          </p:nvSpPr>
          <p:spPr>
            <a:xfrm>
              <a:off x="8703945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3" name="Rectangle 183"/>
            <p:cNvSpPr/>
            <p:nvPr/>
          </p:nvSpPr>
          <p:spPr>
            <a:xfrm>
              <a:off x="9294495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4" name="Rectangle 184"/>
            <p:cNvSpPr/>
            <p:nvPr/>
          </p:nvSpPr>
          <p:spPr>
            <a:xfrm>
              <a:off x="9884092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5" name="Rectangle 185"/>
            <p:cNvSpPr/>
            <p:nvPr/>
          </p:nvSpPr>
          <p:spPr>
            <a:xfrm>
              <a:off x="10473690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6" name="Rectangle 186"/>
            <p:cNvSpPr/>
            <p:nvPr/>
          </p:nvSpPr>
          <p:spPr>
            <a:xfrm>
              <a:off x="11064240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7" name="TextBox 187"/>
            <p:cNvSpPr txBox="1"/>
            <p:nvPr/>
          </p:nvSpPr>
          <p:spPr>
            <a:xfrm>
              <a:off x="5918264" y="5250180"/>
              <a:ext cx="2469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 表（x = 4，y = 3），绿色为回溯路径</a:t>
              </a:r>
            </a:p>
          </p:txBody>
        </p:sp>
      </p:grpSp>
      <p:grpSp>
        <p:nvGrpSpPr>
          <p:cNvPr id="194" name="c2-callout-2"/>
          <p:cNvGrpSpPr/>
          <p:nvPr/>
        </p:nvGrpSpPr>
        <p:grpSpPr>
          <a:xfrm>
            <a:off x="5923598" y="5589270"/>
            <a:ext cx="5735002" cy="729615"/>
            <a:chOff x="5923598" y="5589270"/>
            <a:chExt cx="5735002" cy="729615"/>
          </a:xfrm>
        </p:grpSpPr>
        <p:sp>
          <p:nvSpPr>
            <p:cNvPr id="189" name="Rectangle 189"/>
            <p:cNvSpPr/>
            <p:nvPr/>
          </p:nvSpPr>
          <p:spPr>
            <a:xfrm>
              <a:off x="5923598" y="5589270"/>
              <a:ext cx="5735002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92" name="Group 192"/>
            <p:cNvGrpSpPr/>
            <p:nvPr/>
          </p:nvGrpSpPr>
          <p:grpSpPr>
            <a:xfrm>
              <a:off x="6128385" y="5854065"/>
              <a:ext cx="200026" cy="200026"/>
              <a:chOff x="6128385" y="5854065"/>
              <a:chExt cx="200026" cy="200026"/>
            </a:xfrm>
          </p:grpSpPr>
          <p:sp>
            <p:nvSpPr>
              <p:cNvPr id="190" name="Freeform 190"/>
              <p:cNvSpPr/>
              <p:nvPr/>
            </p:nvSpPr>
            <p:spPr>
              <a:xfrm>
                <a:off x="6128385" y="58540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91" name="Freeform 191"/>
              <p:cNvSpPr/>
              <p:nvPr/>
            </p:nvSpPr>
            <p:spPr>
              <a:xfrm>
                <a:off x="6195060" y="593185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93" name="TextBox 193"/>
            <p:cNvSpPr txBox="1"/>
            <p:nvPr/>
          </p:nvSpPr>
          <p:spPr>
            <a:xfrm>
              <a:off x="6431089" y="5735955"/>
              <a:ext cx="460000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路径与线性罚分时相同，只是 −3 的空格变成了 −7：14 − 4 =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10。</a:t>
              </a:r>
            </a:p>
          </p:txBody>
        </p:sp>
      </p:grpSp>
      <p:grpSp>
        <p:nvGrpSpPr>
          <p:cNvPr id="1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5" name="TextBox 19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196" name="TextBox 1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69130" cy="3351847"/>
            <a:chOff x="667512" y="1835468"/>
            <a:chExt cx="44691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线性空间的方法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表太大放不下时，只存两行也能找回最优比对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算得分只需要保留两行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9331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最优路径穿过第 m/2 行的哪一列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643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分治：两个子问题、四个子问题……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849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 O(m + n)，时间仍是 O(mn)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线性空间的方法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线性空间的思路：算得分只需两行，路径靠分治找回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335405"/>
            <a:chOff x="533400" y="1524000"/>
            <a:chExt cx="5626418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整张表放不下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30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填整张表要 O(mn) 空间。两条长 10⁵ 的序列就有 10¹⁰ 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格子，内存装不下。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3059430"/>
            <a:ext cx="5399913" cy="2582514"/>
            <a:chOff x="533400" y="3059430"/>
            <a:chExt cx="5399913" cy="2582514"/>
          </a:xfrm>
        </p:grpSpPr>
        <p:sp>
          <p:nvSpPr>
            <p:cNvPr id="14" name="Rectangle 14"/>
            <p:cNvSpPr/>
            <p:nvPr/>
          </p:nvSpPr>
          <p:spPr>
            <a:xfrm>
              <a:off x="666750" y="3202305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05943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1332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9452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0190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83012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9039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30937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只算得分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387566"/>
              <a:ext cx="48003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的第 i 行只依赖第 i−1 行，滚动保留两行，O(n) 空间就能算出得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分，但丢掉了回溯要用的信息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39795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4272439"/>
              <a:ext cx="48328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最优路径一定穿过第 m/2 行的某一列 j。找出这个 j，问题就拆成左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上、右下两个子问题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486441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找穿过点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5158264"/>
              <a:ext cx="49872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正向算 A 前半与 B 各前缀的得分，反向算 A 后半与 B 各后缀的得分，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两者之和最大的 j 就是穿过点</a:t>
              </a:r>
            </a:p>
          </p:txBody>
        </p:sp>
      </p:grpSp>
      <p:grpSp>
        <p:nvGrpSpPr>
          <p:cNvPr id="29" name="c1-text-3"/>
          <p:cNvGrpSpPr/>
          <p:nvPr/>
        </p:nvGrpSpPr>
        <p:grpSpPr>
          <a:xfrm>
            <a:off x="526923" y="5842159"/>
            <a:ext cx="5190490" cy="500824"/>
            <a:chOff x="526923" y="5842159"/>
            <a:chExt cx="5190490" cy="500824"/>
          </a:xfrm>
        </p:grpSpPr>
        <p:sp>
          <p:nvSpPr>
            <p:cNvPr id="28" name="TextBox 28"/>
            <p:cNvSpPr txBox="1"/>
            <p:nvPr/>
          </p:nvSpPr>
          <p:spPr>
            <a:xfrm>
              <a:off x="526923" y="5842159"/>
              <a:ext cx="519049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Linear space ideas：Hirschberg 1975；Myers and Miller 1988。(i)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scores can be computed in O(n) space；(ii) divide-and-conquer。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formula55"/>
              <p:cNvSpPr txBox="1">
                <a:spLocks noGrp="1"/>
              </p:cNvSpPr>
              <p:nvPr/>
            </p:nvSpPr>
            <p:spPr>
              <a:xfrm>
                <a:off x="6464618" y="1524000"/>
                <a:ext cx="5193982" cy="4705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arg</m:t>
                          </m:r>
                        </m:fName>
                        <m:e>
                          <m:func>
                            <m:funcPr/>
                            <m:fName>
                              <m:limLow>
                                <m:limLowPr/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⋯</m:t>
                                      </m:r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m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/</m:t>
                                          </m:r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 xml:space="preserve"> </m:t>
                                      </m:r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⋯</m:t>
                                      </m:r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m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⋯</m:t>
                                      </m:r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m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/</m:t>
                                          </m:r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+</m:t>
                                          </m:r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 xml:space="preserve"> </m:t>
                                      </m:r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n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⋯</m:t>
                                      </m:r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+</m:t>
                                          </m:r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41" name="c2-graph-2"/>
          <p:cNvGrpSpPr/>
          <p:nvPr/>
        </p:nvGrpSpPr>
        <p:grpSpPr>
          <a:xfrm>
            <a:off x="6545276" y="2401252"/>
            <a:ext cx="4801857" cy="3168016"/>
            <a:chOff x="6545276" y="2401252"/>
            <a:chExt cx="4801857" cy="3168016"/>
          </a:xfrm>
        </p:grpSpPr>
        <p:sp>
          <p:nvSpPr>
            <p:cNvPr id="31" name="Freeform 31"/>
            <p:cNvSpPr/>
            <p:nvPr/>
          </p:nvSpPr>
          <p:spPr>
            <a:xfrm>
              <a:off x="6879908" y="2401252"/>
              <a:ext cx="4467225" cy="3168015"/>
            </a:xfrm>
            <a:custGeom>
              <a:avLst/>
              <a:gdLst/>
              <a:ahLst/>
              <a:cxnLst/>
              <a:rect l="l" t="t" r="r" b="b"/>
              <a:pathLst>
                <a:path w="4467225" h="3168015">
                  <a:moveTo>
                    <a:pt x="1181100" y="0"/>
                  </a:moveTo>
                  <a:lnTo>
                    <a:pt x="4467225" y="0"/>
                  </a:lnTo>
                  <a:lnTo>
                    <a:pt x="4467225" y="3168015"/>
                  </a:lnTo>
                  <a:lnTo>
                    <a:pt x="0" y="3168015"/>
                  </a:lnTo>
                  <a:lnTo>
                    <a:pt x="0" y="0"/>
                  </a:lnTo>
                  <a:lnTo>
                    <a:pt x="1831658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918008" y="3985260"/>
              <a:ext cx="4391025" cy="9525"/>
            </a:xfrm>
            <a:custGeom>
              <a:avLst/>
              <a:gdLst/>
              <a:ahLst/>
              <a:cxnLst/>
              <a:rect l="l" t="t" r="r" b="b"/>
              <a:pathLst>
                <a:path w="4391025" h="9525">
                  <a:moveTo>
                    <a:pt x="0" y="0"/>
                  </a:moveTo>
                  <a:lnTo>
                    <a:pt x="4391025" y="0"/>
                  </a:lnTo>
                </a:path>
              </a:pathLst>
            </a:custGeom>
            <a:noFill/>
            <a:ln w="17145">
              <a:solidFill>
                <a:srgbClr val="D97706"/>
              </a:solidFill>
              <a:custDash>
                <a:ds d="333333" sp="222222"/>
              </a:custDash>
            </a:ln>
          </p:spPr>
        </p:sp>
        <p:sp>
          <p:nvSpPr>
            <p:cNvPr id="33" name="Freeform 33"/>
            <p:cNvSpPr/>
            <p:nvPr/>
          </p:nvSpPr>
          <p:spPr>
            <a:xfrm>
              <a:off x="6879908" y="2401252"/>
              <a:ext cx="2493645" cy="1584007"/>
            </a:xfrm>
            <a:custGeom>
              <a:avLst/>
              <a:gdLst/>
              <a:ahLst/>
              <a:cxnLst/>
              <a:rect l="l" t="t" r="r" b="b"/>
              <a:pathLst>
                <a:path w="2493645" h="1584007">
                  <a:moveTo>
                    <a:pt x="38100" y="0"/>
                  </a:moveTo>
                  <a:lnTo>
                    <a:pt x="2493645" y="0"/>
                  </a:lnTo>
                  <a:lnTo>
                    <a:pt x="2493645" y="1584007"/>
                  </a:lnTo>
                  <a:lnTo>
                    <a:pt x="0" y="1584007"/>
                  </a:lnTo>
                  <a:lnTo>
                    <a:pt x="0" y="99060"/>
                  </a:lnTo>
                </a:path>
              </a:pathLst>
            </a:custGeom>
            <a:noFill/>
            <a:ln w="17145">
              <a:solidFill>
                <a:srgbClr val="14A38B"/>
              </a:solidFill>
              <a:custDash>
                <a:ds d="333333" sp="222222"/>
              </a:custDash>
            </a:ln>
          </p:spPr>
        </p:sp>
        <p:sp>
          <p:nvSpPr>
            <p:cNvPr id="34" name="Freeform 34"/>
            <p:cNvSpPr/>
            <p:nvPr/>
          </p:nvSpPr>
          <p:spPr>
            <a:xfrm>
              <a:off x="9373552" y="3985260"/>
              <a:ext cx="1973580" cy="1584008"/>
            </a:xfrm>
            <a:custGeom>
              <a:avLst/>
              <a:gdLst/>
              <a:ahLst/>
              <a:cxnLst/>
              <a:rect l="l" t="t" r="r" b="b"/>
              <a:pathLst>
                <a:path w="1973580" h="1584008">
                  <a:moveTo>
                    <a:pt x="38100" y="0"/>
                  </a:moveTo>
                  <a:lnTo>
                    <a:pt x="1973580" y="0"/>
                  </a:lnTo>
                  <a:lnTo>
                    <a:pt x="1973580" y="1584008"/>
                  </a:lnTo>
                  <a:lnTo>
                    <a:pt x="0" y="1584008"/>
                  </a:lnTo>
                  <a:lnTo>
                    <a:pt x="0" y="99060"/>
                  </a:lnTo>
                </a:path>
              </a:pathLst>
            </a:custGeom>
            <a:noFill/>
            <a:ln w="17145">
              <a:solidFill>
                <a:srgbClr val="14A38B"/>
              </a:solidFill>
              <a:custDash>
                <a:ds d="333333" sp="222222"/>
              </a:custDash>
            </a:ln>
          </p:spPr>
        </p:sp>
        <p:sp>
          <p:nvSpPr>
            <p:cNvPr id="35" name="Freeform 35"/>
            <p:cNvSpPr/>
            <p:nvPr/>
          </p:nvSpPr>
          <p:spPr>
            <a:xfrm>
              <a:off x="6918008" y="2411730"/>
              <a:ext cx="4411028" cy="3058477"/>
            </a:xfrm>
            <a:custGeom>
              <a:avLst/>
              <a:gdLst/>
              <a:ahLst/>
              <a:cxnLst/>
              <a:rect l="l" t="t" r="r" b="b"/>
              <a:pathLst>
                <a:path w="4411028" h="3058477">
                  <a:moveTo>
                    <a:pt x="0" y="0"/>
                  </a:moveTo>
                  <a:lnTo>
                    <a:pt x="481965" y="133350"/>
                  </a:lnTo>
                  <a:lnTo>
                    <a:pt x="1001078" y="240983"/>
                  </a:lnTo>
                  <a:lnTo>
                    <a:pt x="1416368" y="421005"/>
                  </a:lnTo>
                  <a:lnTo>
                    <a:pt x="1727835" y="781050"/>
                  </a:lnTo>
                  <a:lnTo>
                    <a:pt x="2040255" y="1213485"/>
                  </a:lnTo>
                  <a:lnTo>
                    <a:pt x="2455545" y="1573530"/>
                  </a:lnTo>
                  <a:lnTo>
                    <a:pt x="2974657" y="1861185"/>
                  </a:lnTo>
                  <a:lnTo>
                    <a:pt x="3597593" y="2149792"/>
                  </a:lnTo>
                  <a:lnTo>
                    <a:pt x="4117657" y="2509838"/>
                  </a:lnTo>
                  <a:lnTo>
                    <a:pt x="4376738" y="2869882"/>
                  </a:lnTo>
                  <a:lnTo>
                    <a:pt x="4411028" y="3058477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9306878" y="3918585"/>
              <a:ext cx="133350" cy="1333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45276" y="3880009"/>
              <a:ext cx="2539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m/2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54619" y="3663791"/>
              <a:ext cx="10913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穿过点 (m/2, j*)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76668" y="34475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左上子问题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73183" y="517636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右下子问题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88815" cy="909257"/>
            <a:chOff x="520446" y="342900"/>
            <a:chExt cx="53888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线性空间的方法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888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例：在第 3 行找穿过点，得到 j = 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485251" cy="293370"/>
            <a:chOff x="525780" y="1548765"/>
            <a:chExt cx="8485251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4852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 = 7，取 m/2 = 3：A 的前半是 CTT，后半是 AACT；B = CGGATCAT。打分仍是 +8、−5、−3。</a:t>
              </a:r>
            </a:p>
          </p:txBody>
        </p:sp>
      </p:grpSp>
      <p:grpSp>
        <p:nvGrpSpPr>
          <p:cNvPr id="64" name="c1-table-1"/>
          <p:cNvGrpSpPr/>
          <p:nvPr/>
        </p:nvGrpSpPr>
        <p:grpSpPr>
          <a:xfrm>
            <a:off x="533400" y="1954530"/>
            <a:ext cx="11125200" cy="1720215"/>
            <a:chOff x="533400" y="1954530"/>
            <a:chExt cx="11125200" cy="172021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59198" y="2085975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41103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30738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20373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10961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00596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1183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80818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70453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61041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8746" y="2515552"/>
              <a:ext cx="15251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正向：CTT 对 b₁…bⱼ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53422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400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3364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4232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13866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0350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9408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83724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74311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281463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8746" y="2946082"/>
              <a:ext cx="1810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反向：AACT 对 bⱼ₊₁…bₙ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5342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44009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33644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24232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13866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0350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94089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83724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74311" y="294608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8746" y="33766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两者之和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753422" y="337661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44009" y="337661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533644" y="337661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328410" y="3254692"/>
              <a:ext cx="87058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24232" y="337661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13866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03502" y="337661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94089" y="337661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983724" y="337661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874311" y="337661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1954530"/>
              <a:ext cx="11125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3643312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533900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423535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314122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203758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093392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983980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873615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764202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2" name="c1-steps-2"/>
          <p:cNvGrpSpPr/>
          <p:nvPr/>
        </p:nvGrpSpPr>
        <p:grpSpPr>
          <a:xfrm>
            <a:off x="533400" y="3860482"/>
            <a:ext cx="11125200" cy="1398270"/>
            <a:chOff x="533400" y="3860482"/>
            <a:chExt cx="11125200" cy="1398270"/>
          </a:xfrm>
        </p:grpSpPr>
        <p:sp>
          <p:nvSpPr>
            <p:cNvPr id="65" name="Rectangle 65"/>
            <p:cNvSpPr/>
            <p:nvPr/>
          </p:nvSpPr>
          <p:spPr>
            <a:xfrm>
              <a:off x="533400" y="3860482"/>
              <a:ext cx="3517582" cy="1398270"/>
            </a:xfrm>
            <a:prstGeom prst="roundRect">
              <a:avLst>
                <a:gd name="adj" fmla="val 8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666750" y="39938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56883" y="40643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9511" y="439816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正向一行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0654" y="4697730"/>
              <a:ext cx="3267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就是完整得分表的第 3 行，只用两行滚动算出</a:t>
              </a:r>
            </a:p>
          </p:txBody>
        </p:sp>
        <p:sp>
          <p:nvSpPr>
            <p:cNvPr id="70" name="Freeform 70"/>
            <p:cNvSpPr/>
            <p:nvPr/>
          </p:nvSpPr>
          <p:spPr>
            <a:xfrm>
              <a:off x="4127182" y="447389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4336732" y="3860482"/>
              <a:ext cx="3517582" cy="1398270"/>
            </a:xfrm>
            <a:prstGeom prst="roundRect">
              <a:avLst>
                <a:gd name="adj" fmla="val 8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4470082" y="39938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560216" y="40643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462844" y="439816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反向一行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463986" y="4697730"/>
              <a:ext cx="31059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A 的后半和 B 都倒过来，做同样的递推，得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AACT 与 B 各后缀的得分</a:t>
              </a:r>
            </a:p>
          </p:txBody>
        </p:sp>
        <p:sp>
          <p:nvSpPr>
            <p:cNvPr id="76" name="Freeform 76"/>
            <p:cNvSpPr/>
            <p:nvPr/>
          </p:nvSpPr>
          <p:spPr>
            <a:xfrm>
              <a:off x="7931468" y="447389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8141018" y="3860482"/>
              <a:ext cx="3517582" cy="1398270"/>
            </a:xfrm>
            <a:prstGeom prst="roundRect">
              <a:avLst>
                <a:gd name="adj" fmla="val 8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8274368" y="39938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364501" y="40643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267129" y="439816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取最大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268272" y="4697730"/>
              <a:ext cx="30906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和的最大值 14 等于 S(7, 8)，在 j = 3 取到：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最优路径穿过 (3, 3)</a:t>
              </a:r>
            </a:p>
          </p:txBody>
        </p:sp>
      </p:grpSp>
      <p:grpSp>
        <p:nvGrpSpPr>
          <p:cNvPr id="88" name="c1-callout-3"/>
          <p:cNvGrpSpPr/>
          <p:nvPr/>
        </p:nvGrpSpPr>
        <p:grpSpPr>
          <a:xfrm>
            <a:off x="533400" y="5444490"/>
            <a:ext cx="11125200" cy="918210"/>
            <a:chOff x="533400" y="5444490"/>
            <a:chExt cx="11125200" cy="918210"/>
          </a:xfrm>
        </p:grpSpPr>
        <p:sp>
          <p:nvSpPr>
            <p:cNvPr id="83" name="Rectangle 83"/>
            <p:cNvSpPr/>
            <p:nvPr/>
          </p:nvSpPr>
          <p:spPr>
            <a:xfrm>
              <a:off x="533400" y="5444490"/>
              <a:ext cx="11125200" cy="918210"/>
            </a:xfrm>
            <a:prstGeom prst="roundRect">
              <a:avLst>
                <a:gd name="adj" fmla="val 1244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738188" y="5803583"/>
              <a:ext cx="200026" cy="200026"/>
              <a:chOff x="738188" y="5803583"/>
              <a:chExt cx="200026" cy="200026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738188" y="58035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04863" y="588137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1040511" y="5672614"/>
              <a:ext cx="1000531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递归下去：CTT 对 CGG 得 −2，AACT 对 ATCAT 得 16，两半拼起来正是 CTTAAC-T 对 CGGATCAT。脚本实现的 Hirschberg 算法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与整表回溯的结果一致。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58328" cy="909257"/>
            <a:chOff x="520446" y="342900"/>
            <a:chExt cx="67583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 · 线性空间的方法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583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复杂度：空间 O(m + n)，时间仍是 O(mn)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193982" cy="2697480"/>
            <a:chOff x="533400" y="1524000"/>
            <a:chExt cx="5193982" cy="26974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138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22106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子问题个数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37216" y="1659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各子问题面积之和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88046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46336" y="2108359"/>
              <a:ext cx="2369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67033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88046" y="2556986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2（Two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subproblems）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46336" y="2670334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mn/2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34565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88046" y="3232309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4（Four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subproblems）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46336" y="3345656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mn/4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80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7285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9076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88046" y="390763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46336" y="3907631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mn/2ᵏ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193982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775460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333750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57"/>
              <p:cNvSpPr txBox="1">
                <a:spLocks noGrp="1"/>
              </p:cNvSpPr>
              <p:nvPr/>
            </p:nvSpPr>
            <p:spPr>
              <a:xfrm>
                <a:off x="533400" y="4411980"/>
                <a:ext cx="5193982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+⋯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mn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8" name="c1-callout-3"/>
          <p:cNvGrpSpPr/>
          <p:nvPr/>
        </p:nvGrpSpPr>
        <p:grpSpPr>
          <a:xfrm>
            <a:off x="533400" y="5142548"/>
            <a:ext cx="5193982" cy="1083945"/>
            <a:chOff x="533400" y="5142548"/>
            <a:chExt cx="5193982" cy="1083945"/>
          </a:xfrm>
        </p:grpSpPr>
        <p:sp>
          <p:nvSpPr>
            <p:cNvPr id="33" name="Rectangle 33"/>
            <p:cNvSpPr/>
            <p:nvPr/>
          </p:nvSpPr>
          <p:spPr>
            <a:xfrm>
              <a:off x="533400" y="5142548"/>
              <a:ext cx="5193982" cy="1083945"/>
            </a:xfrm>
            <a:prstGeom prst="roundRect">
              <a:avLst>
                <a:gd name="adj" fmla="val 10545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584510"/>
              <a:ext cx="200023" cy="200023"/>
              <a:chOff x="738188" y="5584510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5845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56511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303520"/>
              <a:ext cx="42729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为什么每层面积减半：第 m/2 行在第 j 列切开，两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个子问题是 (m/2)×j 与 (m/2)×(n−j)，面积之和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恰为 mn/2，与 j 取在哪里无关。</a:t>
              </a:r>
            </a:p>
          </p:txBody>
        </p:sp>
      </p:grpSp>
      <p:grpSp>
        <p:nvGrpSpPr>
          <p:cNvPr id="42" name="c2-code-1"/>
          <p:cNvGrpSpPr/>
          <p:nvPr/>
        </p:nvGrpSpPr>
        <p:grpSpPr>
          <a:xfrm>
            <a:off x="6032182" y="1524000"/>
            <a:ext cx="5626418" cy="2125028"/>
            <a:chOff x="6032182" y="1524000"/>
            <a:chExt cx="5626418" cy="2125028"/>
          </a:xfrm>
        </p:grpSpPr>
        <p:sp>
          <p:nvSpPr>
            <p:cNvPr id="39" name="Rectangle 39"/>
            <p:cNvSpPr/>
            <p:nvPr/>
          </p:nvSpPr>
          <p:spPr>
            <a:xfrm>
              <a:off x="6032182" y="1524000"/>
              <a:ext cx="5626418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60580" y="1675924"/>
              <a:ext cx="11759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Hirschberg(A, B)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59817" y="1937861"/>
              <a:ext cx="3062478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|A| &lt;= 1 or |B| = 0: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用普通填表法直接比对并返回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 = |A| / 2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F = 正向末行(A[1..h], B)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R = 反向末行(A[h+1..m], B)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j = 使 F[j] + R[j] 最大的列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return Hirschberg(A[1..h], B[1..j])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+ Hirschberg(A[h+1..m], B[j+1..n])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032182" y="3839528"/>
            <a:ext cx="5626418" cy="2386965"/>
            <a:chOff x="6032182" y="3839528"/>
            <a:chExt cx="5626418" cy="2386965"/>
          </a:xfrm>
        </p:grpSpPr>
        <p:sp>
          <p:nvSpPr>
            <p:cNvPr id="43" name="Rectangle 43"/>
            <p:cNvSpPr/>
            <p:nvPr/>
          </p:nvSpPr>
          <p:spPr>
            <a:xfrm>
              <a:off x="6032182" y="3839528"/>
              <a:ext cx="5626418" cy="2386965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41708" y="3972878"/>
              <a:ext cx="47625" cy="21202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79832" y="40490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70041" y="40847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79908" y="4084320"/>
              <a:ext cx="18166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为什么是 O(m + n)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72212" y="4445318"/>
              <a:ext cx="48920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每次只需两行 O(n) 的工作数组，递归栈深 O(log m)，输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出的比对长度不超过 m + n。代价是时间约为整表法的 2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73356" y="5348764"/>
              <a:ext cx="491413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本例脚本实跑：第 0 层在 (3, 3) 切开；第 1 层 CTT 对 CGG 在其第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行第 1 列切开，AACT 对 ATCAT 在其第 2 行第 2 列切开；再往下继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续对半切，直到 A 的一段只剩一个字符时直接比对。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自测题（一）概念与判断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2308403" cy="278702"/>
            <a:chOff x="526161" y="1547336"/>
            <a:chExt cx="230840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1768792"/>
            <a:chOff x="533400" y="1941195"/>
            <a:chExt cx="5410200" cy="176879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分治算法和动态规划都把问题拆成子问题，区别在哪？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2792730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分治的子问题互相独立，递归下去不会重复计算。动态规划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面对的是重叠子问题，朴素递归会把同一个子问题算很多遍，所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以要把结果存表。能用动态规划还要求问题有最优子结构。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86200"/>
            <a:ext cx="5410200" cy="2283142"/>
            <a:chOff x="533400" y="3886200"/>
            <a:chExt cx="5410200" cy="2283142"/>
          </a:xfrm>
        </p:grpSpPr>
        <p:sp>
          <p:nvSpPr>
            <p:cNvPr id="15" name="Rectangle 15"/>
            <p:cNvSpPr/>
            <p:nvPr/>
          </p:nvSpPr>
          <p:spPr>
            <a:xfrm>
              <a:off x="533400" y="3886200"/>
              <a:ext cx="5410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434840"/>
              <a:ext cx="425710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LCS-Length 第 8 行把 ≥ 改成 &gt;（相等时记 ←），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president 与 providence 回溯输出什么？ABCBDAB 与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BDCABA 呢？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5252085"/>
              <a:ext cx="478859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前一对的 LCS 只有 priden 一个，输出不变。后一对的 LCS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 4，有 BCAB、BCBA、BDAB 三个：原约定输出 BCBA，改后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BDAB。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41195"/>
            <a:ext cx="5410200" cy="2025968"/>
            <a:chOff x="6248400" y="1941195"/>
            <a:chExt cx="5410200" cy="2025968"/>
          </a:xfrm>
        </p:grpSpPr>
        <p:sp>
          <p:nvSpPr>
            <p:cNvPr id="21" name="Rectangle 21"/>
            <p:cNvSpPr/>
            <p:nvPr/>
          </p:nvSpPr>
          <p:spPr>
            <a:xfrm>
              <a:off x="6248400" y="1941195"/>
              <a:ext cx="5410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0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947" y="2490788"/>
              <a:ext cx="46402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最大和区间为什么把 S(i) 定义成“在 i 点结束”，而不是“前 i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个数里的最大区间和”？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3947" y="3049905"/>
              <a:ext cx="477145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M(i) 表示前 i 个数里的最大区间和，最优区间可能以 i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结尾，这种情况要知道以 i−1 结尾的最优值，M(i−1) 给不出。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定义成“在 i 点结束”后递推只看 S(i−1)，答案再取 max S(i)。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4143375"/>
            <a:ext cx="5410200" cy="2025968"/>
            <a:chOff x="6248400" y="4143375"/>
            <a:chExt cx="5410200" cy="2025968"/>
          </a:xfrm>
        </p:grpSpPr>
        <p:sp>
          <p:nvSpPr>
            <p:cNvPr id="27" name="Rectangle 27"/>
            <p:cNvSpPr/>
            <p:nvPr/>
          </p:nvSpPr>
          <p:spPr>
            <a:xfrm>
              <a:off x="6248400" y="4143375"/>
              <a:ext cx="5410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0805" y="433578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753" y="437007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4692015"/>
              <a:ext cx="50828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局部比对的递推为什么多一个 0？答案为什么不一定在右下角？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947" y="4994910"/>
              <a:ext cx="475430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代表空比对：前面的得分已为负时，丢掉它从 aᵢ、bⱼ 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新开始，s(i, j) 才是以 aᵢ、bⱼ 结尾的最好片段的得分。最优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片段可以在任何位置结束，所以取全表最大值，再回溯到 0。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自测题（二）动手计算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223135"/>
            <a:chOff x="533400" y="1524000"/>
            <a:chExt cx="5410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62915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 −2, 11, −4, 13, −5, −2：写出 S(1)…S(6)，求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最大和区间。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663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−2, 11, 7, 20, 15, 13。S(1) &lt; 0，所以 S(2)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11 重开；最大值 S(4) = 20，回溯到位置 2，区间为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11, −4, 13。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5410200" cy="2223135"/>
            <a:chOff x="533400" y="3937635"/>
            <a:chExt cx="5410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468201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打分 +8、−5、−3，求 A = ACG 与 B = AG 的全局比对得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分表和最优比对。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45405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行 0, −3, −6；A 行 −3, 8, 5；C 行 −6, 5, 3；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行 −9, 2, 13。S(3, 2) = S(2, 1) + 8 = 13，回溯得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ACG 对 A-G。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9605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朴素递归算 F(10) 一共调用几次？F(2) 被算了几次？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446020"/>
              <a:ext cx="47682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调用次数 C(n) = C(n−1) + C(n−2) + 1，C(0)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C(1) = 1，得 C(10) = 177。F(2) 被算 34 次，恰好等于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F(9)。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2508885"/>
            <a:chOff x="6248400" y="3651885"/>
            <a:chExt cx="5410200" cy="25088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461391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仿射罚分 x = 4、y = 3：一段长 2 的空格与两段各长 1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的空格分别罚多少？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859655"/>
              <a:ext cx="4539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一段长 2：4 + 2×3 = 10。两段各长 1：2×(4 + 3)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14。空格总数相同时，集中成一段罚得更轻。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动态规划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33400" y="1533525"/>
            <a:ext cx="5762274" cy="2096738"/>
            <a:chOff x="533400" y="1533525"/>
            <a:chExt cx="5762274" cy="2096738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能用动态规划的问题要有最优子结构和重叠子问题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40230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749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5118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三个基本元素：递推关系、表格计算、回溯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45982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1816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156936"/>
              <a:ext cx="4045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斐波那契：朴素递归 177 次调用，填表只要 9 次加法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5173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48735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462689"/>
              <a:ext cx="3872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最大和区间：S(i) = aᵢ + max{S(i−1), 0}，O(n)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57488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27931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2768441"/>
              <a:ext cx="38483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LCS：比较末字符分三种情况，时间与空间 O(mn)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063240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5307" y="30988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3148" y="3075146"/>
              <a:ext cx="39503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全局比对三选一；局部比对再加 0，并取全表最大值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336994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5307" y="340461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3148" y="3380899"/>
              <a:ext cx="5492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仿射罚分拆成 D、I、S 三张表；线性空间法靠分治把空间降到 O(m + n)</a:t>
              </a:r>
            </a:p>
          </p:txBody>
        </p:sp>
      </p:grpSp>
      <p:grpSp>
        <p:nvGrpSpPr>
          <p:cNvPr id="38" name="c1-card-2"/>
          <p:cNvGrpSpPr/>
          <p:nvPr/>
        </p:nvGrpSpPr>
        <p:grpSpPr>
          <a:xfrm>
            <a:off x="533400" y="3769995"/>
            <a:ext cx="5626418" cy="2350770"/>
            <a:chOff x="533400" y="3769995"/>
            <a:chExt cx="5626418" cy="2350770"/>
          </a:xfrm>
        </p:grpSpPr>
        <p:sp>
          <p:nvSpPr>
            <p:cNvPr id="29" name="Rectangle 29"/>
            <p:cNvSpPr/>
            <p:nvPr/>
          </p:nvSpPr>
          <p:spPr>
            <a:xfrm>
              <a:off x="533400" y="3769995"/>
              <a:ext cx="5626418" cy="2350770"/>
            </a:xfrm>
            <a:prstGeom prst="roundRect">
              <a:avLst>
                <a:gd name="adj" fmla="val 5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903345"/>
              <a:ext cx="47625" cy="20840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81050" y="39795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1258" y="40152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82078" y="401478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考前对照这两条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86765" y="44386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4880" y="4375785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能手算：最大和区间的 S(i) 与来源箭头，LCS 的长度表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与箭头表，全局比对与局部比对的得分表，以及它们的回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溯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86765" y="53454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4880" y="5282565"/>
              <a:ext cx="4806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能说清：最大和区间与局部比对里的 0 起什么作用，仿射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罚分为什么要三张表，线性空间法为什么每层面积减半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458902" y="1524000"/>
            <a:ext cx="5199698" cy="2544604"/>
            <a:chOff x="6458902" y="1524000"/>
            <a:chExt cx="5199698" cy="2544604"/>
          </a:xfrm>
        </p:grpSpPr>
        <p:sp>
          <p:nvSpPr>
            <p:cNvPr id="39" name="Rectangle 39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1496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讲义页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12519" y="16597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原写法（课件页码）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968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72441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03973" y="2108359"/>
              <a:ext cx="23151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T[0] = T[1] = 1（第 12 页）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000488" y="2108359"/>
              <a:ext cx="16053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T[0] = 0，T[1] = 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4618" y="2421255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72441" y="267033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03973" y="2556986"/>
              <a:ext cx="22318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S(3,6) 等四格为 −1、−4、7、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6（第 32–33 页）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000488" y="267033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2、−1、10、7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3092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72441" y="334565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03973" y="3232309"/>
              <a:ext cx="21424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局部比对叫“子序列比对”（第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 页）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00488" y="334565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片段（子串）的比对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1524000"/>
              <a:ext cx="5193982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291388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887902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58902" y="384857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6464618" y="4214812"/>
            <a:ext cx="5193982" cy="1906905"/>
            <a:chOff x="6464618" y="4214812"/>
            <a:chExt cx="5193982" cy="1906905"/>
          </a:xfrm>
        </p:grpSpPr>
        <p:sp>
          <p:nvSpPr>
            <p:cNvPr id="60" name="Rectangle 60"/>
            <p:cNvSpPr/>
            <p:nvPr/>
          </p:nvSpPr>
          <p:spPr>
            <a:xfrm>
              <a:off x="6464618" y="4214812"/>
              <a:ext cx="5193982" cy="1906905"/>
            </a:xfrm>
            <a:prstGeom prst="roundRect">
              <a:avLst>
                <a:gd name="adj" fmla="val 699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674168" y="442436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56476" y="44600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串起来看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59992" y="445960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同一个套路用了六次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66548" y="4820602"/>
              <a:ext cx="4587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定义“以某处结尾”或“前缀对前缀”的子问题，写出一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格由哪几格算来，按依赖顺序填表，再从答案格沿来源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倒推。换一个问题，变的只是表的维数和每格的候选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第9章 动态规划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l_ch09">
  <a:themeElements>
    <a:clrScheme name="ml_ch0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l_ch09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l_ch0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2026-09-23T10:35:21Z</dcterms:created>
  <dcterms:modified xsi:type="dcterms:W3CDTF">2026-09-23T10:35:21Z</dcterms:modified>
  <cp:category/>
  <cp:contentStatus/>
</cp:coreProperties>
</file>