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l_ch04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l_ch04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d120638c6de4039.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7fbd7c22eb9b1f.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40d98cde273faa1.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5116830" cy="3437763"/>
            <a:chOff x="666750" y="1619250"/>
            <a:chExt cx="5116830" cy="3437763"/>
          </a:xfrm>
        </p:grpSpPr>
        <p:sp>
          <p:nvSpPr>
            <p:cNvPr id="4" name="Rectangle 4"/>
            <p:cNvSpPr/>
            <p:nvPr/>
          </p:nvSpPr>
          <p:spPr>
            <a:xfrm>
              <a:off x="685800" y="1619250"/>
              <a:ext cx="1529715" cy="342900"/>
            </a:xfrm>
            <a:prstGeom prst="roundRect">
              <a:avLst>
                <a:gd name="adj" fmla="val 50000"/>
              </a:avLst>
            </a:prstGeom>
            <a:solidFill>
              <a:srgbClr val="E2F3F4"/>
            </a:solidFill>
            <a:ln>
              <a:noFill/>
            </a:ln>
          </p:spPr>
        </p:sp>
        <p:sp>
          <p:nvSpPr>
            <p:cNvPr id="5" name="TextBox 5"/>
            <p:cNvSpPr txBox="1"/>
            <p:nvPr/>
          </p:nvSpPr>
          <p:spPr>
            <a:xfrm>
              <a:off x="815751" y="1718310"/>
              <a:ext cx="1269812" cy="234696"/>
            </a:xfrm>
            <a:prstGeom prst="rect">
              <a:avLst/>
            </a:prstGeom>
            <a:noFill/>
            <a:ln>
              <a:noFill/>
            </a:ln>
          </p:spPr>
          <p:txBody>
            <a:bodyPr wrap="none" lIns="0" tIns="0" rIns="0" bIns="0" anchor="t" anchorCtr="0">
              <a:spAutoFit/>
            </a:bodyPr>
            <a:lstStyle/>
            <a:p>
              <a:pPr algn="ctr"/>
              <a:r>
                <a:rPr lang="zh-CN" sz="1200" b="1" dirty="0">
                  <a:solidFill>
                    <a:srgbClr val="0E7C86"/>
                  </a:solidFill>
                  <a:latin typeface="+mn-lt"/>
                  <a:ea typeface="+mn-ea"/>
                  <a:cs typeface="+mn-cs"/>
                </a:rPr>
                <a:t>机器学习 · 第4章</a:t>
              </a:r>
            </a:p>
          </p:txBody>
        </p:sp>
        <p:sp>
          <p:nvSpPr>
            <p:cNvPr id="6" name="TextBox 6"/>
            <p:cNvSpPr txBox="1"/>
            <p:nvPr/>
          </p:nvSpPr>
          <p:spPr>
            <a:xfrm>
              <a:off x="666750" y="2407920"/>
              <a:ext cx="3430524"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人工神经网络</a:t>
              </a:r>
            </a:p>
          </p:txBody>
        </p:sp>
        <p:sp>
          <p:nvSpPr>
            <p:cNvPr id="7" name="Rectangle 7"/>
            <p:cNvSpPr/>
            <p:nvPr/>
          </p:nvSpPr>
          <p:spPr>
            <a:xfrm>
              <a:off x="685800" y="3147060"/>
              <a:ext cx="990600" cy="57150"/>
            </a:xfrm>
            <a:prstGeom prst="roundRect">
              <a:avLst>
                <a:gd name="adj" fmla="val 50000"/>
              </a:avLst>
            </a:prstGeom>
            <a:gradFill>
              <a:gsLst>
                <a:gs pos="0">
                  <a:srgbClr val="0E7C86"/>
                </a:gs>
                <a:gs pos="100000">
                  <a:srgbClr val="F26B3A"/>
                </a:gs>
              </a:gsLst>
              <a:lin ang="0" scaled="1"/>
            </a:gradFill>
            <a:ln>
              <a:noFill/>
            </a:ln>
          </p:spPr>
        </p:sp>
        <p:sp>
          <p:nvSpPr>
            <p:cNvPr id="8" name="TextBox 8"/>
            <p:cNvSpPr txBox="1"/>
            <p:nvPr/>
          </p:nvSpPr>
          <p:spPr>
            <a:xfrm>
              <a:off x="676656" y="3467100"/>
              <a:ext cx="5106924"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把一堆简单单元连起来，让它自己学会一个函数</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201282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生物神经元与形式化模型</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感知器与它的表征能力</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8605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多层前馈网络与BP算法</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2858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训练技巧与泛化</a:t>
              </a:r>
            </a:p>
          </p:txBody>
        </p:sp>
      </p:grpSp>
      <p:grpSp>
        <p:nvGrpSpPr>
          <p:cNvPr id="19" name="cover-credit"/>
          <p:cNvGrpSpPr/>
          <p:nvPr/>
        </p:nvGrpSpPr>
        <p:grpSpPr>
          <a:xfrm>
            <a:off x="680466" y="6192202"/>
            <a:ext cx="4983290" cy="205359"/>
            <a:chOff x="680466" y="6192202"/>
            <a:chExt cx="4983290" cy="205359"/>
          </a:xfrm>
        </p:grpSpPr>
        <p:sp>
          <p:nvSpPr>
            <p:cNvPr id="18" name="TextBox 18"/>
            <p:cNvSpPr txBox="1"/>
            <p:nvPr/>
          </p:nvSpPr>
          <p:spPr>
            <a:xfrm>
              <a:off x="680466" y="6192202"/>
              <a:ext cx="498329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自学复习版｜据吉林大学《机器学习》A、B 两版第4章课件合并整理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531620" cy="266700"/>
            </a:xfrm>
            <a:prstGeom prst="roundRect">
              <a:avLst>
                <a:gd name="adj" fmla="val 50000"/>
              </a:avLst>
            </a:prstGeom>
            <a:solidFill>
              <a:srgbClr val="E2F3F4"/>
            </a:solidFill>
            <a:ln>
              <a:noFill/>
            </a:ln>
          </p:spPr>
        </p:sp>
        <p:sp>
          <p:nvSpPr>
            <p:cNvPr id="3" name="TextBox 3"/>
            <p:cNvSpPr txBox="1"/>
            <p:nvPr/>
          </p:nvSpPr>
          <p:spPr>
            <a:xfrm>
              <a:off x="623114" y="407194"/>
              <a:ext cx="135219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本讲学习路线</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6" name="c1-agenda-1"/>
          <p:cNvGrpSpPr/>
          <p:nvPr/>
        </p:nvGrpSpPr>
        <p:grpSpPr>
          <a:xfrm>
            <a:off x="521970" y="1515428"/>
            <a:ext cx="6287453" cy="3689317"/>
            <a:chOff x="521970" y="1515428"/>
            <a:chExt cx="6287453" cy="3689317"/>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01</a:t>
              </a:r>
            </a:p>
          </p:txBody>
        </p:sp>
        <p:sp>
          <p:nvSpPr>
            <p:cNvPr id="8" name="TextBox 8"/>
            <p:cNvSpPr txBox="1"/>
            <p:nvPr/>
          </p:nvSpPr>
          <p:spPr>
            <a:xfrm>
              <a:off x="1065086" y="1551622"/>
              <a:ext cx="2904363"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从生物神经元到人工神经网络</a:t>
              </a:r>
            </a:p>
          </p:txBody>
        </p:sp>
        <p:sp>
          <p:nvSpPr>
            <p:cNvPr id="9" name="TextBox 9"/>
            <p:cNvSpPr txBox="1"/>
            <p:nvPr/>
          </p:nvSpPr>
          <p:spPr>
            <a:xfrm>
              <a:off x="1066990" y="1868329"/>
              <a:ext cx="4260484"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阈值、0-1律、连接强度，以及这套机制被抽象成了什么</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02</a:t>
              </a:r>
            </a:p>
          </p:txBody>
        </p:sp>
        <p:sp>
          <p:nvSpPr>
            <p:cNvPr id="12" name="TextBox 12"/>
            <p:cNvSpPr txBox="1"/>
            <p:nvPr/>
          </p:nvSpPr>
          <p:spPr>
            <a:xfrm>
              <a:off x="1065086" y="2323148"/>
              <a:ext cx="2460117"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人工神经元的形式化模型</a:t>
              </a:r>
            </a:p>
          </p:txBody>
        </p:sp>
        <p:sp>
          <p:nvSpPr>
            <p:cNvPr id="13" name="TextBox 13"/>
            <p:cNvSpPr txBox="1"/>
            <p:nvPr/>
          </p:nvSpPr>
          <p:spPr>
            <a:xfrm>
              <a:off x="1066990" y="2639854"/>
              <a:ext cx="379605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M-P模型、线性加权、阈值逻辑、激活函数的选择</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03</a:t>
              </a:r>
            </a:p>
          </p:txBody>
        </p:sp>
        <p:sp>
          <p:nvSpPr>
            <p:cNvPr id="16" name="TextBox 16"/>
            <p:cNvSpPr txBox="1"/>
            <p:nvPr/>
          </p:nvSpPr>
          <p:spPr>
            <a:xfrm>
              <a:off x="1065086" y="3094673"/>
              <a:ext cx="683133"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感知器</a:t>
              </a:r>
            </a:p>
          </p:txBody>
        </p:sp>
        <p:sp>
          <p:nvSpPr>
            <p:cNvPr id="17" name="TextBox 17"/>
            <p:cNvSpPr txBox="1"/>
            <p:nvPr/>
          </p:nvSpPr>
          <p:spPr>
            <a:xfrm>
              <a:off x="1066990" y="3412331"/>
              <a:ext cx="380385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定义、损失函数、随机梯度下降、表征能力的边界</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04</a:t>
              </a:r>
            </a:p>
          </p:txBody>
        </p:sp>
        <p:sp>
          <p:nvSpPr>
            <p:cNvPr id="20" name="TextBox 20"/>
            <p:cNvSpPr txBox="1"/>
            <p:nvPr/>
          </p:nvSpPr>
          <p:spPr>
            <a:xfrm>
              <a:off x="1065086" y="3867150"/>
              <a:ext cx="228694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多层前馈网络与BP算法</a:t>
              </a:r>
            </a:p>
          </p:txBody>
        </p:sp>
        <p:sp>
          <p:nvSpPr>
            <p:cNvPr id="21" name="TextBox 21"/>
            <p:cNvSpPr txBox="1"/>
            <p:nvPr/>
          </p:nvSpPr>
          <p:spPr>
            <a:xfrm>
              <a:off x="1066990" y="4183856"/>
              <a:ext cx="2597658"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链式法则如何把误差逐层分摊回去</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05</a:t>
              </a:r>
            </a:p>
          </p:txBody>
        </p:sp>
        <p:sp>
          <p:nvSpPr>
            <p:cNvPr id="24" name="TextBox 24"/>
            <p:cNvSpPr txBox="1"/>
            <p:nvPr/>
          </p:nvSpPr>
          <p:spPr>
            <a:xfrm>
              <a:off x="1065086" y="4638675"/>
              <a:ext cx="157162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训练技巧与泛化</a:t>
              </a:r>
            </a:p>
          </p:txBody>
        </p:sp>
        <p:sp>
          <p:nvSpPr>
            <p:cNvPr id="25" name="TextBox 25"/>
            <p:cNvSpPr txBox="1"/>
            <p:nvPr/>
          </p:nvSpPr>
          <p:spPr>
            <a:xfrm>
              <a:off x="1066990" y="4955381"/>
              <a:ext cx="343874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学习率、动量、局部极小、过拟合与Dropout</a:t>
              </a:r>
            </a:p>
          </p:txBody>
        </p:sp>
      </p:grpSp>
      <p:grpSp>
        <p:nvGrpSpPr>
          <p:cNvPr id="39" name="c2-card-1"/>
          <p:cNvGrpSpPr/>
          <p:nvPr/>
        </p:nvGrpSpPr>
        <p:grpSpPr>
          <a:xfrm>
            <a:off x="7114222" y="1524000"/>
            <a:ext cx="4544378" cy="3630930"/>
            <a:chOff x="7114222" y="1524000"/>
            <a:chExt cx="4544378" cy="3630930"/>
          </a:xfrm>
        </p:grpSpPr>
        <p:sp>
          <p:nvSpPr>
            <p:cNvPr id="27" name="Rectangle 27"/>
            <p:cNvSpPr/>
            <p:nvPr/>
          </p:nvSpPr>
          <p:spPr>
            <a:xfrm>
              <a:off x="7114222" y="1524000"/>
              <a:ext cx="4544378" cy="3630930"/>
            </a:xfrm>
            <a:prstGeom prst="roundRect">
              <a:avLst>
                <a:gd name="adj" fmla="val 3673"/>
              </a:avLst>
            </a:prstGeom>
            <a:solidFill>
              <a:srgbClr val="FFFFFF"/>
            </a:solidFill>
            <a:ln w="14288">
              <a:solidFill>
                <a:srgbClr val="D9DFEA"/>
              </a:solidFill>
            </a:ln>
          </p:spPr>
        </p:sp>
        <p:sp>
          <p:nvSpPr>
            <p:cNvPr id="28" name="Rectangle 28"/>
            <p:cNvSpPr/>
            <p:nvPr/>
          </p:nvSpPr>
          <p:spPr>
            <a:xfrm>
              <a:off x="7123748" y="1657350"/>
              <a:ext cx="47625" cy="3364230"/>
            </a:xfrm>
            <a:prstGeom prst="roundRect">
              <a:avLst>
                <a:gd name="adj" fmla="val 50000"/>
              </a:avLst>
            </a:prstGeom>
            <a:solidFill>
              <a:srgbClr val="0E7C86"/>
            </a:solidFill>
            <a:ln>
              <a:noFill/>
            </a:ln>
          </p:spPr>
        </p:sp>
        <p:sp>
          <p:nvSpPr>
            <p:cNvPr id="29" name="Rectangle 29"/>
            <p:cNvSpPr/>
            <p:nvPr/>
          </p:nvSpPr>
          <p:spPr>
            <a:xfrm>
              <a:off x="7361872" y="1733550"/>
              <a:ext cx="778192" cy="257175"/>
            </a:xfrm>
            <a:prstGeom prst="roundRect">
              <a:avLst>
                <a:gd name="adj" fmla="val 50000"/>
              </a:avLst>
            </a:prstGeom>
            <a:solidFill>
              <a:srgbClr val="E2F3F4"/>
            </a:solidFill>
            <a:ln>
              <a:noFill/>
            </a:ln>
          </p:spPr>
        </p:sp>
        <p:sp>
          <p:nvSpPr>
            <p:cNvPr id="30" name="TextBox 30"/>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学习目标</a:t>
              </a:r>
            </a:p>
          </p:txBody>
        </p:sp>
        <p:sp>
          <p:nvSpPr>
            <p:cNvPr id="31" name="Ellipse 31"/>
            <p:cNvSpPr/>
            <p:nvPr/>
          </p:nvSpPr>
          <p:spPr>
            <a:xfrm>
              <a:off x="7367588" y="2173605"/>
              <a:ext cx="64770" cy="64770"/>
            </a:xfrm>
            <a:prstGeom prst="ellipse">
              <a:avLst/>
            </a:prstGeom>
            <a:solidFill>
              <a:srgbClr val="0E7C86"/>
            </a:solidFill>
            <a:ln>
              <a:noFill/>
            </a:ln>
          </p:spPr>
        </p:sp>
        <p:sp>
          <p:nvSpPr>
            <p:cNvPr id="32" name="TextBox 32"/>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能手算感知器的逐步训练过程并画出判别直</a:t>
              </a:r>
              <a:br/>
              <a:r>
                <a:rPr lang="zh-CN" sz="1500" dirty="0">
                  <a:solidFill>
                    <a:srgbClr val="1F2937"/>
                  </a:solidFill>
                  <a:latin typeface="+mn-lt"/>
                  <a:ea typeface="+mn-ea"/>
                  <a:cs typeface="+mn-cs"/>
                </a:rPr>
                <a:t>线</a:t>
              </a:r>
            </a:p>
          </p:txBody>
        </p:sp>
        <p:sp>
          <p:nvSpPr>
            <p:cNvPr id="33" name="Ellipse 33"/>
            <p:cNvSpPr/>
            <p:nvPr/>
          </p:nvSpPr>
          <p:spPr>
            <a:xfrm>
              <a:off x="7367588" y="2794635"/>
              <a:ext cx="64770" cy="64770"/>
            </a:xfrm>
            <a:prstGeom prst="ellipse">
              <a:avLst/>
            </a:prstGeom>
            <a:solidFill>
              <a:srgbClr val="0E7C86"/>
            </a:solidFill>
            <a:ln>
              <a:noFill/>
            </a:ln>
          </p:spPr>
        </p:sp>
        <p:sp>
          <p:nvSpPr>
            <p:cNvPr id="34" name="TextBox 34"/>
            <p:cNvSpPr txBox="1"/>
            <p:nvPr/>
          </p:nvSpPr>
          <p:spPr>
            <a:xfrm>
              <a:off x="7525702" y="2731770"/>
              <a:ext cx="303504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能证明XOR不能用单个感知器实现</a:t>
              </a:r>
            </a:p>
          </p:txBody>
        </p:sp>
        <p:sp>
          <p:nvSpPr>
            <p:cNvPr id="35" name="Ellipse 35"/>
            <p:cNvSpPr/>
            <p:nvPr/>
          </p:nvSpPr>
          <p:spPr>
            <a:xfrm>
              <a:off x="7367588" y="3129915"/>
              <a:ext cx="64770" cy="64770"/>
            </a:xfrm>
            <a:prstGeom prst="ellipse">
              <a:avLst/>
            </a:prstGeom>
            <a:solidFill>
              <a:srgbClr val="0E7C86"/>
            </a:solidFill>
            <a:ln>
              <a:noFill/>
            </a:ln>
          </p:spPr>
        </p:sp>
        <p:sp>
          <p:nvSpPr>
            <p:cNvPr id="36" name="TextBox 36"/>
            <p:cNvSpPr txBox="1"/>
            <p:nvPr/>
          </p:nvSpPr>
          <p:spPr>
            <a:xfrm>
              <a:off x="7525702" y="306705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能对一个小网络手工完成一次完整的前向与</a:t>
              </a:r>
              <a:br/>
              <a:r>
                <a:rPr lang="zh-CN" sz="1500" dirty="0">
                  <a:solidFill>
                    <a:srgbClr val="1F2937"/>
                  </a:solidFill>
                  <a:latin typeface="+mn-lt"/>
                  <a:ea typeface="+mn-ea"/>
                  <a:cs typeface="+mn-cs"/>
                </a:rPr>
                <a:t>反向传播</a:t>
              </a:r>
            </a:p>
          </p:txBody>
        </p:sp>
        <p:sp>
          <p:nvSpPr>
            <p:cNvPr id="37" name="Ellipse 37"/>
            <p:cNvSpPr/>
            <p:nvPr/>
          </p:nvSpPr>
          <p:spPr>
            <a:xfrm>
              <a:off x="7367588" y="3750945"/>
              <a:ext cx="64770" cy="64770"/>
            </a:xfrm>
            <a:prstGeom prst="ellipse">
              <a:avLst/>
            </a:prstGeom>
            <a:solidFill>
              <a:srgbClr val="0E7C86"/>
            </a:solidFill>
            <a:ln>
              <a:noFill/>
            </a:ln>
          </p:spPr>
        </p:sp>
        <p:sp>
          <p:nvSpPr>
            <p:cNvPr id="38" name="TextBox 38"/>
            <p:cNvSpPr txBox="1"/>
            <p:nvPr/>
          </p:nvSpPr>
          <p:spPr>
            <a:xfrm>
              <a:off x="7525702" y="3688080"/>
              <a:ext cx="36061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能说清早停、正则化、Dropout分别在防什</a:t>
              </a:r>
              <a:br/>
              <a:r>
                <a:rPr lang="zh-CN" sz="1500" dirty="0">
                  <a:solidFill>
                    <a:srgbClr val="1F2937"/>
                  </a:solidFill>
                  <a:latin typeface="+mn-lt"/>
                  <a:ea typeface="+mn-ea"/>
                  <a:cs typeface="+mn-cs"/>
                </a:rPr>
                <a:t>么</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1" name="TextBox 4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6336792" cy="3351847"/>
            <a:chOff x="667512" y="1835468"/>
            <a:chExt cx="6336792"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633679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从生物神经元到人工神经网络</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先看清楚被模仿的那个东西是怎么工作的</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神经元的三个接口与阈值机制</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76193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兴奋抑制满足0-1律</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时间加算与空间加算</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学习就是连接强度在变</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一个神经元就是一个带阈值的加法器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399" y="1550194"/>
            <a:ext cx="6620325" cy="308039"/>
            <a:chOff x="525399" y="1550194"/>
            <a:chExt cx="6620325" cy="308039"/>
          </a:xfrm>
        </p:grpSpPr>
        <p:sp>
          <p:nvSpPr>
            <p:cNvPr id="7" name="TextBox 7"/>
            <p:cNvSpPr txBox="1"/>
            <p:nvPr/>
          </p:nvSpPr>
          <p:spPr>
            <a:xfrm>
              <a:off x="525399" y="1550194"/>
              <a:ext cx="6620325"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人脑约有 10¹¹ 个神经元，每个神经元平均与 10⁴ 个其他神经元相连。</a:t>
              </a:r>
            </a:p>
          </p:txBody>
        </p:sp>
      </p:grpSp>
      <p:grpSp>
        <p:nvGrpSpPr>
          <p:cNvPr id="17" name="c1-kv-1"/>
          <p:cNvGrpSpPr/>
          <p:nvPr/>
        </p:nvGrpSpPr>
        <p:grpSpPr>
          <a:xfrm>
            <a:off x="525780" y="1992630"/>
            <a:ext cx="4985385" cy="2583180"/>
            <a:chOff x="525780" y="1992630"/>
            <a:chExt cx="4985385" cy="2583180"/>
          </a:xfrm>
        </p:grpSpPr>
        <p:sp>
          <p:nvSpPr>
            <p:cNvPr id="9" name="TextBox 9"/>
            <p:cNvSpPr txBox="1"/>
            <p:nvPr/>
          </p:nvSpPr>
          <p:spPr>
            <a:xfrm>
              <a:off x="525780" y="1992630"/>
              <a:ext cx="1362618"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树突 dendrite</a:t>
              </a:r>
            </a:p>
          </p:txBody>
        </p:sp>
        <p:sp>
          <p:nvSpPr>
            <p:cNvPr id="10" name="TextBox 10"/>
            <p:cNvSpPr txBox="1"/>
            <p:nvPr/>
          </p:nvSpPr>
          <p:spPr>
            <a:xfrm>
              <a:off x="2019300" y="1992630"/>
              <a:ext cx="3253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从胞体向外伸出的神经纤维，接收其他</a:t>
              </a:r>
              <a:br/>
              <a:r>
                <a:rPr lang="zh-CN" sz="1500" dirty="0">
                  <a:solidFill>
                    <a:srgbClr val="1F2937"/>
                  </a:solidFill>
                  <a:latin typeface="+mn-lt"/>
                  <a:ea typeface="+mn-ea"/>
                  <a:cs typeface="+mn-cs"/>
                </a:rPr>
                <a:t>神经元的信号，相当于输入端</a:t>
              </a:r>
            </a:p>
          </p:txBody>
        </p:sp>
        <p:sp>
          <p:nvSpPr>
            <p:cNvPr id="11" name="Rectangle 11"/>
            <p:cNvSpPr/>
            <p:nvPr/>
          </p:nvSpPr>
          <p:spPr>
            <a:xfrm>
              <a:off x="533400" y="2594610"/>
              <a:ext cx="4977765" cy="9525"/>
            </a:xfrm>
            <a:prstGeom prst="rect">
              <a:avLst/>
            </a:prstGeom>
            <a:solidFill>
              <a:srgbClr val="D9DFEA"/>
            </a:solidFill>
            <a:ln>
              <a:noFill/>
            </a:ln>
          </p:spPr>
        </p:sp>
        <p:sp>
          <p:nvSpPr>
            <p:cNvPr id="12" name="TextBox 12"/>
            <p:cNvSpPr txBox="1"/>
            <p:nvPr/>
          </p:nvSpPr>
          <p:spPr>
            <a:xfrm>
              <a:off x="525780" y="2714625"/>
              <a:ext cx="949166"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轴突 axon</a:t>
              </a:r>
            </a:p>
          </p:txBody>
        </p:sp>
        <p:sp>
          <p:nvSpPr>
            <p:cNvPr id="13" name="TextBox 13"/>
            <p:cNvSpPr txBox="1"/>
            <p:nvPr/>
          </p:nvSpPr>
          <p:spPr>
            <a:xfrm>
              <a:off x="2019300" y="2714625"/>
              <a:ext cx="32537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胞体伸出的最长一条突起，末端分出神</a:t>
              </a:r>
              <a:br/>
              <a:r>
                <a:rPr lang="zh-CN" sz="1500" dirty="0">
                  <a:solidFill>
                    <a:srgbClr val="1F2937"/>
                  </a:solidFill>
                  <a:latin typeface="+mn-lt"/>
                  <a:ea typeface="+mn-ea"/>
                  <a:cs typeface="+mn-cs"/>
                </a:rPr>
                <a:t>经末梢向四面八方传出信号，相当于输</a:t>
              </a:r>
              <a:br/>
              <a:r>
                <a:rPr lang="zh-CN" sz="1500" dirty="0">
                  <a:solidFill>
                    <a:srgbClr val="1F2937"/>
                  </a:solidFill>
                  <a:latin typeface="+mn-lt"/>
                  <a:ea typeface="+mn-ea"/>
                  <a:cs typeface="+mn-cs"/>
                </a:rPr>
                <a:t>出端</a:t>
              </a:r>
            </a:p>
          </p:txBody>
        </p:sp>
        <p:sp>
          <p:nvSpPr>
            <p:cNvPr id="14" name="Rectangle 14"/>
            <p:cNvSpPr/>
            <p:nvPr/>
          </p:nvSpPr>
          <p:spPr>
            <a:xfrm>
              <a:off x="533400" y="3598545"/>
              <a:ext cx="4977765" cy="9525"/>
            </a:xfrm>
            <a:prstGeom prst="rect">
              <a:avLst/>
            </a:prstGeom>
            <a:solidFill>
              <a:srgbClr val="D9DFEA"/>
            </a:solidFill>
            <a:ln>
              <a:noFill/>
            </a:ln>
          </p:spPr>
        </p:sp>
        <p:sp>
          <p:nvSpPr>
            <p:cNvPr id="15" name="TextBox 15"/>
            <p:cNvSpPr txBox="1"/>
            <p:nvPr/>
          </p:nvSpPr>
          <p:spPr>
            <a:xfrm>
              <a:off x="525780" y="3718560"/>
              <a:ext cx="129901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突触 synapse</a:t>
              </a:r>
            </a:p>
          </p:txBody>
        </p:sp>
        <p:sp>
          <p:nvSpPr>
            <p:cNvPr id="16" name="TextBox 16"/>
            <p:cNvSpPr txBox="1"/>
            <p:nvPr/>
          </p:nvSpPr>
          <p:spPr>
            <a:xfrm>
              <a:off x="2019300" y="3718560"/>
              <a:ext cx="32537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一个神经元的神经末梢与另一个神经元</a:t>
              </a:r>
              <a:br/>
              <a:r>
                <a:rPr lang="zh-CN" sz="1500" dirty="0">
                  <a:solidFill>
                    <a:srgbClr val="1F2937"/>
                  </a:solidFill>
                  <a:latin typeface="+mn-lt"/>
                  <a:ea typeface="+mn-ea"/>
                  <a:cs typeface="+mn-cs"/>
                </a:rPr>
                <a:t>的胞体或树突的连接，相当于输入输出</a:t>
              </a:r>
              <a:br/>
              <a:r>
                <a:rPr lang="zh-CN" sz="1500" dirty="0">
                  <a:solidFill>
                    <a:srgbClr val="1F2937"/>
                  </a:solidFill>
                  <a:latin typeface="+mn-lt"/>
                  <a:ea typeface="+mn-ea"/>
                  <a:cs typeface="+mn-cs"/>
                </a:rPr>
                <a:t>接口</a:t>
              </a:r>
            </a:p>
          </p:txBody>
        </p:sp>
      </p:grpSp>
      <p:grpSp>
        <p:nvGrpSpPr>
          <p:cNvPr id="24" name="c1-callout-2"/>
          <p:cNvGrpSpPr/>
          <p:nvPr/>
        </p:nvGrpSpPr>
        <p:grpSpPr>
          <a:xfrm>
            <a:off x="533400" y="4707255"/>
            <a:ext cx="4977765" cy="782955"/>
            <a:chOff x="533400" y="4707255"/>
            <a:chExt cx="4977765" cy="782955"/>
          </a:xfrm>
        </p:grpSpPr>
        <p:sp>
          <p:nvSpPr>
            <p:cNvPr id="18" name="Rectangle 18"/>
            <p:cNvSpPr/>
            <p:nvPr/>
          </p:nvSpPr>
          <p:spPr>
            <a:xfrm>
              <a:off x="533400" y="4707255"/>
              <a:ext cx="4977765" cy="782955"/>
            </a:xfrm>
            <a:prstGeom prst="roundRect">
              <a:avLst>
                <a:gd name="adj" fmla="val 14599"/>
              </a:avLst>
            </a:prstGeom>
            <a:solidFill>
              <a:srgbClr val="F4F6FB"/>
            </a:solidFill>
            <a:ln>
              <a:noFill/>
            </a:ln>
          </p:spPr>
        </p:sp>
        <p:grpSp>
          <p:nvGrpSpPr>
            <p:cNvPr id="22" name="Group 22"/>
            <p:cNvGrpSpPr/>
            <p:nvPr/>
          </p:nvGrpSpPr>
          <p:grpSpPr>
            <a:xfrm>
              <a:off x="738188" y="4998720"/>
              <a:ext cx="200026" cy="200026"/>
              <a:chOff x="738188" y="4998720"/>
              <a:chExt cx="200026" cy="200026"/>
            </a:xfrm>
          </p:grpSpPr>
          <p:sp>
            <p:nvSpPr>
              <p:cNvPr id="19" name="Freeform 19"/>
              <p:cNvSpPr/>
              <p:nvPr/>
            </p:nvSpPr>
            <p:spPr>
              <a:xfrm>
                <a:off x="738188" y="499872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0" name="Freeform 20"/>
              <p:cNvSpPr/>
              <p:nvPr/>
            </p:nvSpPr>
            <p:spPr>
              <a:xfrm>
                <a:off x="838200" y="506539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1" name="Freeform 21"/>
              <p:cNvSpPr/>
              <p:nvPr/>
            </p:nvSpPr>
            <p:spPr>
              <a:xfrm>
                <a:off x="827088" y="509873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3" name="TextBox 23"/>
            <p:cNvSpPr txBox="1"/>
            <p:nvPr/>
          </p:nvSpPr>
          <p:spPr>
            <a:xfrm>
              <a:off x="1040130" y="4855845"/>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信号沿轴突经突触传到下一个细胞的胞体和树</a:t>
              </a:r>
              <a:br/>
              <a:r>
                <a:rPr lang="zh-CN" sz="1500" dirty="0">
                  <a:solidFill>
                    <a:srgbClr val="1F2937"/>
                  </a:solidFill>
                  <a:latin typeface="+mn-lt"/>
                  <a:ea typeface="+mn-ea"/>
                  <a:cs typeface="+mn-cs"/>
                </a:rPr>
                <a:t>突，方向是单向的。</a:t>
              </a:r>
            </a:p>
          </p:txBody>
        </p:sp>
      </p:grpSp>
      <p:grpSp>
        <p:nvGrpSpPr>
          <p:cNvPr id="54" name="c2-graph-1"/>
          <p:cNvGrpSpPr/>
          <p:nvPr/>
        </p:nvGrpSpPr>
        <p:grpSpPr>
          <a:xfrm>
            <a:off x="5963641" y="2412682"/>
            <a:ext cx="5567324" cy="2810542"/>
            <a:chOff x="5963641" y="2412682"/>
            <a:chExt cx="5567324" cy="2810542"/>
          </a:xfrm>
        </p:grpSpPr>
        <p:sp>
          <p:nvSpPr>
            <p:cNvPr id="25" name="Freeform 25"/>
            <p:cNvSpPr/>
            <p:nvPr/>
          </p:nvSpPr>
          <p:spPr>
            <a:xfrm>
              <a:off x="6218872" y="2623185"/>
              <a:ext cx="1421130" cy="589598"/>
            </a:xfrm>
            <a:custGeom>
              <a:avLst/>
              <a:gdLst/>
              <a:ahLst/>
              <a:cxnLst/>
              <a:rect l="l" t="t" r="r" b="b"/>
              <a:pathLst>
                <a:path w="1421130" h="589598">
                  <a:moveTo>
                    <a:pt x="0" y="0"/>
                  </a:moveTo>
                  <a:lnTo>
                    <a:pt x="1421130" y="589598"/>
                  </a:lnTo>
                </a:path>
              </a:pathLst>
            </a:custGeom>
            <a:noFill/>
            <a:ln w="17145">
              <a:solidFill>
                <a:srgbClr val="1F2937"/>
              </a:solidFill>
            </a:ln>
          </p:spPr>
        </p:sp>
        <p:sp>
          <p:nvSpPr>
            <p:cNvPr id="26" name="Freeform 26"/>
            <p:cNvSpPr/>
            <p:nvPr/>
          </p:nvSpPr>
          <p:spPr>
            <a:xfrm>
              <a:off x="7621905" y="3168015"/>
              <a:ext cx="105727" cy="88582"/>
            </a:xfrm>
            <a:custGeom>
              <a:avLst/>
              <a:gdLst/>
              <a:ahLst/>
              <a:cxnLst/>
              <a:rect l="l" t="t" r="r" b="b"/>
              <a:pathLst>
                <a:path w="105727" h="88582">
                  <a:moveTo>
                    <a:pt x="105727" y="80962"/>
                  </a:moveTo>
                  <a:lnTo>
                    <a:pt x="0" y="88582"/>
                  </a:lnTo>
                  <a:lnTo>
                    <a:pt x="36195" y="0"/>
                  </a:lnTo>
                  <a:close/>
                </a:path>
              </a:pathLst>
            </a:custGeom>
            <a:solidFill>
              <a:srgbClr val="1F2937"/>
            </a:solidFill>
            <a:ln>
              <a:noFill/>
            </a:ln>
          </p:spPr>
        </p:sp>
        <p:sp>
          <p:nvSpPr>
            <p:cNvPr id="27" name="Freeform 27"/>
            <p:cNvSpPr/>
            <p:nvPr/>
          </p:nvSpPr>
          <p:spPr>
            <a:xfrm>
              <a:off x="6223635" y="3376612"/>
              <a:ext cx="1383983" cy="9525"/>
            </a:xfrm>
            <a:custGeom>
              <a:avLst/>
              <a:gdLst/>
              <a:ahLst/>
              <a:cxnLst/>
              <a:rect l="l" t="t" r="r" b="b"/>
              <a:pathLst>
                <a:path w="1383983" h="9525">
                  <a:moveTo>
                    <a:pt x="0" y="0"/>
                  </a:moveTo>
                  <a:lnTo>
                    <a:pt x="1383983" y="0"/>
                  </a:lnTo>
                </a:path>
              </a:pathLst>
            </a:custGeom>
            <a:noFill/>
            <a:ln w="17145">
              <a:solidFill>
                <a:srgbClr val="1F2937"/>
              </a:solidFill>
            </a:ln>
          </p:spPr>
        </p:sp>
        <p:sp>
          <p:nvSpPr>
            <p:cNvPr id="28" name="Freeform 28"/>
            <p:cNvSpPr/>
            <p:nvPr/>
          </p:nvSpPr>
          <p:spPr>
            <a:xfrm>
              <a:off x="7607618" y="332898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218872" y="3540442"/>
              <a:ext cx="1421130" cy="588645"/>
            </a:xfrm>
            <a:custGeom>
              <a:avLst/>
              <a:gdLst/>
              <a:ahLst/>
              <a:cxnLst/>
              <a:rect l="l" t="t" r="r" b="b"/>
              <a:pathLst>
                <a:path w="1421130" h="588645">
                  <a:moveTo>
                    <a:pt x="0" y="588645"/>
                  </a:moveTo>
                  <a:lnTo>
                    <a:pt x="1421130" y="0"/>
                  </a:lnTo>
                </a:path>
              </a:pathLst>
            </a:custGeom>
            <a:noFill/>
            <a:ln w="17145">
              <a:solidFill>
                <a:srgbClr val="1F2937"/>
              </a:solidFill>
            </a:ln>
          </p:spPr>
        </p:sp>
        <p:sp>
          <p:nvSpPr>
            <p:cNvPr id="30" name="Freeform 30"/>
            <p:cNvSpPr/>
            <p:nvPr/>
          </p:nvSpPr>
          <p:spPr>
            <a:xfrm>
              <a:off x="7621905" y="3496628"/>
              <a:ext cx="105727" cy="87630"/>
            </a:xfrm>
            <a:custGeom>
              <a:avLst/>
              <a:gdLst/>
              <a:ahLst/>
              <a:cxnLst/>
              <a:rect l="l" t="t" r="r" b="b"/>
              <a:pathLst>
                <a:path w="105727" h="87630">
                  <a:moveTo>
                    <a:pt x="105727" y="7620"/>
                  </a:moveTo>
                  <a:lnTo>
                    <a:pt x="36195" y="87630"/>
                  </a:lnTo>
                  <a:lnTo>
                    <a:pt x="0" y="0"/>
                  </a:lnTo>
                  <a:close/>
                </a:path>
              </a:pathLst>
            </a:custGeom>
            <a:solidFill>
              <a:srgbClr val="1F2937"/>
            </a:solidFill>
            <a:ln>
              <a:noFill/>
            </a:ln>
          </p:spPr>
        </p:sp>
        <p:sp>
          <p:nvSpPr>
            <p:cNvPr id="31" name="Freeform 31"/>
            <p:cNvSpPr/>
            <p:nvPr/>
          </p:nvSpPr>
          <p:spPr>
            <a:xfrm>
              <a:off x="8369618" y="3376612"/>
              <a:ext cx="2073593" cy="9525"/>
            </a:xfrm>
            <a:custGeom>
              <a:avLst/>
              <a:gdLst/>
              <a:ahLst/>
              <a:cxnLst/>
              <a:rect l="l" t="t" r="r" b="b"/>
              <a:pathLst>
                <a:path w="2073593" h="9525">
                  <a:moveTo>
                    <a:pt x="0" y="0"/>
                  </a:moveTo>
                  <a:lnTo>
                    <a:pt x="2073593" y="0"/>
                  </a:lnTo>
                </a:path>
              </a:pathLst>
            </a:custGeom>
            <a:noFill/>
            <a:ln w="17145">
              <a:solidFill>
                <a:srgbClr val="1F2937"/>
              </a:solidFill>
            </a:ln>
          </p:spPr>
        </p:sp>
        <p:sp>
          <p:nvSpPr>
            <p:cNvPr id="32" name="Freeform 32"/>
            <p:cNvSpPr/>
            <p:nvPr/>
          </p:nvSpPr>
          <p:spPr>
            <a:xfrm>
              <a:off x="10443210" y="332898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3" name="Freeform 33"/>
            <p:cNvSpPr/>
            <p:nvPr/>
          </p:nvSpPr>
          <p:spPr>
            <a:xfrm>
              <a:off x="11049952" y="2592705"/>
              <a:ext cx="357188" cy="621983"/>
            </a:xfrm>
            <a:custGeom>
              <a:avLst/>
              <a:gdLst/>
              <a:ahLst/>
              <a:cxnLst/>
              <a:rect l="l" t="t" r="r" b="b"/>
              <a:pathLst>
                <a:path w="357188" h="621983">
                  <a:moveTo>
                    <a:pt x="0" y="621983"/>
                  </a:moveTo>
                  <a:lnTo>
                    <a:pt x="357188" y="0"/>
                  </a:lnTo>
                </a:path>
              </a:pathLst>
            </a:custGeom>
            <a:noFill/>
            <a:ln w="17145">
              <a:solidFill>
                <a:srgbClr val="1F2937"/>
              </a:solidFill>
            </a:ln>
          </p:spPr>
        </p:sp>
        <p:sp>
          <p:nvSpPr>
            <p:cNvPr id="34" name="Freeform 34"/>
            <p:cNvSpPr/>
            <p:nvPr/>
          </p:nvSpPr>
          <p:spPr>
            <a:xfrm>
              <a:off x="11366182" y="2509838"/>
              <a:ext cx="88582" cy="106680"/>
            </a:xfrm>
            <a:custGeom>
              <a:avLst/>
              <a:gdLst/>
              <a:ahLst/>
              <a:cxnLst/>
              <a:rect l="l" t="t" r="r" b="b"/>
              <a:pathLst>
                <a:path w="88582" h="106680">
                  <a:moveTo>
                    <a:pt x="88582" y="0"/>
                  </a:moveTo>
                  <a:lnTo>
                    <a:pt x="82868" y="106680"/>
                  </a:lnTo>
                  <a:lnTo>
                    <a:pt x="0" y="59055"/>
                  </a:lnTo>
                  <a:close/>
                </a:path>
              </a:pathLst>
            </a:custGeom>
            <a:solidFill>
              <a:srgbClr val="1F2937"/>
            </a:solidFill>
            <a:ln>
              <a:noFill/>
            </a:ln>
          </p:spPr>
        </p:sp>
        <p:sp>
          <p:nvSpPr>
            <p:cNvPr id="35" name="Freeform 35"/>
            <p:cNvSpPr/>
            <p:nvPr/>
          </p:nvSpPr>
          <p:spPr>
            <a:xfrm>
              <a:off x="11049952" y="3538538"/>
              <a:ext cx="357188" cy="621983"/>
            </a:xfrm>
            <a:custGeom>
              <a:avLst/>
              <a:gdLst/>
              <a:ahLst/>
              <a:cxnLst/>
              <a:rect l="l" t="t" r="r" b="b"/>
              <a:pathLst>
                <a:path w="357188" h="621983">
                  <a:moveTo>
                    <a:pt x="0" y="0"/>
                  </a:moveTo>
                  <a:lnTo>
                    <a:pt x="357188" y="621983"/>
                  </a:lnTo>
                </a:path>
              </a:pathLst>
            </a:custGeom>
            <a:noFill/>
            <a:ln w="17145">
              <a:solidFill>
                <a:srgbClr val="1F2937"/>
              </a:solidFill>
            </a:ln>
          </p:spPr>
        </p:sp>
        <p:sp>
          <p:nvSpPr>
            <p:cNvPr id="36" name="Freeform 36"/>
            <p:cNvSpPr/>
            <p:nvPr/>
          </p:nvSpPr>
          <p:spPr>
            <a:xfrm>
              <a:off x="11366182" y="4136708"/>
              <a:ext cx="88582" cy="105727"/>
            </a:xfrm>
            <a:custGeom>
              <a:avLst/>
              <a:gdLst/>
              <a:ahLst/>
              <a:cxnLst/>
              <a:rect l="l" t="t" r="r" b="b"/>
              <a:pathLst>
                <a:path w="88582" h="105727">
                  <a:moveTo>
                    <a:pt x="88582" y="105727"/>
                  </a:moveTo>
                  <a:lnTo>
                    <a:pt x="0" y="46672"/>
                  </a:lnTo>
                  <a:lnTo>
                    <a:pt x="82868" y="0"/>
                  </a:lnTo>
                  <a:close/>
                </a:path>
              </a:pathLst>
            </a:custGeom>
            <a:solidFill>
              <a:srgbClr val="1F2937"/>
            </a:solidFill>
            <a:ln>
              <a:noFill/>
            </a:ln>
          </p:spPr>
        </p:sp>
        <p:sp>
          <p:nvSpPr>
            <p:cNvPr id="37" name="Ellipse 37"/>
            <p:cNvSpPr/>
            <p:nvPr/>
          </p:nvSpPr>
          <p:spPr>
            <a:xfrm>
              <a:off x="6118860" y="2553652"/>
              <a:ext cx="95250" cy="95250"/>
            </a:xfrm>
            <a:prstGeom prst="ellipse">
              <a:avLst/>
            </a:prstGeom>
            <a:solidFill>
              <a:srgbClr val="0E7C86"/>
            </a:solidFill>
            <a:ln>
              <a:noFill/>
            </a:ln>
          </p:spPr>
        </p:sp>
        <p:sp>
          <p:nvSpPr>
            <p:cNvPr id="38" name="Ellipse 38"/>
            <p:cNvSpPr/>
            <p:nvPr/>
          </p:nvSpPr>
          <p:spPr>
            <a:xfrm>
              <a:off x="6118860" y="3328988"/>
              <a:ext cx="95250" cy="95250"/>
            </a:xfrm>
            <a:prstGeom prst="ellipse">
              <a:avLst/>
            </a:prstGeom>
            <a:solidFill>
              <a:srgbClr val="0E7C86"/>
            </a:solidFill>
            <a:ln>
              <a:noFill/>
            </a:ln>
          </p:spPr>
        </p:sp>
        <p:sp>
          <p:nvSpPr>
            <p:cNvPr id="39" name="Ellipse 39"/>
            <p:cNvSpPr/>
            <p:nvPr/>
          </p:nvSpPr>
          <p:spPr>
            <a:xfrm>
              <a:off x="6118860" y="4103370"/>
              <a:ext cx="95250" cy="95250"/>
            </a:xfrm>
            <a:prstGeom prst="ellipse">
              <a:avLst/>
            </a:prstGeom>
            <a:solidFill>
              <a:srgbClr val="0E7C86"/>
            </a:solidFill>
            <a:ln>
              <a:noFill/>
            </a:ln>
          </p:spPr>
        </p:sp>
        <p:sp>
          <p:nvSpPr>
            <p:cNvPr id="40" name="Ellipse 40"/>
            <p:cNvSpPr/>
            <p:nvPr/>
          </p:nvSpPr>
          <p:spPr>
            <a:xfrm>
              <a:off x="7712392" y="3052762"/>
              <a:ext cx="647700" cy="647700"/>
            </a:xfrm>
            <a:prstGeom prst="ellipse">
              <a:avLst/>
            </a:prstGeom>
            <a:solidFill>
              <a:srgbClr val="0E7C86"/>
            </a:solidFill>
            <a:ln w="17145">
              <a:solidFill>
                <a:srgbClr val="0E7C86"/>
              </a:solidFill>
            </a:ln>
          </p:spPr>
        </p:sp>
        <p:sp>
          <p:nvSpPr>
            <p:cNvPr id="41" name="Rectangle 41"/>
            <p:cNvSpPr/>
            <p:nvPr/>
          </p:nvSpPr>
          <p:spPr>
            <a:xfrm>
              <a:off x="10538460" y="3214688"/>
              <a:ext cx="838200" cy="323850"/>
            </a:xfrm>
            <a:prstGeom prst="roundRect">
              <a:avLst>
                <a:gd name="adj" fmla="val 29412"/>
              </a:avLst>
            </a:prstGeom>
            <a:solidFill>
              <a:srgbClr val="FFFFFF"/>
            </a:solidFill>
            <a:ln w="17145">
              <a:solidFill>
                <a:srgbClr val="0E7C86"/>
              </a:solidFill>
            </a:ln>
          </p:spPr>
        </p:sp>
        <p:sp>
          <p:nvSpPr>
            <p:cNvPr id="42" name="Ellipse 42"/>
            <p:cNvSpPr/>
            <p:nvPr/>
          </p:nvSpPr>
          <p:spPr>
            <a:xfrm>
              <a:off x="11435715" y="2412682"/>
              <a:ext cx="95250" cy="95250"/>
            </a:xfrm>
            <a:prstGeom prst="ellipse">
              <a:avLst/>
            </a:prstGeom>
            <a:solidFill>
              <a:srgbClr val="0E7C86"/>
            </a:solidFill>
            <a:ln>
              <a:noFill/>
            </a:ln>
          </p:spPr>
        </p:sp>
        <p:sp>
          <p:nvSpPr>
            <p:cNvPr id="43" name="Ellipse 43"/>
            <p:cNvSpPr/>
            <p:nvPr/>
          </p:nvSpPr>
          <p:spPr>
            <a:xfrm>
              <a:off x="11435715" y="4244340"/>
              <a:ext cx="95250" cy="95250"/>
            </a:xfrm>
            <a:prstGeom prst="ellipse">
              <a:avLst/>
            </a:prstGeom>
            <a:solidFill>
              <a:srgbClr val="0E7C86"/>
            </a:solidFill>
            <a:ln>
              <a:noFill/>
            </a:ln>
          </p:spPr>
        </p:sp>
        <p:sp>
          <p:nvSpPr>
            <p:cNvPr id="44" name="TextBox 44"/>
            <p:cNvSpPr txBox="1"/>
            <p:nvPr/>
          </p:nvSpPr>
          <p:spPr>
            <a:xfrm>
              <a:off x="7868602" y="320611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胞体</a:t>
              </a:r>
            </a:p>
          </p:txBody>
        </p:sp>
        <p:sp>
          <p:nvSpPr>
            <p:cNvPr id="45" name="TextBox 45"/>
            <p:cNvSpPr txBox="1"/>
            <p:nvPr/>
          </p:nvSpPr>
          <p:spPr>
            <a:xfrm>
              <a:off x="7545515" y="339661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求和与比阈值</a:t>
              </a:r>
            </a:p>
          </p:txBody>
        </p:sp>
        <p:sp>
          <p:nvSpPr>
            <p:cNvPr id="46" name="TextBox 46"/>
            <p:cNvSpPr txBox="1"/>
            <p:nvPr/>
          </p:nvSpPr>
          <p:spPr>
            <a:xfrm>
              <a:off x="10628376" y="3301365"/>
              <a:ext cx="658368"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神经末梢</a:t>
              </a:r>
            </a:p>
          </p:txBody>
        </p:sp>
        <p:sp>
          <p:nvSpPr>
            <p:cNvPr id="47" name="Rectangle 47"/>
            <p:cNvSpPr/>
            <p:nvPr/>
          </p:nvSpPr>
          <p:spPr>
            <a:xfrm>
              <a:off x="6811328" y="2843212"/>
              <a:ext cx="324802" cy="173355"/>
            </a:xfrm>
            <a:prstGeom prst="roundRect">
              <a:avLst>
                <a:gd name="adj" fmla="val 21978"/>
              </a:avLst>
            </a:prstGeom>
            <a:solidFill>
              <a:srgbClr val="FFFFFF"/>
            </a:solidFill>
            <a:ln>
              <a:noFill/>
            </a:ln>
          </p:spPr>
        </p:sp>
        <p:sp>
          <p:nvSpPr>
            <p:cNvPr id="48" name="TextBox 48"/>
            <p:cNvSpPr txBox="1"/>
            <p:nvPr/>
          </p:nvSpPr>
          <p:spPr>
            <a:xfrm>
              <a:off x="6836372" y="2877979"/>
              <a:ext cx="273761"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树突</a:t>
              </a:r>
            </a:p>
          </p:txBody>
        </p:sp>
        <p:sp>
          <p:nvSpPr>
            <p:cNvPr id="49" name="Rectangle 49"/>
            <p:cNvSpPr/>
            <p:nvPr/>
          </p:nvSpPr>
          <p:spPr>
            <a:xfrm>
              <a:off x="9291638" y="3283268"/>
              <a:ext cx="324802" cy="173355"/>
            </a:xfrm>
            <a:prstGeom prst="roundRect">
              <a:avLst>
                <a:gd name="adj" fmla="val 21978"/>
              </a:avLst>
            </a:prstGeom>
            <a:solidFill>
              <a:srgbClr val="FFFFFF"/>
            </a:solidFill>
            <a:ln>
              <a:noFill/>
            </a:ln>
          </p:spPr>
        </p:sp>
        <p:sp>
          <p:nvSpPr>
            <p:cNvPr id="50" name="TextBox 50"/>
            <p:cNvSpPr txBox="1"/>
            <p:nvPr/>
          </p:nvSpPr>
          <p:spPr>
            <a:xfrm>
              <a:off x="9316682" y="3318034"/>
              <a:ext cx="273761"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轴突</a:t>
              </a:r>
            </a:p>
          </p:txBody>
        </p:sp>
        <p:sp>
          <p:nvSpPr>
            <p:cNvPr id="51" name="TextBox 51"/>
            <p:cNvSpPr txBox="1"/>
            <p:nvPr/>
          </p:nvSpPr>
          <p:spPr>
            <a:xfrm>
              <a:off x="5963641" y="4680109"/>
              <a:ext cx="4056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输入端</a:t>
              </a:r>
            </a:p>
          </p:txBody>
        </p:sp>
        <p:sp>
          <p:nvSpPr>
            <p:cNvPr id="52" name="TextBox 52"/>
            <p:cNvSpPr txBox="1"/>
            <p:nvPr/>
          </p:nvSpPr>
          <p:spPr>
            <a:xfrm>
              <a:off x="10754716" y="4186714"/>
              <a:ext cx="4056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输出端</a:t>
              </a:r>
            </a:p>
          </p:txBody>
        </p:sp>
        <p:sp>
          <p:nvSpPr>
            <p:cNvPr id="53" name="TextBox 53"/>
            <p:cNvSpPr txBox="1"/>
            <p:nvPr/>
          </p:nvSpPr>
          <p:spPr>
            <a:xfrm>
              <a:off x="10622788" y="5032534"/>
              <a:ext cx="66954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突触在这里</a:t>
              </a:r>
            </a:p>
          </p:txBody>
        </p:sp>
      </p:grpSp>
      <p:grpSp>
        <p:nvGrpSpPr>
          <p:cNvPr id="60" name="takeaway"/>
          <p:cNvGrpSpPr/>
          <p:nvPr/>
        </p:nvGrpSpPr>
        <p:grpSpPr>
          <a:xfrm>
            <a:off x="533400" y="5829300"/>
            <a:ext cx="11125200" cy="533400"/>
            <a:chOff x="533400" y="5829300"/>
            <a:chExt cx="11125200" cy="533400"/>
          </a:xfrm>
        </p:grpSpPr>
        <p:sp>
          <p:nvSpPr>
            <p:cNvPr id="55" name="Rectangle 55"/>
            <p:cNvSpPr/>
            <p:nvPr/>
          </p:nvSpPr>
          <p:spPr>
            <a:xfrm>
              <a:off x="533400" y="5829300"/>
              <a:ext cx="11125200" cy="533400"/>
            </a:xfrm>
            <a:prstGeom prst="roundRect">
              <a:avLst>
                <a:gd name="adj" fmla="val 21429"/>
              </a:avLst>
            </a:prstGeom>
            <a:solidFill>
              <a:srgbClr val="0E7C86"/>
            </a:solidFill>
            <a:ln>
              <a:noFill/>
            </a:ln>
          </p:spPr>
        </p:sp>
        <p:grpSp>
          <p:nvGrpSpPr>
            <p:cNvPr id="58" name="Group 58"/>
            <p:cNvGrpSpPr/>
            <p:nvPr/>
          </p:nvGrpSpPr>
          <p:grpSpPr>
            <a:xfrm>
              <a:off x="738188" y="5995990"/>
              <a:ext cx="200023" cy="200023"/>
              <a:chOff x="738188" y="5995990"/>
              <a:chExt cx="200023" cy="200023"/>
            </a:xfrm>
          </p:grpSpPr>
          <p:sp>
            <p:nvSpPr>
              <p:cNvPr id="56" name="Freeform 56"/>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0130" y="5991225"/>
              <a:ext cx="688086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单个神经元只做两件事：把收到的信号加起来，再看这个和有没有超过阈值。</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2" name="TextBox 6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087950" cy="909257"/>
            <a:chOff x="520446" y="342900"/>
            <a:chExt cx="4087950"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408795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膜电位越过 -55mV 才放电</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7" name="c1-table-1"/>
          <p:cNvGrpSpPr/>
          <p:nvPr/>
        </p:nvGrpSpPr>
        <p:grpSpPr>
          <a:xfrm>
            <a:off x="533400" y="1524000"/>
            <a:ext cx="5842635" cy="2847975"/>
            <a:chOff x="533400" y="1524000"/>
            <a:chExt cx="5842635" cy="2847975"/>
          </a:xfrm>
        </p:grpSpPr>
        <p:sp>
          <p:nvSpPr>
            <p:cNvPr id="7" name="Rectangle 7"/>
            <p:cNvSpPr/>
            <p:nvPr/>
          </p:nvSpPr>
          <p:spPr>
            <a:xfrm>
              <a:off x="533400" y="1524000"/>
              <a:ext cx="5842635" cy="381000"/>
            </a:xfrm>
            <a:prstGeom prst="rect">
              <a:avLst/>
            </a:prstGeom>
            <a:solidFill>
              <a:srgbClr val="0E7C86"/>
            </a:solidFill>
            <a:ln>
              <a:noFill/>
            </a:ln>
          </p:spPr>
        </p:sp>
        <p:sp>
          <p:nvSpPr>
            <p:cNvPr id="8" name="TextBox 8"/>
            <p:cNvSpPr txBox="1"/>
            <p:nvPr/>
          </p:nvSpPr>
          <p:spPr>
            <a:xfrm>
              <a:off x="1145857"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状态</a:t>
              </a:r>
            </a:p>
          </p:txBody>
        </p:sp>
        <p:sp>
          <p:nvSpPr>
            <p:cNvPr id="9" name="TextBox 9"/>
            <p:cNvSpPr txBox="1"/>
            <p:nvPr/>
          </p:nvSpPr>
          <p:spPr>
            <a:xfrm>
              <a:off x="271157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膜电位</a:t>
              </a:r>
            </a:p>
          </p:txBody>
        </p:sp>
        <p:sp>
          <p:nvSpPr>
            <p:cNvPr id="10" name="TextBox 10"/>
            <p:cNvSpPr txBox="1"/>
            <p:nvPr/>
          </p:nvSpPr>
          <p:spPr>
            <a:xfrm>
              <a:off x="4944428"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现象</a:t>
              </a:r>
            </a:p>
          </p:txBody>
        </p:sp>
        <p:sp>
          <p:nvSpPr>
            <p:cNvPr id="11" name="TextBox 11"/>
            <p:cNvSpPr txBox="1"/>
            <p:nvPr/>
          </p:nvSpPr>
          <p:spPr>
            <a:xfrm>
              <a:off x="628078" y="2023110"/>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静止</a:t>
              </a:r>
            </a:p>
          </p:txBody>
        </p:sp>
        <p:sp>
          <p:nvSpPr>
            <p:cNvPr id="12" name="TextBox 12"/>
            <p:cNvSpPr txBox="1"/>
            <p:nvPr/>
          </p:nvSpPr>
          <p:spPr>
            <a:xfrm>
              <a:off x="2147316" y="2023110"/>
              <a:ext cx="624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约 -70mV</a:t>
              </a:r>
            </a:p>
          </p:txBody>
        </p:sp>
        <p:sp>
          <p:nvSpPr>
            <p:cNvPr id="13" name="TextBox 13"/>
            <p:cNvSpPr txBox="1"/>
            <p:nvPr/>
          </p:nvSpPr>
          <p:spPr>
            <a:xfrm>
              <a:off x="3899916" y="2023110"/>
              <a:ext cx="241363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没有输入信号时的电位，称静止膜电位</a:t>
              </a:r>
            </a:p>
          </p:txBody>
        </p:sp>
        <p:sp>
          <p:nvSpPr>
            <p:cNvPr id="14" name="Rectangle 14"/>
            <p:cNvSpPr/>
            <p:nvPr/>
          </p:nvSpPr>
          <p:spPr>
            <a:xfrm>
              <a:off x="533400" y="2282190"/>
              <a:ext cx="5842635" cy="9525"/>
            </a:xfrm>
            <a:prstGeom prst="rect">
              <a:avLst/>
            </a:prstGeom>
            <a:solidFill>
              <a:srgbClr val="D9DFEA"/>
            </a:solidFill>
            <a:ln>
              <a:noFill/>
            </a:ln>
          </p:spPr>
        </p:sp>
        <p:sp>
          <p:nvSpPr>
            <p:cNvPr id="15" name="Rectangle 15"/>
            <p:cNvSpPr/>
            <p:nvPr/>
          </p:nvSpPr>
          <p:spPr>
            <a:xfrm>
              <a:off x="533400" y="2286952"/>
              <a:ext cx="5842635" cy="567690"/>
            </a:xfrm>
            <a:prstGeom prst="rect">
              <a:avLst/>
            </a:prstGeom>
            <a:solidFill>
              <a:srgbClr val="F4F6FB"/>
            </a:solidFill>
            <a:ln>
              <a:noFill/>
            </a:ln>
          </p:spPr>
        </p:sp>
        <p:sp>
          <p:nvSpPr>
            <p:cNvPr id="16" name="TextBox 16"/>
            <p:cNvSpPr txBox="1"/>
            <p:nvPr/>
          </p:nvSpPr>
          <p:spPr>
            <a:xfrm>
              <a:off x="628078" y="249745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兴奋</a:t>
              </a:r>
            </a:p>
          </p:txBody>
        </p:sp>
        <p:sp>
          <p:nvSpPr>
            <p:cNvPr id="17" name="Rectangle 17"/>
            <p:cNvSpPr/>
            <p:nvPr/>
          </p:nvSpPr>
          <p:spPr>
            <a:xfrm>
              <a:off x="2062162" y="2296478"/>
              <a:ext cx="1733550" cy="548640"/>
            </a:xfrm>
            <a:prstGeom prst="rect">
              <a:avLst/>
            </a:prstGeom>
            <a:solidFill>
              <a:srgbClr val="FDEEE7"/>
            </a:solidFill>
            <a:ln>
              <a:noFill/>
            </a:ln>
          </p:spPr>
        </p:sp>
        <p:sp>
          <p:nvSpPr>
            <p:cNvPr id="18" name="TextBox 18"/>
            <p:cNvSpPr txBox="1"/>
            <p:nvPr/>
          </p:nvSpPr>
          <p:spPr>
            <a:xfrm>
              <a:off x="2147316" y="2497455"/>
              <a:ext cx="76576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超过 -55mV</a:t>
              </a:r>
            </a:p>
          </p:txBody>
        </p:sp>
        <p:sp>
          <p:nvSpPr>
            <p:cNvPr id="19" name="TextBox 19"/>
            <p:cNvSpPr txBox="1"/>
            <p:nvPr/>
          </p:nvSpPr>
          <p:spPr>
            <a:xfrm>
              <a:off x="3899916" y="2404110"/>
              <a:ext cx="22776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比静止电位高 15mV 以上即被激活，内</a:t>
              </a:r>
              <a:br/>
              <a:r>
                <a:rPr lang="zh-CN" sz="1050" dirty="0">
                  <a:solidFill>
                    <a:srgbClr val="1F2937"/>
                  </a:solidFill>
                  <a:latin typeface="+mn-lt"/>
                  <a:ea typeface="+mn-ea"/>
                  <a:cs typeface="+mn-cs"/>
                </a:rPr>
                <a:t>部电位急升到约 +100mV</a:t>
              </a:r>
            </a:p>
          </p:txBody>
        </p:sp>
        <p:sp>
          <p:nvSpPr>
            <p:cNvPr id="20" name="Rectangle 20"/>
            <p:cNvSpPr/>
            <p:nvPr/>
          </p:nvSpPr>
          <p:spPr>
            <a:xfrm>
              <a:off x="533400" y="2849880"/>
              <a:ext cx="5842635" cy="9525"/>
            </a:xfrm>
            <a:prstGeom prst="rect">
              <a:avLst/>
            </a:prstGeom>
            <a:solidFill>
              <a:srgbClr val="D9DFEA"/>
            </a:solidFill>
            <a:ln>
              <a:noFill/>
            </a:ln>
          </p:spPr>
        </p:sp>
        <p:sp>
          <p:nvSpPr>
            <p:cNvPr id="21" name="TextBox 21"/>
            <p:cNvSpPr txBox="1"/>
            <p:nvPr/>
          </p:nvSpPr>
          <p:spPr>
            <a:xfrm>
              <a:off x="628078" y="306514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脉冲</a:t>
              </a:r>
            </a:p>
          </p:txBody>
        </p:sp>
        <p:sp>
          <p:nvSpPr>
            <p:cNvPr id="22" name="TextBox 22"/>
            <p:cNvSpPr txBox="1"/>
            <p:nvPr/>
          </p:nvSpPr>
          <p:spPr>
            <a:xfrm>
              <a:off x="2147316" y="3065145"/>
              <a:ext cx="73862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维持约 1ms</a:t>
              </a:r>
            </a:p>
          </p:txBody>
        </p:sp>
        <p:sp>
          <p:nvSpPr>
            <p:cNvPr id="23" name="TextBox 23"/>
            <p:cNvSpPr txBox="1"/>
            <p:nvPr/>
          </p:nvSpPr>
          <p:spPr>
            <a:xfrm>
              <a:off x="3899916" y="2971800"/>
              <a:ext cx="223761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相当于输出一个 100mV 高、1ms 宽的</a:t>
              </a:r>
              <a:br/>
              <a:r>
                <a:rPr lang="zh-CN" sz="1050" dirty="0">
                  <a:solidFill>
                    <a:srgbClr val="1F2937"/>
                  </a:solidFill>
                  <a:latin typeface="+mn-lt"/>
                  <a:ea typeface="+mn-ea"/>
                  <a:cs typeface="+mn-cs"/>
                </a:rPr>
                <a:t>脉冲</a:t>
              </a:r>
            </a:p>
          </p:txBody>
        </p:sp>
        <p:sp>
          <p:nvSpPr>
            <p:cNvPr id="24" name="Rectangle 24"/>
            <p:cNvSpPr/>
            <p:nvPr/>
          </p:nvSpPr>
          <p:spPr>
            <a:xfrm>
              <a:off x="533400" y="3418522"/>
              <a:ext cx="5842635" cy="9525"/>
            </a:xfrm>
            <a:prstGeom prst="rect">
              <a:avLst/>
            </a:prstGeom>
            <a:solidFill>
              <a:srgbClr val="D9DFEA"/>
            </a:solidFill>
            <a:ln>
              <a:noFill/>
            </a:ln>
          </p:spPr>
        </p:sp>
        <p:sp>
          <p:nvSpPr>
            <p:cNvPr id="25" name="Rectangle 25"/>
            <p:cNvSpPr/>
            <p:nvPr/>
          </p:nvSpPr>
          <p:spPr>
            <a:xfrm>
              <a:off x="533400" y="3423285"/>
              <a:ext cx="5842635" cy="381000"/>
            </a:xfrm>
            <a:prstGeom prst="rect">
              <a:avLst/>
            </a:prstGeom>
            <a:solidFill>
              <a:srgbClr val="F4F6FB"/>
            </a:solidFill>
            <a:ln>
              <a:noFill/>
            </a:ln>
          </p:spPr>
        </p:sp>
        <p:sp>
          <p:nvSpPr>
            <p:cNvPr id="26" name="TextBox 26"/>
            <p:cNvSpPr txBox="1"/>
            <p:nvPr/>
          </p:nvSpPr>
          <p:spPr>
            <a:xfrm>
              <a:off x="628078" y="3540443"/>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传导</a:t>
              </a:r>
            </a:p>
          </p:txBody>
        </p:sp>
        <p:sp>
          <p:nvSpPr>
            <p:cNvPr id="27" name="TextBox 27"/>
            <p:cNvSpPr txBox="1"/>
            <p:nvPr/>
          </p:nvSpPr>
          <p:spPr>
            <a:xfrm>
              <a:off x="2147316" y="3540443"/>
              <a:ext cx="68915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约 100m/s</a:t>
              </a:r>
            </a:p>
          </p:txBody>
        </p:sp>
        <p:sp>
          <p:nvSpPr>
            <p:cNvPr id="28" name="TextBox 28"/>
            <p:cNvSpPr txBox="1"/>
            <p:nvPr/>
          </p:nvSpPr>
          <p:spPr>
            <a:xfrm>
              <a:off x="3899916" y="3540443"/>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脉冲沿轴突传到其他神经元</a:t>
              </a:r>
            </a:p>
          </p:txBody>
        </p:sp>
        <p:sp>
          <p:nvSpPr>
            <p:cNvPr id="29" name="Rectangle 29"/>
            <p:cNvSpPr/>
            <p:nvPr/>
          </p:nvSpPr>
          <p:spPr>
            <a:xfrm>
              <a:off x="533400" y="3799522"/>
              <a:ext cx="5842635" cy="9525"/>
            </a:xfrm>
            <a:prstGeom prst="rect">
              <a:avLst/>
            </a:prstGeom>
            <a:solidFill>
              <a:srgbClr val="D9DFEA"/>
            </a:solidFill>
            <a:ln>
              <a:noFill/>
            </a:ln>
          </p:spPr>
        </p:sp>
        <p:sp>
          <p:nvSpPr>
            <p:cNvPr id="30" name="TextBox 30"/>
            <p:cNvSpPr txBox="1"/>
            <p:nvPr/>
          </p:nvSpPr>
          <p:spPr>
            <a:xfrm>
              <a:off x="628078" y="4014788"/>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抑制</a:t>
              </a:r>
            </a:p>
          </p:txBody>
        </p:sp>
        <p:sp>
          <p:nvSpPr>
            <p:cNvPr id="31" name="TextBox 31"/>
            <p:cNvSpPr txBox="1"/>
            <p:nvPr/>
          </p:nvSpPr>
          <p:spPr>
            <a:xfrm>
              <a:off x="2147316" y="4014788"/>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低于阈值</a:t>
              </a:r>
            </a:p>
          </p:txBody>
        </p:sp>
        <p:sp>
          <p:nvSpPr>
            <p:cNvPr id="32" name="Rectangle 32"/>
            <p:cNvSpPr/>
            <p:nvPr/>
          </p:nvSpPr>
          <p:spPr>
            <a:xfrm>
              <a:off x="3814762" y="3813810"/>
              <a:ext cx="2551748" cy="548640"/>
            </a:xfrm>
            <a:prstGeom prst="rect">
              <a:avLst/>
            </a:prstGeom>
            <a:solidFill>
              <a:srgbClr val="FDECEA"/>
            </a:solidFill>
            <a:ln>
              <a:noFill/>
            </a:ln>
          </p:spPr>
        </p:sp>
        <p:sp>
          <p:nvSpPr>
            <p:cNvPr id="33" name="TextBox 33"/>
            <p:cNvSpPr txBox="1"/>
            <p:nvPr/>
          </p:nvSpPr>
          <p:spPr>
            <a:xfrm>
              <a:off x="3899916" y="3921443"/>
              <a:ext cx="22776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膜电位被压低时神经元处于抑制状态，</a:t>
              </a:r>
              <a:br/>
              <a:r>
                <a:rPr lang="zh-CN" sz="1050" dirty="0">
                  <a:solidFill>
                    <a:srgbClr val="1F2937"/>
                  </a:solidFill>
                  <a:latin typeface="+mn-lt"/>
                  <a:ea typeface="+mn-ea"/>
                  <a:cs typeface="+mn-cs"/>
                </a:rPr>
                <a:t>无脉冲输出</a:t>
              </a:r>
            </a:p>
          </p:txBody>
        </p:sp>
        <p:sp>
          <p:nvSpPr>
            <p:cNvPr id="34" name="Rectangle 34"/>
            <p:cNvSpPr/>
            <p:nvPr/>
          </p:nvSpPr>
          <p:spPr>
            <a:xfrm>
              <a:off x="533400" y="1524000"/>
              <a:ext cx="5842635" cy="2847975"/>
            </a:xfrm>
            <a:prstGeom prst="rect">
              <a:avLst/>
            </a:prstGeom>
            <a:noFill/>
            <a:ln w="14288">
              <a:solidFill>
                <a:srgbClr val="D9DFEA"/>
              </a:solidFill>
            </a:ln>
          </p:spPr>
        </p:sp>
        <p:sp>
          <p:nvSpPr>
            <p:cNvPr id="35" name="Rectangle 35"/>
            <p:cNvSpPr/>
            <p:nvPr/>
          </p:nvSpPr>
          <p:spPr>
            <a:xfrm>
              <a:off x="2047875" y="1524000"/>
              <a:ext cx="9525" cy="2847975"/>
            </a:xfrm>
            <a:prstGeom prst="rect">
              <a:avLst/>
            </a:prstGeom>
            <a:solidFill>
              <a:srgbClr val="D9DFEA"/>
            </a:solidFill>
            <a:ln>
              <a:noFill/>
            </a:ln>
          </p:spPr>
        </p:sp>
        <p:sp>
          <p:nvSpPr>
            <p:cNvPr id="36" name="Rectangle 36"/>
            <p:cNvSpPr/>
            <p:nvPr/>
          </p:nvSpPr>
          <p:spPr>
            <a:xfrm>
              <a:off x="3800475" y="1524000"/>
              <a:ext cx="9525" cy="2847975"/>
            </a:xfrm>
            <a:prstGeom prst="rect">
              <a:avLst/>
            </a:prstGeom>
            <a:solidFill>
              <a:srgbClr val="D9DFEA"/>
            </a:solidFill>
            <a:ln>
              <a:noFill/>
            </a:ln>
          </p:spPr>
        </p:sp>
      </p:grpSp>
      <p:grpSp>
        <p:nvGrpSpPr>
          <p:cNvPr id="44" name="c1-card-2"/>
          <p:cNvGrpSpPr/>
          <p:nvPr/>
        </p:nvGrpSpPr>
        <p:grpSpPr>
          <a:xfrm>
            <a:off x="533400" y="4536758"/>
            <a:ext cx="5842635" cy="1160145"/>
            <a:chOff x="533400" y="4536758"/>
            <a:chExt cx="5842635" cy="1160145"/>
          </a:xfrm>
        </p:grpSpPr>
        <p:sp>
          <p:nvSpPr>
            <p:cNvPr id="38" name="Rectangle 38"/>
            <p:cNvSpPr/>
            <p:nvPr/>
          </p:nvSpPr>
          <p:spPr>
            <a:xfrm>
              <a:off x="533400" y="4536758"/>
              <a:ext cx="5842635" cy="1160145"/>
            </a:xfrm>
            <a:prstGeom prst="roundRect">
              <a:avLst>
                <a:gd name="adj" fmla="val 11494"/>
              </a:avLst>
            </a:prstGeom>
            <a:solidFill>
              <a:srgbClr val="FFFFFF"/>
            </a:solidFill>
            <a:ln w="14288">
              <a:solidFill>
                <a:srgbClr val="D9DFEA"/>
              </a:solidFill>
            </a:ln>
          </p:spPr>
        </p:sp>
        <p:sp>
          <p:nvSpPr>
            <p:cNvPr id="39" name="Rectangle 39"/>
            <p:cNvSpPr/>
            <p:nvPr/>
          </p:nvSpPr>
          <p:spPr>
            <a:xfrm>
              <a:off x="542925" y="4670108"/>
              <a:ext cx="47625" cy="893445"/>
            </a:xfrm>
            <a:prstGeom prst="roundRect">
              <a:avLst>
                <a:gd name="adj" fmla="val 50000"/>
              </a:avLst>
            </a:prstGeom>
            <a:solidFill>
              <a:srgbClr val="0E7C86"/>
            </a:solidFill>
            <a:ln>
              <a:noFill/>
            </a:ln>
          </p:spPr>
        </p:sp>
        <p:sp>
          <p:nvSpPr>
            <p:cNvPr id="40" name="Rectangle 40"/>
            <p:cNvSpPr/>
            <p:nvPr/>
          </p:nvSpPr>
          <p:spPr>
            <a:xfrm>
              <a:off x="752475" y="4717732"/>
              <a:ext cx="588645" cy="238125"/>
            </a:xfrm>
            <a:prstGeom prst="roundRect">
              <a:avLst>
                <a:gd name="adj" fmla="val 50000"/>
              </a:avLst>
            </a:prstGeom>
            <a:solidFill>
              <a:srgbClr val="E2F3F4"/>
            </a:solidFill>
            <a:ln>
              <a:noFill/>
            </a:ln>
          </p:spPr>
        </p:sp>
        <p:sp>
          <p:nvSpPr>
            <p:cNvPr id="41" name="TextBox 41"/>
            <p:cNvSpPr txBox="1"/>
            <p:nvPr/>
          </p:nvSpPr>
          <p:spPr>
            <a:xfrm>
              <a:off x="840820" y="4750594"/>
              <a:ext cx="411955"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0-1 律</a:t>
              </a:r>
            </a:p>
          </p:txBody>
        </p:sp>
        <p:sp>
          <p:nvSpPr>
            <p:cNvPr id="42" name="TextBox 42"/>
            <p:cNvSpPr txBox="1"/>
            <p:nvPr/>
          </p:nvSpPr>
          <p:spPr>
            <a:xfrm>
              <a:off x="1448943" y="4758214"/>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兴奋与抑制只有两种取值</a:t>
              </a:r>
            </a:p>
          </p:txBody>
        </p:sp>
        <p:sp>
          <p:nvSpPr>
            <p:cNvPr id="43" name="TextBox 43"/>
            <p:cNvSpPr txBox="1"/>
            <p:nvPr/>
          </p:nvSpPr>
          <p:spPr>
            <a:xfrm>
              <a:off x="745998" y="5074444"/>
              <a:ext cx="52311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神经元要么放出一个完整脉冲，要么什么都不放，中间没有“半个脉冲”。</a:t>
              </a:r>
              <a:br/>
              <a:r>
                <a:rPr lang="zh-CN" sz="1280" dirty="0">
                  <a:solidFill>
                    <a:srgbClr val="1F2937"/>
                  </a:solidFill>
                  <a:latin typeface="+mn-lt"/>
                  <a:ea typeface="+mn-ea"/>
                  <a:cs typeface="+mn-cs"/>
                </a:rPr>
                <a:t xml:space="preserve">这条性质叫 </a:t>
              </a:r>
              <a:r>
                <a:rPr lang="zh-CN" sz="1280" b="1" dirty="0">
                  <a:solidFill>
                    <a:srgbClr val="C2410C"/>
                  </a:solidFill>
                  <a:latin typeface="+mn-lt"/>
                  <a:ea typeface="+mn-ea"/>
                  <a:cs typeface="+mn-cs"/>
                </a:rPr>
                <a:t>0-1 律</a:t>
              </a:r>
              <a:r>
                <a:rPr lang="zh-CN" sz="1280" dirty="0">
                  <a:solidFill>
                    <a:srgbClr val="1F2937"/>
                  </a:solidFill>
                  <a:latin typeface="+mn-lt"/>
                  <a:ea typeface="+mn-ea"/>
                  <a:cs typeface="+mn-cs"/>
                </a:rPr>
                <a:t>，也是人工神经元把输出写成 0/1 或 ±1 的来源。</a:t>
              </a:r>
            </a:p>
          </p:txBody>
        </p:sp>
      </p:grpSp>
      <p:grpSp>
        <p:nvGrpSpPr>
          <p:cNvPr id="47" name="c2-image-1"/>
          <p:cNvGrpSpPr/>
          <p:nvPr/>
        </p:nvGrpSpPr>
        <p:grpSpPr>
          <a:xfrm>
            <a:off x="7911452" y="1524000"/>
            <a:ext cx="2516530" cy="1901856"/>
            <a:chOff x="7911452" y="1524000"/>
            <a:chExt cx="2516530" cy="1901856"/>
          </a:xfrm>
        </p:grpSpPr>
        <p:pic>
          <p:nvPicPr>
            <p:cNvPr id="45" name="Image 45"/>
            <p:cNvPicPr>
              <a:picLocks noChangeAspect="1"/>
            </p:cNvPicPr>
            <p:nvPr/>
          </p:nvPicPr>
          <p:blipFill>
            <a:blip r:embed="rId2"/>
            <a:srcRect l="0" t="8" r="0" b="7"/>
            <a:stretch>
              <a:fillRect/>
            </a:stretch>
          </p:blipFill>
          <p:spPr>
            <a:xfrm>
              <a:off x="8090535" y="1524000"/>
              <a:ext cx="2159318" cy="1619250"/>
            </a:xfrm>
            <a:prstGeom prst="roundRect">
              <a:avLst>
                <a:gd name="adj" fmla="val 8235"/>
              </a:avLst>
            </a:prstGeom>
          </p:spPr>
        </p:pic>
        <p:sp>
          <p:nvSpPr>
            <p:cNvPr id="46" name="TextBox 46"/>
            <p:cNvSpPr txBox="1"/>
            <p:nvPr/>
          </p:nvSpPr>
          <p:spPr>
            <a:xfrm>
              <a:off x="7911452" y="3235166"/>
              <a:ext cx="2516530"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水位不到刻线闸门不开，一到就放出一股水</a:t>
              </a:r>
            </a:p>
          </p:txBody>
        </p:sp>
      </p:grpSp>
      <p:grpSp>
        <p:nvGrpSpPr>
          <p:cNvPr id="54" name="c2-callout-2"/>
          <p:cNvGrpSpPr/>
          <p:nvPr/>
        </p:nvGrpSpPr>
        <p:grpSpPr>
          <a:xfrm>
            <a:off x="6680835" y="3571875"/>
            <a:ext cx="4977765" cy="702945"/>
            <a:chOff x="6680835" y="3571875"/>
            <a:chExt cx="4977765" cy="702945"/>
          </a:xfrm>
        </p:grpSpPr>
        <p:sp>
          <p:nvSpPr>
            <p:cNvPr id="48" name="Rectangle 48"/>
            <p:cNvSpPr/>
            <p:nvPr/>
          </p:nvSpPr>
          <p:spPr>
            <a:xfrm>
              <a:off x="6680835" y="3571875"/>
              <a:ext cx="4977765" cy="702945"/>
            </a:xfrm>
            <a:prstGeom prst="roundRect">
              <a:avLst>
                <a:gd name="adj" fmla="val 16260"/>
              </a:avLst>
            </a:prstGeom>
            <a:solidFill>
              <a:srgbClr val="FDEEE7"/>
            </a:solidFill>
            <a:ln>
              <a:noFill/>
            </a:ln>
          </p:spPr>
        </p:sp>
        <p:grpSp>
          <p:nvGrpSpPr>
            <p:cNvPr id="52" name="Group 52"/>
            <p:cNvGrpSpPr/>
            <p:nvPr/>
          </p:nvGrpSpPr>
          <p:grpSpPr>
            <a:xfrm>
              <a:off x="6885623" y="3823335"/>
              <a:ext cx="200026" cy="200025"/>
              <a:chOff x="6885623" y="3823335"/>
              <a:chExt cx="200026" cy="200025"/>
            </a:xfrm>
          </p:grpSpPr>
          <p:sp>
            <p:nvSpPr>
              <p:cNvPr id="49" name="Freeform 49"/>
              <p:cNvSpPr/>
              <p:nvPr/>
            </p:nvSpPr>
            <p:spPr>
              <a:xfrm>
                <a:off x="6885623" y="382333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0" name="Freeform 50"/>
              <p:cNvSpPr/>
              <p:nvPr/>
            </p:nvSpPr>
            <p:spPr>
              <a:xfrm>
                <a:off x="6925361" y="386778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1" name="Freeform 51"/>
              <p:cNvSpPr/>
              <p:nvPr/>
            </p:nvSpPr>
            <p:spPr>
              <a:xfrm>
                <a:off x="6960077" y="397891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3" name="TextBox 53"/>
            <p:cNvSpPr txBox="1"/>
            <p:nvPr/>
          </p:nvSpPr>
          <p:spPr>
            <a:xfrm>
              <a:off x="7188708" y="3716179"/>
              <a:ext cx="406882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A/D 转换：脉冲到达突触后放出化学物质，把离散脉冲变</a:t>
              </a:r>
              <a:br/>
              <a:r>
                <a:rPr lang="zh-CN" sz="1280" dirty="0">
                  <a:solidFill>
                    <a:srgbClr val="C2410C"/>
                  </a:solidFill>
                  <a:latin typeface="+mn-lt"/>
                  <a:ea typeface="+mn-ea"/>
                  <a:cs typeface="+mn-cs"/>
                </a:rPr>
                <a:t>回连续变化的电位。</a:t>
              </a:r>
            </a:p>
          </p:txBody>
        </p:sp>
      </p:grpSp>
      <p:grpSp>
        <p:nvGrpSpPr>
          <p:cNvPr id="61"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F4F6FB"/>
            </a:solidFill>
            <a:ln>
              <a:noFill/>
            </a:ln>
          </p:spPr>
        </p:sp>
        <p:grpSp>
          <p:nvGrpSpPr>
            <p:cNvPr id="59" name="Group 59"/>
            <p:cNvGrpSpPr/>
            <p:nvPr/>
          </p:nvGrpSpPr>
          <p:grpSpPr>
            <a:xfrm>
              <a:off x="738188" y="6028373"/>
              <a:ext cx="200026" cy="200026"/>
              <a:chOff x="738188" y="6028373"/>
              <a:chExt cx="200026" cy="200026"/>
            </a:xfrm>
          </p:grpSpPr>
          <p:sp>
            <p:nvSpPr>
              <p:cNvPr id="56" name="Freeform 56"/>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7" name="Freeform 57"/>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8" name="Freeform 58"/>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0" name="TextBox 60"/>
            <p:cNvSpPr txBox="1"/>
            <p:nvPr/>
          </p:nvSpPr>
          <p:spPr>
            <a:xfrm>
              <a:off x="1041273" y="6039326"/>
              <a:ext cx="737944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阈值是 -55mV 而不是 0，说明“阈值”只是一个参考水平，写成人工神经元时被吸收进偏置 b 里。</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神经元还会加算，也需要休息</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410200" cy="2165985"/>
            <a:chOff x="533400" y="1524000"/>
            <a:chExt cx="5410200" cy="2165985"/>
          </a:xfrm>
        </p:grpSpPr>
        <p:sp>
          <p:nvSpPr>
            <p:cNvPr id="7" name="Rectangle 7"/>
            <p:cNvSpPr/>
            <p:nvPr/>
          </p:nvSpPr>
          <p:spPr>
            <a:xfrm>
              <a:off x="533400" y="1524000"/>
              <a:ext cx="5410200" cy="2165985"/>
            </a:xfrm>
            <a:prstGeom prst="roundRect">
              <a:avLst>
                <a:gd name="adj" fmla="val 6157"/>
              </a:avLst>
            </a:prstGeom>
            <a:solidFill>
              <a:srgbClr val="0E7C86"/>
            </a:solidFill>
            <a:ln>
              <a:noFill/>
            </a:ln>
          </p:spPr>
        </p:sp>
        <p:sp>
          <p:nvSpPr>
            <p:cNvPr id="8" name="Rectangle 8"/>
            <p:cNvSpPr/>
            <p:nvPr/>
          </p:nvSpPr>
          <p:spPr>
            <a:xfrm>
              <a:off x="737235" y="1727835"/>
              <a:ext cx="778192" cy="257175"/>
            </a:xfrm>
            <a:prstGeom prst="roundRect">
              <a:avLst>
                <a:gd name="adj" fmla="val 50000"/>
              </a:avLst>
            </a:prstGeom>
            <a:solidFill>
              <a:srgbClr val="0B5F67"/>
            </a:solidFill>
            <a:ln>
              <a:noFill/>
            </a:ln>
          </p:spPr>
        </p:sp>
        <p:sp>
          <p:nvSpPr>
            <p:cNvPr id="9" name="TextBox 9"/>
            <p:cNvSpPr txBox="1"/>
            <p:nvPr/>
          </p:nvSpPr>
          <p:spPr>
            <a:xfrm>
              <a:off x="819544" y="176355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两种加算</a:t>
              </a:r>
            </a:p>
          </p:txBody>
        </p:sp>
        <p:sp>
          <p:nvSpPr>
            <p:cNvPr id="10" name="TextBox 10"/>
            <p:cNvSpPr txBox="1"/>
            <p:nvPr/>
          </p:nvSpPr>
          <p:spPr>
            <a:xfrm>
              <a:off x="1622488" y="1767364"/>
              <a:ext cx="173492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信号怎样被累积起来</a:t>
              </a:r>
            </a:p>
          </p:txBody>
        </p:sp>
        <p:sp>
          <p:nvSpPr>
            <p:cNvPr id="11" name="Ellipse 11"/>
            <p:cNvSpPr/>
            <p:nvPr/>
          </p:nvSpPr>
          <p:spPr>
            <a:xfrm>
              <a:off x="737235" y="2106930"/>
              <a:ext cx="201930" cy="201930"/>
            </a:xfrm>
            <a:prstGeom prst="ellipse">
              <a:avLst/>
            </a:prstGeom>
            <a:solidFill>
              <a:srgbClr val="0E7C86"/>
            </a:solidFill>
            <a:ln>
              <a:noFill/>
            </a:ln>
          </p:spPr>
        </p:sp>
        <p:sp>
          <p:nvSpPr>
            <p:cNvPr id="12" name="TextBox 12"/>
            <p:cNvSpPr txBox="1"/>
            <p:nvPr/>
          </p:nvSpPr>
          <p:spPr>
            <a:xfrm>
              <a:off x="7955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3" name="TextBox 13"/>
            <p:cNvSpPr txBox="1"/>
            <p:nvPr/>
          </p:nvSpPr>
          <p:spPr>
            <a:xfrm>
              <a:off x="1028128" y="2119789"/>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FFFFFF"/>
                  </a:solidFill>
                  <a:latin typeface="+mn-lt"/>
                  <a:ea typeface="+mn-ea"/>
                  <a:cs typeface="+mn-cs"/>
                </a:rPr>
                <a:t>时间加算</a:t>
              </a:r>
              <a:r>
                <a:rPr lang="zh-CN" sz="1420" dirty="0">
                  <a:solidFill>
                    <a:srgbClr val="FFFFFF"/>
                  </a:solidFill>
                  <a:latin typeface="+mn-lt"/>
                  <a:ea typeface="+mn-ea"/>
                  <a:cs typeface="+mn-cs"/>
                </a:rPr>
                <a:t>：同一个突触在不同时刻传入的信号，会在时间</a:t>
              </a:r>
              <a:br/>
              <a:r>
                <a:rPr lang="zh-CN" sz="1420" dirty="0">
                  <a:solidFill>
                    <a:srgbClr val="FFFFFF"/>
                  </a:solidFill>
                  <a:latin typeface="+mn-lt"/>
                  <a:ea typeface="+mn-ea"/>
                  <a:cs typeface="+mn-cs"/>
                </a:rPr>
                <a:t>上累加。</a:t>
              </a:r>
            </a:p>
          </p:txBody>
        </p:sp>
        <p:sp>
          <p:nvSpPr>
            <p:cNvPr id="14" name="Ellipse 14"/>
            <p:cNvSpPr/>
            <p:nvPr/>
          </p:nvSpPr>
          <p:spPr>
            <a:xfrm>
              <a:off x="737235" y="2698432"/>
              <a:ext cx="201930" cy="201930"/>
            </a:xfrm>
            <a:prstGeom prst="ellipse">
              <a:avLst/>
            </a:prstGeom>
            <a:solidFill>
              <a:srgbClr val="0E7C86"/>
            </a:solidFill>
            <a:ln>
              <a:noFill/>
            </a:ln>
          </p:spPr>
        </p:sp>
        <p:sp>
          <p:nvSpPr>
            <p:cNvPr id="15" name="TextBox 15"/>
            <p:cNvSpPr txBox="1"/>
            <p:nvPr/>
          </p:nvSpPr>
          <p:spPr>
            <a:xfrm>
              <a:off x="795580" y="27387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6" name="TextBox 16"/>
            <p:cNvSpPr txBox="1"/>
            <p:nvPr/>
          </p:nvSpPr>
          <p:spPr>
            <a:xfrm>
              <a:off x="1028128" y="2711291"/>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FFFFFF"/>
                  </a:solidFill>
                  <a:latin typeface="+mn-lt"/>
                  <a:ea typeface="+mn-ea"/>
                  <a:cs typeface="+mn-cs"/>
                </a:rPr>
                <a:t>空间加算</a:t>
              </a:r>
              <a:r>
                <a:rPr lang="zh-CN" sz="1420" dirty="0">
                  <a:solidFill>
                    <a:srgbClr val="FFFFFF"/>
                  </a:solidFill>
                  <a:latin typeface="+mn-lt"/>
                  <a:ea typeface="+mn-ea"/>
                  <a:cs typeface="+mn-cs"/>
                </a:rPr>
                <a:t>：同一时刻由不同突触传入的信号，会在空间上</a:t>
              </a:r>
              <a:br/>
              <a:r>
                <a:rPr lang="zh-CN" sz="1420" dirty="0">
                  <a:solidFill>
                    <a:srgbClr val="FFFFFF"/>
                  </a:solidFill>
                  <a:latin typeface="+mn-lt"/>
                  <a:ea typeface="+mn-ea"/>
                  <a:cs typeface="+mn-cs"/>
                </a:rPr>
                <a:t>累加。</a:t>
              </a:r>
            </a:p>
          </p:txBody>
        </p:sp>
        <p:sp>
          <p:nvSpPr>
            <p:cNvPr id="17" name="TextBox 17"/>
            <p:cNvSpPr txBox="1"/>
            <p:nvPr/>
          </p:nvSpPr>
          <p:spPr>
            <a:xfrm>
              <a:off x="731139" y="3298507"/>
              <a:ext cx="3392119"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空间加算正是 Σ wᵢxᵢ 这个求和式的生物来源。</a:t>
              </a:r>
            </a:p>
          </p:txBody>
        </p:sp>
      </p:grpSp>
      <p:grpSp>
        <p:nvGrpSpPr>
          <p:cNvPr id="25" name="c1-card-2"/>
          <p:cNvGrpSpPr/>
          <p:nvPr/>
        </p:nvGrpSpPr>
        <p:grpSpPr>
          <a:xfrm>
            <a:off x="533400" y="3875722"/>
            <a:ext cx="5410200" cy="1623060"/>
            <a:chOff x="533400" y="3875722"/>
            <a:chExt cx="5410200" cy="1623060"/>
          </a:xfrm>
        </p:grpSpPr>
        <p:sp>
          <p:nvSpPr>
            <p:cNvPr id="19" name="Rectangle 19"/>
            <p:cNvSpPr/>
            <p:nvPr/>
          </p:nvSpPr>
          <p:spPr>
            <a:xfrm>
              <a:off x="533400" y="3875722"/>
              <a:ext cx="5410200" cy="1623060"/>
            </a:xfrm>
            <a:prstGeom prst="roundRect">
              <a:avLst>
                <a:gd name="adj" fmla="val 8216"/>
              </a:avLst>
            </a:prstGeom>
            <a:solidFill>
              <a:srgbClr val="FFFFFF"/>
            </a:solidFill>
            <a:ln w="14288">
              <a:solidFill>
                <a:srgbClr val="D9DFEA"/>
              </a:solidFill>
            </a:ln>
          </p:spPr>
        </p:sp>
        <p:sp>
          <p:nvSpPr>
            <p:cNvPr id="20" name="Rectangle 20"/>
            <p:cNvSpPr/>
            <p:nvPr/>
          </p:nvSpPr>
          <p:spPr>
            <a:xfrm>
              <a:off x="542925" y="4009072"/>
              <a:ext cx="47625" cy="1356360"/>
            </a:xfrm>
            <a:prstGeom prst="roundRect">
              <a:avLst>
                <a:gd name="adj" fmla="val 50000"/>
              </a:avLst>
            </a:prstGeom>
            <a:solidFill>
              <a:srgbClr val="B42318"/>
            </a:solidFill>
            <a:ln>
              <a:noFill/>
            </a:ln>
          </p:spPr>
        </p:sp>
        <p:sp>
          <p:nvSpPr>
            <p:cNvPr id="21" name="Rectangle 21"/>
            <p:cNvSpPr/>
            <p:nvPr/>
          </p:nvSpPr>
          <p:spPr>
            <a:xfrm>
              <a:off x="775335" y="4079558"/>
              <a:ext cx="636270" cy="257175"/>
            </a:xfrm>
            <a:prstGeom prst="roundRect">
              <a:avLst>
                <a:gd name="adj" fmla="val 50000"/>
              </a:avLst>
            </a:prstGeom>
            <a:solidFill>
              <a:srgbClr val="FDECEA"/>
            </a:solidFill>
            <a:ln>
              <a:noFill/>
            </a:ln>
          </p:spPr>
        </p:sp>
        <p:sp>
          <p:nvSpPr>
            <p:cNvPr id="22" name="TextBox 22"/>
            <p:cNvSpPr txBox="1"/>
            <p:nvPr/>
          </p:nvSpPr>
          <p:spPr>
            <a:xfrm>
              <a:off x="861593" y="4115276"/>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不应期</a:t>
              </a:r>
            </a:p>
          </p:txBody>
        </p:sp>
        <p:sp>
          <p:nvSpPr>
            <p:cNvPr id="23" name="TextBox 23"/>
            <p:cNvSpPr txBox="1"/>
            <p:nvPr/>
          </p:nvSpPr>
          <p:spPr>
            <a:xfrm>
              <a:off x="1518666" y="4119086"/>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刚放完电的神经元不响应</a:t>
              </a:r>
            </a:p>
          </p:txBody>
        </p:sp>
        <p:sp>
          <p:nvSpPr>
            <p:cNvPr id="24" name="TextBox 24"/>
            <p:cNvSpPr txBox="1"/>
            <p:nvPr/>
          </p:nvSpPr>
          <p:spPr>
            <a:xfrm>
              <a:off x="768096" y="4470559"/>
              <a:ext cx="4622165"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神经元输出一个脉冲后，有几毫秒时间对任何激励都不响</a:t>
              </a:r>
              <a:br/>
              <a:r>
                <a:rPr lang="zh-CN" sz="1420" dirty="0">
                  <a:solidFill>
                    <a:srgbClr val="1F2937"/>
                  </a:solidFill>
                  <a:latin typeface="+mn-lt"/>
                  <a:ea typeface="+mn-ea"/>
                  <a:cs typeface="+mn-cs"/>
                </a:rPr>
                <a:t>应。人工神经元模型把这一条省略了，所以它没有“发放频</a:t>
              </a:r>
              <a:br/>
              <a:r>
                <a:rPr lang="zh-CN" sz="1420" dirty="0">
                  <a:solidFill>
                    <a:srgbClr val="1F2937"/>
                  </a:solidFill>
                  <a:latin typeface="+mn-lt"/>
                  <a:ea typeface="+mn-ea"/>
                  <a:cs typeface="+mn-cs"/>
                </a:rPr>
                <a:t>率”的概念，只有一个静态的输出值。</a:t>
              </a:r>
            </a:p>
          </p:txBody>
        </p:sp>
      </p:grpSp>
      <p:grpSp>
        <p:nvGrpSpPr>
          <p:cNvPr id="33" name="c2-card-1"/>
          <p:cNvGrpSpPr/>
          <p:nvPr/>
        </p:nvGrpSpPr>
        <p:grpSpPr>
          <a:xfrm>
            <a:off x="6248400" y="1524000"/>
            <a:ext cx="5410200" cy="2156460"/>
            <a:chOff x="6248400" y="1524000"/>
            <a:chExt cx="5410200" cy="2156460"/>
          </a:xfrm>
        </p:grpSpPr>
        <p:sp>
          <p:nvSpPr>
            <p:cNvPr id="26" name="Rectangle 26"/>
            <p:cNvSpPr/>
            <p:nvPr/>
          </p:nvSpPr>
          <p:spPr>
            <a:xfrm>
              <a:off x="6248400" y="1524000"/>
              <a:ext cx="5410200" cy="2156460"/>
            </a:xfrm>
            <a:prstGeom prst="roundRect">
              <a:avLst>
                <a:gd name="adj" fmla="val 6184"/>
              </a:avLst>
            </a:prstGeom>
            <a:solidFill>
              <a:srgbClr val="FFFFFF"/>
            </a:solidFill>
            <a:ln w="14288">
              <a:solidFill>
                <a:srgbClr val="D9DFEA"/>
              </a:solidFill>
            </a:ln>
          </p:spPr>
        </p:sp>
        <p:sp>
          <p:nvSpPr>
            <p:cNvPr id="27" name="Rectangle 27"/>
            <p:cNvSpPr/>
            <p:nvPr/>
          </p:nvSpPr>
          <p:spPr>
            <a:xfrm>
              <a:off x="6257925" y="1657350"/>
              <a:ext cx="47625" cy="1889760"/>
            </a:xfrm>
            <a:prstGeom prst="roundRect">
              <a:avLst>
                <a:gd name="adj" fmla="val 50000"/>
              </a:avLst>
            </a:prstGeom>
            <a:solidFill>
              <a:srgbClr val="0E7C86"/>
            </a:solidFill>
            <a:ln>
              <a:noFill/>
            </a:ln>
          </p:spPr>
        </p:sp>
        <p:sp>
          <p:nvSpPr>
            <p:cNvPr id="28" name="Rectangle 28"/>
            <p:cNvSpPr/>
            <p:nvPr/>
          </p:nvSpPr>
          <p:spPr>
            <a:xfrm>
              <a:off x="6490335" y="1727835"/>
              <a:ext cx="1204912" cy="257175"/>
            </a:xfrm>
            <a:prstGeom prst="roundRect">
              <a:avLst>
                <a:gd name="adj" fmla="val 50000"/>
              </a:avLst>
            </a:prstGeom>
            <a:solidFill>
              <a:srgbClr val="E2F3F4"/>
            </a:solidFill>
            <a:ln>
              <a:noFill/>
            </a:ln>
          </p:spPr>
        </p:sp>
        <p:sp>
          <p:nvSpPr>
            <p:cNvPr id="29" name="TextBox 29"/>
            <p:cNvSpPr txBox="1"/>
            <p:nvPr/>
          </p:nvSpPr>
          <p:spPr>
            <a:xfrm>
              <a:off x="6559842" y="1763554"/>
              <a:ext cx="106685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学习的生物图景</a:t>
              </a:r>
            </a:p>
          </p:txBody>
        </p:sp>
        <p:sp>
          <p:nvSpPr>
            <p:cNvPr id="30" name="TextBox 30"/>
            <p:cNvSpPr txBox="1"/>
            <p:nvPr/>
          </p:nvSpPr>
          <p:spPr>
            <a:xfrm>
              <a:off x="7802308" y="1767364"/>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变的是连接强度，不是神经元本身</a:t>
              </a:r>
            </a:p>
          </p:txBody>
        </p:sp>
        <p:sp>
          <p:nvSpPr>
            <p:cNvPr id="31" name="TextBox 31"/>
            <p:cNvSpPr txBox="1"/>
            <p:nvPr/>
          </p:nvSpPr>
          <p:spPr>
            <a:xfrm>
              <a:off x="6483096" y="2119789"/>
              <a:ext cx="470331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各神经元之间联结的强弱，按外部的激励信号做自适应变</a:t>
              </a:r>
              <a:br/>
              <a:r>
                <a:rPr lang="zh-CN" sz="1420" dirty="0">
                  <a:solidFill>
                    <a:srgbClr val="1F2937"/>
                  </a:solidFill>
                  <a:latin typeface="+mn-lt"/>
                  <a:ea typeface="+mn-ea"/>
                  <a:cs typeface="+mn-cs"/>
                </a:rPr>
                <a:t>化；每个神经元又随着所接收到的多个信号的综合大小而呈</a:t>
              </a:r>
              <a:br/>
              <a:r>
                <a:rPr lang="zh-CN" sz="1420" dirty="0">
                  <a:solidFill>
                    <a:srgbClr val="1F2937"/>
                  </a:solidFill>
                  <a:latin typeface="+mn-lt"/>
                  <a:ea typeface="+mn-ea"/>
                  <a:cs typeface="+mn-cs"/>
                </a:rPr>
                <a:t>现兴奋或抑制状态。</a:t>
              </a:r>
            </a:p>
          </p:txBody>
        </p:sp>
        <p:sp>
          <p:nvSpPr>
            <p:cNvPr id="32" name="TextBox 32"/>
            <p:cNvSpPr txBox="1"/>
            <p:nvPr/>
          </p:nvSpPr>
          <p:spPr>
            <a:xfrm>
              <a:off x="6483096" y="2982754"/>
              <a:ext cx="4631182"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大脑的学习过程就是 </a:t>
              </a:r>
              <a:r>
                <a:rPr lang="zh-CN" sz="1420" b="1" dirty="0">
                  <a:solidFill>
                    <a:srgbClr val="C2410C"/>
                  </a:solidFill>
                  <a:latin typeface="+mn-lt"/>
                  <a:ea typeface="+mn-ea"/>
                  <a:cs typeface="+mn-cs"/>
                </a:rPr>
                <a:t>连接强度随外部激励做自适应变化</a:t>
              </a:r>
              <a:r>
                <a:rPr lang="zh-CN" sz="1420" dirty="0">
                  <a:solidFill>
                    <a:srgbClr val="1F2937"/>
                  </a:solidFill>
                  <a:latin typeface="+mn-lt"/>
                  <a:ea typeface="+mn-ea"/>
                  <a:cs typeface="+mn-cs"/>
                </a:rPr>
                <a:t xml:space="preserve"> 的</a:t>
              </a:r>
              <a:br/>
              <a:r>
                <a:rPr lang="zh-CN" sz="1420" dirty="0">
                  <a:solidFill>
                    <a:srgbClr val="1F2937"/>
                  </a:solidFill>
                  <a:latin typeface="+mn-lt"/>
                  <a:ea typeface="+mn-ea"/>
                  <a:cs typeface="+mn-cs"/>
                </a:rPr>
                <a:t>过程，处理信息的结果则由神经元的状态表现出来。</a:t>
              </a:r>
            </a:p>
          </p:txBody>
        </p:sp>
      </p:grpSp>
      <p:grpSp>
        <p:nvGrpSpPr>
          <p:cNvPr id="53" name="c2-compare-2"/>
          <p:cNvGrpSpPr/>
          <p:nvPr/>
        </p:nvGrpSpPr>
        <p:grpSpPr>
          <a:xfrm>
            <a:off x="6248400" y="3865245"/>
            <a:ext cx="5410200" cy="1632585"/>
            <a:chOff x="6248400" y="3865245"/>
            <a:chExt cx="5410200" cy="1632585"/>
          </a:xfrm>
        </p:grpSpPr>
        <p:sp>
          <p:nvSpPr>
            <p:cNvPr id="34" name="Rectangle 34"/>
            <p:cNvSpPr/>
            <p:nvPr/>
          </p:nvSpPr>
          <p:spPr>
            <a:xfrm>
              <a:off x="6248400" y="3865245"/>
              <a:ext cx="2495550" cy="1632585"/>
            </a:xfrm>
            <a:prstGeom prst="roundRect">
              <a:avLst>
                <a:gd name="adj" fmla="val 8168"/>
              </a:avLst>
            </a:prstGeom>
            <a:solidFill>
              <a:srgbClr val="F4F6FB"/>
            </a:solidFill>
            <a:ln>
              <a:noFill/>
            </a:ln>
          </p:spPr>
        </p:sp>
        <p:sp>
          <p:nvSpPr>
            <p:cNvPr id="35" name="TextBox 35"/>
            <p:cNvSpPr txBox="1"/>
            <p:nvPr/>
          </p:nvSpPr>
          <p:spPr>
            <a:xfrm>
              <a:off x="6444996" y="4093369"/>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生物神经网络</a:t>
              </a:r>
            </a:p>
          </p:txBody>
        </p:sp>
        <p:sp>
          <p:nvSpPr>
            <p:cNvPr id="36" name="Ellipse 36"/>
            <p:cNvSpPr/>
            <p:nvPr/>
          </p:nvSpPr>
          <p:spPr>
            <a:xfrm>
              <a:off x="6459855" y="4491990"/>
              <a:ext cx="60960" cy="60960"/>
            </a:xfrm>
            <a:prstGeom prst="ellipse">
              <a:avLst/>
            </a:prstGeom>
            <a:solidFill>
              <a:srgbClr val="0E7C86"/>
            </a:solidFill>
            <a:ln>
              <a:noFill/>
            </a:ln>
          </p:spPr>
        </p:sp>
        <p:sp>
          <p:nvSpPr>
            <p:cNvPr id="37" name="TextBox 37"/>
            <p:cNvSpPr txBox="1"/>
            <p:nvPr/>
          </p:nvSpPr>
          <p:spPr>
            <a:xfrm>
              <a:off x="6616446" y="443150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连接强度可塑</a:t>
              </a:r>
            </a:p>
          </p:txBody>
        </p:sp>
        <p:sp>
          <p:nvSpPr>
            <p:cNvPr id="38" name="Ellipse 38"/>
            <p:cNvSpPr/>
            <p:nvPr/>
          </p:nvSpPr>
          <p:spPr>
            <a:xfrm>
              <a:off x="6459855" y="4812030"/>
              <a:ext cx="60960" cy="60960"/>
            </a:xfrm>
            <a:prstGeom prst="ellipse">
              <a:avLst/>
            </a:prstGeom>
            <a:solidFill>
              <a:srgbClr val="0E7C86"/>
            </a:solidFill>
            <a:ln>
              <a:noFill/>
            </a:ln>
          </p:spPr>
        </p:sp>
        <p:sp>
          <p:nvSpPr>
            <p:cNvPr id="39" name="TextBox 39"/>
            <p:cNvSpPr txBox="1"/>
            <p:nvPr/>
          </p:nvSpPr>
          <p:spPr>
            <a:xfrm>
              <a:off x="6616446" y="4751546"/>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状态兴奋或抑制</a:t>
              </a:r>
            </a:p>
          </p:txBody>
        </p:sp>
        <p:sp>
          <p:nvSpPr>
            <p:cNvPr id="40" name="Ellipse 40"/>
            <p:cNvSpPr/>
            <p:nvPr/>
          </p:nvSpPr>
          <p:spPr>
            <a:xfrm>
              <a:off x="6459855" y="5132070"/>
              <a:ext cx="60960" cy="60960"/>
            </a:xfrm>
            <a:prstGeom prst="ellipse">
              <a:avLst/>
            </a:prstGeom>
            <a:solidFill>
              <a:srgbClr val="0E7C86"/>
            </a:solidFill>
            <a:ln>
              <a:noFill/>
            </a:ln>
          </p:spPr>
        </p:sp>
        <p:sp>
          <p:nvSpPr>
            <p:cNvPr id="41" name="TextBox 41"/>
            <p:cNvSpPr txBox="1"/>
            <p:nvPr/>
          </p:nvSpPr>
          <p:spPr>
            <a:xfrm>
              <a:off x="6616446" y="507158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学习靠改突触</a:t>
              </a:r>
            </a:p>
          </p:txBody>
        </p:sp>
        <p:sp>
          <p:nvSpPr>
            <p:cNvPr id="42" name="Rectangle 42"/>
            <p:cNvSpPr/>
            <p:nvPr/>
          </p:nvSpPr>
          <p:spPr>
            <a:xfrm>
              <a:off x="9163050" y="3865245"/>
              <a:ext cx="2495550" cy="1632585"/>
            </a:xfrm>
            <a:prstGeom prst="roundRect">
              <a:avLst>
                <a:gd name="adj" fmla="val 8168"/>
              </a:avLst>
            </a:prstGeom>
            <a:solidFill>
              <a:srgbClr val="FFFFFF"/>
            </a:solidFill>
            <a:ln w="14288">
              <a:solidFill>
                <a:srgbClr val="D9DFEA"/>
              </a:solidFill>
            </a:ln>
          </p:spPr>
        </p:sp>
        <p:sp>
          <p:nvSpPr>
            <p:cNvPr id="43" name="Rectangle 43"/>
            <p:cNvSpPr/>
            <p:nvPr/>
          </p:nvSpPr>
          <p:spPr>
            <a:xfrm>
              <a:off x="9172575" y="3998595"/>
              <a:ext cx="47625" cy="1365885"/>
            </a:xfrm>
            <a:prstGeom prst="roundRect">
              <a:avLst>
                <a:gd name="adj" fmla="val 50000"/>
              </a:avLst>
            </a:prstGeom>
            <a:solidFill>
              <a:srgbClr val="14A38B"/>
            </a:solidFill>
            <a:ln>
              <a:noFill/>
            </a:ln>
          </p:spPr>
        </p:sp>
        <p:sp>
          <p:nvSpPr>
            <p:cNvPr id="44" name="TextBox 44"/>
            <p:cNvSpPr txBox="1"/>
            <p:nvPr/>
          </p:nvSpPr>
          <p:spPr>
            <a:xfrm>
              <a:off x="9397746" y="4093369"/>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a:t>
              </a:r>
            </a:p>
          </p:txBody>
        </p:sp>
        <p:sp>
          <p:nvSpPr>
            <p:cNvPr id="45" name="Ellipse 45"/>
            <p:cNvSpPr/>
            <p:nvPr/>
          </p:nvSpPr>
          <p:spPr>
            <a:xfrm>
              <a:off x="9412605" y="4491990"/>
              <a:ext cx="60960" cy="60960"/>
            </a:xfrm>
            <a:prstGeom prst="ellipse">
              <a:avLst/>
            </a:prstGeom>
            <a:solidFill>
              <a:srgbClr val="0E7C86"/>
            </a:solidFill>
            <a:ln>
              <a:noFill/>
            </a:ln>
          </p:spPr>
        </p:sp>
        <p:sp>
          <p:nvSpPr>
            <p:cNvPr id="46" name="TextBox 46"/>
            <p:cNvSpPr txBox="1"/>
            <p:nvPr/>
          </p:nvSpPr>
          <p:spPr>
            <a:xfrm>
              <a:off x="9569196" y="4431506"/>
              <a:ext cx="10371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权值 w 可调</a:t>
              </a:r>
            </a:p>
          </p:txBody>
        </p:sp>
        <p:sp>
          <p:nvSpPr>
            <p:cNvPr id="47" name="Ellipse 47"/>
            <p:cNvSpPr/>
            <p:nvPr/>
          </p:nvSpPr>
          <p:spPr>
            <a:xfrm>
              <a:off x="9412605" y="4812030"/>
              <a:ext cx="60960" cy="60960"/>
            </a:xfrm>
            <a:prstGeom prst="ellipse">
              <a:avLst/>
            </a:prstGeom>
            <a:solidFill>
              <a:srgbClr val="0E7C86"/>
            </a:solidFill>
            <a:ln>
              <a:noFill/>
            </a:ln>
          </p:spPr>
        </p:sp>
        <p:sp>
          <p:nvSpPr>
            <p:cNvPr id="48" name="TextBox 48"/>
            <p:cNvSpPr txBox="1"/>
            <p:nvPr/>
          </p:nvSpPr>
          <p:spPr>
            <a:xfrm>
              <a:off x="9569196" y="4751546"/>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输出由激活函数给出</a:t>
              </a:r>
            </a:p>
          </p:txBody>
        </p:sp>
        <p:sp>
          <p:nvSpPr>
            <p:cNvPr id="49" name="Ellipse 49"/>
            <p:cNvSpPr/>
            <p:nvPr/>
          </p:nvSpPr>
          <p:spPr>
            <a:xfrm>
              <a:off x="9412605" y="5132070"/>
              <a:ext cx="60960" cy="60960"/>
            </a:xfrm>
            <a:prstGeom prst="ellipse">
              <a:avLst/>
            </a:prstGeom>
            <a:solidFill>
              <a:srgbClr val="0E7C86"/>
            </a:solidFill>
            <a:ln>
              <a:noFill/>
            </a:ln>
          </p:spPr>
        </p:sp>
        <p:sp>
          <p:nvSpPr>
            <p:cNvPr id="50" name="TextBox 50"/>
            <p:cNvSpPr txBox="1"/>
            <p:nvPr/>
          </p:nvSpPr>
          <p:spPr>
            <a:xfrm>
              <a:off x="9569196" y="507158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学习靠改权值</a:t>
              </a:r>
            </a:p>
          </p:txBody>
        </p:sp>
        <p:sp>
          <p:nvSpPr>
            <p:cNvPr id="51" name="Ellipse 51"/>
            <p:cNvSpPr/>
            <p:nvPr/>
          </p:nvSpPr>
          <p:spPr>
            <a:xfrm>
              <a:off x="8791575" y="4519612"/>
              <a:ext cx="323850" cy="323850"/>
            </a:xfrm>
            <a:prstGeom prst="ellipse">
              <a:avLst/>
            </a:prstGeom>
            <a:solidFill>
              <a:srgbClr val="F26B3A"/>
            </a:solidFill>
            <a:ln>
              <a:noFill/>
            </a:ln>
          </p:spPr>
        </p:sp>
        <p:sp>
          <p:nvSpPr>
            <p:cNvPr id="52" name="TextBox 52"/>
            <p:cNvSpPr txBox="1"/>
            <p:nvPr/>
          </p:nvSpPr>
          <p:spPr>
            <a:xfrm>
              <a:off x="8861915" y="461676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9" name="takeaway"/>
          <p:cNvGrpSpPr/>
          <p:nvPr/>
        </p:nvGrpSpPr>
        <p:grpSpPr>
          <a:xfrm>
            <a:off x="533400" y="5844540"/>
            <a:ext cx="11125200" cy="518160"/>
            <a:chOff x="533400" y="5844540"/>
            <a:chExt cx="11125200" cy="518160"/>
          </a:xfrm>
        </p:grpSpPr>
        <p:sp>
          <p:nvSpPr>
            <p:cNvPr id="54" name="Rectangle 54"/>
            <p:cNvSpPr/>
            <p:nvPr/>
          </p:nvSpPr>
          <p:spPr>
            <a:xfrm>
              <a:off x="533400" y="5844540"/>
              <a:ext cx="11125200" cy="518160"/>
            </a:xfrm>
            <a:prstGeom prst="roundRect">
              <a:avLst>
                <a:gd name="adj" fmla="val 22059"/>
              </a:avLst>
            </a:prstGeom>
            <a:solidFill>
              <a:srgbClr val="0E7C86"/>
            </a:solidFill>
            <a:ln>
              <a:noFill/>
            </a:ln>
          </p:spPr>
        </p:sp>
        <p:grpSp>
          <p:nvGrpSpPr>
            <p:cNvPr id="57" name="Group 57"/>
            <p:cNvGrpSpPr/>
            <p:nvPr/>
          </p:nvGrpSpPr>
          <p:grpSpPr>
            <a:xfrm>
              <a:off x="738188" y="6003610"/>
              <a:ext cx="200023" cy="200023"/>
              <a:chOff x="738188" y="6003610"/>
              <a:chExt cx="200023" cy="200023"/>
            </a:xfrm>
          </p:grpSpPr>
          <p:sp>
            <p:nvSpPr>
              <p:cNvPr id="55" name="Freeform 55"/>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1040511" y="6004084"/>
              <a:ext cx="4831720"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后面所有算法做的事只有一件：按某个规则去改 w 和 b。</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人工神经网络：三种定义说的是同一件事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6276022" cy="2525078"/>
            <a:chOff x="533400" y="1524000"/>
            <a:chExt cx="6276022" cy="2525078"/>
          </a:xfrm>
        </p:grpSpPr>
        <p:sp>
          <p:nvSpPr>
            <p:cNvPr id="7" name="Rectangle 7"/>
            <p:cNvSpPr/>
            <p:nvPr/>
          </p:nvSpPr>
          <p:spPr>
            <a:xfrm>
              <a:off x="533400" y="1524000"/>
              <a:ext cx="6276022" cy="2525078"/>
            </a:xfrm>
            <a:prstGeom prst="roundRect">
              <a:avLst>
                <a:gd name="adj" fmla="val 5281"/>
              </a:avLst>
            </a:prstGeom>
            <a:solidFill>
              <a:srgbClr val="FFFFFF"/>
            </a:solidFill>
            <a:ln w="14288">
              <a:solidFill>
                <a:srgbClr val="D9DFEA"/>
              </a:solidFill>
            </a:ln>
          </p:spPr>
        </p:sp>
        <p:sp>
          <p:nvSpPr>
            <p:cNvPr id="8" name="Rectangle 8"/>
            <p:cNvSpPr/>
            <p:nvPr/>
          </p:nvSpPr>
          <p:spPr>
            <a:xfrm>
              <a:off x="542925" y="1657350"/>
              <a:ext cx="47625" cy="2258378"/>
            </a:xfrm>
            <a:prstGeom prst="roundRect">
              <a:avLst>
                <a:gd name="adj" fmla="val 50000"/>
              </a:avLst>
            </a:prstGeom>
            <a:solidFill>
              <a:srgbClr val="0E7C86"/>
            </a:solidFill>
            <a:ln>
              <a:noFill/>
            </a:ln>
          </p:spPr>
        </p:sp>
        <p:sp>
          <p:nvSpPr>
            <p:cNvPr id="9" name="Rectangle 9"/>
            <p:cNvSpPr/>
            <p:nvPr/>
          </p:nvSpPr>
          <p:spPr>
            <a:xfrm>
              <a:off x="775335" y="1727835"/>
              <a:ext cx="636270" cy="257175"/>
            </a:xfrm>
            <a:prstGeom prst="roundRect">
              <a:avLst>
                <a:gd name="adj" fmla="val 50000"/>
              </a:avLst>
            </a:prstGeom>
            <a:solidFill>
              <a:srgbClr val="E2F3F4"/>
            </a:solidFill>
            <a:ln>
              <a:noFill/>
            </a:ln>
          </p:spPr>
        </p:sp>
        <p:sp>
          <p:nvSpPr>
            <p:cNvPr id="10" name="TextBox 10"/>
            <p:cNvSpPr txBox="1"/>
            <p:nvPr/>
          </p:nvSpPr>
          <p:spPr>
            <a:xfrm>
              <a:off x="861593" y="1763554"/>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定义一</a:t>
              </a:r>
            </a:p>
          </p:txBody>
        </p:sp>
        <p:sp>
          <p:nvSpPr>
            <p:cNvPr id="11" name="TextBox 11"/>
            <p:cNvSpPr txBox="1"/>
            <p:nvPr/>
          </p:nvSpPr>
          <p:spPr>
            <a:xfrm>
              <a:off x="1518666" y="1767364"/>
              <a:ext cx="132650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Nielsen 的定义</a:t>
              </a:r>
            </a:p>
          </p:txBody>
        </p:sp>
        <p:sp>
          <p:nvSpPr>
            <p:cNvPr id="12" name="TextBox 12"/>
            <p:cNvSpPr txBox="1"/>
            <p:nvPr/>
          </p:nvSpPr>
          <p:spPr>
            <a:xfrm>
              <a:off x="768096" y="2119789"/>
              <a:ext cx="5478780"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人工神经网络是一个 </a:t>
              </a:r>
              <a:r>
                <a:rPr lang="zh-CN" sz="1420" b="1" dirty="0">
                  <a:solidFill>
                    <a:srgbClr val="C2410C"/>
                  </a:solidFill>
                  <a:latin typeface="+mn-lt"/>
                  <a:ea typeface="+mn-ea"/>
                  <a:cs typeface="+mn-cs"/>
                </a:rPr>
                <a:t>并行、分布处理结构</a:t>
              </a:r>
              <a:r>
                <a:rPr lang="zh-CN" sz="1420" dirty="0">
                  <a:solidFill>
                    <a:srgbClr val="1F2937"/>
                  </a:solidFill>
                  <a:latin typeface="+mn-lt"/>
                  <a:ea typeface="+mn-ea"/>
                  <a:cs typeface="+mn-cs"/>
                </a:rPr>
                <a:t>，由处理单元及其称为联接</a:t>
              </a:r>
              <a:br/>
              <a:r>
                <a:rPr lang="zh-CN" sz="1420" dirty="0">
                  <a:solidFill>
                    <a:srgbClr val="1F2937"/>
                  </a:solidFill>
                  <a:latin typeface="+mn-lt"/>
                  <a:ea typeface="+mn-ea"/>
                  <a:cs typeface="+mn-cs"/>
                </a:rPr>
                <a:t>的无向讯号通道互连而成。</a:t>
              </a:r>
            </a:p>
          </p:txBody>
        </p:sp>
        <p:sp>
          <p:nvSpPr>
            <p:cNvPr id="13" name="Ellipse 13"/>
            <p:cNvSpPr/>
            <p:nvPr/>
          </p:nvSpPr>
          <p:spPr>
            <a:xfrm>
              <a:off x="782955" y="2770823"/>
              <a:ext cx="60960" cy="60960"/>
            </a:xfrm>
            <a:prstGeom prst="ellipse">
              <a:avLst/>
            </a:prstGeom>
            <a:solidFill>
              <a:srgbClr val="0E7C86"/>
            </a:solidFill>
            <a:ln>
              <a:noFill/>
            </a:ln>
          </p:spPr>
        </p:sp>
        <p:sp>
          <p:nvSpPr>
            <p:cNvPr id="14" name="TextBox 14"/>
            <p:cNvSpPr txBox="1"/>
            <p:nvPr/>
          </p:nvSpPr>
          <p:spPr>
            <a:xfrm>
              <a:off x="939546" y="2711291"/>
              <a:ext cx="364652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处理单元具有局部内存，只能完成局部操作</a:t>
              </a:r>
            </a:p>
          </p:txBody>
        </p:sp>
        <p:sp>
          <p:nvSpPr>
            <p:cNvPr id="15" name="Ellipse 15"/>
            <p:cNvSpPr/>
            <p:nvPr/>
          </p:nvSpPr>
          <p:spPr>
            <a:xfrm>
              <a:off x="782955" y="3090862"/>
              <a:ext cx="60960" cy="60960"/>
            </a:xfrm>
            <a:prstGeom prst="ellipse">
              <a:avLst/>
            </a:prstGeom>
            <a:solidFill>
              <a:srgbClr val="0E7C86"/>
            </a:solidFill>
            <a:ln>
              <a:noFill/>
            </a:ln>
          </p:spPr>
        </p:sp>
        <p:sp>
          <p:nvSpPr>
            <p:cNvPr id="16" name="TextBox 16"/>
            <p:cNvSpPr txBox="1"/>
            <p:nvPr/>
          </p:nvSpPr>
          <p:spPr>
            <a:xfrm>
              <a:off x="939546" y="3031331"/>
              <a:ext cx="54246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每个单元的计算仅依赖它接收的所有输入信号的当前值和局部内存中</a:t>
              </a:r>
              <a:br/>
              <a:r>
                <a:rPr lang="zh-CN" sz="1420" dirty="0">
                  <a:solidFill>
                    <a:srgbClr val="1F2937"/>
                  </a:solidFill>
                  <a:latin typeface="+mn-lt"/>
                  <a:ea typeface="+mn-ea"/>
                  <a:cs typeface="+mn-cs"/>
                </a:rPr>
                <a:t>的值</a:t>
              </a:r>
            </a:p>
          </p:txBody>
        </p:sp>
        <p:sp>
          <p:nvSpPr>
            <p:cNvPr id="17" name="Ellipse 17"/>
            <p:cNvSpPr/>
            <p:nvPr/>
          </p:nvSpPr>
          <p:spPr>
            <a:xfrm>
              <a:off x="782955" y="3682365"/>
              <a:ext cx="60960" cy="60960"/>
            </a:xfrm>
            <a:prstGeom prst="ellipse">
              <a:avLst/>
            </a:prstGeom>
            <a:solidFill>
              <a:srgbClr val="0E7C86"/>
            </a:solidFill>
            <a:ln>
              <a:noFill/>
            </a:ln>
          </p:spPr>
        </p:sp>
        <p:sp>
          <p:nvSpPr>
            <p:cNvPr id="18" name="TextBox 18"/>
            <p:cNvSpPr txBox="1"/>
            <p:nvPr/>
          </p:nvSpPr>
          <p:spPr>
            <a:xfrm>
              <a:off x="939546" y="3622834"/>
              <a:ext cx="574929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每个处理单元有一个单一的输出联接，输出通过必要的数学模型给出</a:t>
              </a:r>
            </a:p>
          </p:txBody>
        </p:sp>
      </p:grpSp>
      <p:grpSp>
        <p:nvGrpSpPr>
          <p:cNvPr id="26" name="c1-card-2"/>
          <p:cNvGrpSpPr/>
          <p:nvPr/>
        </p:nvGrpSpPr>
        <p:grpSpPr>
          <a:xfrm>
            <a:off x="533400" y="4233862"/>
            <a:ext cx="6276022" cy="1293495"/>
            <a:chOff x="533400" y="4233862"/>
            <a:chExt cx="6276022" cy="1293495"/>
          </a:xfrm>
        </p:grpSpPr>
        <p:sp>
          <p:nvSpPr>
            <p:cNvPr id="20" name="Rectangle 20"/>
            <p:cNvSpPr/>
            <p:nvPr/>
          </p:nvSpPr>
          <p:spPr>
            <a:xfrm>
              <a:off x="533400" y="4233862"/>
              <a:ext cx="6276022" cy="1293495"/>
            </a:xfrm>
            <a:prstGeom prst="roundRect">
              <a:avLst>
                <a:gd name="adj" fmla="val 10309"/>
              </a:avLst>
            </a:prstGeom>
            <a:solidFill>
              <a:srgbClr val="FFFFFF"/>
            </a:solidFill>
            <a:ln w="14288">
              <a:solidFill>
                <a:srgbClr val="D9DFEA"/>
              </a:solidFill>
            </a:ln>
          </p:spPr>
        </p:sp>
        <p:sp>
          <p:nvSpPr>
            <p:cNvPr id="21" name="Rectangle 21"/>
            <p:cNvSpPr/>
            <p:nvPr/>
          </p:nvSpPr>
          <p:spPr>
            <a:xfrm>
              <a:off x="542925" y="4367212"/>
              <a:ext cx="47625" cy="1026795"/>
            </a:xfrm>
            <a:prstGeom prst="roundRect">
              <a:avLst>
                <a:gd name="adj" fmla="val 50000"/>
              </a:avLst>
            </a:prstGeom>
            <a:solidFill>
              <a:srgbClr val="0E7C86"/>
            </a:solidFill>
            <a:ln>
              <a:noFill/>
            </a:ln>
          </p:spPr>
        </p:sp>
        <p:sp>
          <p:nvSpPr>
            <p:cNvPr id="22" name="Rectangle 22"/>
            <p:cNvSpPr/>
            <p:nvPr/>
          </p:nvSpPr>
          <p:spPr>
            <a:xfrm>
              <a:off x="775335" y="4437698"/>
              <a:ext cx="636270" cy="257175"/>
            </a:xfrm>
            <a:prstGeom prst="roundRect">
              <a:avLst>
                <a:gd name="adj" fmla="val 50000"/>
              </a:avLst>
            </a:prstGeom>
            <a:solidFill>
              <a:srgbClr val="E2F3F4"/>
            </a:solidFill>
            <a:ln>
              <a:noFill/>
            </a:ln>
          </p:spPr>
        </p:sp>
        <p:sp>
          <p:nvSpPr>
            <p:cNvPr id="23" name="TextBox 23"/>
            <p:cNvSpPr txBox="1"/>
            <p:nvPr/>
          </p:nvSpPr>
          <p:spPr>
            <a:xfrm>
              <a:off x="861593" y="4473416"/>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定义二</a:t>
              </a:r>
            </a:p>
          </p:txBody>
        </p:sp>
        <p:sp>
          <p:nvSpPr>
            <p:cNvPr id="24" name="TextBox 24"/>
            <p:cNvSpPr txBox="1"/>
            <p:nvPr/>
          </p:nvSpPr>
          <p:spPr>
            <a:xfrm>
              <a:off x="1518666" y="4478179"/>
              <a:ext cx="392446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Kohonen 1988（Neural Networks 创刊号）</a:t>
              </a:r>
            </a:p>
          </p:txBody>
        </p:sp>
        <p:sp>
          <p:nvSpPr>
            <p:cNvPr id="25" name="TextBox 25"/>
            <p:cNvSpPr txBox="1"/>
            <p:nvPr/>
          </p:nvSpPr>
          <p:spPr>
            <a:xfrm>
              <a:off x="768096" y="4829651"/>
              <a:ext cx="5532882"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神经网络是由 </a:t>
              </a:r>
              <a:r>
                <a:rPr lang="zh-CN" sz="1420" b="1" dirty="0">
                  <a:solidFill>
                    <a:srgbClr val="C2410C"/>
                  </a:solidFill>
                  <a:latin typeface="+mn-lt"/>
                  <a:ea typeface="+mn-ea"/>
                  <a:cs typeface="+mn-cs"/>
                </a:rPr>
                <a:t>具有适应性的简单单元</a:t>
              </a:r>
              <a:r>
                <a:rPr lang="zh-CN" sz="1420" dirty="0">
                  <a:solidFill>
                    <a:srgbClr val="1F2937"/>
                  </a:solidFill>
                  <a:latin typeface="+mn-lt"/>
                  <a:ea typeface="+mn-ea"/>
                  <a:cs typeface="+mn-cs"/>
                </a:rPr>
                <a:t xml:space="preserve"> 组成的广泛并行互联的网络，它</a:t>
              </a:r>
              <a:br/>
              <a:r>
                <a:rPr lang="zh-CN" sz="1420" dirty="0">
                  <a:solidFill>
                    <a:srgbClr val="1F2937"/>
                  </a:solidFill>
                  <a:latin typeface="+mn-lt"/>
                  <a:ea typeface="+mn-ea"/>
                  <a:cs typeface="+mn-cs"/>
                </a:rPr>
                <a:t>的组织能够模拟生物神经系统对真实世界物体所作出的反应。</a:t>
              </a:r>
            </a:p>
          </p:txBody>
        </p:sp>
      </p:grpSp>
      <p:grpSp>
        <p:nvGrpSpPr>
          <p:cNvPr id="33" name="c2-card-1"/>
          <p:cNvGrpSpPr/>
          <p:nvPr/>
        </p:nvGrpSpPr>
        <p:grpSpPr>
          <a:xfrm>
            <a:off x="7114222" y="1524000"/>
            <a:ext cx="4544378" cy="1293495"/>
            <a:chOff x="7114222" y="1524000"/>
            <a:chExt cx="4544378" cy="1293495"/>
          </a:xfrm>
        </p:grpSpPr>
        <p:sp>
          <p:nvSpPr>
            <p:cNvPr id="27" name="Rectangle 27"/>
            <p:cNvSpPr/>
            <p:nvPr/>
          </p:nvSpPr>
          <p:spPr>
            <a:xfrm>
              <a:off x="7114222" y="1524000"/>
              <a:ext cx="4544378" cy="1293495"/>
            </a:xfrm>
            <a:prstGeom prst="roundRect">
              <a:avLst>
                <a:gd name="adj" fmla="val 10309"/>
              </a:avLst>
            </a:prstGeom>
            <a:solidFill>
              <a:srgbClr val="FFFFFF"/>
            </a:solidFill>
            <a:ln w="14288">
              <a:solidFill>
                <a:srgbClr val="D9DFEA"/>
              </a:solidFill>
            </a:ln>
          </p:spPr>
        </p:sp>
        <p:sp>
          <p:nvSpPr>
            <p:cNvPr id="28" name="Rectangle 28"/>
            <p:cNvSpPr/>
            <p:nvPr/>
          </p:nvSpPr>
          <p:spPr>
            <a:xfrm>
              <a:off x="7123748" y="1657350"/>
              <a:ext cx="47625" cy="1026795"/>
            </a:xfrm>
            <a:prstGeom prst="roundRect">
              <a:avLst>
                <a:gd name="adj" fmla="val 50000"/>
              </a:avLst>
            </a:prstGeom>
            <a:solidFill>
              <a:srgbClr val="0E7C86"/>
            </a:solidFill>
            <a:ln>
              <a:noFill/>
            </a:ln>
          </p:spPr>
        </p:sp>
        <p:sp>
          <p:nvSpPr>
            <p:cNvPr id="29" name="Rectangle 29"/>
            <p:cNvSpPr/>
            <p:nvPr/>
          </p:nvSpPr>
          <p:spPr>
            <a:xfrm>
              <a:off x="7356158" y="1727835"/>
              <a:ext cx="636270" cy="257175"/>
            </a:xfrm>
            <a:prstGeom prst="roundRect">
              <a:avLst>
                <a:gd name="adj" fmla="val 50000"/>
              </a:avLst>
            </a:prstGeom>
            <a:solidFill>
              <a:srgbClr val="E2F3F4"/>
            </a:solidFill>
            <a:ln>
              <a:noFill/>
            </a:ln>
          </p:spPr>
        </p:sp>
        <p:sp>
          <p:nvSpPr>
            <p:cNvPr id="30" name="TextBox 30"/>
            <p:cNvSpPr txBox="1"/>
            <p:nvPr/>
          </p:nvSpPr>
          <p:spPr>
            <a:xfrm>
              <a:off x="7442416" y="1763554"/>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定义三</a:t>
              </a:r>
            </a:p>
          </p:txBody>
        </p:sp>
        <p:sp>
          <p:nvSpPr>
            <p:cNvPr id="31" name="TextBox 31"/>
            <p:cNvSpPr txBox="1"/>
            <p:nvPr/>
          </p:nvSpPr>
          <p:spPr>
            <a:xfrm>
              <a:off x="8099488" y="176736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工程口径</a:t>
              </a:r>
            </a:p>
          </p:txBody>
        </p:sp>
        <p:sp>
          <p:nvSpPr>
            <p:cNvPr id="32" name="TextBox 32"/>
            <p:cNvSpPr txBox="1"/>
            <p:nvPr/>
          </p:nvSpPr>
          <p:spPr>
            <a:xfrm>
              <a:off x="7348918" y="2119789"/>
              <a:ext cx="38016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基于模仿生物大脑的结构和功能而构成的一种信</a:t>
              </a:r>
              <a:br/>
              <a:r>
                <a:rPr lang="zh-CN" sz="1420" dirty="0">
                  <a:solidFill>
                    <a:srgbClr val="1F2937"/>
                  </a:solidFill>
                  <a:latin typeface="+mn-lt"/>
                  <a:ea typeface="+mn-ea"/>
                  <a:cs typeface="+mn-cs"/>
                </a:rPr>
                <a:t>息处理系统。</a:t>
              </a:r>
            </a:p>
          </p:txBody>
        </p:sp>
      </p:grpSp>
      <p:grpSp>
        <p:nvGrpSpPr>
          <p:cNvPr id="48" name="c2-card-2"/>
          <p:cNvGrpSpPr/>
          <p:nvPr/>
        </p:nvGrpSpPr>
        <p:grpSpPr>
          <a:xfrm>
            <a:off x="7114222" y="3002280"/>
            <a:ext cx="4544378" cy="2525078"/>
            <a:chOff x="7114222" y="3002280"/>
            <a:chExt cx="4544378" cy="2525078"/>
          </a:xfrm>
        </p:grpSpPr>
        <p:sp>
          <p:nvSpPr>
            <p:cNvPr id="34" name="Rectangle 34"/>
            <p:cNvSpPr/>
            <p:nvPr/>
          </p:nvSpPr>
          <p:spPr>
            <a:xfrm>
              <a:off x="7114222" y="3002280"/>
              <a:ext cx="4544378" cy="2525078"/>
            </a:xfrm>
            <a:prstGeom prst="roundRect">
              <a:avLst>
                <a:gd name="adj" fmla="val 5281"/>
              </a:avLst>
            </a:prstGeom>
            <a:solidFill>
              <a:srgbClr val="FFFFFF"/>
            </a:solidFill>
            <a:ln w="14288">
              <a:solidFill>
                <a:srgbClr val="D9DFEA"/>
              </a:solidFill>
            </a:ln>
          </p:spPr>
        </p:sp>
        <p:sp>
          <p:nvSpPr>
            <p:cNvPr id="35" name="Rectangle 35"/>
            <p:cNvSpPr/>
            <p:nvPr/>
          </p:nvSpPr>
          <p:spPr>
            <a:xfrm>
              <a:off x="7123748" y="3135630"/>
              <a:ext cx="47625" cy="2258378"/>
            </a:xfrm>
            <a:prstGeom prst="roundRect">
              <a:avLst>
                <a:gd name="adj" fmla="val 50000"/>
              </a:avLst>
            </a:prstGeom>
            <a:solidFill>
              <a:srgbClr val="D97706"/>
            </a:solidFill>
            <a:ln>
              <a:noFill/>
            </a:ln>
          </p:spPr>
        </p:sp>
        <p:sp>
          <p:nvSpPr>
            <p:cNvPr id="36" name="Rectangle 36"/>
            <p:cNvSpPr/>
            <p:nvPr/>
          </p:nvSpPr>
          <p:spPr>
            <a:xfrm>
              <a:off x="7356158" y="3206115"/>
              <a:ext cx="1204912" cy="257175"/>
            </a:xfrm>
            <a:prstGeom prst="roundRect">
              <a:avLst>
                <a:gd name="adj" fmla="val 50000"/>
              </a:avLst>
            </a:prstGeom>
            <a:solidFill>
              <a:srgbClr val="FEF3C7"/>
            </a:solidFill>
            <a:ln>
              <a:noFill/>
            </a:ln>
          </p:spPr>
        </p:sp>
        <p:sp>
          <p:nvSpPr>
            <p:cNvPr id="37" name="TextBox 37"/>
            <p:cNvSpPr txBox="1"/>
            <p:nvPr/>
          </p:nvSpPr>
          <p:spPr>
            <a:xfrm>
              <a:off x="7424712" y="3241834"/>
              <a:ext cx="1066851"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三句话的共同点</a:t>
              </a:r>
            </a:p>
          </p:txBody>
        </p:sp>
        <p:sp>
          <p:nvSpPr>
            <p:cNvPr id="38" name="TextBox 38"/>
            <p:cNvSpPr txBox="1"/>
            <p:nvPr/>
          </p:nvSpPr>
          <p:spPr>
            <a:xfrm>
              <a:off x="8668131" y="3246596"/>
              <a:ext cx="277005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简单单元 + 大量连接 + 连接可调</a:t>
              </a:r>
            </a:p>
          </p:txBody>
        </p:sp>
        <p:sp>
          <p:nvSpPr>
            <p:cNvPr id="39" name="Ellipse 39"/>
            <p:cNvSpPr/>
            <p:nvPr/>
          </p:nvSpPr>
          <p:spPr>
            <a:xfrm>
              <a:off x="7356158" y="3586162"/>
              <a:ext cx="201930" cy="201930"/>
            </a:xfrm>
            <a:prstGeom prst="ellipse">
              <a:avLst/>
            </a:prstGeom>
            <a:solidFill>
              <a:srgbClr val="0E7C86"/>
            </a:solidFill>
            <a:ln>
              <a:noFill/>
            </a:ln>
          </p:spPr>
        </p:sp>
        <p:sp>
          <p:nvSpPr>
            <p:cNvPr id="40" name="TextBox 40"/>
            <p:cNvSpPr txBox="1"/>
            <p:nvPr/>
          </p:nvSpPr>
          <p:spPr>
            <a:xfrm>
              <a:off x="7414502" y="362554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41" name="TextBox 41"/>
            <p:cNvSpPr txBox="1"/>
            <p:nvPr/>
          </p:nvSpPr>
          <p:spPr>
            <a:xfrm>
              <a:off x="7647051" y="359806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单元本身很简单，复杂性来自连接的数量</a:t>
              </a:r>
            </a:p>
          </p:txBody>
        </p:sp>
        <p:sp>
          <p:nvSpPr>
            <p:cNvPr id="42" name="Ellipse 42"/>
            <p:cNvSpPr/>
            <p:nvPr/>
          </p:nvSpPr>
          <p:spPr>
            <a:xfrm>
              <a:off x="7356158" y="3906202"/>
              <a:ext cx="201930" cy="201930"/>
            </a:xfrm>
            <a:prstGeom prst="ellipse">
              <a:avLst/>
            </a:prstGeom>
            <a:solidFill>
              <a:srgbClr val="0E7C86"/>
            </a:solidFill>
            <a:ln>
              <a:noFill/>
            </a:ln>
          </p:spPr>
        </p:sp>
        <p:sp>
          <p:nvSpPr>
            <p:cNvPr id="43" name="TextBox 43"/>
            <p:cNvSpPr txBox="1"/>
            <p:nvPr/>
          </p:nvSpPr>
          <p:spPr>
            <a:xfrm>
              <a:off x="7414502" y="394558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44" name="TextBox 44"/>
            <p:cNvSpPr txBox="1"/>
            <p:nvPr/>
          </p:nvSpPr>
          <p:spPr>
            <a:xfrm>
              <a:off x="7647051" y="391810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计算是局部的、并行的，没有全局控制器</a:t>
              </a:r>
            </a:p>
          </p:txBody>
        </p:sp>
        <p:sp>
          <p:nvSpPr>
            <p:cNvPr id="45" name="Ellipse 45"/>
            <p:cNvSpPr/>
            <p:nvPr/>
          </p:nvSpPr>
          <p:spPr>
            <a:xfrm>
              <a:off x="7356158" y="4226242"/>
              <a:ext cx="201930" cy="201930"/>
            </a:xfrm>
            <a:prstGeom prst="ellipse">
              <a:avLst/>
            </a:prstGeom>
            <a:solidFill>
              <a:srgbClr val="0E7C86"/>
            </a:solidFill>
            <a:ln>
              <a:noFill/>
            </a:ln>
          </p:spPr>
        </p:sp>
        <p:sp>
          <p:nvSpPr>
            <p:cNvPr id="46" name="TextBox 46"/>
            <p:cNvSpPr txBox="1"/>
            <p:nvPr/>
          </p:nvSpPr>
          <p:spPr>
            <a:xfrm>
              <a:off x="7414502" y="426562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47" name="TextBox 47"/>
            <p:cNvSpPr txBox="1"/>
            <p:nvPr/>
          </p:nvSpPr>
          <p:spPr>
            <a:xfrm>
              <a:off x="7647051" y="4238149"/>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知识存在连接权里，学习就是改这些权</a:t>
              </a:r>
            </a:p>
          </p:txBody>
        </p:sp>
      </p:grpSp>
      <p:grpSp>
        <p:nvGrpSpPr>
          <p:cNvPr id="55" name="takeaway"/>
          <p:cNvGrpSpPr/>
          <p:nvPr/>
        </p:nvGrpSpPr>
        <p:grpSpPr>
          <a:xfrm>
            <a:off x="533400" y="5844540"/>
            <a:ext cx="11125200" cy="518160"/>
            <a:chOff x="533400" y="5844540"/>
            <a:chExt cx="11125200" cy="518160"/>
          </a:xfrm>
        </p:grpSpPr>
        <p:sp>
          <p:nvSpPr>
            <p:cNvPr id="49" name="Rectangle 49"/>
            <p:cNvSpPr/>
            <p:nvPr/>
          </p:nvSpPr>
          <p:spPr>
            <a:xfrm>
              <a:off x="533400" y="5844540"/>
              <a:ext cx="11125200" cy="518160"/>
            </a:xfrm>
            <a:prstGeom prst="roundRect">
              <a:avLst>
                <a:gd name="adj" fmla="val 22059"/>
              </a:avLst>
            </a:prstGeom>
            <a:solidFill>
              <a:srgbClr val="F4F6FB"/>
            </a:solidFill>
            <a:ln>
              <a:noFill/>
            </a:ln>
          </p:spPr>
        </p:sp>
        <p:grpSp>
          <p:nvGrpSpPr>
            <p:cNvPr id="53" name="Group 53"/>
            <p:cNvGrpSpPr/>
            <p:nvPr/>
          </p:nvGrpSpPr>
          <p:grpSpPr>
            <a:xfrm>
              <a:off x="738188" y="6003608"/>
              <a:ext cx="200026" cy="200026"/>
              <a:chOff x="738188" y="6003608"/>
              <a:chExt cx="200026" cy="200026"/>
            </a:xfrm>
          </p:grpSpPr>
          <p:sp>
            <p:nvSpPr>
              <p:cNvPr id="50" name="Freeform 50"/>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1" name="Freeform 51"/>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2" name="Freeform 52"/>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4" name="TextBox 54"/>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三种定义都没有规定网络必须分层，分层只是后来最常用的一种连接方式。</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7" name="TextBox 5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并行、分布存储、容错：能做什么和不擅长什么</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card-1"/>
          <p:cNvGrpSpPr/>
          <p:nvPr/>
        </p:nvGrpSpPr>
        <p:grpSpPr>
          <a:xfrm>
            <a:off x="533400" y="1524000"/>
            <a:ext cx="5410200" cy="4009072"/>
            <a:chOff x="533400" y="1524000"/>
            <a:chExt cx="5410200" cy="4009072"/>
          </a:xfrm>
        </p:grpSpPr>
        <p:sp>
          <p:nvSpPr>
            <p:cNvPr id="7" name="Rectangle 7"/>
            <p:cNvSpPr/>
            <p:nvPr/>
          </p:nvSpPr>
          <p:spPr>
            <a:xfrm>
              <a:off x="533400" y="1524000"/>
              <a:ext cx="5410200" cy="4009072"/>
            </a:xfrm>
            <a:prstGeom prst="roundRect">
              <a:avLst>
                <a:gd name="adj" fmla="val 3326"/>
              </a:avLst>
            </a:prstGeom>
            <a:solidFill>
              <a:srgbClr val="FFFFFF"/>
            </a:solidFill>
            <a:ln w="14288">
              <a:solidFill>
                <a:srgbClr val="D9DFEA"/>
              </a:solidFill>
            </a:ln>
          </p:spPr>
        </p:sp>
        <p:sp>
          <p:nvSpPr>
            <p:cNvPr id="8" name="Rectangle 8"/>
            <p:cNvSpPr/>
            <p:nvPr/>
          </p:nvSpPr>
          <p:spPr>
            <a:xfrm>
              <a:off x="542925" y="1657350"/>
              <a:ext cx="47625" cy="3742372"/>
            </a:xfrm>
            <a:prstGeom prst="roundRect">
              <a:avLst>
                <a:gd name="adj" fmla="val 50000"/>
              </a:avLst>
            </a:prstGeom>
            <a:solidFill>
              <a:srgbClr val="14A38B"/>
            </a:solidFill>
            <a:ln>
              <a:noFill/>
            </a:ln>
          </p:spPr>
        </p:sp>
        <p:sp>
          <p:nvSpPr>
            <p:cNvPr id="9" name="Rectangle 9"/>
            <p:cNvSpPr/>
            <p:nvPr/>
          </p:nvSpPr>
          <p:spPr>
            <a:xfrm>
              <a:off x="775335" y="1727835"/>
              <a:ext cx="494348" cy="257175"/>
            </a:xfrm>
            <a:prstGeom prst="roundRect">
              <a:avLst>
                <a:gd name="adj" fmla="val 50000"/>
              </a:avLst>
            </a:prstGeom>
            <a:solidFill>
              <a:srgbClr val="E3F5F1"/>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特点</a:t>
              </a:r>
            </a:p>
          </p:txBody>
        </p:sp>
        <p:sp>
          <p:nvSpPr>
            <p:cNvPr id="11" name="TextBox 11"/>
            <p:cNvSpPr txBox="1"/>
            <p:nvPr/>
          </p:nvSpPr>
          <p:spPr>
            <a:xfrm>
              <a:off x="1376744"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人工神经网络的四个特点</a:t>
              </a:r>
            </a:p>
          </p:txBody>
        </p:sp>
        <p:sp>
          <p:nvSpPr>
            <p:cNvPr id="12" name="Ellipse 12"/>
            <p:cNvSpPr/>
            <p:nvPr/>
          </p:nvSpPr>
          <p:spPr>
            <a:xfrm>
              <a:off x="775335" y="2106930"/>
              <a:ext cx="201930" cy="201930"/>
            </a:xfrm>
            <a:prstGeom prst="ellipse">
              <a:avLst/>
            </a:prstGeom>
            <a:solidFill>
              <a:srgbClr val="0E7C86"/>
            </a:solidFill>
            <a:ln>
              <a:noFill/>
            </a:ln>
          </p:spPr>
        </p:sp>
        <p:sp>
          <p:nvSpPr>
            <p:cNvPr id="13" name="TextBox 13"/>
            <p:cNvSpPr txBox="1"/>
            <p:nvPr/>
          </p:nvSpPr>
          <p:spPr>
            <a:xfrm>
              <a:off x="8336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4" name="TextBox 14"/>
            <p:cNvSpPr txBox="1"/>
            <p:nvPr/>
          </p:nvSpPr>
          <p:spPr>
            <a:xfrm>
              <a:off x="1066228" y="2119789"/>
              <a:ext cx="364652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并行结构和并行处理</a:t>
              </a:r>
              <a:r>
                <a:rPr lang="zh-CN" sz="1420" dirty="0">
                  <a:solidFill>
                    <a:srgbClr val="1F2937"/>
                  </a:solidFill>
                  <a:latin typeface="+mn-lt"/>
                  <a:ea typeface="+mn-ea"/>
                  <a:cs typeface="+mn-cs"/>
                </a:rPr>
                <a:t>：所有单元同时计算。</a:t>
              </a:r>
            </a:p>
          </p:txBody>
        </p:sp>
        <p:sp>
          <p:nvSpPr>
            <p:cNvPr id="15" name="Ellipse 15"/>
            <p:cNvSpPr/>
            <p:nvPr/>
          </p:nvSpPr>
          <p:spPr>
            <a:xfrm>
              <a:off x="775335" y="2426970"/>
              <a:ext cx="201930" cy="201930"/>
            </a:xfrm>
            <a:prstGeom prst="ellipse">
              <a:avLst/>
            </a:prstGeom>
            <a:solidFill>
              <a:srgbClr val="0E7C86"/>
            </a:solidFill>
            <a:ln>
              <a:noFill/>
            </a:ln>
          </p:spPr>
        </p:sp>
        <p:sp>
          <p:nvSpPr>
            <p:cNvPr id="16" name="TextBox 16"/>
            <p:cNvSpPr txBox="1"/>
            <p:nvPr/>
          </p:nvSpPr>
          <p:spPr>
            <a:xfrm>
              <a:off x="833680" y="246730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7" name="TextBox 17"/>
            <p:cNvSpPr txBox="1"/>
            <p:nvPr/>
          </p:nvSpPr>
          <p:spPr>
            <a:xfrm>
              <a:off x="1066228" y="2439829"/>
              <a:ext cx="4360672"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知识的分布存储</a:t>
              </a:r>
              <a:r>
                <a:rPr lang="zh-CN" sz="1420" dirty="0">
                  <a:solidFill>
                    <a:srgbClr val="1F2937"/>
                  </a:solidFill>
                  <a:latin typeface="+mn-lt"/>
                  <a:ea typeface="+mn-ea"/>
                  <a:cs typeface="+mn-cs"/>
                </a:rPr>
                <a:t>：知识不放在某个特定存储单元里，而</a:t>
              </a:r>
              <a:br/>
              <a:r>
                <a:rPr lang="zh-CN" sz="1420" dirty="0">
                  <a:solidFill>
                    <a:srgbClr val="1F2937"/>
                  </a:solidFill>
                  <a:latin typeface="+mn-lt"/>
                  <a:ea typeface="+mn-ea"/>
                  <a:cs typeface="+mn-cs"/>
                </a:rPr>
                <a:t>是分布在整个系统中；取出知识靠“联想”，类似人和动</a:t>
              </a:r>
              <a:br/>
              <a:r>
                <a:rPr lang="zh-CN" sz="1420" dirty="0">
                  <a:solidFill>
                    <a:srgbClr val="1F2937"/>
                  </a:solidFill>
                  <a:latin typeface="+mn-lt"/>
                  <a:ea typeface="+mn-ea"/>
                  <a:cs typeface="+mn-cs"/>
                </a:rPr>
                <a:t>物的记忆。</a:t>
              </a:r>
            </a:p>
          </p:txBody>
        </p:sp>
        <p:sp>
          <p:nvSpPr>
            <p:cNvPr id="18" name="Ellipse 18"/>
            <p:cNvSpPr/>
            <p:nvPr/>
          </p:nvSpPr>
          <p:spPr>
            <a:xfrm>
              <a:off x="775335" y="3289935"/>
              <a:ext cx="201930" cy="201930"/>
            </a:xfrm>
            <a:prstGeom prst="ellipse">
              <a:avLst/>
            </a:prstGeom>
            <a:solidFill>
              <a:srgbClr val="0E7C86"/>
            </a:solidFill>
            <a:ln>
              <a:noFill/>
            </a:ln>
          </p:spPr>
        </p:sp>
        <p:sp>
          <p:nvSpPr>
            <p:cNvPr id="19" name="TextBox 19"/>
            <p:cNvSpPr txBox="1"/>
            <p:nvPr/>
          </p:nvSpPr>
          <p:spPr>
            <a:xfrm>
              <a:off x="833680" y="333027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0" name="TextBox 20"/>
            <p:cNvSpPr txBox="1"/>
            <p:nvPr/>
          </p:nvSpPr>
          <p:spPr>
            <a:xfrm>
              <a:off x="1066228" y="3302794"/>
              <a:ext cx="441116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容错性</a:t>
              </a:r>
              <a:r>
                <a:rPr lang="zh-CN" sz="1420" dirty="0">
                  <a:solidFill>
                    <a:srgbClr val="1F2937"/>
                  </a:solidFill>
                  <a:latin typeface="+mn-lt"/>
                  <a:ea typeface="+mn-ea"/>
                  <a:cs typeface="+mn-cs"/>
                </a:rPr>
                <a:t>：少数连接或单元出错不会让整个结果失效。</a:t>
              </a:r>
            </a:p>
          </p:txBody>
        </p:sp>
        <p:sp>
          <p:nvSpPr>
            <p:cNvPr id="21" name="Ellipse 21"/>
            <p:cNvSpPr/>
            <p:nvPr/>
          </p:nvSpPr>
          <p:spPr>
            <a:xfrm>
              <a:off x="775335" y="3609975"/>
              <a:ext cx="201930" cy="201930"/>
            </a:xfrm>
            <a:prstGeom prst="ellipse">
              <a:avLst/>
            </a:prstGeom>
            <a:solidFill>
              <a:srgbClr val="0E7C86"/>
            </a:solidFill>
            <a:ln>
              <a:noFill/>
            </a:ln>
          </p:spPr>
        </p:sp>
        <p:sp>
          <p:nvSpPr>
            <p:cNvPr id="22" name="TextBox 22"/>
            <p:cNvSpPr txBox="1"/>
            <p:nvPr/>
          </p:nvSpPr>
          <p:spPr>
            <a:xfrm>
              <a:off x="833680" y="365031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3" name="TextBox 23"/>
            <p:cNvSpPr txBox="1"/>
            <p:nvPr/>
          </p:nvSpPr>
          <p:spPr>
            <a:xfrm>
              <a:off x="1066228" y="3622834"/>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自适应性</a:t>
              </a:r>
              <a:r>
                <a:rPr lang="zh-CN" sz="1420" dirty="0">
                  <a:solidFill>
                    <a:srgbClr val="1F2937"/>
                  </a:solidFill>
                  <a:latin typeface="+mn-lt"/>
                  <a:ea typeface="+mn-ea"/>
                  <a:cs typeface="+mn-cs"/>
                </a:rPr>
                <a:t>：靠数据调整自身参数。</a:t>
              </a:r>
            </a:p>
          </p:txBody>
        </p:sp>
        <p:sp>
          <p:nvSpPr>
            <p:cNvPr id="24" name="TextBox 24"/>
            <p:cNvSpPr txBox="1"/>
            <p:nvPr/>
          </p:nvSpPr>
          <p:spPr>
            <a:xfrm>
              <a:off x="769239" y="3938588"/>
              <a:ext cx="4858512"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联想记忆的特点：能存大量复杂数据、能自适应抽取特征、推理快。</a:t>
              </a:r>
            </a:p>
          </p:txBody>
        </p:sp>
      </p:grpSp>
      <p:grpSp>
        <p:nvGrpSpPr>
          <p:cNvPr id="39" name="c2-card-1"/>
          <p:cNvGrpSpPr/>
          <p:nvPr/>
        </p:nvGrpSpPr>
        <p:grpSpPr>
          <a:xfrm>
            <a:off x="6248400" y="1524000"/>
            <a:ext cx="5410200" cy="3068002"/>
            <a:chOff x="6248400" y="1524000"/>
            <a:chExt cx="5410200" cy="3068002"/>
          </a:xfrm>
        </p:grpSpPr>
        <p:sp>
          <p:nvSpPr>
            <p:cNvPr id="26" name="Rectangle 26"/>
            <p:cNvSpPr/>
            <p:nvPr/>
          </p:nvSpPr>
          <p:spPr>
            <a:xfrm>
              <a:off x="6248400" y="1524000"/>
              <a:ext cx="5410200" cy="3068002"/>
            </a:xfrm>
            <a:prstGeom prst="roundRect">
              <a:avLst>
                <a:gd name="adj" fmla="val 4346"/>
              </a:avLst>
            </a:prstGeom>
            <a:solidFill>
              <a:srgbClr val="FFFFFF"/>
            </a:solidFill>
            <a:ln w="14288">
              <a:solidFill>
                <a:srgbClr val="D9DFEA"/>
              </a:solidFill>
            </a:ln>
          </p:spPr>
        </p:sp>
        <p:sp>
          <p:nvSpPr>
            <p:cNvPr id="27" name="Rectangle 27"/>
            <p:cNvSpPr/>
            <p:nvPr/>
          </p:nvSpPr>
          <p:spPr>
            <a:xfrm>
              <a:off x="6257925" y="1657350"/>
              <a:ext cx="47625" cy="2801302"/>
            </a:xfrm>
            <a:prstGeom prst="roundRect">
              <a:avLst>
                <a:gd name="adj" fmla="val 50000"/>
              </a:avLst>
            </a:prstGeom>
            <a:solidFill>
              <a:srgbClr val="B42318"/>
            </a:solidFill>
            <a:ln>
              <a:noFill/>
            </a:ln>
          </p:spPr>
        </p:sp>
        <p:sp>
          <p:nvSpPr>
            <p:cNvPr id="28" name="Rectangle 28"/>
            <p:cNvSpPr/>
            <p:nvPr/>
          </p:nvSpPr>
          <p:spPr>
            <a:xfrm>
              <a:off x="6490335" y="1727835"/>
              <a:ext cx="494348" cy="257175"/>
            </a:xfrm>
            <a:prstGeom prst="roundRect">
              <a:avLst>
                <a:gd name="adj" fmla="val 50000"/>
              </a:avLst>
            </a:prstGeom>
            <a:solidFill>
              <a:srgbClr val="FDECEA"/>
            </a:solidFill>
            <a:ln>
              <a:noFill/>
            </a:ln>
          </p:spPr>
        </p:sp>
        <p:sp>
          <p:nvSpPr>
            <p:cNvPr id="29" name="TextBox 29"/>
            <p:cNvSpPr txBox="1"/>
            <p:nvPr/>
          </p:nvSpPr>
          <p:spPr>
            <a:xfrm>
              <a:off x="6580543" y="1763554"/>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局限</a:t>
              </a:r>
            </a:p>
          </p:txBody>
        </p:sp>
        <p:sp>
          <p:nvSpPr>
            <p:cNvPr id="30" name="TextBox 30"/>
            <p:cNvSpPr txBox="1"/>
            <p:nvPr/>
          </p:nvSpPr>
          <p:spPr>
            <a:xfrm>
              <a:off x="7091744"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人工神经网络不擅长的事</a:t>
              </a:r>
            </a:p>
          </p:txBody>
        </p:sp>
        <p:sp>
          <p:nvSpPr>
            <p:cNvPr id="31" name="Ellipse 31"/>
            <p:cNvSpPr/>
            <p:nvPr/>
          </p:nvSpPr>
          <p:spPr>
            <a:xfrm>
              <a:off x="6497955" y="2179320"/>
              <a:ext cx="60960" cy="60960"/>
            </a:xfrm>
            <a:prstGeom prst="ellipse">
              <a:avLst/>
            </a:prstGeom>
            <a:solidFill>
              <a:srgbClr val="0E7C86"/>
            </a:solidFill>
            <a:ln>
              <a:noFill/>
            </a:ln>
          </p:spPr>
        </p:sp>
        <p:sp>
          <p:nvSpPr>
            <p:cNvPr id="32" name="TextBox 32"/>
            <p:cNvSpPr txBox="1"/>
            <p:nvPr/>
          </p:nvSpPr>
          <p:spPr>
            <a:xfrm>
              <a:off x="6654546" y="2119789"/>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不适于高精度计算</a:t>
              </a:r>
              <a:r>
                <a:rPr lang="zh-CN" sz="1420" dirty="0">
                  <a:solidFill>
                    <a:srgbClr val="1F2937"/>
                  </a:solidFill>
                  <a:latin typeface="+mn-lt"/>
                  <a:ea typeface="+mn-ea"/>
                  <a:cs typeface="+mn-cs"/>
                </a:rPr>
                <a:t>。它和其他计算智能方法一样不是确定</a:t>
              </a:r>
              <a:br/>
              <a:r>
                <a:rPr lang="zh-CN" sz="1420" dirty="0">
                  <a:solidFill>
                    <a:srgbClr val="1F2937"/>
                  </a:solidFill>
                  <a:latin typeface="+mn-lt"/>
                  <a:ea typeface="+mn-ea"/>
                  <a:cs typeface="+mn-cs"/>
                </a:rPr>
                <a:t>性算法。</a:t>
              </a:r>
            </a:p>
          </p:txBody>
        </p:sp>
        <p:sp>
          <p:nvSpPr>
            <p:cNvPr id="33" name="Ellipse 33"/>
            <p:cNvSpPr/>
            <p:nvPr/>
          </p:nvSpPr>
          <p:spPr>
            <a:xfrm>
              <a:off x="6497955" y="2770823"/>
              <a:ext cx="60960" cy="60960"/>
            </a:xfrm>
            <a:prstGeom prst="ellipse">
              <a:avLst/>
            </a:prstGeom>
            <a:solidFill>
              <a:srgbClr val="0E7C86"/>
            </a:solidFill>
            <a:ln>
              <a:noFill/>
            </a:ln>
          </p:spPr>
        </p:sp>
        <p:sp>
          <p:nvSpPr>
            <p:cNvPr id="34" name="TextBox 34"/>
            <p:cNvSpPr txBox="1"/>
            <p:nvPr/>
          </p:nvSpPr>
          <p:spPr>
            <a:xfrm>
              <a:off x="6654546" y="2711291"/>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不适于顺序计数这类工作</a:t>
              </a:r>
              <a:r>
                <a:rPr lang="zh-CN" sz="1420" dirty="0">
                  <a:solidFill>
                    <a:srgbClr val="1F2937"/>
                  </a:solidFill>
                  <a:latin typeface="+mn-lt"/>
                  <a:ea typeface="+mn-ea"/>
                  <a:cs typeface="+mn-cs"/>
                </a:rPr>
                <a:t>。它以并行方式工作，天然不擅</a:t>
              </a:r>
              <a:br/>
              <a:r>
                <a:rPr lang="zh-CN" sz="1420" dirty="0">
                  <a:solidFill>
                    <a:srgbClr val="1F2937"/>
                  </a:solidFill>
                  <a:latin typeface="+mn-lt"/>
                  <a:ea typeface="+mn-ea"/>
                  <a:cs typeface="+mn-cs"/>
                </a:rPr>
                <a:t>长一步接一步的逻辑。</a:t>
              </a:r>
            </a:p>
          </p:txBody>
        </p:sp>
        <p:sp>
          <p:nvSpPr>
            <p:cNvPr id="35" name="Ellipse 35"/>
            <p:cNvSpPr/>
            <p:nvPr/>
          </p:nvSpPr>
          <p:spPr>
            <a:xfrm>
              <a:off x="6497955" y="3362325"/>
              <a:ext cx="60960" cy="60960"/>
            </a:xfrm>
            <a:prstGeom prst="ellipse">
              <a:avLst/>
            </a:prstGeom>
            <a:solidFill>
              <a:srgbClr val="0E7C86"/>
            </a:solidFill>
            <a:ln>
              <a:noFill/>
            </a:ln>
          </p:spPr>
        </p:sp>
        <p:sp>
          <p:nvSpPr>
            <p:cNvPr id="36" name="TextBox 36"/>
            <p:cNvSpPr txBox="1"/>
            <p:nvPr/>
          </p:nvSpPr>
          <p:spPr>
            <a:xfrm>
              <a:off x="6654546" y="3302794"/>
              <a:ext cx="452297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训练往往很艰难</a:t>
              </a:r>
              <a:r>
                <a:rPr lang="zh-CN" sz="1420" dirty="0">
                  <a:solidFill>
                    <a:srgbClr val="1F2937"/>
                  </a:solidFill>
                  <a:latin typeface="+mn-lt"/>
                  <a:ea typeface="+mn-ea"/>
                  <a:cs typeface="+mn-cs"/>
                </a:rPr>
                <a:t>。网络结构没有严格的确定方法，一般凭</a:t>
              </a:r>
              <a:br/>
              <a:r>
                <a:rPr lang="zh-CN" sz="1420" dirty="0">
                  <a:solidFill>
                    <a:srgbClr val="1F2937"/>
                  </a:solidFill>
                  <a:latin typeface="+mn-lt"/>
                  <a:ea typeface="+mn-ea"/>
                  <a:cs typeface="+mn-cs"/>
                </a:rPr>
                <a:t>经验；脱机训练耗时长，为拿到好结果常要重复试验多</a:t>
              </a:r>
              <a:br/>
              <a:r>
                <a:rPr lang="zh-CN" sz="1420" dirty="0">
                  <a:solidFill>
                    <a:srgbClr val="1F2937"/>
                  </a:solidFill>
                  <a:latin typeface="+mn-lt"/>
                  <a:ea typeface="+mn-ea"/>
                  <a:cs typeface="+mn-cs"/>
                </a:rPr>
                <a:t>次。</a:t>
              </a:r>
            </a:p>
          </p:txBody>
        </p:sp>
        <p:sp>
          <p:nvSpPr>
            <p:cNvPr id="37" name="Ellipse 37"/>
            <p:cNvSpPr/>
            <p:nvPr/>
          </p:nvSpPr>
          <p:spPr>
            <a:xfrm>
              <a:off x="6497955" y="4225290"/>
              <a:ext cx="60960" cy="60960"/>
            </a:xfrm>
            <a:prstGeom prst="ellipse">
              <a:avLst/>
            </a:prstGeom>
            <a:solidFill>
              <a:srgbClr val="0E7C86"/>
            </a:solidFill>
            <a:ln>
              <a:noFill/>
            </a:ln>
          </p:spPr>
        </p:sp>
        <p:sp>
          <p:nvSpPr>
            <p:cNvPr id="38" name="TextBox 38"/>
            <p:cNvSpPr txBox="1"/>
            <p:nvPr/>
          </p:nvSpPr>
          <p:spPr>
            <a:xfrm>
              <a:off x="6654546" y="4165759"/>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收敛性没有保证</a:t>
              </a:r>
              <a:r>
                <a:rPr lang="zh-CN" sz="1420" dirty="0">
                  <a:solidFill>
                    <a:srgbClr val="1F2937"/>
                  </a:solidFill>
                  <a:latin typeface="+mn-lt"/>
                  <a:ea typeface="+mn-ea"/>
                  <a:cs typeface="+mn-cs"/>
                </a:rPr>
                <a:t>。</a:t>
              </a:r>
            </a:p>
          </p:txBody>
        </p:sp>
      </p:grpSp>
      <p:grpSp>
        <p:nvGrpSpPr>
          <p:cNvPr id="45" name="c2-callout-2"/>
          <p:cNvGrpSpPr/>
          <p:nvPr/>
        </p:nvGrpSpPr>
        <p:grpSpPr>
          <a:xfrm>
            <a:off x="6248400" y="4776788"/>
            <a:ext cx="5410200" cy="756285"/>
            <a:chOff x="6248400" y="4776788"/>
            <a:chExt cx="5410200" cy="756285"/>
          </a:xfrm>
        </p:grpSpPr>
        <p:sp>
          <p:nvSpPr>
            <p:cNvPr id="40" name="Rectangle 40"/>
            <p:cNvSpPr/>
            <p:nvPr/>
          </p:nvSpPr>
          <p:spPr>
            <a:xfrm>
              <a:off x="6248400" y="4776788"/>
              <a:ext cx="5410200" cy="756285"/>
            </a:xfrm>
            <a:prstGeom prst="roundRect">
              <a:avLst>
                <a:gd name="adj" fmla="val 15113"/>
              </a:avLst>
            </a:prstGeom>
            <a:solidFill>
              <a:srgbClr val="0E7C86"/>
            </a:solidFill>
            <a:ln>
              <a:noFill/>
            </a:ln>
          </p:spPr>
        </p:sp>
        <p:grpSp>
          <p:nvGrpSpPr>
            <p:cNvPr id="43" name="Group 43"/>
            <p:cNvGrpSpPr/>
            <p:nvPr/>
          </p:nvGrpSpPr>
          <p:grpSpPr>
            <a:xfrm>
              <a:off x="6453188" y="5054920"/>
              <a:ext cx="200023" cy="200023"/>
              <a:chOff x="6453188" y="5054920"/>
              <a:chExt cx="200023" cy="200023"/>
            </a:xfrm>
          </p:grpSpPr>
          <p:sp>
            <p:nvSpPr>
              <p:cNvPr id="41" name="Freeform 41"/>
              <p:cNvSpPr/>
              <p:nvPr/>
            </p:nvSpPr>
            <p:spPr>
              <a:xfrm>
                <a:off x="6453188" y="505492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6586538" y="512159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6755511" y="4924901"/>
              <a:ext cx="4279519"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这四条局限是后面“试错法定隐层节点数”“多组初值重</a:t>
              </a:r>
              <a:br/>
              <a:r>
                <a:rPr lang="zh-CN" sz="1420" dirty="0">
                  <a:solidFill>
                    <a:srgbClr val="FFFFFF"/>
                  </a:solidFill>
                  <a:latin typeface="+mn-lt"/>
                  <a:ea typeface="+mn-ea"/>
                  <a:cs typeface="+mn-cs"/>
                </a:rPr>
                <a:t>启”这些做法的原因。</a:t>
              </a:r>
            </a:p>
          </p:txBody>
        </p:sp>
      </p:grpSp>
      <p:grpSp>
        <p:nvGrpSpPr>
          <p:cNvPr id="52" name="takeaway"/>
          <p:cNvGrpSpPr/>
          <p:nvPr/>
        </p:nvGrpSpPr>
        <p:grpSpPr>
          <a:xfrm>
            <a:off x="533400" y="5844540"/>
            <a:ext cx="11125200" cy="518160"/>
            <a:chOff x="533400" y="5844540"/>
            <a:chExt cx="11125200" cy="518160"/>
          </a:xfrm>
        </p:grpSpPr>
        <p:sp>
          <p:nvSpPr>
            <p:cNvPr id="46" name="Rectangle 46"/>
            <p:cNvSpPr/>
            <p:nvPr/>
          </p:nvSpPr>
          <p:spPr>
            <a:xfrm>
              <a:off x="533400" y="5844540"/>
              <a:ext cx="11125200" cy="518160"/>
            </a:xfrm>
            <a:prstGeom prst="roundRect">
              <a:avLst>
                <a:gd name="adj" fmla="val 22059"/>
              </a:avLst>
            </a:prstGeom>
            <a:solidFill>
              <a:srgbClr val="FDEEE7"/>
            </a:solidFill>
            <a:ln>
              <a:noFill/>
            </a:ln>
          </p:spPr>
        </p:sp>
        <p:grpSp>
          <p:nvGrpSpPr>
            <p:cNvPr id="50" name="Group 50"/>
            <p:cNvGrpSpPr/>
            <p:nvPr/>
          </p:nvGrpSpPr>
          <p:grpSpPr>
            <a:xfrm>
              <a:off x="738188" y="6003608"/>
              <a:ext cx="200026" cy="200025"/>
              <a:chOff x="738188" y="6003608"/>
              <a:chExt cx="200026" cy="200025"/>
            </a:xfrm>
          </p:grpSpPr>
          <p:sp>
            <p:nvSpPr>
              <p:cNvPr id="47" name="Freeform 47"/>
              <p:cNvSpPr/>
              <p:nvPr/>
            </p:nvSpPr>
            <p:spPr>
              <a:xfrm>
                <a:off x="738188" y="600360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777926" y="604805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812642" y="615918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1040511" y="6004084"/>
              <a:ext cx="7087413"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判断一个问题适不适合用神经网络，先问它是否允许有误差、是否有足够多的样本。</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4" name="TextBox 5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8" name="section-title"/>
          <p:cNvGrpSpPr/>
          <p:nvPr/>
        </p:nvGrpSpPr>
        <p:grpSpPr>
          <a:xfrm>
            <a:off x="667512" y="1835468"/>
            <a:ext cx="5367528" cy="3351847"/>
            <a:chOff x="667512" y="1835468"/>
            <a:chExt cx="536752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人工神经元的形式化模型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把上一节的生物机制写成可计算的式子</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03504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M-P模型与抑制性输入的一票否决</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线性加权与阈值逻辑模型</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广义神经元模型与激活函数</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用神经元搭布尔逻辑</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650664" cy="909257"/>
            <a:chOff x="520446" y="342900"/>
            <a:chExt cx="565066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65066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M-P 模型：抑制性输入有一票否决权</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304968" cy="278702"/>
            <a:chOff x="526161" y="1547336"/>
            <a:chExt cx="5304968" cy="278702"/>
          </a:xfrm>
        </p:grpSpPr>
        <p:sp>
          <p:nvSpPr>
            <p:cNvPr id="7" name="TextBox 7"/>
            <p:cNvSpPr txBox="1"/>
            <p:nvPr/>
          </p:nvSpPr>
          <p:spPr>
            <a:xfrm>
              <a:off x="526161" y="1547336"/>
              <a:ext cx="5304968"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McCulloch 与 Pitts 1943 年提出，是第一个人工神经元模型。</a:t>
              </a:r>
            </a:p>
          </p:txBody>
        </p:sp>
      </p:grpSp>
      <p:grpSp>
        <p:nvGrpSpPr>
          <p:cNvPr id="36" name="c1-table-1"/>
          <p:cNvGrpSpPr/>
          <p:nvPr/>
        </p:nvGrpSpPr>
        <p:grpSpPr>
          <a:xfrm>
            <a:off x="528066" y="1941195"/>
            <a:ext cx="5415534" cy="2309432"/>
            <a:chOff x="528066" y="1941195"/>
            <a:chExt cx="5415534" cy="2309432"/>
          </a:xfrm>
        </p:grpSpPr>
        <p:sp>
          <p:nvSpPr>
            <p:cNvPr id="9" name="Rectangle 9"/>
            <p:cNvSpPr/>
            <p:nvPr/>
          </p:nvSpPr>
          <p:spPr>
            <a:xfrm>
              <a:off x="533400" y="1941195"/>
              <a:ext cx="5410200" cy="405765"/>
            </a:xfrm>
            <a:prstGeom prst="rect">
              <a:avLst/>
            </a:prstGeom>
            <a:solidFill>
              <a:srgbClr val="0E7C86"/>
            </a:solidFill>
            <a:ln>
              <a:noFill/>
            </a:ln>
          </p:spPr>
        </p:sp>
        <p:sp>
          <p:nvSpPr>
            <p:cNvPr id="10" name="TextBox 10"/>
            <p:cNvSpPr txBox="1"/>
            <p:nvPr/>
          </p:nvSpPr>
          <p:spPr>
            <a:xfrm>
              <a:off x="1027722" y="2065496"/>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兴奋性输入之和</a:t>
              </a:r>
            </a:p>
          </p:txBody>
        </p:sp>
        <p:sp>
          <p:nvSpPr>
            <p:cNvPr id="11" name="TextBox 11"/>
            <p:cNvSpPr txBox="1"/>
            <p:nvPr/>
          </p:nvSpPr>
          <p:spPr>
            <a:xfrm>
              <a:off x="3029877" y="2065496"/>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抑制性输入之和</a:t>
              </a:r>
            </a:p>
          </p:txBody>
        </p:sp>
        <p:sp>
          <p:nvSpPr>
            <p:cNvPr id="12" name="TextBox 12"/>
            <p:cNvSpPr txBox="1"/>
            <p:nvPr/>
          </p:nvSpPr>
          <p:spPr>
            <a:xfrm>
              <a:off x="5013074" y="2065496"/>
              <a:ext cx="45516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 Y</a:t>
              </a:r>
            </a:p>
          </p:txBody>
        </p:sp>
        <p:sp>
          <p:nvSpPr>
            <p:cNvPr id="13" name="TextBox 13"/>
            <p:cNvSpPr txBox="1"/>
            <p:nvPr/>
          </p:nvSpPr>
          <p:spPr>
            <a:xfrm>
              <a:off x="633412" y="2471261"/>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 θ</a:t>
              </a:r>
            </a:p>
          </p:txBody>
        </p:sp>
        <p:sp>
          <p:nvSpPr>
            <p:cNvPr id="14" name="TextBox 14"/>
            <p:cNvSpPr txBox="1"/>
            <p:nvPr/>
          </p:nvSpPr>
          <p:spPr>
            <a:xfrm>
              <a:off x="2688907" y="2471261"/>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 0</a:t>
              </a:r>
            </a:p>
          </p:txBody>
        </p:sp>
        <p:sp>
          <p:nvSpPr>
            <p:cNvPr id="15" name="Rectangle 15"/>
            <p:cNvSpPr/>
            <p:nvPr/>
          </p:nvSpPr>
          <p:spPr>
            <a:xfrm>
              <a:off x="4546282" y="2356485"/>
              <a:ext cx="1387792" cy="386715"/>
            </a:xfrm>
            <a:prstGeom prst="rect">
              <a:avLst/>
            </a:prstGeom>
            <a:solidFill>
              <a:srgbClr val="E3F5F1"/>
            </a:solidFill>
            <a:ln>
              <a:noFill/>
            </a:ln>
          </p:spPr>
        </p:sp>
        <p:sp>
          <p:nvSpPr>
            <p:cNvPr id="16" name="TextBox 16"/>
            <p:cNvSpPr txBox="1"/>
            <p:nvPr/>
          </p:nvSpPr>
          <p:spPr>
            <a:xfrm>
              <a:off x="4636770"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a:t>
              </a:r>
            </a:p>
          </p:txBody>
        </p:sp>
        <p:sp>
          <p:nvSpPr>
            <p:cNvPr id="17" name="Rectangle 17"/>
            <p:cNvSpPr/>
            <p:nvPr/>
          </p:nvSpPr>
          <p:spPr>
            <a:xfrm>
              <a:off x="533400" y="2747962"/>
              <a:ext cx="5410200" cy="9525"/>
            </a:xfrm>
            <a:prstGeom prst="rect">
              <a:avLst/>
            </a:prstGeom>
            <a:solidFill>
              <a:srgbClr val="D9DFEA"/>
            </a:solidFill>
            <a:ln>
              <a:noFill/>
            </a:ln>
          </p:spPr>
        </p:sp>
        <p:sp>
          <p:nvSpPr>
            <p:cNvPr id="18" name="Rectangle 18"/>
            <p:cNvSpPr/>
            <p:nvPr/>
          </p:nvSpPr>
          <p:spPr>
            <a:xfrm>
              <a:off x="533400" y="2752725"/>
              <a:ext cx="5410200" cy="405765"/>
            </a:xfrm>
            <a:prstGeom prst="rect">
              <a:avLst/>
            </a:prstGeom>
            <a:solidFill>
              <a:srgbClr val="F4F6FB"/>
            </a:solidFill>
            <a:ln>
              <a:noFill/>
            </a:ln>
          </p:spPr>
        </p:sp>
        <p:sp>
          <p:nvSpPr>
            <p:cNvPr id="19" name="TextBox 19"/>
            <p:cNvSpPr txBox="1"/>
            <p:nvPr/>
          </p:nvSpPr>
          <p:spPr>
            <a:xfrm>
              <a:off x="633412" y="2877026"/>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 θ</a:t>
              </a:r>
            </a:p>
          </p:txBody>
        </p:sp>
        <p:sp>
          <p:nvSpPr>
            <p:cNvPr id="20" name="TextBox 20"/>
            <p:cNvSpPr txBox="1"/>
            <p:nvPr/>
          </p:nvSpPr>
          <p:spPr>
            <a:xfrm>
              <a:off x="2688907" y="2877026"/>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&gt; 0</a:t>
              </a:r>
            </a:p>
          </p:txBody>
        </p:sp>
        <p:sp>
          <p:nvSpPr>
            <p:cNvPr id="21" name="Rectangle 21"/>
            <p:cNvSpPr/>
            <p:nvPr/>
          </p:nvSpPr>
          <p:spPr>
            <a:xfrm>
              <a:off x="4546282" y="2762250"/>
              <a:ext cx="1387792" cy="386715"/>
            </a:xfrm>
            <a:prstGeom prst="rect">
              <a:avLst/>
            </a:prstGeom>
            <a:solidFill>
              <a:srgbClr val="FDECEA"/>
            </a:solidFill>
            <a:ln>
              <a:noFill/>
            </a:ln>
          </p:spPr>
        </p:sp>
        <p:sp>
          <p:nvSpPr>
            <p:cNvPr id="22" name="TextBox 22"/>
            <p:cNvSpPr txBox="1"/>
            <p:nvPr/>
          </p:nvSpPr>
          <p:spPr>
            <a:xfrm>
              <a:off x="4636770" y="2877026"/>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23" name="Rectangle 23"/>
            <p:cNvSpPr/>
            <p:nvPr/>
          </p:nvSpPr>
          <p:spPr>
            <a:xfrm>
              <a:off x="533400" y="3153728"/>
              <a:ext cx="5410200" cy="9525"/>
            </a:xfrm>
            <a:prstGeom prst="rect">
              <a:avLst/>
            </a:prstGeom>
            <a:solidFill>
              <a:srgbClr val="D9DFEA"/>
            </a:solidFill>
            <a:ln>
              <a:noFill/>
            </a:ln>
          </p:spPr>
        </p:sp>
        <p:sp>
          <p:nvSpPr>
            <p:cNvPr id="24" name="TextBox 24"/>
            <p:cNvSpPr txBox="1"/>
            <p:nvPr/>
          </p:nvSpPr>
          <p:spPr>
            <a:xfrm>
              <a:off x="633412" y="3282791"/>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&lt; θ</a:t>
              </a:r>
            </a:p>
          </p:txBody>
        </p:sp>
        <p:sp>
          <p:nvSpPr>
            <p:cNvPr id="25" name="TextBox 25"/>
            <p:cNvSpPr txBox="1"/>
            <p:nvPr/>
          </p:nvSpPr>
          <p:spPr>
            <a:xfrm>
              <a:off x="2688907" y="3282791"/>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 0</a:t>
              </a:r>
            </a:p>
          </p:txBody>
        </p:sp>
        <p:sp>
          <p:nvSpPr>
            <p:cNvPr id="26" name="TextBox 26"/>
            <p:cNvSpPr txBox="1"/>
            <p:nvPr/>
          </p:nvSpPr>
          <p:spPr>
            <a:xfrm>
              <a:off x="4636770" y="328279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27" name="Rectangle 27"/>
            <p:cNvSpPr/>
            <p:nvPr/>
          </p:nvSpPr>
          <p:spPr>
            <a:xfrm>
              <a:off x="533400" y="3559492"/>
              <a:ext cx="5410200" cy="9525"/>
            </a:xfrm>
            <a:prstGeom prst="rect">
              <a:avLst/>
            </a:prstGeom>
            <a:solidFill>
              <a:srgbClr val="D9DFEA"/>
            </a:solidFill>
            <a:ln>
              <a:noFill/>
            </a:ln>
          </p:spPr>
        </p:sp>
        <p:sp>
          <p:nvSpPr>
            <p:cNvPr id="28" name="Rectangle 28"/>
            <p:cNvSpPr/>
            <p:nvPr/>
          </p:nvSpPr>
          <p:spPr>
            <a:xfrm>
              <a:off x="533400" y="3564255"/>
              <a:ext cx="5410200" cy="405765"/>
            </a:xfrm>
            <a:prstGeom prst="rect">
              <a:avLst/>
            </a:prstGeom>
            <a:solidFill>
              <a:srgbClr val="F4F6FB"/>
            </a:solidFill>
            <a:ln>
              <a:noFill/>
            </a:ln>
          </p:spPr>
        </p:sp>
        <p:sp>
          <p:nvSpPr>
            <p:cNvPr id="29" name="TextBox 29"/>
            <p:cNvSpPr txBox="1"/>
            <p:nvPr/>
          </p:nvSpPr>
          <p:spPr>
            <a:xfrm>
              <a:off x="633412" y="3688556"/>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&lt; θ</a:t>
              </a:r>
            </a:p>
          </p:txBody>
        </p:sp>
        <p:sp>
          <p:nvSpPr>
            <p:cNvPr id="30" name="TextBox 30"/>
            <p:cNvSpPr txBox="1"/>
            <p:nvPr/>
          </p:nvSpPr>
          <p:spPr>
            <a:xfrm>
              <a:off x="2688907" y="3688556"/>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&gt; 0</a:t>
              </a:r>
            </a:p>
          </p:txBody>
        </p:sp>
        <p:sp>
          <p:nvSpPr>
            <p:cNvPr id="31" name="TextBox 31"/>
            <p:cNvSpPr txBox="1"/>
            <p:nvPr/>
          </p:nvSpPr>
          <p:spPr>
            <a:xfrm>
              <a:off x="4636770" y="3688556"/>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32" name="Rectangle 32"/>
            <p:cNvSpPr/>
            <p:nvPr/>
          </p:nvSpPr>
          <p:spPr>
            <a:xfrm>
              <a:off x="533400" y="1941195"/>
              <a:ext cx="5410200" cy="2028825"/>
            </a:xfrm>
            <a:prstGeom prst="rect">
              <a:avLst/>
            </a:prstGeom>
            <a:noFill/>
            <a:ln w="14288">
              <a:solidFill>
                <a:srgbClr val="D9DFEA"/>
              </a:solidFill>
            </a:ln>
          </p:spPr>
        </p:sp>
        <p:sp>
          <p:nvSpPr>
            <p:cNvPr id="33" name="Rectangle 33"/>
            <p:cNvSpPr/>
            <p:nvPr/>
          </p:nvSpPr>
          <p:spPr>
            <a:xfrm>
              <a:off x="2584132" y="1941195"/>
              <a:ext cx="9525" cy="2028825"/>
            </a:xfrm>
            <a:prstGeom prst="rect">
              <a:avLst/>
            </a:prstGeom>
            <a:solidFill>
              <a:srgbClr val="D9DFEA"/>
            </a:solidFill>
            <a:ln>
              <a:noFill/>
            </a:ln>
          </p:spPr>
        </p:sp>
        <p:sp>
          <p:nvSpPr>
            <p:cNvPr id="34" name="Rectangle 34"/>
            <p:cNvSpPr/>
            <p:nvPr/>
          </p:nvSpPr>
          <p:spPr>
            <a:xfrm>
              <a:off x="4531995" y="1941195"/>
              <a:ext cx="9525" cy="2028825"/>
            </a:xfrm>
            <a:prstGeom prst="rect">
              <a:avLst/>
            </a:prstGeom>
            <a:solidFill>
              <a:srgbClr val="D9DFEA"/>
            </a:solidFill>
            <a:ln>
              <a:noFill/>
            </a:ln>
          </p:spPr>
        </p:sp>
        <p:sp>
          <p:nvSpPr>
            <p:cNvPr id="35" name="TextBox 35"/>
            <p:cNvSpPr txBox="1"/>
            <p:nvPr/>
          </p:nvSpPr>
          <p:spPr>
            <a:xfrm>
              <a:off x="528066" y="4045268"/>
              <a:ext cx="174528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M-P 模型的输入条件与输出</a:t>
              </a:r>
            </a:p>
          </p:txBody>
        </p:sp>
      </p:grpSp>
      <p:grpSp>
        <p:nvGrpSpPr>
          <p:cNvPr id="42" name="c1-card-2"/>
          <p:cNvGrpSpPr/>
          <p:nvPr/>
        </p:nvGrpSpPr>
        <p:grpSpPr>
          <a:xfrm>
            <a:off x="533400" y="4384358"/>
            <a:ext cx="5410200" cy="1226820"/>
            <a:chOff x="533400" y="4384358"/>
            <a:chExt cx="5410200" cy="1226820"/>
          </a:xfrm>
        </p:grpSpPr>
        <p:sp>
          <p:nvSpPr>
            <p:cNvPr id="37" name="Rectangle 37"/>
            <p:cNvSpPr/>
            <p:nvPr/>
          </p:nvSpPr>
          <p:spPr>
            <a:xfrm>
              <a:off x="533400" y="4384358"/>
              <a:ext cx="5410200" cy="1226820"/>
            </a:xfrm>
            <a:prstGeom prst="roundRect">
              <a:avLst>
                <a:gd name="adj" fmla="val 10870"/>
              </a:avLst>
            </a:prstGeom>
            <a:solidFill>
              <a:srgbClr val="0E7C86"/>
            </a:solidFill>
            <a:ln>
              <a:noFill/>
            </a:ln>
          </p:spPr>
        </p:sp>
        <p:sp>
          <p:nvSpPr>
            <p:cNvPr id="38" name="Rectangle 38"/>
            <p:cNvSpPr/>
            <p:nvPr/>
          </p:nvSpPr>
          <p:spPr>
            <a:xfrm>
              <a:off x="725805" y="4576762"/>
              <a:ext cx="476250" cy="247650"/>
            </a:xfrm>
            <a:prstGeom prst="roundRect">
              <a:avLst>
                <a:gd name="adj" fmla="val 50000"/>
              </a:avLst>
            </a:prstGeom>
            <a:solidFill>
              <a:srgbClr val="0B5F67"/>
            </a:solidFill>
            <a:ln>
              <a:noFill/>
            </a:ln>
          </p:spPr>
        </p:sp>
        <p:sp>
          <p:nvSpPr>
            <p:cNvPr id="39" name="TextBox 39"/>
            <p:cNvSpPr txBox="1"/>
            <p:nvPr/>
          </p:nvSpPr>
          <p:spPr>
            <a:xfrm>
              <a:off x="817245" y="4611052"/>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关键</a:t>
              </a:r>
            </a:p>
          </p:txBody>
        </p:sp>
        <p:sp>
          <p:nvSpPr>
            <p:cNvPr id="40" name="TextBox 40"/>
            <p:cNvSpPr txBox="1"/>
            <p:nvPr/>
          </p:nvSpPr>
          <p:spPr>
            <a:xfrm>
              <a:off x="1309497" y="4615815"/>
              <a:ext cx="344718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只要有一个抑制性输入被激活，输出就是 0</a:t>
              </a:r>
            </a:p>
          </p:txBody>
        </p:sp>
        <p:sp>
          <p:nvSpPr>
            <p:cNvPr id="41" name="TextBox 41"/>
            <p:cNvSpPr txBox="1"/>
            <p:nvPr/>
          </p:nvSpPr>
          <p:spPr>
            <a:xfrm>
              <a:off x="718947" y="4950142"/>
              <a:ext cx="453999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 xml:space="preserve">兴奋性输入要“凑够”阈值才起作用，抑制性输入却是 </a:t>
              </a:r>
              <a:r>
                <a:rPr lang="zh-CN" sz="1350" b="1" dirty="0">
                  <a:solidFill>
                    <a:srgbClr val="FFD58A"/>
                  </a:solidFill>
                  <a:latin typeface="+mn-lt"/>
                  <a:ea typeface="+mn-ea"/>
                  <a:cs typeface="+mn-cs"/>
                </a:rPr>
                <a:t>一票否</a:t>
              </a:r>
              <a:br/>
              <a:r>
                <a:rPr lang="zh-CN" sz="1350" b="1" dirty="0">
                  <a:solidFill>
                    <a:srgbClr val="FFD58A"/>
                  </a:solidFill>
                  <a:latin typeface="+mn-lt"/>
                  <a:ea typeface="+mn-ea"/>
                  <a:cs typeface="+mn-cs"/>
                </a:rPr>
                <a:t>决</a:t>
              </a:r>
              <a:r>
                <a:rPr lang="zh-CN" sz="1350" dirty="0">
                  <a:solidFill>
                    <a:srgbClr val="FFFFFF"/>
                  </a:solidFill>
                  <a:latin typeface="+mn-lt"/>
                  <a:ea typeface="+mn-ea"/>
                  <a:cs typeface="+mn-cs"/>
                </a:rPr>
                <a:t>。这种不对称直接来自生物神经元里抑制性突触的作用。</a:t>
              </a:r>
            </a:p>
          </p:txBody>
        </p:sp>
      </p:grpSp>
      <p:grpSp>
        <p:nvGrpSpPr>
          <p:cNvPr id="68" name="c2-graph-1"/>
          <p:cNvGrpSpPr/>
          <p:nvPr/>
        </p:nvGrpSpPr>
        <p:grpSpPr>
          <a:xfrm>
            <a:off x="6396495" y="1962626"/>
            <a:ext cx="5137328" cy="2095500"/>
            <a:chOff x="6396495" y="1962626"/>
            <a:chExt cx="5137328" cy="2095500"/>
          </a:xfrm>
        </p:grpSpPr>
        <p:sp>
          <p:nvSpPr>
            <p:cNvPr id="43" name="Freeform 43"/>
            <p:cNvSpPr/>
            <p:nvPr/>
          </p:nvSpPr>
          <p:spPr>
            <a:xfrm>
              <a:off x="6988492" y="2294572"/>
              <a:ext cx="1880235" cy="578168"/>
            </a:xfrm>
            <a:custGeom>
              <a:avLst/>
              <a:gdLst/>
              <a:ahLst/>
              <a:cxnLst/>
              <a:rect l="l" t="t" r="r" b="b"/>
              <a:pathLst>
                <a:path w="1880235" h="578168">
                  <a:moveTo>
                    <a:pt x="0" y="0"/>
                  </a:moveTo>
                  <a:lnTo>
                    <a:pt x="1880235" y="578168"/>
                  </a:lnTo>
                </a:path>
              </a:pathLst>
            </a:custGeom>
            <a:noFill/>
            <a:ln w="17145">
              <a:solidFill>
                <a:srgbClr val="1F2937"/>
              </a:solidFill>
            </a:ln>
          </p:spPr>
        </p:sp>
        <p:sp>
          <p:nvSpPr>
            <p:cNvPr id="44" name="Freeform 44"/>
            <p:cNvSpPr/>
            <p:nvPr/>
          </p:nvSpPr>
          <p:spPr>
            <a:xfrm>
              <a:off x="8855392" y="2827020"/>
              <a:ext cx="104775" cy="91440"/>
            </a:xfrm>
            <a:custGeom>
              <a:avLst/>
              <a:gdLst/>
              <a:ahLst/>
              <a:cxnLst/>
              <a:rect l="l" t="t" r="r" b="b"/>
              <a:pathLst>
                <a:path w="104775" h="91440">
                  <a:moveTo>
                    <a:pt x="104775" y="73342"/>
                  </a:moveTo>
                  <a:lnTo>
                    <a:pt x="0" y="91440"/>
                  </a:lnTo>
                  <a:lnTo>
                    <a:pt x="27622" y="0"/>
                  </a:lnTo>
                  <a:close/>
                </a:path>
              </a:pathLst>
            </a:custGeom>
            <a:solidFill>
              <a:srgbClr val="1F2937"/>
            </a:solidFill>
            <a:ln>
              <a:noFill/>
            </a:ln>
          </p:spPr>
        </p:sp>
        <p:sp>
          <p:nvSpPr>
            <p:cNvPr id="45" name="Freeform 45"/>
            <p:cNvSpPr/>
            <p:nvPr/>
          </p:nvSpPr>
          <p:spPr>
            <a:xfrm>
              <a:off x="6988492" y="2752725"/>
              <a:ext cx="1865947" cy="191453"/>
            </a:xfrm>
            <a:custGeom>
              <a:avLst/>
              <a:gdLst/>
              <a:ahLst/>
              <a:cxnLst/>
              <a:rect l="l" t="t" r="r" b="b"/>
              <a:pathLst>
                <a:path w="1865947" h="191453">
                  <a:moveTo>
                    <a:pt x="0" y="0"/>
                  </a:moveTo>
                  <a:lnTo>
                    <a:pt x="1865947" y="191453"/>
                  </a:lnTo>
                </a:path>
              </a:pathLst>
            </a:custGeom>
            <a:noFill/>
            <a:ln w="17145">
              <a:solidFill>
                <a:srgbClr val="1F2937"/>
              </a:solidFill>
            </a:ln>
          </p:spPr>
        </p:sp>
        <p:sp>
          <p:nvSpPr>
            <p:cNvPr id="46" name="Freeform 46"/>
            <p:cNvSpPr/>
            <p:nvPr/>
          </p:nvSpPr>
          <p:spPr>
            <a:xfrm>
              <a:off x="8849678" y="2896552"/>
              <a:ext cx="100012" cy="94297"/>
            </a:xfrm>
            <a:custGeom>
              <a:avLst/>
              <a:gdLst/>
              <a:ahLst/>
              <a:cxnLst/>
              <a:rect l="l" t="t" r="r" b="b"/>
              <a:pathLst>
                <a:path w="100012" h="94297">
                  <a:moveTo>
                    <a:pt x="100012" y="57150"/>
                  </a:moveTo>
                  <a:lnTo>
                    <a:pt x="0" y="94297"/>
                  </a:lnTo>
                  <a:lnTo>
                    <a:pt x="9525" y="0"/>
                  </a:lnTo>
                  <a:close/>
                </a:path>
              </a:pathLst>
            </a:custGeom>
            <a:solidFill>
              <a:srgbClr val="1F2937"/>
            </a:solidFill>
            <a:ln>
              <a:noFill/>
            </a:ln>
          </p:spPr>
        </p:sp>
        <p:sp>
          <p:nvSpPr>
            <p:cNvPr id="47" name="Freeform 47"/>
            <p:cNvSpPr/>
            <p:nvPr/>
          </p:nvSpPr>
          <p:spPr>
            <a:xfrm>
              <a:off x="6988492" y="3031808"/>
              <a:ext cx="1867852" cy="255270"/>
            </a:xfrm>
            <a:custGeom>
              <a:avLst/>
              <a:gdLst/>
              <a:ahLst/>
              <a:cxnLst/>
              <a:rect l="l" t="t" r="r" b="b"/>
              <a:pathLst>
                <a:path w="1867852" h="255270">
                  <a:moveTo>
                    <a:pt x="0" y="255270"/>
                  </a:moveTo>
                  <a:lnTo>
                    <a:pt x="1867852" y="0"/>
                  </a:lnTo>
                </a:path>
              </a:pathLst>
            </a:custGeom>
            <a:noFill/>
            <a:ln w="17145">
              <a:solidFill>
                <a:srgbClr val="1F2937"/>
              </a:solidFill>
              <a:custDash>
                <a:ds d="333333" sp="222222"/>
              </a:custDash>
            </a:ln>
          </p:spPr>
        </p:sp>
        <p:sp>
          <p:nvSpPr>
            <p:cNvPr id="48" name="Freeform 48"/>
            <p:cNvSpPr/>
            <p:nvPr/>
          </p:nvSpPr>
          <p:spPr>
            <a:xfrm>
              <a:off x="8849678" y="2985135"/>
              <a:ext cx="100965" cy="94298"/>
            </a:xfrm>
            <a:custGeom>
              <a:avLst/>
              <a:gdLst/>
              <a:ahLst/>
              <a:cxnLst/>
              <a:rect l="l" t="t" r="r" b="b"/>
              <a:pathLst>
                <a:path w="100965" h="94298">
                  <a:moveTo>
                    <a:pt x="100965" y="34290"/>
                  </a:moveTo>
                  <a:lnTo>
                    <a:pt x="12382" y="94298"/>
                  </a:lnTo>
                  <a:lnTo>
                    <a:pt x="0" y="0"/>
                  </a:lnTo>
                  <a:close/>
                </a:path>
              </a:pathLst>
            </a:custGeom>
            <a:solidFill>
              <a:srgbClr val="1F2937"/>
            </a:solidFill>
            <a:ln>
              <a:noFill/>
            </a:ln>
          </p:spPr>
        </p:sp>
        <p:sp>
          <p:nvSpPr>
            <p:cNvPr id="49" name="Freeform 49"/>
            <p:cNvSpPr/>
            <p:nvPr/>
          </p:nvSpPr>
          <p:spPr>
            <a:xfrm>
              <a:off x="6988492" y="3102292"/>
              <a:ext cx="1884045" cy="642938"/>
            </a:xfrm>
            <a:custGeom>
              <a:avLst/>
              <a:gdLst/>
              <a:ahLst/>
              <a:cxnLst/>
              <a:rect l="l" t="t" r="r" b="b"/>
              <a:pathLst>
                <a:path w="1884045" h="642938">
                  <a:moveTo>
                    <a:pt x="0" y="642938"/>
                  </a:moveTo>
                  <a:lnTo>
                    <a:pt x="1884045" y="0"/>
                  </a:lnTo>
                </a:path>
              </a:pathLst>
            </a:custGeom>
            <a:noFill/>
            <a:ln w="17145">
              <a:solidFill>
                <a:srgbClr val="1F2937"/>
              </a:solidFill>
              <a:custDash>
                <a:ds d="333333" sp="222222"/>
              </a:custDash>
            </a:ln>
          </p:spPr>
        </p:sp>
        <p:sp>
          <p:nvSpPr>
            <p:cNvPr id="50" name="Freeform 50"/>
            <p:cNvSpPr/>
            <p:nvPr/>
          </p:nvSpPr>
          <p:spPr>
            <a:xfrm>
              <a:off x="8857298" y="3056572"/>
              <a:ext cx="105728" cy="90488"/>
            </a:xfrm>
            <a:custGeom>
              <a:avLst/>
              <a:gdLst/>
              <a:ahLst/>
              <a:cxnLst/>
              <a:rect l="l" t="t" r="r" b="b"/>
              <a:pathLst>
                <a:path w="105728" h="90488">
                  <a:moveTo>
                    <a:pt x="105728" y="14288"/>
                  </a:moveTo>
                  <a:lnTo>
                    <a:pt x="30480" y="90488"/>
                  </a:lnTo>
                  <a:lnTo>
                    <a:pt x="0" y="0"/>
                  </a:lnTo>
                  <a:close/>
                </a:path>
              </a:pathLst>
            </a:custGeom>
            <a:solidFill>
              <a:srgbClr val="1F2937"/>
            </a:solidFill>
            <a:ln>
              <a:noFill/>
            </a:ln>
          </p:spPr>
        </p:sp>
        <p:sp>
          <p:nvSpPr>
            <p:cNvPr id="51" name="Freeform 51"/>
            <p:cNvSpPr/>
            <p:nvPr/>
          </p:nvSpPr>
          <p:spPr>
            <a:xfrm>
              <a:off x="9500235" y="2981325"/>
              <a:ext cx="1105853" cy="9525"/>
            </a:xfrm>
            <a:custGeom>
              <a:avLst/>
              <a:gdLst/>
              <a:ahLst/>
              <a:cxnLst/>
              <a:rect l="l" t="t" r="r" b="b"/>
              <a:pathLst>
                <a:path w="1105853" h="9525">
                  <a:moveTo>
                    <a:pt x="0" y="0"/>
                  </a:moveTo>
                  <a:lnTo>
                    <a:pt x="1105853" y="0"/>
                  </a:lnTo>
                </a:path>
              </a:pathLst>
            </a:custGeom>
            <a:noFill/>
            <a:ln w="17145">
              <a:solidFill>
                <a:srgbClr val="1F2937"/>
              </a:solidFill>
            </a:ln>
          </p:spPr>
        </p:sp>
        <p:sp>
          <p:nvSpPr>
            <p:cNvPr id="52" name="Freeform 52"/>
            <p:cNvSpPr/>
            <p:nvPr/>
          </p:nvSpPr>
          <p:spPr>
            <a:xfrm>
              <a:off x="10606088" y="293370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3" name="Rectangle 53"/>
            <p:cNvSpPr/>
            <p:nvPr/>
          </p:nvSpPr>
          <p:spPr>
            <a:xfrm>
              <a:off x="6590348" y="2111692"/>
              <a:ext cx="399098" cy="242888"/>
            </a:xfrm>
            <a:prstGeom prst="roundRect">
              <a:avLst>
                <a:gd name="adj" fmla="val 39216"/>
              </a:avLst>
            </a:prstGeom>
            <a:solidFill>
              <a:srgbClr val="FFFFFF"/>
            </a:solidFill>
            <a:ln w="17145">
              <a:solidFill>
                <a:srgbClr val="0E7C86"/>
              </a:solidFill>
            </a:ln>
          </p:spPr>
        </p:sp>
        <p:sp>
          <p:nvSpPr>
            <p:cNvPr id="54" name="Rectangle 54"/>
            <p:cNvSpPr/>
            <p:nvPr/>
          </p:nvSpPr>
          <p:spPr>
            <a:xfrm>
              <a:off x="6590348" y="2610802"/>
              <a:ext cx="399098" cy="242888"/>
            </a:xfrm>
            <a:prstGeom prst="roundRect">
              <a:avLst>
                <a:gd name="adj" fmla="val 39216"/>
              </a:avLst>
            </a:prstGeom>
            <a:solidFill>
              <a:srgbClr val="FFFFFF"/>
            </a:solidFill>
            <a:ln w="17145">
              <a:solidFill>
                <a:srgbClr val="0E7C86"/>
              </a:solidFill>
            </a:ln>
          </p:spPr>
        </p:sp>
        <p:sp>
          <p:nvSpPr>
            <p:cNvPr id="55" name="Rectangle 55"/>
            <p:cNvSpPr/>
            <p:nvPr/>
          </p:nvSpPr>
          <p:spPr>
            <a:xfrm>
              <a:off x="6590348" y="3192780"/>
              <a:ext cx="399098" cy="242888"/>
            </a:xfrm>
            <a:prstGeom prst="roundRect">
              <a:avLst>
                <a:gd name="adj" fmla="val 39216"/>
              </a:avLst>
            </a:prstGeom>
            <a:solidFill>
              <a:srgbClr val="FFFFFF"/>
            </a:solidFill>
            <a:ln w="17145">
              <a:solidFill>
                <a:srgbClr val="0E7C86"/>
              </a:solidFill>
            </a:ln>
          </p:spPr>
        </p:sp>
        <p:sp>
          <p:nvSpPr>
            <p:cNvPr id="56" name="Rectangle 56"/>
            <p:cNvSpPr/>
            <p:nvPr/>
          </p:nvSpPr>
          <p:spPr>
            <a:xfrm>
              <a:off x="6590348" y="3692842"/>
              <a:ext cx="399098" cy="242888"/>
            </a:xfrm>
            <a:prstGeom prst="roundRect">
              <a:avLst>
                <a:gd name="adj" fmla="val 39216"/>
              </a:avLst>
            </a:prstGeom>
            <a:solidFill>
              <a:srgbClr val="FFFFFF"/>
            </a:solidFill>
            <a:ln w="17145">
              <a:solidFill>
                <a:srgbClr val="0E7C86"/>
              </a:solidFill>
            </a:ln>
          </p:spPr>
        </p:sp>
        <p:sp>
          <p:nvSpPr>
            <p:cNvPr id="57" name="Ellipse 57"/>
            <p:cNvSpPr/>
            <p:nvPr/>
          </p:nvSpPr>
          <p:spPr>
            <a:xfrm>
              <a:off x="8957310" y="2714625"/>
              <a:ext cx="533400" cy="533400"/>
            </a:xfrm>
            <a:prstGeom prst="ellipse">
              <a:avLst/>
            </a:prstGeom>
            <a:solidFill>
              <a:srgbClr val="0E7C86"/>
            </a:solidFill>
            <a:ln w="17145">
              <a:solidFill>
                <a:srgbClr val="0E7C86"/>
              </a:solidFill>
            </a:ln>
          </p:spPr>
        </p:sp>
        <p:sp>
          <p:nvSpPr>
            <p:cNvPr id="58" name="Rectangle 58"/>
            <p:cNvSpPr/>
            <p:nvPr/>
          </p:nvSpPr>
          <p:spPr>
            <a:xfrm>
              <a:off x="10701338" y="2851785"/>
              <a:ext cx="832485" cy="260032"/>
            </a:xfrm>
            <a:prstGeom prst="roundRect">
              <a:avLst>
                <a:gd name="adj" fmla="val 36630"/>
              </a:avLst>
            </a:prstGeom>
            <a:solidFill>
              <a:srgbClr val="FFFFFF"/>
            </a:solidFill>
            <a:ln w="17145">
              <a:solidFill>
                <a:srgbClr val="0E7C86"/>
              </a:solidFill>
            </a:ln>
          </p:spPr>
        </p:sp>
        <p:sp>
          <p:nvSpPr>
            <p:cNvPr id="59" name="TextBox 59"/>
            <p:cNvSpPr txBox="1"/>
            <p:nvPr/>
          </p:nvSpPr>
          <p:spPr>
            <a:xfrm>
              <a:off x="6712613" y="2162651"/>
              <a:ext cx="15361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I₁</a:t>
              </a:r>
            </a:p>
          </p:txBody>
        </p:sp>
        <p:sp>
          <p:nvSpPr>
            <p:cNvPr id="60" name="TextBox 60"/>
            <p:cNvSpPr txBox="1"/>
            <p:nvPr/>
          </p:nvSpPr>
          <p:spPr>
            <a:xfrm>
              <a:off x="6666613" y="2661761"/>
              <a:ext cx="245614"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I_N</a:t>
              </a:r>
            </a:p>
          </p:txBody>
        </p:sp>
        <p:sp>
          <p:nvSpPr>
            <p:cNvPr id="61" name="TextBox 61"/>
            <p:cNvSpPr txBox="1"/>
            <p:nvPr/>
          </p:nvSpPr>
          <p:spPr>
            <a:xfrm>
              <a:off x="6691704" y="3244691"/>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E₁</a:t>
              </a:r>
            </a:p>
          </p:txBody>
        </p:sp>
        <p:sp>
          <p:nvSpPr>
            <p:cNvPr id="62" name="TextBox 62"/>
            <p:cNvSpPr txBox="1"/>
            <p:nvPr/>
          </p:nvSpPr>
          <p:spPr>
            <a:xfrm>
              <a:off x="6628976" y="3743801"/>
              <a:ext cx="320887"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E_M</a:t>
              </a:r>
            </a:p>
          </p:txBody>
        </p:sp>
        <p:sp>
          <p:nvSpPr>
            <p:cNvPr id="63" name="TextBox 63"/>
            <p:cNvSpPr txBox="1"/>
            <p:nvPr/>
          </p:nvSpPr>
          <p:spPr>
            <a:xfrm>
              <a:off x="9172295" y="2822734"/>
              <a:ext cx="103431" cy="220028"/>
            </a:xfrm>
            <a:prstGeom prst="rect">
              <a:avLst/>
            </a:prstGeom>
            <a:noFill/>
            <a:ln>
              <a:noFill/>
            </a:ln>
          </p:spPr>
          <p:txBody>
            <a:bodyPr wrap="none" lIns="0" tIns="0" rIns="0" bIns="0" anchor="t" anchorCtr="0">
              <a:spAutoFit/>
            </a:bodyPr>
            <a:lstStyle/>
            <a:p>
              <a:pPr algn="ctr"/>
              <a:r>
                <a:rPr lang="el-GR" sz="1120" b="1" dirty="0">
                  <a:solidFill>
                    <a:srgbClr val="FFFFFF"/>
                  </a:solidFill>
                  <a:latin typeface="+mn-lt"/>
                  <a:ea typeface="+mn-ea"/>
                  <a:cs typeface="+mn-cs"/>
                </a:rPr>
                <a:t>Σ</a:t>
              </a:r>
            </a:p>
          </p:txBody>
        </p:sp>
        <p:sp>
          <p:nvSpPr>
            <p:cNvPr id="64" name="TextBox 64"/>
            <p:cNvSpPr txBox="1"/>
            <p:nvPr/>
          </p:nvSpPr>
          <p:spPr>
            <a:xfrm>
              <a:off x="9174759" y="3000851"/>
              <a:ext cx="98502" cy="220028"/>
            </a:xfrm>
            <a:prstGeom prst="rect">
              <a:avLst/>
            </a:prstGeom>
            <a:noFill/>
            <a:ln>
              <a:noFill/>
            </a:ln>
          </p:spPr>
          <p:txBody>
            <a:bodyPr wrap="none" lIns="0" tIns="0" rIns="0" bIns="0" anchor="t" anchorCtr="0">
              <a:spAutoFit/>
            </a:bodyPr>
            <a:lstStyle/>
            <a:p>
              <a:pPr algn="ctr"/>
              <a:r>
                <a:rPr lang="el-GR" sz="1120" b="1" dirty="0">
                  <a:solidFill>
                    <a:srgbClr val="FFFFFF"/>
                  </a:solidFill>
                  <a:latin typeface="+mn-lt"/>
                  <a:ea typeface="+mn-ea"/>
                  <a:cs typeface="+mn-cs"/>
                </a:rPr>
                <a:t>θ</a:t>
              </a:r>
            </a:p>
          </p:txBody>
        </p:sp>
        <p:sp>
          <p:nvSpPr>
            <p:cNvPr id="65" name="TextBox 65"/>
            <p:cNvSpPr txBox="1"/>
            <p:nvPr/>
          </p:nvSpPr>
          <p:spPr>
            <a:xfrm>
              <a:off x="10739680" y="2911316"/>
              <a:ext cx="755800"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Y ∈ {0,1}</a:t>
              </a:r>
            </a:p>
          </p:txBody>
        </p:sp>
        <p:sp>
          <p:nvSpPr>
            <p:cNvPr id="66" name="TextBox 66"/>
            <p:cNvSpPr txBox="1"/>
            <p:nvPr/>
          </p:nvSpPr>
          <p:spPr>
            <a:xfrm>
              <a:off x="6508686" y="1962626"/>
              <a:ext cx="561467"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兴奋性输入</a:t>
              </a:r>
            </a:p>
          </p:txBody>
        </p:sp>
        <p:sp>
          <p:nvSpPr>
            <p:cNvPr id="67" name="TextBox 67"/>
            <p:cNvSpPr txBox="1"/>
            <p:nvPr/>
          </p:nvSpPr>
          <p:spPr>
            <a:xfrm>
              <a:off x="6396495" y="3896201"/>
              <a:ext cx="1003021"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抑制性输入（虚线）</a:t>
              </a:r>
            </a:p>
          </p:txBody>
        </p:sp>
      </p:grpSp>
      <mc:AlternateContent xmlns:mc="http://schemas.openxmlformats.org/markup-compatibility/2006">
        <mc:Choice xmlns:a14="http://schemas.microsoft.com/office/drawing/2010/main" Requires="a14">
          <p:sp>
            <p:nvSpPr>
              <p:cNvPr id="69" name="formula12"/>
              <p:cNvSpPr txBox="1">
                <a:spLocks noGrp="1"/>
              </p:cNvSpPr>
              <p:nvPr/>
            </p:nvSpPr>
            <p:spPr>
              <a:xfrm>
                <a:off x="6248400" y="4196715"/>
                <a:ext cx="5410200" cy="6000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Y</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φ</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j</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M</m:t>
                          </m:r>
                        </m:sup>
                        <m:e>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E</m:t>
                                  </m:r>
                                </m:e>
                                <m:sub>
                                  <m:r>
                                    <a:rPr lang="zh-CN" sz="1350" dirty="0">
                                      <a:solidFill>
                                        <a:srgbClr val="1F2937"/>
                                      </a:solidFill>
                                      <a:latin typeface="Cambria Math"/>
                                      <a:ea typeface="Cambria Math"/>
                                      <a:cs typeface="Cambria Math"/>
                                    </a:rPr>
                                    <m:t>j</m:t>
                                  </m:r>
                                </m:sub>
                              </m:sSub>
                            </m:e>
                          </m:d>
                        </m:e>
                      </m:nary>
                    </m:oMath>
                  </m:oMathPara>
                </a14:m>
              </a:p>
            </p:txBody>
          </p:sp>
        </mc:Choice>
      </mc:AlternateContent>
      <p:grpSp>
        <p:nvGrpSpPr>
          <p:cNvPr id="76" name="takeaway"/>
          <p:cNvGrpSpPr/>
          <p:nvPr/>
        </p:nvGrpSpPr>
        <p:grpSpPr>
          <a:xfrm>
            <a:off x="533400" y="5874068"/>
            <a:ext cx="11125200" cy="488632"/>
            <a:chOff x="533400" y="5874068"/>
            <a:chExt cx="11125200" cy="488632"/>
          </a:xfrm>
        </p:grpSpPr>
        <p:sp>
          <p:nvSpPr>
            <p:cNvPr id="70" name="Rectangle 70"/>
            <p:cNvSpPr/>
            <p:nvPr/>
          </p:nvSpPr>
          <p:spPr>
            <a:xfrm>
              <a:off x="533400" y="5874068"/>
              <a:ext cx="11125200" cy="488632"/>
            </a:xfrm>
            <a:prstGeom prst="roundRect">
              <a:avLst>
                <a:gd name="adj" fmla="val 23392"/>
              </a:avLst>
            </a:prstGeom>
            <a:solidFill>
              <a:srgbClr val="F4F6FB"/>
            </a:solidFill>
            <a:ln>
              <a:noFill/>
            </a:ln>
          </p:spPr>
        </p:sp>
        <p:grpSp>
          <p:nvGrpSpPr>
            <p:cNvPr id="74" name="Group 74"/>
            <p:cNvGrpSpPr/>
            <p:nvPr/>
          </p:nvGrpSpPr>
          <p:grpSpPr>
            <a:xfrm>
              <a:off x="738188" y="6017895"/>
              <a:ext cx="200026" cy="200026"/>
              <a:chOff x="738188" y="6017895"/>
              <a:chExt cx="200026" cy="200026"/>
            </a:xfrm>
          </p:grpSpPr>
          <p:sp>
            <p:nvSpPr>
              <p:cNvPr id="71" name="Freeform 71"/>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2" name="Freeform 72"/>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3" name="Freeform 73"/>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5" name="TextBox 75"/>
            <p:cNvSpPr txBox="1"/>
            <p:nvPr/>
          </p:nvSpPr>
          <p:spPr>
            <a:xfrm>
              <a:off x="1040892" y="6023610"/>
              <a:ext cx="816016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上式是把表格写成一个式子：只要某个 Eⱼ = 1，连乘就是 0，整个输出被强制压成 0。φ 是阶跃函数。</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451481" cy="909257"/>
            <a:chOff x="520446" y="342900"/>
            <a:chExt cx="6451481"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645148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从 M-P 到线性加权、阶跃阈值、逻辑阈值</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284089" cy="264033"/>
            <a:chOff x="526542" y="1545907"/>
            <a:chExt cx="5284089" cy="264033"/>
          </a:xfrm>
        </p:grpSpPr>
        <p:sp>
          <p:nvSpPr>
            <p:cNvPr id="7" name="TextBox 7"/>
            <p:cNvSpPr txBox="1"/>
            <p:nvPr/>
          </p:nvSpPr>
          <p:spPr>
            <a:xfrm>
              <a:off x="526542" y="1545907"/>
              <a:ext cx="528408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三个模型的区别只在两处：输入是否带权，以及输出怎样被压缩。</a:t>
              </a:r>
            </a:p>
          </p:txBody>
        </p:sp>
      </p:grpSp>
      <p:grpSp>
        <p:nvGrpSpPr>
          <p:cNvPr id="47" name="c1-table-1"/>
          <p:cNvGrpSpPr/>
          <p:nvPr/>
        </p:nvGrpSpPr>
        <p:grpSpPr>
          <a:xfrm>
            <a:off x="533400" y="1928812"/>
            <a:ext cx="11125200" cy="2000250"/>
            <a:chOff x="533400" y="1928812"/>
            <a:chExt cx="11125200" cy="2000250"/>
          </a:xfrm>
        </p:grpSpPr>
        <p:sp>
          <p:nvSpPr>
            <p:cNvPr id="9" name="Rectangle 9"/>
            <p:cNvSpPr/>
            <p:nvPr/>
          </p:nvSpPr>
          <p:spPr>
            <a:xfrm>
              <a:off x="533400" y="1928812"/>
              <a:ext cx="11125200" cy="400050"/>
            </a:xfrm>
            <a:prstGeom prst="rect">
              <a:avLst/>
            </a:prstGeom>
            <a:solidFill>
              <a:srgbClr val="0E7C86"/>
            </a:solidFill>
            <a:ln>
              <a:noFill/>
            </a:ln>
          </p:spPr>
        </p:sp>
        <p:sp>
          <p:nvSpPr>
            <p:cNvPr id="10" name="TextBox 10"/>
            <p:cNvSpPr txBox="1"/>
            <p:nvPr/>
          </p:nvSpPr>
          <p:spPr>
            <a:xfrm>
              <a:off x="1489431"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模型</a:t>
              </a:r>
            </a:p>
          </p:txBody>
        </p:sp>
        <p:sp>
          <p:nvSpPr>
            <p:cNvPr id="11" name="TextBox 11"/>
            <p:cNvSpPr txBox="1"/>
            <p:nvPr/>
          </p:nvSpPr>
          <p:spPr>
            <a:xfrm>
              <a:off x="3694328" y="205025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净输入</a:t>
              </a:r>
            </a:p>
          </p:txBody>
        </p:sp>
        <p:sp>
          <p:nvSpPr>
            <p:cNvPr id="12" name="TextBox 12"/>
            <p:cNvSpPr txBox="1"/>
            <p:nvPr/>
          </p:nvSpPr>
          <p:spPr>
            <a:xfrm>
              <a:off x="6106198"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a:t>
              </a:r>
            </a:p>
          </p:txBody>
        </p:sp>
        <p:sp>
          <p:nvSpPr>
            <p:cNvPr id="13" name="TextBox 13"/>
            <p:cNvSpPr txBox="1"/>
            <p:nvPr/>
          </p:nvSpPr>
          <p:spPr>
            <a:xfrm>
              <a:off x="8109306"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权值</a:t>
              </a:r>
            </a:p>
          </p:txBody>
        </p:sp>
        <p:sp>
          <p:nvSpPr>
            <p:cNvPr id="14" name="TextBox 14"/>
            <p:cNvSpPr txBox="1"/>
            <p:nvPr/>
          </p:nvSpPr>
          <p:spPr>
            <a:xfrm>
              <a:off x="9996742" y="205025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能表示什么</a:t>
              </a:r>
            </a:p>
          </p:txBody>
        </p:sp>
        <p:sp>
          <p:nvSpPr>
            <p:cNvPr id="15" name="TextBox 15"/>
            <p:cNvSpPr txBox="1"/>
            <p:nvPr/>
          </p:nvSpPr>
          <p:spPr>
            <a:xfrm>
              <a:off x="630555" y="2450306"/>
              <a:ext cx="67261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M-P 模型</a:t>
              </a:r>
            </a:p>
          </p:txBody>
        </p:sp>
        <p:sp>
          <p:nvSpPr>
            <p:cNvPr id="16" name="TextBox 16"/>
            <p:cNvSpPr txBox="1"/>
            <p:nvPr/>
          </p:nvSpPr>
          <p:spPr>
            <a:xfrm>
              <a:off x="2855595" y="2450306"/>
              <a:ext cx="78237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Σ Iᵢ 不带权</a:t>
              </a:r>
            </a:p>
          </p:txBody>
        </p:sp>
        <p:sp>
          <p:nvSpPr>
            <p:cNvPr id="17" name="TextBox 17"/>
            <p:cNvSpPr txBox="1"/>
            <p:nvPr/>
          </p:nvSpPr>
          <p:spPr>
            <a:xfrm>
              <a:off x="5192078" y="2450306"/>
              <a:ext cx="7577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阶跃到 0/1</a:t>
              </a:r>
            </a:p>
          </p:txBody>
        </p:sp>
        <p:sp>
          <p:nvSpPr>
            <p:cNvPr id="18" name="TextBox 18"/>
            <p:cNvSpPr txBox="1"/>
            <p:nvPr/>
          </p:nvSpPr>
          <p:spPr>
            <a:xfrm>
              <a:off x="7528560" y="245030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无权</a:t>
              </a:r>
            </a:p>
          </p:txBody>
        </p:sp>
        <p:sp>
          <p:nvSpPr>
            <p:cNvPr id="19" name="TextBox 19"/>
            <p:cNvSpPr txBox="1"/>
            <p:nvPr/>
          </p:nvSpPr>
          <p:spPr>
            <a:xfrm>
              <a:off x="9197340" y="24503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布尔逻辑</a:t>
              </a:r>
            </a:p>
          </p:txBody>
        </p:sp>
        <p:sp>
          <p:nvSpPr>
            <p:cNvPr id="20" name="Rectangle 20"/>
            <p:cNvSpPr/>
            <p:nvPr/>
          </p:nvSpPr>
          <p:spPr>
            <a:xfrm>
              <a:off x="533400" y="2724150"/>
              <a:ext cx="11125200" cy="9525"/>
            </a:xfrm>
            <a:prstGeom prst="rect">
              <a:avLst/>
            </a:prstGeom>
            <a:solidFill>
              <a:srgbClr val="D9DFEA"/>
            </a:solidFill>
            <a:ln>
              <a:noFill/>
            </a:ln>
          </p:spPr>
        </p:sp>
        <p:sp>
          <p:nvSpPr>
            <p:cNvPr id="21" name="Rectangle 21"/>
            <p:cNvSpPr/>
            <p:nvPr/>
          </p:nvSpPr>
          <p:spPr>
            <a:xfrm>
              <a:off x="533400" y="2728912"/>
              <a:ext cx="11125200" cy="400050"/>
            </a:xfrm>
            <a:prstGeom prst="rect">
              <a:avLst/>
            </a:prstGeom>
            <a:solidFill>
              <a:srgbClr val="F4F6FB"/>
            </a:solidFill>
            <a:ln>
              <a:noFill/>
            </a:ln>
          </p:spPr>
        </p:sp>
        <p:sp>
          <p:nvSpPr>
            <p:cNvPr id="22" name="TextBox 22"/>
            <p:cNvSpPr txBox="1"/>
            <p:nvPr/>
          </p:nvSpPr>
          <p:spPr>
            <a:xfrm>
              <a:off x="630555" y="285035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线性加权模型</a:t>
              </a:r>
            </a:p>
          </p:txBody>
        </p:sp>
        <p:sp>
          <p:nvSpPr>
            <p:cNvPr id="23" name="TextBox 23"/>
            <p:cNvSpPr txBox="1"/>
            <p:nvPr/>
          </p:nvSpPr>
          <p:spPr>
            <a:xfrm>
              <a:off x="2855595" y="285035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y = b + Σ xᵢwᵢ</a:t>
              </a:r>
            </a:p>
          </p:txBody>
        </p:sp>
        <p:sp>
          <p:nvSpPr>
            <p:cNvPr id="24" name="TextBox 24"/>
            <p:cNvSpPr txBox="1"/>
            <p:nvPr/>
          </p:nvSpPr>
          <p:spPr>
            <a:xfrm>
              <a:off x="5192078" y="2850356"/>
              <a:ext cx="74268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直接输出 y</a:t>
              </a:r>
            </a:p>
          </p:txBody>
        </p:sp>
        <p:sp>
          <p:nvSpPr>
            <p:cNvPr id="25" name="TextBox 25"/>
            <p:cNvSpPr txBox="1"/>
            <p:nvPr/>
          </p:nvSpPr>
          <p:spPr>
            <a:xfrm>
              <a:off x="7528560" y="285035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26" name="TextBox 26"/>
            <p:cNvSpPr txBox="1"/>
            <p:nvPr/>
          </p:nvSpPr>
          <p:spPr>
            <a:xfrm>
              <a:off x="9197340" y="285035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线性函数</a:t>
              </a:r>
            </a:p>
          </p:txBody>
        </p:sp>
        <p:sp>
          <p:nvSpPr>
            <p:cNvPr id="27" name="Rectangle 27"/>
            <p:cNvSpPr/>
            <p:nvPr/>
          </p:nvSpPr>
          <p:spPr>
            <a:xfrm>
              <a:off x="533400" y="3124200"/>
              <a:ext cx="11125200" cy="9525"/>
            </a:xfrm>
            <a:prstGeom prst="rect">
              <a:avLst/>
            </a:prstGeom>
            <a:solidFill>
              <a:srgbClr val="D9DFEA"/>
            </a:solidFill>
            <a:ln>
              <a:noFill/>
            </a:ln>
          </p:spPr>
        </p:sp>
        <p:sp>
          <p:nvSpPr>
            <p:cNvPr id="28" name="TextBox 28"/>
            <p:cNvSpPr txBox="1"/>
            <p:nvPr/>
          </p:nvSpPr>
          <p:spPr>
            <a:xfrm>
              <a:off x="630555" y="325040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阶跃阈值模型</a:t>
              </a:r>
            </a:p>
          </p:txBody>
        </p:sp>
        <p:sp>
          <p:nvSpPr>
            <p:cNvPr id="29" name="TextBox 29"/>
            <p:cNvSpPr txBox="1"/>
            <p:nvPr/>
          </p:nvSpPr>
          <p:spPr>
            <a:xfrm>
              <a:off x="2855595" y="325040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v = b + Σ xᵢwᵢ</a:t>
              </a:r>
            </a:p>
          </p:txBody>
        </p:sp>
        <p:sp>
          <p:nvSpPr>
            <p:cNvPr id="30" name="Rectangle 30"/>
            <p:cNvSpPr/>
            <p:nvPr/>
          </p:nvSpPr>
          <p:spPr>
            <a:xfrm>
              <a:off x="5104448" y="3138488"/>
              <a:ext cx="2317432" cy="381000"/>
            </a:xfrm>
            <a:prstGeom prst="rect">
              <a:avLst/>
            </a:prstGeom>
            <a:solidFill>
              <a:srgbClr val="FDEEE7"/>
            </a:solidFill>
            <a:ln>
              <a:noFill/>
            </a:ln>
          </p:spPr>
        </p:sp>
        <p:sp>
          <p:nvSpPr>
            <p:cNvPr id="31" name="TextBox 31"/>
            <p:cNvSpPr txBox="1"/>
            <p:nvPr/>
          </p:nvSpPr>
          <p:spPr>
            <a:xfrm>
              <a:off x="5192078" y="3250406"/>
              <a:ext cx="14965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z = φ(v) 取 0/1 或 ±1</a:t>
              </a:r>
            </a:p>
          </p:txBody>
        </p:sp>
        <p:sp>
          <p:nvSpPr>
            <p:cNvPr id="32" name="TextBox 32"/>
            <p:cNvSpPr txBox="1"/>
            <p:nvPr/>
          </p:nvSpPr>
          <p:spPr>
            <a:xfrm>
              <a:off x="7528560" y="325040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33" name="TextBox 33"/>
            <p:cNvSpPr txBox="1"/>
            <p:nvPr/>
          </p:nvSpPr>
          <p:spPr>
            <a:xfrm>
              <a:off x="9197340" y="32504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线性判别</a:t>
              </a:r>
            </a:p>
          </p:txBody>
        </p:sp>
        <p:sp>
          <p:nvSpPr>
            <p:cNvPr id="34" name="Rectangle 34"/>
            <p:cNvSpPr/>
            <p:nvPr/>
          </p:nvSpPr>
          <p:spPr>
            <a:xfrm>
              <a:off x="533400" y="3524250"/>
              <a:ext cx="11125200" cy="9525"/>
            </a:xfrm>
            <a:prstGeom prst="rect">
              <a:avLst/>
            </a:prstGeom>
            <a:solidFill>
              <a:srgbClr val="D9DFEA"/>
            </a:solidFill>
            <a:ln>
              <a:noFill/>
            </a:ln>
          </p:spPr>
        </p:sp>
        <p:sp>
          <p:nvSpPr>
            <p:cNvPr id="35" name="Rectangle 35"/>
            <p:cNvSpPr/>
            <p:nvPr/>
          </p:nvSpPr>
          <p:spPr>
            <a:xfrm>
              <a:off x="533400" y="3529012"/>
              <a:ext cx="11125200" cy="400050"/>
            </a:xfrm>
            <a:prstGeom prst="rect">
              <a:avLst/>
            </a:prstGeom>
            <a:solidFill>
              <a:srgbClr val="F4F6FB"/>
            </a:solidFill>
            <a:ln>
              <a:noFill/>
            </a:ln>
          </p:spPr>
        </p:sp>
        <p:sp>
          <p:nvSpPr>
            <p:cNvPr id="36" name="TextBox 36"/>
            <p:cNvSpPr txBox="1"/>
            <p:nvPr/>
          </p:nvSpPr>
          <p:spPr>
            <a:xfrm>
              <a:off x="630555" y="365045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逻辑阈值模型</a:t>
              </a:r>
            </a:p>
          </p:txBody>
        </p:sp>
        <p:sp>
          <p:nvSpPr>
            <p:cNvPr id="37" name="TextBox 37"/>
            <p:cNvSpPr txBox="1"/>
            <p:nvPr/>
          </p:nvSpPr>
          <p:spPr>
            <a:xfrm>
              <a:off x="2855595" y="365045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v = b + Σ xᵢwᵢ</a:t>
              </a:r>
            </a:p>
          </p:txBody>
        </p:sp>
        <p:sp>
          <p:nvSpPr>
            <p:cNvPr id="38" name="TextBox 38"/>
            <p:cNvSpPr txBox="1"/>
            <p:nvPr/>
          </p:nvSpPr>
          <p:spPr>
            <a:xfrm>
              <a:off x="5192078" y="3650456"/>
              <a:ext cx="140609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z = σ(v) 落在 (0,1)</a:t>
              </a:r>
            </a:p>
          </p:txBody>
        </p:sp>
        <p:sp>
          <p:nvSpPr>
            <p:cNvPr id="39" name="TextBox 39"/>
            <p:cNvSpPr txBox="1"/>
            <p:nvPr/>
          </p:nvSpPr>
          <p:spPr>
            <a:xfrm>
              <a:off x="7528560" y="365045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40" name="Rectangle 40"/>
            <p:cNvSpPr/>
            <p:nvPr/>
          </p:nvSpPr>
          <p:spPr>
            <a:xfrm>
              <a:off x="9109710" y="3538538"/>
              <a:ext cx="2539365" cy="381000"/>
            </a:xfrm>
            <a:prstGeom prst="rect">
              <a:avLst/>
            </a:prstGeom>
            <a:solidFill>
              <a:srgbClr val="E3F5F1"/>
            </a:solidFill>
            <a:ln>
              <a:noFill/>
            </a:ln>
          </p:spPr>
        </p:sp>
        <p:sp>
          <p:nvSpPr>
            <p:cNvPr id="41" name="TextBox 41"/>
            <p:cNvSpPr txBox="1"/>
            <p:nvPr/>
          </p:nvSpPr>
          <p:spPr>
            <a:xfrm>
              <a:off x="9197340" y="3650456"/>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可导，能做梯度下降</a:t>
              </a:r>
            </a:p>
          </p:txBody>
        </p:sp>
        <p:sp>
          <p:nvSpPr>
            <p:cNvPr id="42" name="Rectangle 42"/>
            <p:cNvSpPr/>
            <p:nvPr/>
          </p:nvSpPr>
          <p:spPr>
            <a:xfrm>
              <a:off x="533400" y="1928812"/>
              <a:ext cx="11125200" cy="2000250"/>
            </a:xfrm>
            <a:prstGeom prst="rect">
              <a:avLst/>
            </a:prstGeom>
            <a:noFill/>
            <a:ln w="14288">
              <a:solidFill>
                <a:srgbClr val="D9DFEA"/>
              </a:solidFill>
            </a:ln>
          </p:spPr>
        </p:sp>
        <p:sp>
          <p:nvSpPr>
            <p:cNvPr id="43" name="Rectangle 43"/>
            <p:cNvSpPr/>
            <p:nvPr/>
          </p:nvSpPr>
          <p:spPr>
            <a:xfrm>
              <a:off x="2753678" y="1928812"/>
              <a:ext cx="9525" cy="2000250"/>
            </a:xfrm>
            <a:prstGeom prst="rect">
              <a:avLst/>
            </a:prstGeom>
            <a:solidFill>
              <a:srgbClr val="D9DFEA"/>
            </a:solidFill>
            <a:ln>
              <a:noFill/>
            </a:ln>
          </p:spPr>
        </p:sp>
        <p:sp>
          <p:nvSpPr>
            <p:cNvPr id="44" name="Rectangle 44"/>
            <p:cNvSpPr/>
            <p:nvPr/>
          </p:nvSpPr>
          <p:spPr>
            <a:xfrm>
              <a:off x="5090160" y="1928812"/>
              <a:ext cx="9525" cy="2000250"/>
            </a:xfrm>
            <a:prstGeom prst="rect">
              <a:avLst/>
            </a:prstGeom>
            <a:solidFill>
              <a:srgbClr val="D9DFEA"/>
            </a:solidFill>
            <a:ln>
              <a:noFill/>
            </a:ln>
          </p:spPr>
        </p:sp>
        <p:sp>
          <p:nvSpPr>
            <p:cNvPr id="45" name="Rectangle 45"/>
            <p:cNvSpPr/>
            <p:nvPr/>
          </p:nvSpPr>
          <p:spPr>
            <a:xfrm>
              <a:off x="7426642" y="1928812"/>
              <a:ext cx="9525" cy="2000250"/>
            </a:xfrm>
            <a:prstGeom prst="rect">
              <a:avLst/>
            </a:prstGeom>
            <a:solidFill>
              <a:srgbClr val="D9DFEA"/>
            </a:solidFill>
            <a:ln>
              <a:noFill/>
            </a:ln>
          </p:spPr>
        </p:sp>
        <p:sp>
          <p:nvSpPr>
            <p:cNvPr id="46" name="Rectangle 46"/>
            <p:cNvSpPr/>
            <p:nvPr/>
          </p:nvSpPr>
          <p:spPr>
            <a:xfrm>
              <a:off x="9095422" y="1928812"/>
              <a:ext cx="9525" cy="2000250"/>
            </a:xfrm>
            <a:prstGeom prst="rect">
              <a:avLst/>
            </a:prstGeom>
            <a:solidFill>
              <a:srgbClr val="D9DFEA"/>
            </a:solidFill>
            <a:ln>
              <a:noFill/>
            </a:ln>
          </p:spPr>
        </p:sp>
      </p:grpSp>
      <p:grpSp>
        <p:nvGrpSpPr>
          <p:cNvPr id="55" name="c1-card-2"/>
          <p:cNvGrpSpPr/>
          <p:nvPr/>
        </p:nvGrpSpPr>
        <p:grpSpPr>
          <a:xfrm>
            <a:off x="533400" y="4098608"/>
            <a:ext cx="11125200" cy="1611630"/>
            <a:chOff x="533400" y="4098608"/>
            <a:chExt cx="11125200" cy="1611630"/>
          </a:xfrm>
        </p:grpSpPr>
        <p:sp>
          <p:nvSpPr>
            <p:cNvPr id="48" name="Rectangle 48"/>
            <p:cNvSpPr/>
            <p:nvPr/>
          </p:nvSpPr>
          <p:spPr>
            <a:xfrm>
              <a:off x="533400" y="4098608"/>
              <a:ext cx="11125200" cy="1611630"/>
            </a:xfrm>
            <a:prstGeom prst="roundRect">
              <a:avLst>
                <a:gd name="adj" fmla="val 8274"/>
              </a:avLst>
            </a:prstGeom>
            <a:solidFill>
              <a:srgbClr val="FFFFFF"/>
            </a:solidFill>
            <a:ln w="14288">
              <a:solidFill>
                <a:srgbClr val="D9DFEA"/>
              </a:solidFill>
            </a:ln>
          </p:spPr>
        </p:sp>
        <p:sp>
          <p:nvSpPr>
            <p:cNvPr id="49" name="Rectangle 49"/>
            <p:cNvSpPr/>
            <p:nvPr/>
          </p:nvSpPr>
          <p:spPr>
            <a:xfrm>
              <a:off x="542925" y="4231958"/>
              <a:ext cx="47625" cy="1344930"/>
            </a:xfrm>
            <a:prstGeom prst="roundRect">
              <a:avLst>
                <a:gd name="adj" fmla="val 50000"/>
              </a:avLst>
            </a:prstGeom>
            <a:solidFill>
              <a:srgbClr val="0E7C86"/>
            </a:solidFill>
            <a:ln>
              <a:noFill/>
            </a:ln>
          </p:spPr>
        </p:sp>
        <p:sp>
          <p:nvSpPr>
            <p:cNvPr id="50" name="Rectangle 50"/>
            <p:cNvSpPr/>
            <p:nvPr/>
          </p:nvSpPr>
          <p:spPr>
            <a:xfrm>
              <a:off x="758190" y="4285298"/>
              <a:ext cx="1578292" cy="238125"/>
            </a:xfrm>
            <a:prstGeom prst="roundRect">
              <a:avLst>
                <a:gd name="adj" fmla="val 50000"/>
              </a:avLst>
            </a:prstGeom>
            <a:solidFill>
              <a:srgbClr val="E2F3F4"/>
            </a:solidFill>
            <a:ln>
              <a:noFill/>
            </a:ln>
          </p:spPr>
        </p:sp>
        <p:sp>
          <p:nvSpPr>
            <p:cNvPr id="51" name="TextBox 51"/>
            <p:cNvSpPr txBox="1"/>
            <p:nvPr/>
          </p:nvSpPr>
          <p:spPr>
            <a:xfrm>
              <a:off x="817258" y="4318159"/>
              <a:ext cx="1461110"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阈值逻辑模型的原始写法</a:t>
              </a:r>
            </a:p>
          </p:txBody>
        </p:sp>
        <p:sp>
          <p:nvSpPr>
            <p:cNvPr id="52" name="TextBox 52"/>
            <p:cNvSpPr txBox="1"/>
            <p:nvPr/>
          </p:nvSpPr>
          <p:spPr>
            <a:xfrm>
              <a:off x="2443924" y="432054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输入与权值都被限定在对称区间里</a:t>
              </a:r>
            </a:p>
          </p:txBody>
        </p:sp>
        <p:sp>
          <p:nvSpPr>
            <p:cNvPr id="53" name="TextBox 53"/>
            <p:cNvSpPr txBox="1"/>
            <p:nvPr/>
          </p:nvSpPr>
          <p:spPr>
            <a:xfrm>
              <a:off x="751332" y="4646295"/>
              <a:ext cx="904098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Iᵢ ∈ {-1,+1}，Y ∈ {-1,+1}，Wᵢ ∈ [-1,+1]。取 W₀ = -θ、I₀ = 1 把阈值并进求和，就得到下面的紧凑形式。</a:t>
              </a:r>
            </a:p>
          </p:txBody>
        </p:sp>
        <mc:AlternateContent xmlns:mc="http://schemas.openxmlformats.org/markup-compatibility/2006">
          <mc:Choice xmlns:a14="http://schemas.microsoft.com/office/drawing/2010/main" Requires="a14">
            <p:sp>
              <p:nvSpPr>
                <p:cNvPr id="54" name="formula18"/>
                <p:cNvSpPr txBox="1">
                  <a:spLocks noGrp="1"/>
                </p:cNvSpPr>
                <p:nvPr/>
              </p:nvSpPr>
              <p:spPr>
                <a:xfrm>
                  <a:off x="758190" y="4924425"/>
                  <a:ext cx="10713720"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Y</m:t>
                        </m:r>
                        <m:r>
                          <m:rPr>
                            <m:sty m:val="p"/>
                          </m:rPr>
                          <a:rPr lang="zh-CN" sz="1350" dirty="0">
                            <a:solidFill>
                              <a:srgbClr val="1F2937"/>
                            </a:solidFill>
                            <a:latin typeface="Cambria Math"/>
                            <a:ea typeface="Cambria Math"/>
                            <a:cs typeface="Cambria Math"/>
                          </a:rPr>
                          <m:t>=</m:t>
                        </m:r>
                        <m:r>
                          <m:rPr>
                            <m:sty m:val="p"/>
                          </m:rPr>
                          <a:rPr lang="zh-CN" sz="1350" dirty="0">
                            <a:solidFill>
                              <a:srgbClr val="1F2937"/>
                            </a:solidFill>
                            <a:latin typeface="Cambria Math"/>
                            <a:ea typeface="Cambria Math"/>
                            <a:cs typeface="Cambria Math"/>
                          </a:rPr>
                          <m:t>sgn</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r>
                          <m:rPr>
                            <m:sty m:val="p"/>
                          </m:rPr>
                          <a:rPr lang="zh-CN" sz="1350" dirty="0">
                            <a:solidFill>
                              <a:srgbClr val="1F2937"/>
                            </a:solidFill>
                            <a:latin typeface="Cambria Math"/>
                            <a:ea typeface="Cambria Math"/>
                            <a:cs typeface="Cambria Math"/>
                          </a:rPr>
                          <m:t>=</m:t>
                        </m:r>
                        <m:r>
                          <m:rPr>
                            <m:sty m:val="p"/>
                          </m:rPr>
                          <a:rPr lang="zh-CN" sz="1350" dirty="0">
                            <a:solidFill>
                              <a:srgbClr val="1F2937"/>
                            </a:solidFill>
                            <a:latin typeface="Cambria Math"/>
                            <a:ea typeface="Cambria Math"/>
                            <a:cs typeface="Cambria Math"/>
                          </a:rPr>
                          <m:t>sgn</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e>
                        </m:d>
                      </m:oMath>
                    </m:oMathPara>
                  </a14:m>
                </a:p>
              </p:txBody>
            </p:sp>
          </mc:Choice>
        </mc:AlternateContent>
      </p:grpSp>
      <p:grpSp>
        <p:nvGrpSpPr>
          <p:cNvPr id="61" name="takeaway"/>
          <p:cNvGrpSpPr/>
          <p:nvPr/>
        </p:nvGrpSpPr>
        <p:grpSpPr>
          <a:xfrm>
            <a:off x="533400" y="5881688"/>
            <a:ext cx="11125200" cy="481012"/>
            <a:chOff x="533400" y="5881688"/>
            <a:chExt cx="11125200" cy="481012"/>
          </a:xfrm>
        </p:grpSpPr>
        <p:sp>
          <p:nvSpPr>
            <p:cNvPr id="56" name="Rectangle 56"/>
            <p:cNvSpPr/>
            <p:nvPr/>
          </p:nvSpPr>
          <p:spPr>
            <a:xfrm>
              <a:off x="533400" y="5881688"/>
              <a:ext cx="11125200" cy="481012"/>
            </a:xfrm>
            <a:prstGeom prst="roundRect">
              <a:avLst>
                <a:gd name="adj" fmla="val 23762"/>
              </a:avLst>
            </a:prstGeom>
            <a:solidFill>
              <a:srgbClr val="0E7C86"/>
            </a:solidFill>
            <a:ln>
              <a:noFill/>
            </a:ln>
          </p:spPr>
        </p:sp>
        <p:grpSp>
          <p:nvGrpSpPr>
            <p:cNvPr id="59" name="Group 59"/>
            <p:cNvGrpSpPr/>
            <p:nvPr/>
          </p:nvGrpSpPr>
          <p:grpSpPr>
            <a:xfrm>
              <a:off x="738188" y="6022660"/>
              <a:ext cx="200023" cy="200023"/>
              <a:chOff x="738188" y="6022660"/>
              <a:chExt cx="200023" cy="200023"/>
            </a:xfrm>
          </p:grpSpPr>
          <p:sp>
            <p:nvSpPr>
              <p:cNvPr id="57" name="Freeform 57"/>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8" name="Freeform 58"/>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0" name="TextBox 60"/>
            <p:cNvSpPr txBox="1"/>
            <p:nvPr/>
          </p:nvSpPr>
          <p:spPr>
            <a:xfrm>
              <a:off x="1040892" y="6028373"/>
              <a:ext cx="698495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把阈值 θ 写成第 0 个权 W₀ = -θ，是后面所有公式里 b 与 θ 可以互换的原因：b = -θ。</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39294" cy="909257"/>
            <a:chOff x="520446" y="342900"/>
            <a:chExt cx="623929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62392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广义神经元模型：净输入 σ 与激活函数 f</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mc:AlternateContent xmlns:mc="http://schemas.openxmlformats.org/markup-compatibility/2006">
        <mc:Choice xmlns:a14="http://schemas.microsoft.com/office/drawing/2010/main" Requires="a14">
          <p:sp>
            <p:nvSpPr>
              <p:cNvPr id="7" name="formula20"/>
              <p:cNvSpPr txBox="1">
                <a:spLocks noGrp="1"/>
              </p:cNvSpPr>
              <p:nvPr/>
            </p:nvSpPr>
            <p:spPr>
              <a:xfrm>
                <a:off x="533400" y="1524000"/>
                <a:ext cx="5626418" cy="72294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720" dirty="0">
                              <a:solidFill>
                                <a:srgbClr val="1F2937"/>
                              </a:solidFill>
                              <a:latin typeface="Cambria Math"/>
                              <a:ea typeface="Cambria Math"/>
                              <a:cs typeface="Cambria Math"/>
                            </a:rPr>
                            <m:t>σ</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nary>
                        <m:naryPr>
                          <m:chr m:val="∑"/>
                          <m:limLoc m:val="undOvr"/>
                          <m:grow m:val="off"/>
                          <m:subHide m:val="off"/>
                          <m:supHide m:val="on"/>
                          <m:ctrlPr>
                            <a:rPr lang="zh-CN" sz="1720" dirty="0">
                              <a:solidFill>
                                <a:srgbClr val="1F2937"/>
                              </a:solidFill>
                              <a:latin typeface="Cambria Math"/>
                              <a:ea typeface="Cambria Math"/>
                              <a:cs typeface="Cambria Math"/>
                            </a:rPr>
                          </m:ctrlPr>
                        </m:naryPr>
                        <m:sub>
                          <m:r>
                            <a:rPr lang="zh-CN" sz="1720" dirty="0">
                              <a:solidFill>
                                <a:srgbClr val="1F2937"/>
                              </a:solidFill>
                              <a:latin typeface="Cambria Math"/>
                              <a:ea typeface="Cambria Math"/>
                              <a:cs typeface="Cambria Math"/>
                            </a:rPr>
                            <m:t>j</m:t>
                          </m:r>
                        </m:sub>
                        <m:sup/>
                        <m:e>
                          <m:sSub>
                            <m:e>
                              <m:r>
                                <a:rPr lang="zh-CN" sz="1720" dirty="0">
                                  <a:solidFill>
                                    <a:srgbClr val="1F2937"/>
                                  </a:solidFill>
                                  <a:latin typeface="Cambria Math"/>
                                  <a:ea typeface="Cambria Math"/>
                                  <a:cs typeface="Cambria Math"/>
                                </a:rPr>
                                <m:t>x</m:t>
                              </m:r>
                            </m:e>
                            <m:sub>
                              <m:r>
                                <a:rPr lang="zh-CN" sz="1720" dirty="0">
                                  <a:solidFill>
                                    <a:srgbClr val="1F2937"/>
                                  </a:solidFill>
                                  <a:latin typeface="Cambria Math"/>
                                  <a:ea typeface="Cambria Math"/>
                                  <a:cs typeface="Cambria Math"/>
                                </a:rPr>
                                <m:t>j</m:t>
                              </m:r>
                            </m:sub>
                          </m:sSub>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ij</m:t>
                              </m:r>
                            </m:sub>
                          </m:sSub>
                        </m:e>
                      </m:nary>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θ</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 xml:space="preserve">  </m:t>
                      </m:r>
                      <m:sSub>
                        <m:e>
                          <m:r>
                            <a:rPr lang="zh-CN" sz="1720" dirty="0">
                              <a:solidFill>
                                <a:srgbClr val="1F2937"/>
                              </a:solidFill>
                              <a:latin typeface="Cambria Math"/>
                              <a:ea typeface="Cambria Math"/>
                              <a:cs typeface="Cambria Math"/>
                            </a:rPr>
                            <m:t>y</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f</m:t>
                      </m:r>
                      <m:d>
                        <m:dPr>
                          <m:begChr m:val="("/>
                          <m:sepChr m:val=""/>
                          <m:endChr m:val=")"/>
                          <m:grow m:val="on"/>
                          <m:ctrlPr>
                            <a:rPr lang="zh-CN" sz="1720" dirty="0">
                              <a:solidFill>
                                <a:srgbClr val="1F2937"/>
                              </a:solidFill>
                              <a:latin typeface="Cambria Math"/>
                              <a:ea typeface="Cambria Math"/>
                              <a:cs typeface="Cambria Math"/>
                            </a:rPr>
                          </m:ctrlPr>
                        </m:dPr>
                        <m:e>
                          <m:sSub>
                            <m:e>
                              <m:r>
                                <a:rPr lang="zh-CN" sz="1720" dirty="0">
                                  <a:solidFill>
                                    <a:srgbClr val="1F2937"/>
                                  </a:solidFill>
                                  <a:latin typeface="Cambria Math"/>
                                  <a:ea typeface="Cambria Math"/>
                                  <a:cs typeface="Cambria Math"/>
                                </a:rPr>
                                <m:t>σ</m:t>
                              </m:r>
                            </m:e>
                            <m:sub>
                              <m:r>
                                <a:rPr lang="zh-CN" sz="1720" dirty="0">
                                  <a:solidFill>
                                    <a:srgbClr val="1F2937"/>
                                  </a:solidFill>
                                  <a:latin typeface="Cambria Math"/>
                                  <a:ea typeface="Cambria Math"/>
                                  <a:cs typeface="Cambria Math"/>
                                </a:rPr>
                                <m:t>i</m:t>
                              </m:r>
                            </m:sub>
                          </m:sSub>
                        </m:e>
                      </m:d>
                    </m:oMath>
                  </m:oMathPara>
                </a14:m>
              </a:p>
            </p:txBody>
          </p:sp>
        </mc:Choice>
      </mc:AlternateContent>
      <p:grpSp>
        <p:nvGrpSpPr>
          <p:cNvPr id="22" name="c1-kv-2"/>
          <p:cNvGrpSpPr/>
          <p:nvPr/>
        </p:nvGrpSpPr>
        <p:grpSpPr>
          <a:xfrm>
            <a:off x="525780" y="2462212"/>
            <a:ext cx="5634038" cy="2053590"/>
            <a:chOff x="525780" y="2462212"/>
            <a:chExt cx="5634038" cy="2053590"/>
          </a:xfrm>
        </p:grpSpPr>
        <p:sp>
          <p:nvSpPr>
            <p:cNvPr id="8" name="TextBox 8"/>
            <p:cNvSpPr txBox="1"/>
            <p:nvPr/>
          </p:nvSpPr>
          <p:spPr>
            <a:xfrm>
              <a:off x="525780" y="2462212"/>
              <a:ext cx="248469"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xⱼ</a:t>
              </a:r>
            </a:p>
          </p:txBody>
        </p:sp>
        <p:sp>
          <p:nvSpPr>
            <p:cNvPr id="9" name="TextBox 9"/>
            <p:cNvSpPr txBox="1"/>
            <p:nvPr/>
          </p:nvSpPr>
          <p:spPr>
            <a:xfrm>
              <a:off x="1159192" y="2462212"/>
              <a:ext cx="100469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第 j 个输入</a:t>
              </a:r>
            </a:p>
          </p:txBody>
        </p:sp>
        <p:sp>
          <p:nvSpPr>
            <p:cNvPr id="10" name="Rectangle 10"/>
            <p:cNvSpPr/>
            <p:nvPr/>
          </p:nvSpPr>
          <p:spPr>
            <a:xfrm>
              <a:off x="533400" y="2782252"/>
              <a:ext cx="5626418" cy="9525"/>
            </a:xfrm>
            <a:prstGeom prst="rect">
              <a:avLst/>
            </a:prstGeom>
            <a:solidFill>
              <a:srgbClr val="D9DFEA"/>
            </a:solidFill>
            <a:ln>
              <a:noFill/>
            </a:ln>
          </p:spPr>
        </p:sp>
        <p:sp>
          <p:nvSpPr>
            <p:cNvPr id="11" name="TextBox 11"/>
            <p:cNvSpPr txBox="1"/>
            <p:nvPr/>
          </p:nvSpPr>
          <p:spPr>
            <a:xfrm>
              <a:off x="525780" y="2902268"/>
              <a:ext cx="407489"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wᵢⱼ</a:t>
              </a:r>
            </a:p>
          </p:txBody>
        </p:sp>
        <p:sp>
          <p:nvSpPr>
            <p:cNvPr id="12" name="TextBox 12"/>
            <p:cNvSpPr txBox="1"/>
            <p:nvPr/>
          </p:nvSpPr>
          <p:spPr>
            <a:xfrm>
              <a:off x="1159192" y="2902268"/>
              <a:ext cx="461924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从输入 j 到神经元 i 的连接权，正为兴奋、负为抑制</a:t>
              </a:r>
            </a:p>
          </p:txBody>
        </p:sp>
        <p:sp>
          <p:nvSpPr>
            <p:cNvPr id="13" name="Rectangle 13"/>
            <p:cNvSpPr/>
            <p:nvPr/>
          </p:nvSpPr>
          <p:spPr>
            <a:xfrm>
              <a:off x="533400" y="3222308"/>
              <a:ext cx="5626418" cy="9525"/>
            </a:xfrm>
            <a:prstGeom prst="rect">
              <a:avLst/>
            </a:prstGeom>
            <a:solidFill>
              <a:srgbClr val="D9DFEA"/>
            </a:solidFill>
            <a:ln>
              <a:noFill/>
            </a:ln>
          </p:spPr>
        </p:sp>
        <p:sp>
          <p:nvSpPr>
            <p:cNvPr id="14" name="TextBox 14"/>
            <p:cNvSpPr txBox="1"/>
            <p:nvPr/>
          </p:nvSpPr>
          <p:spPr>
            <a:xfrm>
              <a:off x="525780" y="3342322"/>
              <a:ext cx="248469" cy="293370"/>
            </a:xfrm>
            <a:prstGeom prst="rect">
              <a:avLst/>
            </a:prstGeom>
            <a:noFill/>
            <a:ln>
              <a:noFill/>
            </a:ln>
          </p:spPr>
          <p:txBody>
            <a:bodyPr wrap="none" lIns="0" tIns="0" rIns="0" bIns="0" anchor="t" anchorCtr="0">
              <a:spAutoFit/>
            </a:bodyPr>
            <a:lstStyle/>
            <a:p>
              <a:pPr algn="l"/>
              <a:r>
                <a:rPr lang="el-GR" sz="1500" b="1" dirty="0">
                  <a:solidFill>
                    <a:srgbClr val="0E7C86"/>
                  </a:solidFill>
                  <a:latin typeface="+mn-lt"/>
                  <a:ea typeface="+mn-ea"/>
                  <a:cs typeface="+mn-cs"/>
                </a:rPr>
                <a:t>θᵢ</a:t>
              </a:r>
            </a:p>
          </p:txBody>
        </p:sp>
        <p:sp>
          <p:nvSpPr>
            <p:cNvPr id="15" name="TextBox 15"/>
            <p:cNvSpPr txBox="1"/>
            <p:nvPr/>
          </p:nvSpPr>
          <p:spPr>
            <a:xfrm>
              <a:off x="1159192" y="3342322"/>
              <a:ext cx="346824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神经元 i 的阈值，等价于偏置 bᵢ = -θᵢ</a:t>
              </a:r>
            </a:p>
          </p:txBody>
        </p:sp>
        <p:sp>
          <p:nvSpPr>
            <p:cNvPr id="16" name="Rectangle 16"/>
            <p:cNvSpPr/>
            <p:nvPr/>
          </p:nvSpPr>
          <p:spPr>
            <a:xfrm>
              <a:off x="533400" y="3662362"/>
              <a:ext cx="5626418" cy="9525"/>
            </a:xfrm>
            <a:prstGeom prst="rect">
              <a:avLst/>
            </a:prstGeom>
            <a:solidFill>
              <a:srgbClr val="D9DFEA"/>
            </a:solidFill>
            <a:ln>
              <a:noFill/>
            </a:ln>
          </p:spPr>
        </p:sp>
        <p:sp>
          <p:nvSpPr>
            <p:cNvPr id="17" name="TextBox 17"/>
            <p:cNvSpPr txBox="1"/>
            <p:nvPr/>
          </p:nvSpPr>
          <p:spPr>
            <a:xfrm>
              <a:off x="525780" y="3782378"/>
              <a:ext cx="248469" cy="293370"/>
            </a:xfrm>
            <a:prstGeom prst="rect">
              <a:avLst/>
            </a:prstGeom>
            <a:noFill/>
            <a:ln>
              <a:noFill/>
            </a:ln>
          </p:spPr>
          <p:txBody>
            <a:bodyPr wrap="none" lIns="0" tIns="0" rIns="0" bIns="0" anchor="t" anchorCtr="0">
              <a:spAutoFit/>
            </a:bodyPr>
            <a:lstStyle/>
            <a:p>
              <a:pPr algn="l"/>
              <a:r>
                <a:rPr lang="el-GR" sz="1500" b="1" dirty="0">
                  <a:solidFill>
                    <a:srgbClr val="0E7C86"/>
                  </a:solidFill>
                  <a:latin typeface="+mn-lt"/>
                  <a:ea typeface="+mn-ea"/>
                  <a:cs typeface="+mn-cs"/>
                </a:rPr>
                <a:t>σᵢ</a:t>
              </a:r>
            </a:p>
          </p:txBody>
        </p:sp>
        <p:sp>
          <p:nvSpPr>
            <p:cNvPr id="18" name="TextBox 18"/>
            <p:cNvSpPr txBox="1"/>
            <p:nvPr/>
          </p:nvSpPr>
          <p:spPr>
            <a:xfrm>
              <a:off x="1159192" y="3782378"/>
              <a:ext cx="247878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净输入，也写作 vᵢ 或 netᵢ</a:t>
              </a:r>
            </a:p>
          </p:txBody>
        </p:sp>
        <p:sp>
          <p:nvSpPr>
            <p:cNvPr id="19" name="Rectangle 19"/>
            <p:cNvSpPr/>
            <p:nvPr/>
          </p:nvSpPr>
          <p:spPr>
            <a:xfrm>
              <a:off x="533400" y="4102418"/>
              <a:ext cx="5626418" cy="9525"/>
            </a:xfrm>
            <a:prstGeom prst="rect">
              <a:avLst/>
            </a:prstGeom>
            <a:solidFill>
              <a:srgbClr val="D9DFEA"/>
            </a:solidFill>
            <a:ln>
              <a:noFill/>
            </a:ln>
          </p:spPr>
        </p:sp>
        <p:sp>
          <p:nvSpPr>
            <p:cNvPr id="20" name="TextBox 20"/>
            <p:cNvSpPr txBox="1"/>
            <p:nvPr/>
          </p:nvSpPr>
          <p:spPr>
            <a:xfrm>
              <a:off x="525780" y="4222432"/>
              <a:ext cx="131855"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f</a:t>
              </a:r>
            </a:p>
          </p:txBody>
        </p:sp>
        <p:sp>
          <p:nvSpPr>
            <p:cNvPr id="21" name="TextBox 21"/>
            <p:cNvSpPr txBox="1"/>
            <p:nvPr/>
          </p:nvSpPr>
          <p:spPr>
            <a:xfrm>
              <a:off x="1159192" y="4222432"/>
              <a:ext cx="460914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状态转移函数，也叫激活函数 activation function</a:t>
              </a:r>
            </a:p>
          </p:txBody>
        </p:sp>
      </p:grpSp>
      <p:grpSp>
        <p:nvGrpSpPr>
          <p:cNvPr id="29" name="c1-callout-3"/>
          <p:cNvGrpSpPr/>
          <p:nvPr/>
        </p:nvGrpSpPr>
        <p:grpSpPr>
          <a:xfrm>
            <a:off x="533400" y="4647248"/>
            <a:ext cx="5626418" cy="533400"/>
            <a:chOff x="533400" y="4647248"/>
            <a:chExt cx="5626418" cy="533400"/>
          </a:xfrm>
        </p:grpSpPr>
        <p:sp>
          <p:nvSpPr>
            <p:cNvPr id="23" name="Rectangle 23"/>
            <p:cNvSpPr/>
            <p:nvPr/>
          </p:nvSpPr>
          <p:spPr>
            <a:xfrm>
              <a:off x="533400" y="4647248"/>
              <a:ext cx="5626418" cy="533400"/>
            </a:xfrm>
            <a:prstGeom prst="roundRect">
              <a:avLst>
                <a:gd name="adj" fmla="val 21429"/>
              </a:avLst>
            </a:prstGeom>
            <a:solidFill>
              <a:srgbClr val="F4F6FB"/>
            </a:solidFill>
            <a:ln>
              <a:noFill/>
            </a:ln>
          </p:spPr>
        </p:sp>
        <p:grpSp>
          <p:nvGrpSpPr>
            <p:cNvPr id="27" name="Group 27"/>
            <p:cNvGrpSpPr/>
            <p:nvPr/>
          </p:nvGrpSpPr>
          <p:grpSpPr>
            <a:xfrm>
              <a:off x="738188" y="4813935"/>
              <a:ext cx="200026" cy="200026"/>
              <a:chOff x="738188" y="4813935"/>
              <a:chExt cx="200026" cy="200026"/>
            </a:xfrm>
          </p:grpSpPr>
          <p:sp>
            <p:nvSpPr>
              <p:cNvPr id="24" name="Freeform 24"/>
              <p:cNvSpPr/>
              <p:nvPr/>
            </p:nvSpPr>
            <p:spPr>
              <a:xfrm>
                <a:off x="738188" y="481393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5" name="Freeform 25"/>
              <p:cNvSpPr/>
              <p:nvPr/>
            </p:nvSpPr>
            <p:spPr>
              <a:xfrm>
                <a:off x="838200" y="488061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6" name="Freeform 26"/>
              <p:cNvSpPr/>
              <p:nvPr/>
            </p:nvSpPr>
            <p:spPr>
              <a:xfrm>
                <a:off x="827088" y="491394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8" name="TextBox 28"/>
            <p:cNvSpPr txBox="1"/>
            <p:nvPr/>
          </p:nvSpPr>
          <p:spPr>
            <a:xfrm>
              <a:off x="1040130" y="4809172"/>
              <a:ext cx="497262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本讲后面统一写成 v = wᵀx + b，与前几章的记号一致。</a:t>
              </a:r>
            </a:p>
          </p:txBody>
        </p:sp>
      </p:grpSp>
      <p:grpSp>
        <p:nvGrpSpPr>
          <p:cNvPr id="62" name="c2-graph-1"/>
          <p:cNvGrpSpPr/>
          <p:nvPr/>
        </p:nvGrpSpPr>
        <p:grpSpPr>
          <a:xfrm>
            <a:off x="6831330" y="1810702"/>
            <a:ext cx="4615815" cy="3091244"/>
            <a:chOff x="6831330" y="1810702"/>
            <a:chExt cx="4615815" cy="3091244"/>
          </a:xfrm>
        </p:grpSpPr>
        <p:sp>
          <p:nvSpPr>
            <p:cNvPr id="30" name="Freeform 30"/>
            <p:cNvSpPr/>
            <p:nvPr/>
          </p:nvSpPr>
          <p:spPr>
            <a:xfrm>
              <a:off x="7113270" y="2061210"/>
              <a:ext cx="1439228" cy="1100137"/>
            </a:xfrm>
            <a:custGeom>
              <a:avLst/>
              <a:gdLst/>
              <a:ahLst/>
              <a:cxnLst/>
              <a:rect l="l" t="t" r="r" b="b"/>
              <a:pathLst>
                <a:path w="1439228" h="1100137">
                  <a:moveTo>
                    <a:pt x="0" y="0"/>
                  </a:moveTo>
                  <a:lnTo>
                    <a:pt x="1439228" y="1100137"/>
                  </a:lnTo>
                </a:path>
              </a:pathLst>
            </a:custGeom>
            <a:noFill/>
            <a:ln w="17145">
              <a:solidFill>
                <a:srgbClr val="1F2937"/>
              </a:solidFill>
            </a:ln>
          </p:spPr>
        </p:sp>
        <p:sp>
          <p:nvSpPr>
            <p:cNvPr id="31" name="Freeform 31"/>
            <p:cNvSpPr/>
            <p:nvPr/>
          </p:nvSpPr>
          <p:spPr>
            <a:xfrm>
              <a:off x="8522970" y="3123248"/>
              <a:ext cx="104775" cy="96203"/>
            </a:xfrm>
            <a:custGeom>
              <a:avLst/>
              <a:gdLst/>
              <a:ahLst/>
              <a:cxnLst/>
              <a:rect l="l" t="t" r="r" b="b"/>
              <a:pathLst>
                <a:path w="104775" h="96203">
                  <a:moveTo>
                    <a:pt x="104775" y="96203"/>
                  </a:moveTo>
                  <a:lnTo>
                    <a:pt x="0" y="76200"/>
                  </a:lnTo>
                  <a:lnTo>
                    <a:pt x="58103" y="0"/>
                  </a:lnTo>
                  <a:close/>
                </a:path>
              </a:pathLst>
            </a:custGeom>
            <a:solidFill>
              <a:srgbClr val="1F2937"/>
            </a:solidFill>
            <a:ln>
              <a:noFill/>
            </a:ln>
          </p:spPr>
        </p:sp>
        <p:sp>
          <p:nvSpPr>
            <p:cNvPr id="32" name="Freeform 32"/>
            <p:cNvSpPr/>
            <p:nvPr/>
          </p:nvSpPr>
          <p:spPr>
            <a:xfrm>
              <a:off x="7145655" y="3186112"/>
              <a:ext cx="1343977" cy="134303"/>
            </a:xfrm>
            <a:custGeom>
              <a:avLst/>
              <a:gdLst/>
              <a:ahLst/>
              <a:cxnLst/>
              <a:rect l="l" t="t" r="r" b="b"/>
              <a:pathLst>
                <a:path w="1343977" h="134303">
                  <a:moveTo>
                    <a:pt x="0" y="0"/>
                  </a:moveTo>
                  <a:lnTo>
                    <a:pt x="1343977" y="134303"/>
                  </a:lnTo>
                </a:path>
              </a:pathLst>
            </a:custGeom>
            <a:noFill/>
            <a:ln w="17145">
              <a:solidFill>
                <a:srgbClr val="1F2937"/>
              </a:solidFill>
            </a:ln>
          </p:spPr>
        </p:sp>
        <p:sp>
          <p:nvSpPr>
            <p:cNvPr id="33" name="Freeform 33"/>
            <p:cNvSpPr/>
            <p:nvPr/>
          </p:nvSpPr>
          <p:spPr>
            <a:xfrm>
              <a:off x="8484870" y="3273742"/>
              <a:ext cx="99060" cy="94298"/>
            </a:xfrm>
            <a:custGeom>
              <a:avLst/>
              <a:gdLst/>
              <a:ahLst/>
              <a:cxnLst/>
              <a:rect l="l" t="t" r="r" b="b"/>
              <a:pathLst>
                <a:path w="99060" h="94298">
                  <a:moveTo>
                    <a:pt x="99060" y="56198"/>
                  </a:moveTo>
                  <a:lnTo>
                    <a:pt x="0" y="94298"/>
                  </a:lnTo>
                  <a:lnTo>
                    <a:pt x="9525" y="0"/>
                  </a:lnTo>
                  <a:close/>
                </a:path>
              </a:pathLst>
            </a:custGeom>
            <a:solidFill>
              <a:srgbClr val="1F2937"/>
            </a:solidFill>
            <a:ln>
              <a:noFill/>
            </a:ln>
          </p:spPr>
        </p:sp>
        <p:sp>
          <p:nvSpPr>
            <p:cNvPr id="34" name="Freeform 34"/>
            <p:cNvSpPr/>
            <p:nvPr/>
          </p:nvSpPr>
          <p:spPr>
            <a:xfrm>
              <a:off x="7113270" y="3543300"/>
              <a:ext cx="1439228" cy="1100138"/>
            </a:xfrm>
            <a:custGeom>
              <a:avLst/>
              <a:gdLst/>
              <a:ahLst/>
              <a:cxnLst/>
              <a:rect l="l" t="t" r="r" b="b"/>
              <a:pathLst>
                <a:path w="1439228" h="1100138">
                  <a:moveTo>
                    <a:pt x="0" y="1100138"/>
                  </a:moveTo>
                  <a:lnTo>
                    <a:pt x="1439228" y="0"/>
                  </a:lnTo>
                </a:path>
              </a:pathLst>
            </a:custGeom>
            <a:noFill/>
            <a:ln w="17145">
              <a:solidFill>
                <a:srgbClr val="1F2937"/>
              </a:solidFill>
            </a:ln>
          </p:spPr>
        </p:sp>
        <p:sp>
          <p:nvSpPr>
            <p:cNvPr id="35" name="Freeform 35"/>
            <p:cNvSpPr/>
            <p:nvPr/>
          </p:nvSpPr>
          <p:spPr>
            <a:xfrm>
              <a:off x="8522970" y="3485198"/>
              <a:ext cx="104775" cy="96203"/>
            </a:xfrm>
            <a:custGeom>
              <a:avLst/>
              <a:gdLst/>
              <a:ahLst/>
              <a:cxnLst/>
              <a:rect l="l" t="t" r="r" b="b"/>
              <a:pathLst>
                <a:path w="104775" h="96203">
                  <a:moveTo>
                    <a:pt x="104775" y="0"/>
                  </a:moveTo>
                  <a:lnTo>
                    <a:pt x="58103" y="96203"/>
                  </a:lnTo>
                  <a:lnTo>
                    <a:pt x="0" y="20003"/>
                  </a:lnTo>
                  <a:close/>
                </a:path>
              </a:pathLst>
            </a:custGeom>
            <a:solidFill>
              <a:srgbClr val="1F2937"/>
            </a:solidFill>
            <a:ln>
              <a:noFill/>
            </a:ln>
          </p:spPr>
        </p:sp>
        <p:sp>
          <p:nvSpPr>
            <p:cNvPr id="36" name="Freeform 36"/>
            <p:cNvSpPr/>
            <p:nvPr/>
          </p:nvSpPr>
          <p:spPr>
            <a:xfrm>
              <a:off x="9021128" y="3351848"/>
              <a:ext cx="887730" cy="9525"/>
            </a:xfrm>
            <a:custGeom>
              <a:avLst/>
              <a:gdLst/>
              <a:ahLst/>
              <a:cxnLst/>
              <a:rect l="l" t="t" r="r" b="b"/>
              <a:pathLst>
                <a:path w="887730" h="9525">
                  <a:moveTo>
                    <a:pt x="0" y="0"/>
                  </a:moveTo>
                  <a:lnTo>
                    <a:pt x="887730" y="0"/>
                  </a:lnTo>
                </a:path>
              </a:pathLst>
            </a:custGeom>
            <a:noFill/>
            <a:ln w="17145">
              <a:solidFill>
                <a:srgbClr val="1F2937"/>
              </a:solidFill>
            </a:ln>
          </p:spPr>
        </p:sp>
        <p:sp>
          <p:nvSpPr>
            <p:cNvPr id="37" name="Freeform 37"/>
            <p:cNvSpPr/>
            <p:nvPr/>
          </p:nvSpPr>
          <p:spPr>
            <a:xfrm>
              <a:off x="9908858" y="330422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8" name="Freeform 38"/>
            <p:cNvSpPr/>
            <p:nvPr/>
          </p:nvSpPr>
          <p:spPr>
            <a:xfrm>
              <a:off x="10404158" y="3351848"/>
              <a:ext cx="633412" cy="9525"/>
            </a:xfrm>
            <a:custGeom>
              <a:avLst/>
              <a:gdLst/>
              <a:ahLst/>
              <a:cxnLst/>
              <a:rect l="l" t="t" r="r" b="b"/>
              <a:pathLst>
                <a:path w="633412" h="9525">
                  <a:moveTo>
                    <a:pt x="0" y="0"/>
                  </a:moveTo>
                  <a:lnTo>
                    <a:pt x="633412" y="0"/>
                  </a:lnTo>
                </a:path>
              </a:pathLst>
            </a:custGeom>
            <a:noFill/>
            <a:ln w="17145">
              <a:solidFill>
                <a:srgbClr val="1F2937"/>
              </a:solidFill>
            </a:ln>
          </p:spPr>
        </p:sp>
        <p:sp>
          <p:nvSpPr>
            <p:cNvPr id="39" name="Freeform 39"/>
            <p:cNvSpPr/>
            <p:nvPr/>
          </p:nvSpPr>
          <p:spPr>
            <a:xfrm>
              <a:off x="11037570" y="330422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0" name="Ellipse 40"/>
            <p:cNvSpPr/>
            <p:nvPr/>
          </p:nvSpPr>
          <p:spPr>
            <a:xfrm>
              <a:off x="6831330" y="1810702"/>
              <a:ext cx="304800" cy="304800"/>
            </a:xfrm>
            <a:prstGeom prst="ellipse">
              <a:avLst/>
            </a:prstGeom>
            <a:solidFill>
              <a:srgbClr val="FFFFFF"/>
            </a:solidFill>
            <a:ln w="17145">
              <a:solidFill>
                <a:srgbClr val="0E7C86"/>
              </a:solidFill>
            </a:ln>
          </p:spPr>
        </p:sp>
        <p:sp>
          <p:nvSpPr>
            <p:cNvPr id="41" name="Ellipse 41"/>
            <p:cNvSpPr/>
            <p:nvPr/>
          </p:nvSpPr>
          <p:spPr>
            <a:xfrm>
              <a:off x="6831330" y="3017520"/>
              <a:ext cx="304800" cy="304800"/>
            </a:xfrm>
            <a:prstGeom prst="ellipse">
              <a:avLst/>
            </a:prstGeom>
            <a:solidFill>
              <a:srgbClr val="FFFFFF"/>
            </a:solidFill>
            <a:ln w="17145">
              <a:solidFill>
                <a:srgbClr val="0E7C86"/>
              </a:solidFill>
            </a:ln>
          </p:spPr>
        </p:sp>
        <p:sp>
          <p:nvSpPr>
            <p:cNvPr id="42" name="Ellipse 42"/>
            <p:cNvSpPr/>
            <p:nvPr/>
          </p:nvSpPr>
          <p:spPr>
            <a:xfrm>
              <a:off x="6831330" y="4589145"/>
              <a:ext cx="304800" cy="304800"/>
            </a:xfrm>
            <a:prstGeom prst="ellipse">
              <a:avLst/>
            </a:prstGeom>
            <a:solidFill>
              <a:srgbClr val="FFFFFF"/>
            </a:solidFill>
            <a:ln w="17145">
              <a:solidFill>
                <a:srgbClr val="0E7C86"/>
              </a:solidFill>
            </a:ln>
          </p:spPr>
        </p:sp>
        <p:sp>
          <p:nvSpPr>
            <p:cNvPr id="43" name="Ellipse 43"/>
            <p:cNvSpPr/>
            <p:nvPr/>
          </p:nvSpPr>
          <p:spPr>
            <a:xfrm>
              <a:off x="8592502" y="3142298"/>
              <a:ext cx="419100" cy="419100"/>
            </a:xfrm>
            <a:prstGeom prst="ellipse">
              <a:avLst/>
            </a:prstGeom>
            <a:solidFill>
              <a:srgbClr val="0E7C86"/>
            </a:solidFill>
            <a:ln w="17145">
              <a:solidFill>
                <a:srgbClr val="0E7C86"/>
              </a:solidFill>
            </a:ln>
          </p:spPr>
        </p:sp>
        <p:sp>
          <p:nvSpPr>
            <p:cNvPr id="44" name="Rectangle 44"/>
            <p:cNvSpPr/>
            <p:nvPr/>
          </p:nvSpPr>
          <p:spPr>
            <a:xfrm>
              <a:off x="10004108" y="3151822"/>
              <a:ext cx="400050" cy="400050"/>
            </a:xfrm>
            <a:prstGeom prst="roundRect">
              <a:avLst>
                <a:gd name="adj" fmla="val 9524"/>
              </a:avLst>
            </a:prstGeom>
            <a:solidFill>
              <a:srgbClr val="FFFFFF"/>
            </a:solidFill>
            <a:ln w="17145">
              <a:solidFill>
                <a:srgbClr val="0E7C86"/>
              </a:solidFill>
            </a:ln>
          </p:spPr>
        </p:sp>
        <p:sp>
          <p:nvSpPr>
            <p:cNvPr id="45" name="Ellipse 45"/>
            <p:cNvSpPr/>
            <p:nvPr/>
          </p:nvSpPr>
          <p:spPr>
            <a:xfrm>
              <a:off x="11142345" y="3199448"/>
              <a:ext cx="304800" cy="304800"/>
            </a:xfrm>
            <a:prstGeom prst="ellipse">
              <a:avLst/>
            </a:prstGeom>
            <a:solidFill>
              <a:srgbClr val="FFFFFF"/>
            </a:solidFill>
            <a:ln w="17145">
              <a:solidFill>
                <a:srgbClr val="0E7C86"/>
              </a:solidFill>
            </a:ln>
          </p:spPr>
        </p:sp>
        <p:sp>
          <p:nvSpPr>
            <p:cNvPr id="46" name="TextBox 46"/>
            <p:cNvSpPr txBox="1"/>
            <p:nvPr/>
          </p:nvSpPr>
          <p:spPr>
            <a:xfrm>
              <a:off x="6884342" y="1887855"/>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x₁</a:t>
              </a:r>
            </a:p>
          </p:txBody>
        </p:sp>
        <p:sp>
          <p:nvSpPr>
            <p:cNvPr id="47" name="TextBox 47"/>
            <p:cNvSpPr txBox="1"/>
            <p:nvPr/>
          </p:nvSpPr>
          <p:spPr>
            <a:xfrm>
              <a:off x="6884342" y="3094672"/>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x₂</a:t>
              </a:r>
            </a:p>
          </p:txBody>
        </p:sp>
        <p:sp>
          <p:nvSpPr>
            <p:cNvPr id="48" name="TextBox 48"/>
            <p:cNvSpPr txBox="1"/>
            <p:nvPr/>
          </p:nvSpPr>
          <p:spPr>
            <a:xfrm>
              <a:off x="6884342" y="4667250"/>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xₙ</a:t>
              </a:r>
            </a:p>
          </p:txBody>
        </p:sp>
        <p:sp>
          <p:nvSpPr>
            <p:cNvPr id="49" name="TextBox 49"/>
            <p:cNvSpPr txBox="1"/>
            <p:nvPr/>
          </p:nvSpPr>
          <p:spPr>
            <a:xfrm>
              <a:off x="8746670" y="3277552"/>
              <a:ext cx="110764" cy="234696"/>
            </a:xfrm>
            <a:prstGeom prst="rect">
              <a:avLst/>
            </a:prstGeom>
            <a:noFill/>
            <a:ln>
              <a:noFill/>
            </a:ln>
          </p:spPr>
          <p:txBody>
            <a:bodyPr wrap="none" lIns="0" tIns="0" rIns="0" bIns="0" anchor="t" anchorCtr="0">
              <a:spAutoFit/>
            </a:bodyPr>
            <a:lstStyle/>
            <a:p>
              <a:pPr algn="ctr"/>
              <a:r>
                <a:rPr lang="el-GR" sz="1200" b="1" dirty="0">
                  <a:solidFill>
                    <a:srgbClr val="FFFFFF"/>
                  </a:solidFill>
                  <a:latin typeface="+mn-lt"/>
                  <a:ea typeface="+mn-ea"/>
                  <a:cs typeface="+mn-cs"/>
                </a:rPr>
                <a:t>Σ</a:t>
              </a:r>
            </a:p>
          </p:txBody>
        </p:sp>
        <p:sp>
          <p:nvSpPr>
            <p:cNvPr id="50" name="TextBox 50"/>
            <p:cNvSpPr txBox="1"/>
            <p:nvPr/>
          </p:nvSpPr>
          <p:spPr>
            <a:xfrm>
              <a:off x="10151391" y="3277552"/>
              <a:ext cx="1054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f</a:t>
              </a:r>
            </a:p>
          </p:txBody>
        </p:sp>
        <p:sp>
          <p:nvSpPr>
            <p:cNvPr id="51" name="TextBox 51"/>
            <p:cNvSpPr txBox="1"/>
            <p:nvPr/>
          </p:nvSpPr>
          <p:spPr>
            <a:xfrm>
              <a:off x="11195357" y="3277552"/>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yᵢ</a:t>
              </a:r>
            </a:p>
          </p:txBody>
        </p:sp>
        <p:sp>
          <p:nvSpPr>
            <p:cNvPr id="52" name="Rectangle 52"/>
            <p:cNvSpPr/>
            <p:nvPr/>
          </p:nvSpPr>
          <p:spPr>
            <a:xfrm>
              <a:off x="7717155" y="2546985"/>
              <a:ext cx="306705" cy="173355"/>
            </a:xfrm>
            <a:prstGeom prst="roundRect">
              <a:avLst>
                <a:gd name="adj" fmla="val 21978"/>
              </a:avLst>
            </a:prstGeom>
            <a:solidFill>
              <a:srgbClr val="FFFFFF"/>
            </a:solidFill>
            <a:ln>
              <a:noFill/>
            </a:ln>
          </p:spPr>
        </p:sp>
        <p:sp>
          <p:nvSpPr>
            <p:cNvPr id="53" name="TextBox 53"/>
            <p:cNvSpPr txBox="1"/>
            <p:nvPr/>
          </p:nvSpPr>
          <p:spPr>
            <a:xfrm>
              <a:off x="7743521" y="2581751"/>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wᵢ₁</a:t>
              </a:r>
            </a:p>
          </p:txBody>
        </p:sp>
        <p:sp>
          <p:nvSpPr>
            <p:cNvPr id="54" name="Rectangle 54"/>
            <p:cNvSpPr/>
            <p:nvPr/>
          </p:nvSpPr>
          <p:spPr>
            <a:xfrm>
              <a:off x="7711440" y="3165158"/>
              <a:ext cx="306705" cy="173355"/>
            </a:xfrm>
            <a:prstGeom prst="roundRect">
              <a:avLst>
                <a:gd name="adj" fmla="val 21978"/>
              </a:avLst>
            </a:prstGeom>
            <a:solidFill>
              <a:srgbClr val="FFFFFF"/>
            </a:solidFill>
            <a:ln>
              <a:noFill/>
            </a:ln>
          </p:spPr>
        </p:sp>
        <p:sp>
          <p:nvSpPr>
            <p:cNvPr id="55" name="TextBox 55"/>
            <p:cNvSpPr txBox="1"/>
            <p:nvPr/>
          </p:nvSpPr>
          <p:spPr>
            <a:xfrm>
              <a:off x="7737806" y="3199924"/>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wᵢ₂</a:t>
              </a:r>
            </a:p>
          </p:txBody>
        </p:sp>
        <p:sp>
          <p:nvSpPr>
            <p:cNvPr id="56" name="Rectangle 56"/>
            <p:cNvSpPr/>
            <p:nvPr/>
          </p:nvSpPr>
          <p:spPr>
            <a:xfrm>
              <a:off x="7717155" y="3971925"/>
              <a:ext cx="306705" cy="173355"/>
            </a:xfrm>
            <a:prstGeom prst="roundRect">
              <a:avLst>
                <a:gd name="adj" fmla="val 21978"/>
              </a:avLst>
            </a:prstGeom>
            <a:solidFill>
              <a:srgbClr val="FFFFFF"/>
            </a:solidFill>
            <a:ln>
              <a:noFill/>
            </a:ln>
          </p:spPr>
        </p:sp>
        <p:sp>
          <p:nvSpPr>
            <p:cNvPr id="57" name="TextBox 57"/>
            <p:cNvSpPr txBox="1"/>
            <p:nvPr/>
          </p:nvSpPr>
          <p:spPr>
            <a:xfrm>
              <a:off x="7743521" y="4006691"/>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wᵢₙ</a:t>
              </a:r>
            </a:p>
          </p:txBody>
        </p:sp>
        <p:sp>
          <p:nvSpPr>
            <p:cNvPr id="58" name="Rectangle 58"/>
            <p:cNvSpPr/>
            <p:nvPr/>
          </p:nvSpPr>
          <p:spPr>
            <a:xfrm>
              <a:off x="9405938" y="3259455"/>
              <a:ext cx="213360" cy="173355"/>
            </a:xfrm>
            <a:prstGeom prst="roundRect">
              <a:avLst>
                <a:gd name="adj" fmla="val 21978"/>
              </a:avLst>
            </a:prstGeom>
            <a:solidFill>
              <a:srgbClr val="FFFFFF"/>
            </a:solidFill>
            <a:ln>
              <a:noFill/>
            </a:ln>
          </p:spPr>
        </p:sp>
        <p:sp>
          <p:nvSpPr>
            <p:cNvPr id="59" name="TextBox 59"/>
            <p:cNvSpPr txBox="1"/>
            <p:nvPr/>
          </p:nvSpPr>
          <p:spPr>
            <a:xfrm>
              <a:off x="9435104" y="3294221"/>
              <a:ext cx="155026" cy="190690"/>
            </a:xfrm>
            <a:prstGeom prst="rect">
              <a:avLst/>
            </a:prstGeom>
            <a:noFill/>
            <a:ln>
              <a:noFill/>
            </a:ln>
          </p:spPr>
          <p:txBody>
            <a:bodyPr wrap="none" lIns="0" tIns="0" rIns="0" bIns="0" anchor="t" anchorCtr="0">
              <a:spAutoFit/>
            </a:bodyPr>
            <a:lstStyle/>
            <a:p>
              <a:pPr algn="ctr"/>
              <a:r>
                <a:rPr lang="el-GR" sz="980" dirty="0">
                  <a:solidFill>
                    <a:srgbClr val="C2410C"/>
                  </a:solidFill>
                  <a:latin typeface="+mn-lt"/>
                  <a:ea typeface="+mn-ea"/>
                  <a:cs typeface="+mn-cs"/>
                </a:rPr>
                <a:t>σᵢ</a:t>
              </a:r>
            </a:p>
          </p:txBody>
        </p:sp>
        <p:sp>
          <p:nvSpPr>
            <p:cNvPr id="60" name="TextBox 60"/>
            <p:cNvSpPr txBox="1"/>
            <p:nvPr/>
          </p:nvSpPr>
          <p:spPr>
            <a:xfrm>
              <a:off x="6926894" y="3791902"/>
              <a:ext cx="113671" cy="264033"/>
            </a:xfrm>
            <a:prstGeom prst="rect">
              <a:avLst/>
            </a:prstGeom>
            <a:noFill/>
            <a:ln>
              <a:noFill/>
            </a:ln>
          </p:spPr>
          <p:txBody>
            <a:bodyPr wrap="none" lIns="0" tIns="0" rIns="0" bIns="0" anchor="t" anchorCtr="0">
              <a:spAutoFit/>
            </a:bodyPr>
            <a:lstStyle/>
            <a:p>
              <a:pPr algn="ctr"/>
              <a:r>
                <a:rPr lang="zh-CN" sz="1350" dirty="0">
                  <a:solidFill>
                    <a:srgbClr val="5B6475"/>
                  </a:solidFill>
                  <a:latin typeface="+mn-lt"/>
                  <a:ea typeface="+mn-ea"/>
                  <a:cs typeface="+mn-cs"/>
                </a:rPr>
                <a:t>⋮</a:t>
              </a:r>
            </a:p>
          </p:txBody>
        </p:sp>
        <p:sp>
          <p:nvSpPr>
            <p:cNvPr id="61" name="TextBox 61"/>
            <p:cNvSpPr txBox="1"/>
            <p:nvPr/>
          </p:nvSpPr>
          <p:spPr>
            <a:xfrm>
              <a:off x="8330832" y="4717732"/>
              <a:ext cx="94244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阈值 θᵢ 并入求和</a:t>
              </a:r>
            </a:p>
          </p:txBody>
        </p:sp>
      </p:grpSp>
      <p:grpSp>
        <p:nvGrpSpPr>
          <p:cNvPr id="69" name="takeaway"/>
          <p:cNvGrpSpPr/>
          <p:nvPr/>
        </p:nvGrpSpPr>
        <p:grpSpPr>
          <a:xfrm>
            <a:off x="533400" y="5829300"/>
            <a:ext cx="11125200" cy="533400"/>
            <a:chOff x="533400" y="5829300"/>
            <a:chExt cx="11125200" cy="533400"/>
          </a:xfrm>
        </p:grpSpPr>
        <p:sp>
          <p:nvSpPr>
            <p:cNvPr id="63" name="Rectangle 63"/>
            <p:cNvSpPr/>
            <p:nvPr/>
          </p:nvSpPr>
          <p:spPr>
            <a:xfrm>
              <a:off x="533400" y="5829300"/>
              <a:ext cx="11125200" cy="533400"/>
            </a:xfrm>
            <a:prstGeom prst="roundRect">
              <a:avLst>
                <a:gd name="adj" fmla="val 21429"/>
              </a:avLst>
            </a:prstGeom>
            <a:solidFill>
              <a:srgbClr val="FDEEE7"/>
            </a:solidFill>
            <a:ln>
              <a:noFill/>
            </a:ln>
          </p:spPr>
        </p:sp>
        <p:grpSp>
          <p:nvGrpSpPr>
            <p:cNvPr id="67" name="Group 67"/>
            <p:cNvGrpSpPr/>
            <p:nvPr/>
          </p:nvGrpSpPr>
          <p:grpSpPr>
            <a:xfrm>
              <a:off x="738188" y="5995988"/>
              <a:ext cx="200026" cy="200025"/>
              <a:chOff x="738188" y="5995988"/>
              <a:chExt cx="200026" cy="200025"/>
            </a:xfrm>
          </p:grpSpPr>
          <p:sp>
            <p:nvSpPr>
              <p:cNvPr id="64" name="Freeform 64"/>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5" name="Freeform 65"/>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6" name="Freeform 66"/>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8" name="TextBox 68"/>
            <p:cNvSpPr txBox="1"/>
            <p:nvPr/>
          </p:nvSpPr>
          <p:spPr>
            <a:xfrm>
              <a:off x="1040130" y="5991225"/>
              <a:ext cx="708279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一个神经元的全部可调参数就是这一行权值加一个阈值，其余都是固定的运算。</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激活函数一览：各自适合什么场合</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71" name="c1-table-1"/>
          <p:cNvGrpSpPr/>
          <p:nvPr/>
        </p:nvGrpSpPr>
        <p:grpSpPr>
          <a:xfrm>
            <a:off x="533400" y="1524000"/>
            <a:ext cx="11125200" cy="3871912"/>
            <a:chOff x="533400" y="1524000"/>
            <a:chExt cx="11125200" cy="3871912"/>
          </a:xfrm>
        </p:grpSpPr>
        <p:sp>
          <p:nvSpPr>
            <p:cNvPr id="7" name="Rectangle 7"/>
            <p:cNvSpPr/>
            <p:nvPr/>
          </p:nvSpPr>
          <p:spPr>
            <a:xfrm>
              <a:off x="533400" y="1524000"/>
              <a:ext cx="11125200" cy="430530"/>
            </a:xfrm>
            <a:prstGeom prst="rect">
              <a:avLst/>
            </a:prstGeom>
            <a:solidFill>
              <a:srgbClr val="0E7C86"/>
            </a:solidFill>
            <a:ln>
              <a:noFill/>
            </a:ln>
          </p:spPr>
        </p:sp>
        <p:sp>
          <p:nvSpPr>
            <p:cNvPr id="8" name="TextBox 8"/>
            <p:cNvSpPr txBox="1"/>
            <p:nvPr/>
          </p:nvSpPr>
          <p:spPr>
            <a:xfrm>
              <a:off x="136683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名称</a:t>
              </a:r>
            </a:p>
          </p:txBody>
        </p:sp>
        <p:sp>
          <p:nvSpPr>
            <p:cNvPr id="9" name="TextBox 9"/>
            <p:cNvSpPr txBox="1"/>
            <p:nvPr/>
          </p:nvSpPr>
          <p:spPr>
            <a:xfrm>
              <a:off x="3900678"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表达式</a:t>
              </a:r>
            </a:p>
          </p:txBody>
        </p:sp>
        <p:sp>
          <p:nvSpPr>
            <p:cNvPr id="10" name="TextBox 10"/>
            <p:cNvSpPr txBox="1"/>
            <p:nvPr/>
          </p:nvSpPr>
          <p:spPr>
            <a:xfrm>
              <a:off x="642937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值域</a:t>
              </a:r>
            </a:p>
          </p:txBody>
        </p:sp>
        <p:sp>
          <p:nvSpPr>
            <p:cNvPr id="11" name="TextBox 11"/>
            <p:cNvSpPr txBox="1"/>
            <p:nvPr/>
          </p:nvSpPr>
          <p:spPr>
            <a:xfrm>
              <a:off x="782002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可导</a:t>
              </a:r>
            </a:p>
          </p:txBody>
        </p:sp>
        <p:sp>
          <p:nvSpPr>
            <p:cNvPr id="12" name="TextBox 12"/>
            <p:cNvSpPr txBox="1"/>
            <p:nvPr/>
          </p:nvSpPr>
          <p:spPr>
            <a:xfrm>
              <a:off x="9772078" y="165544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典型用处</a:t>
              </a:r>
            </a:p>
          </p:txBody>
        </p:sp>
        <p:sp>
          <p:nvSpPr>
            <p:cNvPr id="13" name="TextBox 13"/>
            <p:cNvSpPr txBox="1"/>
            <p:nvPr/>
          </p:nvSpPr>
          <p:spPr>
            <a:xfrm>
              <a:off x="638746" y="2085022"/>
              <a:ext cx="759333"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阶跃 step</a:t>
              </a:r>
            </a:p>
          </p:txBody>
        </p:sp>
        <p:sp>
          <p:nvSpPr>
            <p:cNvPr id="14" name="TextBox 14"/>
            <p:cNvSpPr txBox="1"/>
            <p:nvPr/>
          </p:nvSpPr>
          <p:spPr>
            <a:xfrm>
              <a:off x="2640902" y="2085022"/>
              <a:ext cx="207187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f(σ) = 1 (σ ≥ 0)，0 (σ &lt; 0)</a:t>
              </a:r>
            </a:p>
          </p:txBody>
        </p:sp>
        <p:sp>
          <p:nvSpPr>
            <p:cNvPr id="15" name="TextBox 15"/>
            <p:cNvSpPr txBox="1"/>
            <p:nvPr/>
          </p:nvSpPr>
          <p:spPr>
            <a:xfrm>
              <a:off x="5867972" y="2085022"/>
              <a:ext cx="456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a:t>
              </a:r>
            </a:p>
          </p:txBody>
        </p:sp>
        <p:sp>
          <p:nvSpPr>
            <p:cNvPr id="16" name="TextBox 16"/>
            <p:cNvSpPr txBox="1"/>
            <p:nvPr/>
          </p:nvSpPr>
          <p:spPr>
            <a:xfrm>
              <a:off x="7536752" y="2085022"/>
              <a:ext cx="173736" cy="234696"/>
            </a:xfrm>
            <a:prstGeom prst="rect">
              <a:avLst/>
            </a:prstGeom>
            <a:noFill/>
            <a:ln>
              <a:noFill/>
            </a:ln>
          </p:spPr>
          <p:txBody>
            <a:bodyPr wrap="none" lIns="0" tIns="0" rIns="0" bIns="0" anchor="t" anchorCtr="0">
              <a:spAutoFit/>
            </a:bodyPr>
            <a:lstStyle/>
            <a:p>
              <a:pPr algn="l"/>
              <a:r>
                <a:rPr lang="zh-CN" sz="1200" dirty="0">
                  <a:solidFill>
                    <a:srgbClr val="B42318"/>
                  </a:solidFill>
                  <a:latin typeface="+mn-lt"/>
                  <a:ea typeface="+mn-ea"/>
                  <a:cs typeface="+mn-cs"/>
                </a:rPr>
                <a:t>否</a:t>
              </a:r>
            </a:p>
          </p:txBody>
        </p:sp>
        <p:sp>
          <p:nvSpPr>
            <p:cNvPr id="17" name="TextBox 17"/>
            <p:cNvSpPr txBox="1"/>
            <p:nvPr/>
          </p:nvSpPr>
          <p:spPr>
            <a:xfrm>
              <a:off x="8649272" y="2085022"/>
              <a:ext cx="231769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M-P 与感知器，不能用梯度下降</a:t>
              </a:r>
            </a:p>
          </p:txBody>
        </p:sp>
        <p:sp>
          <p:nvSpPr>
            <p:cNvPr id="18" name="Rectangle 18"/>
            <p:cNvSpPr/>
            <p:nvPr/>
          </p:nvSpPr>
          <p:spPr>
            <a:xfrm>
              <a:off x="533400" y="2379345"/>
              <a:ext cx="11125200" cy="9525"/>
            </a:xfrm>
            <a:prstGeom prst="rect">
              <a:avLst/>
            </a:prstGeom>
            <a:solidFill>
              <a:srgbClr val="D9DFEA"/>
            </a:solidFill>
            <a:ln>
              <a:noFill/>
            </a:ln>
          </p:spPr>
        </p:sp>
        <p:sp>
          <p:nvSpPr>
            <p:cNvPr id="19" name="Rectangle 19"/>
            <p:cNvSpPr/>
            <p:nvPr/>
          </p:nvSpPr>
          <p:spPr>
            <a:xfrm>
              <a:off x="533400" y="2384108"/>
              <a:ext cx="11125200" cy="430530"/>
            </a:xfrm>
            <a:prstGeom prst="rect">
              <a:avLst/>
            </a:prstGeom>
            <a:solidFill>
              <a:srgbClr val="F4F6FB"/>
            </a:solidFill>
            <a:ln>
              <a:noFill/>
            </a:ln>
          </p:spPr>
        </p:sp>
        <p:sp>
          <p:nvSpPr>
            <p:cNvPr id="20" name="TextBox 20"/>
            <p:cNvSpPr txBox="1"/>
            <p:nvPr/>
          </p:nvSpPr>
          <p:spPr>
            <a:xfrm>
              <a:off x="638746" y="2515552"/>
              <a:ext cx="666041"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符号 sgn</a:t>
              </a:r>
            </a:p>
          </p:txBody>
        </p:sp>
        <p:sp>
          <p:nvSpPr>
            <p:cNvPr id="21" name="TextBox 21"/>
            <p:cNvSpPr txBox="1"/>
            <p:nvPr/>
          </p:nvSpPr>
          <p:spPr>
            <a:xfrm>
              <a:off x="2640902" y="2515552"/>
              <a:ext cx="216072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f(σ) = 1 (σ ≥ 0)，-1 (σ &lt; 0)</a:t>
              </a:r>
            </a:p>
          </p:txBody>
        </p:sp>
        <p:sp>
          <p:nvSpPr>
            <p:cNvPr id="22" name="TextBox 22"/>
            <p:cNvSpPr txBox="1"/>
            <p:nvPr/>
          </p:nvSpPr>
          <p:spPr>
            <a:xfrm>
              <a:off x="5867972" y="2515552"/>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{-1,+1}</a:t>
              </a:r>
            </a:p>
          </p:txBody>
        </p:sp>
        <p:sp>
          <p:nvSpPr>
            <p:cNvPr id="23" name="TextBox 23"/>
            <p:cNvSpPr txBox="1"/>
            <p:nvPr/>
          </p:nvSpPr>
          <p:spPr>
            <a:xfrm>
              <a:off x="7536752" y="2515552"/>
              <a:ext cx="173736" cy="234696"/>
            </a:xfrm>
            <a:prstGeom prst="rect">
              <a:avLst/>
            </a:prstGeom>
            <a:noFill/>
            <a:ln>
              <a:noFill/>
            </a:ln>
          </p:spPr>
          <p:txBody>
            <a:bodyPr wrap="none" lIns="0" tIns="0" rIns="0" bIns="0" anchor="t" anchorCtr="0">
              <a:spAutoFit/>
            </a:bodyPr>
            <a:lstStyle/>
            <a:p>
              <a:pPr algn="l"/>
              <a:r>
                <a:rPr lang="zh-CN" sz="1200" dirty="0">
                  <a:solidFill>
                    <a:srgbClr val="B42318"/>
                  </a:solidFill>
                  <a:latin typeface="+mn-lt"/>
                  <a:ea typeface="+mn-ea"/>
                  <a:cs typeface="+mn-cs"/>
                </a:rPr>
                <a:t>否</a:t>
              </a:r>
            </a:p>
          </p:txBody>
        </p:sp>
        <p:sp>
          <p:nvSpPr>
            <p:cNvPr id="24" name="TextBox 24"/>
            <p:cNvSpPr txBox="1"/>
            <p:nvPr/>
          </p:nvSpPr>
          <p:spPr>
            <a:xfrm>
              <a:off x="8649272" y="2515552"/>
              <a:ext cx="125608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感知器的 ±1 写法</a:t>
              </a:r>
            </a:p>
          </p:txBody>
        </p:sp>
        <p:sp>
          <p:nvSpPr>
            <p:cNvPr id="25" name="Rectangle 25"/>
            <p:cNvSpPr/>
            <p:nvPr/>
          </p:nvSpPr>
          <p:spPr>
            <a:xfrm>
              <a:off x="533400" y="2809875"/>
              <a:ext cx="11125200" cy="9525"/>
            </a:xfrm>
            <a:prstGeom prst="rect">
              <a:avLst/>
            </a:prstGeom>
            <a:solidFill>
              <a:srgbClr val="D9DFEA"/>
            </a:solidFill>
            <a:ln>
              <a:noFill/>
            </a:ln>
          </p:spPr>
        </p:sp>
        <p:sp>
          <p:nvSpPr>
            <p:cNvPr id="26" name="TextBox 26"/>
            <p:cNvSpPr txBox="1"/>
            <p:nvPr/>
          </p:nvSpPr>
          <p:spPr>
            <a:xfrm>
              <a:off x="638746" y="2946082"/>
              <a:ext cx="619216"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Sigmoid</a:t>
              </a:r>
            </a:p>
          </p:txBody>
        </p:sp>
        <p:sp>
          <p:nvSpPr>
            <p:cNvPr id="27" name="TextBox 27"/>
            <p:cNvSpPr txBox="1"/>
            <p:nvPr/>
          </p:nvSpPr>
          <p:spPr>
            <a:xfrm>
              <a:off x="2640902" y="2946082"/>
              <a:ext cx="1635709"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σ(x) = 1 / (1 + e^-x)</a:t>
              </a:r>
            </a:p>
          </p:txBody>
        </p:sp>
        <p:sp>
          <p:nvSpPr>
            <p:cNvPr id="28" name="TextBox 28"/>
            <p:cNvSpPr txBox="1"/>
            <p:nvPr/>
          </p:nvSpPr>
          <p:spPr>
            <a:xfrm>
              <a:off x="5867972" y="2946082"/>
              <a:ext cx="456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a:t>
              </a:r>
            </a:p>
          </p:txBody>
        </p:sp>
        <p:sp>
          <p:nvSpPr>
            <p:cNvPr id="29" name="Rectangle 29"/>
            <p:cNvSpPr/>
            <p:nvPr/>
          </p:nvSpPr>
          <p:spPr>
            <a:xfrm>
              <a:off x="7440930" y="2824162"/>
              <a:ext cx="1093470" cy="411480"/>
            </a:xfrm>
            <a:prstGeom prst="rect">
              <a:avLst/>
            </a:prstGeom>
            <a:solidFill>
              <a:srgbClr val="E3F5F1"/>
            </a:solidFill>
            <a:ln>
              <a:noFill/>
            </a:ln>
          </p:spPr>
        </p:sp>
        <p:sp>
          <p:nvSpPr>
            <p:cNvPr id="30" name="TextBox 30"/>
            <p:cNvSpPr txBox="1"/>
            <p:nvPr/>
          </p:nvSpPr>
          <p:spPr>
            <a:xfrm>
              <a:off x="7536752" y="2946082"/>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31" name="TextBox 31"/>
            <p:cNvSpPr txBox="1"/>
            <p:nvPr/>
          </p:nvSpPr>
          <p:spPr>
            <a:xfrm>
              <a:off x="8649272" y="2946082"/>
              <a:ext cx="186659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输出概率，BP 的经典选择</a:t>
              </a:r>
            </a:p>
          </p:txBody>
        </p:sp>
        <p:sp>
          <p:nvSpPr>
            <p:cNvPr id="32" name="Rectangle 32"/>
            <p:cNvSpPr/>
            <p:nvPr/>
          </p:nvSpPr>
          <p:spPr>
            <a:xfrm>
              <a:off x="533400" y="3239452"/>
              <a:ext cx="11125200" cy="9525"/>
            </a:xfrm>
            <a:prstGeom prst="rect">
              <a:avLst/>
            </a:prstGeom>
            <a:solidFill>
              <a:srgbClr val="D9DFEA"/>
            </a:solidFill>
            <a:ln>
              <a:noFill/>
            </a:ln>
          </p:spPr>
        </p:sp>
        <p:sp>
          <p:nvSpPr>
            <p:cNvPr id="33" name="Rectangle 33"/>
            <p:cNvSpPr/>
            <p:nvPr/>
          </p:nvSpPr>
          <p:spPr>
            <a:xfrm>
              <a:off x="533400" y="3244215"/>
              <a:ext cx="11125200" cy="430530"/>
            </a:xfrm>
            <a:prstGeom prst="rect">
              <a:avLst/>
            </a:prstGeom>
            <a:solidFill>
              <a:srgbClr val="F4F6FB"/>
            </a:solidFill>
            <a:ln>
              <a:noFill/>
            </a:ln>
          </p:spPr>
        </p:sp>
        <p:sp>
          <p:nvSpPr>
            <p:cNvPr id="34" name="TextBox 34"/>
            <p:cNvSpPr txBox="1"/>
            <p:nvPr/>
          </p:nvSpPr>
          <p:spPr>
            <a:xfrm>
              <a:off x="638746" y="3375660"/>
              <a:ext cx="38535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tanh</a:t>
              </a:r>
            </a:p>
          </p:txBody>
        </p:sp>
        <p:sp>
          <p:nvSpPr>
            <p:cNvPr id="35" name="TextBox 35"/>
            <p:cNvSpPr txBox="1"/>
            <p:nvPr/>
          </p:nvSpPr>
          <p:spPr>
            <a:xfrm>
              <a:off x="2640902" y="3375660"/>
              <a:ext cx="242727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tanh(x) = (1-e⁻²x) / (1+e⁻²x)</a:t>
              </a:r>
            </a:p>
          </p:txBody>
        </p:sp>
        <p:sp>
          <p:nvSpPr>
            <p:cNvPr id="36" name="TextBox 36"/>
            <p:cNvSpPr txBox="1"/>
            <p:nvPr/>
          </p:nvSpPr>
          <p:spPr>
            <a:xfrm>
              <a:off x="5867972" y="337566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(-1,1)</a:t>
              </a:r>
            </a:p>
          </p:txBody>
        </p:sp>
        <p:sp>
          <p:nvSpPr>
            <p:cNvPr id="37" name="TextBox 37"/>
            <p:cNvSpPr txBox="1"/>
            <p:nvPr/>
          </p:nvSpPr>
          <p:spPr>
            <a:xfrm>
              <a:off x="7536752" y="3375660"/>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38" name="TextBox 38"/>
            <p:cNvSpPr txBox="1"/>
            <p:nvPr/>
          </p:nvSpPr>
          <p:spPr>
            <a:xfrm>
              <a:off x="8649272" y="3375660"/>
              <a:ext cx="214191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零中心，收敛常比 Sigmoid 快</a:t>
              </a:r>
            </a:p>
          </p:txBody>
        </p:sp>
        <p:sp>
          <p:nvSpPr>
            <p:cNvPr id="39" name="Rectangle 39"/>
            <p:cNvSpPr/>
            <p:nvPr/>
          </p:nvSpPr>
          <p:spPr>
            <a:xfrm>
              <a:off x="533400" y="3669982"/>
              <a:ext cx="11125200" cy="9525"/>
            </a:xfrm>
            <a:prstGeom prst="rect">
              <a:avLst/>
            </a:prstGeom>
            <a:solidFill>
              <a:srgbClr val="D9DFEA"/>
            </a:solidFill>
            <a:ln>
              <a:noFill/>
            </a:ln>
          </p:spPr>
        </p:sp>
        <p:sp>
          <p:nvSpPr>
            <p:cNvPr id="40" name="TextBox 40"/>
            <p:cNvSpPr txBox="1"/>
            <p:nvPr/>
          </p:nvSpPr>
          <p:spPr>
            <a:xfrm>
              <a:off x="638746" y="3806190"/>
              <a:ext cx="40120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ReLU</a:t>
              </a:r>
            </a:p>
          </p:txBody>
        </p:sp>
        <p:sp>
          <p:nvSpPr>
            <p:cNvPr id="41" name="TextBox 41"/>
            <p:cNvSpPr txBox="1"/>
            <p:nvPr/>
          </p:nvSpPr>
          <p:spPr>
            <a:xfrm>
              <a:off x="2640902" y="3806190"/>
              <a:ext cx="80375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max(0, x)</a:t>
              </a:r>
            </a:p>
          </p:txBody>
        </p:sp>
        <p:sp>
          <p:nvSpPr>
            <p:cNvPr id="42" name="TextBox 42"/>
            <p:cNvSpPr txBox="1"/>
            <p:nvPr/>
          </p:nvSpPr>
          <p:spPr>
            <a:xfrm>
              <a:off x="5867972" y="380619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43" name="TextBox 43"/>
            <p:cNvSpPr txBox="1"/>
            <p:nvPr/>
          </p:nvSpPr>
          <p:spPr>
            <a:xfrm>
              <a:off x="7536752" y="3806190"/>
              <a:ext cx="5210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 0 外</a:t>
              </a:r>
            </a:p>
          </p:txBody>
        </p:sp>
        <p:sp>
          <p:nvSpPr>
            <p:cNvPr id="44" name="Rectangle 44"/>
            <p:cNvSpPr/>
            <p:nvPr/>
          </p:nvSpPr>
          <p:spPr>
            <a:xfrm>
              <a:off x="8553450" y="3684270"/>
              <a:ext cx="3095625" cy="411480"/>
            </a:xfrm>
            <a:prstGeom prst="rect">
              <a:avLst/>
            </a:prstGeom>
            <a:solidFill>
              <a:srgbClr val="FDEEE7"/>
            </a:solidFill>
            <a:ln>
              <a:noFill/>
            </a:ln>
          </p:spPr>
        </p:sp>
        <p:sp>
          <p:nvSpPr>
            <p:cNvPr id="45" name="TextBox 45"/>
            <p:cNvSpPr txBox="1"/>
            <p:nvPr/>
          </p:nvSpPr>
          <p:spPr>
            <a:xfrm>
              <a:off x="8649272" y="3806190"/>
              <a:ext cx="259689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深层网络的默认选择，缓解梯度消失</a:t>
              </a:r>
            </a:p>
          </p:txBody>
        </p:sp>
        <p:sp>
          <p:nvSpPr>
            <p:cNvPr id="46" name="Rectangle 46"/>
            <p:cNvSpPr/>
            <p:nvPr/>
          </p:nvSpPr>
          <p:spPr>
            <a:xfrm>
              <a:off x="533400" y="4100512"/>
              <a:ext cx="11125200" cy="9525"/>
            </a:xfrm>
            <a:prstGeom prst="rect">
              <a:avLst/>
            </a:prstGeom>
            <a:solidFill>
              <a:srgbClr val="D9DFEA"/>
            </a:solidFill>
            <a:ln>
              <a:noFill/>
            </a:ln>
          </p:spPr>
        </p:sp>
        <p:sp>
          <p:nvSpPr>
            <p:cNvPr id="47" name="Rectangle 47"/>
            <p:cNvSpPr/>
            <p:nvPr/>
          </p:nvSpPr>
          <p:spPr>
            <a:xfrm>
              <a:off x="533400" y="4105275"/>
              <a:ext cx="11125200" cy="430530"/>
            </a:xfrm>
            <a:prstGeom prst="rect">
              <a:avLst/>
            </a:prstGeom>
            <a:solidFill>
              <a:srgbClr val="F4F6FB"/>
            </a:solidFill>
            <a:ln>
              <a:noFill/>
            </a:ln>
          </p:spPr>
        </p:sp>
        <p:sp>
          <p:nvSpPr>
            <p:cNvPr id="48" name="TextBox 48"/>
            <p:cNvSpPr txBox="1"/>
            <p:nvPr/>
          </p:nvSpPr>
          <p:spPr>
            <a:xfrm>
              <a:off x="638746" y="4235768"/>
              <a:ext cx="925106"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Leaky ReLU</a:t>
              </a:r>
            </a:p>
          </p:txBody>
        </p:sp>
        <p:sp>
          <p:nvSpPr>
            <p:cNvPr id="49" name="TextBox 49"/>
            <p:cNvSpPr txBox="1"/>
            <p:nvPr/>
          </p:nvSpPr>
          <p:spPr>
            <a:xfrm>
              <a:off x="2640902" y="4235768"/>
              <a:ext cx="107030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max(0.1x, x)</a:t>
              </a:r>
            </a:p>
          </p:txBody>
        </p:sp>
        <p:sp>
          <p:nvSpPr>
            <p:cNvPr id="50" name="TextBox 50"/>
            <p:cNvSpPr txBox="1"/>
            <p:nvPr/>
          </p:nvSpPr>
          <p:spPr>
            <a:xfrm>
              <a:off x="5867972" y="4235768"/>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t>
              </a:r>
            </a:p>
          </p:txBody>
        </p:sp>
        <p:sp>
          <p:nvSpPr>
            <p:cNvPr id="51" name="TextBox 51"/>
            <p:cNvSpPr txBox="1"/>
            <p:nvPr/>
          </p:nvSpPr>
          <p:spPr>
            <a:xfrm>
              <a:off x="7536752" y="4235768"/>
              <a:ext cx="5210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 0 外</a:t>
              </a:r>
            </a:p>
          </p:txBody>
        </p:sp>
        <p:sp>
          <p:nvSpPr>
            <p:cNvPr id="52" name="TextBox 52"/>
            <p:cNvSpPr txBox="1"/>
            <p:nvPr/>
          </p:nvSpPr>
          <p:spPr>
            <a:xfrm>
              <a:off x="8649272" y="4235768"/>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避免负半轴神经元完全不更新</a:t>
              </a:r>
            </a:p>
          </p:txBody>
        </p:sp>
        <p:sp>
          <p:nvSpPr>
            <p:cNvPr id="53" name="Rectangle 53"/>
            <p:cNvSpPr/>
            <p:nvPr/>
          </p:nvSpPr>
          <p:spPr>
            <a:xfrm>
              <a:off x="533400" y="4530090"/>
              <a:ext cx="11125200" cy="9525"/>
            </a:xfrm>
            <a:prstGeom prst="rect">
              <a:avLst/>
            </a:prstGeom>
            <a:solidFill>
              <a:srgbClr val="D9DFEA"/>
            </a:solidFill>
            <a:ln>
              <a:noFill/>
            </a:ln>
          </p:spPr>
        </p:sp>
        <p:sp>
          <p:nvSpPr>
            <p:cNvPr id="54" name="TextBox 54"/>
            <p:cNvSpPr txBox="1"/>
            <p:nvPr/>
          </p:nvSpPr>
          <p:spPr>
            <a:xfrm>
              <a:off x="638746" y="4666298"/>
              <a:ext cx="30790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ELU</a:t>
              </a:r>
            </a:p>
          </p:txBody>
        </p:sp>
        <p:sp>
          <p:nvSpPr>
            <p:cNvPr id="55" name="TextBox 55"/>
            <p:cNvSpPr txBox="1"/>
            <p:nvPr/>
          </p:nvSpPr>
          <p:spPr>
            <a:xfrm>
              <a:off x="2640902" y="4666298"/>
              <a:ext cx="216072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x (x ≥ 0)，α(eˣ − 1) (x &lt; 0)</a:t>
              </a:r>
            </a:p>
          </p:txBody>
        </p:sp>
        <p:sp>
          <p:nvSpPr>
            <p:cNvPr id="56" name="TextBox 56"/>
            <p:cNvSpPr txBox="1"/>
            <p:nvPr/>
          </p:nvSpPr>
          <p:spPr>
            <a:xfrm>
              <a:off x="5867972" y="4666298"/>
              <a:ext cx="634136"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(-α,+∞)</a:t>
              </a:r>
            </a:p>
          </p:txBody>
        </p:sp>
        <p:sp>
          <p:nvSpPr>
            <p:cNvPr id="57" name="TextBox 57"/>
            <p:cNvSpPr txBox="1"/>
            <p:nvPr/>
          </p:nvSpPr>
          <p:spPr>
            <a:xfrm>
              <a:off x="7536752" y="4666298"/>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58" name="TextBox 58"/>
            <p:cNvSpPr txBox="1"/>
            <p:nvPr/>
          </p:nvSpPr>
          <p:spPr>
            <a:xfrm>
              <a:off x="8649272" y="4666298"/>
              <a:ext cx="19264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负半轴平滑，均值更接近 0</a:t>
              </a:r>
            </a:p>
          </p:txBody>
        </p:sp>
        <p:sp>
          <p:nvSpPr>
            <p:cNvPr id="59" name="Rectangle 59"/>
            <p:cNvSpPr/>
            <p:nvPr/>
          </p:nvSpPr>
          <p:spPr>
            <a:xfrm>
              <a:off x="533400" y="4960620"/>
              <a:ext cx="11125200" cy="9525"/>
            </a:xfrm>
            <a:prstGeom prst="rect">
              <a:avLst/>
            </a:prstGeom>
            <a:solidFill>
              <a:srgbClr val="D9DFEA"/>
            </a:solidFill>
            <a:ln>
              <a:noFill/>
            </a:ln>
          </p:spPr>
        </p:sp>
        <p:sp>
          <p:nvSpPr>
            <p:cNvPr id="60" name="Rectangle 60"/>
            <p:cNvSpPr/>
            <p:nvPr/>
          </p:nvSpPr>
          <p:spPr>
            <a:xfrm>
              <a:off x="533400" y="4965382"/>
              <a:ext cx="11125200" cy="430530"/>
            </a:xfrm>
            <a:prstGeom prst="rect">
              <a:avLst/>
            </a:prstGeom>
            <a:solidFill>
              <a:srgbClr val="F4F6FB"/>
            </a:solidFill>
            <a:ln>
              <a:noFill/>
            </a:ln>
          </p:spPr>
        </p:sp>
        <p:sp>
          <p:nvSpPr>
            <p:cNvPr id="61" name="TextBox 61"/>
            <p:cNvSpPr txBox="1"/>
            <p:nvPr/>
          </p:nvSpPr>
          <p:spPr>
            <a:xfrm>
              <a:off x="638746" y="5096828"/>
              <a:ext cx="611467"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Maxout</a:t>
              </a:r>
            </a:p>
          </p:txBody>
        </p:sp>
        <p:sp>
          <p:nvSpPr>
            <p:cNvPr id="62" name="TextBox 62"/>
            <p:cNvSpPr txBox="1"/>
            <p:nvPr/>
          </p:nvSpPr>
          <p:spPr>
            <a:xfrm>
              <a:off x="2640902" y="5096828"/>
              <a:ext cx="212841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max(w₁ᵀx + b₁, w₂ᵀx + b₂)</a:t>
              </a:r>
            </a:p>
          </p:txBody>
        </p:sp>
        <p:sp>
          <p:nvSpPr>
            <p:cNvPr id="63" name="TextBox 63"/>
            <p:cNvSpPr txBox="1"/>
            <p:nvPr/>
          </p:nvSpPr>
          <p:spPr>
            <a:xfrm>
              <a:off x="5867972" y="5096828"/>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分段线性</a:t>
              </a:r>
            </a:p>
          </p:txBody>
        </p:sp>
        <p:sp>
          <p:nvSpPr>
            <p:cNvPr id="64" name="TextBox 64"/>
            <p:cNvSpPr txBox="1"/>
            <p:nvPr/>
          </p:nvSpPr>
          <p:spPr>
            <a:xfrm>
              <a:off x="7536752" y="5096828"/>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除折点外</a:t>
              </a:r>
            </a:p>
          </p:txBody>
        </p:sp>
        <p:sp>
          <p:nvSpPr>
            <p:cNvPr id="65" name="TextBox 65"/>
            <p:cNvSpPr txBox="1"/>
            <p:nvPr/>
          </p:nvSpPr>
          <p:spPr>
            <a:xfrm>
              <a:off x="8649272" y="5096828"/>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激活函数本身也被学出来</a:t>
              </a:r>
            </a:p>
          </p:txBody>
        </p:sp>
        <p:sp>
          <p:nvSpPr>
            <p:cNvPr id="66" name="Rectangle 66"/>
            <p:cNvSpPr/>
            <p:nvPr/>
          </p:nvSpPr>
          <p:spPr>
            <a:xfrm>
              <a:off x="533400" y="1524000"/>
              <a:ext cx="11125200" cy="3870960"/>
            </a:xfrm>
            <a:prstGeom prst="rect">
              <a:avLst/>
            </a:prstGeom>
            <a:noFill/>
            <a:ln w="14288">
              <a:solidFill>
                <a:srgbClr val="D9DFEA"/>
              </a:solidFill>
            </a:ln>
          </p:spPr>
        </p:sp>
        <p:sp>
          <p:nvSpPr>
            <p:cNvPr id="67" name="Rectangle 67"/>
            <p:cNvSpPr/>
            <p:nvPr/>
          </p:nvSpPr>
          <p:spPr>
            <a:xfrm>
              <a:off x="2530792" y="1524000"/>
              <a:ext cx="9525" cy="3870960"/>
            </a:xfrm>
            <a:prstGeom prst="rect">
              <a:avLst/>
            </a:prstGeom>
            <a:solidFill>
              <a:srgbClr val="D9DFEA"/>
            </a:solidFill>
            <a:ln>
              <a:noFill/>
            </a:ln>
          </p:spPr>
        </p:sp>
        <p:sp>
          <p:nvSpPr>
            <p:cNvPr id="68" name="Rectangle 68"/>
            <p:cNvSpPr/>
            <p:nvPr/>
          </p:nvSpPr>
          <p:spPr>
            <a:xfrm>
              <a:off x="5757862" y="1524000"/>
              <a:ext cx="9525" cy="3870960"/>
            </a:xfrm>
            <a:prstGeom prst="rect">
              <a:avLst/>
            </a:prstGeom>
            <a:solidFill>
              <a:srgbClr val="D9DFEA"/>
            </a:solidFill>
            <a:ln>
              <a:noFill/>
            </a:ln>
          </p:spPr>
        </p:sp>
        <p:sp>
          <p:nvSpPr>
            <p:cNvPr id="69" name="Rectangle 69"/>
            <p:cNvSpPr/>
            <p:nvPr/>
          </p:nvSpPr>
          <p:spPr>
            <a:xfrm>
              <a:off x="7426642" y="1524000"/>
              <a:ext cx="9525" cy="3870960"/>
            </a:xfrm>
            <a:prstGeom prst="rect">
              <a:avLst/>
            </a:prstGeom>
            <a:solidFill>
              <a:srgbClr val="D9DFEA"/>
            </a:solidFill>
            <a:ln>
              <a:noFill/>
            </a:ln>
          </p:spPr>
        </p:sp>
        <p:sp>
          <p:nvSpPr>
            <p:cNvPr id="70" name="Rectangle 70"/>
            <p:cNvSpPr/>
            <p:nvPr/>
          </p:nvSpPr>
          <p:spPr>
            <a:xfrm>
              <a:off x="8539162" y="1524000"/>
              <a:ext cx="9525" cy="3870960"/>
            </a:xfrm>
            <a:prstGeom prst="rect">
              <a:avLst/>
            </a:prstGeom>
            <a:solidFill>
              <a:srgbClr val="D9DFEA"/>
            </a:solidFill>
            <a:ln>
              <a:noFill/>
            </a:ln>
          </p:spPr>
        </p:sp>
      </p:grpSp>
      <p:grpSp>
        <p:nvGrpSpPr>
          <p:cNvPr id="77" name="c1-callout-2"/>
          <p:cNvGrpSpPr/>
          <p:nvPr/>
        </p:nvGrpSpPr>
        <p:grpSpPr>
          <a:xfrm>
            <a:off x="533400" y="5580698"/>
            <a:ext cx="11125200" cy="782002"/>
            <a:chOff x="533400" y="5580698"/>
            <a:chExt cx="11125200" cy="782002"/>
          </a:xfrm>
        </p:grpSpPr>
        <p:sp>
          <p:nvSpPr>
            <p:cNvPr id="72" name="Rectangle 72"/>
            <p:cNvSpPr/>
            <p:nvPr/>
          </p:nvSpPr>
          <p:spPr>
            <a:xfrm>
              <a:off x="533400" y="5580698"/>
              <a:ext cx="11125200" cy="782002"/>
            </a:xfrm>
            <a:prstGeom prst="roundRect">
              <a:avLst>
                <a:gd name="adj" fmla="val 14616"/>
              </a:avLst>
            </a:prstGeom>
            <a:solidFill>
              <a:srgbClr val="0E7C86"/>
            </a:solidFill>
            <a:ln>
              <a:noFill/>
            </a:ln>
          </p:spPr>
        </p:sp>
        <p:grpSp>
          <p:nvGrpSpPr>
            <p:cNvPr id="75" name="Group 75"/>
            <p:cNvGrpSpPr/>
            <p:nvPr/>
          </p:nvGrpSpPr>
          <p:grpSpPr>
            <a:xfrm>
              <a:off x="738188" y="5871212"/>
              <a:ext cx="200023" cy="200023"/>
              <a:chOff x="738188" y="5871212"/>
              <a:chExt cx="200023" cy="200023"/>
            </a:xfrm>
          </p:grpSpPr>
          <p:sp>
            <p:nvSpPr>
              <p:cNvPr id="73" name="Freeform 73"/>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4" name="Freeform 74"/>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6" name="TextBox 76"/>
            <p:cNvSpPr txBox="1"/>
            <p:nvPr/>
          </p:nvSpPr>
          <p:spPr>
            <a:xfrm>
              <a:off x="1040511" y="5741194"/>
              <a:ext cx="9888093"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挑选顺序：隐层先试 ReLU；需要输出落在 (0,1) 时输出层用 Sigmoid；要手推 BP 公式时用 Sigmoid，因为 σ'(v) = σ(v)[1</a:t>
              </a:r>
              <a:br/>
              <a:r>
                <a:rPr lang="zh-CN" sz="1420" dirty="0">
                  <a:solidFill>
                    <a:srgbClr val="FFFFFF"/>
                  </a:solidFill>
                  <a:latin typeface="+mn-lt"/>
                  <a:ea typeface="+mn-ea"/>
                  <a:cs typeface="+mn-cs"/>
                </a:rPr>
                <a:t>− σ(v)] 不用另算。</a:t>
              </a:r>
            </a:p>
          </p:txBody>
        </p:sp>
      </p:grpSp>
      <p:grpSp>
        <p:nvGrpSpPr>
          <p:cNvPr id="80" name="footer"/>
          <p:cNvGrpSpPr/>
          <p:nvPr/>
        </p:nvGrpSpPr>
        <p:grpSpPr>
          <a:xfrm>
            <a:off x="528447" y="6581299"/>
            <a:ext cx="11135106" cy="190690"/>
            <a:chOff x="528447" y="6581299"/>
            <a:chExt cx="11135106" cy="190690"/>
          </a:xfrm>
        </p:grpSpPr>
        <p:sp>
          <p:nvSpPr>
            <p:cNvPr id="78" name="TextBox 78"/>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9" name="TextBox 7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421638" cy="909257"/>
            <a:chOff x="520446" y="342900"/>
            <a:chExt cx="5421638"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4216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例题：用 M-P 神经元搭出布尔逻辑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066005" cy="264033"/>
            <a:chOff x="526542" y="1545907"/>
            <a:chExt cx="5066005" cy="264033"/>
          </a:xfrm>
        </p:grpSpPr>
        <p:sp>
          <p:nvSpPr>
            <p:cNvPr id="7" name="TextBox 7"/>
            <p:cNvSpPr txBox="1"/>
            <p:nvPr/>
          </p:nvSpPr>
          <p:spPr>
            <a:xfrm>
              <a:off x="526542" y="1545907"/>
              <a:ext cx="506600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取阈值 θ，兴奋性输入权为 1，抑制性输入走“一票否决”通道。</a:t>
              </a:r>
            </a:p>
          </p:txBody>
        </p:sp>
      </p:grpSp>
      <p:grpSp>
        <p:nvGrpSpPr>
          <p:cNvPr id="36" name="c1-table-1"/>
          <p:cNvGrpSpPr/>
          <p:nvPr/>
        </p:nvGrpSpPr>
        <p:grpSpPr>
          <a:xfrm>
            <a:off x="528447" y="1928812"/>
            <a:ext cx="5415153" cy="2162842"/>
            <a:chOff x="528447" y="1928812"/>
            <a:chExt cx="5415153" cy="2162842"/>
          </a:xfrm>
        </p:grpSpPr>
        <p:sp>
          <p:nvSpPr>
            <p:cNvPr id="9" name="Rectangle 9"/>
            <p:cNvSpPr/>
            <p:nvPr/>
          </p:nvSpPr>
          <p:spPr>
            <a:xfrm>
              <a:off x="533400" y="1928812"/>
              <a:ext cx="5410200" cy="381000"/>
            </a:xfrm>
            <a:prstGeom prst="rect">
              <a:avLst/>
            </a:prstGeom>
            <a:solidFill>
              <a:srgbClr val="0E7C86"/>
            </a:solidFill>
            <a:ln>
              <a:noFill/>
            </a:ln>
          </p:spPr>
        </p:sp>
        <p:sp>
          <p:nvSpPr>
            <p:cNvPr id="10" name="TextBox 10"/>
            <p:cNvSpPr txBox="1"/>
            <p:nvPr/>
          </p:nvSpPr>
          <p:spPr>
            <a:xfrm>
              <a:off x="927735"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目标</a:t>
              </a:r>
            </a:p>
          </p:txBody>
        </p:sp>
        <p:sp>
          <p:nvSpPr>
            <p:cNvPr id="11" name="TextBox 11"/>
            <p:cNvSpPr txBox="1"/>
            <p:nvPr/>
          </p:nvSpPr>
          <p:spPr>
            <a:xfrm>
              <a:off x="1838112" y="2045970"/>
              <a:ext cx="41952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阈值 θ</a:t>
              </a:r>
            </a:p>
          </p:txBody>
        </p:sp>
        <p:sp>
          <p:nvSpPr>
            <p:cNvPr id="12" name="TextBox 12"/>
            <p:cNvSpPr txBox="1"/>
            <p:nvPr/>
          </p:nvSpPr>
          <p:spPr>
            <a:xfrm>
              <a:off x="3004756" y="20459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输入接法</a:t>
              </a:r>
            </a:p>
          </p:txBody>
        </p:sp>
        <p:sp>
          <p:nvSpPr>
            <p:cNvPr id="13" name="TextBox 13"/>
            <p:cNvSpPr txBox="1"/>
            <p:nvPr/>
          </p:nvSpPr>
          <p:spPr>
            <a:xfrm>
              <a:off x="4876800"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验算</a:t>
              </a:r>
            </a:p>
          </p:txBody>
        </p:sp>
        <p:sp>
          <p:nvSpPr>
            <p:cNvPr id="14" name="TextBox 14"/>
            <p:cNvSpPr txBox="1"/>
            <p:nvPr/>
          </p:nvSpPr>
          <p:spPr>
            <a:xfrm>
              <a:off x="628078" y="2520315"/>
              <a:ext cx="802607"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 ∨ X₂</a:t>
              </a:r>
            </a:p>
          </p:txBody>
        </p:sp>
        <p:sp>
          <p:nvSpPr>
            <p:cNvPr id="15" name="Rectangle 15"/>
            <p:cNvSpPr/>
            <p:nvPr/>
          </p:nvSpPr>
          <p:spPr>
            <a:xfrm>
              <a:off x="1624965" y="2319338"/>
              <a:ext cx="846772" cy="548640"/>
            </a:xfrm>
            <a:prstGeom prst="rect">
              <a:avLst/>
            </a:prstGeom>
            <a:solidFill>
              <a:srgbClr val="FDEEE7"/>
            </a:solidFill>
            <a:ln>
              <a:noFill/>
            </a:ln>
          </p:spPr>
        </p:sp>
        <p:sp>
          <p:nvSpPr>
            <p:cNvPr id="16" name="TextBox 16"/>
            <p:cNvSpPr txBox="1"/>
            <p:nvPr/>
          </p:nvSpPr>
          <p:spPr>
            <a:xfrm>
              <a:off x="1710118" y="252031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17" name="TextBox 17"/>
            <p:cNvSpPr txBox="1"/>
            <p:nvPr/>
          </p:nvSpPr>
          <p:spPr>
            <a:xfrm>
              <a:off x="2575941" y="252031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两路都接兴奋性输入</a:t>
              </a:r>
            </a:p>
          </p:txBody>
        </p:sp>
        <p:sp>
          <p:nvSpPr>
            <p:cNvPr id="18" name="TextBox 18"/>
            <p:cNvSpPr txBox="1"/>
            <p:nvPr/>
          </p:nvSpPr>
          <p:spPr>
            <a:xfrm>
              <a:off x="4199001" y="2426970"/>
              <a:ext cx="143751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只要有一个为 1，和就 ≥</a:t>
              </a:r>
              <a:br/>
              <a:r>
                <a:rPr lang="zh-CN" sz="1050" dirty="0">
                  <a:solidFill>
                    <a:srgbClr val="1F2937"/>
                  </a:solidFill>
                  <a:latin typeface="+mn-lt"/>
                  <a:ea typeface="+mn-ea"/>
                  <a:cs typeface="+mn-cs"/>
                </a:rPr>
                <a:t>1</a:t>
              </a:r>
            </a:p>
          </p:txBody>
        </p:sp>
        <p:sp>
          <p:nvSpPr>
            <p:cNvPr id="19" name="Rectangle 19"/>
            <p:cNvSpPr/>
            <p:nvPr/>
          </p:nvSpPr>
          <p:spPr>
            <a:xfrm>
              <a:off x="533400" y="2873692"/>
              <a:ext cx="5410200" cy="9525"/>
            </a:xfrm>
            <a:prstGeom prst="rect">
              <a:avLst/>
            </a:prstGeom>
            <a:solidFill>
              <a:srgbClr val="D9DFEA"/>
            </a:solidFill>
            <a:ln>
              <a:noFill/>
            </a:ln>
          </p:spPr>
        </p:sp>
        <p:sp>
          <p:nvSpPr>
            <p:cNvPr id="20" name="Rectangle 20"/>
            <p:cNvSpPr/>
            <p:nvPr/>
          </p:nvSpPr>
          <p:spPr>
            <a:xfrm>
              <a:off x="533400" y="2878455"/>
              <a:ext cx="5410200" cy="381000"/>
            </a:xfrm>
            <a:prstGeom prst="rect">
              <a:avLst/>
            </a:prstGeom>
            <a:solidFill>
              <a:srgbClr val="F4F6FB"/>
            </a:solidFill>
            <a:ln>
              <a:noFill/>
            </a:ln>
          </p:spPr>
        </p:sp>
        <p:sp>
          <p:nvSpPr>
            <p:cNvPr id="21" name="TextBox 21"/>
            <p:cNvSpPr txBox="1"/>
            <p:nvPr/>
          </p:nvSpPr>
          <p:spPr>
            <a:xfrm>
              <a:off x="628078" y="2995612"/>
              <a:ext cx="802607"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 ∧ X₂</a:t>
              </a:r>
            </a:p>
          </p:txBody>
        </p:sp>
        <p:sp>
          <p:nvSpPr>
            <p:cNvPr id="22" name="Rectangle 22"/>
            <p:cNvSpPr/>
            <p:nvPr/>
          </p:nvSpPr>
          <p:spPr>
            <a:xfrm>
              <a:off x="1624965" y="2887980"/>
              <a:ext cx="846772" cy="361950"/>
            </a:xfrm>
            <a:prstGeom prst="rect">
              <a:avLst/>
            </a:prstGeom>
            <a:solidFill>
              <a:srgbClr val="FDEEE7"/>
            </a:solidFill>
            <a:ln>
              <a:noFill/>
            </a:ln>
          </p:spPr>
        </p:sp>
        <p:sp>
          <p:nvSpPr>
            <p:cNvPr id="23" name="TextBox 23"/>
            <p:cNvSpPr txBox="1"/>
            <p:nvPr/>
          </p:nvSpPr>
          <p:spPr>
            <a:xfrm>
              <a:off x="1710118" y="2995612"/>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24" name="TextBox 24"/>
            <p:cNvSpPr txBox="1"/>
            <p:nvPr/>
          </p:nvSpPr>
          <p:spPr>
            <a:xfrm>
              <a:off x="2575941" y="2995612"/>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两路都接兴奋性输入</a:t>
              </a:r>
            </a:p>
          </p:txBody>
        </p:sp>
        <p:sp>
          <p:nvSpPr>
            <p:cNvPr id="25" name="TextBox 25"/>
            <p:cNvSpPr txBox="1"/>
            <p:nvPr/>
          </p:nvSpPr>
          <p:spPr>
            <a:xfrm>
              <a:off x="4199001" y="2995612"/>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两个都为 1 时和才等于 2</a:t>
              </a:r>
            </a:p>
          </p:txBody>
        </p:sp>
        <p:sp>
          <p:nvSpPr>
            <p:cNvPr id="26" name="Rectangle 26"/>
            <p:cNvSpPr/>
            <p:nvPr/>
          </p:nvSpPr>
          <p:spPr>
            <a:xfrm>
              <a:off x="533400" y="3254692"/>
              <a:ext cx="5410200" cy="9525"/>
            </a:xfrm>
            <a:prstGeom prst="rect">
              <a:avLst/>
            </a:prstGeom>
            <a:solidFill>
              <a:srgbClr val="D9DFEA"/>
            </a:solidFill>
            <a:ln>
              <a:noFill/>
            </a:ln>
          </p:spPr>
        </p:sp>
        <p:sp>
          <p:nvSpPr>
            <p:cNvPr id="27" name="TextBox 27"/>
            <p:cNvSpPr txBox="1"/>
            <p:nvPr/>
          </p:nvSpPr>
          <p:spPr>
            <a:xfrm>
              <a:off x="628078" y="3469958"/>
              <a:ext cx="53601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a:t>
              </a:r>
            </a:p>
          </p:txBody>
        </p:sp>
        <p:sp>
          <p:nvSpPr>
            <p:cNvPr id="28" name="TextBox 28"/>
            <p:cNvSpPr txBox="1"/>
            <p:nvPr/>
          </p:nvSpPr>
          <p:spPr>
            <a:xfrm>
              <a:off x="1710118" y="346995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29" name="TextBox 29"/>
            <p:cNvSpPr txBox="1"/>
            <p:nvPr/>
          </p:nvSpPr>
          <p:spPr>
            <a:xfrm>
              <a:off x="2575941" y="3469958"/>
              <a:ext cx="10678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X₁ 接抑制性输入</a:t>
              </a:r>
            </a:p>
          </p:txBody>
        </p:sp>
        <p:sp>
          <p:nvSpPr>
            <p:cNvPr id="30" name="TextBox 30"/>
            <p:cNvSpPr txBox="1"/>
            <p:nvPr/>
          </p:nvSpPr>
          <p:spPr>
            <a:xfrm>
              <a:off x="4199001" y="3376612"/>
              <a:ext cx="1390840"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X₁=1 时被否决输出 0；</a:t>
              </a:r>
              <a:br/>
              <a:r>
                <a:rPr lang="zh-CN" sz="1050" dirty="0">
                  <a:solidFill>
                    <a:srgbClr val="1F2937"/>
                  </a:solidFill>
                  <a:latin typeface="+mn-lt"/>
                  <a:ea typeface="+mn-ea"/>
                  <a:cs typeface="+mn-cs"/>
                </a:rPr>
                <a:t>X₁=0 时和 0 ≥ 0 输出 1</a:t>
              </a:r>
            </a:p>
          </p:txBody>
        </p:sp>
        <p:sp>
          <p:nvSpPr>
            <p:cNvPr id="31" name="Rectangle 31"/>
            <p:cNvSpPr/>
            <p:nvPr/>
          </p:nvSpPr>
          <p:spPr>
            <a:xfrm>
              <a:off x="533400" y="1928812"/>
              <a:ext cx="5410200" cy="1899285"/>
            </a:xfrm>
            <a:prstGeom prst="rect">
              <a:avLst/>
            </a:prstGeom>
            <a:noFill/>
            <a:ln w="14288">
              <a:solidFill>
                <a:srgbClr val="D9DFEA"/>
              </a:solidFill>
            </a:ln>
          </p:spPr>
        </p:sp>
        <p:sp>
          <p:nvSpPr>
            <p:cNvPr id="32" name="Rectangle 32"/>
            <p:cNvSpPr/>
            <p:nvPr/>
          </p:nvSpPr>
          <p:spPr>
            <a:xfrm>
              <a:off x="1610678" y="1928812"/>
              <a:ext cx="9525" cy="1899285"/>
            </a:xfrm>
            <a:prstGeom prst="rect">
              <a:avLst/>
            </a:prstGeom>
            <a:solidFill>
              <a:srgbClr val="D9DFEA"/>
            </a:solidFill>
            <a:ln>
              <a:noFill/>
            </a:ln>
          </p:spPr>
        </p:sp>
        <p:sp>
          <p:nvSpPr>
            <p:cNvPr id="33" name="Rectangle 33"/>
            <p:cNvSpPr/>
            <p:nvPr/>
          </p:nvSpPr>
          <p:spPr>
            <a:xfrm>
              <a:off x="2476500" y="1928812"/>
              <a:ext cx="9525" cy="1899285"/>
            </a:xfrm>
            <a:prstGeom prst="rect">
              <a:avLst/>
            </a:prstGeom>
            <a:solidFill>
              <a:srgbClr val="D9DFEA"/>
            </a:solidFill>
            <a:ln>
              <a:noFill/>
            </a:ln>
          </p:spPr>
        </p:sp>
        <p:sp>
          <p:nvSpPr>
            <p:cNvPr id="34" name="Rectangle 34"/>
            <p:cNvSpPr/>
            <p:nvPr/>
          </p:nvSpPr>
          <p:spPr>
            <a:xfrm>
              <a:off x="4099560" y="1928812"/>
              <a:ext cx="9525" cy="1899285"/>
            </a:xfrm>
            <a:prstGeom prst="rect">
              <a:avLst/>
            </a:prstGeom>
            <a:solidFill>
              <a:srgbClr val="D9DFEA"/>
            </a:solidFill>
            <a:ln>
              <a:noFill/>
            </a:ln>
          </p:spPr>
        </p:sp>
        <p:sp>
          <p:nvSpPr>
            <p:cNvPr id="35" name="TextBox 35"/>
            <p:cNvSpPr txBox="1"/>
            <p:nvPr/>
          </p:nvSpPr>
          <p:spPr>
            <a:xfrm>
              <a:off x="528447" y="3900964"/>
              <a:ext cx="93339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二元逻辑的实现</a:t>
              </a:r>
            </a:p>
          </p:txBody>
        </p:sp>
      </p:grpSp>
      <p:grpSp>
        <p:nvGrpSpPr>
          <p:cNvPr id="44" name="c1-card-2"/>
          <p:cNvGrpSpPr/>
          <p:nvPr/>
        </p:nvGrpSpPr>
        <p:grpSpPr>
          <a:xfrm>
            <a:off x="533400" y="4217670"/>
            <a:ext cx="5410200" cy="1368742"/>
            <a:chOff x="533400" y="4217670"/>
            <a:chExt cx="5410200" cy="1368742"/>
          </a:xfrm>
        </p:grpSpPr>
        <p:sp>
          <p:nvSpPr>
            <p:cNvPr id="37" name="Rectangle 37"/>
            <p:cNvSpPr/>
            <p:nvPr/>
          </p:nvSpPr>
          <p:spPr>
            <a:xfrm>
              <a:off x="533400" y="4217670"/>
              <a:ext cx="5410200" cy="1368742"/>
            </a:xfrm>
            <a:prstGeom prst="roundRect">
              <a:avLst>
                <a:gd name="adj" fmla="val 9743"/>
              </a:avLst>
            </a:prstGeom>
            <a:solidFill>
              <a:srgbClr val="FFFFFF"/>
            </a:solidFill>
            <a:ln w="14288">
              <a:solidFill>
                <a:srgbClr val="D9DFEA"/>
              </a:solidFill>
            </a:ln>
          </p:spPr>
        </p:sp>
        <p:sp>
          <p:nvSpPr>
            <p:cNvPr id="38" name="Rectangle 38"/>
            <p:cNvSpPr/>
            <p:nvPr/>
          </p:nvSpPr>
          <p:spPr>
            <a:xfrm>
              <a:off x="542925" y="4351020"/>
              <a:ext cx="47625" cy="1102042"/>
            </a:xfrm>
            <a:prstGeom prst="roundRect">
              <a:avLst>
                <a:gd name="adj" fmla="val 50000"/>
              </a:avLst>
            </a:prstGeom>
            <a:solidFill>
              <a:srgbClr val="14A38B"/>
            </a:solidFill>
            <a:ln>
              <a:noFill/>
            </a:ln>
          </p:spPr>
        </p:sp>
        <p:sp>
          <p:nvSpPr>
            <p:cNvPr id="39" name="Rectangle 39"/>
            <p:cNvSpPr/>
            <p:nvPr/>
          </p:nvSpPr>
          <p:spPr>
            <a:xfrm>
              <a:off x="752475" y="4398645"/>
              <a:ext cx="334328" cy="238125"/>
            </a:xfrm>
            <a:prstGeom prst="roundRect">
              <a:avLst>
                <a:gd name="adj" fmla="val 50000"/>
              </a:avLst>
            </a:prstGeom>
            <a:solidFill>
              <a:srgbClr val="E3F5F1"/>
            </a:solidFill>
            <a:ln>
              <a:noFill/>
            </a:ln>
          </p:spPr>
        </p:sp>
        <p:sp>
          <p:nvSpPr>
            <p:cNvPr id="40" name="TextBox 40"/>
            <p:cNvSpPr txBox="1"/>
            <p:nvPr/>
          </p:nvSpPr>
          <p:spPr>
            <a:xfrm>
              <a:off x="848246" y="4431506"/>
              <a:ext cx="141834"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例</a:t>
              </a:r>
            </a:p>
          </p:txBody>
        </p:sp>
        <p:sp>
          <p:nvSpPr>
            <p:cNvPr id="41" name="TextBox 41"/>
            <p:cNvSpPr txBox="1"/>
            <p:nvPr/>
          </p:nvSpPr>
          <p:spPr>
            <a:xfrm>
              <a:off x="1194625" y="4438174"/>
              <a:ext cx="217678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三元小项 y = x₁ ∧ ¬x₂ ∧ x₃</a:t>
              </a:r>
            </a:p>
          </p:txBody>
        </p:sp>
        <p:sp>
          <p:nvSpPr>
            <p:cNvPr id="42" name="TextBox 42"/>
            <p:cNvSpPr txBox="1"/>
            <p:nvPr/>
          </p:nvSpPr>
          <p:spPr>
            <a:xfrm>
              <a:off x="745998" y="4755356"/>
              <a:ext cx="471711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x₁、x₃ 接兴奋性输入权各为 1，x₂ 接抑制性输入，取 θ = 2。</a:t>
              </a:r>
            </a:p>
          </p:txBody>
        </p:sp>
        <p:sp>
          <p:nvSpPr>
            <p:cNvPr id="43" name="TextBox 43"/>
            <p:cNvSpPr txBox="1"/>
            <p:nvPr/>
          </p:nvSpPr>
          <p:spPr>
            <a:xfrm>
              <a:off x="747141" y="5036820"/>
              <a:ext cx="4724590"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验算：只有 x₁=1、x₃=1 且 x₂=0 时兴奋和为 2 ≥ θ 且抑制和为 0，输出 1；其余</a:t>
              </a:r>
              <a:br/>
              <a:r>
                <a:rPr lang="zh-CN" sz="1050" dirty="0">
                  <a:solidFill>
                    <a:srgbClr val="5B6475"/>
                  </a:solidFill>
                  <a:latin typeface="+mn-lt"/>
                  <a:ea typeface="+mn-ea"/>
                  <a:cs typeface="+mn-cs"/>
                </a:rPr>
                <a:t>七种组合要么兴奋和 &lt; 2，要么被 x₂ 否决。</a:t>
              </a:r>
            </a:p>
          </p:txBody>
        </p:sp>
      </p:grpSp>
      <p:grpSp>
        <p:nvGrpSpPr>
          <p:cNvPr id="98" name="c2-table-1"/>
          <p:cNvGrpSpPr/>
          <p:nvPr/>
        </p:nvGrpSpPr>
        <p:grpSpPr>
          <a:xfrm>
            <a:off x="6243447" y="1928812"/>
            <a:ext cx="5415153" cy="3696367"/>
            <a:chOff x="6243447" y="1928812"/>
            <a:chExt cx="5415153" cy="3696367"/>
          </a:xfrm>
        </p:grpSpPr>
        <p:sp>
          <p:nvSpPr>
            <p:cNvPr id="45" name="Rectangle 45"/>
            <p:cNvSpPr/>
            <p:nvPr/>
          </p:nvSpPr>
          <p:spPr>
            <a:xfrm>
              <a:off x="6248400" y="1928812"/>
              <a:ext cx="5410200" cy="381000"/>
            </a:xfrm>
            <a:prstGeom prst="rect">
              <a:avLst/>
            </a:prstGeom>
            <a:solidFill>
              <a:srgbClr val="0E7C86"/>
            </a:solidFill>
            <a:ln>
              <a:noFill/>
            </a:ln>
          </p:spPr>
        </p:sp>
        <p:sp>
          <p:nvSpPr>
            <p:cNvPr id="46" name="TextBox 46"/>
            <p:cNvSpPr txBox="1"/>
            <p:nvPr/>
          </p:nvSpPr>
          <p:spPr>
            <a:xfrm>
              <a:off x="7021830"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小项</a:t>
              </a:r>
            </a:p>
          </p:txBody>
        </p:sp>
        <p:sp>
          <p:nvSpPr>
            <p:cNvPr id="47" name="TextBox 47"/>
            <p:cNvSpPr txBox="1"/>
            <p:nvPr/>
          </p:nvSpPr>
          <p:spPr>
            <a:xfrm>
              <a:off x="8432864"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兴奋性输入</a:t>
              </a:r>
            </a:p>
          </p:txBody>
        </p:sp>
        <p:sp>
          <p:nvSpPr>
            <p:cNvPr id="48" name="TextBox 48"/>
            <p:cNvSpPr txBox="1"/>
            <p:nvPr/>
          </p:nvSpPr>
          <p:spPr>
            <a:xfrm>
              <a:off x="9838754"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抑制性输入</a:t>
              </a:r>
            </a:p>
          </p:txBody>
        </p:sp>
        <p:sp>
          <p:nvSpPr>
            <p:cNvPr id="49" name="TextBox 49"/>
            <p:cNvSpPr txBox="1"/>
            <p:nvPr/>
          </p:nvSpPr>
          <p:spPr>
            <a:xfrm>
              <a:off x="11233356" y="2045970"/>
              <a:ext cx="92298" cy="205359"/>
            </a:xfrm>
            <a:prstGeom prst="rect">
              <a:avLst/>
            </a:prstGeom>
            <a:noFill/>
            <a:ln>
              <a:noFill/>
            </a:ln>
          </p:spPr>
          <p:txBody>
            <a:bodyPr wrap="none" lIns="0" tIns="0" rIns="0" bIns="0" anchor="t" anchorCtr="0">
              <a:spAutoFit/>
            </a:bodyPr>
            <a:lstStyle/>
            <a:p>
              <a:pPr algn="ctr"/>
              <a:r>
                <a:rPr lang="el-GR" sz="1050" b="1" dirty="0">
                  <a:solidFill>
                    <a:srgbClr val="FFFFFF"/>
                  </a:solidFill>
                  <a:latin typeface="+mn-lt"/>
                  <a:ea typeface="+mn-ea"/>
                  <a:cs typeface="+mn-cs"/>
                </a:rPr>
                <a:t>θ</a:t>
              </a:r>
            </a:p>
          </p:txBody>
        </p:sp>
        <p:sp>
          <p:nvSpPr>
            <p:cNvPr id="50" name="TextBox 50"/>
            <p:cNvSpPr txBox="1"/>
            <p:nvPr/>
          </p:nvSpPr>
          <p:spPr>
            <a:xfrm>
              <a:off x="6343079" y="2426970"/>
              <a:ext cx="50044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51" name="TextBox 51"/>
            <p:cNvSpPr txBox="1"/>
            <p:nvPr/>
          </p:nvSpPr>
          <p:spPr>
            <a:xfrm>
              <a:off x="8182356" y="2426970"/>
              <a:ext cx="561937"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 x₃</a:t>
              </a:r>
            </a:p>
          </p:txBody>
        </p:sp>
        <p:sp>
          <p:nvSpPr>
            <p:cNvPr id="52" name="TextBox 52"/>
            <p:cNvSpPr txBox="1"/>
            <p:nvPr/>
          </p:nvSpPr>
          <p:spPr>
            <a:xfrm>
              <a:off x="9589198" y="2426970"/>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无</a:t>
              </a:r>
            </a:p>
          </p:txBody>
        </p:sp>
        <p:sp>
          <p:nvSpPr>
            <p:cNvPr id="53" name="TextBox 53"/>
            <p:cNvSpPr txBox="1"/>
            <p:nvPr/>
          </p:nvSpPr>
          <p:spPr>
            <a:xfrm>
              <a:off x="10996041" y="2426970"/>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3</a:t>
              </a:r>
            </a:p>
          </p:txBody>
        </p:sp>
        <p:sp>
          <p:nvSpPr>
            <p:cNvPr id="54" name="Rectangle 54"/>
            <p:cNvSpPr/>
            <p:nvPr/>
          </p:nvSpPr>
          <p:spPr>
            <a:xfrm>
              <a:off x="6248400" y="2687002"/>
              <a:ext cx="5410200" cy="9525"/>
            </a:xfrm>
            <a:prstGeom prst="rect">
              <a:avLst/>
            </a:prstGeom>
            <a:solidFill>
              <a:srgbClr val="D9DFEA"/>
            </a:solidFill>
            <a:ln>
              <a:noFill/>
            </a:ln>
          </p:spPr>
        </p:sp>
        <p:sp>
          <p:nvSpPr>
            <p:cNvPr id="55" name="Rectangle 55"/>
            <p:cNvSpPr/>
            <p:nvPr/>
          </p:nvSpPr>
          <p:spPr>
            <a:xfrm>
              <a:off x="6248400" y="2691765"/>
              <a:ext cx="5410200" cy="381000"/>
            </a:xfrm>
            <a:prstGeom prst="rect">
              <a:avLst/>
            </a:prstGeom>
            <a:solidFill>
              <a:srgbClr val="F4F6FB"/>
            </a:solidFill>
            <a:ln>
              <a:noFill/>
            </a:ln>
          </p:spPr>
        </p:sp>
        <p:sp>
          <p:nvSpPr>
            <p:cNvPr id="56" name="TextBox 56"/>
            <p:cNvSpPr txBox="1"/>
            <p:nvPr/>
          </p:nvSpPr>
          <p:spPr>
            <a:xfrm>
              <a:off x="6343079" y="2808923"/>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57" name="TextBox 57"/>
            <p:cNvSpPr txBox="1"/>
            <p:nvPr/>
          </p:nvSpPr>
          <p:spPr>
            <a:xfrm>
              <a:off x="8182356" y="2808923"/>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a:t>
              </a:r>
            </a:p>
          </p:txBody>
        </p:sp>
        <p:sp>
          <p:nvSpPr>
            <p:cNvPr id="58" name="TextBox 58"/>
            <p:cNvSpPr txBox="1"/>
            <p:nvPr/>
          </p:nvSpPr>
          <p:spPr>
            <a:xfrm>
              <a:off x="9589198" y="2808923"/>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x₃</a:t>
              </a:r>
            </a:p>
          </p:txBody>
        </p:sp>
        <p:sp>
          <p:nvSpPr>
            <p:cNvPr id="59" name="TextBox 59"/>
            <p:cNvSpPr txBox="1"/>
            <p:nvPr/>
          </p:nvSpPr>
          <p:spPr>
            <a:xfrm>
              <a:off x="10996041" y="2808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60" name="Rectangle 60"/>
            <p:cNvSpPr/>
            <p:nvPr/>
          </p:nvSpPr>
          <p:spPr>
            <a:xfrm>
              <a:off x="6248400" y="3068002"/>
              <a:ext cx="5410200" cy="9525"/>
            </a:xfrm>
            <a:prstGeom prst="rect">
              <a:avLst/>
            </a:prstGeom>
            <a:solidFill>
              <a:srgbClr val="D9DFEA"/>
            </a:solidFill>
            <a:ln>
              <a:noFill/>
            </a:ln>
          </p:spPr>
        </p:sp>
        <p:sp>
          <p:nvSpPr>
            <p:cNvPr id="61" name="TextBox 61"/>
            <p:cNvSpPr txBox="1"/>
            <p:nvPr/>
          </p:nvSpPr>
          <p:spPr>
            <a:xfrm>
              <a:off x="6343079" y="3189923"/>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62" name="TextBox 62"/>
            <p:cNvSpPr txBox="1"/>
            <p:nvPr/>
          </p:nvSpPr>
          <p:spPr>
            <a:xfrm>
              <a:off x="8182356" y="3189923"/>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x₃</a:t>
              </a:r>
            </a:p>
          </p:txBody>
        </p:sp>
        <p:sp>
          <p:nvSpPr>
            <p:cNvPr id="63" name="TextBox 63"/>
            <p:cNvSpPr txBox="1"/>
            <p:nvPr/>
          </p:nvSpPr>
          <p:spPr>
            <a:xfrm>
              <a:off x="9589198" y="3189923"/>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a:t>
              </a:r>
            </a:p>
          </p:txBody>
        </p:sp>
        <p:sp>
          <p:nvSpPr>
            <p:cNvPr id="64" name="TextBox 64"/>
            <p:cNvSpPr txBox="1"/>
            <p:nvPr/>
          </p:nvSpPr>
          <p:spPr>
            <a:xfrm>
              <a:off x="10996041"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65" name="Rectangle 65"/>
            <p:cNvSpPr/>
            <p:nvPr/>
          </p:nvSpPr>
          <p:spPr>
            <a:xfrm>
              <a:off x="6248400" y="3449002"/>
              <a:ext cx="5410200" cy="9525"/>
            </a:xfrm>
            <a:prstGeom prst="rect">
              <a:avLst/>
            </a:prstGeom>
            <a:solidFill>
              <a:srgbClr val="D9DFEA"/>
            </a:solidFill>
            <a:ln>
              <a:noFill/>
            </a:ln>
          </p:spPr>
        </p:sp>
        <p:sp>
          <p:nvSpPr>
            <p:cNvPr id="66" name="Rectangle 66"/>
            <p:cNvSpPr/>
            <p:nvPr/>
          </p:nvSpPr>
          <p:spPr>
            <a:xfrm>
              <a:off x="6248400" y="3453765"/>
              <a:ext cx="5410200" cy="381000"/>
            </a:xfrm>
            <a:prstGeom prst="rect">
              <a:avLst/>
            </a:prstGeom>
            <a:solidFill>
              <a:srgbClr val="F4F6FB"/>
            </a:solidFill>
            <a:ln>
              <a:noFill/>
            </a:ln>
          </p:spPr>
        </p:sp>
        <p:sp>
          <p:nvSpPr>
            <p:cNvPr id="67" name="TextBox 67"/>
            <p:cNvSpPr txBox="1"/>
            <p:nvPr/>
          </p:nvSpPr>
          <p:spPr>
            <a:xfrm>
              <a:off x="6343079" y="3571875"/>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68" name="TextBox 68"/>
            <p:cNvSpPr txBox="1"/>
            <p:nvPr/>
          </p:nvSpPr>
          <p:spPr>
            <a:xfrm>
              <a:off x="8182356" y="3571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 x₃</a:t>
              </a:r>
            </a:p>
          </p:txBody>
        </p:sp>
        <p:sp>
          <p:nvSpPr>
            <p:cNvPr id="69" name="TextBox 69"/>
            <p:cNvSpPr txBox="1"/>
            <p:nvPr/>
          </p:nvSpPr>
          <p:spPr>
            <a:xfrm>
              <a:off x="9589198" y="3571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a:t>
              </a:r>
            </a:p>
          </p:txBody>
        </p:sp>
        <p:sp>
          <p:nvSpPr>
            <p:cNvPr id="70" name="TextBox 70"/>
            <p:cNvSpPr txBox="1"/>
            <p:nvPr/>
          </p:nvSpPr>
          <p:spPr>
            <a:xfrm>
              <a:off x="10996041" y="3571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71" name="Rectangle 71"/>
            <p:cNvSpPr/>
            <p:nvPr/>
          </p:nvSpPr>
          <p:spPr>
            <a:xfrm>
              <a:off x="6248400" y="3830955"/>
              <a:ext cx="5410200" cy="9525"/>
            </a:xfrm>
            <a:prstGeom prst="rect">
              <a:avLst/>
            </a:prstGeom>
            <a:solidFill>
              <a:srgbClr val="D9DFEA"/>
            </a:solidFill>
            <a:ln>
              <a:noFill/>
            </a:ln>
          </p:spPr>
        </p:sp>
        <p:sp>
          <p:nvSpPr>
            <p:cNvPr id="72" name="TextBox 72"/>
            <p:cNvSpPr txBox="1"/>
            <p:nvPr/>
          </p:nvSpPr>
          <p:spPr>
            <a:xfrm>
              <a:off x="6343079" y="3952875"/>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73" name="TextBox 73"/>
            <p:cNvSpPr txBox="1"/>
            <p:nvPr/>
          </p:nvSpPr>
          <p:spPr>
            <a:xfrm>
              <a:off x="8182356" y="3952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a:t>
              </a:r>
            </a:p>
          </p:txBody>
        </p:sp>
        <p:sp>
          <p:nvSpPr>
            <p:cNvPr id="74" name="TextBox 74"/>
            <p:cNvSpPr txBox="1"/>
            <p:nvPr/>
          </p:nvSpPr>
          <p:spPr>
            <a:xfrm>
              <a:off x="9589198" y="3952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 x₃</a:t>
              </a:r>
            </a:p>
          </p:txBody>
        </p:sp>
        <p:sp>
          <p:nvSpPr>
            <p:cNvPr id="75" name="TextBox 75"/>
            <p:cNvSpPr txBox="1"/>
            <p:nvPr/>
          </p:nvSpPr>
          <p:spPr>
            <a:xfrm>
              <a:off x="10996041" y="3952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76" name="Rectangle 76"/>
            <p:cNvSpPr/>
            <p:nvPr/>
          </p:nvSpPr>
          <p:spPr>
            <a:xfrm>
              <a:off x="6248400" y="4211955"/>
              <a:ext cx="5410200" cy="9525"/>
            </a:xfrm>
            <a:prstGeom prst="rect">
              <a:avLst/>
            </a:prstGeom>
            <a:solidFill>
              <a:srgbClr val="D9DFEA"/>
            </a:solidFill>
            <a:ln>
              <a:noFill/>
            </a:ln>
          </p:spPr>
        </p:sp>
        <p:sp>
          <p:nvSpPr>
            <p:cNvPr id="77" name="Rectangle 77"/>
            <p:cNvSpPr/>
            <p:nvPr/>
          </p:nvSpPr>
          <p:spPr>
            <a:xfrm>
              <a:off x="6248400" y="4216718"/>
              <a:ext cx="5410200" cy="381000"/>
            </a:xfrm>
            <a:prstGeom prst="rect">
              <a:avLst/>
            </a:prstGeom>
            <a:solidFill>
              <a:srgbClr val="F4F6FB"/>
            </a:solidFill>
            <a:ln>
              <a:noFill/>
            </a:ln>
          </p:spPr>
        </p:sp>
        <p:sp>
          <p:nvSpPr>
            <p:cNvPr id="78" name="TextBox 78"/>
            <p:cNvSpPr txBox="1"/>
            <p:nvPr/>
          </p:nvSpPr>
          <p:spPr>
            <a:xfrm>
              <a:off x="6343079" y="4333875"/>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79" name="TextBox 79"/>
            <p:cNvSpPr txBox="1"/>
            <p:nvPr/>
          </p:nvSpPr>
          <p:spPr>
            <a:xfrm>
              <a:off x="8182356" y="4333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x₃</a:t>
              </a:r>
            </a:p>
          </p:txBody>
        </p:sp>
        <p:sp>
          <p:nvSpPr>
            <p:cNvPr id="80" name="TextBox 80"/>
            <p:cNvSpPr txBox="1"/>
            <p:nvPr/>
          </p:nvSpPr>
          <p:spPr>
            <a:xfrm>
              <a:off x="9589198" y="4333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a:t>
              </a:r>
            </a:p>
          </p:txBody>
        </p:sp>
        <p:sp>
          <p:nvSpPr>
            <p:cNvPr id="81" name="TextBox 81"/>
            <p:cNvSpPr txBox="1"/>
            <p:nvPr/>
          </p:nvSpPr>
          <p:spPr>
            <a:xfrm>
              <a:off x="10996041" y="4333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82" name="Rectangle 82"/>
            <p:cNvSpPr/>
            <p:nvPr/>
          </p:nvSpPr>
          <p:spPr>
            <a:xfrm>
              <a:off x="6248400" y="4593908"/>
              <a:ext cx="5410200" cy="9525"/>
            </a:xfrm>
            <a:prstGeom prst="rect">
              <a:avLst/>
            </a:prstGeom>
            <a:solidFill>
              <a:srgbClr val="D9DFEA"/>
            </a:solidFill>
            <a:ln>
              <a:noFill/>
            </a:ln>
          </p:spPr>
        </p:sp>
        <p:sp>
          <p:nvSpPr>
            <p:cNvPr id="83" name="TextBox 83"/>
            <p:cNvSpPr txBox="1"/>
            <p:nvPr/>
          </p:nvSpPr>
          <p:spPr>
            <a:xfrm>
              <a:off x="6343079" y="4715828"/>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84" name="TextBox 84"/>
            <p:cNvSpPr txBox="1"/>
            <p:nvPr/>
          </p:nvSpPr>
          <p:spPr>
            <a:xfrm>
              <a:off x="8182356" y="4715828"/>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a:t>
              </a:r>
            </a:p>
          </p:txBody>
        </p:sp>
        <p:sp>
          <p:nvSpPr>
            <p:cNvPr id="85" name="TextBox 85"/>
            <p:cNvSpPr txBox="1"/>
            <p:nvPr/>
          </p:nvSpPr>
          <p:spPr>
            <a:xfrm>
              <a:off x="9589198" y="4715828"/>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x₃</a:t>
              </a:r>
            </a:p>
          </p:txBody>
        </p:sp>
        <p:sp>
          <p:nvSpPr>
            <p:cNvPr id="86" name="TextBox 86"/>
            <p:cNvSpPr txBox="1"/>
            <p:nvPr/>
          </p:nvSpPr>
          <p:spPr>
            <a:xfrm>
              <a:off x="10996041" y="471582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87" name="Rectangle 87"/>
            <p:cNvSpPr/>
            <p:nvPr/>
          </p:nvSpPr>
          <p:spPr>
            <a:xfrm>
              <a:off x="6248400" y="4974908"/>
              <a:ext cx="5410200" cy="9525"/>
            </a:xfrm>
            <a:prstGeom prst="rect">
              <a:avLst/>
            </a:prstGeom>
            <a:solidFill>
              <a:srgbClr val="D9DFEA"/>
            </a:solidFill>
            <a:ln>
              <a:noFill/>
            </a:ln>
          </p:spPr>
        </p:sp>
        <p:sp>
          <p:nvSpPr>
            <p:cNvPr id="88" name="Rectangle 88"/>
            <p:cNvSpPr/>
            <p:nvPr/>
          </p:nvSpPr>
          <p:spPr>
            <a:xfrm>
              <a:off x="6248400" y="4979670"/>
              <a:ext cx="5410200" cy="381000"/>
            </a:xfrm>
            <a:prstGeom prst="rect">
              <a:avLst/>
            </a:prstGeom>
            <a:solidFill>
              <a:srgbClr val="F4F6FB"/>
            </a:solidFill>
            <a:ln>
              <a:noFill/>
            </a:ln>
          </p:spPr>
        </p:sp>
        <p:sp>
          <p:nvSpPr>
            <p:cNvPr id="89" name="TextBox 89"/>
            <p:cNvSpPr txBox="1"/>
            <p:nvPr/>
          </p:nvSpPr>
          <p:spPr>
            <a:xfrm>
              <a:off x="6343079" y="5096828"/>
              <a:ext cx="74534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90" name="TextBox 90"/>
            <p:cNvSpPr txBox="1"/>
            <p:nvPr/>
          </p:nvSpPr>
          <p:spPr>
            <a:xfrm>
              <a:off x="8182356" y="5096828"/>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无</a:t>
              </a:r>
            </a:p>
          </p:txBody>
        </p:sp>
        <p:sp>
          <p:nvSpPr>
            <p:cNvPr id="91" name="TextBox 91"/>
            <p:cNvSpPr txBox="1"/>
            <p:nvPr/>
          </p:nvSpPr>
          <p:spPr>
            <a:xfrm>
              <a:off x="9589198" y="5096828"/>
              <a:ext cx="561937"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 x₃</a:t>
              </a:r>
            </a:p>
          </p:txBody>
        </p:sp>
        <p:sp>
          <p:nvSpPr>
            <p:cNvPr id="92" name="TextBox 92"/>
            <p:cNvSpPr txBox="1"/>
            <p:nvPr/>
          </p:nvSpPr>
          <p:spPr>
            <a:xfrm>
              <a:off x="10996041" y="509682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93" name="Rectangle 93"/>
            <p:cNvSpPr/>
            <p:nvPr/>
          </p:nvSpPr>
          <p:spPr>
            <a:xfrm>
              <a:off x="6248400" y="1928812"/>
              <a:ext cx="5410200" cy="3432810"/>
            </a:xfrm>
            <a:prstGeom prst="rect">
              <a:avLst/>
            </a:prstGeom>
            <a:noFill/>
            <a:ln w="14288">
              <a:solidFill>
                <a:srgbClr val="D9DFEA"/>
              </a:solidFill>
            </a:ln>
          </p:spPr>
        </p:sp>
        <p:sp>
          <p:nvSpPr>
            <p:cNvPr id="94" name="Rectangle 94"/>
            <p:cNvSpPr/>
            <p:nvPr/>
          </p:nvSpPr>
          <p:spPr>
            <a:xfrm>
              <a:off x="8082915" y="1928812"/>
              <a:ext cx="9525" cy="3432810"/>
            </a:xfrm>
            <a:prstGeom prst="rect">
              <a:avLst/>
            </a:prstGeom>
            <a:solidFill>
              <a:srgbClr val="D9DFEA"/>
            </a:solidFill>
            <a:ln>
              <a:noFill/>
            </a:ln>
          </p:spPr>
        </p:sp>
        <p:sp>
          <p:nvSpPr>
            <p:cNvPr id="95" name="Rectangle 95"/>
            <p:cNvSpPr/>
            <p:nvPr/>
          </p:nvSpPr>
          <p:spPr>
            <a:xfrm>
              <a:off x="9489758" y="1928812"/>
              <a:ext cx="9525" cy="3432810"/>
            </a:xfrm>
            <a:prstGeom prst="rect">
              <a:avLst/>
            </a:prstGeom>
            <a:solidFill>
              <a:srgbClr val="D9DFEA"/>
            </a:solidFill>
            <a:ln>
              <a:noFill/>
            </a:ln>
          </p:spPr>
        </p:sp>
        <p:sp>
          <p:nvSpPr>
            <p:cNvPr id="96" name="Rectangle 96"/>
            <p:cNvSpPr/>
            <p:nvPr/>
          </p:nvSpPr>
          <p:spPr>
            <a:xfrm>
              <a:off x="10896600" y="1928812"/>
              <a:ext cx="9525" cy="3432810"/>
            </a:xfrm>
            <a:prstGeom prst="rect">
              <a:avLst/>
            </a:prstGeom>
            <a:solidFill>
              <a:srgbClr val="D9DFEA"/>
            </a:solidFill>
            <a:ln>
              <a:noFill/>
            </a:ln>
          </p:spPr>
        </p:sp>
        <p:sp>
          <p:nvSpPr>
            <p:cNvPr id="97" name="TextBox 97"/>
            <p:cNvSpPr txBox="1"/>
            <p:nvPr/>
          </p:nvSpPr>
          <p:spPr>
            <a:xfrm>
              <a:off x="6243447" y="543448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八个三元小项对应的八种接法</a:t>
              </a:r>
            </a:p>
          </p:txBody>
        </p:sp>
      </p:grpSp>
      <p:grpSp>
        <p:nvGrpSpPr>
          <p:cNvPr id="104" name="takeaway"/>
          <p:cNvGrpSpPr/>
          <p:nvPr/>
        </p:nvGrpSpPr>
        <p:grpSpPr>
          <a:xfrm>
            <a:off x="533400" y="5895022"/>
            <a:ext cx="11125200" cy="467678"/>
            <a:chOff x="533400" y="5895022"/>
            <a:chExt cx="11125200" cy="467678"/>
          </a:xfrm>
        </p:grpSpPr>
        <p:sp>
          <p:nvSpPr>
            <p:cNvPr id="99" name="Rectangle 99"/>
            <p:cNvSpPr/>
            <p:nvPr/>
          </p:nvSpPr>
          <p:spPr>
            <a:xfrm>
              <a:off x="533400" y="5895022"/>
              <a:ext cx="11125200" cy="467678"/>
            </a:xfrm>
            <a:prstGeom prst="roundRect">
              <a:avLst>
                <a:gd name="adj" fmla="val 24440"/>
              </a:avLst>
            </a:prstGeom>
            <a:solidFill>
              <a:srgbClr val="0E7C86"/>
            </a:solidFill>
            <a:ln>
              <a:noFill/>
            </a:ln>
          </p:spPr>
        </p:sp>
        <p:grpSp>
          <p:nvGrpSpPr>
            <p:cNvPr id="102" name="Group 102"/>
            <p:cNvGrpSpPr/>
            <p:nvPr/>
          </p:nvGrpSpPr>
          <p:grpSpPr>
            <a:xfrm>
              <a:off x="738188" y="6028375"/>
              <a:ext cx="200023" cy="200023"/>
              <a:chOff x="738188" y="6028375"/>
              <a:chExt cx="200023" cy="200023"/>
            </a:xfrm>
          </p:grpSpPr>
          <p:sp>
            <p:nvSpPr>
              <p:cNvPr id="100" name="Freeform 100"/>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01" name="Freeform 101"/>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03" name="TextBox 103"/>
            <p:cNvSpPr txBox="1"/>
            <p:nvPr/>
          </p:nvSpPr>
          <p:spPr>
            <a:xfrm>
              <a:off x="1041273" y="6039326"/>
              <a:ext cx="8230362"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八个小项都能用一个神经元实现，说明单个 M-P 神经元可以表示任意一个合取项，但不能表示它们的“和”。</a:t>
              </a:r>
            </a:p>
          </p:txBody>
        </p:sp>
      </p:grpSp>
      <p:grpSp>
        <p:nvGrpSpPr>
          <p:cNvPr id="107" name="footer"/>
          <p:cNvGrpSpPr/>
          <p:nvPr/>
        </p:nvGrpSpPr>
        <p:grpSpPr>
          <a:xfrm>
            <a:off x="528447" y="6581299"/>
            <a:ext cx="11135106" cy="190690"/>
            <a:chOff x="528447" y="6581299"/>
            <a:chExt cx="11135106" cy="190690"/>
          </a:xfrm>
        </p:grpSpPr>
        <p:sp>
          <p:nvSpPr>
            <p:cNvPr id="105" name="TextBox 10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06" name="TextBox 10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加上延时，神经元就能当存储器件</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4977765" cy="2391728"/>
            <a:chOff x="533400" y="1524000"/>
            <a:chExt cx="4977765" cy="2391728"/>
          </a:xfrm>
        </p:grpSpPr>
        <p:sp>
          <p:nvSpPr>
            <p:cNvPr id="7" name="Rectangle 7"/>
            <p:cNvSpPr/>
            <p:nvPr/>
          </p:nvSpPr>
          <p:spPr>
            <a:xfrm>
              <a:off x="533400" y="1524000"/>
              <a:ext cx="4977765" cy="2391728"/>
            </a:xfrm>
            <a:prstGeom prst="roundRect">
              <a:avLst>
                <a:gd name="adj" fmla="val 5575"/>
              </a:avLst>
            </a:prstGeom>
            <a:solidFill>
              <a:srgbClr val="FFFFFF"/>
            </a:solidFill>
            <a:ln w="14288">
              <a:solidFill>
                <a:srgbClr val="D9DFEA"/>
              </a:solidFill>
            </a:ln>
          </p:spPr>
        </p:sp>
        <p:sp>
          <p:nvSpPr>
            <p:cNvPr id="8" name="Rectangle 8"/>
            <p:cNvSpPr/>
            <p:nvPr/>
          </p:nvSpPr>
          <p:spPr>
            <a:xfrm>
              <a:off x="542925" y="1657350"/>
              <a:ext cx="47625" cy="2125028"/>
            </a:xfrm>
            <a:prstGeom prst="roundRect">
              <a:avLst>
                <a:gd name="adj" fmla="val 50000"/>
              </a:avLst>
            </a:prstGeom>
            <a:solidFill>
              <a:srgbClr val="0E7C86"/>
            </a:solidFill>
            <a:ln>
              <a:noFill/>
            </a:ln>
          </p:spPr>
        </p:sp>
        <p:sp>
          <p:nvSpPr>
            <p:cNvPr id="9" name="Rectangle 9"/>
            <p:cNvSpPr/>
            <p:nvPr/>
          </p:nvSpPr>
          <p:spPr>
            <a:xfrm>
              <a:off x="763905" y="1716405"/>
              <a:ext cx="742950" cy="247650"/>
            </a:xfrm>
            <a:prstGeom prst="roundRect">
              <a:avLst>
                <a:gd name="adj" fmla="val 50000"/>
              </a:avLst>
            </a:prstGeom>
            <a:solidFill>
              <a:srgbClr val="E2F3F4"/>
            </a:solidFill>
            <a:ln>
              <a:noFill/>
            </a:ln>
          </p:spPr>
        </p:sp>
        <p:sp>
          <p:nvSpPr>
            <p:cNvPr id="10" name="TextBox 10"/>
            <p:cNvSpPr txBox="1"/>
            <p:nvPr/>
          </p:nvSpPr>
          <p:spPr>
            <a:xfrm>
              <a:off x="847344" y="1750695"/>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延时作用</a:t>
              </a:r>
            </a:p>
          </p:txBody>
        </p:sp>
        <p:sp>
          <p:nvSpPr>
            <p:cNvPr id="11" name="TextBox 11"/>
            <p:cNvSpPr txBox="1"/>
            <p:nvPr/>
          </p:nvSpPr>
          <p:spPr>
            <a:xfrm>
              <a:off x="1614297" y="1756410"/>
              <a:ext cx="12663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输出比输入晚 τ</a:t>
              </a:r>
            </a:p>
          </p:txBody>
        </p:sp>
        <p:sp>
          <p:nvSpPr>
            <p:cNvPr id="12" name="TextBox 12"/>
            <p:cNvSpPr txBox="1"/>
            <p:nvPr/>
          </p:nvSpPr>
          <p:spPr>
            <a:xfrm>
              <a:off x="757047" y="2090738"/>
              <a:ext cx="4325684"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把神经元的输出延时 τ 再接回它自己的兴奋性输入，一个</a:t>
              </a:r>
              <a:br/>
              <a:r>
                <a:rPr lang="zh-CN" sz="1350" dirty="0">
                  <a:solidFill>
                    <a:srgbClr val="1F2937"/>
                  </a:solidFill>
                  <a:latin typeface="+mn-lt"/>
                  <a:ea typeface="+mn-ea"/>
                  <a:cs typeface="+mn-cs"/>
                </a:rPr>
                <a:t>到来的兴奋脉冲就会在环里一直转下去，直到一个抑制脉</a:t>
              </a:r>
              <a:br/>
              <a:r>
                <a:rPr lang="zh-CN" sz="1350" dirty="0">
                  <a:solidFill>
                    <a:srgbClr val="1F2937"/>
                  </a:solidFill>
                  <a:latin typeface="+mn-lt"/>
                  <a:ea typeface="+mn-ea"/>
                  <a:cs typeface="+mn-cs"/>
                </a:rPr>
                <a:t>冲把它打断。</a:t>
              </a:r>
            </a:p>
          </p:txBody>
        </p:sp>
        <p:sp>
          <p:nvSpPr>
            <p:cNvPr id="13" name="Ellipse 13"/>
            <p:cNvSpPr/>
            <p:nvPr/>
          </p:nvSpPr>
          <p:spPr>
            <a:xfrm>
              <a:off x="772478" y="2963227"/>
              <a:ext cx="59055" cy="59055"/>
            </a:xfrm>
            <a:prstGeom prst="ellipse">
              <a:avLst/>
            </a:prstGeom>
            <a:solidFill>
              <a:srgbClr val="0E7C86"/>
            </a:solidFill>
            <a:ln>
              <a:noFill/>
            </a:ln>
          </p:spPr>
        </p:sp>
        <p:sp>
          <p:nvSpPr>
            <p:cNvPr id="14" name="TextBox 14"/>
            <p:cNvSpPr txBox="1"/>
            <p:nvPr/>
          </p:nvSpPr>
          <p:spPr>
            <a:xfrm>
              <a:off x="928497" y="2907030"/>
              <a:ext cx="144035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兴奋输入：写入 1</a:t>
              </a:r>
            </a:p>
          </p:txBody>
        </p:sp>
        <p:sp>
          <p:nvSpPr>
            <p:cNvPr id="15" name="Ellipse 15"/>
            <p:cNvSpPr/>
            <p:nvPr/>
          </p:nvSpPr>
          <p:spPr>
            <a:xfrm>
              <a:off x="772478" y="3266122"/>
              <a:ext cx="59055" cy="59055"/>
            </a:xfrm>
            <a:prstGeom prst="ellipse">
              <a:avLst/>
            </a:prstGeom>
            <a:solidFill>
              <a:srgbClr val="0E7C86"/>
            </a:solidFill>
            <a:ln>
              <a:noFill/>
            </a:ln>
          </p:spPr>
        </p:sp>
        <p:sp>
          <p:nvSpPr>
            <p:cNvPr id="16" name="TextBox 16"/>
            <p:cNvSpPr txBox="1"/>
            <p:nvPr/>
          </p:nvSpPr>
          <p:spPr>
            <a:xfrm>
              <a:off x="928497" y="3209925"/>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抑制输入：清零</a:t>
              </a:r>
            </a:p>
          </p:txBody>
        </p:sp>
        <p:sp>
          <p:nvSpPr>
            <p:cNvPr id="17" name="Ellipse 17"/>
            <p:cNvSpPr/>
            <p:nvPr/>
          </p:nvSpPr>
          <p:spPr>
            <a:xfrm>
              <a:off x="772478" y="3568065"/>
              <a:ext cx="59055" cy="59055"/>
            </a:xfrm>
            <a:prstGeom prst="ellipse">
              <a:avLst/>
            </a:prstGeom>
            <a:solidFill>
              <a:srgbClr val="0E7C86"/>
            </a:solidFill>
            <a:ln>
              <a:noFill/>
            </a:ln>
          </p:spPr>
        </p:sp>
        <p:sp>
          <p:nvSpPr>
            <p:cNvPr id="18" name="TextBox 18"/>
            <p:cNvSpPr txBox="1"/>
            <p:nvPr/>
          </p:nvSpPr>
          <p:spPr>
            <a:xfrm>
              <a:off x="928497" y="351186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无输入时：保持原值</a:t>
              </a:r>
            </a:p>
          </p:txBody>
        </p:sp>
      </p:grpSp>
      <p:grpSp>
        <p:nvGrpSpPr>
          <p:cNvPr id="25" name="c1-callout-2"/>
          <p:cNvGrpSpPr/>
          <p:nvPr/>
        </p:nvGrpSpPr>
        <p:grpSpPr>
          <a:xfrm>
            <a:off x="533400" y="4090988"/>
            <a:ext cx="4977765" cy="1294448"/>
            <a:chOff x="533400" y="4090988"/>
            <a:chExt cx="4977765" cy="1294448"/>
          </a:xfrm>
        </p:grpSpPr>
        <p:sp>
          <p:nvSpPr>
            <p:cNvPr id="20" name="Rectangle 20"/>
            <p:cNvSpPr/>
            <p:nvPr/>
          </p:nvSpPr>
          <p:spPr>
            <a:xfrm>
              <a:off x="533400" y="4090988"/>
              <a:ext cx="4977765" cy="1294448"/>
            </a:xfrm>
            <a:prstGeom prst="roundRect">
              <a:avLst>
                <a:gd name="adj" fmla="val 8830"/>
              </a:avLst>
            </a:prstGeom>
            <a:solidFill>
              <a:srgbClr val="0E7C86"/>
            </a:solidFill>
            <a:ln>
              <a:noFill/>
            </a:ln>
          </p:spPr>
        </p:sp>
        <p:grpSp>
          <p:nvGrpSpPr>
            <p:cNvPr id="23" name="Group 23"/>
            <p:cNvGrpSpPr/>
            <p:nvPr/>
          </p:nvGrpSpPr>
          <p:grpSpPr>
            <a:xfrm>
              <a:off x="738188" y="4637725"/>
              <a:ext cx="200023" cy="200023"/>
              <a:chOff x="738188" y="4637725"/>
              <a:chExt cx="200023" cy="200023"/>
            </a:xfrm>
          </p:grpSpPr>
          <p:sp>
            <p:nvSpPr>
              <p:cNvPr id="21" name="Freeform 21"/>
              <p:cNvSpPr/>
              <p:nvPr/>
            </p:nvSpPr>
            <p:spPr>
              <a:xfrm>
                <a:off x="738188" y="463772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2" name="Freeform 22"/>
              <p:cNvSpPr/>
              <p:nvPr/>
            </p:nvSpPr>
            <p:spPr>
              <a:xfrm>
                <a:off x="871538" y="470439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4" name="TextBox 24"/>
            <p:cNvSpPr txBox="1"/>
            <p:nvPr/>
          </p:nvSpPr>
          <p:spPr>
            <a:xfrm>
              <a:off x="1040892" y="4518660"/>
              <a:ext cx="398278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这正是一个 1 位存储单元（置位、复位、保持）的全</a:t>
              </a:r>
              <a:br/>
              <a:r>
                <a:rPr lang="zh-CN" sz="1350" dirty="0">
                  <a:solidFill>
                    <a:srgbClr val="FFFFFF"/>
                  </a:solidFill>
                  <a:latin typeface="+mn-lt"/>
                  <a:ea typeface="+mn-ea"/>
                  <a:cs typeface="+mn-cs"/>
                </a:rPr>
                <a:t>部功能。</a:t>
              </a:r>
            </a:p>
          </p:txBody>
        </p:sp>
      </p:grpSp>
      <p:grpSp>
        <p:nvGrpSpPr>
          <p:cNvPr id="33" name="c2-card-1"/>
          <p:cNvGrpSpPr/>
          <p:nvPr/>
        </p:nvGrpSpPr>
        <p:grpSpPr>
          <a:xfrm>
            <a:off x="5815965" y="1524000"/>
            <a:ext cx="5842635" cy="2211705"/>
            <a:chOff x="5815965" y="1524000"/>
            <a:chExt cx="5842635" cy="2211705"/>
          </a:xfrm>
        </p:grpSpPr>
        <p:sp>
          <p:nvSpPr>
            <p:cNvPr id="26" name="Rectangle 26"/>
            <p:cNvSpPr/>
            <p:nvPr/>
          </p:nvSpPr>
          <p:spPr>
            <a:xfrm>
              <a:off x="5815965" y="1524000"/>
              <a:ext cx="5842635" cy="2211705"/>
            </a:xfrm>
            <a:prstGeom prst="roundRect">
              <a:avLst>
                <a:gd name="adj" fmla="val 6029"/>
              </a:avLst>
            </a:prstGeom>
            <a:solidFill>
              <a:srgbClr val="FFFFFF"/>
            </a:solidFill>
            <a:ln w="14288">
              <a:solidFill>
                <a:srgbClr val="D9DFEA"/>
              </a:solidFill>
            </a:ln>
          </p:spPr>
        </p:sp>
        <p:sp>
          <p:nvSpPr>
            <p:cNvPr id="27" name="Rectangle 27"/>
            <p:cNvSpPr/>
            <p:nvPr/>
          </p:nvSpPr>
          <p:spPr>
            <a:xfrm>
              <a:off x="5825490" y="1657350"/>
              <a:ext cx="47625" cy="1945005"/>
            </a:xfrm>
            <a:prstGeom prst="roundRect">
              <a:avLst>
                <a:gd name="adj" fmla="val 50000"/>
              </a:avLst>
            </a:prstGeom>
            <a:solidFill>
              <a:srgbClr val="14A38B"/>
            </a:solidFill>
            <a:ln>
              <a:noFill/>
            </a:ln>
          </p:spPr>
        </p:sp>
        <p:sp>
          <p:nvSpPr>
            <p:cNvPr id="28" name="Rectangle 28"/>
            <p:cNvSpPr/>
            <p:nvPr/>
          </p:nvSpPr>
          <p:spPr>
            <a:xfrm>
              <a:off x="6046470" y="1716405"/>
              <a:ext cx="342900" cy="247650"/>
            </a:xfrm>
            <a:prstGeom prst="roundRect">
              <a:avLst>
                <a:gd name="adj" fmla="val 50000"/>
              </a:avLst>
            </a:prstGeom>
            <a:solidFill>
              <a:srgbClr val="E3F5F1"/>
            </a:solidFill>
            <a:ln>
              <a:noFill/>
            </a:ln>
          </p:spPr>
        </p:sp>
        <p:sp>
          <p:nvSpPr>
            <p:cNvPr id="29" name="TextBox 29"/>
            <p:cNvSpPr txBox="1"/>
            <p:nvPr/>
          </p:nvSpPr>
          <p:spPr>
            <a:xfrm>
              <a:off x="6141911" y="1750695"/>
              <a:ext cx="152019"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a:t>
              </a:r>
            </a:p>
          </p:txBody>
        </p:sp>
        <p:sp>
          <p:nvSpPr>
            <p:cNvPr id="30" name="TextBox 30"/>
            <p:cNvSpPr txBox="1"/>
            <p:nvPr/>
          </p:nvSpPr>
          <p:spPr>
            <a:xfrm>
              <a:off x="6496812" y="1756410"/>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模拟条件反射的网络</a:t>
              </a:r>
            </a:p>
          </p:txBody>
        </p:sp>
        <p:sp>
          <p:nvSpPr>
            <p:cNvPr id="31" name="TextBox 31"/>
            <p:cNvSpPr txBox="1"/>
            <p:nvPr/>
          </p:nvSpPr>
          <p:spPr>
            <a:xfrm>
              <a:off x="6039612" y="2090738"/>
              <a:ext cx="514007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X₁ 代表无条件刺激（巴甫洛夫试验中的“食物”），X₂ 代表条件刺激</a:t>
              </a:r>
              <a:br/>
              <a:r>
                <a:rPr lang="zh-CN" sz="1350" dirty="0">
                  <a:solidFill>
                    <a:srgbClr val="1F2937"/>
                  </a:solidFill>
                  <a:latin typeface="+mn-lt"/>
                  <a:ea typeface="+mn-ea"/>
                  <a:cs typeface="+mn-cs"/>
                </a:rPr>
                <a:t>（“铃声”）。N₁、N₂ 是限值为 N₁、N₂ 的“达限归零”计数器：输入</a:t>
              </a:r>
              <a:br/>
              <a:r>
                <a:rPr lang="zh-CN" sz="1350" dirty="0">
                  <a:solidFill>
                    <a:srgbClr val="1F2937"/>
                  </a:solidFill>
                  <a:latin typeface="+mn-lt"/>
                  <a:ea typeface="+mn-ea"/>
                  <a:cs typeface="+mn-cs"/>
                </a:rPr>
                <a:t>够 N₁ 个脉冲后产生一个脉冲输出并回零重新计数。Z₁…Z₅ 都是基于</a:t>
              </a:r>
              <a:br/>
              <a:r>
                <a:rPr lang="zh-CN" sz="1350" dirty="0">
                  <a:solidFill>
                    <a:srgbClr val="1F2937"/>
                  </a:solidFill>
                  <a:latin typeface="+mn-lt"/>
                  <a:ea typeface="+mn-ea"/>
                  <a:cs typeface="+mn-cs"/>
                </a:rPr>
                <a:t>线性加权模型的神经元，阈值与联接方式在图中注明。</a:t>
              </a:r>
            </a:p>
          </p:txBody>
        </p:sp>
        <p:sp>
          <p:nvSpPr>
            <p:cNvPr id="32" name="TextBox 32"/>
            <p:cNvSpPr txBox="1"/>
            <p:nvPr/>
          </p:nvSpPr>
          <p:spPr>
            <a:xfrm>
              <a:off x="6040755" y="3160871"/>
              <a:ext cx="510362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如果 X₁ 和 X₂ 同时输入 N &lt; N₁ 次，相当于巴甫洛夫试验中建立条件反射的训练过</a:t>
              </a:r>
              <a:br/>
              <a:r>
                <a:rPr lang="zh-CN" sz="1120" dirty="0">
                  <a:solidFill>
                    <a:srgbClr val="5B6475"/>
                  </a:solidFill>
                  <a:latin typeface="+mn-lt"/>
                  <a:ea typeface="+mn-ea"/>
                  <a:cs typeface="+mn-cs"/>
                </a:rPr>
                <a:t>程：训练够次数之后，单独给 X₂ 也能引出 Y。</a:t>
              </a:r>
            </a:p>
          </p:txBody>
        </p:sp>
      </p:grpSp>
      <p:grpSp>
        <p:nvGrpSpPr>
          <p:cNvPr id="62" name="c2-graph-2"/>
          <p:cNvGrpSpPr/>
          <p:nvPr/>
        </p:nvGrpSpPr>
        <p:grpSpPr>
          <a:xfrm>
            <a:off x="6139815" y="4091940"/>
            <a:ext cx="5193983" cy="1089184"/>
            <a:chOff x="6139815" y="4091940"/>
            <a:chExt cx="5193983" cy="1089184"/>
          </a:xfrm>
        </p:grpSpPr>
        <p:sp>
          <p:nvSpPr>
            <p:cNvPr id="34" name="Freeform 34"/>
            <p:cNvSpPr/>
            <p:nvPr/>
          </p:nvSpPr>
          <p:spPr>
            <a:xfrm>
              <a:off x="6435090" y="4234815"/>
              <a:ext cx="2755582" cy="9525"/>
            </a:xfrm>
            <a:custGeom>
              <a:avLst/>
              <a:gdLst/>
              <a:ahLst/>
              <a:cxnLst/>
              <a:rect l="l" t="t" r="r" b="b"/>
              <a:pathLst>
                <a:path w="2755582" h="9525">
                  <a:moveTo>
                    <a:pt x="0" y="0"/>
                  </a:moveTo>
                  <a:lnTo>
                    <a:pt x="2755582" y="0"/>
                  </a:lnTo>
                </a:path>
              </a:pathLst>
            </a:custGeom>
            <a:noFill/>
            <a:ln w="17145">
              <a:solidFill>
                <a:srgbClr val="1F2937"/>
              </a:solidFill>
            </a:ln>
          </p:spPr>
        </p:sp>
        <p:sp>
          <p:nvSpPr>
            <p:cNvPr id="35" name="Freeform 35"/>
            <p:cNvSpPr/>
            <p:nvPr/>
          </p:nvSpPr>
          <p:spPr>
            <a:xfrm>
              <a:off x="9190672" y="41871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6" name="Freeform 36"/>
            <p:cNvSpPr/>
            <p:nvPr/>
          </p:nvSpPr>
          <p:spPr>
            <a:xfrm>
              <a:off x="6430328" y="4272915"/>
              <a:ext cx="1205865" cy="303847"/>
            </a:xfrm>
            <a:custGeom>
              <a:avLst/>
              <a:gdLst/>
              <a:ahLst/>
              <a:cxnLst/>
              <a:rect l="l" t="t" r="r" b="b"/>
              <a:pathLst>
                <a:path w="1205865" h="303847">
                  <a:moveTo>
                    <a:pt x="0" y="0"/>
                  </a:moveTo>
                  <a:lnTo>
                    <a:pt x="1205865" y="303847"/>
                  </a:lnTo>
                </a:path>
              </a:pathLst>
            </a:custGeom>
            <a:noFill/>
            <a:ln w="17145">
              <a:solidFill>
                <a:srgbClr val="1F2937"/>
              </a:solidFill>
            </a:ln>
          </p:spPr>
        </p:sp>
        <p:sp>
          <p:nvSpPr>
            <p:cNvPr id="37" name="Freeform 37"/>
            <p:cNvSpPr/>
            <p:nvPr/>
          </p:nvSpPr>
          <p:spPr>
            <a:xfrm>
              <a:off x="7624762" y="4530090"/>
              <a:ext cx="103822" cy="92392"/>
            </a:xfrm>
            <a:custGeom>
              <a:avLst/>
              <a:gdLst/>
              <a:ahLst/>
              <a:cxnLst/>
              <a:rect l="l" t="t" r="r" b="b"/>
              <a:pathLst>
                <a:path w="103822" h="92392">
                  <a:moveTo>
                    <a:pt x="103822" y="69532"/>
                  </a:moveTo>
                  <a:lnTo>
                    <a:pt x="0" y="92392"/>
                  </a:lnTo>
                  <a:lnTo>
                    <a:pt x="22860" y="0"/>
                  </a:lnTo>
                  <a:close/>
                </a:path>
              </a:pathLst>
            </a:custGeom>
            <a:solidFill>
              <a:srgbClr val="1F2937"/>
            </a:solidFill>
            <a:ln>
              <a:noFill/>
            </a:ln>
          </p:spPr>
        </p:sp>
        <p:sp>
          <p:nvSpPr>
            <p:cNvPr id="38" name="Freeform 38"/>
            <p:cNvSpPr/>
            <p:nvPr/>
          </p:nvSpPr>
          <p:spPr>
            <a:xfrm>
              <a:off x="6431280" y="4713922"/>
              <a:ext cx="1203960" cy="281940"/>
            </a:xfrm>
            <a:custGeom>
              <a:avLst/>
              <a:gdLst/>
              <a:ahLst/>
              <a:cxnLst/>
              <a:rect l="l" t="t" r="r" b="b"/>
              <a:pathLst>
                <a:path w="1203960" h="281940">
                  <a:moveTo>
                    <a:pt x="0" y="281940"/>
                  </a:moveTo>
                  <a:lnTo>
                    <a:pt x="1203960" y="0"/>
                  </a:lnTo>
                </a:path>
              </a:pathLst>
            </a:custGeom>
            <a:noFill/>
            <a:ln w="17145">
              <a:solidFill>
                <a:srgbClr val="1F2937"/>
              </a:solidFill>
            </a:ln>
          </p:spPr>
        </p:sp>
        <p:sp>
          <p:nvSpPr>
            <p:cNvPr id="39" name="Freeform 39"/>
            <p:cNvSpPr/>
            <p:nvPr/>
          </p:nvSpPr>
          <p:spPr>
            <a:xfrm>
              <a:off x="7624762" y="4668202"/>
              <a:ext cx="103822" cy="92392"/>
            </a:xfrm>
            <a:custGeom>
              <a:avLst/>
              <a:gdLst/>
              <a:ahLst/>
              <a:cxnLst/>
              <a:rect l="l" t="t" r="r" b="b"/>
              <a:pathLst>
                <a:path w="103822" h="92392">
                  <a:moveTo>
                    <a:pt x="103822" y="23812"/>
                  </a:moveTo>
                  <a:lnTo>
                    <a:pt x="21907" y="92392"/>
                  </a:lnTo>
                  <a:lnTo>
                    <a:pt x="0" y="0"/>
                  </a:lnTo>
                  <a:close/>
                </a:path>
              </a:pathLst>
            </a:custGeom>
            <a:solidFill>
              <a:srgbClr val="1F2937"/>
            </a:solidFill>
            <a:ln>
              <a:noFill/>
            </a:ln>
          </p:spPr>
        </p:sp>
        <p:sp>
          <p:nvSpPr>
            <p:cNvPr id="40" name="Freeform 40"/>
            <p:cNvSpPr/>
            <p:nvPr/>
          </p:nvSpPr>
          <p:spPr>
            <a:xfrm>
              <a:off x="6435090" y="5031105"/>
              <a:ext cx="2755582" cy="9525"/>
            </a:xfrm>
            <a:custGeom>
              <a:avLst/>
              <a:gdLst/>
              <a:ahLst/>
              <a:cxnLst/>
              <a:rect l="l" t="t" r="r" b="b"/>
              <a:pathLst>
                <a:path w="2755582" h="9525">
                  <a:moveTo>
                    <a:pt x="0" y="0"/>
                  </a:moveTo>
                  <a:lnTo>
                    <a:pt x="2755582" y="0"/>
                  </a:lnTo>
                </a:path>
              </a:pathLst>
            </a:custGeom>
            <a:noFill/>
            <a:ln w="17145">
              <a:solidFill>
                <a:srgbClr val="1F2937"/>
              </a:solidFill>
            </a:ln>
          </p:spPr>
        </p:sp>
        <p:sp>
          <p:nvSpPr>
            <p:cNvPr id="41" name="Freeform 41"/>
            <p:cNvSpPr/>
            <p:nvPr/>
          </p:nvSpPr>
          <p:spPr>
            <a:xfrm>
              <a:off x="9190672" y="498348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2" name="Freeform 42"/>
            <p:cNvSpPr/>
            <p:nvPr/>
          </p:nvSpPr>
          <p:spPr>
            <a:xfrm>
              <a:off x="8109585" y="4695825"/>
              <a:ext cx="1088708" cy="274320"/>
            </a:xfrm>
            <a:custGeom>
              <a:avLst/>
              <a:gdLst/>
              <a:ahLst/>
              <a:cxnLst/>
              <a:rect l="l" t="t" r="r" b="b"/>
              <a:pathLst>
                <a:path w="1088708" h="274320">
                  <a:moveTo>
                    <a:pt x="0" y="0"/>
                  </a:moveTo>
                  <a:lnTo>
                    <a:pt x="1088708" y="274320"/>
                  </a:lnTo>
                </a:path>
              </a:pathLst>
            </a:custGeom>
            <a:noFill/>
            <a:ln w="17145">
              <a:solidFill>
                <a:srgbClr val="1F2937"/>
              </a:solidFill>
            </a:ln>
          </p:spPr>
        </p:sp>
        <p:sp>
          <p:nvSpPr>
            <p:cNvPr id="43" name="Freeform 43"/>
            <p:cNvSpPr/>
            <p:nvPr/>
          </p:nvSpPr>
          <p:spPr>
            <a:xfrm>
              <a:off x="9186862" y="4924425"/>
              <a:ext cx="103822" cy="92393"/>
            </a:xfrm>
            <a:custGeom>
              <a:avLst/>
              <a:gdLst/>
              <a:ahLst/>
              <a:cxnLst/>
              <a:rect l="l" t="t" r="r" b="b"/>
              <a:pathLst>
                <a:path w="103822" h="92393">
                  <a:moveTo>
                    <a:pt x="103822" y="69532"/>
                  </a:moveTo>
                  <a:lnTo>
                    <a:pt x="0" y="92393"/>
                  </a:lnTo>
                  <a:lnTo>
                    <a:pt x="22860" y="0"/>
                  </a:lnTo>
                  <a:close/>
                </a:path>
              </a:pathLst>
            </a:custGeom>
            <a:solidFill>
              <a:srgbClr val="1F2937"/>
            </a:solidFill>
            <a:ln>
              <a:noFill/>
            </a:ln>
          </p:spPr>
        </p:sp>
        <p:sp>
          <p:nvSpPr>
            <p:cNvPr id="44" name="Freeform 44"/>
            <p:cNvSpPr/>
            <p:nvPr/>
          </p:nvSpPr>
          <p:spPr>
            <a:xfrm>
              <a:off x="9586912" y="4270058"/>
              <a:ext cx="1363027" cy="320992"/>
            </a:xfrm>
            <a:custGeom>
              <a:avLst/>
              <a:gdLst/>
              <a:ahLst/>
              <a:cxnLst/>
              <a:rect l="l" t="t" r="r" b="b"/>
              <a:pathLst>
                <a:path w="1363027" h="320992">
                  <a:moveTo>
                    <a:pt x="0" y="0"/>
                  </a:moveTo>
                  <a:lnTo>
                    <a:pt x="1363027" y="320992"/>
                  </a:lnTo>
                </a:path>
              </a:pathLst>
            </a:custGeom>
            <a:noFill/>
            <a:ln w="17145">
              <a:solidFill>
                <a:srgbClr val="1F2937"/>
              </a:solidFill>
            </a:ln>
          </p:spPr>
        </p:sp>
        <p:sp>
          <p:nvSpPr>
            <p:cNvPr id="45" name="Freeform 45"/>
            <p:cNvSpPr/>
            <p:nvPr/>
          </p:nvSpPr>
          <p:spPr>
            <a:xfrm>
              <a:off x="10939462" y="4544378"/>
              <a:ext cx="103823" cy="93345"/>
            </a:xfrm>
            <a:custGeom>
              <a:avLst/>
              <a:gdLst/>
              <a:ahLst/>
              <a:cxnLst/>
              <a:rect l="l" t="t" r="r" b="b"/>
              <a:pathLst>
                <a:path w="103823" h="93345">
                  <a:moveTo>
                    <a:pt x="103823" y="68580"/>
                  </a:moveTo>
                  <a:lnTo>
                    <a:pt x="0" y="93345"/>
                  </a:lnTo>
                  <a:lnTo>
                    <a:pt x="21907" y="0"/>
                  </a:lnTo>
                  <a:close/>
                </a:path>
              </a:pathLst>
            </a:custGeom>
            <a:solidFill>
              <a:srgbClr val="1F2937"/>
            </a:solidFill>
            <a:ln>
              <a:noFill/>
            </a:ln>
          </p:spPr>
        </p:sp>
        <p:sp>
          <p:nvSpPr>
            <p:cNvPr id="46" name="Freeform 46"/>
            <p:cNvSpPr/>
            <p:nvPr/>
          </p:nvSpPr>
          <p:spPr>
            <a:xfrm>
              <a:off x="9586912" y="4700588"/>
              <a:ext cx="1362075" cy="298132"/>
            </a:xfrm>
            <a:custGeom>
              <a:avLst/>
              <a:gdLst/>
              <a:ahLst/>
              <a:cxnLst/>
              <a:rect l="l" t="t" r="r" b="b"/>
              <a:pathLst>
                <a:path w="1362075" h="298132">
                  <a:moveTo>
                    <a:pt x="0" y="298132"/>
                  </a:moveTo>
                  <a:lnTo>
                    <a:pt x="1362075" y="0"/>
                  </a:lnTo>
                </a:path>
              </a:pathLst>
            </a:custGeom>
            <a:noFill/>
            <a:ln w="17145">
              <a:solidFill>
                <a:srgbClr val="1F2937"/>
              </a:solidFill>
            </a:ln>
          </p:spPr>
        </p:sp>
        <p:sp>
          <p:nvSpPr>
            <p:cNvPr id="47" name="Freeform 47"/>
            <p:cNvSpPr/>
            <p:nvPr/>
          </p:nvSpPr>
          <p:spPr>
            <a:xfrm>
              <a:off x="10939462" y="4653915"/>
              <a:ext cx="102870" cy="93345"/>
            </a:xfrm>
            <a:custGeom>
              <a:avLst/>
              <a:gdLst/>
              <a:ahLst/>
              <a:cxnLst/>
              <a:rect l="l" t="t" r="r" b="b"/>
              <a:pathLst>
                <a:path w="102870" h="93345">
                  <a:moveTo>
                    <a:pt x="102870" y="26670"/>
                  </a:moveTo>
                  <a:lnTo>
                    <a:pt x="20002" y="93345"/>
                  </a:lnTo>
                  <a:lnTo>
                    <a:pt x="0" y="0"/>
                  </a:lnTo>
                  <a:close/>
                </a:path>
              </a:pathLst>
            </a:custGeom>
            <a:solidFill>
              <a:srgbClr val="1F2937"/>
            </a:solidFill>
            <a:ln>
              <a:noFill/>
            </a:ln>
          </p:spPr>
        </p:sp>
        <p:sp>
          <p:nvSpPr>
            <p:cNvPr id="48" name="Ellipse 48"/>
            <p:cNvSpPr/>
            <p:nvPr/>
          </p:nvSpPr>
          <p:spPr>
            <a:xfrm>
              <a:off x="6139815" y="4091940"/>
              <a:ext cx="285750" cy="285750"/>
            </a:xfrm>
            <a:prstGeom prst="ellipse">
              <a:avLst/>
            </a:prstGeom>
            <a:solidFill>
              <a:srgbClr val="FFFFFF"/>
            </a:solidFill>
            <a:ln w="17145">
              <a:solidFill>
                <a:srgbClr val="0E7C86"/>
              </a:solidFill>
            </a:ln>
          </p:spPr>
        </p:sp>
        <p:sp>
          <p:nvSpPr>
            <p:cNvPr id="49" name="Ellipse 49"/>
            <p:cNvSpPr/>
            <p:nvPr/>
          </p:nvSpPr>
          <p:spPr>
            <a:xfrm>
              <a:off x="6139815" y="4888230"/>
              <a:ext cx="285750" cy="285750"/>
            </a:xfrm>
            <a:prstGeom prst="ellipse">
              <a:avLst/>
            </a:prstGeom>
            <a:solidFill>
              <a:srgbClr val="FFFFFF"/>
            </a:solidFill>
            <a:ln w="17145">
              <a:solidFill>
                <a:srgbClr val="0E7C86"/>
              </a:solidFill>
            </a:ln>
          </p:spPr>
        </p:sp>
        <p:sp>
          <p:nvSpPr>
            <p:cNvPr id="50" name="Rectangle 50"/>
            <p:cNvSpPr/>
            <p:nvPr/>
          </p:nvSpPr>
          <p:spPr>
            <a:xfrm>
              <a:off x="7728585" y="4517708"/>
              <a:ext cx="381000" cy="260032"/>
            </a:xfrm>
            <a:prstGeom prst="roundRect">
              <a:avLst>
                <a:gd name="adj" fmla="val 36630"/>
              </a:avLst>
            </a:prstGeom>
            <a:solidFill>
              <a:srgbClr val="FFFFFF"/>
            </a:solidFill>
            <a:ln w="17145">
              <a:solidFill>
                <a:srgbClr val="0E7C86"/>
              </a:solidFill>
            </a:ln>
          </p:spPr>
        </p:sp>
        <p:sp>
          <p:nvSpPr>
            <p:cNvPr id="51" name="Ellipse 51"/>
            <p:cNvSpPr/>
            <p:nvPr/>
          </p:nvSpPr>
          <p:spPr>
            <a:xfrm>
              <a:off x="9295448" y="4091940"/>
              <a:ext cx="285750" cy="285750"/>
            </a:xfrm>
            <a:prstGeom prst="ellipse">
              <a:avLst/>
            </a:prstGeom>
            <a:solidFill>
              <a:srgbClr val="FFFFFF"/>
            </a:solidFill>
            <a:ln w="17145">
              <a:solidFill>
                <a:srgbClr val="0E7C86"/>
              </a:solidFill>
            </a:ln>
          </p:spPr>
        </p:sp>
        <p:sp>
          <p:nvSpPr>
            <p:cNvPr id="52" name="Ellipse 52"/>
            <p:cNvSpPr/>
            <p:nvPr/>
          </p:nvSpPr>
          <p:spPr>
            <a:xfrm>
              <a:off x="9295448" y="4888230"/>
              <a:ext cx="285750" cy="285750"/>
            </a:xfrm>
            <a:prstGeom prst="ellipse">
              <a:avLst/>
            </a:prstGeom>
            <a:solidFill>
              <a:srgbClr val="FFFFFF"/>
            </a:solidFill>
            <a:ln w="17145">
              <a:solidFill>
                <a:srgbClr val="0E7C86"/>
              </a:solidFill>
            </a:ln>
          </p:spPr>
        </p:sp>
        <p:sp>
          <p:nvSpPr>
            <p:cNvPr id="53" name="Ellipse 53"/>
            <p:cNvSpPr/>
            <p:nvPr/>
          </p:nvSpPr>
          <p:spPr>
            <a:xfrm>
              <a:off x="11048048" y="4505325"/>
              <a:ext cx="285750" cy="285750"/>
            </a:xfrm>
            <a:prstGeom prst="ellipse">
              <a:avLst/>
            </a:prstGeom>
            <a:solidFill>
              <a:srgbClr val="0E7C86"/>
            </a:solidFill>
            <a:ln w="17145">
              <a:solidFill>
                <a:srgbClr val="0E7C86"/>
              </a:solidFill>
            </a:ln>
          </p:spPr>
        </p:sp>
        <p:sp>
          <p:nvSpPr>
            <p:cNvPr id="54" name="TextBox 54"/>
            <p:cNvSpPr txBox="1"/>
            <p:nvPr/>
          </p:nvSpPr>
          <p:spPr>
            <a:xfrm>
              <a:off x="6184974" y="416480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X₁</a:t>
              </a:r>
            </a:p>
          </p:txBody>
        </p:sp>
        <p:sp>
          <p:nvSpPr>
            <p:cNvPr id="55" name="TextBox 55"/>
            <p:cNvSpPr txBox="1"/>
            <p:nvPr/>
          </p:nvSpPr>
          <p:spPr>
            <a:xfrm>
              <a:off x="6184974" y="496109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X₂</a:t>
              </a:r>
            </a:p>
          </p:txBody>
        </p:sp>
        <p:sp>
          <p:nvSpPr>
            <p:cNvPr id="56" name="TextBox 56"/>
            <p:cNvSpPr txBox="1"/>
            <p:nvPr/>
          </p:nvSpPr>
          <p:spPr>
            <a:xfrm>
              <a:off x="7821369" y="4578191"/>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N₁</a:t>
              </a:r>
            </a:p>
          </p:txBody>
        </p:sp>
        <p:sp>
          <p:nvSpPr>
            <p:cNvPr id="57" name="TextBox 57"/>
            <p:cNvSpPr txBox="1"/>
            <p:nvPr/>
          </p:nvSpPr>
          <p:spPr>
            <a:xfrm>
              <a:off x="9340607" y="416480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Z₁</a:t>
              </a:r>
            </a:p>
          </p:txBody>
        </p:sp>
        <p:sp>
          <p:nvSpPr>
            <p:cNvPr id="58" name="TextBox 58"/>
            <p:cNvSpPr txBox="1"/>
            <p:nvPr/>
          </p:nvSpPr>
          <p:spPr>
            <a:xfrm>
              <a:off x="9340607" y="496109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Z₅</a:t>
              </a:r>
            </a:p>
          </p:txBody>
        </p:sp>
        <p:sp>
          <p:nvSpPr>
            <p:cNvPr id="59" name="TextBox 59"/>
            <p:cNvSpPr txBox="1"/>
            <p:nvPr/>
          </p:nvSpPr>
          <p:spPr>
            <a:xfrm>
              <a:off x="11139207" y="457819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Y</a:t>
              </a:r>
            </a:p>
          </p:txBody>
        </p:sp>
        <p:sp>
          <p:nvSpPr>
            <p:cNvPr id="60" name="Rectangle 60"/>
            <p:cNvSpPr/>
            <p:nvPr/>
          </p:nvSpPr>
          <p:spPr>
            <a:xfrm>
              <a:off x="8433435" y="4758690"/>
              <a:ext cx="533400" cy="160020"/>
            </a:xfrm>
            <a:prstGeom prst="roundRect">
              <a:avLst>
                <a:gd name="adj" fmla="val 23810"/>
              </a:avLst>
            </a:prstGeom>
            <a:solidFill>
              <a:srgbClr val="FFFFFF"/>
            </a:solidFill>
            <a:ln>
              <a:noFill/>
            </a:ln>
          </p:spPr>
        </p:sp>
        <p:sp>
          <p:nvSpPr>
            <p:cNvPr id="61" name="TextBox 61"/>
            <p:cNvSpPr txBox="1"/>
            <p:nvPr/>
          </p:nvSpPr>
          <p:spPr>
            <a:xfrm>
              <a:off x="8453056" y="4791075"/>
              <a:ext cx="494157" cy="176212"/>
            </a:xfrm>
            <a:prstGeom prst="rect">
              <a:avLst/>
            </a:prstGeom>
            <a:noFill/>
            <a:ln>
              <a:noFill/>
            </a:ln>
          </p:spPr>
          <p:txBody>
            <a:bodyPr wrap="none" lIns="0" tIns="0" rIns="0" bIns="0" anchor="t" anchorCtr="0">
              <a:spAutoFit/>
            </a:bodyPr>
            <a:lstStyle/>
            <a:p>
              <a:pPr algn="ctr"/>
              <a:r>
                <a:rPr lang="zh-CN" sz="900" dirty="0">
                  <a:solidFill>
                    <a:srgbClr val="C2410C"/>
                  </a:solidFill>
                  <a:latin typeface="+mn-lt"/>
                  <a:ea typeface="+mn-ea"/>
                  <a:cs typeface="+mn-cs"/>
                </a:rPr>
                <a:t>计数达限</a:t>
              </a:r>
            </a:p>
          </p:txBody>
        </p:sp>
      </p:grpSp>
      <p:grpSp>
        <p:nvGrpSpPr>
          <p:cNvPr id="69" name="takeaway"/>
          <p:cNvGrpSpPr/>
          <p:nvPr/>
        </p:nvGrpSpPr>
        <p:grpSpPr>
          <a:xfrm>
            <a:off x="533400" y="5874068"/>
            <a:ext cx="11125200" cy="488632"/>
            <a:chOff x="533400" y="5874068"/>
            <a:chExt cx="11125200" cy="488632"/>
          </a:xfrm>
        </p:grpSpPr>
        <p:sp>
          <p:nvSpPr>
            <p:cNvPr id="63" name="Rectangle 63"/>
            <p:cNvSpPr/>
            <p:nvPr/>
          </p:nvSpPr>
          <p:spPr>
            <a:xfrm>
              <a:off x="533400" y="5874068"/>
              <a:ext cx="11125200" cy="488632"/>
            </a:xfrm>
            <a:prstGeom prst="roundRect">
              <a:avLst>
                <a:gd name="adj" fmla="val 23392"/>
              </a:avLst>
            </a:prstGeom>
            <a:solidFill>
              <a:srgbClr val="F4F6FB"/>
            </a:solidFill>
            <a:ln>
              <a:noFill/>
            </a:ln>
          </p:spPr>
        </p:sp>
        <p:grpSp>
          <p:nvGrpSpPr>
            <p:cNvPr id="67" name="Group 67"/>
            <p:cNvGrpSpPr/>
            <p:nvPr/>
          </p:nvGrpSpPr>
          <p:grpSpPr>
            <a:xfrm>
              <a:off x="738188" y="6017895"/>
              <a:ext cx="200026" cy="200026"/>
              <a:chOff x="738188" y="6017895"/>
              <a:chExt cx="200026" cy="200026"/>
            </a:xfrm>
          </p:grpSpPr>
          <p:sp>
            <p:nvSpPr>
              <p:cNvPr id="64" name="Freeform 6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1040892" y="6023610"/>
              <a:ext cx="777251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计数器 N₁ 承担“训练次数”的角色：次数不够时 Z₅ 这条通路打不开，铃声单独来不会引出反应。</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网络拓扑的四种基本形态</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2" name="c1-table-1"/>
          <p:cNvGrpSpPr/>
          <p:nvPr/>
        </p:nvGrpSpPr>
        <p:grpSpPr>
          <a:xfrm>
            <a:off x="533400" y="1524000"/>
            <a:ext cx="4544378" cy="3604260"/>
            <a:chOff x="533400" y="1524000"/>
            <a:chExt cx="4544378" cy="3604260"/>
          </a:xfrm>
        </p:grpSpPr>
        <p:sp>
          <p:nvSpPr>
            <p:cNvPr id="7" name="Rectangle 7"/>
            <p:cNvSpPr/>
            <p:nvPr/>
          </p:nvSpPr>
          <p:spPr>
            <a:xfrm>
              <a:off x="533400" y="1524000"/>
              <a:ext cx="4544378" cy="448628"/>
            </a:xfrm>
            <a:prstGeom prst="rect">
              <a:avLst/>
            </a:prstGeom>
            <a:solidFill>
              <a:srgbClr val="0E7C86"/>
            </a:solidFill>
            <a:ln>
              <a:noFill/>
            </a:ln>
          </p:spPr>
        </p:sp>
        <p:sp>
          <p:nvSpPr>
            <p:cNvPr id="8" name="TextBox 8"/>
            <p:cNvSpPr txBox="1"/>
            <p:nvPr/>
          </p:nvSpPr>
          <p:spPr>
            <a:xfrm>
              <a:off x="85467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拓扑</a:t>
              </a:r>
            </a:p>
          </p:txBody>
        </p:sp>
        <p:sp>
          <p:nvSpPr>
            <p:cNvPr id="9" name="TextBox 9"/>
            <p:cNvSpPr txBox="1"/>
            <p:nvPr/>
          </p:nvSpPr>
          <p:spPr>
            <a:xfrm>
              <a:off x="226341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特征</a:t>
              </a:r>
            </a:p>
          </p:txBody>
        </p:sp>
        <p:sp>
          <p:nvSpPr>
            <p:cNvPr id="10" name="TextBox 10"/>
            <p:cNvSpPr txBox="1"/>
            <p:nvPr/>
          </p:nvSpPr>
          <p:spPr>
            <a:xfrm>
              <a:off x="386370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典型用途</a:t>
              </a:r>
            </a:p>
          </p:txBody>
        </p:sp>
        <p:sp>
          <p:nvSpPr>
            <p:cNvPr id="11" name="TextBox 11"/>
            <p:cNvSpPr txBox="1"/>
            <p:nvPr/>
          </p:nvSpPr>
          <p:spPr>
            <a:xfrm>
              <a:off x="641223" y="210835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(a) 前馈</a:t>
              </a:r>
              <a:br/>
              <a:r>
                <a:rPr lang="zh-CN" sz="1280" b="1" dirty="0">
                  <a:solidFill>
                    <a:srgbClr val="1F2937"/>
                  </a:solidFill>
                  <a:latin typeface="+mn-lt"/>
                  <a:ea typeface="+mn-ea"/>
                  <a:cs typeface="+mn-cs"/>
                </a:rPr>
                <a:t>无反馈</a:t>
              </a:r>
            </a:p>
          </p:txBody>
        </p:sp>
        <p:sp>
          <p:nvSpPr>
            <p:cNvPr id="12" name="TextBox 12"/>
            <p:cNvSpPr txBox="1"/>
            <p:nvPr/>
          </p:nvSpPr>
          <p:spPr>
            <a:xfrm>
              <a:off x="1641348" y="222170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层间单向连接</a:t>
              </a:r>
            </a:p>
          </p:txBody>
        </p:sp>
        <p:sp>
          <p:nvSpPr>
            <p:cNvPr id="13" name="Rectangle 13"/>
            <p:cNvSpPr/>
            <p:nvPr/>
          </p:nvSpPr>
          <p:spPr>
            <a:xfrm>
              <a:off x="3360420" y="1982152"/>
              <a:ext cx="1707832" cy="656272"/>
            </a:xfrm>
            <a:prstGeom prst="rect">
              <a:avLst/>
            </a:prstGeom>
            <a:solidFill>
              <a:srgbClr val="E3F5F1"/>
            </a:solidFill>
            <a:ln>
              <a:noFill/>
            </a:ln>
          </p:spPr>
        </p:sp>
        <p:sp>
          <p:nvSpPr>
            <p:cNvPr id="14" name="TextBox 14"/>
            <p:cNvSpPr txBox="1"/>
            <p:nvPr/>
          </p:nvSpPr>
          <p:spPr>
            <a:xfrm>
              <a:off x="3458718" y="2108359"/>
              <a:ext cx="13134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模式分类、函数回</a:t>
              </a:r>
              <a:br/>
              <a:r>
                <a:rPr lang="zh-CN" sz="1280" dirty="0">
                  <a:solidFill>
                    <a:srgbClr val="1F2937"/>
                  </a:solidFill>
                  <a:latin typeface="+mn-lt"/>
                  <a:ea typeface="+mn-ea"/>
                  <a:cs typeface="+mn-cs"/>
                </a:rPr>
                <a:t>归</a:t>
              </a:r>
            </a:p>
          </p:txBody>
        </p:sp>
        <p:sp>
          <p:nvSpPr>
            <p:cNvPr id="15" name="Rectangle 15"/>
            <p:cNvSpPr/>
            <p:nvPr/>
          </p:nvSpPr>
          <p:spPr>
            <a:xfrm>
              <a:off x="533400" y="2643188"/>
              <a:ext cx="4544378" cy="9525"/>
            </a:xfrm>
            <a:prstGeom prst="rect">
              <a:avLst/>
            </a:prstGeom>
            <a:solidFill>
              <a:srgbClr val="D9DFEA"/>
            </a:solidFill>
            <a:ln>
              <a:noFill/>
            </a:ln>
          </p:spPr>
        </p:sp>
        <p:sp>
          <p:nvSpPr>
            <p:cNvPr id="16" name="Rectangle 16"/>
            <p:cNvSpPr/>
            <p:nvPr/>
          </p:nvSpPr>
          <p:spPr>
            <a:xfrm>
              <a:off x="533400" y="2647950"/>
              <a:ext cx="4544378" cy="902018"/>
            </a:xfrm>
            <a:prstGeom prst="rect">
              <a:avLst/>
            </a:prstGeom>
            <a:solidFill>
              <a:srgbClr val="F4F6FB"/>
            </a:solidFill>
            <a:ln>
              <a:noFill/>
            </a:ln>
          </p:spPr>
        </p:sp>
        <p:sp>
          <p:nvSpPr>
            <p:cNvPr id="17" name="TextBox 17"/>
            <p:cNvSpPr txBox="1"/>
            <p:nvPr/>
          </p:nvSpPr>
          <p:spPr>
            <a:xfrm>
              <a:off x="641223" y="289702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(b) 输出</a:t>
              </a:r>
              <a:br/>
              <a:r>
                <a:rPr lang="zh-CN" sz="1280" b="1" dirty="0">
                  <a:solidFill>
                    <a:srgbClr val="1F2937"/>
                  </a:solidFill>
                  <a:latin typeface="+mn-lt"/>
                  <a:ea typeface="+mn-ea"/>
                  <a:cs typeface="+mn-cs"/>
                </a:rPr>
                <a:t>有反馈</a:t>
              </a:r>
            </a:p>
          </p:txBody>
        </p:sp>
        <p:sp>
          <p:nvSpPr>
            <p:cNvPr id="18" name="TextBox 18"/>
            <p:cNvSpPr txBox="1"/>
            <p:nvPr/>
          </p:nvSpPr>
          <p:spPr>
            <a:xfrm>
              <a:off x="1641348" y="301037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输出接回输入</a:t>
              </a:r>
            </a:p>
          </p:txBody>
        </p:sp>
        <p:sp>
          <p:nvSpPr>
            <p:cNvPr id="19" name="TextBox 19"/>
            <p:cNvSpPr txBox="1"/>
            <p:nvPr/>
          </p:nvSpPr>
          <p:spPr>
            <a:xfrm>
              <a:off x="3458718" y="2783681"/>
              <a:ext cx="1313434"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神经认知机、存储</a:t>
              </a:r>
              <a:br/>
              <a:r>
                <a:rPr lang="zh-CN" sz="1280" dirty="0">
                  <a:solidFill>
                    <a:srgbClr val="1F2937"/>
                  </a:solidFill>
                  <a:latin typeface="+mn-lt"/>
                  <a:ea typeface="+mn-ea"/>
                  <a:cs typeface="+mn-cs"/>
                </a:rPr>
                <a:t>模式序列、系统辨</a:t>
              </a:r>
              <a:br/>
              <a:r>
                <a:rPr lang="zh-CN" sz="1280" dirty="0">
                  <a:solidFill>
                    <a:srgbClr val="1F2937"/>
                  </a:solidFill>
                  <a:latin typeface="+mn-lt"/>
                  <a:ea typeface="+mn-ea"/>
                  <a:cs typeface="+mn-cs"/>
                </a:rPr>
                <a:t>识</a:t>
              </a:r>
            </a:p>
          </p:txBody>
        </p:sp>
        <p:sp>
          <p:nvSpPr>
            <p:cNvPr id="20" name="Rectangle 20"/>
            <p:cNvSpPr/>
            <p:nvPr/>
          </p:nvSpPr>
          <p:spPr>
            <a:xfrm>
              <a:off x="533400" y="3546158"/>
              <a:ext cx="4544378" cy="9525"/>
            </a:xfrm>
            <a:prstGeom prst="rect">
              <a:avLst/>
            </a:prstGeom>
            <a:solidFill>
              <a:srgbClr val="D9DFEA"/>
            </a:solidFill>
            <a:ln>
              <a:noFill/>
            </a:ln>
          </p:spPr>
        </p:sp>
        <p:sp>
          <p:nvSpPr>
            <p:cNvPr id="21" name="TextBox 21"/>
            <p:cNvSpPr txBox="1"/>
            <p:nvPr/>
          </p:nvSpPr>
          <p:spPr>
            <a:xfrm>
              <a:off x="641223" y="368569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(c) 层内</a:t>
              </a:r>
              <a:br/>
              <a:r>
                <a:rPr lang="zh-CN" sz="1280" b="1" dirty="0">
                  <a:solidFill>
                    <a:srgbClr val="1F2937"/>
                  </a:solidFill>
                  <a:latin typeface="+mn-lt"/>
                  <a:ea typeface="+mn-ea"/>
                  <a:cs typeface="+mn-cs"/>
                </a:rPr>
                <a:t>互连</a:t>
              </a:r>
            </a:p>
          </p:txBody>
        </p:sp>
        <p:sp>
          <p:nvSpPr>
            <p:cNvPr id="22" name="TextBox 22"/>
            <p:cNvSpPr txBox="1"/>
            <p:nvPr/>
          </p:nvSpPr>
          <p:spPr>
            <a:xfrm>
              <a:off x="1641348" y="368569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同层神经元之间有连</a:t>
              </a:r>
              <a:br/>
              <a:r>
                <a:rPr lang="zh-CN" sz="1280" dirty="0">
                  <a:solidFill>
                    <a:srgbClr val="1F2937"/>
                  </a:solidFill>
                  <a:latin typeface="+mn-lt"/>
                  <a:ea typeface="+mn-ea"/>
                  <a:cs typeface="+mn-cs"/>
                </a:rPr>
                <a:t>接</a:t>
              </a:r>
            </a:p>
          </p:txBody>
        </p:sp>
        <p:sp>
          <p:nvSpPr>
            <p:cNvPr id="23" name="TextBox 23"/>
            <p:cNvSpPr txBox="1"/>
            <p:nvPr/>
          </p:nvSpPr>
          <p:spPr>
            <a:xfrm>
              <a:off x="3458718" y="3685699"/>
              <a:ext cx="13134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神经元可以分组进</a:t>
              </a:r>
              <a:br/>
              <a:r>
                <a:rPr lang="zh-CN" sz="1280" dirty="0">
                  <a:solidFill>
                    <a:srgbClr val="1F2937"/>
                  </a:solidFill>
                  <a:latin typeface="+mn-lt"/>
                  <a:ea typeface="+mn-ea"/>
                  <a:cs typeface="+mn-cs"/>
                </a:rPr>
                <a:t>行激励响应</a:t>
              </a:r>
            </a:p>
          </p:txBody>
        </p:sp>
        <p:sp>
          <p:nvSpPr>
            <p:cNvPr id="24" name="Rectangle 24"/>
            <p:cNvSpPr/>
            <p:nvPr/>
          </p:nvSpPr>
          <p:spPr>
            <a:xfrm>
              <a:off x="533400" y="4221480"/>
              <a:ext cx="4544378" cy="9525"/>
            </a:xfrm>
            <a:prstGeom prst="rect">
              <a:avLst/>
            </a:prstGeom>
            <a:solidFill>
              <a:srgbClr val="D9DFEA"/>
            </a:solidFill>
            <a:ln>
              <a:noFill/>
            </a:ln>
          </p:spPr>
        </p:sp>
        <p:sp>
          <p:nvSpPr>
            <p:cNvPr id="25" name="Rectangle 25"/>
            <p:cNvSpPr/>
            <p:nvPr/>
          </p:nvSpPr>
          <p:spPr>
            <a:xfrm>
              <a:off x="533400" y="4226242"/>
              <a:ext cx="4544378" cy="902018"/>
            </a:xfrm>
            <a:prstGeom prst="rect">
              <a:avLst/>
            </a:prstGeom>
            <a:solidFill>
              <a:srgbClr val="F4F6FB"/>
            </a:solidFill>
            <a:ln>
              <a:noFill/>
            </a:ln>
          </p:spPr>
        </p:sp>
        <p:sp>
          <p:nvSpPr>
            <p:cNvPr id="26" name="TextBox 26"/>
            <p:cNvSpPr txBox="1"/>
            <p:nvPr/>
          </p:nvSpPr>
          <p:spPr>
            <a:xfrm>
              <a:off x="641223" y="447436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(d) 全互</a:t>
              </a:r>
              <a:br/>
              <a:r>
                <a:rPr lang="zh-CN" sz="1280" b="1" dirty="0">
                  <a:solidFill>
                    <a:srgbClr val="1F2937"/>
                  </a:solidFill>
                  <a:latin typeface="+mn-lt"/>
                  <a:ea typeface="+mn-ea"/>
                  <a:cs typeface="+mn-cs"/>
                </a:rPr>
                <a:t>连</a:t>
              </a:r>
            </a:p>
          </p:txBody>
        </p:sp>
        <p:sp>
          <p:nvSpPr>
            <p:cNvPr id="27" name="TextBox 27"/>
            <p:cNvSpPr txBox="1"/>
            <p:nvPr/>
          </p:nvSpPr>
          <p:spPr>
            <a:xfrm>
              <a:off x="1641348" y="447436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任意两个神经元都可</a:t>
              </a:r>
              <a:br/>
              <a:r>
                <a:rPr lang="zh-CN" sz="1280" dirty="0">
                  <a:solidFill>
                    <a:srgbClr val="1F2937"/>
                  </a:solidFill>
                  <a:latin typeface="+mn-lt"/>
                  <a:ea typeface="+mn-ea"/>
                  <a:cs typeface="+mn-cs"/>
                </a:rPr>
                <a:t>能相连</a:t>
              </a:r>
            </a:p>
          </p:txBody>
        </p:sp>
        <p:sp>
          <p:nvSpPr>
            <p:cNvPr id="28" name="TextBox 28"/>
            <p:cNvSpPr txBox="1"/>
            <p:nvPr/>
          </p:nvSpPr>
          <p:spPr>
            <a:xfrm>
              <a:off x="3458718" y="4361021"/>
              <a:ext cx="1313434"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网络进入动态平</a:t>
              </a:r>
              <a:br/>
              <a:r>
                <a:rPr lang="zh-CN" sz="1280" dirty="0">
                  <a:solidFill>
                    <a:srgbClr val="1F2937"/>
                  </a:solidFill>
                  <a:latin typeface="+mn-lt"/>
                  <a:ea typeface="+mn-ea"/>
                  <a:cs typeface="+mn-cs"/>
                </a:rPr>
                <a:t>衡，可能是周期振</a:t>
              </a:r>
              <a:br/>
              <a:r>
                <a:rPr lang="zh-CN" sz="1280" dirty="0">
                  <a:solidFill>
                    <a:srgbClr val="1F2937"/>
                  </a:solidFill>
                  <a:latin typeface="+mn-lt"/>
                  <a:ea typeface="+mn-ea"/>
                  <a:cs typeface="+mn-cs"/>
                </a:rPr>
                <a:t>荡或混沌</a:t>
              </a:r>
            </a:p>
          </p:txBody>
        </p:sp>
        <p:sp>
          <p:nvSpPr>
            <p:cNvPr id="29" name="Rectangle 29"/>
            <p:cNvSpPr/>
            <p:nvPr/>
          </p:nvSpPr>
          <p:spPr>
            <a:xfrm>
              <a:off x="533400" y="1524000"/>
              <a:ext cx="4544378" cy="3604260"/>
            </a:xfrm>
            <a:prstGeom prst="rect">
              <a:avLst/>
            </a:prstGeom>
            <a:noFill/>
            <a:ln w="14288">
              <a:solidFill>
                <a:srgbClr val="D9DFEA"/>
              </a:solidFill>
            </a:ln>
          </p:spPr>
        </p:sp>
        <p:sp>
          <p:nvSpPr>
            <p:cNvPr id="30" name="Rectangle 30"/>
            <p:cNvSpPr/>
            <p:nvPr/>
          </p:nvSpPr>
          <p:spPr>
            <a:xfrm>
              <a:off x="1528762" y="1524000"/>
              <a:ext cx="9525" cy="3604260"/>
            </a:xfrm>
            <a:prstGeom prst="rect">
              <a:avLst/>
            </a:prstGeom>
            <a:solidFill>
              <a:srgbClr val="D9DFEA"/>
            </a:solidFill>
            <a:ln>
              <a:noFill/>
            </a:ln>
          </p:spPr>
        </p:sp>
        <p:sp>
          <p:nvSpPr>
            <p:cNvPr id="31" name="Rectangle 31"/>
            <p:cNvSpPr/>
            <p:nvPr/>
          </p:nvSpPr>
          <p:spPr>
            <a:xfrm>
              <a:off x="3346132" y="1524000"/>
              <a:ext cx="9525" cy="3604260"/>
            </a:xfrm>
            <a:prstGeom prst="rect">
              <a:avLst/>
            </a:prstGeom>
            <a:solidFill>
              <a:srgbClr val="D9DFEA"/>
            </a:solidFill>
            <a:ln>
              <a:noFill/>
            </a:ln>
          </p:spPr>
        </p:sp>
      </p:grpSp>
      <p:grpSp>
        <p:nvGrpSpPr>
          <p:cNvPr id="39" name="c1-callout-2"/>
          <p:cNvGrpSpPr/>
          <p:nvPr/>
        </p:nvGrpSpPr>
        <p:grpSpPr>
          <a:xfrm>
            <a:off x="533400" y="5318760"/>
            <a:ext cx="4544378" cy="782955"/>
            <a:chOff x="533400" y="5318760"/>
            <a:chExt cx="4544378" cy="782955"/>
          </a:xfrm>
        </p:grpSpPr>
        <p:sp>
          <p:nvSpPr>
            <p:cNvPr id="33" name="Rectangle 33"/>
            <p:cNvSpPr/>
            <p:nvPr/>
          </p:nvSpPr>
          <p:spPr>
            <a:xfrm>
              <a:off x="533400" y="5318760"/>
              <a:ext cx="4544378" cy="782955"/>
            </a:xfrm>
            <a:prstGeom prst="roundRect">
              <a:avLst>
                <a:gd name="adj" fmla="val 14599"/>
              </a:avLst>
            </a:prstGeom>
            <a:solidFill>
              <a:srgbClr val="FDEEE7"/>
            </a:solidFill>
            <a:ln>
              <a:noFill/>
            </a:ln>
          </p:spPr>
        </p:sp>
        <p:grpSp>
          <p:nvGrpSpPr>
            <p:cNvPr id="37" name="Group 37"/>
            <p:cNvGrpSpPr/>
            <p:nvPr/>
          </p:nvGrpSpPr>
          <p:grpSpPr>
            <a:xfrm>
              <a:off x="738188" y="5610225"/>
              <a:ext cx="200026" cy="200025"/>
              <a:chOff x="738188" y="5610225"/>
              <a:chExt cx="200026" cy="200025"/>
            </a:xfrm>
          </p:grpSpPr>
          <p:sp>
            <p:nvSpPr>
              <p:cNvPr id="34" name="Freeform 34"/>
              <p:cNvSpPr/>
              <p:nvPr/>
            </p:nvSpPr>
            <p:spPr>
              <a:xfrm>
                <a:off x="738188" y="561022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565467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576580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0130" y="5467350"/>
              <a:ext cx="35585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本讲只讨论 (a)，即多层前馈网络；</a:t>
              </a:r>
              <a:br/>
              <a:r>
                <a:rPr lang="zh-CN" sz="1500" dirty="0">
                  <a:solidFill>
                    <a:srgbClr val="C2410C"/>
                  </a:solidFill>
                  <a:latin typeface="+mn-lt"/>
                  <a:ea typeface="+mn-ea"/>
                  <a:cs typeface="+mn-cs"/>
                </a:rPr>
                <a:t>(b)(d) 属于反馈网络，在后续章节展开。</a:t>
              </a:r>
            </a:p>
          </p:txBody>
        </p:sp>
      </p:grpSp>
      <p:grpSp>
        <p:nvGrpSpPr>
          <p:cNvPr id="91" name="c2-graph-1"/>
          <p:cNvGrpSpPr/>
          <p:nvPr/>
        </p:nvGrpSpPr>
        <p:grpSpPr>
          <a:xfrm>
            <a:off x="5798820" y="1965642"/>
            <a:ext cx="5067300" cy="3458559"/>
            <a:chOff x="5798820" y="1965642"/>
            <a:chExt cx="5067300" cy="3458559"/>
          </a:xfrm>
        </p:grpSpPr>
        <p:sp>
          <p:nvSpPr>
            <p:cNvPr id="40" name="Freeform 40"/>
            <p:cNvSpPr/>
            <p:nvPr/>
          </p:nvSpPr>
          <p:spPr>
            <a:xfrm>
              <a:off x="5979795" y="2064068"/>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41" name="Freeform 41"/>
            <p:cNvSpPr/>
            <p:nvPr/>
          </p:nvSpPr>
          <p:spPr>
            <a:xfrm>
              <a:off x="6949440" y="201644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2" name="Freeform 42"/>
            <p:cNvSpPr/>
            <p:nvPr/>
          </p:nvSpPr>
          <p:spPr>
            <a:xfrm>
              <a:off x="5965508" y="2113598"/>
              <a:ext cx="1012508" cy="621982"/>
            </a:xfrm>
            <a:custGeom>
              <a:avLst/>
              <a:gdLst/>
              <a:ahLst/>
              <a:cxnLst/>
              <a:rect l="l" t="t" r="r" b="b"/>
              <a:pathLst>
                <a:path w="1012508" h="621982">
                  <a:moveTo>
                    <a:pt x="0" y="0"/>
                  </a:moveTo>
                  <a:lnTo>
                    <a:pt x="1012508" y="621982"/>
                  </a:lnTo>
                </a:path>
              </a:pathLst>
            </a:custGeom>
            <a:noFill/>
            <a:ln w="17145">
              <a:solidFill>
                <a:srgbClr val="1F2937"/>
              </a:solidFill>
            </a:ln>
          </p:spPr>
        </p:sp>
        <p:sp>
          <p:nvSpPr>
            <p:cNvPr id="43" name="Freeform 43"/>
            <p:cNvSpPr/>
            <p:nvPr/>
          </p:nvSpPr>
          <p:spPr>
            <a:xfrm>
              <a:off x="6952298" y="2695575"/>
              <a:ext cx="106680" cy="90488"/>
            </a:xfrm>
            <a:custGeom>
              <a:avLst/>
              <a:gdLst/>
              <a:ahLst/>
              <a:cxnLst/>
              <a:rect l="l" t="t" r="r" b="b"/>
              <a:pathLst>
                <a:path w="106680" h="90488">
                  <a:moveTo>
                    <a:pt x="106680" y="90488"/>
                  </a:moveTo>
                  <a:lnTo>
                    <a:pt x="0" y="80962"/>
                  </a:lnTo>
                  <a:lnTo>
                    <a:pt x="50483" y="0"/>
                  </a:lnTo>
                  <a:close/>
                </a:path>
              </a:pathLst>
            </a:custGeom>
            <a:solidFill>
              <a:srgbClr val="1F2937"/>
            </a:solidFill>
            <a:ln>
              <a:noFill/>
            </a:ln>
          </p:spPr>
        </p:sp>
        <p:sp>
          <p:nvSpPr>
            <p:cNvPr id="44" name="Freeform 44"/>
            <p:cNvSpPr/>
            <p:nvPr/>
          </p:nvSpPr>
          <p:spPr>
            <a:xfrm>
              <a:off x="5965508" y="2164080"/>
              <a:ext cx="1012508" cy="621983"/>
            </a:xfrm>
            <a:custGeom>
              <a:avLst/>
              <a:gdLst/>
              <a:ahLst/>
              <a:cxnLst/>
              <a:rect l="l" t="t" r="r" b="b"/>
              <a:pathLst>
                <a:path w="1012508" h="621983">
                  <a:moveTo>
                    <a:pt x="0" y="621983"/>
                  </a:moveTo>
                  <a:lnTo>
                    <a:pt x="1012508" y="0"/>
                  </a:lnTo>
                </a:path>
              </a:pathLst>
            </a:custGeom>
            <a:noFill/>
            <a:ln w="17145">
              <a:solidFill>
                <a:srgbClr val="1F2937"/>
              </a:solidFill>
            </a:ln>
          </p:spPr>
        </p:sp>
        <p:sp>
          <p:nvSpPr>
            <p:cNvPr id="45" name="Freeform 45"/>
            <p:cNvSpPr/>
            <p:nvPr/>
          </p:nvSpPr>
          <p:spPr>
            <a:xfrm>
              <a:off x="6952298" y="2113598"/>
              <a:ext cx="106680" cy="90488"/>
            </a:xfrm>
            <a:custGeom>
              <a:avLst/>
              <a:gdLst/>
              <a:ahLst/>
              <a:cxnLst/>
              <a:rect l="l" t="t" r="r" b="b"/>
              <a:pathLst>
                <a:path w="106680" h="90488">
                  <a:moveTo>
                    <a:pt x="106680" y="0"/>
                  </a:moveTo>
                  <a:lnTo>
                    <a:pt x="50483" y="90488"/>
                  </a:lnTo>
                  <a:lnTo>
                    <a:pt x="0" y="9525"/>
                  </a:lnTo>
                  <a:close/>
                </a:path>
              </a:pathLst>
            </a:custGeom>
            <a:solidFill>
              <a:srgbClr val="1F2937"/>
            </a:solidFill>
            <a:ln>
              <a:noFill/>
            </a:ln>
          </p:spPr>
        </p:sp>
        <p:sp>
          <p:nvSpPr>
            <p:cNvPr id="46" name="Freeform 46"/>
            <p:cNvSpPr/>
            <p:nvPr/>
          </p:nvSpPr>
          <p:spPr>
            <a:xfrm>
              <a:off x="5979795" y="2835592"/>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47" name="Freeform 47"/>
            <p:cNvSpPr/>
            <p:nvPr/>
          </p:nvSpPr>
          <p:spPr>
            <a:xfrm>
              <a:off x="6949440" y="278796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8" name="Freeform 48"/>
            <p:cNvSpPr/>
            <p:nvPr/>
          </p:nvSpPr>
          <p:spPr>
            <a:xfrm>
              <a:off x="9368790" y="2064068"/>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49" name="Freeform 49"/>
            <p:cNvSpPr/>
            <p:nvPr/>
          </p:nvSpPr>
          <p:spPr>
            <a:xfrm>
              <a:off x="10589895" y="201644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0" name="Freeform 50"/>
            <p:cNvSpPr/>
            <p:nvPr/>
          </p:nvSpPr>
          <p:spPr>
            <a:xfrm>
              <a:off x="9368790" y="2835592"/>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51" name="Freeform 51"/>
            <p:cNvSpPr/>
            <p:nvPr/>
          </p:nvSpPr>
          <p:spPr>
            <a:xfrm>
              <a:off x="10589895" y="278796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2" name="Freeform 52"/>
            <p:cNvSpPr/>
            <p:nvPr/>
          </p:nvSpPr>
          <p:spPr>
            <a:xfrm>
              <a:off x="9363075" y="1965642"/>
              <a:ext cx="1323023" cy="701357"/>
            </a:xfrm>
            <a:custGeom>
              <a:avLst/>
              <a:gdLst/>
              <a:ahLst/>
              <a:cxnLst/>
              <a:rect l="l" t="t" r="r" b="b"/>
              <a:pathLst>
                <a:path w="1323023" h="701357">
                  <a:moveTo>
                    <a:pt x="1323023" y="85090"/>
                  </a:moveTo>
                  <a:cubicBezTo>
                    <a:pt x="703262" y="0"/>
                    <a:pt x="262255" y="205422"/>
                    <a:pt x="0" y="701357"/>
                  </a:cubicBezTo>
                </a:path>
              </a:pathLst>
            </a:custGeom>
            <a:noFill/>
            <a:ln w="17145">
              <a:solidFill>
                <a:srgbClr val="1F2937"/>
              </a:solidFill>
              <a:custDash>
                <a:ds d="333333" sp="222222"/>
              </a:custDash>
            </a:ln>
          </p:spPr>
        </p:sp>
        <p:sp>
          <p:nvSpPr>
            <p:cNvPr id="53" name="Freeform 53"/>
            <p:cNvSpPr/>
            <p:nvPr/>
          </p:nvSpPr>
          <p:spPr>
            <a:xfrm>
              <a:off x="9318308" y="2645092"/>
              <a:ext cx="86678" cy="106680"/>
            </a:xfrm>
            <a:custGeom>
              <a:avLst/>
              <a:gdLst/>
              <a:ahLst/>
              <a:cxnLst/>
              <a:rect l="l" t="t" r="r" b="b"/>
              <a:pathLst>
                <a:path w="86678" h="106680">
                  <a:moveTo>
                    <a:pt x="0" y="106680"/>
                  </a:moveTo>
                  <a:lnTo>
                    <a:pt x="2858" y="0"/>
                  </a:lnTo>
                  <a:lnTo>
                    <a:pt x="86678" y="44767"/>
                  </a:lnTo>
                  <a:close/>
                </a:path>
              </a:pathLst>
            </a:custGeom>
            <a:solidFill>
              <a:srgbClr val="1F2937"/>
            </a:solidFill>
            <a:ln>
              <a:noFill/>
            </a:ln>
          </p:spPr>
        </p:sp>
        <p:sp>
          <p:nvSpPr>
            <p:cNvPr id="54" name="Freeform 54"/>
            <p:cNvSpPr/>
            <p:nvPr/>
          </p:nvSpPr>
          <p:spPr>
            <a:xfrm>
              <a:off x="5979795" y="4301490"/>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55" name="Freeform 55"/>
            <p:cNvSpPr/>
            <p:nvPr/>
          </p:nvSpPr>
          <p:spPr>
            <a:xfrm>
              <a:off x="6949440" y="425386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6" name="Freeform 56"/>
            <p:cNvSpPr/>
            <p:nvPr/>
          </p:nvSpPr>
          <p:spPr>
            <a:xfrm>
              <a:off x="5979795" y="5073015"/>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57" name="Freeform 57"/>
            <p:cNvSpPr/>
            <p:nvPr/>
          </p:nvSpPr>
          <p:spPr>
            <a:xfrm>
              <a:off x="6949440" y="50253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8" name="Freeform 58"/>
            <p:cNvSpPr/>
            <p:nvPr/>
          </p:nvSpPr>
          <p:spPr>
            <a:xfrm>
              <a:off x="7139940" y="4396740"/>
              <a:ext cx="9525" cy="581025"/>
            </a:xfrm>
            <a:custGeom>
              <a:avLst/>
              <a:gdLst/>
              <a:ahLst/>
              <a:cxnLst/>
              <a:rect l="l" t="t" r="r" b="b"/>
              <a:pathLst>
                <a:path w="9525" h="581025">
                  <a:moveTo>
                    <a:pt x="0" y="0"/>
                  </a:moveTo>
                  <a:lnTo>
                    <a:pt x="0" y="581025"/>
                  </a:lnTo>
                </a:path>
              </a:pathLst>
            </a:custGeom>
            <a:noFill/>
            <a:ln w="17145">
              <a:solidFill>
                <a:srgbClr val="1F2937"/>
              </a:solidFill>
              <a:custDash>
                <a:ds d="333333" sp="222222"/>
              </a:custDash>
            </a:ln>
          </p:spPr>
        </p:sp>
        <p:sp>
          <p:nvSpPr>
            <p:cNvPr id="59" name="Freeform 59"/>
            <p:cNvSpPr/>
            <p:nvPr/>
          </p:nvSpPr>
          <p:spPr>
            <a:xfrm>
              <a:off x="9368790" y="4301490"/>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60" name="Freeform 60"/>
            <p:cNvSpPr/>
            <p:nvPr/>
          </p:nvSpPr>
          <p:spPr>
            <a:xfrm>
              <a:off x="10589895" y="425386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61" name="Freeform 61"/>
            <p:cNvSpPr/>
            <p:nvPr/>
          </p:nvSpPr>
          <p:spPr>
            <a:xfrm>
              <a:off x="9273540" y="4396740"/>
              <a:ext cx="9525" cy="485775"/>
            </a:xfrm>
            <a:custGeom>
              <a:avLst/>
              <a:gdLst/>
              <a:ahLst/>
              <a:cxnLst/>
              <a:rect l="l" t="t" r="r" b="b"/>
              <a:pathLst>
                <a:path w="9525" h="485775">
                  <a:moveTo>
                    <a:pt x="0" y="0"/>
                  </a:moveTo>
                  <a:lnTo>
                    <a:pt x="0" y="485775"/>
                  </a:lnTo>
                </a:path>
              </a:pathLst>
            </a:custGeom>
            <a:noFill/>
            <a:ln w="17145">
              <a:solidFill>
                <a:srgbClr val="1F2937"/>
              </a:solidFill>
            </a:ln>
          </p:spPr>
        </p:sp>
        <p:sp>
          <p:nvSpPr>
            <p:cNvPr id="62" name="Freeform 62"/>
            <p:cNvSpPr/>
            <p:nvPr/>
          </p:nvSpPr>
          <p:spPr>
            <a:xfrm>
              <a:off x="9225915" y="488251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63" name="Freeform 63"/>
            <p:cNvSpPr/>
            <p:nvPr/>
          </p:nvSpPr>
          <p:spPr>
            <a:xfrm>
              <a:off x="9358312" y="4345305"/>
              <a:ext cx="1252538" cy="641033"/>
            </a:xfrm>
            <a:custGeom>
              <a:avLst/>
              <a:gdLst/>
              <a:ahLst/>
              <a:cxnLst/>
              <a:rect l="l" t="t" r="r" b="b"/>
              <a:pathLst>
                <a:path w="1252538" h="641033">
                  <a:moveTo>
                    <a:pt x="0" y="0"/>
                  </a:moveTo>
                  <a:lnTo>
                    <a:pt x="1252538" y="641033"/>
                  </a:lnTo>
                </a:path>
              </a:pathLst>
            </a:custGeom>
            <a:noFill/>
            <a:ln w="17145">
              <a:solidFill>
                <a:srgbClr val="1F2937"/>
              </a:solidFill>
            </a:ln>
          </p:spPr>
        </p:sp>
        <p:sp>
          <p:nvSpPr>
            <p:cNvPr id="64" name="Freeform 64"/>
            <p:cNvSpPr/>
            <p:nvPr/>
          </p:nvSpPr>
          <p:spPr>
            <a:xfrm>
              <a:off x="10588942" y="4943475"/>
              <a:ext cx="106680" cy="85725"/>
            </a:xfrm>
            <a:custGeom>
              <a:avLst/>
              <a:gdLst/>
              <a:ahLst/>
              <a:cxnLst/>
              <a:rect l="l" t="t" r="r" b="b"/>
              <a:pathLst>
                <a:path w="106680" h="85725">
                  <a:moveTo>
                    <a:pt x="106680" y="85725"/>
                  </a:moveTo>
                  <a:lnTo>
                    <a:pt x="0" y="84772"/>
                  </a:lnTo>
                  <a:lnTo>
                    <a:pt x="42862" y="0"/>
                  </a:lnTo>
                  <a:close/>
                </a:path>
              </a:pathLst>
            </a:custGeom>
            <a:solidFill>
              <a:srgbClr val="1F2937"/>
            </a:solidFill>
            <a:ln>
              <a:noFill/>
            </a:ln>
          </p:spPr>
        </p:sp>
        <p:sp>
          <p:nvSpPr>
            <p:cNvPr id="65" name="Freeform 65"/>
            <p:cNvSpPr/>
            <p:nvPr/>
          </p:nvSpPr>
          <p:spPr>
            <a:xfrm>
              <a:off x="9443085" y="4345305"/>
              <a:ext cx="1252538" cy="641033"/>
            </a:xfrm>
            <a:custGeom>
              <a:avLst/>
              <a:gdLst/>
              <a:ahLst/>
              <a:cxnLst/>
              <a:rect l="l" t="t" r="r" b="b"/>
              <a:pathLst>
                <a:path w="1252538" h="641033">
                  <a:moveTo>
                    <a:pt x="1252538" y="0"/>
                  </a:moveTo>
                  <a:lnTo>
                    <a:pt x="0" y="641033"/>
                  </a:lnTo>
                </a:path>
              </a:pathLst>
            </a:custGeom>
            <a:noFill/>
            <a:ln w="17145">
              <a:solidFill>
                <a:srgbClr val="1F2937"/>
              </a:solidFill>
            </a:ln>
          </p:spPr>
        </p:sp>
        <p:sp>
          <p:nvSpPr>
            <p:cNvPr id="66" name="Freeform 66"/>
            <p:cNvSpPr/>
            <p:nvPr/>
          </p:nvSpPr>
          <p:spPr>
            <a:xfrm>
              <a:off x="9358312" y="4943475"/>
              <a:ext cx="106680" cy="85725"/>
            </a:xfrm>
            <a:custGeom>
              <a:avLst/>
              <a:gdLst/>
              <a:ahLst/>
              <a:cxnLst/>
              <a:rect l="l" t="t" r="r" b="b"/>
              <a:pathLst>
                <a:path w="106680" h="85725">
                  <a:moveTo>
                    <a:pt x="0" y="85725"/>
                  </a:moveTo>
                  <a:lnTo>
                    <a:pt x="62865" y="0"/>
                  </a:lnTo>
                  <a:lnTo>
                    <a:pt x="106680" y="84772"/>
                  </a:lnTo>
                  <a:close/>
                </a:path>
              </a:pathLst>
            </a:custGeom>
            <a:solidFill>
              <a:srgbClr val="1F2937"/>
            </a:solidFill>
            <a:ln>
              <a:noFill/>
            </a:ln>
          </p:spPr>
        </p:sp>
        <p:sp>
          <p:nvSpPr>
            <p:cNvPr id="67" name="Freeform 67"/>
            <p:cNvSpPr/>
            <p:nvPr/>
          </p:nvSpPr>
          <p:spPr>
            <a:xfrm>
              <a:off x="10780395" y="4396740"/>
              <a:ext cx="9525" cy="485775"/>
            </a:xfrm>
            <a:custGeom>
              <a:avLst/>
              <a:gdLst/>
              <a:ahLst/>
              <a:cxnLst/>
              <a:rect l="l" t="t" r="r" b="b"/>
              <a:pathLst>
                <a:path w="9525" h="485775">
                  <a:moveTo>
                    <a:pt x="0" y="0"/>
                  </a:moveTo>
                  <a:lnTo>
                    <a:pt x="0" y="485775"/>
                  </a:lnTo>
                </a:path>
              </a:pathLst>
            </a:custGeom>
            <a:noFill/>
            <a:ln w="17145">
              <a:solidFill>
                <a:srgbClr val="1F2937"/>
              </a:solidFill>
            </a:ln>
          </p:spPr>
        </p:sp>
        <p:sp>
          <p:nvSpPr>
            <p:cNvPr id="68" name="Freeform 68"/>
            <p:cNvSpPr/>
            <p:nvPr/>
          </p:nvSpPr>
          <p:spPr>
            <a:xfrm>
              <a:off x="10732770" y="488251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69" name="Freeform 69"/>
            <p:cNvSpPr/>
            <p:nvPr/>
          </p:nvSpPr>
          <p:spPr>
            <a:xfrm>
              <a:off x="9368790" y="5073015"/>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70" name="Freeform 70"/>
            <p:cNvSpPr/>
            <p:nvPr/>
          </p:nvSpPr>
          <p:spPr>
            <a:xfrm>
              <a:off x="10589895" y="50253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71" name="Ellipse 71"/>
            <p:cNvSpPr/>
            <p:nvPr/>
          </p:nvSpPr>
          <p:spPr>
            <a:xfrm>
              <a:off x="5798820" y="1978342"/>
              <a:ext cx="171450" cy="171450"/>
            </a:xfrm>
            <a:prstGeom prst="ellipse">
              <a:avLst/>
            </a:prstGeom>
            <a:solidFill>
              <a:srgbClr val="FFFFFF"/>
            </a:solidFill>
            <a:ln w="17145">
              <a:solidFill>
                <a:srgbClr val="0E7C86"/>
              </a:solidFill>
            </a:ln>
          </p:spPr>
        </p:sp>
        <p:sp>
          <p:nvSpPr>
            <p:cNvPr id="72" name="Ellipse 72"/>
            <p:cNvSpPr/>
            <p:nvPr/>
          </p:nvSpPr>
          <p:spPr>
            <a:xfrm>
              <a:off x="5798820" y="2749868"/>
              <a:ext cx="171450" cy="171450"/>
            </a:xfrm>
            <a:prstGeom prst="ellipse">
              <a:avLst/>
            </a:prstGeom>
            <a:solidFill>
              <a:srgbClr val="FFFFFF"/>
            </a:solidFill>
            <a:ln w="17145">
              <a:solidFill>
                <a:srgbClr val="0E7C86"/>
              </a:solidFill>
            </a:ln>
          </p:spPr>
        </p:sp>
        <p:sp>
          <p:nvSpPr>
            <p:cNvPr id="73" name="Ellipse 73"/>
            <p:cNvSpPr/>
            <p:nvPr/>
          </p:nvSpPr>
          <p:spPr>
            <a:xfrm>
              <a:off x="7054215" y="1978342"/>
              <a:ext cx="171450" cy="171450"/>
            </a:xfrm>
            <a:prstGeom prst="ellipse">
              <a:avLst/>
            </a:prstGeom>
            <a:solidFill>
              <a:srgbClr val="FFFFFF"/>
            </a:solidFill>
            <a:ln w="17145">
              <a:solidFill>
                <a:srgbClr val="0E7C86"/>
              </a:solidFill>
            </a:ln>
          </p:spPr>
        </p:sp>
        <p:sp>
          <p:nvSpPr>
            <p:cNvPr id="74" name="Ellipse 74"/>
            <p:cNvSpPr/>
            <p:nvPr/>
          </p:nvSpPr>
          <p:spPr>
            <a:xfrm>
              <a:off x="7054215" y="2749868"/>
              <a:ext cx="171450" cy="171450"/>
            </a:xfrm>
            <a:prstGeom prst="ellipse">
              <a:avLst/>
            </a:prstGeom>
            <a:solidFill>
              <a:srgbClr val="FFFFFF"/>
            </a:solidFill>
            <a:ln w="17145">
              <a:solidFill>
                <a:srgbClr val="0E7C86"/>
              </a:solidFill>
            </a:ln>
          </p:spPr>
        </p:sp>
        <p:sp>
          <p:nvSpPr>
            <p:cNvPr id="75" name="Ellipse 75"/>
            <p:cNvSpPr/>
            <p:nvPr/>
          </p:nvSpPr>
          <p:spPr>
            <a:xfrm>
              <a:off x="9187815" y="1978342"/>
              <a:ext cx="171450" cy="171450"/>
            </a:xfrm>
            <a:prstGeom prst="ellipse">
              <a:avLst/>
            </a:prstGeom>
            <a:solidFill>
              <a:srgbClr val="FFFFFF"/>
            </a:solidFill>
            <a:ln w="17145">
              <a:solidFill>
                <a:srgbClr val="0E7C86"/>
              </a:solidFill>
            </a:ln>
          </p:spPr>
        </p:sp>
        <p:sp>
          <p:nvSpPr>
            <p:cNvPr id="76" name="Ellipse 76"/>
            <p:cNvSpPr/>
            <p:nvPr/>
          </p:nvSpPr>
          <p:spPr>
            <a:xfrm>
              <a:off x="9187815" y="2749868"/>
              <a:ext cx="171450" cy="171450"/>
            </a:xfrm>
            <a:prstGeom prst="ellipse">
              <a:avLst/>
            </a:prstGeom>
            <a:solidFill>
              <a:srgbClr val="FFFFFF"/>
            </a:solidFill>
            <a:ln w="17145">
              <a:solidFill>
                <a:srgbClr val="0E7C86"/>
              </a:solidFill>
            </a:ln>
          </p:spPr>
        </p:sp>
        <p:sp>
          <p:nvSpPr>
            <p:cNvPr id="77" name="Ellipse 77"/>
            <p:cNvSpPr/>
            <p:nvPr/>
          </p:nvSpPr>
          <p:spPr>
            <a:xfrm>
              <a:off x="10694670" y="1978342"/>
              <a:ext cx="171450" cy="171450"/>
            </a:xfrm>
            <a:prstGeom prst="ellipse">
              <a:avLst/>
            </a:prstGeom>
            <a:solidFill>
              <a:srgbClr val="FFFFFF"/>
            </a:solidFill>
            <a:ln w="17145">
              <a:solidFill>
                <a:srgbClr val="0E7C86"/>
              </a:solidFill>
            </a:ln>
          </p:spPr>
        </p:sp>
        <p:sp>
          <p:nvSpPr>
            <p:cNvPr id="78" name="Ellipse 78"/>
            <p:cNvSpPr/>
            <p:nvPr/>
          </p:nvSpPr>
          <p:spPr>
            <a:xfrm>
              <a:off x="10694670" y="2749868"/>
              <a:ext cx="171450" cy="171450"/>
            </a:xfrm>
            <a:prstGeom prst="ellipse">
              <a:avLst/>
            </a:prstGeom>
            <a:solidFill>
              <a:srgbClr val="FFFFFF"/>
            </a:solidFill>
            <a:ln w="17145">
              <a:solidFill>
                <a:srgbClr val="0E7C86"/>
              </a:solidFill>
            </a:ln>
          </p:spPr>
        </p:sp>
        <p:sp>
          <p:nvSpPr>
            <p:cNvPr id="79" name="Ellipse 79"/>
            <p:cNvSpPr/>
            <p:nvPr/>
          </p:nvSpPr>
          <p:spPr>
            <a:xfrm>
              <a:off x="5798820" y="4215765"/>
              <a:ext cx="171450" cy="171450"/>
            </a:xfrm>
            <a:prstGeom prst="ellipse">
              <a:avLst/>
            </a:prstGeom>
            <a:solidFill>
              <a:srgbClr val="FFFFFF"/>
            </a:solidFill>
            <a:ln w="17145">
              <a:solidFill>
                <a:srgbClr val="0E7C86"/>
              </a:solidFill>
            </a:ln>
          </p:spPr>
        </p:sp>
        <p:sp>
          <p:nvSpPr>
            <p:cNvPr id="80" name="Ellipse 80"/>
            <p:cNvSpPr/>
            <p:nvPr/>
          </p:nvSpPr>
          <p:spPr>
            <a:xfrm>
              <a:off x="5798820" y="4987290"/>
              <a:ext cx="171450" cy="171450"/>
            </a:xfrm>
            <a:prstGeom prst="ellipse">
              <a:avLst/>
            </a:prstGeom>
            <a:solidFill>
              <a:srgbClr val="FFFFFF"/>
            </a:solidFill>
            <a:ln w="17145">
              <a:solidFill>
                <a:srgbClr val="0E7C86"/>
              </a:solidFill>
            </a:ln>
          </p:spPr>
        </p:sp>
        <p:sp>
          <p:nvSpPr>
            <p:cNvPr id="81" name="Ellipse 81"/>
            <p:cNvSpPr/>
            <p:nvPr/>
          </p:nvSpPr>
          <p:spPr>
            <a:xfrm>
              <a:off x="7054215" y="4215765"/>
              <a:ext cx="171450" cy="171450"/>
            </a:xfrm>
            <a:prstGeom prst="ellipse">
              <a:avLst/>
            </a:prstGeom>
            <a:solidFill>
              <a:srgbClr val="FFFFFF"/>
            </a:solidFill>
            <a:ln w="17145">
              <a:solidFill>
                <a:srgbClr val="0E7C86"/>
              </a:solidFill>
            </a:ln>
          </p:spPr>
        </p:sp>
        <p:sp>
          <p:nvSpPr>
            <p:cNvPr id="82" name="Ellipse 82"/>
            <p:cNvSpPr/>
            <p:nvPr/>
          </p:nvSpPr>
          <p:spPr>
            <a:xfrm>
              <a:off x="7054215" y="4987290"/>
              <a:ext cx="171450" cy="171450"/>
            </a:xfrm>
            <a:prstGeom prst="ellipse">
              <a:avLst/>
            </a:prstGeom>
            <a:solidFill>
              <a:srgbClr val="FFFFFF"/>
            </a:solidFill>
            <a:ln w="17145">
              <a:solidFill>
                <a:srgbClr val="0E7C86"/>
              </a:solidFill>
            </a:ln>
          </p:spPr>
        </p:sp>
        <p:sp>
          <p:nvSpPr>
            <p:cNvPr id="83" name="Ellipse 83"/>
            <p:cNvSpPr/>
            <p:nvPr/>
          </p:nvSpPr>
          <p:spPr>
            <a:xfrm>
              <a:off x="9187815" y="4215765"/>
              <a:ext cx="171450" cy="171450"/>
            </a:xfrm>
            <a:prstGeom prst="ellipse">
              <a:avLst/>
            </a:prstGeom>
            <a:solidFill>
              <a:srgbClr val="FFFFFF"/>
            </a:solidFill>
            <a:ln w="17145">
              <a:solidFill>
                <a:srgbClr val="0E7C86"/>
              </a:solidFill>
            </a:ln>
          </p:spPr>
        </p:sp>
        <p:sp>
          <p:nvSpPr>
            <p:cNvPr id="84" name="Ellipse 84"/>
            <p:cNvSpPr/>
            <p:nvPr/>
          </p:nvSpPr>
          <p:spPr>
            <a:xfrm>
              <a:off x="10694670" y="4215765"/>
              <a:ext cx="171450" cy="171450"/>
            </a:xfrm>
            <a:prstGeom prst="ellipse">
              <a:avLst/>
            </a:prstGeom>
            <a:solidFill>
              <a:srgbClr val="FFFFFF"/>
            </a:solidFill>
            <a:ln w="17145">
              <a:solidFill>
                <a:srgbClr val="0E7C86"/>
              </a:solidFill>
            </a:ln>
          </p:spPr>
        </p:sp>
        <p:sp>
          <p:nvSpPr>
            <p:cNvPr id="85" name="Ellipse 85"/>
            <p:cNvSpPr/>
            <p:nvPr/>
          </p:nvSpPr>
          <p:spPr>
            <a:xfrm>
              <a:off x="9187815" y="4987290"/>
              <a:ext cx="171450" cy="171450"/>
            </a:xfrm>
            <a:prstGeom prst="ellipse">
              <a:avLst/>
            </a:prstGeom>
            <a:solidFill>
              <a:srgbClr val="FFFFFF"/>
            </a:solidFill>
            <a:ln w="17145">
              <a:solidFill>
                <a:srgbClr val="0E7C86"/>
              </a:solidFill>
            </a:ln>
          </p:spPr>
        </p:sp>
        <p:sp>
          <p:nvSpPr>
            <p:cNvPr id="86" name="Ellipse 86"/>
            <p:cNvSpPr/>
            <p:nvPr/>
          </p:nvSpPr>
          <p:spPr>
            <a:xfrm>
              <a:off x="10694670" y="4987290"/>
              <a:ext cx="171450" cy="171450"/>
            </a:xfrm>
            <a:prstGeom prst="ellipse">
              <a:avLst/>
            </a:prstGeom>
            <a:solidFill>
              <a:srgbClr val="FFFFFF"/>
            </a:solidFill>
            <a:ln w="17145">
              <a:solidFill>
                <a:srgbClr val="0E7C86"/>
              </a:solidFill>
            </a:ln>
          </p:spPr>
        </p:sp>
        <p:sp>
          <p:nvSpPr>
            <p:cNvPr id="87" name="TextBox 87"/>
            <p:cNvSpPr txBox="1"/>
            <p:nvPr/>
          </p:nvSpPr>
          <p:spPr>
            <a:xfrm>
              <a:off x="6240301" y="3270409"/>
              <a:ext cx="543883"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(a) 前馈</a:t>
              </a:r>
            </a:p>
          </p:txBody>
        </p:sp>
        <p:sp>
          <p:nvSpPr>
            <p:cNvPr id="88" name="TextBox 88"/>
            <p:cNvSpPr txBox="1"/>
            <p:nvPr/>
          </p:nvSpPr>
          <p:spPr>
            <a:xfrm>
              <a:off x="9623098" y="3270409"/>
              <a:ext cx="807738"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(b) 输出反馈</a:t>
              </a:r>
            </a:p>
          </p:txBody>
        </p:sp>
        <p:sp>
          <p:nvSpPr>
            <p:cNvPr id="89" name="TextBox 89"/>
            <p:cNvSpPr txBox="1"/>
            <p:nvPr/>
          </p:nvSpPr>
          <p:spPr>
            <a:xfrm>
              <a:off x="6108373" y="5233511"/>
              <a:ext cx="807738"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(c) 层内互连</a:t>
              </a:r>
            </a:p>
          </p:txBody>
        </p:sp>
        <p:sp>
          <p:nvSpPr>
            <p:cNvPr id="90" name="TextBox 90"/>
            <p:cNvSpPr txBox="1"/>
            <p:nvPr/>
          </p:nvSpPr>
          <p:spPr>
            <a:xfrm>
              <a:off x="9689062" y="5233511"/>
              <a:ext cx="67581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(d) 全互连</a:t>
              </a:r>
            </a:p>
          </p:txBody>
        </p:sp>
      </p:grpSp>
      <p:grpSp>
        <p:nvGrpSpPr>
          <p:cNvPr id="94" name="footer"/>
          <p:cNvGrpSpPr/>
          <p:nvPr/>
        </p:nvGrpSpPr>
        <p:grpSpPr>
          <a:xfrm>
            <a:off x="528447" y="6581299"/>
            <a:ext cx="11135106" cy="190690"/>
            <a:chOff x="528447" y="6581299"/>
            <a:chExt cx="11135106" cy="190690"/>
          </a:xfrm>
        </p:grpSpPr>
        <p:sp>
          <p:nvSpPr>
            <p:cNvPr id="92" name="TextBox 9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93" name="TextBox 9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4691253" cy="3351847"/>
            <a:chOff x="667512" y="1835468"/>
            <a:chExt cx="4691253"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149047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感知器</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只有一层可调权的网络，能做什么、不能做什么</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定义与分离超平面</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损失函数与随机梯度下降</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手算一个完整的训练过程</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62153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XOR为什么做不到</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感知器：一个超平面把两类点分开</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937983" cy="264033"/>
            <a:chOff x="526542" y="1545907"/>
            <a:chExt cx="4937983" cy="264033"/>
          </a:xfrm>
        </p:grpSpPr>
        <p:sp>
          <p:nvSpPr>
            <p:cNvPr id="7" name="TextBox 7"/>
            <p:cNvSpPr txBox="1"/>
            <p:nvPr/>
          </p:nvSpPr>
          <p:spPr>
            <a:xfrm>
              <a:off x="526542" y="1545907"/>
              <a:ext cx="493798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Rosenblatt 1957 年提出，是最早做出硬件的神经网络模型。</a:t>
              </a:r>
            </a:p>
          </p:txBody>
        </p:sp>
      </p:grpSp>
      <p:grpSp>
        <p:nvGrpSpPr>
          <p:cNvPr id="23" name="c1-card-1"/>
          <p:cNvGrpSpPr/>
          <p:nvPr/>
        </p:nvGrpSpPr>
        <p:grpSpPr>
          <a:xfrm>
            <a:off x="533400" y="1928812"/>
            <a:ext cx="5626418" cy="2848928"/>
            <a:chOff x="533400" y="1928812"/>
            <a:chExt cx="5626418" cy="2848928"/>
          </a:xfrm>
        </p:grpSpPr>
        <p:sp>
          <p:nvSpPr>
            <p:cNvPr id="9" name="Rectangle 9"/>
            <p:cNvSpPr/>
            <p:nvPr/>
          </p:nvSpPr>
          <p:spPr>
            <a:xfrm>
              <a:off x="533400" y="1928812"/>
              <a:ext cx="5626418" cy="2848928"/>
            </a:xfrm>
            <a:prstGeom prst="roundRect">
              <a:avLst>
                <a:gd name="adj" fmla="val 4681"/>
              </a:avLst>
            </a:prstGeom>
            <a:solidFill>
              <a:srgbClr val="FFFFFF"/>
            </a:solidFill>
            <a:ln w="14288">
              <a:solidFill>
                <a:srgbClr val="D9DFEA"/>
              </a:solidFill>
            </a:ln>
          </p:spPr>
        </p:sp>
        <p:sp>
          <p:nvSpPr>
            <p:cNvPr id="10" name="Rectangle 10"/>
            <p:cNvSpPr/>
            <p:nvPr/>
          </p:nvSpPr>
          <p:spPr>
            <a:xfrm>
              <a:off x="542925" y="2062162"/>
              <a:ext cx="47625" cy="2582228"/>
            </a:xfrm>
            <a:prstGeom prst="roundRect">
              <a:avLst>
                <a:gd name="adj" fmla="val 50000"/>
              </a:avLst>
            </a:prstGeom>
            <a:solidFill>
              <a:srgbClr val="0E7C86"/>
            </a:solidFill>
            <a:ln>
              <a:noFill/>
            </a:ln>
          </p:spPr>
        </p:sp>
        <p:sp>
          <p:nvSpPr>
            <p:cNvPr id="11" name="Rectangle 11"/>
            <p:cNvSpPr/>
            <p:nvPr/>
          </p:nvSpPr>
          <p:spPr>
            <a:xfrm>
              <a:off x="758190" y="2115502"/>
              <a:ext cx="458152" cy="238125"/>
            </a:xfrm>
            <a:prstGeom prst="roundRect">
              <a:avLst>
                <a:gd name="adj" fmla="val 50000"/>
              </a:avLst>
            </a:prstGeom>
            <a:solidFill>
              <a:srgbClr val="E2F3F4"/>
            </a:solidFill>
            <a:ln>
              <a:noFill/>
            </a:ln>
          </p:spPr>
        </p:sp>
        <p:sp>
          <p:nvSpPr>
            <p:cNvPr id="12" name="TextBox 12"/>
            <p:cNvSpPr txBox="1"/>
            <p:nvPr/>
          </p:nvSpPr>
          <p:spPr>
            <a:xfrm>
              <a:off x="850862" y="2148364"/>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3" name="TextBox 13"/>
            <p:cNvSpPr txBox="1"/>
            <p:nvPr/>
          </p:nvSpPr>
          <p:spPr>
            <a:xfrm>
              <a:off x="1323784" y="2150745"/>
              <a:ext cx="166570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感知器 perceptron</a:t>
              </a:r>
            </a:p>
          </p:txBody>
        </p:sp>
        <p:sp>
          <p:nvSpPr>
            <p:cNvPr id="14" name="TextBox 14"/>
            <p:cNvSpPr txBox="1"/>
            <p:nvPr/>
          </p:nvSpPr>
          <p:spPr>
            <a:xfrm>
              <a:off x="751332" y="2476500"/>
              <a:ext cx="480574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输入空间（特征空间）X ⊆ Rⁿ，输出空间 Y = {+1, −1}。由输入</a:t>
              </a:r>
              <a:br/>
              <a:r>
                <a:rPr lang="zh-CN" sz="1350" dirty="0">
                  <a:solidFill>
                    <a:srgbClr val="1F2937"/>
                  </a:solidFill>
                  <a:latin typeface="+mn-lt"/>
                  <a:ea typeface="+mn-ea"/>
                  <a:cs typeface="+mn-cs"/>
                </a:rPr>
                <a:t>空间到输出空间的函数</a:t>
              </a:r>
            </a:p>
          </p:txBody>
        </p:sp>
        <mc:AlternateContent xmlns:mc="http://schemas.openxmlformats.org/markup-compatibility/2006">
          <mc:Choice xmlns:a14="http://schemas.microsoft.com/office/drawing/2010/main" Requires="a14">
            <p:sp>
              <p:nvSpPr>
                <p:cNvPr id="15" name="formula26"/>
                <p:cNvSpPr txBox="1">
                  <a:spLocks noGrp="1"/>
                </p:cNvSpPr>
                <p:nvPr/>
              </p:nvSpPr>
              <p:spPr>
                <a:xfrm>
                  <a:off x="758190" y="3011805"/>
                  <a:ext cx="5214938"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420" dirty="0">
                            <a:solidFill>
                              <a:srgbClr val="1F2937"/>
                            </a:solidFill>
                            <a:latin typeface="Cambria Math"/>
                            <a:ea typeface="Cambria Math"/>
                            <a:cs typeface="Cambria Math"/>
                          </a:rPr>
                          <m:t>f</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e>
                        </m:d>
                        <m:r>
                          <m:rPr>
                            <m:sty m:val="p"/>
                          </m:rPr>
                          <a:rPr lang="zh-CN" sz="1420" dirty="0">
                            <a:solidFill>
                              <a:srgbClr val="1F2937"/>
                            </a:solidFill>
                            <a:latin typeface="Cambria Math"/>
                            <a:ea typeface="Cambria Math"/>
                            <a:cs typeface="Cambria Math"/>
                          </a:rPr>
                          <m:t>=</m:t>
                        </m:r>
                        <m:r>
                          <m:rPr>
                            <m:sty m:val="p"/>
                          </m:rPr>
                          <a:rPr lang="zh-CN" sz="1420" dirty="0">
                            <a:solidFill>
                              <a:srgbClr val="1F2937"/>
                            </a:solidFill>
                            <a:latin typeface="Cambria Math"/>
                            <a:ea typeface="Cambria Math"/>
                            <a:cs typeface="Cambria Math"/>
                          </a:rPr>
                          <m:t>sign</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x</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e>
                        </m:d>
                      </m:oMath>
                    </m:oMathPara>
                  </a14:m>
                </a:p>
              </p:txBody>
            </p:sp>
          </mc:Choice>
        </mc:AlternateContent>
        <p:sp>
          <p:nvSpPr>
            <p:cNvPr id="16" name="TextBox 16"/>
            <p:cNvSpPr txBox="1"/>
            <p:nvPr/>
          </p:nvSpPr>
          <p:spPr>
            <a:xfrm>
              <a:off x="751332" y="3479482"/>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称为感知机。</a:t>
              </a:r>
            </a:p>
          </p:txBody>
        </p:sp>
        <p:sp>
          <p:nvSpPr>
            <p:cNvPr id="17" name="Ellipse 17"/>
            <p:cNvSpPr/>
            <p:nvPr/>
          </p:nvSpPr>
          <p:spPr>
            <a:xfrm>
              <a:off x="766762" y="3835718"/>
              <a:ext cx="59055" cy="59055"/>
            </a:xfrm>
            <a:prstGeom prst="ellipse">
              <a:avLst/>
            </a:prstGeom>
            <a:solidFill>
              <a:srgbClr val="0E7C86"/>
            </a:solidFill>
            <a:ln>
              <a:noFill/>
            </a:ln>
          </p:spPr>
        </p:sp>
        <p:sp>
          <p:nvSpPr>
            <p:cNvPr id="18" name="TextBox 18"/>
            <p:cNvSpPr txBox="1"/>
            <p:nvPr/>
          </p:nvSpPr>
          <p:spPr>
            <a:xfrm>
              <a:off x="922782" y="3779520"/>
              <a:ext cx="383302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w ∈ Rⁿ 叫权值，b ∈ R 叫偏置，合称超平面参数</a:t>
              </a:r>
            </a:p>
          </p:txBody>
        </p:sp>
        <p:sp>
          <p:nvSpPr>
            <p:cNvPr id="19" name="Ellipse 19"/>
            <p:cNvSpPr/>
            <p:nvPr/>
          </p:nvSpPr>
          <p:spPr>
            <a:xfrm>
              <a:off x="766762" y="4135755"/>
              <a:ext cx="59055" cy="59055"/>
            </a:xfrm>
            <a:prstGeom prst="ellipse">
              <a:avLst/>
            </a:prstGeom>
            <a:solidFill>
              <a:srgbClr val="0E7C86"/>
            </a:solidFill>
            <a:ln>
              <a:noFill/>
            </a:ln>
          </p:spPr>
        </p:sp>
        <p:sp>
          <p:nvSpPr>
            <p:cNvPr id="20" name="TextBox 20"/>
            <p:cNvSpPr txBox="1"/>
            <p:nvPr/>
          </p:nvSpPr>
          <p:spPr>
            <a:xfrm>
              <a:off x="922782" y="4079558"/>
              <a:ext cx="19492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w·x 表示 w 与 x 的内积</a:t>
              </a:r>
            </a:p>
          </p:txBody>
        </p:sp>
        <p:sp>
          <p:nvSpPr>
            <p:cNvPr id="21" name="Ellipse 21"/>
            <p:cNvSpPr/>
            <p:nvPr/>
          </p:nvSpPr>
          <p:spPr>
            <a:xfrm>
              <a:off x="766762" y="4436745"/>
              <a:ext cx="59055" cy="59055"/>
            </a:xfrm>
            <a:prstGeom prst="ellipse">
              <a:avLst/>
            </a:prstGeom>
            <a:solidFill>
              <a:srgbClr val="0E7C86"/>
            </a:solidFill>
            <a:ln>
              <a:noFill/>
            </a:ln>
          </p:spPr>
        </p:sp>
        <p:sp>
          <p:nvSpPr>
            <p:cNvPr id="22" name="TextBox 22"/>
            <p:cNvSpPr txBox="1"/>
            <p:nvPr/>
          </p:nvSpPr>
          <p:spPr>
            <a:xfrm>
              <a:off x="922782" y="4380548"/>
              <a:ext cx="285790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sign(x) = +1 当 x ≥ 0，−1 当 x &lt; 0</a:t>
              </a:r>
            </a:p>
          </p:txBody>
        </p:sp>
      </p:grpSp>
      <p:grpSp>
        <p:nvGrpSpPr>
          <p:cNvPr id="29" name="c1-callout-2"/>
          <p:cNvGrpSpPr/>
          <p:nvPr/>
        </p:nvGrpSpPr>
        <p:grpSpPr>
          <a:xfrm>
            <a:off x="533400" y="4947285"/>
            <a:ext cx="5626418" cy="729615"/>
            <a:chOff x="533400" y="4947285"/>
            <a:chExt cx="5626418" cy="729615"/>
          </a:xfrm>
        </p:grpSpPr>
        <p:sp>
          <p:nvSpPr>
            <p:cNvPr id="24" name="Rectangle 24"/>
            <p:cNvSpPr/>
            <p:nvPr/>
          </p:nvSpPr>
          <p:spPr>
            <a:xfrm>
              <a:off x="533400" y="4947285"/>
              <a:ext cx="5626418" cy="729615"/>
            </a:xfrm>
            <a:prstGeom prst="roundRect">
              <a:avLst>
                <a:gd name="adj" fmla="val 15666"/>
              </a:avLst>
            </a:prstGeom>
            <a:solidFill>
              <a:srgbClr val="0E7C86"/>
            </a:solidFill>
            <a:ln>
              <a:noFill/>
            </a:ln>
          </p:spPr>
        </p:sp>
        <p:grpSp>
          <p:nvGrpSpPr>
            <p:cNvPr id="27" name="Group 27"/>
            <p:cNvGrpSpPr/>
            <p:nvPr/>
          </p:nvGrpSpPr>
          <p:grpSpPr>
            <a:xfrm>
              <a:off x="738188" y="5212082"/>
              <a:ext cx="200023" cy="200023"/>
              <a:chOff x="738188" y="5212082"/>
              <a:chExt cx="200023" cy="200023"/>
            </a:xfrm>
          </p:grpSpPr>
          <p:sp>
            <p:nvSpPr>
              <p:cNvPr id="25" name="Freeform 25"/>
              <p:cNvSpPr/>
              <p:nvPr/>
            </p:nvSpPr>
            <p:spPr>
              <a:xfrm>
                <a:off x="738188" y="521208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6" name="Freeform 26"/>
              <p:cNvSpPr/>
              <p:nvPr/>
            </p:nvSpPr>
            <p:spPr>
              <a:xfrm>
                <a:off x="871538" y="527875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8" name="TextBox 28"/>
            <p:cNvSpPr txBox="1"/>
            <p:nvPr/>
          </p:nvSpPr>
          <p:spPr>
            <a:xfrm>
              <a:off x="1040892" y="5093970"/>
              <a:ext cx="428282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超平面 w·x + b = 0 称为分离超平面，w 是它的法向量，</a:t>
              </a:r>
              <a:br/>
              <a:r>
                <a:rPr lang="zh-CN" sz="1350" dirty="0">
                  <a:solidFill>
                    <a:srgbClr val="FFFFFF"/>
                  </a:solidFill>
                  <a:latin typeface="+mn-lt"/>
                  <a:ea typeface="+mn-ea"/>
                  <a:cs typeface="+mn-cs"/>
                </a:rPr>
                <a:t>−b/||w|| 是原点到它的有向距离。</a:t>
              </a:r>
            </a:p>
          </p:txBody>
        </p:sp>
      </p:grpSp>
      <p:grpSp>
        <p:nvGrpSpPr>
          <p:cNvPr id="48" name="c2-graph-1"/>
          <p:cNvGrpSpPr/>
          <p:nvPr/>
        </p:nvGrpSpPr>
        <p:grpSpPr>
          <a:xfrm>
            <a:off x="6546073" y="1971199"/>
            <a:ext cx="5031071" cy="3213735"/>
            <a:chOff x="6546073" y="1971199"/>
            <a:chExt cx="5031071" cy="3213735"/>
          </a:xfrm>
        </p:grpSpPr>
        <p:sp>
          <p:nvSpPr>
            <p:cNvPr id="30" name="Freeform 30"/>
            <p:cNvSpPr/>
            <p:nvPr/>
          </p:nvSpPr>
          <p:spPr>
            <a:xfrm>
              <a:off x="6918008" y="4881562"/>
              <a:ext cx="4399598" cy="9525"/>
            </a:xfrm>
            <a:custGeom>
              <a:avLst/>
              <a:gdLst/>
              <a:ahLst/>
              <a:cxnLst/>
              <a:rect l="l" t="t" r="r" b="b"/>
              <a:pathLst>
                <a:path w="4399598" h="9525">
                  <a:moveTo>
                    <a:pt x="0" y="0"/>
                  </a:moveTo>
                  <a:lnTo>
                    <a:pt x="4399598" y="0"/>
                  </a:lnTo>
                </a:path>
              </a:pathLst>
            </a:custGeom>
            <a:noFill/>
            <a:ln w="17145">
              <a:solidFill>
                <a:srgbClr val="1F2937"/>
              </a:solidFill>
            </a:ln>
          </p:spPr>
        </p:sp>
        <p:sp>
          <p:nvSpPr>
            <p:cNvPr id="31" name="Freeform 31"/>
            <p:cNvSpPr/>
            <p:nvPr/>
          </p:nvSpPr>
          <p:spPr>
            <a:xfrm>
              <a:off x="11317605" y="483393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2" name="Freeform 32"/>
            <p:cNvSpPr/>
            <p:nvPr/>
          </p:nvSpPr>
          <p:spPr>
            <a:xfrm>
              <a:off x="6879908" y="2327910"/>
              <a:ext cx="9525" cy="2446972"/>
            </a:xfrm>
            <a:custGeom>
              <a:avLst/>
              <a:gdLst/>
              <a:ahLst/>
              <a:cxnLst/>
              <a:rect l="l" t="t" r="r" b="b"/>
              <a:pathLst>
                <a:path w="9525" h="2446972">
                  <a:moveTo>
                    <a:pt x="0" y="2446972"/>
                  </a:moveTo>
                  <a:lnTo>
                    <a:pt x="0" y="0"/>
                  </a:lnTo>
                </a:path>
              </a:pathLst>
            </a:custGeom>
            <a:noFill/>
            <a:ln w="17145">
              <a:solidFill>
                <a:srgbClr val="1F2937"/>
              </a:solidFill>
            </a:ln>
          </p:spPr>
        </p:sp>
        <p:sp>
          <p:nvSpPr>
            <p:cNvPr id="33" name="Freeform 33"/>
            <p:cNvSpPr/>
            <p:nvPr/>
          </p:nvSpPr>
          <p:spPr>
            <a:xfrm>
              <a:off x="6832282" y="223266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4" name="Freeform 34"/>
            <p:cNvSpPr/>
            <p:nvPr/>
          </p:nvSpPr>
          <p:spPr>
            <a:xfrm>
              <a:off x="7334250" y="2218372"/>
              <a:ext cx="3455670" cy="2505075"/>
            </a:xfrm>
            <a:custGeom>
              <a:avLst/>
              <a:gdLst/>
              <a:ahLst/>
              <a:cxnLst/>
              <a:rect l="l" t="t" r="r" b="b"/>
              <a:pathLst>
                <a:path w="3455670" h="2505075">
                  <a:moveTo>
                    <a:pt x="0" y="0"/>
                  </a:moveTo>
                  <a:lnTo>
                    <a:pt x="3455670" y="2505075"/>
                  </a:lnTo>
                </a:path>
              </a:pathLst>
            </a:custGeom>
            <a:noFill/>
            <a:ln w="17145">
              <a:solidFill>
                <a:srgbClr val="0E7C86"/>
              </a:solidFill>
            </a:ln>
          </p:spPr>
        </p:sp>
        <p:sp>
          <p:nvSpPr>
            <p:cNvPr id="35" name="Ellipse 35"/>
            <p:cNvSpPr/>
            <p:nvPr/>
          </p:nvSpPr>
          <p:spPr>
            <a:xfrm>
              <a:off x="7758112" y="2659380"/>
              <a:ext cx="114300" cy="114300"/>
            </a:xfrm>
            <a:prstGeom prst="ellipse">
              <a:avLst/>
            </a:prstGeom>
            <a:solidFill>
              <a:srgbClr val="0E7C86"/>
            </a:solidFill>
            <a:ln>
              <a:noFill/>
            </a:ln>
          </p:spPr>
        </p:sp>
        <p:sp>
          <p:nvSpPr>
            <p:cNvPr id="36" name="Ellipse 36"/>
            <p:cNvSpPr/>
            <p:nvPr/>
          </p:nvSpPr>
          <p:spPr>
            <a:xfrm>
              <a:off x="8484870" y="2396490"/>
              <a:ext cx="114300" cy="114300"/>
            </a:xfrm>
            <a:prstGeom prst="ellipse">
              <a:avLst/>
            </a:prstGeom>
            <a:solidFill>
              <a:srgbClr val="0E7C86"/>
            </a:solidFill>
            <a:ln>
              <a:noFill/>
            </a:ln>
          </p:spPr>
        </p:sp>
        <p:sp>
          <p:nvSpPr>
            <p:cNvPr id="37" name="Ellipse 37"/>
            <p:cNvSpPr/>
            <p:nvPr/>
          </p:nvSpPr>
          <p:spPr>
            <a:xfrm>
              <a:off x="9108758" y="2725102"/>
              <a:ext cx="114300" cy="114300"/>
            </a:xfrm>
            <a:prstGeom prst="ellipse">
              <a:avLst/>
            </a:prstGeom>
            <a:solidFill>
              <a:srgbClr val="0E7C86"/>
            </a:solidFill>
            <a:ln>
              <a:noFill/>
            </a:ln>
          </p:spPr>
        </p:sp>
        <p:sp>
          <p:nvSpPr>
            <p:cNvPr id="38" name="Ellipse 38"/>
            <p:cNvSpPr/>
            <p:nvPr/>
          </p:nvSpPr>
          <p:spPr>
            <a:xfrm>
              <a:off x="8381048" y="3052762"/>
              <a:ext cx="114300" cy="114300"/>
            </a:xfrm>
            <a:prstGeom prst="ellipse">
              <a:avLst/>
            </a:prstGeom>
            <a:solidFill>
              <a:srgbClr val="0E7C86"/>
            </a:solidFill>
            <a:ln>
              <a:noFill/>
            </a:ln>
          </p:spPr>
        </p:sp>
        <p:sp>
          <p:nvSpPr>
            <p:cNvPr id="39" name="Ellipse 39"/>
            <p:cNvSpPr/>
            <p:nvPr/>
          </p:nvSpPr>
          <p:spPr>
            <a:xfrm>
              <a:off x="9420225" y="4168140"/>
              <a:ext cx="114300" cy="114300"/>
            </a:xfrm>
            <a:prstGeom prst="ellipse">
              <a:avLst/>
            </a:prstGeom>
            <a:solidFill>
              <a:srgbClr val="D9DFEA"/>
            </a:solidFill>
            <a:ln>
              <a:noFill/>
            </a:ln>
          </p:spPr>
        </p:sp>
        <p:sp>
          <p:nvSpPr>
            <p:cNvPr id="40" name="Ellipse 40"/>
            <p:cNvSpPr/>
            <p:nvPr/>
          </p:nvSpPr>
          <p:spPr>
            <a:xfrm>
              <a:off x="10146982" y="3774758"/>
              <a:ext cx="114300" cy="114300"/>
            </a:xfrm>
            <a:prstGeom prst="ellipse">
              <a:avLst/>
            </a:prstGeom>
            <a:solidFill>
              <a:srgbClr val="D9DFEA"/>
            </a:solidFill>
            <a:ln>
              <a:noFill/>
            </a:ln>
          </p:spPr>
        </p:sp>
        <p:sp>
          <p:nvSpPr>
            <p:cNvPr id="41" name="Ellipse 41"/>
            <p:cNvSpPr/>
            <p:nvPr/>
          </p:nvSpPr>
          <p:spPr>
            <a:xfrm>
              <a:off x="10354628" y="4365308"/>
              <a:ext cx="114300" cy="114300"/>
            </a:xfrm>
            <a:prstGeom prst="ellipse">
              <a:avLst/>
            </a:prstGeom>
            <a:solidFill>
              <a:srgbClr val="D9DFEA"/>
            </a:solidFill>
            <a:ln>
              <a:noFill/>
            </a:ln>
          </p:spPr>
        </p:sp>
        <p:sp>
          <p:nvSpPr>
            <p:cNvPr id="42" name="Ellipse 42"/>
            <p:cNvSpPr/>
            <p:nvPr/>
          </p:nvSpPr>
          <p:spPr>
            <a:xfrm>
              <a:off x="9627870" y="4628198"/>
              <a:ext cx="114300" cy="114300"/>
            </a:xfrm>
            <a:prstGeom prst="ellipse">
              <a:avLst/>
            </a:prstGeom>
            <a:solidFill>
              <a:srgbClr val="D9DFEA"/>
            </a:solidFill>
            <a:ln>
              <a:noFill/>
            </a:ln>
          </p:spPr>
        </p:sp>
        <p:sp>
          <p:nvSpPr>
            <p:cNvPr id="43" name="TextBox 43"/>
            <p:cNvSpPr txBox="1"/>
            <p:nvPr/>
          </p:nvSpPr>
          <p:spPr>
            <a:xfrm>
              <a:off x="11324765" y="5023009"/>
              <a:ext cx="25237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x⁽¹⁾</a:t>
              </a:r>
            </a:p>
          </p:txBody>
        </p:sp>
        <p:sp>
          <p:nvSpPr>
            <p:cNvPr id="44" name="TextBox 44"/>
            <p:cNvSpPr txBox="1"/>
            <p:nvPr/>
          </p:nvSpPr>
          <p:spPr>
            <a:xfrm>
              <a:off x="6546073" y="1971199"/>
              <a:ext cx="25237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x⁽²⁾</a:t>
              </a:r>
            </a:p>
          </p:txBody>
        </p:sp>
        <p:sp>
          <p:nvSpPr>
            <p:cNvPr id="45" name="TextBox 45"/>
            <p:cNvSpPr txBox="1"/>
            <p:nvPr/>
          </p:nvSpPr>
          <p:spPr>
            <a:xfrm>
              <a:off x="7855874" y="2101691"/>
              <a:ext cx="334067" cy="161925"/>
            </a:xfrm>
            <a:prstGeom prst="rect">
              <a:avLst/>
            </a:prstGeom>
            <a:noFill/>
            <a:ln>
              <a:noFill/>
            </a:ln>
          </p:spPr>
          <p:txBody>
            <a:bodyPr wrap="none" lIns="0" tIns="0" rIns="0" bIns="0" anchor="t" anchorCtr="0">
              <a:spAutoFit/>
            </a:bodyPr>
            <a:lstStyle/>
            <a:p>
              <a:pPr algn="ctr"/>
              <a:r>
                <a:rPr lang="en-US" sz="820" b="1" dirty="0">
                  <a:solidFill>
                    <a:srgbClr val="5B6475"/>
                  </a:solidFill>
                  <a:latin typeface="+mn-lt"/>
                  <a:ea typeface="+mn-ea"/>
                  <a:cs typeface="+mn-cs"/>
                </a:rPr>
                <a:t>y = +1</a:t>
              </a:r>
            </a:p>
          </p:txBody>
        </p:sp>
        <p:sp>
          <p:nvSpPr>
            <p:cNvPr id="46" name="TextBox 46"/>
            <p:cNvSpPr txBox="1"/>
            <p:nvPr/>
          </p:nvSpPr>
          <p:spPr>
            <a:xfrm>
              <a:off x="10452389" y="4858226"/>
              <a:ext cx="334067" cy="161925"/>
            </a:xfrm>
            <a:prstGeom prst="rect">
              <a:avLst/>
            </a:prstGeom>
            <a:noFill/>
            <a:ln>
              <a:noFill/>
            </a:ln>
          </p:spPr>
          <p:txBody>
            <a:bodyPr wrap="none" lIns="0" tIns="0" rIns="0" bIns="0" anchor="t" anchorCtr="0">
              <a:spAutoFit/>
            </a:bodyPr>
            <a:lstStyle/>
            <a:p>
              <a:pPr algn="ctr"/>
              <a:r>
                <a:rPr lang="en-US" sz="820" b="1" dirty="0">
                  <a:solidFill>
                    <a:srgbClr val="5B6475"/>
                  </a:solidFill>
                  <a:latin typeface="+mn-lt"/>
                  <a:ea typeface="+mn-ea"/>
                  <a:cs typeface="+mn-cs"/>
                </a:rPr>
                <a:t>y = −1</a:t>
              </a:r>
            </a:p>
          </p:txBody>
        </p:sp>
        <p:sp>
          <p:nvSpPr>
            <p:cNvPr id="47" name="TextBox 47"/>
            <p:cNvSpPr txBox="1"/>
            <p:nvPr/>
          </p:nvSpPr>
          <p:spPr>
            <a:xfrm>
              <a:off x="9308022" y="3152299"/>
              <a:ext cx="753996"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H: w·x + b = 0</a:t>
              </a:r>
            </a:p>
          </p:txBody>
        </p:sp>
      </p:grpSp>
      <p:grpSp>
        <p:nvGrpSpPr>
          <p:cNvPr id="55" name="takeaway"/>
          <p:cNvGrpSpPr/>
          <p:nvPr/>
        </p:nvGrpSpPr>
        <p:grpSpPr>
          <a:xfrm>
            <a:off x="533400" y="5881688"/>
            <a:ext cx="11125200" cy="481012"/>
            <a:chOff x="533400" y="5881688"/>
            <a:chExt cx="11125200" cy="481012"/>
          </a:xfrm>
        </p:grpSpPr>
        <p:sp>
          <p:nvSpPr>
            <p:cNvPr id="49" name="Rectangle 49"/>
            <p:cNvSpPr/>
            <p:nvPr/>
          </p:nvSpPr>
          <p:spPr>
            <a:xfrm>
              <a:off x="533400" y="5881688"/>
              <a:ext cx="11125200" cy="481012"/>
            </a:xfrm>
            <a:prstGeom prst="roundRect">
              <a:avLst>
                <a:gd name="adj" fmla="val 23762"/>
              </a:avLst>
            </a:prstGeom>
            <a:solidFill>
              <a:srgbClr val="F4F6FB"/>
            </a:solidFill>
            <a:ln>
              <a:noFill/>
            </a:ln>
          </p:spPr>
        </p:sp>
        <p:grpSp>
          <p:nvGrpSpPr>
            <p:cNvPr id="53" name="Group 53"/>
            <p:cNvGrpSpPr/>
            <p:nvPr/>
          </p:nvGrpSpPr>
          <p:grpSpPr>
            <a:xfrm>
              <a:off x="738188" y="6022658"/>
              <a:ext cx="200026" cy="200026"/>
              <a:chOff x="738188" y="6022658"/>
              <a:chExt cx="200026" cy="200026"/>
            </a:xfrm>
          </p:grpSpPr>
          <p:sp>
            <p:nvSpPr>
              <p:cNvPr id="50" name="Freeform 50"/>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1" name="Freeform 51"/>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2" name="Freeform 52"/>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4" name="TextBox 54"/>
            <p:cNvSpPr txBox="1"/>
            <p:nvPr/>
          </p:nvSpPr>
          <p:spPr>
            <a:xfrm>
              <a:off x="1040892" y="6028373"/>
              <a:ext cx="102151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更正：B 版课件把感知器的英文写成 Perceptron Linear Algorithm，通行叫法是 Perceptron Learning Algorithm（PLA）。</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线性可分：一条直线能不能把两类点完全分开</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5410200" cy="1293495"/>
            <a:chOff x="533400" y="1524000"/>
            <a:chExt cx="5410200" cy="1293495"/>
          </a:xfrm>
        </p:grpSpPr>
        <p:sp>
          <p:nvSpPr>
            <p:cNvPr id="7" name="Rectangle 7"/>
            <p:cNvSpPr/>
            <p:nvPr/>
          </p:nvSpPr>
          <p:spPr>
            <a:xfrm>
              <a:off x="533400" y="1524000"/>
              <a:ext cx="5410200" cy="1293495"/>
            </a:xfrm>
            <a:prstGeom prst="roundRect">
              <a:avLst>
                <a:gd name="adj" fmla="val 10309"/>
              </a:avLst>
            </a:prstGeom>
            <a:solidFill>
              <a:srgbClr val="FFFFFF"/>
            </a:solidFill>
            <a:ln w="14288">
              <a:solidFill>
                <a:srgbClr val="D9DFEA"/>
              </a:solidFill>
            </a:ln>
          </p:spPr>
        </p:sp>
        <p:sp>
          <p:nvSpPr>
            <p:cNvPr id="8" name="Rectangle 8"/>
            <p:cNvSpPr/>
            <p:nvPr/>
          </p:nvSpPr>
          <p:spPr>
            <a:xfrm>
              <a:off x="542925" y="1657350"/>
              <a:ext cx="47625" cy="1026795"/>
            </a:xfrm>
            <a:prstGeom prst="roundRect">
              <a:avLst>
                <a:gd name="adj" fmla="val 50000"/>
              </a:avLst>
            </a:prstGeom>
            <a:solidFill>
              <a:srgbClr val="0E7C86"/>
            </a:solidFill>
            <a:ln>
              <a:noFill/>
            </a:ln>
          </p:spPr>
        </p:sp>
        <p:sp>
          <p:nvSpPr>
            <p:cNvPr id="9" name="Rectangle 9"/>
            <p:cNvSpPr/>
            <p:nvPr/>
          </p:nvSpPr>
          <p:spPr>
            <a:xfrm>
              <a:off x="775335" y="1727835"/>
              <a:ext cx="778192" cy="257175"/>
            </a:xfrm>
            <a:prstGeom prst="roundRect">
              <a:avLst>
                <a:gd name="adj" fmla="val 50000"/>
              </a:avLst>
            </a:prstGeom>
            <a:solidFill>
              <a:srgbClr val="E2F3F4"/>
            </a:solidFill>
            <a:ln>
              <a:noFill/>
            </a:ln>
          </p:spPr>
        </p:sp>
        <p:sp>
          <p:nvSpPr>
            <p:cNvPr id="10" name="TextBox 10"/>
            <p:cNvSpPr txBox="1"/>
            <p:nvPr/>
          </p:nvSpPr>
          <p:spPr>
            <a:xfrm>
              <a:off x="857644" y="1763554"/>
              <a:ext cx="614528"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直观说法</a:t>
              </a:r>
            </a:p>
          </p:txBody>
        </p:sp>
        <p:sp>
          <p:nvSpPr>
            <p:cNvPr id="11" name="TextBox 11"/>
            <p:cNvSpPr txBox="1"/>
            <p:nvPr/>
          </p:nvSpPr>
          <p:spPr>
            <a:xfrm>
              <a:off x="1660588" y="1767364"/>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二维上的线性可分</a:t>
              </a:r>
            </a:p>
          </p:txBody>
        </p:sp>
        <p:sp>
          <p:nvSpPr>
            <p:cNvPr id="12" name="TextBox 12"/>
            <p:cNvSpPr txBox="1"/>
            <p:nvPr/>
          </p:nvSpPr>
          <p:spPr>
            <a:xfrm>
              <a:off x="768096" y="211978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在二维空间上，如果两类点可以被一条直线完全分开，就叫</a:t>
              </a:r>
              <a:br/>
              <a:r>
                <a:rPr lang="zh-CN" sz="1420" dirty="0">
                  <a:solidFill>
                    <a:srgbClr val="1F2937"/>
                  </a:solidFill>
                  <a:latin typeface="+mn-lt"/>
                  <a:ea typeface="+mn-ea"/>
                  <a:cs typeface="+mn-cs"/>
                </a:rPr>
                <a:t>线性可分；高维空间里那条“直线”叫超平面。</a:t>
              </a:r>
            </a:p>
          </p:txBody>
        </p:sp>
      </p:grpSp>
      <p:grpSp>
        <p:nvGrpSpPr>
          <p:cNvPr id="27" name="c1-card-2"/>
          <p:cNvGrpSpPr/>
          <p:nvPr/>
        </p:nvGrpSpPr>
        <p:grpSpPr>
          <a:xfrm>
            <a:off x="533400" y="3002280"/>
            <a:ext cx="5410200" cy="2525078"/>
            <a:chOff x="533400" y="3002280"/>
            <a:chExt cx="5410200" cy="2525078"/>
          </a:xfrm>
        </p:grpSpPr>
        <p:sp>
          <p:nvSpPr>
            <p:cNvPr id="14" name="Rectangle 14"/>
            <p:cNvSpPr/>
            <p:nvPr/>
          </p:nvSpPr>
          <p:spPr>
            <a:xfrm>
              <a:off x="533400" y="3002280"/>
              <a:ext cx="5410200" cy="2525078"/>
            </a:xfrm>
            <a:prstGeom prst="roundRect">
              <a:avLst>
                <a:gd name="adj" fmla="val 5281"/>
              </a:avLst>
            </a:prstGeom>
            <a:solidFill>
              <a:srgbClr val="FFFFFF"/>
            </a:solidFill>
            <a:ln w="14288">
              <a:solidFill>
                <a:srgbClr val="D9DFEA"/>
              </a:solidFill>
            </a:ln>
          </p:spPr>
        </p:sp>
        <p:sp>
          <p:nvSpPr>
            <p:cNvPr id="15" name="Rectangle 15"/>
            <p:cNvSpPr/>
            <p:nvPr/>
          </p:nvSpPr>
          <p:spPr>
            <a:xfrm>
              <a:off x="542925" y="3135630"/>
              <a:ext cx="47625" cy="2258378"/>
            </a:xfrm>
            <a:prstGeom prst="roundRect">
              <a:avLst>
                <a:gd name="adj" fmla="val 50000"/>
              </a:avLst>
            </a:prstGeom>
            <a:solidFill>
              <a:srgbClr val="F26B3A"/>
            </a:solidFill>
            <a:ln>
              <a:noFill/>
            </a:ln>
          </p:spPr>
        </p:sp>
        <p:sp>
          <p:nvSpPr>
            <p:cNvPr id="16" name="Rectangle 16"/>
            <p:cNvSpPr/>
            <p:nvPr/>
          </p:nvSpPr>
          <p:spPr>
            <a:xfrm>
              <a:off x="775335" y="3206115"/>
              <a:ext cx="778192" cy="257175"/>
            </a:xfrm>
            <a:prstGeom prst="roundRect">
              <a:avLst>
                <a:gd name="adj" fmla="val 50000"/>
              </a:avLst>
            </a:prstGeom>
            <a:solidFill>
              <a:srgbClr val="FDEEE7"/>
            </a:solidFill>
            <a:ln>
              <a:noFill/>
            </a:ln>
          </p:spPr>
        </p:sp>
        <p:sp>
          <p:nvSpPr>
            <p:cNvPr id="17" name="TextBox 17"/>
            <p:cNvSpPr txBox="1"/>
            <p:nvPr/>
          </p:nvSpPr>
          <p:spPr>
            <a:xfrm>
              <a:off x="857644" y="3241834"/>
              <a:ext cx="614528"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严格定义</a:t>
              </a:r>
            </a:p>
          </p:txBody>
        </p:sp>
        <p:sp>
          <p:nvSpPr>
            <p:cNvPr id="18" name="TextBox 18"/>
            <p:cNvSpPr txBox="1"/>
            <p:nvPr/>
          </p:nvSpPr>
          <p:spPr>
            <a:xfrm>
              <a:off x="1660588" y="3246596"/>
              <a:ext cx="173492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两个点集的线性可分</a:t>
              </a:r>
            </a:p>
          </p:txBody>
        </p:sp>
        <p:sp>
          <p:nvSpPr>
            <p:cNvPr id="19" name="TextBox 19"/>
            <p:cNvSpPr txBox="1"/>
            <p:nvPr/>
          </p:nvSpPr>
          <p:spPr>
            <a:xfrm>
              <a:off x="768096" y="3598069"/>
              <a:ext cx="464921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设 D₀ 和 D₁ 是 n 维欧氏空间中的两个点集。如果存在 n 维</a:t>
              </a:r>
              <a:br/>
              <a:r>
                <a:rPr lang="zh-CN" sz="1420" dirty="0">
                  <a:solidFill>
                    <a:srgbClr val="1F2937"/>
                  </a:solidFill>
                  <a:latin typeface="+mn-lt"/>
                  <a:ea typeface="+mn-ea"/>
                  <a:cs typeface="+mn-cs"/>
                </a:rPr>
                <a:t>向量 w 和实数 b，使得</a:t>
              </a:r>
            </a:p>
          </p:txBody>
        </p:sp>
        <p:sp>
          <p:nvSpPr>
            <p:cNvPr id="20" name="Ellipse 20"/>
            <p:cNvSpPr/>
            <p:nvPr/>
          </p:nvSpPr>
          <p:spPr>
            <a:xfrm>
              <a:off x="775335" y="4177665"/>
              <a:ext cx="201930" cy="201930"/>
            </a:xfrm>
            <a:prstGeom prst="ellipse">
              <a:avLst/>
            </a:prstGeom>
            <a:solidFill>
              <a:srgbClr val="0E7C86"/>
            </a:solidFill>
            <a:ln>
              <a:noFill/>
            </a:ln>
          </p:spPr>
        </p:sp>
        <p:sp>
          <p:nvSpPr>
            <p:cNvPr id="21" name="TextBox 21"/>
            <p:cNvSpPr txBox="1"/>
            <p:nvPr/>
          </p:nvSpPr>
          <p:spPr>
            <a:xfrm>
              <a:off x="833680" y="421705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22" name="TextBox 22"/>
            <p:cNvSpPr txBox="1"/>
            <p:nvPr/>
          </p:nvSpPr>
          <p:spPr>
            <a:xfrm>
              <a:off x="1066228" y="4189571"/>
              <a:ext cx="33781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所有属于 D₀ 的点 xᵢ 都有 w·xᵢ + b &gt; 0</a:t>
              </a:r>
            </a:p>
          </p:txBody>
        </p:sp>
        <p:sp>
          <p:nvSpPr>
            <p:cNvPr id="23" name="Ellipse 23"/>
            <p:cNvSpPr/>
            <p:nvPr/>
          </p:nvSpPr>
          <p:spPr>
            <a:xfrm>
              <a:off x="775335" y="4497705"/>
              <a:ext cx="201930" cy="201930"/>
            </a:xfrm>
            <a:prstGeom prst="ellipse">
              <a:avLst/>
            </a:prstGeom>
            <a:solidFill>
              <a:srgbClr val="0E7C86"/>
            </a:solidFill>
            <a:ln>
              <a:noFill/>
            </a:ln>
          </p:spPr>
        </p:sp>
        <p:sp>
          <p:nvSpPr>
            <p:cNvPr id="24" name="TextBox 24"/>
            <p:cNvSpPr txBox="1"/>
            <p:nvPr/>
          </p:nvSpPr>
          <p:spPr>
            <a:xfrm>
              <a:off x="833680" y="453709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25" name="TextBox 25"/>
            <p:cNvSpPr txBox="1"/>
            <p:nvPr/>
          </p:nvSpPr>
          <p:spPr>
            <a:xfrm>
              <a:off x="1066228" y="4509611"/>
              <a:ext cx="33781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所有属于 D₁ 的点 xⱼ 都有 w·xⱼ + b &lt; 0</a:t>
              </a:r>
            </a:p>
          </p:txBody>
        </p:sp>
        <p:sp>
          <p:nvSpPr>
            <p:cNvPr id="26" name="TextBox 26"/>
            <p:cNvSpPr txBox="1"/>
            <p:nvPr/>
          </p:nvSpPr>
          <p:spPr>
            <a:xfrm>
              <a:off x="768096" y="4829651"/>
              <a:ext cx="474840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则称 D₀ 和 D₁ </a:t>
              </a:r>
              <a:r>
                <a:rPr lang="zh-CN" sz="1420" b="1" dirty="0">
                  <a:solidFill>
                    <a:srgbClr val="C2410C"/>
                  </a:solidFill>
                  <a:latin typeface="+mn-lt"/>
                  <a:ea typeface="+mn-ea"/>
                  <a:cs typeface="+mn-cs"/>
                </a:rPr>
                <a:t>线性可分</a:t>
              </a:r>
              <a:r>
                <a:rPr lang="zh-CN" sz="1420" dirty="0">
                  <a:solidFill>
                    <a:srgbClr val="1F2937"/>
                  </a:solidFill>
                  <a:latin typeface="+mn-lt"/>
                  <a:ea typeface="+mn-ea"/>
                  <a:cs typeface="+mn-cs"/>
                </a:rPr>
                <a:t>。此时 w·x + b = 0 就构成了一个超</a:t>
              </a:r>
              <a:br/>
              <a:r>
                <a:rPr lang="zh-CN" sz="1420" dirty="0">
                  <a:solidFill>
                    <a:srgbClr val="1F2937"/>
                  </a:solidFill>
                  <a:latin typeface="+mn-lt"/>
                  <a:ea typeface="+mn-ea"/>
                  <a:cs typeface="+mn-cs"/>
                </a:rPr>
                <a:t>平面。</a:t>
              </a:r>
            </a:p>
          </p:txBody>
        </p:sp>
      </p:grpSp>
      <p:grpSp>
        <p:nvGrpSpPr>
          <p:cNvPr id="70" name="c2-graph-1"/>
          <p:cNvGrpSpPr/>
          <p:nvPr/>
        </p:nvGrpSpPr>
        <p:grpSpPr>
          <a:xfrm>
            <a:off x="6525578" y="1643062"/>
            <a:ext cx="4980622" cy="2974658"/>
            <a:chOff x="6525578" y="1643062"/>
            <a:chExt cx="4980622" cy="2974658"/>
          </a:xfrm>
        </p:grpSpPr>
        <p:sp>
          <p:nvSpPr>
            <p:cNvPr id="28" name="Freeform 28"/>
            <p:cNvSpPr/>
            <p:nvPr/>
          </p:nvSpPr>
          <p:spPr>
            <a:xfrm>
              <a:off x="6592252" y="4217670"/>
              <a:ext cx="2085022" cy="9525"/>
            </a:xfrm>
            <a:custGeom>
              <a:avLst/>
              <a:gdLst/>
              <a:ahLst/>
              <a:cxnLst/>
              <a:rect l="l" t="t" r="r" b="b"/>
              <a:pathLst>
                <a:path w="2085022" h="9525">
                  <a:moveTo>
                    <a:pt x="0" y="0"/>
                  </a:moveTo>
                  <a:lnTo>
                    <a:pt x="2085022" y="0"/>
                  </a:lnTo>
                </a:path>
              </a:pathLst>
            </a:custGeom>
            <a:noFill/>
            <a:ln w="17145">
              <a:solidFill>
                <a:srgbClr val="1F2937"/>
              </a:solidFill>
            </a:ln>
          </p:spPr>
        </p:sp>
        <p:sp>
          <p:nvSpPr>
            <p:cNvPr id="29" name="Freeform 29"/>
            <p:cNvSpPr/>
            <p:nvPr/>
          </p:nvSpPr>
          <p:spPr>
            <a:xfrm>
              <a:off x="8677275" y="417004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0" name="Freeform 30"/>
            <p:cNvSpPr/>
            <p:nvPr/>
          </p:nvSpPr>
          <p:spPr>
            <a:xfrm>
              <a:off x="6573202" y="1766888"/>
              <a:ext cx="9525" cy="2431732"/>
            </a:xfrm>
            <a:custGeom>
              <a:avLst/>
              <a:gdLst/>
              <a:ahLst/>
              <a:cxnLst/>
              <a:rect l="l" t="t" r="r" b="b"/>
              <a:pathLst>
                <a:path w="9525" h="2431732">
                  <a:moveTo>
                    <a:pt x="0" y="2431732"/>
                  </a:moveTo>
                  <a:lnTo>
                    <a:pt x="0" y="0"/>
                  </a:lnTo>
                </a:path>
              </a:pathLst>
            </a:custGeom>
            <a:noFill/>
            <a:ln w="17145">
              <a:solidFill>
                <a:srgbClr val="1F2937"/>
              </a:solidFill>
            </a:ln>
          </p:spPr>
        </p:sp>
        <p:sp>
          <p:nvSpPr>
            <p:cNvPr id="31" name="Freeform 31"/>
            <p:cNvSpPr/>
            <p:nvPr/>
          </p:nvSpPr>
          <p:spPr>
            <a:xfrm>
              <a:off x="6525578" y="167163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2" name="Freeform 32"/>
            <p:cNvSpPr/>
            <p:nvPr/>
          </p:nvSpPr>
          <p:spPr>
            <a:xfrm>
              <a:off x="7303770" y="1783080"/>
              <a:ext cx="686753" cy="2304098"/>
            </a:xfrm>
            <a:custGeom>
              <a:avLst/>
              <a:gdLst/>
              <a:ahLst/>
              <a:cxnLst/>
              <a:rect l="l" t="t" r="r" b="b"/>
              <a:pathLst>
                <a:path w="686753" h="2304098">
                  <a:moveTo>
                    <a:pt x="0" y="2304098"/>
                  </a:moveTo>
                  <a:lnTo>
                    <a:pt x="686753" y="0"/>
                  </a:lnTo>
                </a:path>
              </a:pathLst>
            </a:custGeom>
            <a:noFill/>
            <a:ln w="17145">
              <a:solidFill>
                <a:srgbClr val="0E7C86"/>
              </a:solidFill>
            </a:ln>
          </p:spPr>
        </p:sp>
        <p:sp>
          <p:nvSpPr>
            <p:cNvPr id="33" name="Freeform 33"/>
            <p:cNvSpPr/>
            <p:nvPr/>
          </p:nvSpPr>
          <p:spPr>
            <a:xfrm>
              <a:off x="7020878" y="1781175"/>
              <a:ext cx="1419225" cy="2307908"/>
            </a:xfrm>
            <a:custGeom>
              <a:avLst/>
              <a:gdLst/>
              <a:ahLst/>
              <a:cxnLst/>
              <a:rect l="l" t="t" r="r" b="b"/>
              <a:pathLst>
                <a:path w="1419225" h="2307908">
                  <a:moveTo>
                    <a:pt x="0" y="2307908"/>
                  </a:moveTo>
                  <a:lnTo>
                    <a:pt x="1419225" y="0"/>
                  </a:lnTo>
                </a:path>
              </a:pathLst>
            </a:custGeom>
            <a:noFill/>
            <a:ln w="17145">
              <a:solidFill>
                <a:srgbClr val="0E7C86"/>
              </a:solidFill>
              <a:custDash>
                <a:ds d="333333" sp="222222"/>
              </a:custDash>
            </a:ln>
          </p:spPr>
        </p:sp>
        <p:sp>
          <p:nvSpPr>
            <p:cNvPr id="34" name="Freeform 34"/>
            <p:cNvSpPr/>
            <p:nvPr/>
          </p:nvSpPr>
          <p:spPr>
            <a:xfrm>
              <a:off x="9297352" y="4217670"/>
              <a:ext cx="2085022" cy="9525"/>
            </a:xfrm>
            <a:custGeom>
              <a:avLst/>
              <a:gdLst/>
              <a:ahLst/>
              <a:cxnLst/>
              <a:rect l="l" t="t" r="r" b="b"/>
              <a:pathLst>
                <a:path w="2085022" h="9525">
                  <a:moveTo>
                    <a:pt x="0" y="0"/>
                  </a:moveTo>
                  <a:lnTo>
                    <a:pt x="2085022" y="0"/>
                  </a:lnTo>
                </a:path>
              </a:pathLst>
            </a:custGeom>
            <a:noFill/>
            <a:ln w="17145">
              <a:solidFill>
                <a:srgbClr val="1F2937"/>
              </a:solidFill>
            </a:ln>
          </p:spPr>
        </p:sp>
        <p:sp>
          <p:nvSpPr>
            <p:cNvPr id="35" name="Freeform 35"/>
            <p:cNvSpPr/>
            <p:nvPr/>
          </p:nvSpPr>
          <p:spPr>
            <a:xfrm>
              <a:off x="11382375" y="417004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6" name="Freeform 36"/>
            <p:cNvSpPr/>
            <p:nvPr/>
          </p:nvSpPr>
          <p:spPr>
            <a:xfrm>
              <a:off x="9278302" y="1766888"/>
              <a:ext cx="9525" cy="2431732"/>
            </a:xfrm>
            <a:custGeom>
              <a:avLst/>
              <a:gdLst/>
              <a:ahLst/>
              <a:cxnLst/>
              <a:rect l="l" t="t" r="r" b="b"/>
              <a:pathLst>
                <a:path w="9525" h="2431732">
                  <a:moveTo>
                    <a:pt x="0" y="2431732"/>
                  </a:moveTo>
                  <a:lnTo>
                    <a:pt x="0" y="0"/>
                  </a:lnTo>
                </a:path>
              </a:pathLst>
            </a:custGeom>
            <a:noFill/>
            <a:ln w="17145">
              <a:solidFill>
                <a:srgbClr val="1F2937"/>
              </a:solidFill>
            </a:ln>
          </p:spPr>
        </p:sp>
        <p:sp>
          <p:nvSpPr>
            <p:cNvPr id="37" name="Freeform 37"/>
            <p:cNvSpPr/>
            <p:nvPr/>
          </p:nvSpPr>
          <p:spPr>
            <a:xfrm>
              <a:off x="9230678" y="167163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8" name="Ellipse 38"/>
            <p:cNvSpPr/>
            <p:nvPr/>
          </p:nvSpPr>
          <p:spPr>
            <a:xfrm>
              <a:off x="6563678" y="4208145"/>
              <a:ext cx="19050" cy="19050"/>
            </a:xfrm>
            <a:prstGeom prst="ellipse">
              <a:avLst/>
            </a:prstGeom>
            <a:solidFill>
              <a:srgbClr val="0E7C86"/>
            </a:solidFill>
            <a:ln>
              <a:noFill/>
            </a:ln>
          </p:spPr>
        </p:sp>
        <p:sp>
          <p:nvSpPr>
            <p:cNvPr id="39" name="Ellipse 39"/>
            <p:cNvSpPr/>
            <p:nvPr/>
          </p:nvSpPr>
          <p:spPr>
            <a:xfrm>
              <a:off x="8782050" y="4208145"/>
              <a:ext cx="19050" cy="19050"/>
            </a:xfrm>
            <a:prstGeom prst="ellipse">
              <a:avLst/>
            </a:prstGeom>
            <a:solidFill>
              <a:srgbClr val="0E7C86"/>
            </a:solidFill>
            <a:ln>
              <a:noFill/>
            </a:ln>
          </p:spPr>
        </p:sp>
        <p:sp>
          <p:nvSpPr>
            <p:cNvPr id="40" name="Ellipse 40"/>
            <p:cNvSpPr/>
            <p:nvPr/>
          </p:nvSpPr>
          <p:spPr>
            <a:xfrm>
              <a:off x="6563678" y="1643062"/>
              <a:ext cx="19050" cy="19050"/>
            </a:xfrm>
            <a:prstGeom prst="ellipse">
              <a:avLst/>
            </a:prstGeom>
            <a:solidFill>
              <a:srgbClr val="0E7C86"/>
            </a:solidFill>
            <a:ln>
              <a:noFill/>
            </a:ln>
          </p:spPr>
        </p:sp>
        <p:sp>
          <p:nvSpPr>
            <p:cNvPr id="41" name="Ellipse 41"/>
            <p:cNvSpPr/>
            <p:nvPr/>
          </p:nvSpPr>
          <p:spPr>
            <a:xfrm>
              <a:off x="7288530" y="4096702"/>
              <a:ext cx="19050" cy="19050"/>
            </a:xfrm>
            <a:prstGeom prst="ellipse">
              <a:avLst/>
            </a:prstGeom>
            <a:solidFill>
              <a:srgbClr val="0E7C86"/>
            </a:solidFill>
            <a:ln>
              <a:noFill/>
            </a:ln>
          </p:spPr>
        </p:sp>
        <p:sp>
          <p:nvSpPr>
            <p:cNvPr id="42" name="Ellipse 42"/>
            <p:cNvSpPr/>
            <p:nvPr/>
          </p:nvSpPr>
          <p:spPr>
            <a:xfrm>
              <a:off x="7986712" y="1755458"/>
              <a:ext cx="19050" cy="19050"/>
            </a:xfrm>
            <a:prstGeom prst="ellipse">
              <a:avLst/>
            </a:prstGeom>
            <a:solidFill>
              <a:srgbClr val="0E7C86"/>
            </a:solidFill>
            <a:ln>
              <a:noFill/>
            </a:ln>
          </p:spPr>
        </p:sp>
        <p:sp>
          <p:nvSpPr>
            <p:cNvPr id="43" name="Ellipse 43"/>
            <p:cNvSpPr/>
            <p:nvPr/>
          </p:nvSpPr>
          <p:spPr>
            <a:xfrm>
              <a:off x="7001828" y="4096702"/>
              <a:ext cx="19050" cy="19050"/>
            </a:xfrm>
            <a:prstGeom prst="ellipse">
              <a:avLst/>
            </a:prstGeom>
            <a:solidFill>
              <a:srgbClr val="0E7C86"/>
            </a:solidFill>
            <a:ln>
              <a:noFill/>
            </a:ln>
          </p:spPr>
        </p:sp>
        <p:sp>
          <p:nvSpPr>
            <p:cNvPr id="44" name="Ellipse 44"/>
            <p:cNvSpPr/>
            <p:nvPr/>
          </p:nvSpPr>
          <p:spPr>
            <a:xfrm>
              <a:off x="8441055" y="1755458"/>
              <a:ext cx="19050" cy="19050"/>
            </a:xfrm>
            <a:prstGeom prst="ellipse">
              <a:avLst/>
            </a:prstGeom>
            <a:solidFill>
              <a:srgbClr val="0E7C86"/>
            </a:solidFill>
            <a:ln>
              <a:noFill/>
            </a:ln>
          </p:spPr>
        </p:sp>
        <p:sp>
          <p:nvSpPr>
            <p:cNvPr id="45" name="Ellipse 45"/>
            <p:cNvSpPr/>
            <p:nvPr/>
          </p:nvSpPr>
          <p:spPr>
            <a:xfrm>
              <a:off x="6829425" y="2586038"/>
              <a:ext cx="114300" cy="114300"/>
            </a:xfrm>
            <a:prstGeom prst="ellipse">
              <a:avLst/>
            </a:prstGeom>
            <a:solidFill>
              <a:srgbClr val="0E7C86"/>
            </a:solidFill>
            <a:ln>
              <a:noFill/>
            </a:ln>
          </p:spPr>
        </p:sp>
        <p:sp>
          <p:nvSpPr>
            <p:cNvPr id="46" name="Ellipse 46"/>
            <p:cNvSpPr/>
            <p:nvPr/>
          </p:nvSpPr>
          <p:spPr>
            <a:xfrm>
              <a:off x="7078980" y="1999298"/>
              <a:ext cx="114300" cy="114300"/>
            </a:xfrm>
            <a:prstGeom prst="ellipse">
              <a:avLst/>
            </a:prstGeom>
            <a:solidFill>
              <a:srgbClr val="0E7C86"/>
            </a:solidFill>
            <a:ln>
              <a:noFill/>
            </a:ln>
          </p:spPr>
        </p:sp>
        <p:sp>
          <p:nvSpPr>
            <p:cNvPr id="47" name="Ellipse 47"/>
            <p:cNvSpPr/>
            <p:nvPr/>
          </p:nvSpPr>
          <p:spPr>
            <a:xfrm>
              <a:off x="7197090" y="2634615"/>
              <a:ext cx="114300" cy="114300"/>
            </a:xfrm>
            <a:prstGeom prst="ellipse">
              <a:avLst/>
            </a:prstGeom>
            <a:solidFill>
              <a:srgbClr val="0E7C86"/>
            </a:solidFill>
            <a:ln>
              <a:noFill/>
            </a:ln>
          </p:spPr>
        </p:sp>
        <p:sp>
          <p:nvSpPr>
            <p:cNvPr id="48" name="Ellipse 48"/>
            <p:cNvSpPr/>
            <p:nvPr/>
          </p:nvSpPr>
          <p:spPr>
            <a:xfrm>
              <a:off x="6873240" y="3268980"/>
              <a:ext cx="114300" cy="114300"/>
            </a:xfrm>
            <a:prstGeom prst="ellipse">
              <a:avLst/>
            </a:prstGeom>
            <a:solidFill>
              <a:srgbClr val="0E7C86"/>
            </a:solidFill>
            <a:ln>
              <a:noFill/>
            </a:ln>
          </p:spPr>
        </p:sp>
        <p:sp>
          <p:nvSpPr>
            <p:cNvPr id="49" name="Ellipse 49"/>
            <p:cNvSpPr/>
            <p:nvPr/>
          </p:nvSpPr>
          <p:spPr>
            <a:xfrm>
              <a:off x="7365682" y="2050732"/>
              <a:ext cx="114300" cy="114300"/>
            </a:xfrm>
            <a:prstGeom prst="ellipse">
              <a:avLst/>
            </a:prstGeom>
            <a:solidFill>
              <a:srgbClr val="0E7C86"/>
            </a:solidFill>
            <a:ln>
              <a:noFill/>
            </a:ln>
          </p:spPr>
        </p:sp>
        <p:sp>
          <p:nvSpPr>
            <p:cNvPr id="50" name="Ellipse 50"/>
            <p:cNvSpPr/>
            <p:nvPr/>
          </p:nvSpPr>
          <p:spPr>
            <a:xfrm>
              <a:off x="7900988" y="3413760"/>
              <a:ext cx="114300" cy="114300"/>
            </a:xfrm>
            <a:prstGeom prst="ellipse">
              <a:avLst/>
            </a:prstGeom>
            <a:solidFill>
              <a:srgbClr val="D9DFEA"/>
            </a:solidFill>
            <a:ln>
              <a:noFill/>
            </a:ln>
          </p:spPr>
        </p:sp>
        <p:sp>
          <p:nvSpPr>
            <p:cNvPr id="51" name="Ellipse 51"/>
            <p:cNvSpPr/>
            <p:nvPr/>
          </p:nvSpPr>
          <p:spPr>
            <a:xfrm>
              <a:off x="8225790" y="2829878"/>
              <a:ext cx="114300" cy="114300"/>
            </a:xfrm>
            <a:prstGeom prst="ellipse">
              <a:avLst/>
            </a:prstGeom>
            <a:solidFill>
              <a:srgbClr val="D9DFEA"/>
            </a:solidFill>
            <a:ln>
              <a:noFill/>
            </a:ln>
          </p:spPr>
        </p:sp>
        <p:sp>
          <p:nvSpPr>
            <p:cNvPr id="52" name="Ellipse 52"/>
            <p:cNvSpPr/>
            <p:nvPr/>
          </p:nvSpPr>
          <p:spPr>
            <a:xfrm>
              <a:off x="8431530" y="3561398"/>
              <a:ext cx="114300" cy="114300"/>
            </a:xfrm>
            <a:prstGeom prst="ellipse">
              <a:avLst/>
            </a:prstGeom>
            <a:solidFill>
              <a:srgbClr val="D9DFEA"/>
            </a:solidFill>
            <a:ln>
              <a:noFill/>
            </a:ln>
          </p:spPr>
        </p:sp>
        <p:sp>
          <p:nvSpPr>
            <p:cNvPr id="53" name="Ellipse 53"/>
            <p:cNvSpPr/>
            <p:nvPr/>
          </p:nvSpPr>
          <p:spPr>
            <a:xfrm>
              <a:off x="7981950" y="3901440"/>
              <a:ext cx="114300" cy="114300"/>
            </a:xfrm>
            <a:prstGeom prst="ellipse">
              <a:avLst/>
            </a:prstGeom>
            <a:solidFill>
              <a:srgbClr val="D9DFEA"/>
            </a:solidFill>
            <a:ln>
              <a:noFill/>
            </a:ln>
          </p:spPr>
        </p:sp>
        <p:sp>
          <p:nvSpPr>
            <p:cNvPr id="54" name="Ellipse 54"/>
            <p:cNvSpPr/>
            <p:nvPr/>
          </p:nvSpPr>
          <p:spPr>
            <a:xfrm>
              <a:off x="8517255" y="2390775"/>
              <a:ext cx="114300" cy="114300"/>
            </a:xfrm>
            <a:prstGeom prst="ellipse">
              <a:avLst/>
            </a:prstGeom>
            <a:solidFill>
              <a:srgbClr val="D9DFEA"/>
            </a:solidFill>
            <a:ln>
              <a:noFill/>
            </a:ln>
          </p:spPr>
        </p:sp>
        <p:sp>
          <p:nvSpPr>
            <p:cNvPr id="55" name="Ellipse 55"/>
            <p:cNvSpPr/>
            <p:nvPr/>
          </p:nvSpPr>
          <p:spPr>
            <a:xfrm>
              <a:off x="9268778" y="4208145"/>
              <a:ext cx="19050" cy="19050"/>
            </a:xfrm>
            <a:prstGeom prst="ellipse">
              <a:avLst/>
            </a:prstGeom>
            <a:solidFill>
              <a:srgbClr val="0E7C86"/>
            </a:solidFill>
            <a:ln>
              <a:noFill/>
            </a:ln>
          </p:spPr>
        </p:sp>
        <p:sp>
          <p:nvSpPr>
            <p:cNvPr id="56" name="Ellipse 56"/>
            <p:cNvSpPr/>
            <p:nvPr/>
          </p:nvSpPr>
          <p:spPr>
            <a:xfrm>
              <a:off x="11487150" y="4208145"/>
              <a:ext cx="19050" cy="19050"/>
            </a:xfrm>
            <a:prstGeom prst="ellipse">
              <a:avLst/>
            </a:prstGeom>
            <a:solidFill>
              <a:srgbClr val="0E7C86"/>
            </a:solidFill>
            <a:ln>
              <a:noFill/>
            </a:ln>
          </p:spPr>
        </p:sp>
        <p:sp>
          <p:nvSpPr>
            <p:cNvPr id="57" name="Ellipse 57"/>
            <p:cNvSpPr/>
            <p:nvPr/>
          </p:nvSpPr>
          <p:spPr>
            <a:xfrm>
              <a:off x="9268778" y="1643062"/>
              <a:ext cx="19050" cy="19050"/>
            </a:xfrm>
            <a:prstGeom prst="ellipse">
              <a:avLst/>
            </a:prstGeom>
            <a:solidFill>
              <a:srgbClr val="0E7C86"/>
            </a:solidFill>
            <a:ln>
              <a:noFill/>
            </a:ln>
          </p:spPr>
        </p:sp>
        <p:sp>
          <p:nvSpPr>
            <p:cNvPr id="58" name="Ellipse 58"/>
            <p:cNvSpPr/>
            <p:nvPr/>
          </p:nvSpPr>
          <p:spPr>
            <a:xfrm>
              <a:off x="9730740" y="2137410"/>
              <a:ext cx="133350" cy="133350"/>
            </a:xfrm>
            <a:prstGeom prst="ellipse">
              <a:avLst/>
            </a:prstGeom>
            <a:solidFill>
              <a:srgbClr val="0E7C86"/>
            </a:solidFill>
            <a:ln>
              <a:noFill/>
            </a:ln>
          </p:spPr>
        </p:sp>
        <p:sp>
          <p:nvSpPr>
            <p:cNvPr id="59" name="Ellipse 59"/>
            <p:cNvSpPr/>
            <p:nvPr/>
          </p:nvSpPr>
          <p:spPr>
            <a:xfrm>
              <a:off x="10964228" y="3599498"/>
              <a:ext cx="133350" cy="133350"/>
            </a:xfrm>
            <a:prstGeom prst="ellipse">
              <a:avLst/>
            </a:prstGeom>
            <a:solidFill>
              <a:srgbClr val="0E7C86"/>
            </a:solidFill>
            <a:ln>
              <a:noFill/>
            </a:ln>
          </p:spPr>
        </p:sp>
        <p:sp>
          <p:nvSpPr>
            <p:cNvPr id="60" name="Ellipse 60"/>
            <p:cNvSpPr/>
            <p:nvPr/>
          </p:nvSpPr>
          <p:spPr>
            <a:xfrm>
              <a:off x="9730740" y="3599498"/>
              <a:ext cx="133350" cy="133350"/>
            </a:xfrm>
            <a:prstGeom prst="ellipse">
              <a:avLst/>
            </a:prstGeom>
            <a:solidFill>
              <a:srgbClr val="D9DFEA"/>
            </a:solidFill>
            <a:ln>
              <a:noFill/>
            </a:ln>
          </p:spPr>
        </p:sp>
        <p:sp>
          <p:nvSpPr>
            <p:cNvPr id="61" name="Ellipse 61"/>
            <p:cNvSpPr/>
            <p:nvPr/>
          </p:nvSpPr>
          <p:spPr>
            <a:xfrm>
              <a:off x="10964228" y="2137410"/>
              <a:ext cx="133350" cy="133350"/>
            </a:xfrm>
            <a:prstGeom prst="ellipse">
              <a:avLst/>
            </a:prstGeom>
            <a:solidFill>
              <a:srgbClr val="D9DFEA"/>
            </a:solidFill>
            <a:ln>
              <a:noFill/>
            </a:ln>
          </p:spPr>
        </p:sp>
        <p:sp>
          <p:nvSpPr>
            <p:cNvPr id="62" name="TextBox 62"/>
            <p:cNvSpPr txBox="1"/>
            <p:nvPr/>
          </p:nvSpPr>
          <p:spPr>
            <a:xfrm>
              <a:off x="6649674" y="1803559"/>
              <a:ext cx="170907"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D₀</a:t>
              </a:r>
            </a:p>
          </p:txBody>
        </p:sp>
        <p:sp>
          <p:nvSpPr>
            <p:cNvPr id="63" name="TextBox 63"/>
            <p:cNvSpPr txBox="1"/>
            <p:nvPr/>
          </p:nvSpPr>
          <p:spPr>
            <a:xfrm>
              <a:off x="8543244" y="3856196"/>
              <a:ext cx="1709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D₁</a:t>
              </a:r>
            </a:p>
          </p:txBody>
        </p:sp>
        <p:sp>
          <p:nvSpPr>
            <p:cNvPr id="64" name="TextBox 64"/>
            <p:cNvSpPr txBox="1"/>
            <p:nvPr/>
          </p:nvSpPr>
          <p:spPr>
            <a:xfrm>
              <a:off x="9626060" y="1779270"/>
              <a:ext cx="342710"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(0,1)</a:t>
              </a:r>
            </a:p>
          </p:txBody>
        </p:sp>
        <p:sp>
          <p:nvSpPr>
            <p:cNvPr id="65" name="TextBox 65"/>
            <p:cNvSpPr txBox="1"/>
            <p:nvPr/>
          </p:nvSpPr>
          <p:spPr>
            <a:xfrm>
              <a:off x="10859548" y="1779270"/>
              <a:ext cx="342710"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(1,1)</a:t>
              </a:r>
            </a:p>
          </p:txBody>
        </p:sp>
        <p:sp>
          <p:nvSpPr>
            <p:cNvPr id="66" name="TextBox 66"/>
            <p:cNvSpPr txBox="1"/>
            <p:nvPr/>
          </p:nvSpPr>
          <p:spPr>
            <a:xfrm>
              <a:off x="9626060" y="3880485"/>
              <a:ext cx="342710"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(0,0)</a:t>
              </a:r>
            </a:p>
          </p:txBody>
        </p:sp>
        <p:sp>
          <p:nvSpPr>
            <p:cNvPr id="67" name="TextBox 67"/>
            <p:cNvSpPr txBox="1"/>
            <p:nvPr/>
          </p:nvSpPr>
          <p:spPr>
            <a:xfrm>
              <a:off x="10859548" y="3880485"/>
              <a:ext cx="342710"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(1,0)</a:t>
              </a:r>
            </a:p>
          </p:txBody>
        </p:sp>
        <p:sp>
          <p:nvSpPr>
            <p:cNvPr id="68" name="TextBox 68"/>
            <p:cNvSpPr txBox="1"/>
            <p:nvPr/>
          </p:nvSpPr>
          <p:spPr>
            <a:xfrm>
              <a:off x="6977824" y="4441508"/>
              <a:ext cx="1463421"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可分：实线和虚线都能分开</a:t>
              </a:r>
            </a:p>
          </p:txBody>
        </p:sp>
        <p:sp>
          <p:nvSpPr>
            <p:cNvPr id="69" name="TextBox 69"/>
            <p:cNvSpPr txBox="1"/>
            <p:nvPr/>
          </p:nvSpPr>
          <p:spPr>
            <a:xfrm>
              <a:off x="9780742" y="4441508"/>
              <a:ext cx="1267785"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不可分：XOR 的四个点</a:t>
              </a:r>
            </a:p>
          </p:txBody>
        </p:sp>
      </p:grpSp>
      <p:grpSp>
        <p:nvGrpSpPr>
          <p:cNvPr id="77" name="c2-callout-2"/>
          <p:cNvGrpSpPr/>
          <p:nvPr/>
        </p:nvGrpSpPr>
        <p:grpSpPr>
          <a:xfrm>
            <a:off x="6248400" y="4916805"/>
            <a:ext cx="5410200" cy="756285"/>
            <a:chOff x="6248400" y="4916805"/>
            <a:chExt cx="5410200" cy="756285"/>
          </a:xfrm>
        </p:grpSpPr>
        <p:sp>
          <p:nvSpPr>
            <p:cNvPr id="71" name="Rectangle 71"/>
            <p:cNvSpPr/>
            <p:nvPr/>
          </p:nvSpPr>
          <p:spPr>
            <a:xfrm>
              <a:off x="6248400" y="4916805"/>
              <a:ext cx="5410200" cy="756285"/>
            </a:xfrm>
            <a:prstGeom prst="roundRect">
              <a:avLst>
                <a:gd name="adj" fmla="val 15113"/>
              </a:avLst>
            </a:prstGeom>
            <a:solidFill>
              <a:srgbClr val="FDECEA"/>
            </a:solidFill>
            <a:ln>
              <a:noFill/>
            </a:ln>
          </p:spPr>
        </p:sp>
        <p:grpSp>
          <p:nvGrpSpPr>
            <p:cNvPr id="75" name="Group 75"/>
            <p:cNvGrpSpPr/>
            <p:nvPr/>
          </p:nvGrpSpPr>
          <p:grpSpPr>
            <a:xfrm>
              <a:off x="6441129" y="5191243"/>
              <a:ext cx="224134" cy="192560"/>
              <a:chOff x="6441129" y="5191243"/>
              <a:chExt cx="224134" cy="192560"/>
            </a:xfrm>
          </p:grpSpPr>
          <p:sp>
            <p:nvSpPr>
              <p:cNvPr id="72" name="Freeform 72"/>
              <p:cNvSpPr/>
              <p:nvPr/>
            </p:nvSpPr>
            <p:spPr>
              <a:xfrm>
                <a:off x="6553200" y="526161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73" name="Freeform 73"/>
              <p:cNvSpPr/>
              <p:nvPr/>
            </p:nvSpPr>
            <p:spPr>
              <a:xfrm>
                <a:off x="6441129" y="519124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74" name="Freeform 74"/>
              <p:cNvSpPr/>
              <p:nvPr/>
            </p:nvSpPr>
            <p:spPr>
              <a:xfrm>
                <a:off x="6553200" y="533939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76" name="TextBox 76"/>
            <p:cNvSpPr txBox="1"/>
            <p:nvPr/>
          </p:nvSpPr>
          <p:spPr>
            <a:xfrm>
              <a:off x="6755511" y="5063966"/>
              <a:ext cx="45229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B42318"/>
                  </a:solidFill>
                  <a:latin typeface="+mn-lt"/>
                  <a:ea typeface="+mn-ea"/>
                  <a:cs typeface="+mn-cs"/>
                </a:rPr>
                <a:t>线性可分是感知器算法收敛的前提。数据不可分时，下面</a:t>
              </a:r>
              <a:br/>
              <a:r>
                <a:rPr lang="zh-CN" sz="1420" dirty="0">
                  <a:solidFill>
                    <a:srgbClr val="B42318"/>
                  </a:solidFill>
                  <a:latin typeface="+mn-lt"/>
                  <a:ea typeface="+mn-ea"/>
                  <a:cs typeface="+mn-cs"/>
                </a:rPr>
                <a:t>的算法会一直改权值，永不停机。</a:t>
              </a:r>
            </a:p>
          </p:txBody>
        </p:sp>
      </p:grpSp>
      <p:grpSp>
        <p:nvGrpSpPr>
          <p:cNvPr id="83" name="takeaway"/>
          <p:cNvGrpSpPr/>
          <p:nvPr/>
        </p:nvGrpSpPr>
        <p:grpSpPr>
          <a:xfrm>
            <a:off x="533400" y="5844540"/>
            <a:ext cx="11125200" cy="518160"/>
            <a:chOff x="533400" y="5844540"/>
            <a:chExt cx="11125200" cy="518160"/>
          </a:xfrm>
        </p:grpSpPr>
        <p:sp>
          <p:nvSpPr>
            <p:cNvPr id="78" name="Rectangle 78"/>
            <p:cNvSpPr/>
            <p:nvPr/>
          </p:nvSpPr>
          <p:spPr>
            <a:xfrm>
              <a:off x="533400" y="5844540"/>
              <a:ext cx="11125200" cy="518160"/>
            </a:xfrm>
            <a:prstGeom prst="roundRect">
              <a:avLst>
                <a:gd name="adj" fmla="val 22059"/>
              </a:avLst>
            </a:prstGeom>
            <a:solidFill>
              <a:srgbClr val="0E7C86"/>
            </a:solidFill>
            <a:ln>
              <a:noFill/>
            </a:ln>
          </p:spPr>
        </p:sp>
        <p:grpSp>
          <p:nvGrpSpPr>
            <p:cNvPr id="81" name="Group 81"/>
            <p:cNvGrpSpPr/>
            <p:nvPr/>
          </p:nvGrpSpPr>
          <p:grpSpPr>
            <a:xfrm>
              <a:off x="738188" y="6003610"/>
              <a:ext cx="200023" cy="200023"/>
              <a:chOff x="738188" y="6003610"/>
              <a:chExt cx="200023" cy="200023"/>
            </a:xfrm>
          </p:grpSpPr>
          <p:sp>
            <p:nvSpPr>
              <p:cNvPr id="79" name="Freeform 79"/>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0" name="Freeform 80"/>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2" name="TextBox 82"/>
            <p:cNvSpPr txBox="1"/>
            <p:nvPr/>
          </p:nvSpPr>
          <p:spPr>
            <a:xfrm>
              <a:off x="1040511" y="6004084"/>
              <a:ext cx="6705092"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判断线性可分没有捷径：二维可以画图看，高维只能靠算法跑或者解线性规划。</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损失函数：为什么不数错分点的个数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5410200" cy="1483995"/>
            <a:chOff x="533400" y="1524000"/>
            <a:chExt cx="5410200" cy="1483995"/>
          </a:xfrm>
        </p:grpSpPr>
        <p:sp>
          <p:nvSpPr>
            <p:cNvPr id="7" name="Rectangle 7"/>
            <p:cNvSpPr/>
            <p:nvPr/>
          </p:nvSpPr>
          <p:spPr>
            <a:xfrm>
              <a:off x="533400" y="1524000"/>
              <a:ext cx="5410200" cy="1483995"/>
            </a:xfrm>
            <a:prstGeom prst="roundRect">
              <a:avLst>
                <a:gd name="adj" fmla="val 8986"/>
              </a:avLst>
            </a:prstGeom>
            <a:solidFill>
              <a:srgbClr val="FFFFFF"/>
            </a:solidFill>
            <a:ln w="14288">
              <a:solidFill>
                <a:srgbClr val="D9DFEA"/>
              </a:solidFill>
            </a:ln>
          </p:spPr>
        </p:sp>
        <p:sp>
          <p:nvSpPr>
            <p:cNvPr id="8" name="Rectangle 8"/>
            <p:cNvSpPr/>
            <p:nvPr/>
          </p:nvSpPr>
          <p:spPr>
            <a:xfrm>
              <a:off x="542925" y="1657350"/>
              <a:ext cx="47625" cy="1217295"/>
            </a:xfrm>
            <a:prstGeom prst="roundRect">
              <a:avLst>
                <a:gd name="adj" fmla="val 50000"/>
              </a:avLst>
            </a:prstGeom>
            <a:solidFill>
              <a:srgbClr val="B42318"/>
            </a:solidFill>
            <a:ln>
              <a:noFill/>
            </a:ln>
          </p:spPr>
        </p:sp>
        <p:sp>
          <p:nvSpPr>
            <p:cNvPr id="9" name="Rectangle 9"/>
            <p:cNvSpPr/>
            <p:nvPr/>
          </p:nvSpPr>
          <p:spPr>
            <a:xfrm>
              <a:off x="763905" y="1716405"/>
              <a:ext cx="1276350" cy="247650"/>
            </a:xfrm>
            <a:prstGeom prst="roundRect">
              <a:avLst>
                <a:gd name="adj" fmla="val 50000"/>
              </a:avLst>
            </a:prstGeom>
            <a:solidFill>
              <a:srgbClr val="FDECEA"/>
            </a:solidFill>
            <a:ln>
              <a:noFill/>
            </a:ln>
          </p:spPr>
        </p:sp>
        <p:sp>
          <p:nvSpPr>
            <p:cNvPr id="10" name="TextBox 10"/>
            <p:cNvSpPr txBox="1"/>
            <p:nvPr/>
          </p:nvSpPr>
          <p:spPr>
            <a:xfrm>
              <a:off x="831342" y="1750695"/>
              <a:ext cx="1141476"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第一个想法行不通</a:t>
              </a:r>
            </a:p>
          </p:txBody>
        </p:sp>
        <p:sp>
          <p:nvSpPr>
            <p:cNvPr id="11" name="TextBox 11"/>
            <p:cNvSpPr txBox="1"/>
            <p:nvPr/>
          </p:nvSpPr>
          <p:spPr>
            <a:xfrm>
              <a:off x="2147697" y="175641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误分类点的总数不可导</a:t>
              </a:r>
            </a:p>
          </p:txBody>
        </p:sp>
        <p:sp>
          <p:nvSpPr>
            <p:cNvPr id="12" name="TextBox 12"/>
            <p:cNvSpPr txBox="1"/>
            <p:nvPr/>
          </p:nvSpPr>
          <p:spPr>
            <a:xfrm>
              <a:off x="757047" y="2090738"/>
              <a:ext cx="474573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最自然的损失是“分错了几个点”。但这个函数关于 w 和 b 是阶</a:t>
              </a:r>
              <a:br/>
              <a:r>
                <a:rPr lang="zh-CN" sz="1350" dirty="0">
                  <a:solidFill>
                    <a:srgbClr val="1F2937"/>
                  </a:solidFill>
                  <a:latin typeface="+mn-lt"/>
                  <a:ea typeface="+mn-ea"/>
                  <a:cs typeface="+mn-cs"/>
                </a:rPr>
                <a:t>梯状的：权值动一点点，错分个数要么不变要么突然跳一格，</a:t>
              </a:r>
              <a:br/>
              <a:r>
                <a:rPr lang="zh-CN" sz="1350" dirty="0">
                  <a:solidFill>
                    <a:srgbClr val="1F2937"/>
                  </a:solidFill>
                  <a:latin typeface="+mn-lt"/>
                  <a:ea typeface="+mn-ea"/>
                  <a:cs typeface="+mn-cs"/>
                </a:rPr>
                <a:t>梯度处处为 0，没法用梯度下降。</a:t>
              </a:r>
            </a:p>
          </p:txBody>
        </p:sp>
      </p:grpSp>
      <p:grpSp>
        <p:nvGrpSpPr>
          <p:cNvPr id="22" name="c1-card-2"/>
          <p:cNvGrpSpPr/>
          <p:nvPr/>
        </p:nvGrpSpPr>
        <p:grpSpPr>
          <a:xfrm>
            <a:off x="533400" y="3183255"/>
            <a:ext cx="5410200" cy="2382202"/>
            <a:chOff x="533400" y="3183255"/>
            <a:chExt cx="5410200" cy="2382202"/>
          </a:xfrm>
        </p:grpSpPr>
        <p:sp>
          <p:nvSpPr>
            <p:cNvPr id="14" name="Rectangle 14"/>
            <p:cNvSpPr/>
            <p:nvPr/>
          </p:nvSpPr>
          <p:spPr>
            <a:xfrm>
              <a:off x="533400" y="3183255"/>
              <a:ext cx="5410200" cy="2382202"/>
            </a:xfrm>
            <a:prstGeom prst="roundRect">
              <a:avLst>
                <a:gd name="adj" fmla="val 5598"/>
              </a:avLst>
            </a:prstGeom>
            <a:solidFill>
              <a:srgbClr val="FFFFFF"/>
            </a:solidFill>
            <a:ln w="14288">
              <a:solidFill>
                <a:srgbClr val="D9DFEA"/>
              </a:solidFill>
            </a:ln>
          </p:spPr>
        </p:sp>
        <p:sp>
          <p:nvSpPr>
            <p:cNvPr id="15" name="Rectangle 15"/>
            <p:cNvSpPr/>
            <p:nvPr/>
          </p:nvSpPr>
          <p:spPr>
            <a:xfrm>
              <a:off x="542925" y="3316605"/>
              <a:ext cx="47625" cy="2115502"/>
            </a:xfrm>
            <a:prstGeom prst="roundRect">
              <a:avLst>
                <a:gd name="adj" fmla="val 50000"/>
              </a:avLst>
            </a:prstGeom>
            <a:solidFill>
              <a:srgbClr val="0E7C86"/>
            </a:solidFill>
            <a:ln>
              <a:noFill/>
            </a:ln>
          </p:spPr>
        </p:sp>
        <p:sp>
          <p:nvSpPr>
            <p:cNvPr id="16" name="Rectangle 16"/>
            <p:cNvSpPr/>
            <p:nvPr/>
          </p:nvSpPr>
          <p:spPr>
            <a:xfrm>
              <a:off x="763905" y="3375660"/>
              <a:ext cx="1143000" cy="247650"/>
            </a:xfrm>
            <a:prstGeom prst="roundRect">
              <a:avLst>
                <a:gd name="adj" fmla="val 50000"/>
              </a:avLst>
            </a:prstGeom>
            <a:solidFill>
              <a:srgbClr val="E2F3F4"/>
            </a:solidFill>
            <a:ln>
              <a:noFill/>
            </a:ln>
          </p:spPr>
        </p:sp>
        <p:sp>
          <p:nvSpPr>
            <p:cNvPr id="17" name="TextBox 17"/>
            <p:cNvSpPr txBox="1"/>
            <p:nvPr/>
          </p:nvSpPr>
          <p:spPr>
            <a:xfrm>
              <a:off x="835342" y="3409950"/>
              <a:ext cx="1000125"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换一个可导的量</a:t>
              </a:r>
            </a:p>
          </p:txBody>
        </p:sp>
        <p:sp>
          <p:nvSpPr>
            <p:cNvPr id="18" name="TextBox 18"/>
            <p:cNvSpPr txBox="1"/>
            <p:nvPr/>
          </p:nvSpPr>
          <p:spPr>
            <a:xfrm>
              <a:off x="2014347" y="3415665"/>
              <a:ext cx="255803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从误分类点到超平面的距离出发</a:t>
              </a:r>
            </a:p>
          </p:txBody>
        </p:sp>
        <p:sp>
          <p:nvSpPr>
            <p:cNvPr id="19" name="TextBox 19"/>
            <p:cNvSpPr txBox="1"/>
            <p:nvPr/>
          </p:nvSpPr>
          <p:spPr>
            <a:xfrm>
              <a:off x="757047" y="3749040"/>
              <a:ext cx="478859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当 xᵢ 被 (w, b) 正确分类时 yᵢ(w·xᵢ + b) &gt; 0；因此对误分类</a:t>
              </a:r>
              <a:br/>
              <a:r>
                <a:rPr lang="zh-CN" sz="1350" dirty="0">
                  <a:solidFill>
                    <a:srgbClr val="1F2937"/>
                  </a:solidFill>
                  <a:latin typeface="+mn-lt"/>
                  <a:ea typeface="+mn-ea"/>
                  <a:cs typeface="+mn-cs"/>
                </a:rPr>
                <a:t>的数据 (xᵢ, yᵢ) 有</a:t>
              </a:r>
            </a:p>
          </p:txBody>
        </p:sp>
        <mc:AlternateContent xmlns:mc="http://schemas.openxmlformats.org/markup-compatibility/2006">
          <mc:Choice xmlns:a14="http://schemas.microsoft.com/office/drawing/2010/main" Requires="a14">
            <p:sp>
              <p:nvSpPr>
                <p:cNvPr id="20" name="formula35"/>
                <p:cNvSpPr txBox="1">
                  <a:spLocks noGrp="1"/>
                </p:cNvSpPr>
                <p:nvPr/>
              </p:nvSpPr>
              <p:spPr>
                <a:xfrm>
                  <a:off x="763905" y="4287202"/>
                  <a:ext cx="4987290"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e>
                        </m:d>
                        <m:r>
                          <m:rPr>
                            <m:sty m:val="p"/>
                          </m:rPr>
                          <a:rPr lang="zh-CN" sz="1420" dirty="0">
                            <a:solidFill>
                              <a:srgbClr val="1F2937"/>
                            </a:solidFill>
                            <a:latin typeface="Cambria Math"/>
                            <a:ea typeface="Cambria Math"/>
                            <a:cs typeface="Cambria Math"/>
                          </a:rPr>
                          <m:t>&gt;</m:t>
                        </m:r>
                        <m:r>
                          <a:rPr lang="zh-CN" sz="1420" dirty="0">
                            <a:solidFill>
                              <a:srgbClr val="1F2937"/>
                            </a:solidFill>
                            <a:latin typeface="Cambria Math"/>
                            <a:ea typeface="Cambria Math"/>
                            <a:cs typeface="Cambria Math"/>
                          </a:rPr>
                          <m:t>0</m:t>
                        </m:r>
                      </m:oMath>
                    </m:oMathPara>
                  </a14:m>
                </a:p>
              </p:txBody>
            </p:sp>
          </mc:Choice>
        </mc:AlternateContent>
        <p:sp>
          <p:nvSpPr>
            <p:cNvPr id="21" name="TextBox 21"/>
            <p:cNvSpPr txBox="1"/>
            <p:nvPr/>
          </p:nvSpPr>
          <p:spPr>
            <a:xfrm>
              <a:off x="757047" y="4757737"/>
              <a:ext cx="504783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这个正数可以作为 xᵢ 被误分类的损失：错得越离谱，值越大。</a:t>
              </a:r>
            </a:p>
          </p:txBody>
        </p:sp>
      </p:grpSp>
      <p:grpSp>
        <p:nvGrpSpPr>
          <p:cNvPr id="36" name="c2-card-1"/>
          <p:cNvGrpSpPr/>
          <p:nvPr/>
        </p:nvGrpSpPr>
        <p:grpSpPr>
          <a:xfrm>
            <a:off x="6248400" y="1524000"/>
            <a:ext cx="5410200" cy="2887980"/>
            <a:chOff x="6248400" y="1524000"/>
            <a:chExt cx="5410200" cy="2887980"/>
          </a:xfrm>
        </p:grpSpPr>
        <p:sp>
          <p:nvSpPr>
            <p:cNvPr id="23" name="Rectangle 23"/>
            <p:cNvSpPr/>
            <p:nvPr/>
          </p:nvSpPr>
          <p:spPr>
            <a:xfrm>
              <a:off x="6248400" y="1524000"/>
              <a:ext cx="5410200" cy="2887980"/>
            </a:xfrm>
            <a:prstGeom prst="roundRect">
              <a:avLst>
                <a:gd name="adj" fmla="val 4617"/>
              </a:avLst>
            </a:prstGeom>
            <a:solidFill>
              <a:srgbClr val="FFFFFF"/>
            </a:solidFill>
            <a:ln w="14288">
              <a:solidFill>
                <a:srgbClr val="D9DFEA"/>
              </a:solidFill>
            </a:ln>
          </p:spPr>
        </p:sp>
        <p:sp>
          <p:nvSpPr>
            <p:cNvPr id="24" name="Rectangle 24"/>
            <p:cNvSpPr/>
            <p:nvPr/>
          </p:nvSpPr>
          <p:spPr>
            <a:xfrm>
              <a:off x="6257925" y="1657350"/>
              <a:ext cx="47625" cy="2621280"/>
            </a:xfrm>
            <a:prstGeom prst="roundRect">
              <a:avLst>
                <a:gd name="adj" fmla="val 50000"/>
              </a:avLst>
            </a:prstGeom>
            <a:solidFill>
              <a:srgbClr val="F26B3A"/>
            </a:solidFill>
            <a:ln>
              <a:noFill/>
            </a:ln>
          </p:spPr>
        </p:sp>
        <p:sp>
          <p:nvSpPr>
            <p:cNvPr id="25" name="Rectangle 25"/>
            <p:cNvSpPr/>
            <p:nvPr/>
          </p:nvSpPr>
          <p:spPr>
            <a:xfrm>
              <a:off x="6478905" y="1716405"/>
              <a:ext cx="742950" cy="247650"/>
            </a:xfrm>
            <a:prstGeom prst="roundRect">
              <a:avLst>
                <a:gd name="adj" fmla="val 50000"/>
              </a:avLst>
            </a:prstGeom>
            <a:solidFill>
              <a:srgbClr val="FDEEE7"/>
            </a:solidFill>
            <a:ln>
              <a:noFill/>
            </a:ln>
          </p:spPr>
        </p:sp>
        <p:sp>
          <p:nvSpPr>
            <p:cNvPr id="26" name="TextBox 26"/>
            <p:cNvSpPr txBox="1"/>
            <p:nvPr/>
          </p:nvSpPr>
          <p:spPr>
            <a:xfrm>
              <a:off x="6562344" y="1750695"/>
              <a:ext cx="576072"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损失函数</a:t>
              </a:r>
            </a:p>
          </p:txBody>
        </p:sp>
        <p:sp>
          <p:nvSpPr>
            <p:cNvPr id="27" name="TextBox 27"/>
            <p:cNvSpPr txBox="1"/>
            <p:nvPr/>
          </p:nvSpPr>
          <p:spPr>
            <a:xfrm>
              <a:off x="7329297" y="17564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只对误分类点求和</a:t>
              </a:r>
            </a:p>
          </p:txBody>
        </p:sp>
        <p:sp>
          <p:nvSpPr>
            <p:cNvPr id="28" name="TextBox 28"/>
            <p:cNvSpPr txBox="1"/>
            <p:nvPr/>
          </p:nvSpPr>
          <p:spPr>
            <a:xfrm>
              <a:off x="6472047" y="2090738"/>
              <a:ext cx="474573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设误分类的点集为 M，感知机 f(x) = sign(w·x + b) 的损失函</a:t>
              </a:r>
              <a:br/>
              <a:r>
                <a:rPr lang="zh-CN" sz="1350" dirty="0">
                  <a:solidFill>
                    <a:srgbClr val="1F2937"/>
                  </a:solidFill>
                  <a:latin typeface="+mn-lt"/>
                  <a:ea typeface="+mn-ea"/>
                  <a:cs typeface="+mn-cs"/>
                </a:rPr>
                <a:t>数定义为</a:t>
              </a:r>
            </a:p>
          </p:txBody>
        </p:sp>
        <mc:AlternateContent xmlns:mc="http://schemas.openxmlformats.org/markup-compatibility/2006">
          <mc:Choice xmlns:a14="http://schemas.microsoft.com/office/drawing/2010/main" Requires="a14">
            <p:sp>
              <p:nvSpPr>
                <p:cNvPr id="29" name="formula36"/>
                <p:cNvSpPr txBox="1">
                  <a:spLocks noGrp="1"/>
                </p:cNvSpPr>
                <p:nvPr/>
              </p:nvSpPr>
              <p:spPr>
                <a:xfrm>
                  <a:off x="6478905" y="2627948"/>
                  <a:ext cx="4987290" cy="666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1F2937"/>
                            </a:solidFill>
                            <a:latin typeface="Cambria Math"/>
                            <a:ea typeface="Cambria Math"/>
                            <a:cs typeface="Cambria Math"/>
                          </a:rPr>
                          <m:t>L</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w</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b</m:t>
                            </m:r>
                          </m:e>
                        </m:d>
                        <m:r>
                          <m:rPr>
                            <m:sty m:val="p"/>
                          </m:rPr>
                          <a:rPr lang="zh-CN" sz="1500" dirty="0">
                            <a:solidFill>
                              <a:srgbClr val="1F2937"/>
                            </a:solidFill>
                            <a:latin typeface="Cambria Math"/>
                            <a:ea typeface="Cambria Math"/>
                            <a:cs typeface="Cambria Math"/>
                          </a:rPr>
                          <m:t>=−</m:t>
                        </m:r>
                        <m:nary>
                          <m:naryPr>
                            <m:chr m:val="∑"/>
                            <m:limLoc m:val="undOvr"/>
                            <m:grow m:val="off"/>
                            <m:subHide m:val="off"/>
                            <m:supHide m:val="on"/>
                            <m:ctrlPr>
                              <a:rPr lang="zh-CN" sz="1500" dirty="0">
                                <a:solidFill>
                                  <a:srgbClr val="1F2937"/>
                                </a:solidFill>
                                <a:latin typeface="Cambria Math"/>
                                <a:ea typeface="Cambria Math"/>
                                <a:cs typeface="Cambria Math"/>
                              </a:rPr>
                            </m:ctrlPr>
                          </m:naryPr>
                          <m:sub>
                            <m:sSub>
                              <m:e>
                                <m:r>
                                  <a:rPr lang="zh-CN" sz="1500" dirty="0">
                                    <a:solidFill>
                                      <a:srgbClr val="1F2937"/>
                                    </a:solidFill>
                                    <a:latin typeface="Cambria Math"/>
                                    <a:ea typeface="Cambria Math"/>
                                    <a:cs typeface="Cambria Math"/>
                                  </a:rPr>
                                  <m:t>x</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M</m:t>
                            </m:r>
                          </m:sub>
                          <m:sup/>
                          <m:e>
                            <m:sSub>
                              <m:e>
                                <m:r>
                                  <a:rPr lang="zh-CN" sz="1500" dirty="0">
                                    <a:solidFill>
                                      <a:srgbClr val="1F2937"/>
                                    </a:solidFill>
                                    <a:latin typeface="Cambria Math"/>
                                    <a:ea typeface="Cambria Math"/>
                                    <a:cs typeface="Cambria Math"/>
                                  </a:rPr>
                                  <m:t>y</m:t>
                                </m:r>
                              </m:e>
                              <m:sub>
                                <m:r>
                                  <a:rPr lang="zh-CN" sz="1500" dirty="0">
                                    <a:solidFill>
                                      <a:srgbClr val="1F2937"/>
                                    </a:solidFill>
                                    <a:latin typeface="Cambria Math"/>
                                    <a:ea typeface="Cambria Math"/>
                                    <a:cs typeface="Cambria Math"/>
                                  </a:rPr>
                                  <m:t>i</m:t>
                                </m:r>
                              </m:sub>
                            </m:sSub>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w</m:t>
                                </m:r>
                                <m:r>
                                  <m:rPr>
                                    <m:sty m:val="p"/>
                                  </m:rPr>
                                  <a:rPr lang="zh-CN" sz="1500" dirty="0">
                                    <a:solidFill>
                                      <a:srgbClr val="1F2937"/>
                                    </a:solidFill>
                                    <a:latin typeface="Cambria Math"/>
                                    <a:ea typeface="Cambria Math"/>
                                    <a:cs typeface="Cambria Math"/>
                                  </a:rPr>
                                  <m:t>⋅</m:t>
                                </m:r>
                                <m:sSub>
                                  <m:e>
                                    <m:r>
                                      <a:rPr lang="zh-CN" sz="1500" dirty="0">
                                        <a:solidFill>
                                          <a:srgbClr val="1F2937"/>
                                        </a:solidFill>
                                        <a:latin typeface="Cambria Math"/>
                                        <a:ea typeface="Cambria Math"/>
                                        <a:cs typeface="Cambria Math"/>
                                      </a:rPr>
                                      <m:t>x</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b</m:t>
                                </m:r>
                              </m:e>
                            </m:d>
                          </m:e>
                        </m:nary>
                      </m:oMath>
                    </m:oMathPara>
                  </a14:m>
                </a:p>
              </p:txBody>
            </p:sp>
          </mc:Choice>
        </mc:AlternateContent>
        <p:sp>
          <p:nvSpPr>
            <p:cNvPr id="30" name="Ellipse 30"/>
            <p:cNvSpPr/>
            <p:nvPr/>
          </p:nvSpPr>
          <p:spPr>
            <a:xfrm>
              <a:off x="6487478" y="3459480"/>
              <a:ext cx="59055" cy="59055"/>
            </a:xfrm>
            <a:prstGeom prst="ellipse">
              <a:avLst/>
            </a:prstGeom>
            <a:solidFill>
              <a:srgbClr val="0E7C86"/>
            </a:solidFill>
            <a:ln>
              <a:noFill/>
            </a:ln>
          </p:spPr>
        </p:sp>
        <p:sp>
          <p:nvSpPr>
            <p:cNvPr id="31" name="TextBox 31"/>
            <p:cNvSpPr txBox="1"/>
            <p:nvPr/>
          </p:nvSpPr>
          <p:spPr>
            <a:xfrm>
              <a:off x="6643497" y="3403282"/>
              <a:ext cx="378441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L 非负，因为只累加误分类点，每一项都大于 0</a:t>
              </a:r>
            </a:p>
          </p:txBody>
        </p:sp>
        <p:sp>
          <p:nvSpPr>
            <p:cNvPr id="32" name="Ellipse 32"/>
            <p:cNvSpPr/>
            <p:nvPr/>
          </p:nvSpPr>
          <p:spPr>
            <a:xfrm>
              <a:off x="6487478" y="3762375"/>
              <a:ext cx="59055" cy="59055"/>
            </a:xfrm>
            <a:prstGeom prst="ellipse">
              <a:avLst/>
            </a:prstGeom>
            <a:solidFill>
              <a:srgbClr val="0E7C86"/>
            </a:solidFill>
            <a:ln>
              <a:noFill/>
            </a:ln>
          </p:spPr>
        </p:sp>
        <p:sp>
          <p:nvSpPr>
            <p:cNvPr id="33" name="TextBox 33"/>
            <p:cNvSpPr txBox="1"/>
            <p:nvPr/>
          </p:nvSpPr>
          <p:spPr>
            <a:xfrm>
              <a:off x="6643497" y="3706177"/>
              <a:ext cx="45406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没有误分类点时 L = 0，所以最小化 L 就是把所有点分对</a:t>
              </a:r>
            </a:p>
          </p:txBody>
        </p:sp>
        <p:sp>
          <p:nvSpPr>
            <p:cNvPr id="34" name="Ellipse 34"/>
            <p:cNvSpPr/>
            <p:nvPr/>
          </p:nvSpPr>
          <p:spPr>
            <a:xfrm>
              <a:off x="6487478" y="4064318"/>
              <a:ext cx="59055" cy="59055"/>
            </a:xfrm>
            <a:prstGeom prst="ellipse">
              <a:avLst/>
            </a:prstGeom>
            <a:solidFill>
              <a:srgbClr val="0E7C86"/>
            </a:solidFill>
            <a:ln>
              <a:noFill/>
            </a:ln>
          </p:spPr>
        </p:sp>
        <p:sp>
          <p:nvSpPr>
            <p:cNvPr id="35" name="TextBox 35"/>
            <p:cNvSpPr txBox="1"/>
            <p:nvPr/>
          </p:nvSpPr>
          <p:spPr>
            <a:xfrm>
              <a:off x="6643497" y="4008120"/>
              <a:ext cx="392243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对固定的 M，L 关于 w 和 b 是线性的，处处可导</a:t>
              </a:r>
            </a:p>
          </p:txBody>
        </p:sp>
      </p:grpSp>
      <p:grpSp>
        <p:nvGrpSpPr>
          <p:cNvPr id="43" name="c2-callout-2"/>
          <p:cNvGrpSpPr/>
          <p:nvPr/>
        </p:nvGrpSpPr>
        <p:grpSpPr>
          <a:xfrm>
            <a:off x="6248400" y="4587240"/>
            <a:ext cx="5410200" cy="978218"/>
            <a:chOff x="6248400" y="4587240"/>
            <a:chExt cx="5410200" cy="978218"/>
          </a:xfrm>
        </p:grpSpPr>
        <p:sp>
          <p:nvSpPr>
            <p:cNvPr id="37" name="Rectangle 37"/>
            <p:cNvSpPr/>
            <p:nvPr/>
          </p:nvSpPr>
          <p:spPr>
            <a:xfrm>
              <a:off x="6248400" y="4587240"/>
              <a:ext cx="5410200" cy="978218"/>
            </a:xfrm>
            <a:prstGeom prst="roundRect">
              <a:avLst>
                <a:gd name="adj" fmla="val 11685"/>
              </a:avLst>
            </a:prstGeom>
            <a:solidFill>
              <a:srgbClr val="F4F6FB"/>
            </a:solidFill>
            <a:ln>
              <a:noFill/>
            </a:ln>
          </p:spPr>
        </p:sp>
        <p:grpSp>
          <p:nvGrpSpPr>
            <p:cNvPr id="41" name="Group 41"/>
            <p:cNvGrpSpPr/>
            <p:nvPr/>
          </p:nvGrpSpPr>
          <p:grpSpPr>
            <a:xfrm>
              <a:off x="6453188" y="4975860"/>
              <a:ext cx="200026" cy="200026"/>
              <a:chOff x="6453188" y="4975860"/>
              <a:chExt cx="200026" cy="200026"/>
            </a:xfrm>
          </p:grpSpPr>
          <p:sp>
            <p:nvSpPr>
              <p:cNvPr id="38" name="Freeform 38"/>
              <p:cNvSpPr/>
              <p:nvPr/>
            </p:nvSpPr>
            <p:spPr>
              <a:xfrm>
                <a:off x="6453188" y="497586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9" name="Freeform 39"/>
              <p:cNvSpPr/>
              <p:nvPr/>
            </p:nvSpPr>
            <p:spPr>
              <a:xfrm>
                <a:off x="6553200" y="504253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0" name="Freeform 40"/>
              <p:cNvSpPr/>
              <p:nvPr/>
            </p:nvSpPr>
            <p:spPr>
              <a:xfrm>
                <a:off x="6542088" y="507587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2" name="TextBox 42"/>
            <p:cNvSpPr txBox="1"/>
            <p:nvPr/>
          </p:nvSpPr>
          <p:spPr>
            <a:xfrm>
              <a:off x="6755892" y="4732972"/>
              <a:ext cx="4514278"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严格的几何距离还要除以 ||w||。感知器不在乎间隔大小，只</a:t>
              </a:r>
              <a:br/>
              <a:r>
                <a:rPr lang="zh-CN" sz="1350" dirty="0">
                  <a:solidFill>
                    <a:srgbClr val="1F2937"/>
                  </a:solidFill>
                  <a:latin typeface="+mn-lt"/>
                  <a:ea typeface="+mn-ea"/>
                  <a:cs typeface="+mn-cs"/>
                </a:rPr>
                <a:t>在乎符号，所以把 1/||w|| 略去，得到上面的函数间隔形</a:t>
              </a:r>
              <a:br/>
              <a:r>
                <a:rPr lang="zh-CN" sz="1350" dirty="0">
                  <a:solidFill>
                    <a:srgbClr val="1F2937"/>
                  </a:solidFill>
                  <a:latin typeface="+mn-lt"/>
                  <a:ea typeface="+mn-ea"/>
                  <a:cs typeface="+mn-cs"/>
                </a:rPr>
                <a:t>式。</a:t>
              </a:r>
            </a:p>
          </p:txBody>
        </p:sp>
      </p:grpSp>
      <p:grpSp>
        <p:nvGrpSpPr>
          <p:cNvPr id="49" name="takeaway"/>
          <p:cNvGrpSpPr/>
          <p:nvPr/>
        </p:nvGrpSpPr>
        <p:grpSpPr>
          <a:xfrm>
            <a:off x="533400" y="5874068"/>
            <a:ext cx="11125200" cy="488632"/>
            <a:chOff x="533400" y="5874068"/>
            <a:chExt cx="11125200" cy="488632"/>
          </a:xfrm>
        </p:grpSpPr>
        <p:sp>
          <p:nvSpPr>
            <p:cNvPr id="44" name="Rectangle 44"/>
            <p:cNvSpPr/>
            <p:nvPr/>
          </p:nvSpPr>
          <p:spPr>
            <a:xfrm>
              <a:off x="533400" y="5874068"/>
              <a:ext cx="11125200" cy="488632"/>
            </a:xfrm>
            <a:prstGeom prst="roundRect">
              <a:avLst>
                <a:gd name="adj" fmla="val 23392"/>
              </a:avLst>
            </a:prstGeom>
            <a:solidFill>
              <a:srgbClr val="0E7C86"/>
            </a:solidFill>
            <a:ln>
              <a:noFill/>
            </a:ln>
          </p:spPr>
        </p:sp>
        <p:grpSp>
          <p:nvGrpSpPr>
            <p:cNvPr id="47" name="Group 47"/>
            <p:cNvGrpSpPr/>
            <p:nvPr/>
          </p:nvGrpSpPr>
          <p:grpSpPr>
            <a:xfrm>
              <a:off x="738188" y="6017897"/>
              <a:ext cx="200023" cy="200023"/>
              <a:chOff x="738188" y="6017897"/>
              <a:chExt cx="200023" cy="200023"/>
            </a:xfrm>
          </p:grpSpPr>
          <p:sp>
            <p:nvSpPr>
              <p:cNvPr id="45" name="Freeform 45"/>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6" name="Freeform 46"/>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8" name="TextBox 48"/>
            <p:cNvSpPr txBox="1"/>
            <p:nvPr/>
          </p:nvSpPr>
          <p:spPr>
            <a:xfrm>
              <a:off x="1040892" y="6023610"/>
              <a:ext cx="657442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设计损失函数的通用套路：先写出“做对了”的判据，再把违反它的程度累加起来。</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优化：随机梯度下降，一次只修一个错</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4977765" cy="1279208"/>
            <a:chOff x="533400" y="1524000"/>
            <a:chExt cx="4977765" cy="1279208"/>
          </a:xfrm>
        </p:grpSpPr>
        <p:sp>
          <p:nvSpPr>
            <p:cNvPr id="7" name="Rectangle 7"/>
            <p:cNvSpPr/>
            <p:nvPr/>
          </p:nvSpPr>
          <p:spPr>
            <a:xfrm>
              <a:off x="533400" y="1524000"/>
              <a:ext cx="4977765" cy="1279208"/>
            </a:xfrm>
            <a:prstGeom prst="roundRect">
              <a:avLst>
                <a:gd name="adj" fmla="val 10424"/>
              </a:avLst>
            </a:prstGeom>
            <a:solidFill>
              <a:srgbClr val="FFFFFF"/>
            </a:solidFill>
            <a:ln w="14288">
              <a:solidFill>
                <a:srgbClr val="D9DFEA"/>
              </a:solidFill>
            </a:ln>
          </p:spPr>
        </p:sp>
        <p:sp>
          <p:nvSpPr>
            <p:cNvPr id="8" name="Rectangle 8"/>
            <p:cNvSpPr/>
            <p:nvPr/>
          </p:nvSpPr>
          <p:spPr>
            <a:xfrm>
              <a:off x="542925" y="1657350"/>
              <a:ext cx="47625" cy="1012508"/>
            </a:xfrm>
            <a:prstGeom prst="roundRect">
              <a:avLst>
                <a:gd name="adj" fmla="val 50000"/>
              </a:avLst>
            </a:prstGeom>
            <a:solidFill>
              <a:srgbClr val="0E7C86"/>
            </a:solidFill>
            <a:ln>
              <a:noFill/>
            </a:ln>
          </p:spPr>
        </p:sp>
        <p:sp>
          <p:nvSpPr>
            <p:cNvPr id="9" name="Rectangle 9"/>
            <p:cNvSpPr/>
            <p:nvPr/>
          </p:nvSpPr>
          <p:spPr>
            <a:xfrm>
              <a:off x="752475" y="1704975"/>
              <a:ext cx="458152" cy="238125"/>
            </a:xfrm>
            <a:prstGeom prst="roundRect">
              <a:avLst>
                <a:gd name="adj" fmla="val 50000"/>
              </a:avLst>
            </a:prstGeom>
            <a:solidFill>
              <a:srgbClr val="E2F3F4"/>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梯度</a:t>
              </a:r>
            </a:p>
          </p:txBody>
        </p:sp>
        <p:sp>
          <p:nvSpPr>
            <p:cNvPr id="11" name="TextBox 11"/>
            <p:cNvSpPr txBox="1"/>
            <p:nvPr/>
          </p:nvSpPr>
          <p:spPr>
            <a:xfrm>
              <a:off x="1318450" y="1744504"/>
              <a:ext cx="216648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固定误分类点集 M 时的梯度</a:t>
              </a:r>
            </a:p>
          </p:txBody>
        </p:sp>
        <mc:AlternateContent xmlns:mc="http://schemas.openxmlformats.org/markup-compatibility/2006">
          <mc:Choice xmlns:a14="http://schemas.microsoft.com/office/drawing/2010/main" Requires="a14">
            <p:sp>
              <p:nvSpPr>
                <p:cNvPr id="12" name="formula49"/>
                <p:cNvSpPr txBox="1">
                  <a:spLocks noGrp="1"/>
                </p:cNvSpPr>
                <p:nvPr/>
              </p:nvSpPr>
              <p:spPr>
                <a:xfrm>
                  <a:off x="752475" y="2040255"/>
                  <a:ext cx="4577715"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w</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nary>
                          <m:naryPr>
                            <m:chr m:val="∑"/>
                            <m:limLoc m:val="undOvr"/>
                            <m:grow m:val="off"/>
                            <m:subHide m:val="off"/>
                            <m:supHide m:val="on"/>
                            <m:ctrlPr>
                              <a:rPr lang="zh-CN" sz="1350" dirty="0">
                                <a:solidFill>
                                  <a:srgbClr val="1F2937"/>
                                </a:solidFill>
                                <a:latin typeface="Cambria Math"/>
                                <a:ea typeface="Cambria Math"/>
                                <a:cs typeface="Cambria Math"/>
                              </a:rPr>
                            </m:ctrlPr>
                          </m:naryPr>
                          <m: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M</m:t>
                            </m:r>
                          </m:sub>
                          <m:sup/>
                          <m:e>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b</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nary>
                          <m:naryPr>
                            <m:chr m:val="∑"/>
                            <m:limLoc m:val="undOvr"/>
                            <m:grow m:val="off"/>
                            <m:subHide m:val="off"/>
                            <m:supHide m:val="on"/>
                            <m:ctrlPr>
                              <a:rPr lang="zh-CN" sz="1350" dirty="0">
                                <a:solidFill>
                                  <a:srgbClr val="1F2937"/>
                                </a:solidFill>
                                <a:latin typeface="Cambria Math"/>
                                <a:ea typeface="Cambria Math"/>
                                <a:cs typeface="Cambria Math"/>
                              </a:rPr>
                            </m:ctrlPr>
                          </m:naryPr>
                          <m: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M</m:t>
                            </m:r>
                          </m:sub>
                          <m:sup/>
                          <m:e>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e>
                        </m:nary>
                      </m:oMath>
                    </m:oMathPara>
                  </a14:m>
                </a:p>
              </p:txBody>
            </p:sp>
          </mc:Choice>
        </mc:AlternateContent>
      </p:grpSp>
      <p:grpSp>
        <p:nvGrpSpPr>
          <p:cNvPr id="20" name="c1-card-2"/>
          <p:cNvGrpSpPr/>
          <p:nvPr/>
        </p:nvGrpSpPr>
        <p:grpSpPr>
          <a:xfrm>
            <a:off x="533400" y="2967990"/>
            <a:ext cx="4977765" cy="1584008"/>
            <a:chOff x="533400" y="2967990"/>
            <a:chExt cx="4977765" cy="1584008"/>
          </a:xfrm>
        </p:grpSpPr>
        <p:sp>
          <p:nvSpPr>
            <p:cNvPr id="14" name="Rectangle 14"/>
            <p:cNvSpPr/>
            <p:nvPr/>
          </p:nvSpPr>
          <p:spPr>
            <a:xfrm>
              <a:off x="533400" y="2967990"/>
              <a:ext cx="4977765" cy="1584008"/>
            </a:xfrm>
            <a:prstGeom prst="roundRect">
              <a:avLst>
                <a:gd name="adj" fmla="val 8419"/>
              </a:avLst>
            </a:prstGeom>
            <a:solidFill>
              <a:srgbClr val="0E7C86"/>
            </a:solidFill>
            <a:ln>
              <a:noFill/>
            </a:ln>
          </p:spPr>
        </p:sp>
        <p:sp>
          <p:nvSpPr>
            <p:cNvPr id="15" name="Rectangle 15"/>
            <p:cNvSpPr/>
            <p:nvPr/>
          </p:nvSpPr>
          <p:spPr>
            <a:xfrm>
              <a:off x="714375" y="3148965"/>
              <a:ext cx="424815" cy="238125"/>
            </a:xfrm>
            <a:prstGeom prst="roundRect">
              <a:avLst>
                <a:gd name="adj" fmla="val 50000"/>
              </a:avLst>
            </a:prstGeom>
            <a:solidFill>
              <a:srgbClr val="0B5F67"/>
            </a:solidFill>
            <a:ln>
              <a:noFill/>
            </a:ln>
          </p:spPr>
        </p:sp>
        <p:sp>
          <p:nvSpPr>
            <p:cNvPr id="16" name="TextBox 16"/>
            <p:cNvSpPr txBox="1"/>
            <p:nvPr/>
          </p:nvSpPr>
          <p:spPr>
            <a:xfrm>
              <a:off x="801078" y="3181826"/>
              <a:ext cx="251408"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SGD</a:t>
              </a:r>
            </a:p>
          </p:txBody>
        </p:sp>
        <p:sp>
          <p:nvSpPr>
            <p:cNvPr id="17" name="TextBox 17"/>
            <p:cNvSpPr txBox="1"/>
            <p:nvPr/>
          </p:nvSpPr>
          <p:spPr>
            <a:xfrm>
              <a:off x="1247013" y="3188494"/>
              <a:ext cx="2080717"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随机取一个误分类点就更新</a:t>
              </a:r>
            </a:p>
          </p:txBody>
        </p:sp>
        <mc:AlternateContent xmlns:mc="http://schemas.openxmlformats.org/markup-compatibility/2006">
          <mc:Choice xmlns:a14="http://schemas.microsoft.com/office/drawing/2010/main" Requires="a14">
            <p:sp>
              <p:nvSpPr>
                <p:cNvPr id="18" name="formula50"/>
                <p:cNvSpPr txBox="1">
                  <a:spLocks noGrp="1"/>
                </p:cNvSpPr>
                <p:nvPr/>
              </p:nvSpPr>
              <p:spPr>
                <a:xfrm>
                  <a:off x="714375" y="3484245"/>
                  <a:ext cx="4615815"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m:rPr>
                                <m:sty m:val="p"/>
                              </m:rPr>
                              <a:rPr lang="zh-CN" sz="1350" dirty="0">
                                <a:solidFill>
                                  <a:srgbClr val="FFFFFF"/>
                                </a:solidFill>
                                <a:latin typeface="Cambria Math"/>
                                <a:ea typeface="Cambria Math"/>
                                <a:cs typeface="Cambria Math"/>
                              </a:rPr>
                              <m:t>∇</m:t>
                            </m:r>
                          </m:e>
                          <m:sub>
                            <m:r>
                              <a:rPr lang="zh-CN" sz="1350" dirty="0">
                                <a:solidFill>
                                  <a:srgbClr val="FFFFFF"/>
                                </a:solidFill>
                                <a:latin typeface="Cambria Math"/>
                                <a:ea typeface="Cambria Math"/>
                                <a:cs typeface="Cambria Math"/>
                              </a:rPr>
                              <m:t>w</m:t>
                            </m:r>
                          </m:sub>
                        </m:sSub>
                        <m:r>
                          <a:rPr lang="zh-CN" sz="1350" dirty="0">
                            <a:solidFill>
                              <a:srgbClr val="FFFFFF"/>
                            </a:solidFill>
                            <a:latin typeface="Cambria Math"/>
                            <a:ea typeface="Cambria Math"/>
                            <a:cs typeface="Cambria Math"/>
                          </a:rPr>
                          <m:t>L</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a:rPr lang="zh-CN" sz="1350" dirty="0">
                                <a:solidFill>
                                  <a:srgbClr val="FFFFFF"/>
                                </a:solidFill>
                                <a:latin typeface="Cambria Math"/>
                                <a:ea typeface="Cambria Math"/>
                                <a:cs typeface="Cambria Math"/>
                              </a:rPr>
                              <m:t>y</m:t>
                            </m:r>
                          </m:e>
                          <m:sub>
                            <m:r>
                              <a:rPr lang="zh-CN" sz="1350" dirty="0">
                                <a:solidFill>
                                  <a:srgbClr val="FFFFFF"/>
                                </a:solidFill>
                                <a:latin typeface="Cambria Math"/>
                                <a:ea typeface="Cambria Math"/>
                                <a:cs typeface="Cambria Math"/>
                              </a:rPr>
                              <m:t>i</m:t>
                            </m:r>
                          </m:sub>
                        </m:sSub>
                        <m:sSub>
                          <m:e>
                            <m:r>
                              <a:rPr lang="zh-CN" sz="1350" dirty="0">
                                <a:solidFill>
                                  <a:srgbClr val="FFFFFF"/>
                                </a:solidFill>
                                <a:latin typeface="Cambria Math"/>
                                <a:ea typeface="Cambria Math"/>
                                <a:cs typeface="Cambria Math"/>
                              </a:rPr>
                              <m:t>x</m:t>
                            </m:r>
                          </m:e>
                          <m:sub>
                            <m:r>
                              <a:rPr lang="zh-CN" sz="1350" dirty="0">
                                <a:solidFill>
                                  <a:srgbClr val="FFFFFF"/>
                                </a:solidFill>
                                <a:latin typeface="Cambria Math"/>
                                <a:ea typeface="Cambria Math"/>
                                <a:cs typeface="Cambria Math"/>
                              </a:rPr>
                              <m:t>i</m:t>
                            </m:r>
                          </m:sub>
                        </m:sSub>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 xml:space="preserve">  </m:t>
                        </m:r>
                        <m:r>
                          <a:rPr lang="zh-CN" sz="1350" dirty="0">
                            <a:solidFill>
                              <a:srgbClr val="FFFFFF"/>
                            </a:solidFill>
                            <a:latin typeface="Cambria Math"/>
                            <a:ea typeface="Cambria Math"/>
                            <a:cs typeface="Cambria Math"/>
                          </a:rPr>
                          <m:t>b</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b</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a:rPr lang="zh-CN" sz="1350" dirty="0">
                                <a:solidFill>
                                  <a:srgbClr val="FFFFFF"/>
                                </a:solidFill>
                                <a:latin typeface="Cambria Math"/>
                                <a:ea typeface="Cambria Math"/>
                                <a:cs typeface="Cambria Math"/>
                              </a:rPr>
                              <m:t>y</m:t>
                            </m:r>
                          </m:e>
                          <m:sub>
                            <m:r>
                              <a:rPr lang="zh-CN" sz="1350" dirty="0">
                                <a:solidFill>
                                  <a:srgbClr val="FFFFFF"/>
                                </a:solidFill>
                                <a:latin typeface="Cambria Math"/>
                                <a:ea typeface="Cambria Math"/>
                                <a:cs typeface="Cambria Math"/>
                              </a:rPr>
                              <m:t>i</m:t>
                            </m:r>
                          </m:sub>
                        </m:sSub>
                      </m:oMath>
                    </m:oMathPara>
                  </a14:m>
                </a:p>
              </p:txBody>
            </p:sp>
          </mc:Choice>
        </mc:AlternateContent>
        <p:sp>
          <p:nvSpPr>
            <p:cNvPr id="19" name="TextBox 19"/>
            <p:cNvSpPr txBox="1"/>
            <p:nvPr/>
          </p:nvSpPr>
          <p:spPr>
            <a:xfrm>
              <a:off x="707898" y="3929539"/>
              <a:ext cx="42151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η（0 &lt; η ≤ 1）是学习率。每次更新都让这个点的 yᵢ(w·xᵢ</a:t>
              </a:r>
              <a:br/>
              <a:r>
                <a:rPr lang="zh-CN" sz="1280" dirty="0">
                  <a:solidFill>
                    <a:srgbClr val="FFFFFF"/>
                  </a:solidFill>
                  <a:latin typeface="+mn-lt"/>
                  <a:ea typeface="+mn-ea"/>
                  <a:cs typeface="+mn-cs"/>
                </a:rPr>
                <a:t>+ b) 变大，也就是朝分对它的方向挪一步。</a:t>
              </a:r>
            </a:p>
          </p:txBody>
        </p:sp>
      </p:grpSp>
      <p:grpSp>
        <p:nvGrpSpPr>
          <p:cNvPr id="27" name="c1-callout-3"/>
          <p:cNvGrpSpPr/>
          <p:nvPr/>
        </p:nvGrpSpPr>
        <p:grpSpPr>
          <a:xfrm>
            <a:off x="533400" y="4716780"/>
            <a:ext cx="4977765" cy="875348"/>
            <a:chOff x="533400" y="4716780"/>
            <a:chExt cx="4977765" cy="875348"/>
          </a:xfrm>
        </p:grpSpPr>
        <p:sp>
          <p:nvSpPr>
            <p:cNvPr id="21" name="Rectangle 21"/>
            <p:cNvSpPr/>
            <p:nvPr/>
          </p:nvSpPr>
          <p:spPr>
            <a:xfrm>
              <a:off x="533400" y="4716780"/>
              <a:ext cx="4977765" cy="875348"/>
            </a:xfrm>
            <a:prstGeom prst="roundRect">
              <a:avLst>
                <a:gd name="adj" fmla="val 13058"/>
              </a:avLst>
            </a:prstGeom>
            <a:solidFill>
              <a:srgbClr val="F4F6FB"/>
            </a:solidFill>
            <a:ln>
              <a:noFill/>
            </a:ln>
          </p:spPr>
        </p:sp>
        <p:grpSp>
          <p:nvGrpSpPr>
            <p:cNvPr id="25" name="Group 25"/>
            <p:cNvGrpSpPr/>
            <p:nvPr/>
          </p:nvGrpSpPr>
          <p:grpSpPr>
            <a:xfrm>
              <a:off x="738188" y="5053965"/>
              <a:ext cx="200026" cy="200026"/>
              <a:chOff x="738188" y="5053965"/>
              <a:chExt cx="200026" cy="200026"/>
            </a:xfrm>
          </p:grpSpPr>
          <p:sp>
            <p:nvSpPr>
              <p:cNvPr id="22" name="Freeform 22"/>
              <p:cNvSpPr/>
              <p:nvPr/>
            </p:nvSpPr>
            <p:spPr>
              <a:xfrm>
                <a:off x="738188" y="505396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3" name="Freeform 23"/>
              <p:cNvSpPr/>
              <p:nvPr/>
            </p:nvSpPr>
            <p:spPr>
              <a:xfrm>
                <a:off x="838200" y="512064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4" name="Freeform 24"/>
              <p:cNvSpPr/>
              <p:nvPr/>
            </p:nvSpPr>
            <p:spPr>
              <a:xfrm>
                <a:off x="827088" y="515397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6" name="TextBox 26"/>
            <p:cNvSpPr txBox="1"/>
            <p:nvPr/>
          </p:nvSpPr>
          <p:spPr>
            <a:xfrm>
              <a:off x="1041273" y="4947761"/>
              <a:ext cx="393877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本讲义统一用 η 表示学习率；源课件在感知器例题里用</a:t>
              </a:r>
              <a:br/>
              <a:r>
                <a:rPr lang="zh-CN" sz="1280" dirty="0">
                  <a:solidFill>
                    <a:srgbClr val="1F2937"/>
                  </a:solidFill>
                  <a:latin typeface="+mn-lt"/>
                  <a:ea typeface="+mn-ea"/>
                  <a:cs typeface="+mn-cs"/>
                </a:rPr>
                <a:t>α，两者是同一个量。</a:t>
              </a:r>
            </a:p>
          </p:txBody>
        </p:sp>
      </p:grpSp>
      <p:grpSp>
        <p:nvGrpSpPr>
          <p:cNvPr id="31" name="c2-code-1"/>
          <p:cNvGrpSpPr/>
          <p:nvPr/>
        </p:nvGrpSpPr>
        <p:grpSpPr>
          <a:xfrm>
            <a:off x="5815965" y="1524000"/>
            <a:ext cx="5842635" cy="3200400"/>
            <a:chOff x="5815965" y="1524000"/>
            <a:chExt cx="5842635" cy="3200400"/>
          </a:xfrm>
        </p:grpSpPr>
        <p:sp>
          <p:nvSpPr>
            <p:cNvPr id="28" name="Rectangle 28"/>
            <p:cNvSpPr/>
            <p:nvPr/>
          </p:nvSpPr>
          <p:spPr>
            <a:xfrm>
              <a:off x="5815965" y="1524000"/>
              <a:ext cx="5842635" cy="3200400"/>
            </a:xfrm>
            <a:prstGeom prst="roundRect">
              <a:avLst>
                <a:gd name="adj" fmla="val 2976"/>
              </a:avLst>
            </a:prstGeom>
            <a:solidFill>
              <a:srgbClr val="F6F8FA"/>
            </a:solidFill>
            <a:ln w="11430">
              <a:solidFill>
                <a:srgbClr val="D9DFEA"/>
              </a:solidFill>
            </a:ln>
          </p:spPr>
        </p:sp>
        <p:sp>
          <p:nvSpPr>
            <p:cNvPr id="29" name="TextBox 29"/>
            <p:cNvSpPr txBox="1"/>
            <p:nvPr/>
          </p:nvSpPr>
          <p:spPr>
            <a:xfrm>
              <a:off x="5944362" y="1675924"/>
              <a:ext cx="933399"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感知机学习算法</a:t>
              </a:r>
            </a:p>
          </p:txBody>
        </p:sp>
        <p:sp>
          <p:nvSpPr>
            <p:cNvPr id="30" name="TextBox 30"/>
            <p:cNvSpPr txBox="1"/>
            <p:nvPr/>
          </p:nvSpPr>
          <p:spPr>
            <a:xfrm>
              <a:off x="5944552" y="1935004"/>
              <a:ext cx="3503422" cy="2704147"/>
            </a:xfrm>
            <a:prstGeom prst="rect">
              <a:avLst/>
            </a:prstGeom>
            <a:noFill/>
            <a:ln>
              <a:noFill/>
            </a:ln>
          </p:spPr>
          <p:txBody>
            <a:bodyPr wrap="none" lIns="0" tIns="0" rIns="0" bIns="0" anchor="t" anchorCtr="0">
              <a:spAutoFit/>
            </a:bodyPr>
            <a:lstStyle/>
            <a:p>
              <a:pPr algn="l">
                <a:lnSpc>
                  <a:spcPts val="1178"/>
                </a:lnSpc>
              </a:pPr>
              <a:r>
                <a:rPr lang="en-US" sz="820" b="1" dirty="0">
                  <a:solidFill>
                    <a:srgbClr val="0E7C86"/>
                  </a:solidFill>
                  <a:latin typeface="Consolas"/>
                  <a:ea typeface="Consolas"/>
                  <a:cs typeface="Consolas"/>
                </a:rPr>
                <a:t>import</a:t>
              </a:r>
              <a:r>
                <a:rPr lang="en-US" sz="820" dirty="0">
                  <a:solidFill>
                    <a:srgbClr val="1F2937"/>
                  </a:solidFill>
                  <a:latin typeface="Consolas"/>
                  <a:ea typeface="Consolas"/>
                  <a:cs typeface="Consolas"/>
                </a:rPr>
                <a:t xml:space="preserve"> numpy </a:t>
              </a:r>
              <a:r>
                <a:rPr lang="en-US" sz="820" b="1" dirty="0">
                  <a:solidFill>
                    <a:srgbClr val="0E7C86"/>
                  </a:solidFill>
                  <a:latin typeface="Consolas"/>
                  <a:ea typeface="Consolas"/>
                  <a:cs typeface="Consolas"/>
                </a:rPr>
                <a:t>as</a:t>
              </a:r>
              <a:r>
                <a:rPr lang="en-US" sz="820" dirty="0">
                  <a:solidFill>
                    <a:srgbClr val="1F2937"/>
                  </a:solidFill>
                  <a:latin typeface="Consolas"/>
                  <a:ea typeface="Consolas"/>
                  <a:cs typeface="Consolas"/>
                </a:rPr>
                <a:t xml:space="preserve"> np</a:t>
              </a:r>
              <a:br/>
              <a:r>
                <a:rPr lang="zh-CN" sz="820" dirty="0">
                  <a:solidFill>
                    <a:srgbClr val="1F2937"/>
                  </a:solidFill>
                  <a:latin typeface="Consolas"/>
                  <a:ea typeface="Consolas"/>
                  <a:cs typeface="Consolas"/>
                </a:rPr>
                <a:t xml:space="preserve"> </a:t>
              </a:r>
              <a:br/>
              <a:r>
                <a:rPr lang="en-US" sz="820" b="1" dirty="0">
                  <a:solidFill>
                    <a:srgbClr val="0E7C86"/>
                  </a:solidFill>
                  <a:latin typeface="Consolas"/>
                  <a:ea typeface="Consolas"/>
                  <a:cs typeface="Consolas"/>
                </a:rPr>
                <a:t>def</a:t>
              </a:r>
              <a:r>
                <a:rPr lang="en-US" sz="820" dirty="0">
                  <a:solidFill>
                    <a:srgbClr val="1F2937"/>
                  </a:solidFill>
                  <a:latin typeface="Consolas"/>
                  <a:ea typeface="Consolas"/>
                  <a:cs typeface="Consolas"/>
                </a:rPr>
                <a:t xml:space="preserve"> perceptron(X, y, eta=1.0, max_iter=1000):</a:t>
              </a:r>
              <a:br/>
              <a:r>
                <a:rPr lang="en-US" sz="820" dirty="0">
                  <a:solidFill>
                    <a:srgbClr val="1F2937"/>
                  </a:solidFill>
                  <a:latin typeface="Consolas"/>
                  <a:ea typeface="Consolas"/>
                  <a:cs typeface="Consolas"/>
                </a:rPr>
                <a:t xml:space="preserve">    w = np.zeros(X.shape[1])    </a:t>
              </a:r>
              <a:r>
                <a:rPr lang="zh-CN" sz="820" dirty="0">
                  <a:solidFill>
                    <a:srgbClr val="0F7A68"/>
                  </a:solidFill>
                  <a:latin typeface="Consolas"/>
                  <a:ea typeface="Microsoft YaHei"/>
                  <a:cs typeface="Consolas"/>
                </a:rPr>
                <a:t># 初始化 w0</a:t>
              </a:r>
              <a:br/>
              <a:r>
                <a:rPr lang="en-US" sz="820" dirty="0">
                  <a:solidFill>
                    <a:srgbClr val="1F2937"/>
                  </a:solidFill>
                  <a:latin typeface="Consolas"/>
                  <a:ea typeface="Consolas"/>
                  <a:cs typeface="Consolas"/>
                </a:rPr>
                <a:t xml:space="preserve">    b = 0.0                     </a:t>
              </a:r>
              <a:r>
                <a:rPr lang="zh-CN" sz="820" dirty="0">
                  <a:solidFill>
                    <a:srgbClr val="0F7A68"/>
                  </a:solidFill>
                  <a:latin typeface="Consolas"/>
                  <a:ea typeface="Microsoft YaHei"/>
                  <a:cs typeface="Consolas"/>
                </a:rPr>
                <a:t># 初始化 b0</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for</a:t>
              </a:r>
              <a:r>
                <a:rPr lang="zh-CN" sz="820" dirty="0">
                  <a:solidFill>
                    <a:srgbClr val="1F2937"/>
                  </a:solidFill>
                  <a:latin typeface="Consolas"/>
                  <a:ea typeface="Consolas"/>
                  <a:cs typeface="Consolas"/>
                </a:rPr>
                <a:t xml:space="preserve"> _ </a:t>
              </a:r>
              <a:r>
                <a:rPr lang="en-US" sz="820" b="1" dirty="0">
                  <a:solidFill>
                    <a:srgbClr val="0E7C86"/>
                  </a:solidFill>
                  <a:latin typeface="Consolas"/>
                  <a:ea typeface="Consolas"/>
                  <a:cs typeface="Consolas"/>
                </a:rPr>
                <a:t>in</a:t>
              </a:r>
              <a:r>
                <a:rPr lang="en-US" sz="820" dirty="0">
                  <a:solidFill>
                    <a:srgbClr val="1F2937"/>
                  </a:solidFill>
                  <a:latin typeface="Consolas"/>
                  <a:ea typeface="Consolas"/>
                  <a:cs typeface="Consolas"/>
                </a:rPr>
                <a:t xml:space="preserve"> range(max_iter):</a:t>
              </a:r>
              <a:br/>
              <a:r>
                <a:rPr lang="en-US" sz="820" dirty="0">
                  <a:solidFill>
                    <a:srgbClr val="1F2937"/>
                  </a:solidFill>
                  <a:latin typeface="Consolas"/>
                  <a:ea typeface="Consolas"/>
                  <a:cs typeface="Consolas"/>
                </a:rPr>
                <a:t xml:space="preserve">        wrong = 0</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for</a:t>
              </a:r>
              <a:r>
                <a:rPr lang="en-US" sz="820" dirty="0">
                  <a:solidFill>
                    <a:srgbClr val="1F2937"/>
                  </a:solidFill>
                  <a:latin typeface="Consolas"/>
                  <a:ea typeface="Consolas"/>
                  <a:cs typeface="Consolas"/>
                </a:rPr>
                <a:t xml:space="preserve"> xi, yi </a:t>
              </a:r>
              <a:r>
                <a:rPr lang="en-US" sz="820" b="1" dirty="0">
                  <a:solidFill>
                    <a:srgbClr val="0E7C86"/>
                  </a:solidFill>
                  <a:latin typeface="Consolas"/>
                  <a:ea typeface="Consolas"/>
                  <a:cs typeface="Consolas"/>
                </a:rPr>
                <a:t>in</a:t>
              </a:r>
              <a:r>
                <a:rPr lang="en-US" sz="820" dirty="0">
                  <a:solidFill>
                    <a:srgbClr val="1F2937"/>
                  </a:solidFill>
                  <a:latin typeface="Consolas"/>
                  <a:ea typeface="Consolas"/>
                  <a:cs typeface="Consolas"/>
                </a:rPr>
                <a:t xml:space="preserve"> zip(X, y):</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if</a:t>
              </a:r>
              <a:r>
                <a:rPr lang="en-US" sz="820" dirty="0">
                  <a:solidFill>
                    <a:srgbClr val="1F2937"/>
                  </a:solidFill>
                  <a:latin typeface="Consolas"/>
                  <a:ea typeface="Consolas"/>
                  <a:cs typeface="Consolas"/>
                </a:rPr>
                <a:t xml:space="preserve"> yi * (w @ xi + b) &lt;= 0:   </a:t>
              </a:r>
              <a:r>
                <a:rPr lang="zh-CN" sz="820" dirty="0">
                  <a:solidFill>
                    <a:srgbClr val="0F7A68"/>
                  </a:solidFill>
                  <a:latin typeface="Consolas"/>
                  <a:ea typeface="Microsoft YaHei"/>
                  <a:cs typeface="Consolas"/>
                </a:rPr>
                <a:t># 误分类点</a:t>
              </a:r>
              <a:br/>
              <a:r>
                <a:rPr lang="en-US" sz="820" dirty="0">
                  <a:solidFill>
                    <a:srgbClr val="1F2937"/>
                  </a:solidFill>
                  <a:latin typeface="Consolas"/>
                  <a:ea typeface="Consolas"/>
                  <a:cs typeface="Consolas"/>
                </a:rPr>
                <a:t xml:space="preserve">                w += eta * yi * xi       </a:t>
              </a:r>
              <a:r>
                <a:rPr lang="en-US" sz="820" dirty="0">
                  <a:solidFill>
                    <a:srgbClr val="0F7A68"/>
                  </a:solidFill>
                  <a:latin typeface="Consolas"/>
                  <a:ea typeface="Consolas"/>
                  <a:cs typeface="Consolas"/>
                </a:rPr>
                <a:t># w &lt;- w + eta*yi*xi</a:t>
              </a:r>
              <a:br/>
              <a:r>
                <a:rPr lang="en-US" sz="820" dirty="0">
                  <a:solidFill>
                    <a:srgbClr val="1F2937"/>
                  </a:solidFill>
                  <a:latin typeface="Consolas"/>
                  <a:ea typeface="Consolas"/>
                  <a:cs typeface="Consolas"/>
                </a:rPr>
                <a:t xml:space="preserve">                b += eta * yi            </a:t>
              </a:r>
              <a:r>
                <a:rPr lang="en-US" sz="820" dirty="0">
                  <a:solidFill>
                    <a:srgbClr val="0F7A68"/>
                  </a:solidFill>
                  <a:latin typeface="Consolas"/>
                  <a:ea typeface="Consolas"/>
                  <a:cs typeface="Consolas"/>
                </a:rPr>
                <a:t># b &lt;- b + eta*yi</a:t>
              </a:r>
              <a:br/>
              <a:r>
                <a:rPr lang="en-US" sz="820" dirty="0">
                  <a:solidFill>
                    <a:srgbClr val="1F2937"/>
                  </a:solidFill>
                  <a:latin typeface="Consolas"/>
                  <a:ea typeface="Consolas"/>
                  <a:cs typeface="Consolas"/>
                </a:rPr>
                <a:t xml:space="preserve">                wrong += 1</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if</a:t>
              </a:r>
              <a:r>
                <a:rPr lang="en-US" sz="820" dirty="0">
                  <a:solidFill>
                    <a:srgbClr val="1F2937"/>
                  </a:solidFill>
                  <a:latin typeface="Consolas"/>
                  <a:ea typeface="Consolas"/>
                  <a:cs typeface="Consolas"/>
                </a:rPr>
                <a:t xml:space="preserve"> wrong == 0:          </a:t>
              </a:r>
              <a:r>
                <a:rPr lang="zh-CN" sz="820" dirty="0">
                  <a:solidFill>
                    <a:srgbClr val="0F7A68"/>
                  </a:solidFill>
                  <a:latin typeface="Consolas"/>
                  <a:ea typeface="Microsoft YaHei"/>
                  <a:cs typeface="Consolas"/>
                </a:rPr>
                <a:t># 训练集中不存在误分类点</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break</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return</a:t>
              </a:r>
              <a:r>
                <a:rPr lang="en-US" sz="820" dirty="0">
                  <a:solidFill>
                    <a:srgbClr val="1F2937"/>
                  </a:solidFill>
                  <a:latin typeface="Consolas"/>
                  <a:ea typeface="Consolas"/>
                  <a:cs typeface="Consolas"/>
                </a:rPr>
                <a:t xml:space="preserve"> w, b</a:t>
              </a:r>
              <a:br/>
              <a:r>
                <a:rPr lang="en-US" sz="820" dirty="0">
                  <a:solidFill>
                    <a:srgbClr val="1F2937"/>
                  </a:solidFill>
                  <a:latin typeface="Consolas"/>
                  <a:ea typeface="Consolas"/>
                  <a:cs typeface="Consolas"/>
                </a:rPr>
                <a:t>X = np.array([[3, 3], [4, 3], [1, 1]])</a:t>
              </a:r>
              <a:br/>
              <a:r>
                <a:rPr lang="en-US" sz="820" dirty="0">
                  <a:solidFill>
                    <a:srgbClr val="1F2937"/>
                  </a:solidFill>
                  <a:latin typeface="Consolas"/>
                  <a:ea typeface="Consolas"/>
                  <a:cs typeface="Consolas"/>
                </a:rPr>
                <a:t xml:space="preserve">y = np.array([1, 1, -1])          </a:t>
              </a:r>
              <a:r>
                <a:rPr lang="zh-CN" sz="820" dirty="0">
                  <a:solidFill>
                    <a:srgbClr val="0F7A68"/>
                  </a:solidFill>
                  <a:latin typeface="Consolas"/>
                  <a:ea typeface="Microsoft YaHei"/>
                  <a:cs typeface="Consolas"/>
                </a:rPr>
                <a:t># 标签取 ±1</a:t>
              </a:r>
              <a:br/>
              <a:r>
                <a:rPr lang="en-US" sz="820" dirty="0">
                  <a:solidFill>
                    <a:srgbClr val="1F2937"/>
                  </a:solidFill>
                  <a:latin typeface="Consolas"/>
                  <a:ea typeface="Consolas"/>
                  <a:cs typeface="Consolas"/>
                </a:rPr>
                <a:t xml:space="preserve">print(perceptron(X, y, eta=1.0))  </a:t>
              </a:r>
              <a:r>
                <a:rPr lang="en-US" sz="820" dirty="0">
                  <a:solidFill>
                    <a:srgbClr val="0F7A68"/>
                  </a:solidFill>
                  <a:latin typeface="Consolas"/>
                  <a:ea typeface="Consolas"/>
                  <a:cs typeface="Consolas"/>
                </a:rPr>
                <a:t># w=[1, 1], b=-3.0</a:t>
              </a:r>
            </a:p>
          </p:txBody>
        </p:sp>
      </p:grpSp>
      <p:grpSp>
        <p:nvGrpSpPr>
          <p:cNvPr id="38" name="c2-callout-2"/>
          <p:cNvGrpSpPr/>
          <p:nvPr/>
        </p:nvGrpSpPr>
        <p:grpSpPr>
          <a:xfrm>
            <a:off x="5815965" y="4889182"/>
            <a:ext cx="5842635" cy="702945"/>
            <a:chOff x="5815965" y="4889182"/>
            <a:chExt cx="5842635" cy="702945"/>
          </a:xfrm>
        </p:grpSpPr>
        <p:sp>
          <p:nvSpPr>
            <p:cNvPr id="32" name="Rectangle 32"/>
            <p:cNvSpPr/>
            <p:nvPr/>
          </p:nvSpPr>
          <p:spPr>
            <a:xfrm>
              <a:off x="5815965" y="4889182"/>
              <a:ext cx="5842635" cy="702945"/>
            </a:xfrm>
            <a:prstGeom prst="roundRect">
              <a:avLst>
                <a:gd name="adj" fmla="val 16260"/>
              </a:avLst>
            </a:prstGeom>
            <a:solidFill>
              <a:srgbClr val="F4F6FB"/>
            </a:solidFill>
            <a:ln>
              <a:noFill/>
            </a:ln>
          </p:spPr>
        </p:sp>
        <p:grpSp>
          <p:nvGrpSpPr>
            <p:cNvPr id="36" name="Group 36"/>
            <p:cNvGrpSpPr/>
            <p:nvPr/>
          </p:nvGrpSpPr>
          <p:grpSpPr>
            <a:xfrm>
              <a:off x="6020753" y="5140643"/>
              <a:ext cx="200026" cy="200026"/>
              <a:chOff x="6020753" y="5140643"/>
              <a:chExt cx="200026" cy="200026"/>
            </a:xfrm>
          </p:grpSpPr>
          <p:sp>
            <p:nvSpPr>
              <p:cNvPr id="33" name="Freeform 33"/>
              <p:cNvSpPr/>
              <p:nvPr/>
            </p:nvSpPr>
            <p:spPr>
              <a:xfrm>
                <a:off x="6020753" y="514064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4" name="Freeform 34"/>
              <p:cNvSpPr/>
              <p:nvPr/>
            </p:nvSpPr>
            <p:spPr>
              <a:xfrm>
                <a:off x="6120765" y="520731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5" name="Freeform 35"/>
              <p:cNvSpPr/>
              <p:nvPr/>
            </p:nvSpPr>
            <p:spPr>
              <a:xfrm>
                <a:off x="6109653" y="524065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7" name="TextBox 37"/>
            <p:cNvSpPr txBox="1"/>
            <p:nvPr/>
          </p:nvSpPr>
          <p:spPr>
            <a:xfrm>
              <a:off x="6323838" y="5034439"/>
              <a:ext cx="483285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max_iter 必须给一个有限值：数据线性不可分时，外层循环永远等</a:t>
              </a:r>
              <a:br/>
              <a:r>
                <a:rPr lang="zh-CN" sz="1280" dirty="0">
                  <a:solidFill>
                    <a:srgbClr val="1F2937"/>
                  </a:solidFill>
                  <a:latin typeface="+mn-lt"/>
                  <a:ea typeface="+mn-ea"/>
                  <a:cs typeface="+mn-cs"/>
                </a:rPr>
                <a:t>不到 wrong == 0。</a:t>
              </a:r>
            </a:p>
          </p:txBody>
        </p:sp>
      </p:grpSp>
      <p:grpSp>
        <p:nvGrpSpPr>
          <p:cNvPr id="45" name="takeaway"/>
          <p:cNvGrpSpPr/>
          <p:nvPr/>
        </p:nvGrpSpPr>
        <p:grpSpPr>
          <a:xfrm>
            <a:off x="533400" y="5895022"/>
            <a:ext cx="11125200" cy="467678"/>
            <a:chOff x="533400" y="5895022"/>
            <a:chExt cx="11125200" cy="467678"/>
          </a:xfrm>
        </p:grpSpPr>
        <p:sp>
          <p:nvSpPr>
            <p:cNvPr id="39" name="Rectangle 39"/>
            <p:cNvSpPr/>
            <p:nvPr/>
          </p:nvSpPr>
          <p:spPr>
            <a:xfrm>
              <a:off x="533400" y="5895022"/>
              <a:ext cx="11125200" cy="467678"/>
            </a:xfrm>
            <a:prstGeom prst="roundRect">
              <a:avLst>
                <a:gd name="adj" fmla="val 24440"/>
              </a:avLst>
            </a:prstGeom>
            <a:solidFill>
              <a:srgbClr val="FDEEE7"/>
            </a:solidFill>
            <a:ln>
              <a:noFill/>
            </a:ln>
          </p:spPr>
        </p:sp>
        <p:grpSp>
          <p:nvGrpSpPr>
            <p:cNvPr id="43" name="Group 43"/>
            <p:cNvGrpSpPr/>
            <p:nvPr/>
          </p:nvGrpSpPr>
          <p:grpSpPr>
            <a:xfrm>
              <a:off x="738188" y="6028373"/>
              <a:ext cx="200026" cy="200025"/>
              <a:chOff x="738188" y="6028373"/>
              <a:chExt cx="200026" cy="200025"/>
            </a:xfrm>
          </p:grpSpPr>
          <p:sp>
            <p:nvSpPr>
              <p:cNvPr id="40" name="Freeform 40"/>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1" name="Freeform 41"/>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2" name="Freeform 42"/>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4" name="TextBox 44"/>
            <p:cNvSpPr txBox="1"/>
            <p:nvPr/>
          </p:nvSpPr>
          <p:spPr>
            <a:xfrm>
              <a:off x="1041273" y="6039326"/>
              <a:ext cx="8508014"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判据写成 yᵢ(w·xᵢ + b) ≤ 0 而不是 &lt; 0：落在超平面上的点也算没分对，否则算法会停在一个恰好压线的解上。</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728761" cy="909257"/>
            <a:chOff x="520446" y="342900"/>
            <a:chExt cx="4728761"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7287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另一种等价写法：Err = T − O</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284089" cy="264033"/>
            <a:chOff x="526542" y="1545907"/>
            <a:chExt cx="5284089" cy="264033"/>
          </a:xfrm>
        </p:grpSpPr>
        <p:sp>
          <p:nvSpPr>
            <p:cNvPr id="7" name="TextBox 7"/>
            <p:cNvSpPr txBox="1"/>
            <p:nvPr/>
          </p:nvSpPr>
          <p:spPr>
            <a:xfrm>
              <a:off x="526542" y="1545907"/>
              <a:ext cx="528408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教材和课件里常见的第二种感知器写法，与上一页是同一个算法。</a:t>
              </a:r>
            </a:p>
          </p:txBody>
        </p:sp>
      </p:grpSp>
      <p:grpSp>
        <p:nvGrpSpPr>
          <p:cNvPr id="22" name="c1-card-1"/>
          <p:cNvGrpSpPr/>
          <p:nvPr/>
        </p:nvGrpSpPr>
        <p:grpSpPr>
          <a:xfrm>
            <a:off x="533400" y="1928812"/>
            <a:ext cx="5410200" cy="2460308"/>
            <a:chOff x="533400" y="1928812"/>
            <a:chExt cx="5410200" cy="2460308"/>
          </a:xfrm>
        </p:grpSpPr>
        <p:sp>
          <p:nvSpPr>
            <p:cNvPr id="9" name="Rectangle 9"/>
            <p:cNvSpPr/>
            <p:nvPr/>
          </p:nvSpPr>
          <p:spPr>
            <a:xfrm>
              <a:off x="533400" y="1928812"/>
              <a:ext cx="5410200" cy="2460308"/>
            </a:xfrm>
            <a:prstGeom prst="roundRect">
              <a:avLst>
                <a:gd name="adj" fmla="val 5420"/>
              </a:avLst>
            </a:prstGeom>
            <a:solidFill>
              <a:srgbClr val="FFFFFF"/>
            </a:solidFill>
            <a:ln w="14288">
              <a:solidFill>
                <a:srgbClr val="D9DFEA"/>
              </a:solidFill>
            </a:ln>
          </p:spPr>
        </p:sp>
        <p:sp>
          <p:nvSpPr>
            <p:cNvPr id="10" name="Rectangle 10"/>
            <p:cNvSpPr/>
            <p:nvPr/>
          </p:nvSpPr>
          <p:spPr>
            <a:xfrm>
              <a:off x="542925" y="2062162"/>
              <a:ext cx="47625" cy="2193608"/>
            </a:xfrm>
            <a:prstGeom prst="roundRect">
              <a:avLst>
                <a:gd name="adj" fmla="val 50000"/>
              </a:avLst>
            </a:prstGeom>
            <a:solidFill>
              <a:srgbClr val="0E7C86"/>
            </a:solidFill>
            <a:ln>
              <a:noFill/>
            </a:ln>
          </p:spPr>
        </p:sp>
        <p:sp>
          <p:nvSpPr>
            <p:cNvPr id="11" name="Rectangle 11"/>
            <p:cNvSpPr/>
            <p:nvPr/>
          </p:nvSpPr>
          <p:spPr>
            <a:xfrm>
              <a:off x="758190" y="2115502"/>
              <a:ext cx="458152" cy="238125"/>
            </a:xfrm>
            <a:prstGeom prst="roundRect">
              <a:avLst>
                <a:gd name="adj" fmla="val 50000"/>
              </a:avLst>
            </a:prstGeom>
            <a:solidFill>
              <a:srgbClr val="E2F3F4"/>
            </a:solidFill>
            <a:ln>
              <a:noFill/>
            </a:ln>
          </p:spPr>
        </p:sp>
        <p:sp>
          <p:nvSpPr>
            <p:cNvPr id="12" name="TextBox 12"/>
            <p:cNvSpPr txBox="1"/>
            <p:nvPr/>
          </p:nvSpPr>
          <p:spPr>
            <a:xfrm>
              <a:off x="850862" y="2148364"/>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记号</a:t>
              </a:r>
            </a:p>
          </p:txBody>
        </p:sp>
        <p:sp>
          <p:nvSpPr>
            <p:cNvPr id="13" name="TextBox 13"/>
            <p:cNvSpPr txBox="1"/>
            <p:nvPr/>
          </p:nvSpPr>
          <p:spPr>
            <a:xfrm>
              <a:off x="1323784" y="215074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用误差信号驱动更新</a:t>
              </a:r>
            </a:p>
          </p:txBody>
        </p:sp>
        <p:sp>
          <p:nvSpPr>
            <p:cNvPr id="14" name="Ellipse 14"/>
            <p:cNvSpPr/>
            <p:nvPr/>
          </p:nvSpPr>
          <p:spPr>
            <a:xfrm>
              <a:off x="766762" y="2532698"/>
              <a:ext cx="59055" cy="59055"/>
            </a:xfrm>
            <a:prstGeom prst="ellipse">
              <a:avLst/>
            </a:prstGeom>
            <a:solidFill>
              <a:srgbClr val="0E7C86"/>
            </a:solidFill>
            <a:ln>
              <a:noFill/>
            </a:ln>
          </p:spPr>
        </p:sp>
        <p:sp>
          <p:nvSpPr>
            <p:cNvPr id="15" name="TextBox 15"/>
            <p:cNvSpPr txBox="1"/>
            <p:nvPr/>
          </p:nvSpPr>
          <p:spPr>
            <a:xfrm>
              <a:off x="922782" y="2476500"/>
              <a:ext cx="2345779"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a:t>
              </a:r>
              <a:r>
                <a:rPr lang="zh-CN" sz="1350" dirty="0">
                  <a:solidFill>
                    <a:srgbClr val="1F2937"/>
                  </a:solidFill>
                  <a:latin typeface="+mn-lt"/>
                  <a:ea typeface="+mn-ea"/>
                  <a:cs typeface="+mn-cs"/>
                </a:rPr>
                <a:t>：感知器实际输出的预测值</a:t>
              </a:r>
            </a:p>
          </p:txBody>
        </p:sp>
        <p:sp>
          <p:nvSpPr>
            <p:cNvPr id="16" name="Ellipse 16"/>
            <p:cNvSpPr/>
            <p:nvPr/>
          </p:nvSpPr>
          <p:spPr>
            <a:xfrm>
              <a:off x="766762" y="2832735"/>
              <a:ext cx="59055" cy="59055"/>
            </a:xfrm>
            <a:prstGeom prst="ellipse">
              <a:avLst/>
            </a:prstGeom>
            <a:solidFill>
              <a:srgbClr val="0E7C86"/>
            </a:solidFill>
            <a:ln>
              <a:noFill/>
            </a:ln>
          </p:spPr>
        </p:sp>
        <p:sp>
          <p:nvSpPr>
            <p:cNvPr id="17" name="TextBox 17"/>
            <p:cNvSpPr txBox="1"/>
            <p:nvPr/>
          </p:nvSpPr>
          <p:spPr>
            <a:xfrm>
              <a:off x="922782" y="2776538"/>
              <a:ext cx="194198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T</a:t>
              </a:r>
              <a:r>
                <a:rPr lang="zh-CN" sz="1350" dirty="0">
                  <a:solidFill>
                    <a:srgbClr val="1F2937"/>
                  </a:solidFill>
                  <a:latin typeface="+mn-lt"/>
                  <a:ea typeface="+mn-ea"/>
                  <a:cs typeface="+mn-cs"/>
                </a:rPr>
                <a:t>：教师信号，即真实值</a:t>
              </a:r>
            </a:p>
          </p:txBody>
        </p:sp>
        <p:sp>
          <p:nvSpPr>
            <p:cNvPr id="18" name="Ellipse 18"/>
            <p:cNvSpPr/>
            <p:nvPr/>
          </p:nvSpPr>
          <p:spPr>
            <a:xfrm>
              <a:off x="766762" y="3132772"/>
              <a:ext cx="59055" cy="59055"/>
            </a:xfrm>
            <a:prstGeom prst="ellipse">
              <a:avLst/>
            </a:prstGeom>
            <a:solidFill>
              <a:srgbClr val="0E7C86"/>
            </a:solidFill>
            <a:ln>
              <a:noFill/>
            </a:ln>
          </p:spPr>
        </p:sp>
        <p:sp>
          <p:nvSpPr>
            <p:cNvPr id="19" name="TextBox 19"/>
            <p:cNvSpPr txBox="1"/>
            <p:nvPr/>
          </p:nvSpPr>
          <p:spPr>
            <a:xfrm>
              <a:off x="922782" y="3076575"/>
              <a:ext cx="2347768"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Iⱼ</a:t>
              </a:r>
              <a:r>
                <a:rPr lang="zh-CN" sz="1350" dirty="0">
                  <a:solidFill>
                    <a:srgbClr val="1F2937"/>
                  </a:solidFill>
                  <a:latin typeface="+mn-lt"/>
                  <a:ea typeface="+mn-ea"/>
                  <a:cs typeface="+mn-cs"/>
                </a:rPr>
                <a:t>：第 j 个输入节点的输入值</a:t>
              </a:r>
            </a:p>
          </p:txBody>
        </p:sp>
        <mc:AlternateContent xmlns:mc="http://schemas.openxmlformats.org/markup-compatibility/2006">
          <mc:Choice xmlns:a14="http://schemas.microsoft.com/office/drawing/2010/main" Requires="a14">
            <p:sp>
              <p:nvSpPr>
                <p:cNvPr id="20" name="formula61"/>
                <p:cNvSpPr txBox="1">
                  <a:spLocks noGrp="1"/>
                </p:cNvSpPr>
                <p:nvPr/>
              </p:nvSpPr>
              <p:spPr>
                <a:xfrm>
                  <a:off x="758190" y="3354705"/>
                  <a:ext cx="4998720"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420" dirty="0">
                            <a:solidFill>
                              <a:srgbClr val="1F2937"/>
                            </a:solidFill>
                            <a:latin typeface="Cambria Math"/>
                            <a:ea typeface="Cambria Math"/>
                            <a:cs typeface="Cambria Math"/>
                          </a:rPr>
                          <m:t>Err</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T</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O</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sSub>
                          <m:e>
                            <m:r>
                              <a:rPr lang="zh-CN" sz="1420" dirty="0">
                                <a:solidFill>
                                  <a:srgbClr val="1F2937"/>
                                </a:solidFill>
                                <a:latin typeface="Cambria Math"/>
                                <a:ea typeface="Cambria Math"/>
                                <a:cs typeface="Cambria Math"/>
                              </a:rPr>
                              <m:t>W</m:t>
                            </m:r>
                          </m:e>
                          <m:sub>
                            <m:r>
                              <a:rPr lang="zh-CN" sz="1420" dirty="0">
                                <a:solidFill>
                                  <a:srgbClr val="1F2937"/>
                                </a:solidFill>
                                <a:latin typeface="Cambria Math"/>
                                <a:ea typeface="Cambria Math"/>
                                <a:cs typeface="Cambria Math"/>
                              </a:rPr>
                              <m:t>j</m:t>
                            </m:r>
                          </m:sub>
                        </m:sSub>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W</m:t>
                            </m:r>
                          </m:e>
                          <m:sub>
                            <m:r>
                              <a:rPr lang="zh-CN" sz="1420" dirty="0">
                                <a:solidFill>
                                  <a:srgbClr val="1F2937"/>
                                </a:solidFill>
                                <a:latin typeface="Cambria Math"/>
                                <a:ea typeface="Cambria Math"/>
                                <a:cs typeface="Cambria Math"/>
                              </a:rPr>
                              <m:t>j</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η</m:t>
                        </m:r>
                        <m:r>
                          <a:rPr lang="zh-CN" sz="1420" dirty="0">
                            <a:solidFill>
                              <a:srgbClr val="1F2937"/>
                            </a:solidFill>
                            <a:latin typeface="Cambria Math"/>
                            <a:ea typeface="Cambria Math"/>
                            <a:cs typeface="Cambria Math"/>
                          </a:rPr>
                          <m:t xml:space="preserve"> </m:t>
                        </m:r>
                        <m:sSub>
                          <m:e>
                            <m:r>
                              <a:rPr lang="zh-CN" sz="1420" dirty="0">
                                <a:solidFill>
                                  <a:srgbClr val="1F2937"/>
                                </a:solidFill>
                                <a:latin typeface="Cambria Math"/>
                                <a:ea typeface="Cambria Math"/>
                                <a:cs typeface="Cambria Math"/>
                              </a:rPr>
                              <m:t>I</m:t>
                            </m:r>
                          </m:e>
                          <m:sub>
                            <m:r>
                              <a:rPr lang="zh-CN" sz="1420" dirty="0">
                                <a:solidFill>
                                  <a:srgbClr val="1F2937"/>
                                </a:solidFill>
                                <a:latin typeface="Cambria Math"/>
                                <a:ea typeface="Cambria Math"/>
                                <a:cs typeface="Cambria Math"/>
                              </a:rPr>
                              <m:t>j</m:t>
                            </m:r>
                          </m:sub>
                        </m:sSub>
                        <m:r>
                          <a:rPr lang="zh-CN" sz="1420" dirty="0">
                            <a:solidFill>
                              <a:srgbClr val="1F2937"/>
                            </a:solidFill>
                            <a:latin typeface="Cambria Math"/>
                            <a:ea typeface="Cambria Math"/>
                            <a:cs typeface="Cambria Math"/>
                          </a:rPr>
                          <m:t xml:space="preserve"> </m:t>
                        </m:r>
                        <m:r>
                          <m:rPr>
                            <m:sty m:val="p"/>
                          </m:rPr>
                          <a:rPr lang="zh-CN" sz="1420" dirty="0">
                            <a:solidFill>
                              <a:srgbClr val="1F2937"/>
                            </a:solidFill>
                            <a:latin typeface="Cambria Math"/>
                            <a:ea typeface="Cambria Math"/>
                            <a:cs typeface="Cambria Math"/>
                          </a:rPr>
                          <m:t>Err</m:t>
                        </m:r>
                      </m:oMath>
                    </m:oMathPara>
                  </a14:m>
                </a:p>
              </p:txBody>
            </p:sp>
          </mc:Choice>
        </mc:AlternateContent>
        <p:sp>
          <p:nvSpPr>
            <p:cNvPr id="21" name="TextBox 21"/>
            <p:cNvSpPr txBox="1"/>
            <p:nvPr/>
          </p:nvSpPr>
          <p:spPr>
            <a:xfrm>
              <a:off x="752475" y="3819049"/>
              <a:ext cx="469112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输出取 0/1 时 Err ∈ {−1, 0, +1}：分对了不动，漏报了加一份输入，误报</a:t>
              </a:r>
              <a:br/>
              <a:r>
                <a:rPr lang="zh-CN" sz="1120" dirty="0">
                  <a:solidFill>
                    <a:srgbClr val="5B6475"/>
                  </a:solidFill>
                  <a:latin typeface="+mn-lt"/>
                  <a:ea typeface="+mn-ea"/>
                  <a:cs typeface="+mn-cs"/>
                </a:rPr>
                <a:t>了减一份输入。</a:t>
              </a:r>
            </a:p>
          </p:txBody>
        </p:sp>
      </p:grpSp>
      <mc:AlternateContent xmlns:mc="http://schemas.openxmlformats.org/markup-compatibility/2006">
        <mc:Choice xmlns:a14="http://schemas.microsoft.com/office/drawing/2010/main" Requires="a14">
          <p:sp>
            <p:nvSpPr>
              <p:cNvPr id="23" name="formula62"/>
              <p:cNvSpPr txBox="1">
                <a:spLocks noGrp="1"/>
              </p:cNvSpPr>
              <p:nvPr/>
            </p:nvSpPr>
            <p:spPr>
              <a:xfrm>
                <a:off x="533400" y="4558665"/>
                <a:ext cx="5410200"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O</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f</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σ</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f</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oMath>
                  </m:oMathPara>
                </a14:m>
              </a:p>
            </p:txBody>
          </p:sp>
        </mc:Choice>
      </mc:AlternateContent>
      <p:grpSp>
        <p:nvGrpSpPr>
          <p:cNvPr id="45" name="c2-steps-1"/>
          <p:cNvGrpSpPr/>
          <p:nvPr/>
        </p:nvGrpSpPr>
        <p:grpSpPr>
          <a:xfrm>
            <a:off x="6248400" y="1938338"/>
            <a:ext cx="3915242" cy="2851309"/>
            <a:chOff x="6248400" y="1938338"/>
            <a:chExt cx="3915242" cy="2851309"/>
          </a:xfrm>
        </p:grpSpPr>
        <p:sp>
          <p:nvSpPr>
            <p:cNvPr id="24" name="Rectangle 24"/>
            <p:cNvSpPr/>
            <p:nvPr/>
          </p:nvSpPr>
          <p:spPr>
            <a:xfrm>
              <a:off x="6381750" y="2081212"/>
              <a:ext cx="19050" cy="2331720"/>
            </a:xfrm>
            <a:prstGeom prst="rect">
              <a:avLst/>
            </a:prstGeom>
            <a:solidFill>
              <a:srgbClr val="D9DFEA"/>
            </a:solidFill>
            <a:ln>
              <a:noFill/>
            </a:ln>
          </p:spPr>
        </p:sp>
        <p:sp>
          <p:nvSpPr>
            <p:cNvPr id="25" name="Ellipse 25"/>
            <p:cNvSpPr/>
            <p:nvPr/>
          </p:nvSpPr>
          <p:spPr>
            <a:xfrm>
              <a:off x="6248400" y="1938338"/>
              <a:ext cx="285750" cy="285750"/>
            </a:xfrm>
            <a:prstGeom prst="ellipse">
              <a:avLst/>
            </a:prstGeom>
            <a:solidFill>
              <a:srgbClr val="0E7C86"/>
            </a:solidFill>
            <a:ln>
              <a:noFill/>
            </a:ln>
          </p:spPr>
        </p:sp>
        <p:sp>
          <p:nvSpPr>
            <p:cNvPr id="26" name="TextBox 26"/>
            <p:cNvSpPr txBox="1"/>
            <p:nvPr/>
          </p:nvSpPr>
          <p:spPr>
            <a:xfrm>
              <a:off x="6342024"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27" name="Ellipse 27"/>
            <p:cNvSpPr/>
            <p:nvPr/>
          </p:nvSpPr>
          <p:spPr>
            <a:xfrm>
              <a:off x="6248400" y="2521268"/>
              <a:ext cx="285750" cy="285750"/>
            </a:xfrm>
            <a:prstGeom prst="ellipse">
              <a:avLst/>
            </a:prstGeom>
            <a:solidFill>
              <a:srgbClr val="0E7C86"/>
            </a:solidFill>
            <a:ln>
              <a:noFill/>
            </a:ln>
          </p:spPr>
        </p:sp>
        <p:sp>
          <p:nvSpPr>
            <p:cNvPr id="28" name="TextBox 28"/>
            <p:cNvSpPr txBox="1"/>
            <p:nvPr/>
          </p:nvSpPr>
          <p:spPr>
            <a:xfrm>
              <a:off x="6342024" y="259508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29" name="Ellipse 29"/>
            <p:cNvSpPr/>
            <p:nvPr/>
          </p:nvSpPr>
          <p:spPr>
            <a:xfrm>
              <a:off x="6248400" y="3104198"/>
              <a:ext cx="285750" cy="285750"/>
            </a:xfrm>
            <a:prstGeom prst="ellipse">
              <a:avLst/>
            </a:prstGeom>
            <a:solidFill>
              <a:srgbClr val="0E7C86"/>
            </a:solidFill>
            <a:ln>
              <a:noFill/>
            </a:ln>
          </p:spPr>
        </p:sp>
        <p:sp>
          <p:nvSpPr>
            <p:cNvPr id="30" name="TextBox 30"/>
            <p:cNvSpPr txBox="1"/>
            <p:nvPr/>
          </p:nvSpPr>
          <p:spPr>
            <a:xfrm>
              <a:off x="6342024" y="317801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1" name="Ellipse 31"/>
            <p:cNvSpPr/>
            <p:nvPr/>
          </p:nvSpPr>
          <p:spPr>
            <a:xfrm>
              <a:off x="6248400" y="3687128"/>
              <a:ext cx="285750" cy="285750"/>
            </a:xfrm>
            <a:prstGeom prst="ellipse">
              <a:avLst/>
            </a:prstGeom>
            <a:solidFill>
              <a:srgbClr val="0E7C86"/>
            </a:solidFill>
            <a:ln>
              <a:noFill/>
            </a:ln>
          </p:spPr>
        </p:sp>
        <p:sp>
          <p:nvSpPr>
            <p:cNvPr id="32" name="TextBox 32"/>
            <p:cNvSpPr txBox="1"/>
            <p:nvPr/>
          </p:nvSpPr>
          <p:spPr>
            <a:xfrm>
              <a:off x="6342024" y="376094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33" name="Ellipse 33"/>
            <p:cNvSpPr/>
            <p:nvPr/>
          </p:nvSpPr>
          <p:spPr>
            <a:xfrm>
              <a:off x="6248400" y="4270058"/>
              <a:ext cx="285750" cy="285750"/>
            </a:xfrm>
            <a:prstGeom prst="ellipse">
              <a:avLst/>
            </a:prstGeom>
            <a:solidFill>
              <a:srgbClr val="0E7C86"/>
            </a:solidFill>
            <a:ln>
              <a:noFill/>
            </a:ln>
          </p:spPr>
        </p:sp>
        <p:sp>
          <p:nvSpPr>
            <p:cNvPr id="34" name="TextBox 34"/>
            <p:cNvSpPr txBox="1"/>
            <p:nvPr/>
          </p:nvSpPr>
          <p:spPr>
            <a:xfrm>
              <a:off x="6342024" y="434387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35" name="TextBox 35"/>
            <p:cNvSpPr txBox="1"/>
            <p:nvPr/>
          </p:nvSpPr>
          <p:spPr>
            <a:xfrm>
              <a:off x="6660642" y="196977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初始化</a:t>
              </a:r>
            </a:p>
          </p:txBody>
        </p:sp>
        <p:sp>
          <p:nvSpPr>
            <p:cNvPr id="36" name="TextBox 36"/>
            <p:cNvSpPr txBox="1"/>
            <p:nvPr/>
          </p:nvSpPr>
          <p:spPr>
            <a:xfrm>
              <a:off x="6661785" y="2237899"/>
              <a:ext cx="15644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权值取 0 到 1 的随机数</a:t>
              </a:r>
            </a:p>
          </p:txBody>
        </p:sp>
        <p:sp>
          <p:nvSpPr>
            <p:cNvPr id="37" name="TextBox 37"/>
            <p:cNvSpPr txBox="1"/>
            <p:nvPr/>
          </p:nvSpPr>
          <p:spPr>
            <a:xfrm>
              <a:off x="6660642" y="255270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送入样本</a:t>
              </a:r>
            </a:p>
          </p:txBody>
        </p:sp>
        <p:sp>
          <p:nvSpPr>
            <p:cNvPr id="38" name="TextBox 38"/>
            <p:cNvSpPr txBox="1"/>
            <p:nvPr/>
          </p:nvSpPr>
          <p:spPr>
            <a:xfrm>
              <a:off x="6661785" y="2820829"/>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把一个样本的输入加到输入节点</a:t>
              </a:r>
            </a:p>
          </p:txBody>
        </p:sp>
        <p:sp>
          <p:nvSpPr>
            <p:cNvPr id="39" name="TextBox 39"/>
            <p:cNvSpPr txBox="1"/>
            <p:nvPr/>
          </p:nvSpPr>
          <p:spPr>
            <a:xfrm>
              <a:off x="6660642" y="313563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算输出</a:t>
              </a:r>
            </a:p>
          </p:txBody>
        </p:sp>
        <p:sp>
          <p:nvSpPr>
            <p:cNvPr id="40" name="TextBox 40"/>
            <p:cNvSpPr txBox="1"/>
            <p:nvPr/>
          </p:nvSpPr>
          <p:spPr>
            <a:xfrm>
              <a:off x="6661785" y="3403759"/>
              <a:ext cx="179779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得到 O，算出 Err = T − O</a:t>
              </a:r>
            </a:p>
          </p:txBody>
        </p:sp>
        <p:sp>
          <p:nvSpPr>
            <p:cNvPr id="41" name="TextBox 41"/>
            <p:cNvSpPr txBox="1"/>
            <p:nvPr/>
          </p:nvSpPr>
          <p:spPr>
            <a:xfrm>
              <a:off x="6660642" y="371856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调权值</a:t>
              </a:r>
            </a:p>
          </p:txBody>
        </p:sp>
        <p:sp>
          <p:nvSpPr>
            <p:cNvPr id="42" name="TextBox 42"/>
            <p:cNvSpPr txBox="1"/>
            <p:nvPr/>
          </p:nvSpPr>
          <p:spPr>
            <a:xfrm>
              <a:off x="6661785" y="3986689"/>
              <a:ext cx="188796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 Wⱼ ← Wⱼ + η Iⱼ Err 更新</a:t>
              </a:r>
            </a:p>
          </p:txBody>
        </p:sp>
        <p:sp>
          <p:nvSpPr>
            <p:cNvPr id="43" name="TextBox 43"/>
            <p:cNvSpPr txBox="1"/>
            <p:nvPr/>
          </p:nvSpPr>
          <p:spPr>
            <a:xfrm>
              <a:off x="6660642" y="4301490"/>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判停</a:t>
              </a:r>
            </a:p>
          </p:txBody>
        </p:sp>
        <p:sp>
          <p:nvSpPr>
            <p:cNvPr id="44" name="TextBox 44"/>
            <p:cNvSpPr txBox="1"/>
            <p:nvPr/>
          </p:nvSpPr>
          <p:spPr>
            <a:xfrm>
              <a:off x="6661785" y="4569619"/>
              <a:ext cx="350185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误差小于阈值或达到限定次数则停，否则回到第 2 步</a:t>
              </a:r>
            </a:p>
          </p:txBody>
        </p:sp>
      </p:grpSp>
      <p:grpSp>
        <p:nvGrpSpPr>
          <p:cNvPr id="51" name="c2-callout-2"/>
          <p:cNvGrpSpPr/>
          <p:nvPr/>
        </p:nvGrpSpPr>
        <p:grpSpPr>
          <a:xfrm>
            <a:off x="6248400" y="4953000"/>
            <a:ext cx="5410200" cy="729615"/>
            <a:chOff x="6248400" y="4953000"/>
            <a:chExt cx="5410200" cy="729615"/>
          </a:xfrm>
        </p:grpSpPr>
        <p:sp>
          <p:nvSpPr>
            <p:cNvPr id="46" name="Rectangle 46"/>
            <p:cNvSpPr/>
            <p:nvPr/>
          </p:nvSpPr>
          <p:spPr>
            <a:xfrm>
              <a:off x="6248400" y="4953000"/>
              <a:ext cx="5410200" cy="729615"/>
            </a:xfrm>
            <a:prstGeom prst="roundRect">
              <a:avLst>
                <a:gd name="adj" fmla="val 15666"/>
              </a:avLst>
            </a:prstGeom>
            <a:solidFill>
              <a:srgbClr val="0E7C86"/>
            </a:solidFill>
            <a:ln>
              <a:noFill/>
            </a:ln>
          </p:spPr>
        </p:sp>
        <p:grpSp>
          <p:nvGrpSpPr>
            <p:cNvPr id="49" name="Group 49"/>
            <p:cNvGrpSpPr/>
            <p:nvPr/>
          </p:nvGrpSpPr>
          <p:grpSpPr>
            <a:xfrm>
              <a:off x="6453188" y="5217797"/>
              <a:ext cx="200023" cy="200023"/>
              <a:chOff x="6453188" y="5217797"/>
              <a:chExt cx="200023" cy="200023"/>
            </a:xfrm>
          </p:grpSpPr>
          <p:sp>
            <p:nvSpPr>
              <p:cNvPr id="47" name="Freeform 47"/>
              <p:cNvSpPr/>
              <p:nvPr/>
            </p:nvSpPr>
            <p:spPr>
              <a:xfrm>
                <a:off x="6453188" y="52177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6586538" y="52844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6755892" y="5098733"/>
              <a:ext cx="436854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两种写法的对应关系：输出用 ±1 时 Err = T − O 只能取 0</a:t>
              </a:r>
              <a:br/>
              <a:r>
                <a:rPr lang="zh-CN" sz="1350" dirty="0">
                  <a:solidFill>
                    <a:srgbClr val="FFFFFF"/>
                  </a:solidFill>
                  <a:latin typeface="+mn-lt"/>
                  <a:ea typeface="+mn-ea"/>
                  <a:cs typeface="+mn-cs"/>
                </a:rPr>
                <a:t>或 ±2，把 η 折半就完全等于 w ← w + η y x。</a:t>
              </a:r>
            </a:p>
          </p:txBody>
        </p:sp>
      </p:grpSp>
      <p:grpSp>
        <p:nvGrpSpPr>
          <p:cNvPr id="58" name="takeaway"/>
          <p:cNvGrpSpPr/>
          <p:nvPr/>
        </p:nvGrpSpPr>
        <p:grpSpPr>
          <a:xfrm>
            <a:off x="533400" y="5881688"/>
            <a:ext cx="11125200" cy="481012"/>
            <a:chOff x="533400" y="5881688"/>
            <a:chExt cx="11125200" cy="481012"/>
          </a:xfrm>
        </p:grpSpPr>
        <p:sp>
          <p:nvSpPr>
            <p:cNvPr id="52" name="Rectangle 52"/>
            <p:cNvSpPr/>
            <p:nvPr/>
          </p:nvSpPr>
          <p:spPr>
            <a:xfrm>
              <a:off x="533400" y="5881688"/>
              <a:ext cx="11125200" cy="481012"/>
            </a:xfrm>
            <a:prstGeom prst="roundRect">
              <a:avLst>
                <a:gd name="adj" fmla="val 23762"/>
              </a:avLst>
            </a:prstGeom>
            <a:solidFill>
              <a:srgbClr val="F4F6FB"/>
            </a:solidFill>
            <a:ln>
              <a:noFill/>
            </a:ln>
          </p:spPr>
        </p:sp>
        <p:grpSp>
          <p:nvGrpSpPr>
            <p:cNvPr id="56" name="Group 56"/>
            <p:cNvGrpSpPr/>
            <p:nvPr/>
          </p:nvGrpSpPr>
          <p:grpSpPr>
            <a:xfrm>
              <a:off x="738188" y="6022658"/>
              <a:ext cx="200026" cy="200026"/>
              <a:chOff x="738188" y="6022658"/>
              <a:chExt cx="200026" cy="200026"/>
            </a:xfrm>
          </p:grpSpPr>
          <p:sp>
            <p:nvSpPr>
              <p:cNvPr id="53" name="Freeform 53"/>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4" name="Freeform 54"/>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5" name="Freeform 55"/>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7" name="TextBox 57"/>
            <p:cNvSpPr txBox="1"/>
            <p:nvPr/>
          </p:nvSpPr>
          <p:spPr>
            <a:xfrm>
              <a:off x="1040892" y="6028373"/>
              <a:ext cx="764667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这一版不要求数据线性可分也能跑，但不可分时它同样不会停，只会一直在几组权值之间摆动。</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20452" cy="909257"/>
            <a:chOff x="520446" y="342900"/>
            <a:chExt cx="6020452"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02045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例题：感知器学会 y = x（第 1、2 轮）</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10274998" cy="512636"/>
            <a:chOff x="526542" y="1545907"/>
            <a:chExt cx="10274998" cy="512636"/>
          </a:xfrm>
        </p:grpSpPr>
        <p:sp>
          <p:nvSpPr>
            <p:cNvPr id="7" name="TextBox 7"/>
            <p:cNvSpPr txBox="1"/>
            <p:nvPr/>
          </p:nvSpPr>
          <p:spPr>
            <a:xfrm>
              <a:off x="526542" y="1545907"/>
              <a:ext cx="1027499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5B6475"/>
                  </a:solidFill>
                  <a:latin typeface="+mn-lt"/>
                  <a:ea typeface="+mn-ea"/>
                  <a:cs typeface="+mn-cs"/>
                </a:rPr>
                <a:t>样本 (0,0)→0、(0,1)→0、(1,0)→1、(1,1)→1；初值 w₁ = 0.1、w₂ = 0.1、w₀ = −1，η = 0.1；v = w₁x + w₂y + w₀，O = step(v)，</a:t>
              </a:r>
              <a:br/>
              <a:r>
                <a:rPr lang="zh-CN" sz="1350" dirty="0">
                  <a:solidFill>
                    <a:srgbClr val="5B6475"/>
                  </a:solidFill>
                  <a:latin typeface="+mn-lt"/>
                  <a:ea typeface="+mn-ea"/>
                  <a:cs typeface="+mn-cs"/>
                </a:rPr>
                <a:t>Err = T − O，Δw = η·该权的输入·Err。</a:t>
              </a:r>
            </a:p>
          </p:txBody>
        </p:sp>
      </p:grpSp>
      <p:grpSp>
        <p:nvGrpSpPr>
          <p:cNvPr id="48" name="c1-table-1"/>
          <p:cNvGrpSpPr/>
          <p:nvPr/>
        </p:nvGrpSpPr>
        <p:grpSpPr>
          <a:xfrm>
            <a:off x="528447" y="2177415"/>
            <a:ext cx="5415153" cy="2170461"/>
            <a:chOff x="528447" y="2177415"/>
            <a:chExt cx="5415153" cy="2170461"/>
          </a:xfrm>
        </p:grpSpPr>
        <p:sp>
          <p:nvSpPr>
            <p:cNvPr id="9" name="Rectangle 9"/>
            <p:cNvSpPr/>
            <p:nvPr/>
          </p:nvSpPr>
          <p:spPr>
            <a:xfrm>
              <a:off x="533400" y="2177415"/>
              <a:ext cx="5410200" cy="381000"/>
            </a:xfrm>
            <a:prstGeom prst="rect">
              <a:avLst/>
            </a:prstGeom>
            <a:solidFill>
              <a:srgbClr val="0E7C86"/>
            </a:solidFill>
            <a:ln>
              <a:noFill/>
            </a:ln>
          </p:spPr>
        </p:sp>
        <p:sp>
          <p:nvSpPr>
            <p:cNvPr id="10" name="TextBox 10"/>
            <p:cNvSpPr txBox="1"/>
            <p:nvPr/>
          </p:nvSpPr>
          <p:spPr>
            <a:xfrm>
              <a:off x="701230" y="2294572"/>
              <a:ext cx="1520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a:t>
              </a:r>
            </a:p>
          </p:txBody>
        </p:sp>
        <p:sp>
          <p:nvSpPr>
            <p:cNvPr id="11" name="TextBox 11"/>
            <p:cNvSpPr txBox="1"/>
            <p:nvPr/>
          </p:nvSpPr>
          <p:spPr>
            <a:xfrm>
              <a:off x="1244105" y="2294572"/>
              <a:ext cx="4188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(x,y)</a:t>
              </a:r>
            </a:p>
          </p:txBody>
        </p:sp>
        <p:sp>
          <p:nvSpPr>
            <p:cNvPr id="12" name="TextBox 12"/>
            <p:cNvSpPr txBox="1"/>
            <p:nvPr/>
          </p:nvSpPr>
          <p:spPr>
            <a:xfrm>
              <a:off x="2651331" y="229457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a:t>
              </a:r>
            </a:p>
          </p:txBody>
        </p:sp>
        <p:sp>
          <p:nvSpPr>
            <p:cNvPr id="13" name="TextBox 13"/>
            <p:cNvSpPr txBox="1"/>
            <p:nvPr/>
          </p:nvSpPr>
          <p:spPr>
            <a:xfrm>
              <a:off x="3665212" y="2294572"/>
              <a:ext cx="552466"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 / Err</a:t>
              </a:r>
            </a:p>
          </p:txBody>
        </p:sp>
        <p:sp>
          <p:nvSpPr>
            <p:cNvPr id="14" name="TextBox 14"/>
            <p:cNvSpPr txBox="1"/>
            <p:nvPr/>
          </p:nvSpPr>
          <p:spPr>
            <a:xfrm>
              <a:off x="4466440" y="2294572"/>
              <a:ext cx="138460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更新后 (w₁,w₂,w₀)</a:t>
              </a:r>
            </a:p>
          </p:txBody>
        </p:sp>
        <p:sp>
          <p:nvSpPr>
            <p:cNvPr id="15" name="TextBox 15"/>
            <p:cNvSpPr txBox="1"/>
            <p:nvPr/>
          </p:nvSpPr>
          <p:spPr>
            <a:xfrm>
              <a:off x="628078" y="2675573"/>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a:t>
              </a:r>
            </a:p>
          </p:txBody>
        </p:sp>
        <p:sp>
          <p:nvSpPr>
            <p:cNvPr id="16" name="TextBox 16"/>
            <p:cNvSpPr txBox="1"/>
            <p:nvPr/>
          </p:nvSpPr>
          <p:spPr>
            <a:xfrm>
              <a:off x="1114806" y="267557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a:t>
              </a:r>
            </a:p>
          </p:txBody>
        </p:sp>
        <p:sp>
          <p:nvSpPr>
            <p:cNvPr id="17" name="TextBox 17"/>
            <p:cNvSpPr txBox="1"/>
            <p:nvPr/>
          </p:nvSpPr>
          <p:spPr>
            <a:xfrm>
              <a:off x="1980628" y="2675573"/>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0+0−1 = −1</a:t>
              </a:r>
            </a:p>
          </p:txBody>
        </p:sp>
        <p:sp>
          <p:nvSpPr>
            <p:cNvPr id="18" name="TextBox 18"/>
            <p:cNvSpPr txBox="1"/>
            <p:nvPr/>
          </p:nvSpPr>
          <p:spPr>
            <a:xfrm>
              <a:off x="3603688" y="2675573"/>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19" name="TextBox 19"/>
            <p:cNvSpPr txBox="1"/>
            <p:nvPr/>
          </p:nvSpPr>
          <p:spPr>
            <a:xfrm>
              <a:off x="4469511" y="2675573"/>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 0.1, −1.0)</a:t>
              </a:r>
            </a:p>
          </p:txBody>
        </p:sp>
        <p:sp>
          <p:nvSpPr>
            <p:cNvPr id="20" name="Rectangle 20"/>
            <p:cNvSpPr/>
            <p:nvPr/>
          </p:nvSpPr>
          <p:spPr>
            <a:xfrm>
              <a:off x="533400" y="2935605"/>
              <a:ext cx="5410200" cy="9525"/>
            </a:xfrm>
            <a:prstGeom prst="rect">
              <a:avLst/>
            </a:prstGeom>
            <a:solidFill>
              <a:srgbClr val="D9DFEA"/>
            </a:solidFill>
            <a:ln>
              <a:noFill/>
            </a:ln>
          </p:spPr>
        </p:sp>
        <p:sp>
          <p:nvSpPr>
            <p:cNvPr id="21" name="Rectangle 21"/>
            <p:cNvSpPr/>
            <p:nvPr/>
          </p:nvSpPr>
          <p:spPr>
            <a:xfrm>
              <a:off x="533400" y="2940368"/>
              <a:ext cx="5410200" cy="381000"/>
            </a:xfrm>
            <a:prstGeom prst="rect">
              <a:avLst/>
            </a:prstGeom>
            <a:solidFill>
              <a:srgbClr val="F4F6FB"/>
            </a:solidFill>
            <a:ln>
              <a:noFill/>
            </a:ln>
          </p:spPr>
        </p:sp>
        <p:sp>
          <p:nvSpPr>
            <p:cNvPr id="22" name="TextBox 22"/>
            <p:cNvSpPr txBox="1"/>
            <p:nvPr/>
          </p:nvSpPr>
          <p:spPr>
            <a:xfrm>
              <a:off x="628078" y="3057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2</a:t>
              </a:r>
            </a:p>
          </p:txBody>
        </p:sp>
        <p:sp>
          <p:nvSpPr>
            <p:cNvPr id="23" name="TextBox 23"/>
            <p:cNvSpPr txBox="1"/>
            <p:nvPr/>
          </p:nvSpPr>
          <p:spPr>
            <a:xfrm>
              <a:off x="1114806" y="3057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a:t>
              </a:r>
            </a:p>
          </p:txBody>
        </p:sp>
        <p:sp>
          <p:nvSpPr>
            <p:cNvPr id="24" name="TextBox 24"/>
            <p:cNvSpPr txBox="1"/>
            <p:nvPr/>
          </p:nvSpPr>
          <p:spPr>
            <a:xfrm>
              <a:off x="1980628" y="3057525"/>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0+0.1−1 = −0.9</a:t>
              </a:r>
            </a:p>
          </p:txBody>
        </p:sp>
        <p:sp>
          <p:nvSpPr>
            <p:cNvPr id="25" name="TextBox 25"/>
            <p:cNvSpPr txBox="1"/>
            <p:nvPr/>
          </p:nvSpPr>
          <p:spPr>
            <a:xfrm>
              <a:off x="3603688" y="3057525"/>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26" name="TextBox 26"/>
            <p:cNvSpPr txBox="1"/>
            <p:nvPr/>
          </p:nvSpPr>
          <p:spPr>
            <a:xfrm>
              <a:off x="4469511"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 0.1, −1.0)</a:t>
              </a:r>
            </a:p>
          </p:txBody>
        </p:sp>
        <p:sp>
          <p:nvSpPr>
            <p:cNvPr id="27" name="Rectangle 27"/>
            <p:cNvSpPr/>
            <p:nvPr/>
          </p:nvSpPr>
          <p:spPr>
            <a:xfrm>
              <a:off x="533400" y="3316605"/>
              <a:ext cx="5410200" cy="9525"/>
            </a:xfrm>
            <a:prstGeom prst="rect">
              <a:avLst/>
            </a:prstGeom>
            <a:solidFill>
              <a:srgbClr val="D9DFEA"/>
            </a:solidFill>
            <a:ln>
              <a:noFill/>
            </a:ln>
          </p:spPr>
        </p:sp>
        <p:sp>
          <p:nvSpPr>
            <p:cNvPr id="28" name="TextBox 28"/>
            <p:cNvSpPr txBox="1"/>
            <p:nvPr/>
          </p:nvSpPr>
          <p:spPr>
            <a:xfrm>
              <a:off x="628078" y="3438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3</a:t>
              </a:r>
            </a:p>
          </p:txBody>
        </p:sp>
        <p:sp>
          <p:nvSpPr>
            <p:cNvPr id="29" name="TextBox 29"/>
            <p:cNvSpPr txBox="1"/>
            <p:nvPr/>
          </p:nvSpPr>
          <p:spPr>
            <a:xfrm>
              <a:off x="1114806" y="3438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a:t>
              </a:r>
            </a:p>
          </p:txBody>
        </p:sp>
        <p:sp>
          <p:nvSpPr>
            <p:cNvPr id="30" name="TextBox 30"/>
            <p:cNvSpPr txBox="1"/>
            <p:nvPr/>
          </p:nvSpPr>
          <p:spPr>
            <a:xfrm>
              <a:off x="1980628" y="3438525"/>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0.1+0−1 = −0.9</a:t>
              </a:r>
            </a:p>
          </p:txBody>
        </p:sp>
        <p:sp>
          <p:nvSpPr>
            <p:cNvPr id="31" name="Rectangle 31"/>
            <p:cNvSpPr/>
            <p:nvPr/>
          </p:nvSpPr>
          <p:spPr>
            <a:xfrm>
              <a:off x="3518535" y="3330892"/>
              <a:ext cx="846772" cy="361950"/>
            </a:xfrm>
            <a:prstGeom prst="rect">
              <a:avLst/>
            </a:prstGeom>
            <a:solidFill>
              <a:srgbClr val="FDEEE7"/>
            </a:solidFill>
            <a:ln>
              <a:noFill/>
            </a:ln>
          </p:spPr>
        </p:sp>
        <p:sp>
          <p:nvSpPr>
            <p:cNvPr id="32" name="TextBox 32"/>
            <p:cNvSpPr txBox="1"/>
            <p:nvPr/>
          </p:nvSpPr>
          <p:spPr>
            <a:xfrm>
              <a:off x="3603688" y="3438525"/>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33" name="TextBox 33"/>
            <p:cNvSpPr txBox="1"/>
            <p:nvPr/>
          </p:nvSpPr>
          <p:spPr>
            <a:xfrm>
              <a:off x="4469511"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(0.2, 0.1, −0.9)</a:t>
              </a:r>
            </a:p>
          </p:txBody>
        </p:sp>
        <p:sp>
          <p:nvSpPr>
            <p:cNvPr id="34" name="Rectangle 34"/>
            <p:cNvSpPr/>
            <p:nvPr/>
          </p:nvSpPr>
          <p:spPr>
            <a:xfrm>
              <a:off x="533400" y="3697605"/>
              <a:ext cx="5410200" cy="9525"/>
            </a:xfrm>
            <a:prstGeom prst="rect">
              <a:avLst/>
            </a:prstGeom>
            <a:solidFill>
              <a:srgbClr val="D9DFEA"/>
            </a:solidFill>
            <a:ln>
              <a:noFill/>
            </a:ln>
          </p:spPr>
        </p:sp>
        <p:sp>
          <p:nvSpPr>
            <p:cNvPr id="35" name="Rectangle 35"/>
            <p:cNvSpPr/>
            <p:nvPr/>
          </p:nvSpPr>
          <p:spPr>
            <a:xfrm>
              <a:off x="533400" y="3702368"/>
              <a:ext cx="5410200" cy="381000"/>
            </a:xfrm>
            <a:prstGeom prst="rect">
              <a:avLst/>
            </a:prstGeom>
            <a:solidFill>
              <a:srgbClr val="F4F6FB"/>
            </a:solidFill>
            <a:ln>
              <a:noFill/>
            </a:ln>
          </p:spPr>
        </p:sp>
        <p:sp>
          <p:nvSpPr>
            <p:cNvPr id="36" name="TextBox 36"/>
            <p:cNvSpPr txBox="1"/>
            <p:nvPr/>
          </p:nvSpPr>
          <p:spPr>
            <a:xfrm>
              <a:off x="628078" y="3820478"/>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4</a:t>
              </a:r>
            </a:p>
          </p:txBody>
        </p:sp>
        <p:sp>
          <p:nvSpPr>
            <p:cNvPr id="37" name="TextBox 37"/>
            <p:cNvSpPr txBox="1"/>
            <p:nvPr/>
          </p:nvSpPr>
          <p:spPr>
            <a:xfrm>
              <a:off x="1114806" y="3820478"/>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(1,1)</a:t>
              </a:r>
            </a:p>
          </p:txBody>
        </p:sp>
        <p:sp>
          <p:nvSpPr>
            <p:cNvPr id="38" name="TextBox 38"/>
            <p:cNvSpPr txBox="1"/>
            <p:nvPr/>
          </p:nvSpPr>
          <p:spPr>
            <a:xfrm>
              <a:off x="1980628" y="3820478"/>
              <a:ext cx="13393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0.2+0.1−0.9 = −0.6</a:t>
              </a:r>
            </a:p>
          </p:txBody>
        </p:sp>
        <p:sp>
          <p:nvSpPr>
            <p:cNvPr id="39" name="Rectangle 39"/>
            <p:cNvSpPr/>
            <p:nvPr/>
          </p:nvSpPr>
          <p:spPr>
            <a:xfrm>
              <a:off x="3518535" y="3711892"/>
              <a:ext cx="846772" cy="361950"/>
            </a:xfrm>
            <a:prstGeom prst="rect">
              <a:avLst/>
            </a:prstGeom>
            <a:solidFill>
              <a:srgbClr val="FDEEE7"/>
            </a:solidFill>
            <a:ln>
              <a:noFill/>
            </a:ln>
          </p:spPr>
        </p:sp>
        <p:sp>
          <p:nvSpPr>
            <p:cNvPr id="40" name="TextBox 40"/>
            <p:cNvSpPr txBox="1"/>
            <p:nvPr/>
          </p:nvSpPr>
          <p:spPr>
            <a:xfrm>
              <a:off x="3603688" y="3820478"/>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41" name="TextBox 41"/>
            <p:cNvSpPr txBox="1"/>
            <p:nvPr/>
          </p:nvSpPr>
          <p:spPr>
            <a:xfrm>
              <a:off x="4469511" y="3820478"/>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42" name="Rectangle 42"/>
            <p:cNvSpPr/>
            <p:nvPr/>
          </p:nvSpPr>
          <p:spPr>
            <a:xfrm>
              <a:off x="533400" y="2177415"/>
              <a:ext cx="5410200" cy="1906905"/>
            </a:xfrm>
            <a:prstGeom prst="rect">
              <a:avLst/>
            </a:prstGeom>
            <a:noFill/>
            <a:ln w="14288">
              <a:solidFill>
                <a:srgbClr val="D9DFEA"/>
              </a:solidFill>
            </a:ln>
          </p:spPr>
        </p:sp>
        <p:sp>
          <p:nvSpPr>
            <p:cNvPr id="43" name="Rectangle 43"/>
            <p:cNvSpPr/>
            <p:nvPr/>
          </p:nvSpPr>
          <p:spPr>
            <a:xfrm>
              <a:off x="1015365" y="2177415"/>
              <a:ext cx="9525" cy="1906905"/>
            </a:xfrm>
            <a:prstGeom prst="rect">
              <a:avLst/>
            </a:prstGeom>
            <a:solidFill>
              <a:srgbClr val="D9DFEA"/>
            </a:solidFill>
            <a:ln>
              <a:noFill/>
            </a:ln>
          </p:spPr>
        </p:sp>
        <p:sp>
          <p:nvSpPr>
            <p:cNvPr id="44" name="Rectangle 44"/>
            <p:cNvSpPr/>
            <p:nvPr/>
          </p:nvSpPr>
          <p:spPr>
            <a:xfrm>
              <a:off x="1881188" y="2177415"/>
              <a:ext cx="9525" cy="1906905"/>
            </a:xfrm>
            <a:prstGeom prst="rect">
              <a:avLst/>
            </a:prstGeom>
            <a:solidFill>
              <a:srgbClr val="D9DFEA"/>
            </a:solidFill>
            <a:ln>
              <a:noFill/>
            </a:ln>
          </p:spPr>
        </p:sp>
        <p:sp>
          <p:nvSpPr>
            <p:cNvPr id="45" name="Rectangle 45"/>
            <p:cNvSpPr/>
            <p:nvPr/>
          </p:nvSpPr>
          <p:spPr>
            <a:xfrm>
              <a:off x="3504248" y="2177415"/>
              <a:ext cx="9525" cy="1906905"/>
            </a:xfrm>
            <a:prstGeom prst="rect">
              <a:avLst/>
            </a:prstGeom>
            <a:solidFill>
              <a:srgbClr val="D9DFEA"/>
            </a:solidFill>
            <a:ln>
              <a:noFill/>
            </a:ln>
          </p:spPr>
        </p:sp>
        <p:sp>
          <p:nvSpPr>
            <p:cNvPr id="46" name="Rectangle 46"/>
            <p:cNvSpPr/>
            <p:nvPr/>
          </p:nvSpPr>
          <p:spPr>
            <a:xfrm>
              <a:off x="4370070" y="2177415"/>
              <a:ext cx="9525" cy="1906905"/>
            </a:xfrm>
            <a:prstGeom prst="rect">
              <a:avLst/>
            </a:prstGeom>
            <a:solidFill>
              <a:srgbClr val="D9DFEA"/>
            </a:solidFill>
            <a:ln>
              <a:noFill/>
            </a:ln>
          </p:spPr>
        </p:sp>
        <p:sp>
          <p:nvSpPr>
            <p:cNvPr id="47" name="TextBox 47"/>
            <p:cNvSpPr txBox="1"/>
            <p:nvPr/>
          </p:nvSpPr>
          <p:spPr>
            <a:xfrm>
              <a:off x="528447" y="4157186"/>
              <a:ext cx="42547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第 1 轮</a:t>
              </a:r>
            </a:p>
          </p:txBody>
        </p:sp>
      </p:grpSp>
      <p:grpSp>
        <p:nvGrpSpPr>
          <p:cNvPr id="55" name="c1-callout-2"/>
          <p:cNvGrpSpPr/>
          <p:nvPr/>
        </p:nvGrpSpPr>
        <p:grpSpPr>
          <a:xfrm>
            <a:off x="533400" y="4474845"/>
            <a:ext cx="5410200" cy="702945"/>
            <a:chOff x="533400" y="4474845"/>
            <a:chExt cx="5410200" cy="702945"/>
          </a:xfrm>
        </p:grpSpPr>
        <p:sp>
          <p:nvSpPr>
            <p:cNvPr id="49" name="Rectangle 49"/>
            <p:cNvSpPr/>
            <p:nvPr/>
          </p:nvSpPr>
          <p:spPr>
            <a:xfrm>
              <a:off x="533400" y="4474845"/>
              <a:ext cx="5410200" cy="702945"/>
            </a:xfrm>
            <a:prstGeom prst="roundRect">
              <a:avLst>
                <a:gd name="adj" fmla="val 16260"/>
              </a:avLst>
            </a:prstGeom>
            <a:solidFill>
              <a:srgbClr val="FDEEE7"/>
            </a:solidFill>
            <a:ln>
              <a:noFill/>
            </a:ln>
          </p:spPr>
        </p:sp>
        <p:grpSp>
          <p:nvGrpSpPr>
            <p:cNvPr id="53" name="Group 53"/>
            <p:cNvGrpSpPr/>
            <p:nvPr/>
          </p:nvGrpSpPr>
          <p:grpSpPr>
            <a:xfrm>
              <a:off x="738188" y="4725353"/>
              <a:ext cx="200026" cy="200025"/>
              <a:chOff x="738188" y="4725353"/>
              <a:chExt cx="200026" cy="200025"/>
            </a:xfrm>
          </p:grpSpPr>
          <p:sp>
            <p:nvSpPr>
              <p:cNvPr id="50" name="Freeform 50"/>
              <p:cNvSpPr/>
              <p:nvPr/>
            </p:nvSpPr>
            <p:spPr>
              <a:xfrm>
                <a:off x="738188" y="472535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1" name="Freeform 51"/>
              <p:cNvSpPr/>
              <p:nvPr/>
            </p:nvSpPr>
            <p:spPr>
              <a:xfrm>
                <a:off x="777926" y="476980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2" name="Freeform 52"/>
              <p:cNvSpPr/>
              <p:nvPr/>
            </p:nvSpPr>
            <p:spPr>
              <a:xfrm>
                <a:off x="812642" y="488092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4" name="TextBox 54"/>
            <p:cNvSpPr txBox="1"/>
            <p:nvPr/>
          </p:nvSpPr>
          <p:spPr>
            <a:xfrm>
              <a:off x="1041273" y="4619149"/>
              <a:ext cx="445897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第 1、2 步 Err = 0，三个权值一个都没动。感知器只在犯错的</a:t>
              </a:r>
              <a:br/>
              <a:r>
                <a:rPr lang="zh-CN" sz="1280" dirty="0">
                  <a:solidFill>
                    <a:srgbClr val="C2410C"/>
                  </a:solidFill>
                  <a:latin typeface="+mn-lt"/>
                  <a:ea typeface="+mn-ea"/>
                  <a:cs typeface="+mn-cs"/>
                </a:rPr>
                <a:t>那一步学习。</a:t>
              </a:r>
            </a:p>
          </p:txBody>
        </p:sp>
      </p:grpSp>
      <p:grpSp>
        <p:nvGrpSpPr>
          <p:cNvPr id="95" name="c2-table-1"/>
          <p:cNvGrpSpPr/>
          <p:nvPr/>
        </p:nvGrpSpPr>
        <p:grpSpPr>
          <a:xfrm>
            <a:off x="6243447" y="2177415"/>
            <a:ext cx="5415153" cy="2170461"/>
            <a:chOff x="6243447" y="2177415"/>
            <a:chExt cx="5415153" cy="2170461"/>
          </a:xfrm>
        </p:grpSpPr>
        <p:sp>
          <p:nvSpPr>
            <p:cNvPr id="56" name="Rectangle 56"/>
            <p:cNvSpPr/>
            <p:nvPr/>
          </p:nvSpPr>
          <p:spPr>
            <a:xfrm>
              <a:off x="6248400" y="2177415"/>
              <a:ext cx="5410200" cy="381000"/>
            </a:xfrm>
            <a:prstGeom prst="rect">
              <a:avLst/>
            </a:prstGeom>
            <a:solidFill>
              <a:srgbClr val="0E7C86"/>
            </a:solidFill>
            <a:ln>
              <a:noFill/>
            </a:ln>
          </p:spPr>
        </p:sp>
        <p:sp>
          <p:nvSpPr>
            <p:cNvPr id="57" name="TextBox 57"/>
            <p:cNvSpPr txBox="1"/>
            <p:nvPr/>
          </p:nvSpPr>
          <p:spPr>
            <a:xfrm>
              <a:off x="6416231" y="2294572"/>
              <a:ext cx="1520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a:t>
              </a:r>
            </a:p>
          </p:txBody>
        </p:sp>
        <p:sp>
          <p:nvSpPr>
            <p:cNvPr id="58" name="TextBox 58"/>
            <p:cNvSpPr txBox="1"/>
            <p:nvPr/>
          </p:nvSpPr>
          <p:spPr>
            <a:xfrm>
              <a:off x="6959105" y="2294572"/>
              <a:ext cx="4188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(x,y)</a:t>
              </a:r>
            </a:p>
          </p:txBody>
        </p:sp>
        <p:sp>
          <p:nvSpPr>
            <p:cNvPr id="59" name="TextBox 59"/>
            <p:cNvSpPr txBox="1"/>
            <p:nvPr/>
          </p:nvSpPr>
          <p:spPr>
            <a:xfrm>
              <a:off x="8366331" y="229457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a:t>
              </a:r>
            </a:p>
          </p:txBody>
        </p:sp>
        <p:sp>
          <p:nvSpPr>
            <p:cNvPr id="60" name="TextBox 60"/>
            <p:cNvSpPr txBox="1"/>
            <p:nvPr/>
          </p:nvSpPr>
          <p:spPr>
            <a:xfrm>
              <a:off x="9380212" y="2294572"/>
              <a:ext cx="552466"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 / Err</a:t>
              </a:r>
            </a:p>
          </p:txBody>
        </p:sp>
        <p:sp>
          <p:nvSpPr>
            <p:cNvPr id="61" name="TextBox 61"/>
            <p:cNvSpPr txBox="1"/>
            <p:nvPr/>
          </p:nvSpPr>
          <p:spPr>
            <a:xfrm>
              <a:off x="10181440" y="2294572"/>
              <a:ext cx="138460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更新后 (w₁,w₂,w₀)</a:t>
              </a:r>
            </a:p>
          </p:txBody>
        </p:sp>
        <p:sp>
          <p:nvSpPr>
            <p:cNvPr id="62" name="TextBox 62"/>
            <p:cNvSpPr txBox="1"/>
            <p:nvPr/>
          </p:nvSpPr>
          <p:spPr>
            <a:xfrm>
              <a:off x="6343079" y="2675573"/>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5</a:t>
              </a:r>
            </a:p>
          </p:txBody>
        </p:sp>
        <p:sp>
          <p:nvSpPr>
            <p:cNvPr id="63" name="TextBox 63"/>
            <p:cNvSpPr txBox="1"/>
            <p:nvPr/>
          </p:nvSpPr>
          <p:spPr>
            <a:xfrm>
              <a:off x="6829806" y="267557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a:t>
              </a:r>
            </a:p>
          </p:txBody>
        </p:sp>
        <p:sp>
          <p:nvSpPr>
            <p:cNvPr id="64" name="TextBox 64"/>
            <p:cNvSpPr txBox="1"/>
            <p:nvPr/>
          </p:nvSpPr>
          <p:spPr>
            <a:xfrm>
              <a:off x="7695629" y="2675573"/>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0+0−0.8 = −0.8</a:t>
              </a:r>
            </a:p>
          </p:txBody>
        </p:sp>
        <p:sp>
          <p:nvSpPr>
            <p:cNvPr id="65" name="TextBox 65"/>
            <p:cNvSpPr txBox="1"/>
            <p:nvPr/>
          </p:nvSpPr>
          <p:spPr>
            <a:xfrm>
              <a:off x="9318688" y="2675573"/>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66" name="TextBox 66"/>
            <p:cNvSpPr txBox="1"/>
            <p:nvPr/>
          </p:nvSpPr>
          <p:spPr>
            <a:xfrm>
              <a:off x="10184511" y="2675573"/>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67" name="Rectangle 67"/>
            <p:cNvSpPr/>
            <p:nvPr/>
          </p:nvSpPr>
          <p:spPr>
            <a:xfrm>
              <a:off x="6248400" y="2935605"/>
              <a:ext cx="5410200" cy="9525"/>
            </a:xfrm>
            <a:prstGeom prst="rect">
              <a:avLst/>
            </a:prstGeom>
            <a:solidFill>
              <a:srgbClr val="D9DFEA"/>
            </a:solidFill>
            <a:ln>
              <a:noFill/>
            </a:ln>
          </p:spPr>
        </p:sp>
        <p:sp>
          <p:nvSpPr>
            <p:cNvPr id="68" name="Rectangle 68"/>
            <p:cNvSpPr/>
            <p:nvPr/>
          </p:nvSpPr>
          <p:spPr>
            <a:xfrm>
              <a:off x="6248400" y="2940368"/>
              <a:ext cx="5410200" cy="381000"/>
            </a:xfrm>
            <a:prstGeom prst="rect">
              <a:avLst/>
            </a:prstGeom>
            <a:solidFill>
              <a:srgbClr val="F4F6FB"/>
            </a:solidFill>
            <a:ln>
              <a:noFill/>
            </a:ln>
          </p:spPr>
        </p:sp>
        <p:sp>
          <p:nvSpPr>
            <p:cNvPr id="69" name="TextBox 69"/>
            <p:cNvSpPr txBox="1"/>
            <p:nvPr/>
          </p:nvSpPr>
          <p:spPr>
            <a:xfrm>
              <a:off x="6343079" y="3057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6</a:t>
              </a:r>
            </a:p>
          </p:txBody>
        </p:sp>
        <p:sp>
          <p:nvSpPr>
            <p:cNvPr id="70" name="TextBox 70"/>
            <p:cNvSpPr txBox="1"/>
            <p:nvPr/>
          </p:nvSpPr>
          <p:spPr>
            <a:xfrm>
              <a:off x="6829806" y="3057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a:t>
              </a:r>
            </a:p>
          </p:txBody>
        </p:sp>
        <p:sp>
          <p:nvSpPr>
            <p:cNvPr id="71" name="TextBox 71"/>
            <p:cNvSpPr txBox="1"/>
            <p:nvPr/>
          </p:nvSpPr>
          <p:spPr>
            <a:xfrm>
              <a:off x="7695629"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0+0.2−0.8 = −0.6</a:t>
              </a:r>
            </a:p>
          </p:txBody>
        </p:sp>
        <p:sp>
          <p:nvSpPr>
            <p:cNvPr id="72" name="TextBox 72"/>
            <p:cNvSpPr txBox="1"/>
            <p:nvPr/>
          </p:nvSpPr>
          <p:spPr>
            <a:xfrm>
              <a:off x="9318688" y="3057525"/>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73" name="TextBox 73"/>
            <p:cNvSpPr txBox="1"/>
            <p:nvPr/>
          </p:nvSpPr>
          <p:spPr>
            <a:xfrm>
              <a:off x="10184511"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74" name="Rectangle 74"/>
            <p:cNvSpPr/>
            <p:nvPr/>
          </p:nvSpPr>
          <p:spPr>
            <a:xfrm>
              <a:off x="6248400" y="3316605"/>
              <a:ext cx="5410200" cy="9525"/>
            </a:xfrm>
            <a:prstGeom prst="rect">
              <a:avLst/>
            </a:prstGeom>
            <a:solidFill>
              <a:srgbClr val="D9DFEA"/>
            </a:solidFill>
            <a:ln>
              <a:noFill/>
            </a:ln>
          </p:spPr>
        </p:sp>
        <p:sp>
          <p:nvSpPr>
            <p:cNvPr id="75" name="TextBox 75"/>
            <p:cNvSpPr txBox="1"/>
            <p:nvPr/>
          </p:nvSpPr>
          <p:spPr>
            <a:xfrm>
              <a:off x="6343079" y="3438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7</a:t>
              </a:r>
            </a:p>
          </p:txBody>
        </p:sp>
        <p:sp>
          <p:nvSpPr>
            <p:cNvPr id="76" name="TextBox 76"/>
            <p:cNvSpPr txBox="1"/>
            <p:nvPr/>
          </p:nvSpPr>
          <p:spPr>
            <a:xfrm>
              <a:off x="6829806" y="3438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a:t>
              </a:r>
            </a:p>
          </p:txBody>
        </p:sp>
        <p:sp>
          <p:nvSpPr>
            <p:cNvPr id="77" name="TextBox 77"/>
            <p:cNvSpPr txBox="1"/>
            <p:nvPr/>
          </p:nvSpPr>
          <p:spPr>
            <a:xfrm>
              <a:off x="7695629"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0.3+0−0.8 = −0.5</a:t>
              </a:r>
            </a:p>
          </p:txBody>
        </p:sp>
        <p:sp>
          <p:nvSpPr>
            <p:cNvPr id="78" name="Rectangle 78"/>
            <p:cNvSpPr/>
            <p:nvPr/>
          </p:nvSpPr>
          <p:spPr>
            <a:xfrm>
              <a:off x="9233535" y="3330892"/>
              <a:ext cx="846772" cy="361950"/>
            </a:xfrm>
            <a:prstGeom prst="rect">
              <a:avLst/>
            </a:prstGeom>
            <a:solidFill>
              <a:srgbClr val="FDEEE7"/>
            </a:solidFill>
            <a:ln>
              <a:noFill/>
            </a:ln>
          </p:spPr>
        </p:sp>
        <p:sp>
          <p:nvSpPr>
            <p:cNvPr id="79" name="TextBox 79"/>
            <p:cNvSpPr txBox="1"/>
            <p:nvPr/>
          </p:nvSpPr>
          <p:spPr>
            <a:xfrm>
              <a:off x="9318688" y="3438525"/>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80" name="TextBox 80"/>
            <p:cNvSpPr txBox="1"/>
            <p:nvPr/>
          </p:nvSpPr>
          <p:spPr>
            <a:xfrm>
              <a:off x="10184511"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(0.4, 0.2, −0.7)</a:t>
              </a:r>
            </a:p>
          </p:txBody>
        </p:sp>
        <p:sp>
          <p:nvSpPr>
            <p:cNvPr id="81" name="Rectangle 81"/>
            <p:cNvSpPr/>
            <p:nvPr/>
          </p:nvSpPr>
          <p:spPr>
            <a:xfrm>
              <a:off x="6248400" y="3697605"/>
              <a:ext cx="5410200" cy="9525"/>
            </a:xfrm>
            <a:prstGeom prst="rect">
              <a:avLst/>
            </a:prstGeom>
            <a:solidFill>
              <a:srgbClr val="D9DFEA"/>
            </a:solidFill>
            <a:ln>
              <a:noFill/>
            </a:ln>
          </p:spPr>
        </p:sp>
        <p:sp>
          <p:nvSpPr>
            <p:cNvPr id="82" name="Rectangle 82"/>
            <p:cNvSpPr/>
            <p:nvPr/>
          </p:nvSpPr>
          <p:spPr>
            <a:xfrm>
              <a:off x="6248400" y="3702368"/>
              <a:ext cx="5410200" cy="381000"/>
            </a:xfrm>
            <a:prstGeom prst="rect">
              <a:avLst/>
            </a:prstGeom>
            <a:solidFill>
              <a:srgbClr val="F4F6FB"/>
            </a:solidFill>
            <a:ln>
              <a:noFill/>
            </a:ln>
          </p:spPr>
        </p:sp>
        <p:sp>
          <p:nvSpPr>
            <p:cNvPr id="83" name="TextBox 83"/>
            <p:cNvSpPr txBox="1"/>
            <p:nvPr/>
          </p:nvSpPr>
          <p:spPr>
            <a:xfrm>
              <a:off x="6343079" y="3820478"/>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8</a:t>
              </a:r>
            </a:p>
          </p:txBody>
        </p:sp>
        <p:sp>
          <p:nvSpPr>
            <p:cNvPr id="84" name="TextBox 84"/>
            <p:cNvSpPr txBox="1"/>
            <p:nvPr/>
          </p:nvSpPr>
          <p:spPr>
            <a:xfrm>
              <a:off x="6829806" y="3820478"/>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(1,1)</a:t>
              </a:r>
            </a:p>
          </p:txBody>
        </p:sp>
        <p:sp>
          <p:nvSpPr>
            <p:cNvPr id="85" name="TextBox 85"/>
            <p:cNvSpPr txBox="1"/>
            <p:nvPr/>
          </p:nvSpPr>
          <p:spPr>
            <a:xfrm>
              <a:off x="7695629" y="3820478"/>
              <a:ext cx="13393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0.4+0.2−0.7 = −0.1</a:t>
              </a:r>
            </a:p>
          </p:txBody>
        </p:sp>
        <p:sp>
          <p:nvSpPr>
            <p:cNvPr id="86" name="Rectangle 86"/>
            <p:cNvSpPr/>
            <p:nvPr/>
          </p:nvSpPr>
          <p:spPr>
            <a:xfrm>
              <a:off x="9233535" y="3711892"/>
              <a:ext cx="846772" cy="361950"/>
            </a:xfrm>
            <a:prstGeom prst="rect">
              <a:avLst/>
            </a:prstGeom>
            <a:solidFill>
              <a:srgbClr val="FDEEE7"/>
            </a:solidFill>
            <a:ln>
              <a:noFill/>
            </a:ln>
          </p:spPr>
        </p:sp>
        <p:sp>
          <p:nvSpPr>
            <p:cNvPr id="87" name="TextBox 87"/>
            <p:cNvSpPr txBox="1"/>
            <p:nvPr/>
          </p:nvSpPr>
          <p:spPr>
            <a:xfrm>
              <a:off x="9318688" y="3820478"/>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88" name="TextBox 88"/>
            <p:cNvSpPr txBox="1"/>
            <p:nvPr/>
          </p:nvSpPr>
          <p:spPr>
            <a:xfrm>
              <a:off x="10184511" y="3820478"/>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(0.5, 0.3, −0.6)</a:t>
              </a:r>
            </a:p>
          </p:txBody>
        </p:sp>
        <p:sp>
          <p:nvSpPr>
            <p:cNvPr id="89" name="Rectangle 89"/>
            <p:cNvSpPr/>
            <p:nvPr/>
          </p:nvSpPr>
          <p:spPr>
            <a:xfrm>
              <a:off x="6248400" y="2177415"/>
              <a:ext cx="5410200" cy="1906905"/>
            </a:xfrm>
            <a:prstGeom prst="rect">
              <a:avLst/>
            </a:prstGeom>
            <a:noFill/>
            <a:ln w="14288">
              <a:solidFill>
                <a:srgbClr val="D9DFEA"/>
              </a:solidFill>
            </a:ln>
          </p:spPr>
        </p:sp>
        <p:sp>
          <p:nvSpPr>
            <p:cNvPr id="90" name="Rectangle 90"/>
            <p:cNvSpPr/>
            <p:nvPr/>
          </p:nvSpPr>
          <p:spPr>
            <a:xfrm>
              <a:off x="6730365" y="2177415"/>
              <a:ext cx="9525" cy="1906905"/>
            </a:xfrm>
            <a:prstGeom prst="rect">
              <a:avLst/>
            </a:prstGeom>
            <a:solidFill>
              <a:srgbClr val="D9DFEA"/>
            </a:solidFill>
            <a:ln>
              <a:noFill/>
            </a:ln>
          </p:spPr>
        </p:sp>
        <p:sp>
          <p:nvSpPr>
            <p:cNvPr id="91" name="Rectangle 91"/>
            <p:cNvSpPr/>
            <p:nvPr/>
          </p:nvSpPr>
          <p:spPr>
            <a:xfrm>
              <a:off x="7596188" y="2177415"/>
              <a:ext cx="9525" cy="1906905"/>
            </a:xfrm>
            <a:prstGeom prst="rect">
              <a:avLst/>
            </a:prstGeom>
            <a:solidFill>
              <a:srgbClr val="D9DFEA"/>
            </a:solidFill>
            <a:ln>
              <a:noFill/>
            </a:ln>
          </p:spPr>
        </p:sp>
        <p:sp>
          <p:nvSpPr>
            <p:cNvPr id="92" name="Rectangle 92"/>
            <p:cNvSpPr/>
            <p:nvPr/>
          </p:nvSpPr>
          <p:spPr>
            <a:xfrm>
              <a:off x="9219248" y="2177415"/>
              <a:ext cx="9525" cy="1906905"/>
            </a:xfrm>
            <a:prstGeom prst="rect">
              <a:avLst/>
            </a:prstGeom>
            <a:solidFill>
              <a:srgbClr val="D9DFEA"/>
            </a:solidFill>
            <a:ln>
              <a:noFill/>
            </a:ln>
          </p:spPr>
        </p:sp>
        <p:sp>
          <p:nvSpPr>
            <p:cNvPr id="93" name="Rectangle 93"/>
            <p:cNvSpPr/>
            <p:nvPr/>
          </p:nvSpPr>
          <p:spPr>
            <a:xfrm>
              <a:off x="10085070" y="2177415"/>
              <a:ext cx="9525" cy="1906905"/>
            </a:xfrm>
            <a:prstGeom prst="rect">
              <a:avLst/>
            </a:prstGeom>
            <a:solidFill>
              <a:srgbClr val="D9DFEA"/>
            </a:solidFill>
            <a:ln>
              <a:noFill/>
            </a:ln>
          </p:spPr>
        </p:sp>
        <p:sp>
          <p:nvSpPr>
            <p:cNvPr id="94" name="TextBox 94"/>
            <p:cNvSpPr txBox="1"/>
            <p:nvPr/>
          </p:nvSpPr>
          <p:spPr>
            <a:xfrm>
              <a:off x="6243447" y="4157186"/>
              <a:ext cx="42547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第 2 轮</a:t>
              </a:r>
            </a:p>
          </p:txBody>
        </p:sp>
      </p:grpSp>
      <p:grpSp>
        <p:nvGrpSpPr>
          <p:cNvPr id="102" name="c2-callout-2"/>
          <p:cNvGrpSpPr/>
          <p:nvPr/>
        </p:nvGrpSpPr>
        <p:grpSpPr>
          <a:xfrm>
            <a:off x="6248400" y="4474845"/>
            <a:ext cx="5410200" cy="702945"/>
            <a:chOff x="6248400" y="4474845"/>
            <a:chExt cx="5410200" cy="702945"/>
          </a:xfrm>
        </p:grpSpPr>
        <p:sp>
          <p:nvSpPr>
            <p:cNvPr id="96" name="Rectangle 96"/>
            <p:cNvSpPr/>
            <p:nvPr/>
          </p:nvSpPr>
          <p:spPr>
            <a:xfrm>
              <a:off x="6248400" y="4474845"/>
              <a:ext cx="5410200" cy="702945"/>
            </a:xfrm>
            <a:prstGeom prst="roundRect">
              <a:avLst>
                <a:gd name="adj" fmla="val 16260"/>
              </a:avLst>
            </a:prstGeom>
            <a:solidFill>
              <a:srgbClr val="F4F6FB"/>
            </a:solidFill>
            <a:ln>
              <a:noFill/>
            </a:ln>
          </p:spPr>
        </p:sp>
        <p:grpSp>
          <p:nvGrpSpPr>
            <p:cNvPr id="100" name="Group 100"/>
            <p:cNvGrpSpPr/>
            <p:nvPr/>
          </p:nvGrpSpPr>
          <p:grpSpPr>
            <a:xfrm>
              <a:off x="6453188" y="4725353"/>
              <a:ext cx="200026" cy="200026"/>
              <a:chOff x="6453188" y="4725353"/>
              <a:chExt cx="200026" cy="200026"/>
            </a:xfrm>
          </p:grpSpPr>
          <p:sp>
            <p:nvSpPr>
              <p:cNvPr id="97" name="Freeform 97"/>
              <p:cNvSpPr/>
              <p:nvPr/>
            </p:nvSpPr>
            <p:spPr>
              <a:xfrm>
                <a:off x="6453188" y="472535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8" name="Freeform 98"/>
              <p:cNvSpPr/>
              <p:nvPr/>
            </p:nvSpPr>
            <p:spPr>
              <a:xfrm>
                <a:off x="6553200" y="479202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9" name="Freeform 99"/>
              <p:cNvSpPr/>
              <p:nvPr/>
            </p:nvSpPr>
            <p:spPr>
              <a:xfrm>
                <a:off x="6542088" y="482536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1" name="TextBox 101"/>
            <p:cNvSpPr txBox="1"/>
            <p:nvPr/>
          </p:nvSpPr>
          <p:spPr>
            <a:xfrm>
              <a:off x="6756273" y="4619149"/>
              <a:ext cx="439394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两个正样本 (1,0)、(1,1) 还在被判成 0，所以每轮都要各更</a:t>
              </a:r>
              <a:br/>
              <a:r>
                <a:rPr lang="zh-CN" sz="1280" dirty="0">
                  <a:solidFill>
                    <a:srgbClr val="1F2937"/>
                  </a:solidFill>
                  <a:latin typeface="+mn-lt"/>
                  <a:ea typeface="+mn-ea"/>
                  <a:cs typeface="+mn-cs"/>
                </a:rPr>
                <a:t>新一次。</a:t>
              </a:r>
            </a:p>
          </p:txBody>
        </p:sp>
      </p:grpSp>
      <p:grpSp>
        <p:nvGrpSpPr>
          <p:cNvPr id="109" name="takeaway"/>
          <p:cNvGrpSpPr/>
          <p:nvPr/>
        </p:nvGrpSpPr>
        <p:grpSpPr>
          <a:xfrm>
            <a:off x="533400" y="5659755"/>
            <a:ext cx="11125200" cy="702945"/>
            <a:chOff x="533400" y="5659755"/>
            <a:chExt cx="11125200" cy="702945"/>
          </a:xfrm>
        </p:grpSpPr>
        <p:sp>
          <p:nvSpPr>
            <p:cNvPr id="103" name="Rectangle 103"/>
            <p:cNvSpPr/>
            <p:nvPr/>
          </p:nvSpPr>
          <p:spPr>
            <a:xfrm>
              <a:off x="533400" y="5659755"/>
              <a:ext cx="11125200" cy="702945"/>
            </a:xfrm>
            <a:prstGeom prst="roundRect">
              <a:avLst>
                <a:gd name="adj" fmla="val 16260"/>
              </a:avLst>
            </a:prstGeom>
            <a:solidFill>
              <a:srgbClr val="FDECEA"/>
            </a:solidFill>
            <a:ln>
              <a:noFill/>
            </a:ln>
          </p:spPr>
        </p:sp>
        <p:grpSp>
          <p:nvGrpSpPr>
            <p:cNvPr id="107" name="Group 107"/>
            <p:cNvGrpSpPr/>
            <p:nvPr/>
          </p:nvGrpSpPr>
          <p:grpSpPr>
            <a:xfrm>
              <a:off x="726129" y="5907523"/>
              <a:ext cx="224134" cy="192560"/>
              <a:chOff x="726129" y="5907523"/>
              <a:chExt cx="224134" cy="192560"/>
            </a:xfrm>
          </p:grpSpPr>
          <p:sp>
            <p:nvSpPr>
              <p:cNvPr id="104" name="Freeform 104"/>
              <p:cNvSpPr/>
              <p:nvPr/>
            </p:nvSpPr>
            <p:spPr>
              <a:xfrm>
                <a:off x="838200" y="597789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105" name="Freeform 105"/>
              <p:cNvSpPr/>
              <p:nvPr/>
            </p:nvSpPr>
            <p:spPr>
              <a:xfrm>
                <a:off x="726129" y="590752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106" name="Freeform 106"/>
              <p:cNvSpPr/>
              <p:nvPr/>
            </p:nvSpPr>
            <p:spPr>
              <a:xfrm>
                <a:off x="838200" y="605567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108" name="TextBox 108"/>
            <p:cNvSpPr txBox="1"/>
            <p:nvPr/>
          </p:nvSpPr>
          <p:spPr>
            <a:xfrm>
              <a:off x="1041273" y="5805011"/>
              <a:ext cx="979906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B42318"/>
                  </a:solidFill>
                  <a:latin typeface="+mn-lt"/>
                  <a:ea typeface="+mn-ea"/>
                  <a:cs typeface="+mn-cs"/>
                </a:rPr>
                <a:t>更正：B 版课件第 8 步写作 v = 1×0.4 + 1×0.2 − 0.9 = −0.3，偏置沿用了上一步的 −0.9；当时 w₀ 已是 −0.7，正确结果是 −0.1。两种</a:t>
              </a:r>
              <a:br/>
              <a:r>
                <a:rPr lang="zh-CN" sz="1280" dirty="0">
                  <a:solidFill>
                    <a:srgbClr val="B42318"/>
                  </a:solidFill>
                  <a:latin typeface="+mn-lt"/>
                  <a:ea typeface="+mn-ea"/>
                  <a:cs typeface="+mn-cs"/>
                </a:rPr>
                <a:t>写法 Err 都等于 +1，后面的轨迹不受影响。</a:t>
              </a:r>
            </a:p>
          </p:txBody>
        </p:sp>
      </p:grpSp>
      <p:grpSp>
        <p:nvGrpSpPr>
          <p:cNvPr id="112" name="footer"/>
          <p:cNvGrpSpPr/>
          <p:nvPr/>
        </p:nvGrpSpPr>
        <p:grpSpPr>
          <a:xfrm>
            <a:off x="528447" y="6581299"/>
            <a:ext cx="11135106" cy="190690"/>
            <a:chOff x="528447" y="6581299"/>
            <a:chExt cx="11135106" cy="190690"/>
          </a:xfrm>
        </p:grpSpPr>
        <p:sp>
          <p:nvSpPr>
            <p:cNvPr id="110" name="TextBox 11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11" name="TextBox 11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071475" cy="909257"/>
            <a:chOff x="520446" y="342900"/>
            <a:chExt cx="407147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0714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例题续：第 3、4 轮与收敛</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46" name="c1-table-1"/>
          <p:cNvGrpSpPr/>
          <p:nvPr/>
        </p:nvGrpSpPr>
        <p:grpSpPr>
          <a:xfrm>
            <a:off x="528066" y="1524000"/>
            <a:ext cx="5415534" cy="2508504"/>
            <a:chOff x="528066" y="1524000"/>
            <a:chExt cx="5415534" cy="2508504"/>
          </a:xfrm>
        </p:grpSpPr>
        <p:sp>
          <p:nvSpPr>
            <p:cNvPr id="7" name="Rectangle 7"/>
            <p:cNvSpPr/>
            <p:nvPr/>
          </p:nvSpPr>
          <p:spPr>
            <a:xfrm>
              <a:off x="533400" y="1524000"/>
              <a:ext cx="5410200" cy="605790"/>
            </a:xfrm>
            <a:prstGeom prst="rect">
              <a:avLst/>
            </a:prstGeom>
            <a:solidFill>
              <a:srgbClr val="0E7C86"/>
            </a:solidFill>
            <a:ln>
              <a:noFill/>
            </a:ln>
          </p:spPr>
        </p:sp>
        <p:sp>
          <p:nvSpPr>
            <p:cNvPr id="8" name="TextBox 8"/>
            <p:cNvSpPr txBox="1"/>
            <p:nvPr/>
          </p:nvSpPr>
          <p:spPr>
            <a:xfrm>
              <a:off x="696138" y="1748314"/>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步</a:t>
              </a:r>
            </a:p>
          </p:txBody>
        </p:sp>
        <p:sp>
          <p:nvSpPr>
            <p:cNvPr id="9" name="TextBox 9"/>
            <p:cNvSpPr txBox="1"/>
            <p:nvPr/>
          </p:nvSpPr>
          <p:spPr>
            <a:xfrm>
              <a:off x="1230119" y="1748314"/>
              <a:ext cx="44679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(x,y)</a:t>
              </a:r>
            </a:p>
          </p:txBody>
        </p:sp>
        <p:sp>
          <p:nvSpPr>
            <p:cNvPr id="10" name="TextBox 10"/>
            <p:cNvSpPr txBox="1"/>
            <p:nvPr/>
          </p:nvSpPr>
          <p:spPr>
            <a:xfrm>
              <a:off x="2648229" y="1748314"/>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v</a:t>
              </a:r>
            </a:p>
          </p:txBody>
        </p:sp>
        <p:sp>
          <p:nvSpPr>
            <p:cNvPr id="11" name="TextBox 11"/>
            <p:cNvSpPr txBox="1"/>
            <p:nvPr/>
          </p:nvSpPr>
          <p:spPr>
            <a:xfrm>
              <a:off x="3646771" y="1748314"/>
              <a:ext cx="58934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O / Err</a:t>
              </a:r>
            </a:p>
          </p:txBody>
        </p:sp>
        <p:sp>
          <p:nvSpPr>
            <p:cNvPr id="12" name="TextBox 12"/>
            <p:cNvSpPr txBox="1"/>
            <p:nvPr/>
          </p:nvSpPr>
          <p:spPr>
            <a:xfrm>
              <a:off x="4697501" y="1648301"/>
              <a:ext cx="922477" cy="420052"/>
            </a:xfrm>
            <a:prstGeom prst="rect">
              <a:avLst/>
            </a:prstGeom>
            <a:noFill/>
            <a:ln>
              <a:noFill/>
            </a:ln>
          </p:spPr>
          <p:txBody>
            <a:bodyPr wrap="none" lIns="0" tIns="0" rIns="0" bIns="0" anchor="t" anchorCtr="0">
              <a:spAutoFit/>
            </a:bodyPr>
            <a:lstStyle/>
            <a:p>
              <a:pPr algn="ctr">
                <a:lnSpc>
                  <a:spcPts val="1575"/>
                </a:lnSpc>
              </a:pPr>
              <a:r>
                <a:rPr lang="zh-CN" sz="1120" b="1" dirty="0">
                  <a:solidFill>
                    <a:srgbClr val="FFFFFF"/>
                  </a:solidFill>
                  <a:latin typeface="+mn-lt"/>
                  <a:ea typeface="+mn-ea"/>
                  <a:cs typeface="+mn-cs"/>
                </a:rPr>
                <a:t>更新后</a:t>
              </a:r>
              <a:br/>
              <a:r>
                <a:rPr lang="en-US" sz="1120" b="1" dirty="0">
                  <a:solidFill>
                    <a:srgbClr val="FFFFFF"/>
                  </a:solidFill>
                  <a:latin typeface="+mn-lt"/>
                  <a:ea typeface="+mn-ea"/>
                  <a:cs typeface="+mn-cs"/>
                </a:rPr>
                <a:t>(w₁,w₂,w₀)</a:t>
              </a:r>
            </a:p>
          </p:txBody>
        </p:sp>
        <p:sp>
          <p:nvSpPr>
            <p:cNvPr id="13" name="TextBox 13"/>
            <p:cNvSpPr txBox="1"/>
            <p:nvPr/>
          </p:nvSpPr>
          <p:spPr>
            <a:xfrm>
              <a:off x="633412" y="2254091"/>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9</a:t>
              </a:r>
            </a:p>
          </p:txBody>
        </p:sp>
        <p:sp>
          <p:nvSpPr>
            <p:cNvPr id="14" name="TextBox 14"/>
            <p:cNvSpPr txBox="1"/>
            <p:nvPr/>
          </p:nvSpPr>
          <p:spPr>
            <a:xfrm>
              <a:off x="1120140" y="225409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a:t>
              </a:r>
            </a:p>
          </p:txBody>
        </p:sp>
        <p:sp>
          <p:nvSpPr>
            <p:cNvPr id="15" name="TextBox 15"/>
            <p:cNvSpPr txBox="1"/>
            <p:nvPr/>
          </p:nvSpPr>
          <p:spPr>
            <a:xfrm>
              <a:off x="1985962" y="2254091"/>
              <a:ext cx="10970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0+0−0.6 = −0.6</a:t>
              </a:r>
            </a:p>
          </p:txBody>
        </p:sp>
        <p:sp>
          <p:nvSpPr>
            <p:cNvPr id="16" name="TextBox 16"/>
            <p:cNvSpPr txBox="1"/>
            <p:nvPr/>
          </p:nvSpPr>
          <p:spPr>
            <a:xfrm>
              <a:off x="3609022" y="225409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17" name="TextBox 17"/>
            <p:cNvSpPr txBox="1"/>
            <p:nvPr/>
          </p:nvSpPr>
          <p:spPr>
            <a:xfrm>
              <a:off x="4474845" y="225409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 0.3, −0.6)</a:t>
              </a:r>
            </a:p>
          </p:txBody>
        </p:sp>
        <p:sp>
          <p:nvSpPr>
            <p:cNvPr id="18" name="Rectangle 18"/>
            <p:cNvSpPr/>
            <p:nvPr/>
          </p:nvSpPr>
          <p:spPr>
            <a:xfrm>
              <a:off x="533400" y="2530792"/>
              <a:ext cx="5410200" cy="9525"/>
            </a:xfrm>
            <a:prstGeom prst="rect">
              <a:avLst/>
            </a:prstGeom>
            <a:solidFill>
              <a:srgbClr val="D9DFEA"/>
            </a:solidFill>
            <a:ln>
              <a:noFill/>
            </a:ln>
          </p:spPr>
        </p:sp>
        <p:sp>
          <p:nvSpPr>
            <p:cNvPr id="19" name="Rectangle 19"/>
            <p:cNvSpPr/>
            <p:nvPr/>
          </p:nvSpPr>
          <p:spPr>
            <a:xfrm>
              <a:off x="533400" y="2535555"/>
              <a:ext cx="5410200" cy="405765"/>
            </a:xfrm>
            <a:prstGeom prst="rect">
              <a:avLst/>
            </a:prstGeom>
            <a:solidFill>
              <a:srgbClr val="F4F6FB"/>
            </a:solidFill>
            <a:ln>
              <a:noFill/>
            </a:ln>
          </p:spPr>
        </p:sp>
        <p:sp>
          <p:nvSpPr>
            <p:cNvPr id="20" name="TextBox 20"/>
            <p:cNvSpPr txBox="1"/>
            <p:nvPr/>
          </p:nvSpPr>
          <p:spPr>
            <a:xfrm>
              <a:off x="633412" y="265985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10</a:t>
              </a:r>
            </a:p>
          </p:txBody>
        </p:sp>
        <p:sp>
          <p:nvSpPr>
            <p:cNvPr id="21" name="TextBox 21"/>
            <p:cNvSpPr txBox="1"/>
            <p:nvPr/>
          </p:nvSpPr>
          <p:spPr>
            <a:xfrm>
              <a:off x="1120140" y="265985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(0,1)</a:t>
              </a:r>
            </a:p>
          </p:txBody>
        </p:sp>
        <p:sp>
          <p:nvSpPr>
            <p:cNvPr id="22" name="TextBox 22"/>
            <p:cNvSpPr txBox="1"/>
            <p:nvPr/>
          </p:nvSpPr>
          <p:spPr>
            <a:xfrm>
              <a:off x="1985962" y="265985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0+0.3−0.6 = −0.3</a:t>
              </a:r>
            </a:p>
          </p:txBody>
        </p:sp>
        <p:sp>
          <p:nvSpPr>
            <p:cNvPr id="23" name="TextBox 23"/>
            <p:cNvSpPr txBox="1"/>
            <p:nvPr/>
          </p:nvSpPr>
          <p:spPr>
            <a:xfrm>
              <a:off x="3609022" y="265985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24" name="TextBox 24"/>
            <p:cNvSpPr txBox="1"/>
            <p:nvPr/>
          </p:nvSpPr>
          <p:spPr>
            <a:xfrm>
              <a:off x="4474845" y="265985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 0.3, −0.6)</a:t>
              </a:r>
            </a:p>
          </p:txBody>
        </p:sp>
        <p:sp>
          <p:nvSpPr>
            <p:cNvPr id="25" name="Rectangle 25"/>
            <p:cNvSpPr/>
            <p:nvPr/>
          </p:nvSpPr>
          <p:spPr>
            <a:xfrm>
              <a:off x="533400" y="2936558"/>
              <a:ext cx="5410200" cy="9525"/>
            </a:xfrm>
            <a:prstGeom prst="rect">
              <a:avLst/>
            </a:prstGeom>
            <a:solidFill>
              <a:srgbClr val="D9DFEA"/>
            </a:solidFill>
            <a:ln>
              <a:noFill/>
            </a:ln>
          </p:spPr>
        </p:sp>
        <p:sp>
          <p:nvSpPr>
            <p:cNvPr id="26" name="TextBox 26"/>
            <p:cNvSpPr txBox="1"/>
            <p:nvPr/>
          </p:nvSpPr>
          <p:spPr>
            <a:xfrm>
              <a:off x="633412" y="306562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11</a:t>
              </a:r>
            </a:p>
          </p:txBody>
        </p:sp>
        <p:sp>
          <p:nvSpPr>
            <p:cNvPr id="27" name="TextBox 27"/>
            <p:cNvSpPr txBox="1"/>
            <p:nvPr/>
          </p:nvSpPr>
          <p:spPr>
            <a:xfrm>
              <a:off x="1120140" y="306562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(1,0)</a:t>
              </a:r>
            </a:p>
          </p:txBody>
        </p:sp>
        <p:sp>
          <p:nvSpPr>
            <p:cNvPr id="28" name="TextBox 28"/>
            <p:cNvSpPr txBox="1"/>
            <p:nvPr/>
          </p:nvSpPr>
          <p:spPr>
            <a:xfrm>
              <a:off x="1985962" y="306562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0.5+0−0.6 = −0.1</a:t>
              </a:r>
            </a:p>
          </p:txBody>
        </p:sp>
        <p:sp>
          <p:nvSpPr>
            <p:cNvPr id="29" name="Rectangle 29"/>
            <p:cNvSpPr/>
            <p:nvPr/>
          </p:nvSpPr>
          <p:spPr>
            <a:xfrm>
              <a:off x="3518535" y="2950845"/>
              <a:ext cx="846772" cy="386715"/>
            </a:xfrm>
            <a:prstGeom prst="rect">
              <a:avLst/>
            </a:prstGeom>
            <a:solidFill>
              <a:srgbClr val="FDEEE7"/>
            </a:solidFill>
            <a:ln>
              <a:noFill/>
            </a:ln>
          </p:spPr>
        </p:sp>
        <p:sp>
          <p:nvSpPr>
            <p:cNvPr id="30" name="TextBox 30"/>
            <p:cNvSpPr txBox="1"/>
            <p:nvPr/>
          </p:nvSpPr>
          <p:spPr>
            <a:xfrm>
              <a:off x="3609022" y="3065621"/>
              <a:ext cx="43359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+1</a:t>
              </a:r>
            </a:p>
          </p:txBody>
        </p:sp>
        <p:sp>
          <p:nvSpPr>
            <p:cNvPr id="31" name="TextBox 31"/>
            <p:cNvSpPr txBox="1"/>
            <p:nvPr/>
          </p:nvSpPr>
          <p:spPr>
            <a:xfrm>
              <a:off x="4474845" y="306562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 0.3, −0.5)</a:t>
              </a:r>
            </a:p>
          </p:txBody>
        </p:sp>
        <p:sp>
          <p:nvSpPr>
            <p:cNvPr id="32" name="Rectangle 32"/>
            <p:cNvSpPr/>
            <p:nvPr/>
          </p:nvSpPr>
          <p:spPr>
            <a:xfrm>
              <a:off x="533400" y="3342322"/>
              <a:ext cx="5410200" cy="9525"/>
            </a:xfrm>
            <a:prstGeom prst="rect">
              <a:avLst/>
            </a:prstGeom>
            <a:solidFill>
              <a:srgbClr val="D9DFEA"/>
            </a:solidFill>
            <a:ln>
              <a:noFill/>
            </a:ln>
          </p:spPr>
        </p:sp>
        <p:sp>
          <p:nvSpPr>
            <p:cNvPr id="33" name="Rectangle 33"/>
            <p:cNvSpPr/>
            <p:nvPr/>
          </p:nvSpPr>
          <p:spPr>
            <a:xfrm>
              <a:off x="533400" y="3347085"/>
              <a:ext cx="5410200" cy="405765"/>
            </a:xfrm>
            <a:prstGeom prst="rect">
              <a:avLst/>
            </a:prstGeom>
            <a:solidFill>
              <a:srgbClr val="F4F6FB"/>
            </a:solidFill>
            <a:ln>
              <a:noFill/>
            </a:ln>
          </p:spPr>
        </p:sp>
        <p:sp>
          <p:nvSpPr>
            <p:cNvPr id="34" name="TextBox 34"/>
            <p:cNvSpPr txBox="1"/>
            <p:nvPr/>
          </p:nvSpPr>
          <p:spPr>
            <a:xfrm>
              <a:off x="633412" y="347138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12</a:t>
              </a:r>
            </a:p>
          </p:txBody>
        </p:sp>
        <p:sp>
          <p:nvSpPr>
            <p:cNvPr id="35" name="TextBox 35"/>
            <p:cNvSpPr txBox="1"/>
            <p:nvPr/>
          </p:nvSpPr>
          <p:spPr>
            <a:xfrm>
              <a:off x="1120140" y="347138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(1,1)</a:t>
              </a:r>
            </a:p>
          </p:txBody>
        </p:sp>
        <p:sp>
          <p:nvSpPr>
            <p:cNvPr id="36" name="TextBox 36"/>
            <p:cNvSpPr txBox="1"/>
            <p:nvPr/>
          </p:nvSpPr>
          <p:spPr>
            <a:xfrm>
              <a:off x="1985962" y="3471386"/>
              <a:ext cx="13457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0.6+0.3−0.5 = 0.4</a:t>
              </a:r>
            </a:p>
          </p:txBody>
        </p:sp>
        <p:sp>
          <p:nvSpPr>
            <p:cNvPr id="37" name="Rectangle 37"/>
            <p:cNvSpPr/>
            <p:nvPr/>
          </p:nvSpPr>
          <p:spPr>
            <a:xfrm>
              <a:off x="3518535" y="3356610"/>
              <a:ext cx="846772" cy="386715"/>
            </a:xfrm>
            <a:prstGeom prst="rect">
              <a:avLst/>
            </a:prstGeom>
            <a:solidFill>
              <a:srgbClr val="E3F5F1"/>
            </a:solidFill>
            <a:ln>
              <a:noFill/>
            </a:ln>
          </p:spPr>
        </p:sp>
        <p:sp>
          <p:nvSpPr>
            <p:cNvPr id="38" name="TextBox 38"/>
            <p:cNvSpPr txBox="1"/>
            <p:nvPr/>
          </p:nvSpPr>
          <p:spPr>
            <a:xfrm>
              <a:off x="3609022" y="347138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39" name="TextBox 39"/>
            <p:cNvSpPr txBox="1"/>
            <p:nvPr/>
          </p:nvSpPr>
          <p:spPr>
            <a:xfrm>
              <a:off x="4474845" y="347138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 0.3, −0.5)</a:t>
              </a:r>
            </a:p>
          </p:txBody>
        </p:sp>
        <p:sp>
          <p:nvSpPr>
            <p:cNvPr id="40" name="Rectangle 40"/>
            <p:cNvSpPr/>
            <p:nvPr/>
          </p:nvSpPr>
          <p:spPr>
            <a:xfrm>
              <a:off x="533400" y="1524000"/>
              <a:ext cx="5410200" cy="2228850"/>
            </a:xfrm>
            <a:prstGeom prst="rect">
              <a:avLst/>
            </a:prstGeom>
            <a:noFill/>
            <a:ln w="14288">
              <a:solidFill>
                <a:srgbClr val="D9DFEA"/>
              </a:solidFill>
            </a:ln>
          </p:spPr>
        </p:sp>
        <p:sp>
          <p:nvSpPr>
            <p:cNvPr id="41" name="Rectangle 41"/>
            <p:cNvSpPr/>
            <p:nvPr/>
          </p:nvSpPr>
          <p:spPr>
            <a:xfrm>
              <a:off x="1015365" y="1524000"/>
              <a:ext cx="9525" cy="2228850"/>
            </a:xfrm>
            <a:prstGeom prst="rect">
              <a:avLst/>
            </a:prstGeom>
            <a:solidFill>
              <a:srgbClr val="D9DFEA"/>
            </a:solidFill>
            <a:ln>
              <a:noFill/>
            </a:ln>
          </p:spPr>
        </p:sp>
        <p:sp>
          <p:nvSpPr>
            <p:cNvPr id="42" name="Rectangle 42"/>
            <p:cNvSpPr/>
            <p:nvPr/>
          </p:nvSpPr>
          <p:spPr>
            <a:xfrm>
              <a:off x="1881188" y="1524000"/>
              <a:ext cx="9525" cy="2228850"/>
            </a:xfrm>
            <a:prstGeom prst="rect">
              <a:avLst/>
            </a:prstGeom>
            <a:solidFill>
              <a:srgbClr val="D9DFEA"/>
            </a:solidFill>
            <a:ln>
              <a:noFill/>
            </a:ln>
          </p:spPr>
        </p:sp>
        <p:sp>
          <p:nvSpPr>
            <p:cNvPr id="43" name="Rectangle 43"/>
            <p:cNvSpPr/>
            <p:nvPr/>
          </p:nvSpPr>
          <p:spPr>
            <a:xfrm>
              <a:off x="3504248" y="1524000"/>
              <a:ext cx="9525" cy="2228850"/>
            </a:xfrm>
            <a:prstGeom prst="rect">
              <a:avLst/>
            </a:prstGeom>
            <a:solidFill>
              <a:srgbClr val="D9DFEA"/>
            </a:solidFill>
            <a:ln>
              <a:noFill/>
            </a:ln>
          </p:spPr>
        </p:sp>
        <p:sp>
          <p:nvSpPr>
            <p:cNvPr id="44" name="Rectangle 44"/>
            <p:cNvSpPr/>
            <p:nvPr/>
          </p:nvSpPr>
          <p:spPr>
            <a:xfrm>
              <a:off x="4370070" y="1524000"/>
              <a:ext cx="9525" cy="2228850"/>
            </a:xfrm>
            <a:prstGeom prst="rect">
              <a:avLst/>
            </a:prstGeom>
            <a:solidFill>
              <a:srgbClr val="D9DFEA"/>
            </a:solidFill>
            <a:ln>
              <a:noFill/>
            </a:ln>
          </p:spPr>
        </p:sp>
        <p:sp>
          <p:nvSpPr>
            <p:cNvPr id="45" name="TextBox 45"/>
            <p:cNvSpPr txBox="1"/>
            <p:nvPr/>
          </p:nvSpPr>
          <p:spPr>
            <a:xfrm>
              <a:off x="528066" y="3827145"/>
              <a:ext cx="455924"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第 3 轮</a:t>
              </a:r>
            </a:p>
          </p:txBody>
        </p:sp>
      </p:grpSp>
      <p:grpSp>
        <p:nvGrpSpPr>
          <p:cNvPr id="52" name="c1-card-2"/>
          <p:cNvGrpSpPr/>
          <p:nvPr/>
        </p:nvGrpSpPr>
        <p:grpSpPr>
          <a:xfrm>
            <a:off x="533400" y="4166235"/>
            <a:ext cx="5410200" cy="1283970"/>
            <a:chOff x="533400" y="4166235"/>
            <a:chExt cx="5410200" cy="1283970"/>
          </a:xfrm>
        </p:grpSpPr>
        <p:sp>
          <p:nvSpPr>
            <p:cNvPr id="47" name="Rectangle 47"/>
            <p:cNvSpPr/>
            <p:nvPr/>
          </p:nvSpPr>
          <p:spPr>
            <a:xfrm>
              <a:off x="533400" y="4166235"/>
              <a:ext cx="5410200" cy="1283970"/>
            </a:xfrm>
            <a:prstGeom prst="roundRect">
              <a:avLst>
                <a:gd name="adj" fmla="val 10386"/>
              </a:avLst>
            </a:prstGeom>
            <a:solidFill>
              <a:srgbClr val="0E7C86"/>
            </a:solidFill>
            <a:ln>
              <a:noFill/>
            </a:ln>
          </p:spPr>
        </p:sp>
        <p:sp>
          <p:nvSpPr>
            <p:cNvPr id="48" name="Rectangle 48"/>
            <p:cNvSpPr/>
            <p:nvPr/>
          </p:nvSpPr>
          <p:spPr>
            <a:xfrm>
              <a:off x="725805" y="4358640"/>
              <a:ext cx="476250" cy="247650"/>
            </a:xfrm>
            <a:prstGeom prst="roundRect">
              <a:avLst>
                <a:gd name="adj" fmla="val 50000"/>
              </a:avLst>
            </a:prstGeom>
            <a:solidFill>
              <a:srgbClr val="0B5F67"/>
            </a:solidFill>
            <a:ln>
              <a:noFill/>
            </a:ln>
          </p:spPr>
        </p:sp>
        <p:sp>
          <p:nvSpPr>
            <p:cNvPr id="49" name="TextBox 49"/>
            <p:cNvSpPr txBox="1"/>
            <p:nvPr/>
          </p:nvSpPr>
          <p:spPr>
            <a:xfrm>
              <a:off x="817245" y="439293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结果</a:t>
              </a:r>
            </a:p>
          </p:txBody>
        </p:sp>
        <p:sp>
          <p:nvSpPr>
            <p:cNvPr id="50" name="TextBox 50"/>
            <p:cNvSpPr txBox="1"/>
            <p:nvPr/>
          </p:nvSpPr>
          <p:spPr>
            <a:xfrm>
              <a:off x="1309497" y="4398645"/>
              <a:ext cx="128587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学到的判别函数</a:t>
              </a:r>
            </a:p>
          </p:txBody>
        </p:sp>
        <p:sp>
          <p:nvSpPr>
            <p:cNvPr id="51" name="TextBox 51"/>
            <p:cNvSpPr txBox="1"/>
            <p:nvPr/>
          </p:nvSpPr>
          <p:spPr>
            <a:xfrm>
              <a:off x="718947" y="4732972"/>
              <a:ext cx="452285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v = 0.6x + 0.3y − 0.5，O = step(v)。代回四个样本得</a:t>
              </a:r>
              <a:br/>
              <a:r>
                <a:rPr lang="zh-CN" sz="1350" dirty="0">
                  <a:solidFill>
                    <a:srgbClr val="FFFFFF"/>
                  </a:solidFill>
                  <a:latin typeface="+mn-lt"/>
                  <a:ea typeface="+mn-ea"/>
                  <a:cs typeface="+mn-cs"/>
                </a:rPr>
                <a:t>−0.5、−0.2、+0.1、+0.4，判成 0、0、1、1，四个全对。</a:t>
              </a:r>
            </a:p>
          </p:txBody>
        </p:sp>
      </p:grpSp>
      <p:grpSp>
        <p:nvGrpSpPr>
          <p:cNvPr id="94" name="c2-table-1"/>
          <p:cNvGrpSpPr/>
          <p:nvPr/>
        </p:nvGrpSpPr>
        <p:grpSpPr>
          <a:xfrm>
            <a:off x="6243066" y="1524000"/>
            <a:ext cx="5415534" cy="2308479"/>
            <a:chOff x="6243066" y="1524000"/>
            <a:chExt cx="5415534" cy="2308479"/>
          </a:xfrm>
        </p:grpSpPr>
        <p:sp>
          <p:nvSpPr>
            <p:cNvPr id="53" name="Rectangle 53"/>
            <p:cNvSpPr/>
            <p:nvPr/>
          </p:nvSpPr>
          <p:spPr>
            <a:xfrm>
              <a:off x="6248400" y="1524000"/>
              <a:ext cx="5410200" cy="405765"/>
            </a:xfrm>
            <a:prstGeom prst="rect">
              <a:avLst/>
            </a:prstGeom>
            <a:solidFill>
              <a:srgbClr val="0E7C86"/>
            </a:solidFill>
            <a:ln>
              <a:noFill/>
            </a:ln>
          </p:spPr>
        </p:sp>
        <p:sp>
          <p:nvSpPr>
            <p:cNvPr id="54" name="TextBox 54"/>
            <p:cNvSpPr txBox="1"/>
            <p:nvPr/>
          </p:nvSpPr>
          <p:spPr>
            <a:xfrm>
              <a:off x="6411138" y="1648301"/>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步</a:t>
              </a:r>
            </a:p>
          </p:txBody>
        </p:sp>
        <p:sp>
          <p:nvSpPr>
            <p:cNvPr id="55" name="TextBox 55"/>
            <p:cNvSpPr txBox="1"/>
            <p:nvPr/>
          </p:nvSpPr>
          <p:spPr>
            <a:xfrm>
              <a:off x="6945119" y="1648301"/>
              <a:ext cx="44679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(x,y)</a:t>
              </a:r>
            </a:p>
          </p:txBody>
        </p:sp>
        <p:sp>
          <p:nvSpPr>
            <p:cNvPr id="56" name="TextBox 56"/>
            <p:cNvSpPr txBox="1"/>
            <p:nvPr/>
          </p:nvSpPr>
          <p:spPr>
            <a:xfrm>
              <a:off x="8363229" y="1648301"/>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v</a:t>
              </a:r>
            </a:p>
          </p:txBody>
        </p:sp>
        <p:sp>
          <p:nvSpPr>
            <p:cNvPr id="57" name="TextBox 57"/>
            <p:cNvSpPr txBox="1"/>
            <p:nvPr/>
          </p:nvSpPr>
          <p:spPr>
            <a:xfrm>
              <a:off x="9361771" y="1648301"/>
              <a:ext cx="58934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O / Err</a:t>
              </a:r>
            </a:p>
          </p:txBody>
        </p:sp>
        <p:sp>
          <p:nvSpPr>
            <p:cNvPr id="58" name="TextBox 58"/>
            <p:cNvSpPr txBox="1"/>
            <p:nvPr/>
          </p:nvSpPr>
          <p:spPr>
            <a:xfrm>
              <a:off x="1071725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权值</a:t>
              </a:r>
            </a:p>
          </p:txBody>
        </p:sp>
        <p:sp>
          <p:nvSpPr>
            <p:cNvPr id="59" name="TextBox 59"/>
            <p:cNvSpPr txBox="1"/>
            <p:nvPr/>
          </p:nvSpPr>
          <p:spPr>
            <a:xfrm>
              <a:off x="6348412" y="205406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13</a:t>
              </a:r>
            </a:p>
          </p:txBody>
        </p:sp>
        <p:sp>
          <p:nvSpPr>
            <p:cNvPr id="60" name="TextBox 60"/>
            <p:cNvSpPr txBox="1"/>
            <p:nvPr/>
          </p:nvSpPr>
          <p:spPr>
            <a:xfrm>
              <a:off x="6835140" y="205406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a:t>
              </a:r>
            </a:p>
          </p:txBody>
        </p:sp>
        <p:sp>
          <p:nvSpPr>
            <p:cNvPr id="61" name="TextBox 61"/>
            <p:cNvSpPr txBox="1"/>
            <p:nvPr/>
          </p:nvSpPr>
          <p:spPr>
            <a:xfrm>
              <a:off x="7700962" y="2054066"/>
              <a:ext cx="10970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0+0−0.5 = −0.5</a:t>
              </a:r>
            </a:p>
          </p:txBody>
        </p:sp>
        <p:sp>
          <p:nvSpPr>
            <p:cNvPr id="62" name="Rectangle 62"/>
            <p:cNvSpPr/>
            <p:nvPr/>
          </p:nvSpPr>
          <p:spPr>
            <a:xfrm>
              <a:off x="9233535" y="1939290"/>
              <a:ext cx="846772" cy="386715"/>
            </a:xfrm>
            <a:prstGeom prst="rect">
              <a:avLst/>
            </a:prstGeom>
            <a:solidFill>
              <a:srgbClr val="E3F5F1"/>
            </a:solidFill>
            <a:ln>
              <a:noFill/>
            </a:ln>
          </p:spPr>
        </p:sp>
        <p:sp>
          <p:nvSpPr>
            <p:cNvPr id="63" name="TextBox 63"/>
            <p:cNvSpPr txBox="1"/>
            <p:nvPr/>
          </p:nvSpPr>
          <p:spPr>
            <a:xfrm>
              <a:off x="9324022" y="205406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64" name="TextBox 64"/>
            <p:cNvSpPr txBox="1"/>
            <p:nvPr/>
          </p:nvSpPr>
          <p:spPr>
            <a:xfrm>
              <a:off x="10189845" y="205406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65" name="Rectangle 65"/>
            <p:cNvSpPr/>
            <p:nvPr/>
          </p:nvSpPr>
          <p:spPr>
            <a:xfrm>
              <a:off x="6248400" y="2330768"/>
              <a:ext cx="5410200" cy="9525"/>
            </a:xfrm>
            <a:prstGeom prst="rect">
              <a:avLst/>
            </a:prstGeom>
            <a:solidFill>
              <a:srgbClr val="D9DFEA"/>
            </a:solidFill>
            <a:ln>
              <a:noFill/>
            </a:ln>
          </p:spPr>
        </p:sp>
        <p:sp>
          <p:nvSpPr>
            <p:cNvPr id="66" name="Rectangle 66"/>
            <p:cNvSpPr/>
            <p:nvPr/>
          </p:nvSpPr>
          <p:spPr>
            <a:xfrm>
              <a:off x="6248400" y="2335530"/>
              <a:ext cx="5410200" cy="405765"/>
            </a:xfrm>
            <a:prstGeom prst="rect">
              <a:avLst/>
            </a:prstGeom>
            <a:solidFill>
              <a:srgbClr val="F4F6FB"/>
            </a:solidFill>
            <a:ln>
              <a:noFill/>
            </a:ln>
          </p:spPr>
        </p:sp>
        <p:sp>
          <p:nvSpPr>
            <p:cNvPr id="67" name="TextBox 67"/>
            <p:cNvSpPr txBox="1"/>
            <p:nvPr/>
          </p:nvSpPr>
          <p:spPr>
            <a:xfrm>
              <a:off x="6348412" y="245983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14</a:t>
              </a:r>
            </a:p>
          </p:txBody>
        </p:sp>
        <p:sp>
          <p:nvSpPr>
            <p:cNvPr id="68" name="TextBox 68"/>
            <p:cNvSpPr txBox="1"/>
            <p:nvPr/>
          </p:nvSpPr>
          <p:spPr>
            <a:xfrm>
              <a:off x="6835140" y="245983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(0,1)</a:t>
              </a:r>
            </a:p>
          </p:txBody>
        </p:sp>
        <p:sp>
          <p:nvSpPr>
            <p:cNvPr id="69" name="TextBox 69"/>
            <p:cNvSpPr txBox="1"/>
            <p:nvPr/>
          </p:nvSpPr>
          <p:spPr>
            <a:xfrm>
              <a:off x="7700962" y="245983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0+0.3−0.5 = −0.2</a:t>
              </a:r>
            </a:p>
          </p:txBody>
        </p:sp>
        <p:sp>
          <p:nvSpPr>
            <p:cNvPr id="70" name="Rectangle 70"/>
            <p:cNvSpPr/>
            <p:nvPr/>
          </p:nvSpPr>
          <p:spPr>
            <a:xfrm>
              <a:off x="9233535" y="2345055"/>
              <a:ext cx="846772" cy="386715"/>
            </a:xfrm>
            <a:prstGeom prst="rect">
              <a:avLst/>
            </a:prstGeom>
            <a:solidFill>
              <a:srgbClr val="E3F5F1"/>
            </a:solidFill>
            <a:ln>
              <a:noFill/>
            </a:ln>
          </p:spPr>
        </p:sp>
        <p:sp>
          <p:nvSpPr>
            <p:cNvPr id="71" name="TextBox 71"/>
            <p:cNvSpPr txBox="1"/>
            <p:nvPr/>
          </p:nvSpPr>
          <p:spPr>
            <a:xfrm>
              <a:off x="9324022" y="245983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72" name="TextBox 72"/>
            <p:cNvSpPr txBox="1"/>
            <p:nvPr/>
          </p:nvSpPr>
          <p:spPr>
            <a:xfrm>
              <a:off x="10189845" y="245983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73" name="Rectangle 73"/>
            <p:cNvSpPr/>
            <p:nvPr/>
          </p:nvSpPr>
          <p:spPr>
            <a:xfrm>
              <a:off x="6248400" y="2736532"/>
              <a:ext cx="5410200" cy="9525"/>
            </a:xfrm>
            <a:prstGeom prst="rect">
              <a:avLst/>
            </a:prstGeom>
            <a:solidFill>
              <a:srgbClr val="D9DFEA"/>
            </a:solidFill>
            <a:ln>
              <a:noFill/>
            </a:ln>
          </p:spPr>
        </p:sp>
        <p:sp>
          <p:nvSpPr>
            <p:cNvPr id="74" name="TextBox 74"/>
            <p:cNvSpPr txBox="1"/>
            <p:nvPr/>
          </p:nvSpPr>
          <p:spPr>
            <a:xfrm>
              <a:off x="6348412" y="286559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15</a:t>
              </a:r>
            </a:p>
          </p:txBody>
        </p:sp>
        <p:sp>
          <p:nvSpPr>
            <p:cNvPr id="75" name="TextBox 75"/>
            <p:cNvSpPr txBox="1"/>
            <p:nvPr/>
          </p:nvSpPr>
          <p:spPr>
            <a:xfrm>
              <a:off x="6835140" y="286559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(1,0)</a:t>
              </a:r>
            </a:p>
          </p:txBody>
        </p:sp>
        <p:sp>
          <p:nvSpPr>
            <p:cNvPr id="76" name="TextBox 76"/>
            <p:cNvSpPr txBox="1"/>
            <p:nvPr/>
          </p:nvSpPr>
          <p:spPr>
            <a:xfrm>
              <a:off x="7700962" y="2865596"/>
              <a:ext cx="117993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0.6+0−0.5 = 0.1</a:t>
              </a:r>
            </a:p>
          </p:txBody>
        </p:sp>
        <p:sp>
          <p:nvSpPr>
            <p:cNvPr id="77" name="Rectangle 77"/>
            <p:cNvSpPr/>
            <p:nvPr/>
          </p:nvSpPr>
          <p:spPr>
            <a:xfrm>
              <a:off x="9233535" y="2750820"/>
              <a:ext cx="846772" cy="386715"/>
            </a:xfrm>
            <a:prstGeom prst="rect">
              <a:avLst/>
            </a:prstGeom>
            <a:solidFill>
              <a:srgbClr val="E3F5F1"/>
            </a:solidFill>
            <a:ln>
              <a:noFill/>
            </a:ln>
          </p:spPr>
        </p:sp>
        <p:sp>
          <p:nvSpPr>
            <p:cNvPr id="78" name="TextBox 78"/>
            <p:cNvSpPr txBox="1"/>
            <p:nvPr/>
          </p:nvSpPr>
          <p:spPr>
            <a:xfrm>
              <a:off x="9324022" y="286559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79" name="TextBox 79"/>
            <p:cNvSpPr txBox="1"/>
            <p:nvPr/>
          </p:nvSpPr>
          <p:spPr>
            <a:xfrm>
              <a:off x="10189845" y="286559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80" name="Rectangle 80"/>
            <p:cNvSpPr/>
            <p:nvPr/>
          </p:nvSpPr>
          <p:spPr>
            <a:xfrm>
              <a:off x="6248400" y="3142298"/>
              <a:ext cx="5410200" cy="9525"/>
            </a:xfrm>
            <a:prstGeom prst="rect">
              <a:avLst/>
            </a:prstGeom>
            <a:solidFill>
              <a:srgbClr val="D9DFEA"/>
            </a:solidFill>
            <a:ln>
              <a:noFill/>
            </a:ln>
          </p:spPr>
        </p:sp>
        <p:sp>
          <p:nvSpPr>
            <p:cNvPr id="81" name="Rectangle 81"/>
            <p:cNvSpPr/>
            <p:nvPr/>
          </p:nvSpPr>
          <p:spPr>
            <a:xfrm>
              <a:off x="6248400" y="3147060"/>
              <a:ext cx="5410200" cy="405765"/>
            </a:xfrm>
            <a:prstGeom prst="rect">
              <a:avLst/>
            </a:prstGeom>
            <a:solidFill>
              <a:srgbClr val="F4F6FB"/>
            </a:solidFill>
            <a:ln>
              <a:noFill/>
            </a:ln>
          </p:spPr>
        </p:sp>
        <p:sp>
          <p:nvSpPr>
            <p:cNvPr id="82" name="TextBox 82"/>
            <p:cNvSpPr txBox="1"/>
            <p:nvPr/>
          </p:nvSpPr>
          <p:spPr>
            <a:xfrm>
              <a:off x="6348412" y="327136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16</a:t>
              </a:r>
            </a:p>
          </p:txBody>
        </p:sp>
        <p:sp>
          <p:nvSpPr>
            <p:cNvPr id="83" name="TextBox 83"/>
            <p:cNvSpPr txBox="1"/>
            <p:nvPr/>
          </p:nvSpPr>
          <p:spPr>
            <a:xfrm>
              <a:off x="6835140" y="327136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(1,1)</a:t>
              </a:r>
            </a:p>
          </p:txBody>
        </p:sp>
        <p:sp>
          <p:nvSpPr>
            <p:cNvPr id="84" name="TextBox 84"/>
            <p:cNvSpPr txBox="1"/>
            <p:nvPr/>
          </p:nvSpPr>
          <p:spPr>
            <a:xfrm>
              <a:off x="7700962" y="3271361"/>
              <a:ext cx="13457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0.6+0.3−0.5 = 0.4</a:t>
              </a:r>
            </a:p>
          </p:txBody>
        </p:sp>
        <p:sp>
          <p:nvSpPr>
            <p:cNvPr id="85" name="Rectangle 85"/>
            <p:cNvSpPr/>
            <p:nvPr/>
          </p:nvSpPr>
          <p:spPr>
            <a:xfrm>
              <a:off x="9233535" y="3156585"/>
              <a:ext cx="846772" cy="386715"/>
            </a:xfrm>
            <a:prstGeom prst="rect">
              <a:avLst/>
            </a:prstGeom>
            <a:solidFill>
              <a:srgbClr val="E3F5F1"/>
            </a:solidFill>
            <a:ln>
              <a:noFill/>
            </a:ln>
          </p:spPr>
        </p:sp>
        <p:sp>
          <p:nvSpPr>
            <p:cNvPr id="86" name="TextBox 86"/>
            <p:cNvSpPr txBox="1"/>
            <p:nvPr/>
          </p:nvSpPr>
          <p:spPr>
            <a:xfrm>
              <a:off x="9324022" y="327136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87" name="TextBox 87"/>
            <p:cNvSpPr txBox="1"/>
            <p:nvPr/>
          </p:nvSpPr>
          <p:spPr>
            <a:xfrm>
              <a:off x="10189845" y="327136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88" name="Rectangle 88"/>
            <p:cNvSpPr/>
            <p:nvPr/>
          </p:nvSpPr>
          <p:spPr>
            <a:xfrm>
              <a:off x="6248400" y="1524000"/>
              <a:ext cx="5410200" cy="2028825"/>
            </a:xfrm>
            <a:prstGeom prst="rect">
              <a:avLst/>
            </a:prstGeom>
            <a:noFill/>
            <a:ln w="14288">
              <a:solidFill>
                <a:srgbClr val="D9DFEA"/>
              </a:solidFill>
            </a:ln>
          </p:spPr>
        </p:sp>
        <p:sp>
          <p:nvSpPr>
            <p:cNvPr id="89" name="Rectangle 89"/>
            <p:cNvSpPr/>
            <p:nvPr/>
          </p:nvSpPr>
          <p:spPr>
            <a:xfrm>
              <a:off x="6730365" y="1524000"/>
              <a:ext cx="9525" cy="2028825"/>
            </a:xfrm>
            <a:prstGeom prst="rect">
              <a:avLst/>
            </a:prstGeom>
            <a:solidFill>
              <a:srgbClr val="D9DFEA"/>
            </a:solidFill>
            <a:ln>
              <a:noFill/>
            </a:ln>
          </p:spPr>
        </p:sp>
        <p:sp>
          <p:nvSpPr>
            <p:cNvPr id="90" name="Rectangle 90"/>
            <p:cNvSpPr/>
            <p:nvPr/>
          </p:nvSpPr>
          <p:spPr>
            <a:xfrm>
              <a:off x="7596188" y="1524000"/>
              <a:ext cx="9525" cy="2028825"/>
            </a:xfrm>
            <a:prstGeom prst="rect">
              <a:avLst/>
            </a:prstGeom>
            <a:solidFill>
              <a:srgbClr val="D9DFEA"/>
            </a:solidFill>
            <a:ln>
              <a:noFill/>
            </a:ln>
          </p:spPr>
        </p:sp>
        <p:sp>
          <p:nvSpPr>
            <p:cNvPr id="91" name="Rectangle 91"/>
            <p:cNvSpPr/>
            <p:nvPr/>
          </p:nvSpPr>
          <p:spPr>
            <a:xfrm>
              <a:off x="9219248" y="1524000"/>
              <a:ext cx="9525" cy="2028825"/>
            </a:xfrm>
            <a:prstGeom prst="rect">
              <a:avLst/>
            </a:prstGeom>
            <a:solidFill>
              <a:srgbClr val="D9DFEA"/>
            </a:solidFill>
            <a:ln>
              <a:noFill/>
            </a:ln>
          </p:spPr>
        </p:sp>
        <p:sp>
          <p:nvSpPr>
            <p:cNvPr id="92" name="Rectangle 92"/>
            <p:cNvSpPr/>
            <p:nvPr/>
          </p:nvSpPr>
          <p:spPr>
            <a:xfrm>
              <a:off x="10085070" y="1524000"/>
              <a:ext cx="9525" cy="2028825"/>
            </a:xfrm>
            <a:prstGeom prst="rect">
              <a:avLst/>
            </a:prstGeom>
            <a:solidFill>
              <a:srgbClr val="D9DFEA"/>
            </a:solidFill>
            <a:ln>
              <a:noFill/>
            </a:ln>
          </p:spPr>
        </p:sp>
        <p:sp>
          <p:nvSpPr>
            <p:cNvPr id="93" name="TextBox 93"/>
            <p:cNvSpPr txBox="1"/>
            <p:nvPr/>
          </p:nvSpPr>
          <p:spPr>
            <a:xfrm>
              <a:off x="6243066" y="3627120"/>
              <a:ext cx="130403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第 4 轮（无一出错）</a:t>
              </a:r>
            </a:p>
          </p:txBody>
        </p:sp>
      </p:grpSp>
      <p:grpSp>
        <p:nvGrpSpPr>
          <p:cNvPr id="101" name="c2-card-2"/>
          <p:cNvGrpSpPr/>
          <p:nvPr/>
        </p:nvGrpSpPr>
        <p:grpSpPr>
          <a:xfrm>
            <a:off x="6248400" y="3966210"/>
            <a:ext cx="5410200" cy="1483995"/>
            <a:chOff x="6248400" y="3966210"/>
            <a:chExt cx="5410200" cy="1483995"/>
          </a:xfrm>
        </p:grpSpPr>
        <p:sp>
          <p:nvSpPr>
            <p:cNvPr id="95" name="Rectangle 95"/>
            <p:cNvSpPr/>
            <p:nvPr/>
          </p:nvSpPr>
          <p:spPr>
            <a:xfrm>
              <a:off x="6248400" y="3966210"/>
              <a:ext cx="5410200" cy="1483995"/>
            </a:xfrm>
            <a:prstGeom prst="roundRect">
              <a:avLst>
                <a:gd name="adj" fmla="val 8986"/>
              </a:avLst>
            </a:prstGeom>
            <a:solidFill>
              <a:srgbClr val="FFFFFF"/>
            </a:solidFill>
            <a:ln w="14288">
              <a:solidFill>
                <a:srgbClr val="D9DFEA"/>
              </a:solidFill>
            </a:ln>
          </p:spPr>
        </p:sp>
        <p:sp>
          <p:nvSpPr>
            <p:cNvPr id="96" name="Rectangle 96"/>
            <p:cNvSpPr/>
            <p:nvPr/>
          </p:nvSpPr>
          <p:spPr>
            <a:xfrm>
              <a:off x="6257925" y="4099560"/>
              <a:ext cx="47625" cy="1217295"/>
            </a:xfrm>
            <a:prstGeom prst="roundRect">
              <a:avLst>
                <a:gd name="adj" fmla="val 50000"/>
              </a:avLst>
            </a:prstGeom>
            <a:solidFill>
              <a:srgbClr val="B42318"/>
            </a:solidFill>
            <a:ln>
              <a:noFill/>
            </a:ln>
          </p:spPr>
        </p:sp>
        <p:sp>
          <p:nvSpPr>
            <p:cNvPr id="97" name="Rectangle 97"/>
            <p:cNvSpPr/>
            <p:nvPr/>
          </p:nvSpPr>
          <p:spPr>
            <a:xfrm>
              <a:off x="6478905" y="4158615"/>
              <a:ext cx="476250" cy="247650"/>
            </a:xfrm>
            <a:prstGeom prst="roundRect">
              <a:avLst>
                <a:gd name="adj" fmla="val 50000"/>
              </a:avLst>
            </a:prstGeom>
            <a:solidFill>
              <a:srgbClr val="FDECEA"/>
            </a:solidFill>
            <a:ln>
              <a:noFill/>
            </a:ln>
          </p:spPr>
        </p:sp>
        <p:sp>
          <p:nvSpPr>
            <p:cNvPr id="98" name="TextBox 98"/>
            <p:cNvSpPr txBox="1"/>
            <p:nvPr/>
          </p:nvSpPr>
          <p:spPr>
            <a:xfrm>
              <a:off x="6570345" y="4192905"/>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更正</a:t>
              </a:r>
            </a:p>
          </p:txBody>
        </p:sp>
        <p:sp>
          <p:nvSpPr>
            <p:cNvPr id="99" name="TextBox 99"/>
            <p:cNvSpPr txBox="1"/>
            <p:nvPr/>
          </p:nvSpPr>
          <p:spPr>
            <a:xfrm>
              <a:off x="7062597" y="4198620"/>
              <a:ext cx="16239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这里的 O 不是 sign</a:t>
              </a:r>
            </a:p>
          </p:txBody>
        </p:sp>
        <p:sp>
          <p:nvSpPr>
            <p:cNvPr id="100" name="TextBox 100"/>
            <p:cNvSpPr txBox="1"/>
            <p:nvPr/>
          </p:nvSpPr>
          <p:spPr>
            <a:xfrm>
              <a:off x="6472047" y="4532948"/>
              <a:ext cx="4732877"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源课件写 O = sign(v)，但全程 O 只取 0 和 1，用的其实是 </a:t>
              </a:r>
              <a:r>
                <a:rPr lang="zh-CN" sz="1350" b="1" dirty="0">
                  <a:solidFill>
                    <a:srgbClr val="C2410C"/>
                  </a:solidFill>
                  <a:latin typeface="+mn-lt"/>
                  <a:ea typeface="+mn-ea"/>
                  <a:cs typeface="+mn-cs"/>
                </a:rPr>
                <a:t>阶</a:t>
              </a:r>
              <a:br/>
              <a:r>
                <a:rPr lang="zh-CN" sz="1350" b="1" dirty="0">
                  <a:solidFill>
                    <a:srgbClr val="C2410C"/>
                  </a:solidFill>
                  <a:latin typeface="+mn-lt"/>
                  <a:ea typeface="+mn-ea"/>
                  <a:cs typeface="+mn-cs"/>
                </a:rPr>
                <a:t>跃函数 step</a:t>
              </a:r>
              <a:r>
                <a:rPr lang="zh-CN" sz="1350" dirty="0">
                  <a:solidFill>
                    <a:srgbClr val="1F2937"/>
                  </a:solidFill>
                  <a:latin typeface="+mn-lt"/>
                  <a:ea typeface="+mn-ea"/>
                  <a:cs typeface="+mn-cs"/>
                </a:rPr>
                <a:t>；sign 的取值是 ±1。判别边界相同，但 Err 的数</a:t>
              </a:r>
              <a:br/>
              <a:r>
                <a:rPr lang="zh-CN" sz="1350" dirty="0">
                  <a:solidFill>
                    <a:srgbClr val="1F2937"/>
                  </a:solidFill>
                  <a:latin typeface="+mn-lt"/>
                  <a:ea typeface="+mn-ea"/>
                  <a:cs typeface="+mn-cs"/>
                </a:rPr>
                <a:t>值会差一倍。</a:t>
              </a:r>
            </a:p>
          </p:txBody>
        </p:sp>
      </p:grpSp>
      <p:grpSp>
        <p:nvGrpSpPr>
          <p:cNvPr id="108" name="takeaway"/>
          <p:cNvGrpSpPr/>
          <p:nvPr/>
        </p:nvGrpSpPr>
        <p:grpSpPr>
          <a:xfrm>
            <a:off x="533400" y="5874068"/>
            <a:ext cx="11125200" cy="488632"/>
            <a:chOff x="533400" y="5874068"/>
            <a:chExt cx="11125200" cy="488632"/>
          </a:xfrm>
        </p:grpSpPr>
        <p:sp>
          <p:nvSpPr>
            <p:cNvPr id="102" name="Rectangle 102"/>
            <p:cNvSpPr/>
            <p:nvPr/>
          </p:nvSpPr>
          <p:spPr>
            <a:xfrm>
              <a:off x="533400" y="5874068"/>
              <a:ext cx="11125200" cy="488632"/>
            </a:xfrm>
            <a:prstGeom prst="roundRect">
              <a:avLst>
                <a:gd name="adj" fmla="val 23392"/>
              </a:avLst>
            </a:prstGeom>
            <a:solidFill>
              <a:srgbClr val="FDEEE7"/>
            </a:solidFill>
            <a:ln>
              <a:noFill/>
            </a:ln>
          </p:spPr>
        </p:sp>
        <p:grpSp>
          <p:nvGrpSpPr>
            <p:cNvPr id="106" name="Group 106"/>
            <p:cNvGrpSpPr/>
            <p:nvPr/>
          </p:nvGrpSpPr>
          <p:grpSpPr>
            <a:xfrm>
              <a:off x="738188" y="6017895"/>
              <a:ext cx="200026" cy="200025"/>
              <a:chOff x="738188" y="6017895"/>
              <a:chExt cx="200026" cy="200025"/>
            </a:xfrm>
          </p:grpSpPr>
          <p:sp>
            <p:nvSpPr>
              <p:cNvPr id="103" name="Freeform 103"/>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04" name="Freeform 104"/>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05" name="Freeform 105"/>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07" name="TextBox 107"/>
            <p:cNvSpPr txBox="1"/>
            <p:nvPr/>
          </p:nvSpPr>
          <p:spPr>
            <a:xfrm>
              <a:off x="1040892" y="6023610"/>
              <a:ext cx="8473573"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全程 16 步、5 次更新。连续一整轮没有误分类点就是感知器的停机条件，实现时用一个计数器判断即可。</a:t>
              </a:r>
            </a:p>
          </p:txBody>
        </p:sp>
      </p:grpSp>
      <p:grpSp>
        <p:nvGrpSpPr>
          <p:cNvPr id="111" name="footer"/>
          <p:cNvGrpSpPr/>
          <p:nvPr/>
        </p:nvGrpSpPr>
        <p:grpSpPr>
          <a:xfrm>
            <a:off x="528447" y="6581299"/>
            <a:ext cx="11135106" cy="190690"/>
            <a:chOff x="528447" y="6581299"/>
            <a:chExt cx="11135106" cy="190690"/>
          </a:xfrm>
        </p:grpSpPr>
        <p:sp>
          <p:nvSpPr>
            <p:cNvPr id="109" name="TextBox 10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10" name="TextBox 11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例题收尾：判别直线的几何含义</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5193982" cy="1844040"/>
            <a:chOff x="533400" y="1524000"/>
            <a:chExt cx="5193982" cy="1844040"/>
          </a:xfrm>
        </p:grpSpPr>
        <p:sp>
          <p:nvSpPr>
            <p:cNvPr id="7" name="Rectangle 7"/>
            <p:cNvSpPr/>
            <p:nvPr/>
          </p:nvSpPr>
          <p:spPr>
            <a:xfrm>
              <a:off x="533400" y="1524000"/>
              <a:ext cx="5193982" cy="1844040"/>
            </a:xfrm>
            <a:prstGeom prst="roundRect">
              <a:avLst>
                <a:gd name="adj" fmla="val 7231"/>
              </a:avLst>
            </a:prstGeom>
            <a:solidFill>
              <a:srgbClr val="FFFFFF"/>
            </a:solidFill>
            <a:ln w="14288">
              <a:solidFill>
                <a:srgbClr val="D9DFEA"/>
              </a:solidFill>
            </a:ln>
          </p:spPr>
        </p:sp>
        <p:sp>
          <p:nvSpPr>
            <p:cNvPr id="8" name="Rectangle 8"/>
            <p:cNvSpPr/>
            <p:nvPr/>
          </p:nvSpPr>
          <p:spPr>
            <a:xfrm>
              <a:off x="542925" y="1657350"/>
              <a:ext cx="47625" cy="1577340"/>
            </a:xfrm>
            <a:prstGeom prst="roundRect">
              <a:avLst>
                <a:gd name="adj" fmla="val 50000"/>
              </a:avLst>
            </a:prstGeom>
            <a:solidFill>
              <a:srgbClr val="14A38B"/>
            </a:solidFill>
            <a:ln>
              <a:noFill/>
            </a:ln>
          </p:spPr>
        </p:sp>
        <p:sp>
          <p:nvSpPr>
            <p:cNvPr id="9" name="Rectangle 9"/>
            <p:cNvSpPr/>
            <p:nvPr/>
          </p:nvSpPr>
          <p:spPr>
            <a:xfrm>
              <a:off x="775335" y="1727835"/>
              <a:ext cx="636270" cy="257175"/>
            </a:xfrm>
            <a:prstGeom prst="roundRect">
              <a:avLst>
                <a:gd name="adj" fmla="val 50000"/>
              </a:avLst>
            </a:prstGeom>
            <a:solidFill>
              <a:srgbClr val="E3F5F1"/>
            </a:solidFill>
            <a:ln>
              <a:noFill/>
            </a:ln>
          </p:spPr>
        </p:sp>
        <p:sp>
          <p:nvSpPr>
            <p:cNvPr id="10" name="TextBox 10"/>
            <p:cNvSpPr txBox="1"/>
            <p:nvPr/>
          </p:nvSpPr>
          <p:spPr>
            <a:xfrm>
              <a:off x="861593" y="1763554"/>
              <a:ext cx="463753"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求截距</a:t>
              </a:r>
            </a:p>
          </p:txBody>
        </p:sp>
        <p:sp>
          <p:nvSpPr>
            <p:cNvPr id="11" name="TextBox 11"/>
            <p:cNvSpPr txBox="1"/>
            <p:nvPr/>
          </p:nvSpPr>
          <p:spPr>
            <a:xfrm>
              <a:off x="1518666" y="1767364"/>
              <a:ext cx="247423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直线 0.6x + 0.3y − 0.5 = 0</a:t>
              </a:r>
            </a:p>
          </p:txBody>
        </p:sp>
        <p:sp>
          <p:nvSpPr>
            <p:cNvPr id="12" name="Ellipse 12"/>
            <p:cNvSpPr/>
            <p:nvPr/>
          </p:nvSpPr>
          <p:spPr>
            <a:xfrm>
              <a:off x="775335" y="2106930"/>
              <a:ext cx="201930" cy="201930"/>
            </a:xfrm>
            <a:prstGeom prst="ellipse">
              <a:avLst/>
            </a:prstGeom>
            <a:solidFill>
              <a:srgbClr val="0E7C86"/>
            </a:solidFill>
            <a:ln>
              <a:noFill/>
            </a:ln>
          </p:spPr>
        </p:sp>
        <p:sp>
          <p:nvSpPr>
            <p:cNvPr id="13" name="TextBox 13"/>
            <p:cNvSpPr txBox="1"/>
            <p:nvPr/>
          </p:nvSpPr>
          <p:spPr>
            <a:xfrm>
              <a:off x="8336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4" name="TextBox 14"/>
            <p:cNvSpPr txBox="1"/>
            <p:nvPr/>
          </p:nvSpPr>
          <p:spPr>
            <a:xfrm>
              <a:off x="1066228" y="2119789"/>
              <a:ext cx="285942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令 y = 0，得 x = 0.5 / 0.6 = </a:t>
              </a:r>
              <a:r>
                <a:rPr lang="zh-CN" sz="1420" b="1" dirty="0">
                  <a:solidFill>
                    <a:srgbClr val="1F2937"/>
                  </a:solidFill>
                  <a:latin typeface="+mn-lt"/>
                  <a:ea typeface="+mn-ea"/>
                  <a:cs typeface="+mn-cs"/>
                </a:rPr>
                <a:t>5/6</a:t>
              </a:r>
            </a:p>
          </p:txBody>
        </p:sp>
        <p:sp>
          <p:nvSpPr>
            <p:cNvPr id="15" name="Ellipse 15"/>
            <p:cNvSpPr/>
            <p:nvPr/>
          </p:nvSpPr>
          <p:spPr>
            <a:xfrm>
              <a:off x="775335" y="2426970"/>
              <a:ext cx="201930" cy="201930"/>
            </a:xfrm>
            <a:prstGeom prst="ellipse">
              <a:avLst/>
            </a:prstGeom>
            <a:solidFill>
              <a:srgbClr val="0E7C86"/>
            </a:solidFill>
            <a:ln>
              <a:noFill/>
            </a:ln>
          </p:spPr>
        </p:sp>
        <p:sp>
          <p:nvSpPr>
            <p:cNvPr id="16" name="TextBox 16"/>
            <p:cNvSpPr txBox="1"/>
            <p:nvPr/>
          </p:nvSpPr>
          <p:spPr>
            <a:xfrm>
              <a:off x="833680" y="246730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7" name="TextBox 17"/>
            <p:cNvSpPr txBox="1"/>
            <p:nvPr/>
          </p:nvSpPr>
          <p:spPr>
            <a:xfrm>
              <a:off x="1066228" y="2439829"/>
              <a:ext cx="285942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令 x = 0，得 y = 0.5 / 0.3 = </a:t>
              </a:r>
              <a:r>
                <a:rPr lang="zh-CN" sz="1420" b="1" dirty="0">
                  <a:solidFill>
                    <a:srgbClr val="1F2937"/>
                  </a:solidFill>
                  <a:latin typeface="+mn-lt"/>
                  <a:ea typeface="+mn-ea"/>
                  <a:cs typeface="+mn-cs"/>
                </a:rPr>
                <a:t>5/3</a:t>
              </a:r>
            </a:p>
          </p:txBody>
        </p:sp>
        <p:sp>
          <p:nvSpPr>
            <p:cNvPr id="18" name="TextBox 18"/>
            <p:cNvSpPr txBox="1"/>
            <p:nvPr/>
          </p:nvSpPr>
          <p:spPr>
            <a:xfrm>
              <a:off x="769239" y="2755582"/>
              <a:ext cx="441655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直线与 x 轴交于 5/6 ≈ 0.83，正好落在 0 与 1 之间；与 y 轴交于</a:t>
              </a:r>
              <a:br/>
              <a:r>
                <a:rPr lang="zh-CN" sz="1200" dirty="0">
                  <a:solidFill>
                    <a:srgbClr val="5B6475"/>
                  </a:solidFill>
                  <a:latin typeface="+mn-lt"/>
                  <a:ea typeface="+mn-ea"/>
                  <a:cs typeface="+mn-cs"/>
                </a:rPr>
                <a:t>5/3 ≈ 1.67，落在 1 以上。</a:t>
              </a:r>
            </a:p>
          </p:txBody>
        </p:sp>
      </p:grpSp>
      <p:grpSp>
        <p:nvGrpSpPr>
          <p:cNvPr id="26" name="c1-card-2"/>
          <p:cNvGrpSpPr/>
          <p:nvPr/>
        </p:nvGrpSpPr>
        <p:grpSpPr>
          <a:xfrm>
            <a:off x="533400" y="3553778"/>
            <a:ext cx="5193982" cy="2066925"/>
            <a:chOff x="533400" y="3553778"/>
            <a:chExt cx="5193982" cy="2066925"/>
          </a:xfrm>
        </p:grpSpPr>
        <p:sp>
          <p:nvSpPr>
            <p:cNvPr id="20" name="Rectangle 20"/>
            <p:cNvSpPr/>
            <p:nvPr/>
          </p:nvSpPr>
          <p:spPr>
            <a:xfrm>
              <a:off x="533400" y="3553778"/>
              <a:ext cx="5193982" cy="2066925"/>
            </a:xfrm>
            <a:prstGeom prst="roundRect">
              <a:avLst>
                <a:gd name="adj" fmla="val 6452"/>
              </a:avLst>
            </a:prstGeom>
            <a:solidFill>
              <a:srgbClr val="0E7C86"/>
            </a:solidFill>
            <a:ln>
              <a:noFill/>
            </a:ln>
          </p:spPr>
        </p:sp>
        <p:sp>
          <p:nvSpPr>
            <p:cNvPr id="21" name="Rectangle 21"/>
            <p:cNvSpPr/>
            <p:nvPr/>
          </p:nvSpPr>
          <p:spPr>
            <a:xfrm>
              <a:off x="737235" y="3757612"/>
              <a:ext cx="1489710" cy="257175"/>
            </a:xfrm>
            <a:prstGeom prst="roundRect">
              <a:avLst>
                <a:gd name="adj" fmla="val 50000"/>
              </a:avLst>
            </a:prstGeom>
            <a:solidFill>
              <a:srgbClr val="0B5F67"/>
            </a:solidFill>
            <a:ln>
              <a:noFill/>
            </a:ln>
          </p:spPr>
        </p:sp>
        <p:sp>
          <p:nvSpPr>
            <p:cNvPr id="22" name="TextBox 22"/>
            <p:cNvSpPr txBox="1"/>
            <p:nvPr/>
          </p:nvSpPr>
          <p:spPr>
            <a:xfrm>
              <a:off x="797890" y="3793331"/>
              <a:ext cx="13684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为什么这样就分对了</a:t>
              </a:r>
            </a:p>
          </p:txBody>
        </p:sp>
        <p:sp>
          <p:nvSpPr>
            <p:cNvPr id="23" name="TextBox 23"/>
            <p:cNvSpPr txBox="1"/>
            <p:nvPr/>
          </p:nvSpPr>
          <p:spPr>
            <a:xfrm>
              <a:off x="2334006" y="3797141"/>
              <a:ext cx="173492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两个正样本都在右侧</a:t>
              </a:r>
            </a:p>
          </p:txBody>
        </p:sp>
        <p:sp>
          <p:nvSpPr>
            <p:cNvPr id="24" name="TextBox 24"/>
            <p:cNvSpPr txBox="1"/>
            <p:nvPr/>
          </p:nvSpPr>
          <p:spPr>
            <a:xfrm>
              <a:off x="729996" y="4148614"/>
              <a:ext cx="4441825"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目标函数其实是 y = x：只要第一个分量为 1 就输出 1。</a:t>
              </a:r>
              <a:br/>
              <a:r>
                <a:rPr lang="zh-CN" sz="1420" dirty="0">
                  <a:solidFill>
                    <a:srgbClr val="FFFFFF"/>
                  </a:solidFill>
                  <a:latin typeface="+mn-lt"/>
                  <a:ea typeface="+mn-ea"/>
                  <a:cs typeface="+mn-cs"/>
                </a:rPr>
                <a:t>学到的直线把 (1,0)、(1,1) 留在右上侧，把 (0,0)、</a:t>
              </a:r>
              <a:br/>
              <a:r>
                <a:rPr lang="zh-CN" sz="1420" dirty="0">
                  <a:solidFill>
                    <a:srgbClr val="FFFFFF"/>
                  </a:solidFill>
                  <a:latin typeface="+mn-lt"/>
                  <a:ea typeface="+mn-ea"/>
                  <a:cs typeface="+mn-cs"/>
                </a:rPr>
                <a:t>(0,1) 留在左下侧。</a:t>
              </a:r>
            </a:p>
          </p:txBody>
        </p:sp>
        <p:sp>
          <p:nvSpPr>
            <p:cNvPr id="25" name="TextBox 25"/>
            <p:cNvSpPr txBox="1"/>
            <p:nvPr/>
          </p:nvSpPr>
          <p:spPr>
            <a:xfrm>
              <a:off x="731139" y="5008245"/>
              <a:ext cx="45841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满足条件的直线有无穷多条，感知器只保证找到其中一条，找到哪条</a:t>
              </a:r>
              <a:br/>
              <a:r>
                <a:rPr lang="zh-CN" sz="1200" dirty="0">
                  <a:solidFill>
                    <a:srgbClr val="FFFFFF"/>
                  </a:solidFill>
                  <a:latin typeface="+mn-lt"/>
                  <a:ea typeface="+mn-ea"/>
                  <a:cs typeface="+mn-cs"/>
                </a:rPr>
                <a:t>取决于初值和样本顺序。</a:t>
              </a:r>
            </a:p>
          </p:txBody>
        </p:sp>
      </p:grpSp>
      <p:grpSp>
        <p:nvGrpSpPr>
          <p:cNvPr id="44" name="c2-graph-1"/>
          <p:cNvGrpSpPr/>
          <p:nvPr/>
        </p:nvGrpSpPr>
        <p:grpSpPr>
          <a:xfrm>
            <a:off x="6496727" y="1549241"/>
            <a:ext cx="5034513" cy="3502533"/>
            <a:chOff x="6496727" y="1549241"/>
            <a:chExt cx="5034513" cy="3502533"/>
          </a:xfrm>
        </p:grpSpPr>
        <p:sp>
          <p:nvSpPr>
            <p:cNvPr id="27" name="Freeform 27"/>
            <p:cNvSpPr/>
            <p:nvPr/>
          </p:nvSpPr>
          <p:spPr>
            <a:xfrm>
              <a:off x="6745605" y="4742498"/>
              <a:ext cx="4442460" cy="9525"/>
            </a:xfrm>
            <a:custGeom>
              <a:avLst/>
              <a:gdLst/>
              <a:ahLst/>
              <a:cxnLst/>
              <a:rect l="l" t="t" r="r" b="b"/>
              <a:pathLst>
                <a:path w="4442460" h="9525">
                  <a:moveTo>
                    <a:pt x="0" y="0"/>
                  </a:moveTo>
                  <a:lnTo>
                    <a:pt x="4442460" y="0"/>
                  </a:lnTo>
                </a:path>
              </a:pathLst>
            </a:custGeom>
            <a:noFill/>
            <a:ln w="17145">
              <a:solidFill>
                <a:srgbClr val="1F2937"/>
              </a:solidFill>
            </a:ln>
          </p:spPr>
        </p:sp>
        <p:sp>
          <p:nvSpPr>
            <p:cNvPr id="28" name="Freeform 28"/>
            <p:cNvSpPr/>
            <p:nvPr/>
          </p:nvSpPr>
          <p:spPr>
            <a:xfrm>
              <a:off x="11188065" y="469487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707505" y="1965960"/>
              <a:ext cx="9525" cy="2654618"/>
            </a:xfrm>
            <a:custGeom>
              <a:avLst/>
              <a:gdLst/>
              <a:ahLst/>
              <a:cxnLst/>
              <a:rect l="l" t="t" r="r" b="b"/>
              <a:pathLst>
                <a:path w="9525" h="2654618">
                  <a:moveTo>
                    <a:pt x="0" y="2654618"/>
                  </a:moveTo>
                  <a:lnTo>
                    <a:pt x="0" y="0"/>
                  </a:lnTo>
                </a:path>
              </a:pathLst>
            </a:custGeom>
            <a:noFill/>
            <a:ln w="17145">
              <a:solidFill>
                <a:srgbClr val="1F2937"/>
              </a:solidFill>
            </a:ln>
          </p:spPr>
        </p:sp>
        <p:sp>
          <p:nvSpPr>
            <p:cNvPr id="30" name="Freeform 30"/>
            <p:cNvSpPr/>
            <p:nvPr/>
          </p:nvSpPr>
          <p:spPr>
            <a:xfrm>
              <a:off x="6659880" y="187071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1" name="Freeform 31"/>
            <p:cNvSpPr/>
            <p:nvPr/>
          </p:nvSpPr>
          <p:spPr>
            <a:xfrm>
              <a:off x="7082790" y="1643062"/>
              <a:ext cx="2511742" cy="2905125"/>
            </a:xfrm>
            <a:custGeom>
              <a:avLst/>
              <a:gdLst/>
              <a:ahLst/>
              <a:cxnLst/>
              <a:rect l="l" t="t" r="r" b="b"/>
              <a:pathLst>
                <a:path w="2511742" h="2905125">
                  <a:moveTo>
                    <a:pt x="0" y="0"/>
                  </a:moveTo>
                  <a:lnTo>
                    <a:pt x="2511742" y="2905125"/>
                  </a:lnTo>
                </a:path>
              </a:pathLst>
            </a:custGeom>
            <a:noFill/>
            <a:ln w="17145">
              <a:solidFill>
                <a:srgbClr val="0E7C86"/>
              </a:solidFill>
            </a:ln>
          </p:spPr>
        </p:sp>
        <p:sp>
          <p:nvSpPr>
            <p:cNvPr id="32" name="Ellipse 32"/>
            <p:cNvSpPr/>
            <p:nvPr/>
          </p:nvSpPr>
          <p:spPr>
            <a:xfrm>
              <a:off x="7193280" y="4216718"/>
              <a:ext cx="152400" cy="152400"/>
            </a:xfrm>
            <a:prstGeom prst="ellipse">
              <a:avLst/>
            </a:prstGeom>
            <a:solidFill>
              <a:srgbClr val="D9DFEA"/>
            </a:solidFill>
            <a:ln>
              <a:noFill/>
            </a:ln>
          </p:spPr>
        </p:sp>
        <p:sp>
          <p:nvSpPr>
            <p:cNvPr id="33" name="Ellipse 33"/>
            <p:cNvSpPr/>
            <p:nvPr/>
          </p:nvSpPr>
          <p:spPr>
            <a:xfrm>
              <a:off x="7193280" y="2720340"/>
              <a:ext cx="152400" cy="152400"/>
            </a:xfrm>
            <a:prstGeom prst="ellipse">
              <a:avLst/>
            </a:prstGeom>
            <a:solidFill>
              <a:srgbClr val="D9DFEA"/>
            </a:solidFill>
            <a:ln>
              <a:noFill/>
            </a:ln>
          </p:spPr>
        </p:sp>
        <p:sp>
          <p:nvSpPr>
            <p:cNvPr id="34" name="Ellipse 34"/>
            <p:cNvSpPr/>
            <p:nvPr/>
          </p:nvSpPr>
          <p:spPr>
            <a:xfrm>
              <a:off x="9782175" y="4216718"/>
              <a:ext cx="152400" cy="152400"/>
            </a:xfrm>
            <a:prstGeom prst="ellipse">
              <a:avLst/>
            </a:prstGeom>
            <a:solidFill>
              <a:srgbClr val="0E7C86"/>
            </a:solidFill>
            <a:ln>
              <a:noFill/>
            </a:ln>
          </p:spPr>
        </p:sp>
        <p:sp>
          <p:nvSpPr>
            <p:cNvPr id="35" name="Ellipse 35"/>
            <p:cNvSpPr/>
            <p:nvPr/>
          </p:nvSpPr>
          <p:spPr>
            <a:xfrm>
              <a:off x="9782175" y="2720340"/>
              <a:ext cx="152400" cy="152400"/>
            </a:xfrm>
            <a:prstGeom prst="ellipse">
              <a:avLst/>
            </a:prstGeom>
            <a:solidFill>
              <a:srgbClr val="0E7C86"/>
            </a:solidFill>
            <a:ln>
              <a:noFill/>
            </a:ln>
          </p:spPr>
        </p:sp>
        <p:sp>
          <p:nvSpPr>
            <p:cNvPr id="36" name="TextBox 36"/>
            <p:cNvSpPr txBox="1"/>
            <p:nvPr/>
          </p:nvSpPr>
          <p:spPr>
            <a:xfrm>
              <a:off x="11448774" y="4861084"/>
              <a:ext cx="82466"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x</a:t>
              </a:r>
            </a:p>
          </p:txBody>
        </p:sp>
        <p:sp>
          <p:nvSpPr>
            <p:cNvPr id="37" name="TextBox 37"/>
            <p:cNvSpPr txBox="1"/>
            <p:nvPr/>
          </p:nvSpPr>
          <p:spPr>
            <a:xfrm>
              <a:off x="6496727" y="1549241"/>
              <a:ext cx="82466"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y</a:t>
              </a:r>
            </a:p>
          </p:txBody>
        </p:sp>
        <p:sp>
          <p:nvSpPr>
            <p:cNvPr id="38" name="TextBox 38"/>
            <p:cNvSpPr txBox="1"/>
            <p:nvPr/>
          </p:nvSpPr>
          <p:spPr>
            <a:xfrm>
              <a:off x="7220883" y="4570095"/>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(0,0) → 0</a:t>
              </a:r>
            </a:p>
          </p:txBody>
        </p:sp>
        <p:sp>
          <p:nvSpPr>
            <p:cNvPr id="39" name="TextBox 39"/>
            <p:cNvSpPr txBox="1"/>
            <p:nvPr/>
          </p:nvSpPr>
          <p:spPr>
            <a:xfrm>
              <a:off x="7220883" y="2399348"/>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(0,1) → 0</a:t>
              </a:r>
            </a:p>
          </p:txBody>
        </p:sp>
        <p:sp>
          <p:nvSpPr>
            <p:cNvPr id="40" name="TextBox 40"/>
            <p:cNvSpPr txBox="1"/>
            <p:nvPr/>
          </p:nvSpPr>
          <p:spPr>
            <a:xfrm>
              <a:off x="10146011" y="4570095"/>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(1,0) → 1</a:t>
              </a:r>
            </a:p>
          </p:txBody>
        </p:sp>
        <p:sp>
          <p:nvSpPr>
            <p:cNvPr id="41" name="TextBox 41"/>
            <p:cNvSpPr txBox="1"/>
            <p:nvPr/>
          </p:nvSpPr>
          <p:spPr>
            <a:xfrm>
              <a:off x="10146011" y="2399348"/>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(1,1) → 1</a:t>
              </a:r>
            </a:p>
          </p:txBody>
        </p:sp>
        <p:sp>
          <p:nvSpPr>
            <p:cNvPr id="42" name="TextBox 42"/>
            <p:cNvSpPr txBox="1"/>
            <p:nvPr/>
          </p:nvSpPr>
          <p:spPr>
            <a:xfrm>
              <a:off x="9190730" y="4869180"/>
              <a:ext cx="209436"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5/6</a:t>
              </a:r>
            </a:p>
          </p:txBody>
        </p:sp>
        <p:sp>
          <p:nvSpPr>
            <p:cNvPr id="43" name="TextBox 43"/>
            <p:cNvSpPr txBox="1"/>
            <p:nvPr/>
          </p:nvSpPr>
          <p:spPr>
            <a:xfrm>
              <a:off x="6827577" y="1725930"/>
              <a:ext cx="209436"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5/3</a:t>
              </a:r>
            </a:p>
          </p:txBody>
        </p:sp>
      </p:grpSp>
      <p:grpSp>
        <p:nvGrpSpPr>
          <p:cNvPr id="51" name="takeaway"/>
          <p:cNvGrpSpPr/>
          <p:nvPr/>
        </p:nvGrpSpPr>
        <p:grpSpPr>
          <a:xfrm>
            <a:off x="533400" y="5844540"/>
            <a:ext cx="11125200" cy="518160"/>
            <a:chOff x="533400" y="5844540"/>
            <a:chExt cx="11125200" cy="518160"/>
          </a:xfrm>
        </p:grpSpPr>
        <p:sp>
          <p:nvSpPr>
            <p:cNvPr id="45" name="Rectangle 45"/>
            <p:cNvSpPr/>
            <p:nvPr/>
          </p:nvSpPr>
          <p:spPr>
            <a:xfrm>
              <a:off x="533400" y="5844540"/>
              <a:ext cx="11125200" cy="518160"/>
            </a:xfrm>
            <a:prstGeom prst="roundRect">
              <a:avLst>
                <a:gd name="adj" fmla="val 22059"/>
              </a:avLst>
            </a:prstGeom>
            <a:solidFill>
              <a:srgbClr val="F4F6FB"/>
            </a:solidFill>
            <a:ln>
              <a:noFill/>
            </a:ln>
          </p:spPr>
        </p:sp>
        <p:grpSp>
          <p:nvGrpSpPr>
            <p:cNvPr id="49" name="Group 49"/>
            <p:cNvGrpSpPr/>
            <p:nvPr/>
          </p:nvGrpSpPr>
          <p:grpSpPr>
            <a:xfrm>
              <a:off x="738188" y="6003608"/>
              <a:ext cx="200026" cy="200026"/>
              <a:chOff x="738188" y="6003608"/>
              <a:chExt cx="200026" cy="200026"/>
            </a:xfrm>
          </p:grpSpPr>
          <p:sp>
            <p:nvSpPr>
              <p:cNvPr id="46" name="Freeform 46"/>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7" name="Freeform 47"/>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8" name="Freeform 48"/>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0" name="TextBox 50"/>
            <p:cNvSpPr txBox="1"/>
            <p:nvPr/>
          </p:nvSpPr>
          <p:spPr>
            <a:xfrm>
              <a:off x="1040511" y="6004084"/>
              <a:ext cx="779470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图中横轴上 5/6 那个点就是直线与 x 轴的交点，它落在 0 和 1 之间是分类成功的直接标志。</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收敛性：线性可分才有保证</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1956435"/>
            <a:chOff x="533400" y="1524000"/>
            <a:chExt cx="5626418" cy="1956435"/>
          </a:xfrm>
        </p:grpSpPr>
        <p:sp>
          <p:nvSpPr>
            <p:cNvPr id="7" name="Rectangle 7"/>
            <p:cNvSpPr/>
            <p:nvPr/>
          </p:nvSpPr>
          <p:spPr>
            <a:xfrm>
              <a:off x="533400" y="1524000"/>
              <a:ext cx="5626418" cy="1956435"/>
            </a:xfrm>
            <a:prstGeom prst="roundRect">
              <a:avLst>
                <a:gd name="adj" fmla="val 6816"/>
              </a:avLst>
            </a:prstGeom>
            <a:solidFill>
              <a:srgbClr val="FFFFFF"/>
            </a:solidFill>
            <a:ln w="14288">
              <a:solidFill>
                <a:srgbClr val="D9DFEA"/>
              </a:solidFill>
            </a:ln>
          </p:spPr>
        </p:sp>
        <p:sp>
          <p:nvSpPr>
            <p:cNvPr id="8" name="Rectangle 8"/>
            <p:cNvSpPr/>
            <p:nvPr/>
          </p:nvSpPr>
          <p:spPr>
            <a:xfrm>
              <a:off x="542925" y="1657350"/>
              <a:ext cx="47625" cy="1689735"/>
            </a:xfrm>
            <a:prstGeom prst="roundRect">
              <a:avLst>
                <a:gd name="adj" fmla="val 50000"/>
              </a:avLst>
            </a:prstGeom>
            <a:solidFill>
              <a:srgbClr val="F26B3A"/>
            </a:solidFill>
            <a:ln>
              <a:noFill/>
            </a:ln>
          </p:spPr>
        </p:sp>
        <p:sp>
          <p:nvSpPr>
            <p:cNvPr id="9" name="Rectangle 9"/>
            <p:cNvSpPr/>
            <p:nvPr/>
          </p:nvSpPr>
          <p:spPr>
            <a:xfrm>
              <a:off x="781050" y="1733550"/>
              <a:ext cx="494348" cy="257175"/>
            </a:xfrm>
            <a:prstGeom prst="roundRect">
              <a:avLst>
                <a:gd name="adj" fmla="val 50000"/>
              </a:avLst>
            </a:prstGeom>
            <a:solidFill>
              <a:srgbClr val="FDEEE7"/>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定理</a:t>
              </a:r>
            </a:p>
          </p:txBody>
        </p:sp>
        <p:sp>
          <p:nvSpPr>
            <p:cNvPr id="11" name="TextBox 11"/>
            <p:cNvSpPr txBox="1"/>
            <p:nvPr/>
          </p:nvSpPr>
          <p:spPr>
            <a:xfrm>
              <a:off x="1382078" y="1768792"/>
              <a:ext cx="401568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感知器收敛定理（Minsky &amp; Papert 1969）</a:t>
              </a:r>
            </a:p>
          </p:txBody>
        </p:sp>
        <p:sp>
          <p:nvSpPr>
            <p:cNvPr id="12" name="TextBox 12"/>
            <p:cNvSpPr txBox="1"/>
            <p:nvPr/>
          </p:nvSpPr>
          <p:spPr>
            <a:xfrm>
              <a:off x="773430" y="2129790"/>
              <a:ext cx="4968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如果训练样例 </a:t>
              </a:r>
              <a:r>
                <a:rPr lang="zh-CN" sz="1500" b="1" dirty="0">
                  <a:solidFill>
                    <a:srgbClr val="C2410C"/>
                  </a:solidFill>
                  <a:latin typeface="+mn-lt"/>
                  <a:ea typeface="+mn-ea"/>
                  <a:cs typeface="+mn-cs"/>
                </a:rPr>
                <a:t>线性可分</a:t>
              </a:r>
              <a:r>
                <a:rPr lang="zh-CN" sz="1500" dirty="0">
                  <a:solidFill>
                    <a:srgbClr val="1F2937"/>
                  </a:solidFill>
                  <a:latin typeface="+mn-lt"/>
                  <a:ea typeface="+mn-ea"/>
                  <a:cs typeface="+mn-cs"/>
                </a:rPr>
                <a:t>，并且使用了充分小的学习率 η，</a:t>
              </a:r>
              <a:br/>
              <a:r>
                <a:rPr lang="zh-CN" sz="1500" dirty="0">
                  <a:solidFill>
                    <a:srgbClr val="1F2937"/>
                  </a:solidFill>
                  <a:latin typeface="+mn-lt"/>
                  <a:ea typeface="+mn-ea"/>
                  <a:cs typeface="+mn-cs"/>
                </a:rPr>
                <a:t>那么感知器学习规则经有限次更新后一定收敛到一个能把训</a:t>
              </a:r>
              <a:br/>
              <a:r>
                <a:rPr lang="zh-CN" sz="1500" dirty="0">
                  <a:solidFill>
                    <a:srgbClr val="1F2937"/>
                  </a:solidFill>
                  <a:latin typeface="+mn-lt"/>
                  <a:ea typeface="+mn-ea"/>
                  <a:cs typeface="+mn-cs"/>
                </a:rPr>
                <a:t>练集全部分对的权向量。</a:t>
              </a:r>
            </a:p>
          </p:txBody>
        </p:sp>
        <p:sp>
          <p:nvSpPr>
            <p:cNvPr id="13" name="TextBox 13"/>
            <p:cNvSpPr txBox="1"/>
            <p:nvPr/>
          </p:nvSpPr>
          <p:spPr>
            <a:xfrm>
              <a:off x="773430" y="3036570"/>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否则，不能保证。</a:t>
              </a:r>
            </a:p>
          </p:txBody>
        </p:sp>
      </p:grpSp>
      <p:grpSp>
        <p:nvGrpSpPr>
          <p:cNvPr id="21" name="c1-card-2"/>
          <p:cNvGrpSpPr/>
          <p:nvPr/>
        </p:nvGrpSpPr>
        <p:grpSpPr>
          <a:xfrm>
            <a:off x="533400" y="3670935"/>
            <a:ext cx="5626418" cy="1906905"/>
            <a:chOff x="533400" y="3670935"/>
            <a:chExt cx="5626418" cy="1906905"/>
          </a:xfrm>
        </p:grpSpPr>
        <p:sp>
          <p:nvSpPr>
            <p:cNvPr id="15" name="Rectangle 15"/>
            <p:cNvSpPr/>
            <p:nvPr/>
          </p:nvSpPr>
          <p:spPr>
            <a:xfrm>
              <a:off x="533400" y="3670935"/>
              <a:ext cx="5626418" cy="1906905"/>
            </a:xfrm>
            <a:prstGeom prst="roundRect">
              <a:avLst>
                <a:gd name="adj" fmla="val 6993"/>
              </a:avLst>
            </a:prstGeom>
            <a:solidFill>
              <a:srgbClr val="FFFFFF"/>
            </a:solidFill>
            <a:ln w="14288">
              <a:solidFill>
                <a:srgbClr val="D9DFEA"/>
              </a:solidFill>
            </a:ln>
          </p:spPr>
        </p:sp>
        <p:sp>
          <p:nvSpPr>
            <p:cNvPr id="16" name="Rectangle 16"/>
            <p:cNvSpPr/>
            <p:nvPr/>
          </p:nvSpPr>
          <p:spPr>
            <a:xfrm>
              <a:off x="542925" y="3804285"/>
              <a:ext cx="47625" cy="1640205"/>
            </a:xfrm>
            <a:prstGeom prst="roundRect">
              <a:avLst>
                <a:gd name="adj" fmla="val 50000"/>
              </a:avLst>
            </a:prstGeom>
            <a:solidFill>
              <a:srgbClr val="B42318"/>
            </a:solidFill>
            <a:ln>
              <a:noFill/>
            </a:ln>
          </p:spPr>
        </p:sp>
        <p:sp>
          <p:nvSpPr>
            <p:cNvPr id="17" name="Rectangle 17"/>
            <p:cNvSpPr/>
            <p:nvPr/>
          </p:nvSpPr>
          <p:spPr>
            <a:xfrm>
              <a:off x="781050" y="3880485"/>
              <a:ext cx="1204912" cy="257175"/>
            </a:xfrm>
            <a:prstGeom prst="roundRect">
              <a:avLst>
                <a:gd name="adj" fmla="val 50000"/>
              </a:avLst>
            </a:prstGeom>
            <a:solidFill>
              <a:srgbClr val="FDECEA"/>
            </a:solidFill>
            <a:ln>
              <a:noFill/>
            </a:ln>
          </p:spPr>
        </p:sp>
        <p:sp>
          <p:nvSpPr>
            <p:cNvPr id="18" name="TextBox 18"/>
            <p:cNvSpPr txBox="1"/>
            <p:nvPr/>
          </p:nvSpPr>
          <p:spPr>
            <a:xfrm>
              <a:off x="850557" y="3916204"/>
              <a:ext cx="1066851"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不可分时会怎样</a:t>
              </a:r>
            </a:p>
          </p:txBody>
        </p:sp>
        <p:sp>
          <p:nvSpPr>
            <p:cNvPr id="19" name="TextBox 19"/>
            <p:cNvSpPr txBox="1"/>
            <p:nvPr/>
          </p:nvSpPr>
          <p:spPr>
            <a:xfrm>
              <a:off x="2092642" y="3915728"/>
              <a:ext cx="223647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权值在几组值之间来回跳</a:t>
              </a:r>
            </a:p>
          </p:txBody>
        </p:sp>
        <p:sp>
          <p:nvSpPr>
            <p:cNvPr id="20" name="TextBox 20"/>
            <p:cNvSpPr txBox="1"/>
            <p:nvPr/>
          </p:nvSpPr>
          <p:spPr>
            <a:xfrm>
              <a:off x="773430" y="4276725"/>
              <a:ext cx="4968240"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每次更新都在迁就当前这个误分类点，却把另一些点弄错，</a:t>
              </a:r>
              <a:br/>
              <a:r>
                <a:rPr lang="zh-CN" sz="1500" dirty="0">
                  <a:solidFill>
                    <a:srgbClr val="1F2937"/>
                  </a:solidFill>
                  <a:latin typeface="+mn-lt"/>
                  <a:ea typeface="+mn-ea"/>
                  <a:cs typeface="+mn-cs"/>
                </a:rPr>
                <a:t>于是永远存在误分类点，循环不会退出。实用做法是设一个</a:t>
              </a:r>
              <a:br/>
              <a:r>
                <a:rPr lang="zh-CN" sz="1500" dirty="0">
                  <a:solidFill>
                    <a:srgbClr val="1F2937"/>
                  </a:solidFill>
                  <a:latin typeface="+mn-lt"/>
                  <a:ea typeface="+mn-ea"/>
                  <a:cs typeface="+mn-cs"/>
                </a:rPr>
                <a:t>最大迭代次数 max_iter，或者改用 Pocket 算法保留历史</a:t>
              </a:r>
              <a:br/>
              <a:r>
                <a:rPr lang="zh-CN" sz="1500" dirty="0">
                  <a:solidFill>
                    <a:srgbClr val="1F2937"/>
                  </a:solidFill>
                  <a:latin typeface="+mn-lt"/>
                  <a:ea typeface="+mn-ea"/>
                  <a:cs typeface="+mn-cs"/>
                </a:rPr>
                <a:t>上错得最少的那组权值。</a:t>
              </a:r>
            </a:p>
          </p:txBody>
        </p:sp>
      </p:grpSp>
      <p:grpSp>
        <p:nvGrpSpPr>
          <p:cNvPr id="48" name="c2-table-1"/>
          <p:cNvGrpSpPr/>
          <p:nvPr/>
        </p:nvGrpSpPr>
        <p:grpSpPr>
          <a:xfrm>
            <a:off x="6464618" y="1524000"/>
            <a:ext cx="5193982" cy="2924175"/>
            <a:chOff x="6464618" y="1524000"/>
            <a:chExt cx="5193982" cy="2924175"/>
          </a:xfrm>
        </p:grpSpPr>
        <p:sp>
          <p:nvSpPr>
            <p:cNvPr id="22" name="Rectangle 22"/>
            <p:cNvSpPr/>
            <p:nvPr/>
          </p:nvSpPr>
          <p:spPr>
            <a:xfrm>
              <a:off x="6464618" y="1524000"/>
              <a:ext cx="5193982" cy="448628"/>
            </a:xfrm>
            <a:prstGeom prst="rect">
              <a:avLst/>
            </a:prstGeom>
            <a:solidFill>
              <a:srgbClr val="0E7C86"/>
            </a:solidFill>
            <a:ln>
              <a:noFill/>
            </a:ln>
          </p:spPr>
        </p:sp>
        <p:sp>
          <p:nvSpPr>
            <p:cNvPr id="23" name="TextBox 23"/>
            <p:cNvSpPr txBox="1"/>
            <p:nvPr/>
          </p:nvSpPr>
          <p:spPr>
            <a:xfrm>
              <a:off x="690971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问题</a:t>
              </a:r>
            </a:p>
          </p:txBody>
        </p:sp>
        <p:sp>
          <p:nvSpPr>
            <p:cNvPr id="24" name="TextBox 24"/>
            <p:cNvSpPr txBox="1"/>
            <p:nvPr/>
          </p:nvSpPr>
          <p:spPr>
            <a:xfrm>
              <a:off x="7965605"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感知器</a:t>
              </a:r>
            </a:p>
          </p:txBody>
        </p:sp>
        <p:sp>
          <p:nvSpPr>
            <p:cNvPr id="25" name="TextBox 25"/>
            <p:cNvSpPr txBox="1"/>
            <p:nvPr/>
          </p:nvSpPr>
          <p:spPr>
            <a:xfrm>
              <a:off x="1002534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说明</a:t>
              </a:r>
            </a:p>
          </p:txBody>
        </p:sp>
        <p:sp>
          <p:nvSpPr>
            <p:cNvPr id="26" name="TextBox 26"/>
            <p:cNvSpPr txBox="1"/>
            <p:nvPr/>
          </p:nvSpPr>
          <p:spPr>
            <a:xfrm>
              <a:off x="6572441" y="222170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线性可分</a:t>
              </a:r>
            </a:p>
          </p:txBody>
        </p:sp>
        <p:sp>
          <p:nvSpPr>
            <p:cNvPr id="27" name="Rectangle 27"/>
            <p:cNvSpPr/>
            <p:nvPr/>
          </p:nvSpPr>
          <p:spPr>
            <a:xfrm>
              <a:off x="7720965" y="1982152"/>
              <a:ext cx="1020128" cy="656272"/>
            </a:xfrm>
            <a:prstGeom prst="rect">
              <a:avLst/>
            </a:prstGeom>
            <a:solidFill>
              <a:srgbClr val="E3F5F1"/>
            </a:solidFill>
            <a:ln>
              <a:noFill/>
            </a:ln>
          </p:spPr>
        </p:sp>
        <p:sp>
          <p:nvSpPr>
            <p:cNvPr id="28" name="TextBox 28"/>
            <p:cNvSpPr txBox="1"/>
            <p:nvPr/>
          </p:nvSpPr>
          <p:spPr>
            <a:xfrm>
              <a:off x="7819263" y="2108359"/>
              <a:ext cx="6631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有限步收</a:t>
              </a:r>
              <a:br/>
              <a:r>
                <a:rPr lang="zh-CN" sz="1280" dirty="0">
                  <a:solidFill>
                    <a:srgbClr val="1F2937"/>
                  </a:solidFill>
                  <a:latin typeface="+mn-lt"/>
                  <a:ea typeface="+mn-ea"/>
                  <a:cs typeface="+mn-cs"/>
                </a:rPr>
                <a:t>敛</a:t>
              </a:r>
            </a:p>
          </p:txBody>
        </p:sp>
        <p:sp>
          <p:nvSpPr>
            <p:cNvPr id="29" name="TextBox 29"/>
            <p:cNvSpPr txBox="1"/>
            <p:nvPr/>
          </p:nvSpPr>
          <p:spPr>
            <a:xfrm>
              <a:off x="8857488" y="2108359"/>
              <a:ext cx="24513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更新次数有上界，与数据的间隔有</a:t>
              </a:r>
              <a:br/>
              <a:r>
                <a:rPr lang="zh-CN" sz="1280" dirty="0">
                  <a:solidFill>
                    <a:srgbClr val="1F2937"/>
                  </a:solidFill>
                  <a:latin typeface="+mn-lt"/>
                  <a:ea typeface="+mn-ea"/>
                  <a:cs typeface="+mn-cs"/>
                </a:rPr>
                <a:t>关</a:t>
              </a:r>
            </a:p>
          </p:txBody>
        </p:sp>
        <p:sp>
          <p:nvSpPr>
            <p:cNvPr id="30" name="Rectangle 30"/>
            <p:cNvSpPr/>
            <p:nvPr/>
          </p:nvSpPr>
          <p:spPr>
            <a:xfrm>
              <a:off x="6464618" y="2643188"/>
              <a:ext cx="5193982" cy="9525"/>
            </a:xfrm>
            <a:prstGeom prst="rect">
              <a:avLst/>
            </a:prstGeom>
            <a:solidFill>
              <a:srgbClr val="D9DFEA"/>
            </a:solidFill>
            <a:ln>
              <a:noFill/>
            </a:ln>
          </p:spPr>
        </p:sp>
        <p:sp>
          <p:nvSpPr>
            <p:cNvPr id="31" name="Rectangle 31"/>
            <p:cNvSpPr/>
            <p:nvPr/>
          </p:nvSpPr>
          <p:spPr>
            <a:xfrm>
              <a:off x="6464618" y="2647950"/>
              <a:ext cx="5193982" cy="448628"/>
            </a:xfrm>
            <a:prstGeom prst="rect">
              <a:avLst/>
            </a:prstGeom>
            <a:solidFill>
              <a:srgbClr val="F4F6FB"/>
            </a:solidFill>
            <a:ln>
              <a:noFill/>
            </a:ln>
          </p:spPr>
        </p:sp>
        <p:sp>
          <p:nvSpPr>
            <p:cNvPr id="32" name="TextBox 32"/>
            <p:cNvSpPr txBox="1"/>
            <p:nvPr/>
          </p:nvSpPr>
          <p:spPr>
            <a:xfrm>
              <a:off x="6572441" y="278368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线性不可分</a:t>
              </a:r>
            </a:p>
          </p:txBody>
        </p:sp>
        <p:sp>
          <p:nvSpPr>
            <p:cNvPr id="33" name="Rectangle 33"/>
            <p:cNvSpPr/>
            <p:nvPr/>
          </p:nvSpPr>
          <p:spPr>
            <a:xfrm>
              <a:off x="7720965" y="2657475"/>
              <a:ext cx="1020128" cy="429578"/>
            </a:xfrm>
            <a:prstGeom prst="rect">
              <a:avLst/>
            </a:prstGeom>
            <a:solidFill>
              <a:srgbClr val="FDECEA"/>
            </a:solidFill>
            <a:ln>
              <a:noFill/>
            </a:ln>
          </p:spPr>
        </p:sp>
        <p:sp>
          <p:nvSpPr>
            <p:cNvPr id="34" name="TextBox 34"/>
            <p:cNvSpPr txBox="1"/>
            <p:nvPr/>
          </p:nvSpPr>
          <p:spPr>
            <a:xfrm>
              <a:off x="7819263" y="278368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不收敛</a:t>
              </a:r>
            </a:p>
          </p:txBody>
        </p:sp>
        <p:sp>
          <p:nvSpPr>
            <p:cNvPr id="35" name="TextBox 35"/>
            <p:cNvSpPr txBox="1"/>
            <p:nvPr/>
          </p:nvSpPr>
          <p:spPr>
            <a:xfrm>
              <a:off x="8857488" y="278368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权值持续振荡，需人为设停机条件</a:t>
              </a:r>
            </a:p>
          </p:txBody>
        </p:sp>
        <p:sp>
          <p:nvSpPr>
            <p:cNvPr id="36" name="Rectangle 36"/>
            <p:cNvSpPr/>
            <p:nvPr/>
          </p:nvSpPr>
          <p:spPr>
            <a:xfrm>
              <a:off x="6464618" y="3092768"/>
              <a:ext cx="5193982" cy="9525"/>
            </a:xfrm>
            <a:prstGeom prst="rect">
              <a:avLst/>
            </a:prstGeom>
            <a:solidFill>
              <a:srgbClr val="D9DFEA"/>
            </a:solidFill>
            <a:ln>
              <a:noFill/>
            </a:ln>
          </p:spPr>
        </p:sp>
        <p:sp>
          <p:nvSpPr>
            <p:cNvPr id="37" name="TextBox 37"/>
            <p:cNvSpPr txBox="1"/>
            <p:nvPr/>
          </p:nvSpPr>
          <p:spPr>
            <a:xfrm>
              <a:off x="6572441" y="3345656"/>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解是否唯一</a:t>
              </a:r>
            </a:p>
          </p:txBody>
        </p:sp>
        <p:sp>
          <p:nvSpPr>
            <p:cNvPr id="38" name="TextBox 38"/>
            <p:cNvSpPr txBox="1"/>
            <p:nvPr/>
          </p:nvSpPr>
          <p:spPr>
            <a:xfrm>
              <a:off x="7819263" y="334565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不唯一</a:t>
              </a:r>
            </a:p>
          </p:txBody>
        </p:sp>
        <p:sp>
          <p:nvSpPr>
            <p:cNvPr id="39" name="TextBox 39"/>
            <p:cNvSpPr txBox="1"/>
            <p:nvPr/>
          </p:nvSpPr>
          <p:spPr>
            <a:xfrm>
              <a:off x="8857488" y="3232309"/>
              <a:ext cx="24513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初值和样本顺序不同，得到的超平</a:t>
              </a:r>
              <a:br/>
              <a:r>
                <a:rPr lang="zh-CN" sz="1280" dirty="0">
                  <a:solidFill>
                    <a:srgbClr val="1F2937"/>
                  </a:solidFill>
                  <a:latin typeface="+mn-lt"/>
                  <a:ea typeface="+mn-ea"/>
                  <a:cs typeface="+mn-cs"/>
                </a:rPr>
                <a:t>面不同</a:t>
              </a:r>
            </a:p>
          </p:txBody>
        </p:sp>
        <p:sp>
          <p:nvSpPr>
            <p:cNvPr id="40" name="Rectangle 40"/>
            <p:cNvSpPr/>
            <p:nvPr/>
          </p:nvSpPr>
          <p:spPr>
            <a:xfrm>
              <a:off x="6464618" y="3768090"/>
              <a:ext cx="5193982" cy="9525"/>
            </a:xfrm>
            <a:prstGeom prst="rect">
              <a:avLst/>
            </a:prstGeom>
            <a:solidFill>
              <a:srgbClr val="D9DFEA"/>
            </a:solidFill>
            <a:ln>
              <a:noFill/>
            </a:ln>
          </p:spPr>
        </p:sp>
        <p:sp>
          <p:nvSpPr>
            <p:cNvPr id="41" name="Rectangle 41"/>
            <p:cNvSpPr/>
            <p:nvPr/>
          </p:nvSpPr>
          <p:spPr>
            <a:xfrm>
              <a:off x="6464618" y="3772852"/>
              <a:ext cx="5193982" cy="675322"/>
            </a:xfrm>
            <a:prstGeom prst="rect">
              <a:avLst/>
            </a:prstGeom>
            <a:solidFill>
              <a:srgbClr val="F4F6FB"/>
            </a:solidFill>
            <a:ln>
              <a:noFill/>
            </a:ln>
          </p:spPr>
        </p:sp>
        <p:sp>
          <p:nvSpPr>
            <p:cNvPr id="42" name="TextBox 42"/>
            <p:cNvSpPr txBox="1"/>
            <p:nvPr/>
          </p:nvSpPr>
          <p:spPr>
            <a:xfrm>
              <a:off x="6572441" y="402097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是否最优</a:t>
              </a:r>
            </a:p>
          </p:txBody>
        </p:sp>
        <p:sp>
          <p:nvSpPr>
            <p:cNvPr id="43" name="TextBox 43"/>
            <p:cNvSpPr txBox="1"/>
            <p:nvPr/>
          </p:nvSpPr>
          <p:spPr>
            <a:xfrm>
              <a:off x="7819263" y="402097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不保证</a:t>
              </a:r>
            </a:p>
          </p:txBody>
        </p:sp>
        <p:sp>
          <p:nvSpPr>
            <p:cNvPr id="44" name="TextBox 44"/>
            <p:cNvSpPr txBox="1"/>
            <p:nvPr/>
          </p:nvSpPr>
          <p:spPr>
            <a:xfrm>
              <a:off x="8857488" y="3907631"/>
              <a:ext cx="22887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只要分对就停，不追求间隔最大</a:t>
              </a:r>
              <a:br/>
              <a:r>
                <a:rPr lang="zh-CN" sz="1280" dirty="0">
                  <a:solidFill>
                    <a:srgbClr val="1F2937"/>
                  </a:solidFill>
                  <a:latin typeface="+mn-lt"/>
                  <a:ea typeface="+mn-ea"/>
                  <a:cs typeface="+mn-cs"/>
                </a:rPr>
                <a:t>（那是支持向量机做的事）</a:t>
              </a:r>
            </a:p>
          </p:txBody>
        </p:sp>
        <p:sp>
          <p:nvSpPr>
            <p:cNvPr id="45" name="Rectangle 45"/>
            <p:cNvSpPr/>
            <p:nvPr/>
          </p:nvSpPr>
          <p:spPr>
            <a:xfrm>
              <a:off x="6464618" y="1524000"/>
              <a:ext cx="5193982" cy="2924175"/>
            </a:xfrm>
            <a:prstGeom prst="rect">
              <a:avLst/>
            </a:prstGeom>
            <a:noFill/>
            <a:ln w="14288">
              <a:solidFill>
                <a:srgbClr val="D9DFEA"/>
              </a:solidFill>
            </a:ln>
          </p:spPr>
        </p:sp>
        <p:sp>
          <p:nvSpPr>
            <p:cNvPr id="46" name="Rectangle 46"/>
            <p:cNvSpPr/>
            <p:nvPr/>
          </p:nvSpPr>
          <p:spPr>
            <a:xfrm>
              <a:off x="7706678" y="1524000"/>
              <a:ext cx="9525" cy="2924175"/>
            </a:xfrm>
            <a:prstGeom prst="rect">
              <a:avLst/>
            </a:prstGeom>
            <a:solidFill>
              <a:srgbClr val="D9DFEA"/>
            </a:solidFill>
            <a:ln>
              <a:noFill/>
            </a:ln>
          </p:spPr>
        </p:sp>
        <p:sp>
          <p:nvSpPr>
            <p:cNvPr id="47" name="Rectangle 47"/>
            <p:cNvSpPr/>
            <p:nvPr/>
          </p:nvSpPr>
          <p:spPr>
            <a:xfrm>
              <a:off x="8744902" y="1524000"/>
              <a:ext cx="9525" cy="2924175"/>
            </a:xfrm>
            <a:prstGeom prst="rect">
              <a:avLst/>
            </a:prstGeom>
            <a:solidFill>
              <a:srgbClr val="D9DFEA"/>
            </a:solidFill>
            <a:ln>
              <a:noFill/>
            </a:ln>
          </p:spPr>
        </p:sp>
      </p:grpSp>
      <p:grpSp>
        <p:nvGrpSpPr>
          <p:cNvPr id="54" name="c2-callout-2"/>
          <p:cNvGrpSpPr/>
          <p:nvPr/>
        </p:nvGrpSpPr>
        <p:grpSpPr>
          <a:xfrm>
            <a:off x="6464618" y="4638675"/>
            <a:ext cx="5193982" cy="939165"/>
            <a:chOff x="6464618" y="4638675"/>
            <a:chExt cx="5193982" cy="939165"/>
          </a:xfrm>
        </p:grpSpPr>
        <p:sp>
          <p:nvSpPr>
            <p:cNvPr id="49" name="Rectangle 49"/>
            <p:cNvSpPr/>
            <p:nvPr/>
          </p:nvSpPr>
          <p:spPr>
            <a:xfrm>
              <a:off x="6464618" y="4638675"/>
              <a:ext cx="5193982" cy="939165"/>
            </a:xfrm>
            <a:prstGeom prst="roundRect">
              <a:avLst>
                <a:gd name="adj" fmla="val 12170"/>
              </a:avLst>
            </a:prstGeom>
            <a:solidFill>
              <a:srgbClr val="0E7C86"/>
            </a:solidFill>
            <a:ln>
              <a:noFill/>
            </a:ln>
          </p:spPr>
        </p:sp>
        <p:grpSp>
          <p:nvGrpSpPr>
            <p:cNvPr id="52" name="Group 52"/>
            <p:cNvGrpSpPr/>
            <p:nvPr/>
          </p:nvGrpSpPr>
          <p:grpSpPr>
            <a:xfrm>
              <a:off x="6669405" y="5008247"/>
              <a:ext cx="200023" cy="200023"/>
              <a:chOff x="6669405" y="5008247"/>
              <a:chExt cx="200023" cy="200023"/>
            </a:xfrm>
          </p:grpSpPr>
          <p:sp>
            <p:nvSpPr>
              <p:cNvPr id="50" name="Freeform 50"/>
              <p:cNvSpPr/>
              <p:nvPr/>
            </p:nvSpPr>
            <p:spPr>
              <a:xfrm>
                <a:off x="6669405" y="500824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6802755" y="507492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6971348" y="4865370"/>
              <a:ext cx="43110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感知器与支持向量机的分工：前者找“一条能分开的</a:t>
              </a:r>
              <a:br/>
              <a:r>
                <a:rPr lang="zh-CN" sz="1500" dirty="0">
                  <a:solidFill>
                    <a:srgbClr val="FFFFFF"/>
                  </a:solidFill>
                  <a:latin typeface="+mn-lt"/>
                  <a:ea typeface="+mn-ea"/>
                  <a:cs typeface="+mn-cs"/>
                </a:rPr>
                <a:t>线”，后者找“最稳的那条线”。</a:t>
              </a:r>
            </a:p>
          </p:txBody>
        </p:sp>
      </p:grpSp>
      <p:grpSp>
        <p:nvGrpSpPr>
          <p:cNvPr id="61" name="takeaway"/>
          <p:cNvGrpSpPr/>
          <p:nvPr/>
        </p:nvGrpSpPr>
        <p:grpSpPr>
          <a:xfrm>
            <a:off x="533400" y="5829300"/>
            <a:ext cx="11125200" cy="533400"/>
            <a:chOff x="533400" y="5829300"/>
            <a:chExt cx="11125200" cy="533400"/>
          </a:xfrm>
        </p:grpSpPr>
        <p:sp>
          <p:nvSpPr>
            <p:cNvPr id="55" name="Rectangle 55"/>
            <p:cNvSpPr/>
            <p:nvPr/>
          </p:nvSpPr>
          <p:spPr>
            <a:xfrm>
              <a:off x="533400" y="5829300"/>
              <a:ext cx="11125200" cy="533400"/>
            </a:xfrm>
            <a:prstGeom prst="roundRect">
              <a:avLst>
                <a:gd name="adj" fmla="val 21429"/>
              </a:avLst>
            </a:prstGeom>
            <a:solidFill>
              <a:srgbClr val="FDEEE7"/>
            </a:solidFill>
            <a:ln>
              <a:noFill/>
            </a:ln>
          </p:spPr>
        </p:sp>
        <p:grpSp>
          <p:nvGrpSpPr>
            <p:cNvPr id="59" name="Group 59"/>
            <p:cNvGrpSpPr/>
            <p:nvPr/>
          </p:nvGrpSpPr>
          <p:grpSpPr>
            <a:xfrm>
              <a:off x="738188" y="5995988"/>
              <a:ext cx="200026" cy="200025"/>
              <a:chOff x="738188" y="5995988"/>
              <a:chExt cx="200026" cy="200025"/>
            </a:xfrm>
          </p:grpSpPr>
          <p:sp>
            <p:nvSpPr>
              <p:cNvPr id="56" name="Freeform 56"/>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7" name="Freeform 57"/>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8" name="Freeform 58"/>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0" name="TextBox 60"/>
            <p:cNvSpPr txBox="1"/>
            <p:nvPr/>
          </p:nvSpPr>
          <p:spPr>
            <a:xfrm>
              <a:off x="1040130" y="5991225"/>
              <a:ext cx="789051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拿到一份数据先跑感知器：能在几轮内停下来，就说明它线性可分，这比画图判断可靠。</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98105" cy="909257"/>
            <a:chOff x="520446" y="342900"/>
            <a:chExt cx="629810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29810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表征能力：AND 和 OR 各只要一个感知器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410200" cy="1535430"/>
            <a:chOff x="533400" y="1524000"/>
            <a:chExt cx="5410200" cy="1535430"/>
          </a:xfrm>
        </p:grpSpPr>
        <p:sp>
          <p:nvSpPr>
            <p:cNvPr id="7" name="Rectangle 7"/>
            <p:cNvSpPr/>
            <p:nvPr/>
          </p:nvSpPr>
          <p:spPr>
            <a:xfrm>
              <a:off x="533400" y="1524000"/>
              <a:ext cx="5410200" cy="1535430"/>
            </a:xfrm>
            <a:prstGeom prst="roundRect">
              <a:avLst>
                <a:gd name="adj" fmla="val 8685"/>
              </a:avLst>
            </a:prstGeom>
            <a:solidFill>
              <a:srgbClr val="FFFFFF"/>
            </a:solidFill>
            <a:ln w="14288">
              <a:solidFill>
                <a:srgbClr val="D9DFEA"/>
              </a:solidFill>
            </a:ln>
          </p:spPr>
        </p:sp>
        <p:sp>
          <p:nvSpPr>
            <p:cNvPr id="8" name="Rectangle 8"/>
            <p:cNvSpPr/>
            <p:nvPr/>
          </p:nvSpPr>
          <p:spPr>
            <a:xfrm>
              <a:off x="542925" y="1657350"/>
              <a:ext cx="47625" cy="1268730"/>
            </a:xfrm>
            <a:prstGeom prst="roundRect">
              <a:avLst>
                <a:gd name="adj" fmla="val 50000"/>
              </a:avLst>
            </a:prstGeom>
            <a:solidFill>
              <a:srgbClr val="14A38B"/>
            </a:solidFill>
            <a:ln>
              <a:noFill/>
            </a:ln>
          </p:spPr>
        </p:sp>
        <p:sp>
          <p:nvSpPr>
            <p:cNvPr id="9" name="Rectangle 9"/>
            <p:cNvSpPr/>
            <p:nvPr/>
          </p:nvSpPr>
          <p:spPr>
            <a:xfrm>
              <a:off x="763905" y="1716405"/>
              <a:ext cx="441008" cy="247650"/>
            </a:xfrm>
            <a:prstGeom prst="roundRect">
              <a:avLst>
                <a:gd name="adj" fmla="val 50000"/>
              </a:avLst>
            </a:prstGeom>
            <a:solidFill>
              <a:srgbClr val="E3F5F1"/>
            </a:solidFill>
            <a:ln>
              <a:noFill/>
            </a:ln>
          </p:spPr>
        </p:sp>
        <p:sp>
          <p:nvSpPr>
            <p:cNvPr id="10" name="TextBox 10"/>
            <p:cNvSpPr txBox="1"/>
            <p:nvPr/>
          </p:nvSpPr>
          <p:spPr>
            <a:xfrm>
              <a:off x="849222" y="1750695"/>
              <a:ext cx="269420" cy="205359"/>
            </a:xfrm>
            <a:prstGeom prst="rect">
              <a:avLst/>
            </a:prstGeom>
            <a:noFill/>
            <a:ln>
              <a:noFill/>
            </a:ln>
          </p:spPr>
          <p:txBody>
            <a:bodyPr wrap="none" lIns="0" tIns="0" rIns="0" bIns="0" anchor="t" anchorCtr="0">
              <a:spAutoFit/>
            </a:bodyPr>
            <a:lstStyle/>
            <a:p>
              <a:pPr algn="ctr"/>
              <a:r>
                <a:rPr lang="en-US" sz="1050" b="1" dirty="0">
                  <a:solidFill>
                    <a:srgbClr val="0F7A68"/>
                  </a:solidFill>
                  <a:latin typeface="+mn-lt"/>
                  <a:ea typeface="+mn-ea"/>
                  <a:cs typeface="+mn-cs"/>
                </a:rPr>
                <a:t>AND</a:t>
              </a:r>
            </a:p>
          </p:txBody>
        </p:sp>
        <p:sp>
          <p:nvSpPr>
            <p:cNvPr id="11" name="TextBox 11"/>
            <p:cNvSpPr txBox="1"/>
            <p:nvPr/>
          </p:nvSpPr>
          <p:spPr>
            <a:xfrm>
              <a:off x="1312354" y="1756410"/>
              <a:ext cx="2620287"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 = step(0.5x + 0.5y − 0.8)</a:t>
              </a:r>
            </a:p>
          </p:txBody>
        </p:sp>
        <p:sp>
          <p:nvSpPr>
            <p:cNvPr id="12" name="TextBox 12"/>
            <p:cNvSpPr txBox="1"/>
            <p:nvPr/>
          </p:nvSpPr>
          <p:spPr>
            <a:xfrm>
              <a:off x="757047" y="2090738"/>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(0,0)：−0.8 → 0　　(0,1)：−0.3 → 0</a:t>
              </a:r>
            </a:p>
          </p:txBody>
        </p:sp>
        <p:sp>
          <p:nvSpPr>
            <p:cNvPr id="13" name="TextBox 13"/>
            <p:cNvSpPr txBox="1"/>
            <p:nvPr/>
          </p:nvSpPr>
          <p:spPr>
            <a:xfrm>
              <a:off x="757047" y="2392680"/>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(1,0)：−0.3 → 0　　(1,1)：+0.2 → 1</a:t>
              </a:r>
            </a:p>
          </p:txBody>
        </p:sp>
        <p:sp>
          <p:nvSpPr>
            <p:cNvPr id="14" name="TextBox 14"/>
            <p:cNvSpPr txBox="1"/>
            <p:nvPr/>
          </p:nvSpPr>
          <p:spPr>
            <a:xfrm>
              <a:off x="758190" y="2691289"/>
              <a:ext cx="4738207"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阈值 0.8 大于任一单个权 0.5，所以必须两个输入同时为 1 才能过线。</a:t>
              </a:r>
            </a:p>
          </p:txBody>
        </p:sp>
      </p:grpSp>
      <p:grpSp>
        <p:nvGrpSpPr>
          <p:cNvPr id="24" name="c1-card-2"/>
          <p:cNvGrpSpPr/>
          <p:nvPr/>
        </p:nvGrpSpPr>
        <p:grpSpPr>
          <a:xfrm>
            <a:off x="533400" y="3234690"/>
            <a:ext cx="5410200" cy="1535430"/>
            <a:chOff x="533400" y="3234690"/>
            <a:chExt cx="5410200" cy="1535430"/>
          </a:xfrm>
        </p:grpSpPr>
        <p:sp>
          <p:nvSpPr>
            <p:cNvPr id="16" name="Rectangle 16"/>
            <p:cNvSpPr/>
            <p:nvPr/>
          </p:nvSpPr>
          <p:spPr>
            <a:xfrm>
              <a:off x="533400" y="3234690"/>
              <a:ext cx="5410200" cy="1535430"/>
            </a:xfrm>
            <a:prstGeom prst="roundRect">
              <a:avLst>
                <a:gd name="adj" fmla="val 8685"/>
              </a:avLst>
            </a:prstGeom>
            <a:solidFill>
              <a:srgbClr val="FFFFFF"/>
            </a:solidFill>
            <a:ln w="14288">
              <a:solidFill>
                <a:srgbClr val="D9DFEA"/>
              </a:solidFill>
            </a:ln>
          </p:spPr>
        </p:sp>
        <p:sp>
          <p:nvSpPr>
            <p:cNvPr id="17" name="Rectangle 17"/>
            <p:cNvSpPr/>
            <p:nvPr/>
          </p:nvSpPr>
          <p:spPr>
            <a:xfrm>
              <a:off x="542925" y="3368040"/>
              <a:ext cx="47625" cy="1268730"/>
            </a:xfrm>
            <a:prstGeom prst="roundRect">
              <a:avLst>
                <a:gd name="adj" fmla="val 50000"/>
              </a:avLst>
            </a:prstGeom>
            <a:solidFill>
              <a:srgbClr val="14A38B"/>
            </a:solidFill>
            <a:ln>
              <a:noFill/>
            </a:ln>
          </p:spPr>
        </p:sp>
        <p:sp>
          <p:nvSpPr>
            <p:cNvPr id="18" name="Rectangle 18"/>
            <p:cNvSpPr/>
            <p:nvPr/>
          </p:nvSpPr>
          <p:spPr>
            <a:xfrm>
              <a:off x="763905" y="3427095"/>
              <a:ext cx="391478" cy="247650"/>
            </a:xfrm>
            <a:prstGeom prst="roundRect">
              <a:avLst>
                <a:gd name="adj" fmla="val 50000"/>
              </a:avLst>
            </a:prstGeom>
            <a:solidFill>
              <a:srgbClr val="E3F5F1"/>
            </a:solidFill>
            <a:ln>
              <a:noFill/>
            </a:ln>
          </p:spPr>
        </p:sp>
        <p:sp>
          <p:nvSpPr>
            <p:cNvPr id="19" name="TextBox 19"/>
            <p:cNvSpPr txBox="1"/>
            <p:nvPr/>
          </p:nvSpPr>
          <p:spPr>
            <a:xfrm>
              <a:off x="852853" y="3461385"/>
              <a:ext cx="214533" cy="205359"/>
            </a:xfrm>
            <a:prstGeom prst="rect">
              <a:avLst/>
            </a:prstGeom>
            <a:noFill/>
            <a:ln>
              <a:noFill/>
            </a:ln>
          </p:spPr>
          <p:txBody>
            <a:bodyPr wrap="none" lIns="0" tIns="0" rIns="0" bIns="0" anchor="t" anchorCtr="0">
              <a:spAutoFit/>
            </a:bodyPr>
            <a:lstStyle/>
            <a:p>
              <a:pPr algn="ctr"/>
              <a:r>
                <a:rPr lang="en-US" sz="1050" b="1" dirty="0">
                  <a:solidFill>
                    <a:srgbClr val="0F7A68"/>
                  </a:solidFill>
                  <a:latin typeface="+mn-lt"/>
                  <a:ea typeface="+mn-ea"/>
                  <a:cs typeface="+mn-cs"/>
                </a:rPr>
                <a:t>OR</a:t>
              </a:r>
            </a:p>
          </p:txBody>
        </p:sp>
        <p:sp>
          <p:nvSpPr>
            <p:cNvPr id="20" name="TextBox 20"/>
            <p:cNvSpPr txBox="1"/>
            <p:nvPr/>
          </p:nvSpPr>
          <p:spPr>
            <a:xfrm>
              <a:off x="1262825" y="3467100"/>
              <a:ext cx="2620287"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 = step(0.5x + 0.5y − 0.3)</a:t>
              </a:r>
            </a:p>
          </p:txBody>
        </p:sp>
        <p:sp>
          <p:nvSpPr>
            <p:cNvPr id="21" name="TextBox 21"/>
            <p:cNvSpPr txBox="1"/>
            <p:nvPr/>
          </p:nvSpPr>
          <p:spPr>
            <a:xfrm>
              <a:off x="757047" y="3801427"/>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(0,0)：−0.3 → 0　　(0,1)：+0.2 → 1</a:t>
              </a:r>
            </a:p>
          </p:txBody>
        </p:sp>
        <p:sp>
          <p:nvSpPr>
            <p:cNvPr id="22" name="TextBox 22"/>
            <p:cNvSpPr txBox="1"/>
            <p:nvPr/>
          </p:nvSpPr>
          <p:spPr>
            <a:xfrm>
              <a:off x="757047" y="4103370"/>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(1,0)：+0.2 → 1　　(1,1)：+0.7 → 1</a:t>
              </a:r>
            </a:p>
          </p:txBody>
        </p:sp>
        <p:sp>
          <p:nvSpPr>
            <p:cNvPr id="23" name="TextBox 23"/>
            <p:cNvSpPr txBox="1"/>
            <p:nvPr/>
          </p:nvSpPr>
          <p:spPr>
            <a:xfrm>
              <a:off x="758190" y="4402931"/>
              <a:ext cx="3833561"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阈值 0.3 小于单个权 0.5，任何一个输入为 1 就能过线。</a:t>
              </a:r>
            </a:p>
          </p:txBody>
        </p:sp>
      </p:grpSp>
      <p:grpSp>
        <p:nvGrpSpPr>
          <p:cNvPr id="30" name="c1-callout-3"/>
          <p:cNvGrpSpPr/>
          <p:nvPr/>
        </p:nvGrpSpPr>
        <p:grpSpPr>
          <a:xfrm>
            <a:off x="533400" y="4945380"/>
            <a:ext cx="5410200" cy="729615"/>
            <a:chOff x="533400" y="4945380"/>
            <a:chExt cx="5410200" cy="729615"/>
          </a:xfrm>
        </p:grpSpPr>
        <p:sp>
          <p:nvSpPr>
            <p:cNvPr id="25" name="Rectangle 25"/>
            <p:cNvSpPr/>
            <p:nvPr/>
          </p:nvSpPr>
          <p:spPr>
            <a:xfrm>
              <a:off x="533400" y="4945380"/>
              <a:ext cx="5410200" cy="729615"/>
            </a:xfrm>
            <a:prstGeom prst="roundRect">
              <a:avLst>
                <a:gd name="adj" fmla="val 15666"/>
              </a:avLst>
            </a:prstGeom>
            <a:solidFill>
              <a:srgbClr val="0E7C86"/>
            </a:solidFill>
            <a:ln>
              <a:noFill/>
            </a:ln>
          </p:spPr>
        </p:sp>
        <p:grpSp>
          <p:nvGrpSpPr>
            <p:cNvPr id="28" name="Group 28"/>
            <p:cNvGrpSpPr/>
            <p:nvPr/>
          </p:nvGrpSpPr>
          <p:grpSpPr>
            <a:xfrm>
              <a:off x="738188" y="5210177"/>
              <a:ext cx="200023" cy="200023"/>
              <a:chOff x="738188" y="5210177"/>
              <a:chExt cx="200023" cy="200023"/>
            </a:xfrm>
          </p:grpSpPr>
          <p:sp>
            <p:nvSpPr>
              <p:cNvPr id="26" name="Freeform 26"/>
              <p:cNvSpPr/>
              <p:nvPr/>
            </p:nvSpPr>
            <p:spPr>
              <a:xfrm>
                <a:off x="738188" y="52101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7" name="Freeform 27"/>
              <p:cNvSpPr/>
              <p:nvPr/>
            </p:nvSpPr>
            <p:spPr>
              <a:xfrm>
                <a:off x="871538" y="52768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9" name="TextBox 29"/>
            <p:cNvSpPr txBox="1"/>
            <p:nvPr/>
          </p:nvSpPr>
          <p:spPr>
            <a:xfrm>
              <a:off x="1040892" y="5092065"/>
              <a:ext cx="436854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改一个阈值就把 AND 变成 OR，可见阈值控制的是“需要多</a:t>
              </a:r>
              <a:br/>
              <a:r>
                <a:rPr lang="zh-CN" sz="1350" dirty="0">
                  <a:solidFill>
                    <a:srgbClr val="FFFFFF"/>
                  </a:solidFill>
                  <a:latin typeface="+mn-lt"/>
                  <a:ea typeface="+mn-ea"/>
                  <a:cs typeface="+mn-cs"/>
                </a:rPr>
                <a:t>少证据才输出 1”。</a:t>
              </a:r>
            </a:p>
          </p:txBody>
        </p:sp>
      </p:grpSp>
      <p:grpSp>
        <p:nvGrpSpPr>
          <p:cNvPr id="69" name="c2-graph-1"/>
          <p:cNvGrpSpPr/>
          <p:nvPr/>
        </p:nvGrpSpPr>
        <p:grpSpPr>
          <a:xfrm>
            <a:off x="6592376" y="1665922"/>
            <a:ext cx="4859532" cy="2305050"/>
            <a:chOff x="6592376" y="1665922"/>
            <a:chExt cx="4859532" cy="2305050"/>
          </a:xfrm>
        </p:grpSpPr>
        <p:sp>
          <p:nvSpPr>
            <p:cNvPr id="31" name="Freeform 31"/>
            <p:cNvSpPr/>
            <p:nvPr/>
          </p:nvSpPr>
          <p:spPr>
            <a:xfrm>
              <a:off x="6867525" y="3484245"/>
              <a:ext cx="1755457" cy="9525"/>
            </a:xfrm>
            <a:custGeom>
              <a:avLst/>
              <a:gdLst/>
              <a:ahLst/>
              <a:cxnLst/>
              <a:rect l="l" t="t" r="r" b="b"/>
              <a:pathLst>
                <a:path w="1755457" h="9525">
                  <a:moveTo>
                    <a:pt x="0" y="0"/>
                  </a:moveTo>
                  <a:lnTo>
                    <a:pt x="1755457" y="0"/>
                  </a:lnTo>
                </a:path>
              </a:pathLst>
            </a:custGeom>
            <a:noFill/>
            <a:ln w="17145">
              <a:solidFill>
                <a:srgbClr val="1F2937"/>
              </a:solidFill>
            </a:ln>
          </p:spPr>
        </p:sp>
        <p:sp>
          <p:nvSpPr>
            <p:cNvPr id="32" name="Freeform 32"/>
            <p:cNvSpPr/>
            <p:nvPr/>
          </p:nvSpPr>
          <p:spPr>
            <a:xfrm>
              <a:off x="8622982" y="34366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3" name="Freeform 33"/>
            <p:cNvSpPr/>
            <p:nvPr/>
          </p:nvSpPr>
          <p:spPr>
            <a:xfrm>
              <a:off x="6848475" y="1789748"/>
              <a:ext cx="9525" cy="1675448"/>
            </a:xfrm>
            <a:custGeom>
              <a:avLst/>
              <a:gdLst/>
              <a:ahLst/>
              <a:cxnLst/>
              <a:rect l="l" t="t" r="r" b="b"/>
              <a:pathLst>
                <a:path w="9525" h="1675448">
                  <a:moveTo>
                    <a:pt x="0" y="1675448"/>
                  </a:moveTo>
                  <a:lnTo>
                    <a:pt x="0" y="0"/>
                  </a:lnTo>
                </a:path>
              </a:pathLst>
            </a:custGeom>
            <a:noFill/>
            <a:ln w="17145">
              <a:solidFill>
                <a:srgbClr val="1F2937"/>
              </a:solidFill>
            </a:ln>
          </p:spPr>
        </p:sp>
        <p:sp>
          <p:nvSpPr>
            <p:cNvPr id="34" name="Freeform 34"/>
            <p:cNvSpPr/>
            <p:nvPr/>
          </p:nvSpPr>
          <p:spPr>
            <a:xfrm>
              <a:off x="6800850" y="169449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5" name="Freeform 35"/>
            <p:cNvSpPr/>
            <p:nvPr/>
          </p:nvSpPr>
          <p:spPr>
            <a:xfrm>
              <a:off x="7317105" y="1744028"/>
              <a:ext cx="1346835" cy="1288732"/>
            </a:xfrm>
            <a:custGeom>
              <a:avLst/>
              <a:gdLst/>
              <a:ahLst/>
              <a:cxnLst/>
              <a:rect l="l" t="t" r="r" b="b"/>
              <a:pathLst>
                <a:path w="1346835" h="1288732">
                  <a:moveTo>
                    <a:pt x="0" y="0"/>
                  </a:moveTo>
                  <a:lnTo>
                    <a:pt x="1346835" y="1288732"/>
                  </a:lnTo>
                </a:path>
              </a:pathLst>
            </a:custGeom>
            <a:noFill/>
            <a:ln w="17145">
              <a:solidFill>
                <a:srgbClr val="0E7C86"/>
              </a:solidFill>
            </a:ln>
          </p:spPr>
        </p:sp>
        <p:sp>
          <p:nvSpPr>
            <p:cNvPr id="36" name="Freeform 36"/>
            <p:cNvSpPr/>
            <p:nvPr/>
          </p:nvSpPr>
          <p:spPr>
            <a:xfrm>
              <a:off x="9572625" y="3484245"/>
              <a:ext cx="1755457" cy="9525"/>
            </a:xfrm>
            <a:custGeom>
              <a:avLst/>
              <a:gdLst/>
              <a:ahLst/>
              <a:cxnLst/>
              <a:rect l="l" t="t" r="r" b="b"/>
              <a:pathLst>
                <a:path w="1755457" h="9525">
                  <a:moveTo>
                    <a:pt x="0" y="0"/>
                  </a:moveTo>
                  <a:lnTo>
                    <a:pt x="1755457" y="0"/>
                  </a:lnTo>
                </a:path>
              </a:pathLst>
            </a:custGeom>
            <a:noFill/>
            <a:ln w="17145">
              <a:solidFill>
                <a:srgbClr val="1F2937"/>
              </a:solidFill>
            </a:ln>
          </p:spPr>
        </p:sp>
        <p:sp>
          <p:nvSpPr>
            <p:cNvPr id="37" name="Freeform 37"/>
            <p:cNvSpPr/>
            <p:nvPr/>
          </p:nvSpPr>
          <p:spPr>
            <a:xfrm>
              <a:off x="11328082" y="34366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8" name="Freeform 38"/>
            <p:cNvSpPr/>
            <p:nvPr/>
          </p:nvSpPr>
          <p:spPr>
            <a:xfrm>
              <a:off x="9553575" y="1789748"/>
              <a:ext cx="9525" cy="1675448"/>
            </a:xfrm>
            <a:custGeom>
              <a:avLst/>
              <a:gdLst/>
              <a:ahLst/>
              <a:cxnLst/>
              <a:rect l="l" t="t" r="r" b="b"/>
              <a:pathLst>
                <a:path w="9525" h="1675448">
                  <a:moveTo>
                    <a:pt x="0" y="1675448"/>
                  </a:moveTo>
                  <a:lnTo>
                    <a:pt x="0" y="0"/>
                  </a:lnTo>
                </a:path>
              </a:pathLst>
            </a:custGeom>
            <a:noFill/>
            <a:ln w="17145">
              <a:solidFill>
                <a:srgbClr val="1F2937"/>
              </a:solidFill>
            </a:ln>
          </p:spPr>
        </p:sp>
        <p:sp>
          <p:nvSpPr>
            <p:cNvPr id="39" name="Freeform 39"/>
            <p:cNvSpPr/>
            <p:nvPr/>
          </p:nvSpPr>
          <p:spPr>
            <a:xfrm>
              <a:off x="9505950" y="169449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0" name="Freeform 40"/>
            <p:cNvSpPr/>
            <p:nvPr/>
          </p:nvSpPr>
          <p:spPr>
            <a:xfrm>
              <a:off x="9567862" y="2401252"/>
              <a:ext cx="1114425" cy="1069657"/>
            </a:xfrm>
            <a:custGeom>
              <a:avLst/>
              <a:gdLst/>
              <a:ahLst/>
              <a:cxnLst/>
              <a:rect l="l" t="t" r="r" b="b"/>
              <a:pathLst>
                <a:path w="1114425" h="1069657">
                  <a:moveTo>
                    <a:pt x="0" y="0"/>
                  </a:moveTo>
                  <a:lnTo>
                    <a:pt x="1114425" y="1069657"/>
                  </a:lnTo>
                </a:path>
              </a:pathLst>
            </a:custGeom>
            <a:noFill/>
            <a:ln w="17145">
              <a:solidFill>
                <a:srgbClr val="0E7C86"/>
              </a:solidFill>
            </a:ln>
          </p:spPr>
        </p:sp>
        <p:sp>
          <p:nvSpPr>
            <p:cNvPr id="41" name="Ellipse 41"/>
            <p:cNvSpPr/>
            <p:nvPr/>
          </p:nvSpPr>
          <p:spPr>
            <a:xfrm>
              <a:off x="6838950" y="3474720"/>
              <a:ext cx="19050" cy="19050"/>
            </a:xfrm>
            <a:prstGeom prst="ellipse">
              <a:avLst/>
            </a:prstGeom>
            <a:solidFill>
              <a:srgbClr val="0E7C86"/>
            </a:solidFill>
            <a:ln>
              <a:noFill/>
            </a:ln>
          </p:spPr>
        </p:sp>
        <p:sp>
          <p:nvSpPr>
            <p:cNvPr id="42" name="Ellipse 42"/>
            <p:cNvSpPr/>
            <p:nvPr/>
          </p:nvSpPr>
          <p:spPr>
            <a:xfrm>
              <a:off x="8727758" y="3474720"/>
              <a:ext cx="19050" cy="19050"/>
            </a:xfrm>
            <a:prstGeom prst="ellipse">
              <a:avLst/>
            </a:prstGeom>
            <a:solidFill>
              <a:srgbClr val="0E7C86"/>
            </a:solidFill>
            <a:ln>
              <a:noFill/>
            </a:ln>
          </p:spPr>
        </p:sp>
        <p:sp>
          <p:nvSpPr>
            <p:cNvPr id="43" name="Ellipse 43"/>
            <p:cNvSpPr/>
            <p:nvPr/>
          </p:nvSpPr>
          <p:spPr>
            <a:xfrm>
              <a:off x="6838950" y="1665922"/>
              <a:ext cx="19050" cy="19050"/>
            </a:xfrm>
            <a:prstGeom prst="ellipse">
              <a:avLst/>
            </a:prstGeom>
            <a:solidFill>
              <a:srgbClr val="0E7C86"/>
            </a:solidFill>
            <a:ln>
              <a:noFill/>
            </a:ln>
          </p:spPr>
        </p:sp>
        <p:sp>
          <p:nvSpPr>
            <p:cNvPr id="44" name="Ellipse 44"/>
            <p:cNvSpPr/>
            <p:nvPr/>
          </p:nvSpPr>
          <p:spPr>
            <a:xfrm>
              <a:off x="7294245" y="1721168"/>
              <a:ext cx="19050" cy="19050"/>
            </a:xfrm>
            <a:prstGeom prst="ellipse">
              <a:avLst/>
            </a:prstGeom>
            <a:solidFill>
              <a:srgbClr val="0E7C86"/>
            </a:solidFill>
            <a:ln>
              <a:noFill/>
            </a:ln>
          </p:spPr>
        </p:sp>
        <p:sp>
          <p:nvSpPr>
            <p:cNvPr id="45" name="Ellipse 45"/>
            <p:cNvSpPr/>
            <p:nvPr/>
          </p:nvSpPr>
          <p:spPr>
            <a:xfrm>
              <a:off x="8667750" y="3036570"/>
              <a:ext cx="19050" cy="19050"/>
            </a:xfrm>
            <a:prstGeom prst="ellipse">
              <a:avLst/>
            </a:prstGeom>
            <a:solidFill>
              <a:srgbClr val="0E7C86"/>
            </a:solidFill>
            <a:ln>
              <a:noFill/>
            </a:ln>
          </p:spPr>
        </p:sp>
        <p:sp>
          <p:nvSpPr>
            <p:cNvPr id="46" name="Ellipse 46"/>
            <p:cNvSpPr/>
            <p:nvPr/>
          </p:nvSpPr>
          <p:spPr>
            <a:xfrm>
              <a:off x="7009448" y="3198495"/>
              <a:ext cx="133350" cy="133350"/>
            </a:xfrm>
            <a:prstGeom prst="ellipse">
              <a:avLst/>
            </a:prstGeom>
            <a:solidFill>
              <a:srgbClr val="D9DFEA"/>
            </a:solidFill>
            <a:ln>
              <a:noFill/>
            </a:ln>
          </p:spPr>
        </p:sp>
        <p:sp>
          <p:nvSpPr>
            <p:cNvPr id="47" name="Ellipse 47"/>
            <p:cNvSpPr/>
            <p:nvPr/>
          </p:nvSpPr>
          <p:spPr>
            <a:xfrm>
              <a:off x="7009448" y="2102168"/>
              <a:ext cx="133350" cy="133350"/>
            </a:xfrm>
            <a:prstGeom prst="ellipse">
              <a:avLst/>
            </a:prstGeom>
            <a:solidFill>
              <a:srgbClr val="D9DFEA"/>
            </a:solidFill>
            <a:ln>
              <a:noFill/>
            </a:ln>
          </p:spPr>
        </p:sp>
        <p:sp>
          <p:nvSpPr>
            <p:cNvPr id="48" name="Ellipse 48"/>
            <p:cNvSpPr/>
            <p:nvPr/>
          </p:nvSpPr>
          <p:spPr>
            <a:xfrm>
              <a:off x="8156258" y="3198495"/>
              <a:ext cx="133350" cy="133350"/>
            </a:xfrm>
            <a:prstGeom prst="ellipse">
              <a:avLst/>
            </a:prstGeom>
            <a:solidFill>
              <a:srgbClr val="D9DFEA"/>
            </a:solidFill>
            <a:ln>
              <a:noFill/>
            </a:ln>
          </p:spPr>
        </p:sp>
        <p:sp>
          <p:nvSpPr>
            <p:cNvPr id="49" name="Ellipse 49"/>
            <p:cNvSpPr/>
            <p:nvPr/>
          </p:nvSpPr>
          <p:spPr>
            <a:xfrm>
              <a:off x="8156258" y="2102168"/>
              <a:ext cx="133350" cy="133350"/>
            </a:xfrm>
            <a:prstGeom prst="ellipse">
              <a:avLst/>
            </a:prstGeom>
            <a:solidFill>
              <a:srgbClr val="0E7C86"/>
            </a:solidFill>
            <a:ln>
              <a:noFill/>
            </a:ln>
          </p:spPr>
        </p:sp>
        <p:sp>
          <p:nvSpPr>
            <p:cNvPr id="50" name="Ellipse 50"/>
            <p:cNvSpPr/>
            <p:nvPr/>
          </p:nvSpPr>
          <p:spPr>
            <a:xfrm>
              <a:off x="9544050" y="3474720"/>
              <a:ext cx="19050" cy="19050"/>
            </a:xfrm>
            <a:prstGeom prst="ellipse">
              <a:avLst/>
            </a:prstGeom>
            <a:solidFill>
              <a:srgbClr val="0E7C86"/>
            </a:solidFill>
            <a:ln>
              <a:noFill/>
            </a:ln>
          </p:spPr>
        </p:sp>
        <p:sp>
          <p:nvSpPr>
            <p:cNvPr id="51" name="Ellipse 51"/>
            <p:cNvSpPr/>
            <p:nvPr/>
          </p:nvSpPr>
          <p:spPr>
            <a:xfrm>
              <a:off x="11432858" y="3474720"/>
              <a:ext cx="19050" cy="19050"/>
            </a:xfrm>
            <a:prstGeom prst="ellipse">
              <a:avLst/>
            </a:prstGeom>
            <a:solidFill>
              <a:srgbClr val="0E7C86"/>
            </a:solidFill>
            <a:ln>
              <a:noFill/>
            </a:ln>
          </p:spPr>
        </p:sp>
        <p:sp>
          <p:nvSpPr>
            <p:cNvPr id="52" name="Ellipse 52"/>
            <p:cNvSpPr/>
            <p:nvPr/>
          </p:nvSpPr>
          <p:spPr>
            <a:xfrm>
              <a:off x="9544050" y="1665922"/>
              <a:ext cx="19050" cy="19050"/>
            </a:xfrm>
            <a:prstGeom prst="ellipse">
              <a:avLst/>
            </a:prstGeom>
            <a:solidFill>
              <a:srgbClr val="0E7C86"/>
            </a:solidFill>
            <a:ln>
              <a:noFill/>
            </a:ln>
          </p:spPr>
        </p:sp>
        <p:sp>
          <p:nvSpPr>
            <p:cNvPr id="53" name="Ellipse 53"/>
            <p:cNvSpPr/>
            <p:nvPr/>
          </p:nvSpPr>
          <p:spPr>
            <a:xfrm>
              <a:off x="9544050" y="2378392"/>
              <a:ext cx="19050" cy="19050"/>
            </a:xfrm>
            <a:prstGeom prst="ellipse">
              <a:avLst/>
            </a:prstGeom>
            <a:solidFill>
              <a:srgbClr val="0E7C86"/>
            </a:solidFill>
            <a:ln>
              <a:noFill/>
            </a:ln>
          </p:spPr>
        </p:sp>
        <p:sp>
          <p:nvSpPr>
            <p:cNvPr id="54" name="Ellipse 54"/>
            <p:cNvSpPr/>
            <p:nvPr/>
          </p:nvSpPr>
          <p:spPr>
            <a:xfrm>
              <a:off x="10686098" y="3474720"/>
              <a:ext cx="19050" cy="19050"/>
            </a:xfrm>
            <a:prstGeom prst="ellipse">
              <a:avLst/>
            </a:prstGeom>
            <a:solidFill>
              <a:srgbClr val="0E7C86"/>
            </a:solidFill>
            <a:ln>
              <a:noFill/>
            </a:ln>
          </p:spPr>
        </p:sp>
        <p:sp>
          <p:nvSpPr>
            <p:cNvPr id="55" name="Ellipse 55"/>
            <p:cNvSpPr/>
            <p:nvPr/>
          </p:nvSpPr>
          <p:spPr>
            <a:xfrm>
              <a:off x="9714548" y="3198495"/>
              <a:ext cx="133350" cy="133350"/>
            </a:xfrm>
            <a:prstGeom prst="ellipse">
              <a:avLst/>
            </a:prstGeom>
            <a:solidFill>
              <a:srgbClr val="D9DFEA"/>
            </a:solidFill>
            <a:ln>
              <a:noFill/>
            </a:ln>
          </p:spPr>
        </p:sp>
        <p:sp>
          <p:nvSpPr>
            <p:cNvPr id="56" name="Ellipse 56"/>
            <p:cNvSpPr/>
            <p:nvPr/>
          </p:nvSpPr>
          <p:spPr>
            <a:xfrm>
              <a:off x="9714548" y="2102168"/>
              <a:ext cx="133350" cy="133350"/>
            </a:xfrm>
            <a:prstGeom prst="ellipse">
              <a:avLst/>
            </a:prstGeom>
            <a:solidFill>
              <a:srgbClr val="0E7C86"/>
            </a:solidFill>
            <a:ln>
              <a:noFill/>
            </a:ln>
          </p:spPr>
        </p:sp>
        <p:sp>
          <p:nvSpPr>
            <p:cNvPr id="57" name="Ellipse 57"/>
            <p:cNvSpPr/>
            <p:nvPr/>
          </p:nvSpPr>
          <p:spPr>
            <a:xfrm>
              <a:off x="10861358" y="3198495"/>
              <a:ext cx="133350" cy="133350"/>
            </a:xfrm>
            <a:prstGeom prst="ellipse">
              <a:avLst/>
            </a:prstGeom>
            <a:solidFill>
              <a:srgbClr val="0E7C86"/>
            </a:solidFill>
            <a:ln>
              <a:noFill/>
            </a:ln>
          </p:spPr>
        </p:sp>
        <p:sp>
          <p:nvSpPr>
            <p:cNvPr id="58" name="Ellipse 58"/>
            <p:cNvSpPr/>
            <p:nvPr/>
          </p:nvSpPr>
          <p:spPr>
            <a:xfrm>
              <a:off x="10861358" y="2102168"/>
              <a:ext cx="133350" cy="133350"/>
            </a:xfrm>
            <a:prstGeom prst="ellipse">
              <a:avLst/>
            </a:prstGeom>
            <a:solidFill>
              <a:srgbClr val="0E7C86"/>
            </a:solidFill>
            <a:ln>
              <a:noFill/>
            </a:ln>
          </p:spPr>
        </p:sp>
        <p:sp>
          <p:nvSpPr>
            <p:cNvPr id="59" name="TextBox 59"/>
            <p:cNvSpPr txBox="1"/>
            <p:nvPr/>
          </p:nvSpPr>
          <p:spPr>
            <a:xfrm>
              <a:off x="7265419" y="3794760"/>
              <a:ext cx="994911"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AND：x + y = 1.6</a:t>
              </a:r>
            </a:p>
          </p:txBody>
        </p:sp>
        <p:sp>
          <p:nvSpPr>
            <p:cNvPr id="60" name="TextBox 60"/>
            <p:cNvSpPr txBox="1"/>
            <p:nvPr/>
          </p:nvSpPr>
          <p:spPr>
            <a:xfrm>
              <a:off x="9994042" y="3794760"/>
              <a:ext cx="947865"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OR：x + y = 0.6</a:t>
              </a:r>
            </a:p>
          </p:txBody>
        </p:sp>
        <p:sp>
          <p:nvSpPr>
            <p:cNvPr id="61" name="TextBox 61"/>
            <p:cNvSpPr txBox="1"/>
            <p:nvPr/>
          </p:nvSpPr>
          <p:spPr>
            <a:xfrm>
              <a:off x="7041003" y="357616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62" name="TextBox 62"/>
            <p:cNvSpPr txBox="1"/>
            <p:nvPr/>
          </p:nvSpPr>
          <p:spPr>
            <a:xfrm>
              <a:off x="8187813" y="357616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63" name="TextBox 63"/>
            <p:cNvSpPr txBox="1"/>
            <p:nvPr/>
          </p:nvSpPr>
          <p:spPr>
            <a:xfrm>
              <a:off x="6592376" y="317611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64" name="TextBox 64"/>
            <p:cNvSpPr txBox="1"/>
            <p:nvPr/>
          </p:nvSpPr>
          <p:spPr>
            <a:xfrm>
              <a:off x="6592376" y="2079784"/>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65" name="TextBox 65"/>
            <p:cNvSpPr txBox="1"/>
            <p:nvPr/>
          </p:nvSpPr>
          <p:spPr>
            <a:xfrm>
              <a:off x="9746103" y="357616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66" name="TextBox 66"/>
            <p:cNvSpPr txBox="1"/>
            <p:nvPr/>
          </p:nvSpPr>
          <p:spPr>
            <a:xfrm>
              <a:off x="10892913" y="357616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67" name="TextBox 67"/>
            <p:cNvSpPr txBox="1"/>
            <p:nvPr/>
          </p:nvSpPr>
          <p:spPr>
            <a:xfrm>
              <a:off x="9297476" y="3176111"/>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68" name="TextBox 68"/>
            <p:cNvSpPr txBox="1"/>
            <p:nvPr/>
          </p:nvSpPr>
          <p:spPr>
            <a:xfrm>
              <a:off x="9297476" y="2079784"/>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grpSp>
      <p:grpSp>
        <p:nvGrpSpPr>
          <p:cNvPr id="76" name="c2-card-2"/>
          <p:cNvGrpSpPr/>
          <p:nvPr/>
        </p:nvGrpSpPr>
        <p:grpSpPr>
          <a:xfrm>
            <a:off x="6248400" y="4218622"/>
            <a:ext cx="5410200" cy="1483995"/>
            <a:chOff x="6248400" y="4218622"/>
            <a:chExt cx="5410200" cy="1483995"/>
          </a:xfrm>
        </p:grpSpPr>
        <p:sp>
          <p:nvSpPr>
            <p:cNvPr id="70" name="Rectangle 70"/>
            <p:cNvSpPr/>
            <p:nvPr/>
          </p:nvSpPr>
          <p:spPr>
            <a:xfrm>
              <a:off x="6248400" y="4218622"/>
              <a:ext cx="5410200" cy="1483995"/>
            </a:xfrm>
            <a:prstGeom prst="roundRect">
              <a:avLst>
                <a:gd name="adj" fmla="val 8986"/>
              </a:avLst>
            </a:prstGeom>
            <a:solidFill>
              <a:srgbClr val="FFFFFF"/>
            </a:solidFill>
            <a:ln w="14288">
              <a:solidFill>
                <a:srgbClr val="D9DFEA"/>
              </a:solidFill>
            </a:ln>
          </p:spPr>
        </p:sp>
        <p:sp>
          <p:nvSpPr>
            <p:cNvPr id="71" name="Rectangle 71"/>
            <p:cNvSpPr/>
            <p:nvPr/>
          </p:nvSpPr>
          <p:spPr>
            <a:xfrm>
              <a:off x="6257925" y="4351972"/>
              <a:ext cx="47625" cy="1217295"/>
            </a:xfrm>
            <a:prstGeom prst="roundRect">
              <a:avLst>
                <a:gd name="adj" fmla="val 50000"/>
              </a:avLst>
            </a:prstGeom>
            <a:solidFill>
              <a:srgbClr val="5B6475"/>
            </a:solidFill>
            <a:ln>
              <a:noFill/>
            </a:ln>
          </p:spPr>
        </p:sp>
        <p:sp>
          <p:nvSpPr>
            <p:cNvPr id="72" name="Rectangle 72"/>
            <p:cNvSpPr/>
            <p:nvPr/>
          </p:nvSpPr>
          <p:spPr>
            <a:xfrm>
              <a:off x="6478905" y="4411028"/>
              <a:ext cx="476250" cy="247650"/>
            </a:xfrm>
            <a:prstGeom prst="roundRect">
              <a:avLst>
                <a:gd name="adj" fmla="val 50000"/>
              </a:avLst>
            </a:prstGeom>
            <a:solidFill>
              <a:srgbClr val="F4F6FB"/>
            </a:solidFill>
            <a:ln>
              <a:noFill/>
            </a:ln>
          </p:spPr>
        </p:sp>
        <p:sp>
          <p:nvSpPr>
            <p:cNvPr id="73" name="TextBox 73"/>
            <p:cNvSpPr txBox="1"/>
            <p:nvPr/>
          </p:nvSpPr>
          <p:spPr>
            <a:xfrm>
              <a:off x="6570345" y="4445318"/>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74" name="TextBox 74"/>
            <p:cNvSpPr txBox="1"/>
            <p:nvPr/>
          </p:nvSpPr>
          <p:spPr>
            <a:xfrm>
              <a:off x="7062597" y="4451032"/>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这两个例子用的是阶跃函数</a:t>
              </a:r>
            </a:p>
          </p:txBody>
        </p:sp>
        <p:sp>
          <p:nvSpPr>
            <p:cNvPr id="75" name="TextBox 75"/>
            <p:cNvSpPr txBox="1"/>
            <p:nvPr/>
          </p:nvSpPr>
          <p:spPr>
            <a:xfrm>
              <a:off x="6472047" y="4784408"/>
              <a:ext cx="4797171"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源课件写作 O = sign(0.5x + 0.5y − θ)，但输出取的是 0 和</a:t>
              </a:r>
              <a:br/>
              <a:r>
                <a:rPr lang="zh-CN" sz="1350" dirty="0">
                  <a:solidFill>
                    <a:srgbClr val="1F2937"/>
                  </a:solidFill>
                  <a:latin typeface="+mn-lt"/>
                  <a:ea typeface="+mn-ea"/>
                  <a:cs typeface="+mn-cs"/>
                </a:rPr>
                <a:t>1，实际是 step，与例题页的更正相同。深色点输出 1，浅灰点</a:t>
              </a:r>
              <a:br/>
              <a:r>
                <a:rPr lang="zh-CN" sz="1350" dirty="0">
                  <a:solidFill>
                    <a:srgbClr val="1F2937"/>
                  </a:solidFill>
                  <a:latin typeface="+mn-lt"/>
                  <a:ea typeface="+mn-ea"/>
                  <a:cs typeface="+mn-cs"/>
                </a:rPr>
                <a:t>输出 0；换成 sign 时浅灰点读作 −1，直线不变。</a:t>
              </a:r>
            </a:p>
          </p:txBody>
        </p:sp>
      </p:grpSp>
      <p:grpSp>
        <p:nvGrpSpPr>
          <p:cNvPr id="83" name="takeaway"/>
          <p:cNvGrpSpPr/>
          <p:nvPr/>
        </p:nvGrpSpPr>
        <p:grpSpPr>
          <a:xfrm>
            <a:off x="533400" y="5874068"/>
            <a:ext cx="11125200" cy="488632"/>
            <a:chOff x="533400" y="5874068"/>
            <a:chExt cx="11125200" cy="488632"/>
          </a:xfrm>
        </p:grpSpPr>
        <p:sp>
          <p:nvSpPr>
            <p:cNvPr id="77" name="Rectangle 77"/>
            <p:cNvSpPr/>
            <p:nvPr/>
          </p:nvSpPr>
          <p:spPr>
            <a:xfrm>
              <a:off x="533400" y="5874068"/>
              <a:ext cx="11125200" cy="488632"/>
            </a:xfrm>
            <a:prstGeom prst="roundRect">
              <a:avLst>
                <a:gd name="adj" fmla="val 23392"/>
              </a:avLst>
            </a:prstGeom>
            <a:solidFill>
              <a:srgbClr val="F4F6FB"/>
            </a:solidFill>
            <a:ln>
              <a:noFill/>
            </a:ln>
          </p:spPr>
        </p:sp>
        <p:grpSp>
          <p:nvGrpSpPr>
            <p:cNvPr id="81" name="Group 81"/>
            <p:cNvGrpSpPr/>
            <p:nvPr/>
          </p:nvGrpSpPr>
          <p:grpSpPr>
            <a:xfrm>
              <a:off x="738188" y="6017895"/>
              <a:ext cx="200026" cy="200026"/>
              <a:chOff x="738188" y="6017895"/>
              <a:chExt cx="200026" cy="200026"/>
            </a:xfrm>
          </p:grpSpPr>
          <p:sp>
            <p:nvSpPr>
              <p:cNvPr id="78" name="Freeform 78"/>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9" name="Freeform 79"/>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80" name="Freeform 80"/>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82" name="TextBox 82"/>
            <p:cNvSpPr txBox="1"/>
            <p:nvPr/>
          </p:nvSpPr>
          <p:spPr>
            <a:xfrm>
              <a:off x="1040892" y="6023610"/>
              <a:ext cx="644720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感知器可以看作 n 维实例空间中的超平面决策面：一侧输出 1，另一侧输出 −1。</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620821" cy="909257"/>
            <a:chOff x="520446" y="342900"/>
            <a:chExt cx="4620821"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62082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XOR 为什么一个感知器做不到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card-1"/>
          <p:cNvGrpSpPr/>
          <p:nvPr/>
        </p:nvGrpSpPr>
        <p:grpSpPr>
          <a:xfrm>
            <a:off x="533400" y="1524000"/>
            <a:ext cx="5626418" cy="2676525"/>
            <a:chOff x="533400" y="1524000"/>
            <a:chExt cx="5626418" cy="2676525"/>
          </a:xfrm>
        </p:grpSpPr>
        <p:sp>
          <p:nvSpPr>
            <p:cNvPr id="7" name="Rectangle 7"/>
            <p:cNvSpPr/>
            <p:nvPr/>
          </p:nvSpPr>
          <p:spPr>
            <a:xfrm>
              <a:off x="533400" y="1524000"/>
              <a:ext cx="5626418" cy="2676525"/>
            </a:xfrm>
            <a:prstGeom prst="roundRect">
              <a:avLst>
                <a:gd name="adj" fmla="val 4982"/>
              </a:avLst>
            </a:prstGeom>
            <a:solidFill>
              <a:srgbClr val="FFFFFF"/>
            </a:solidFill>
            <a:ln w="14288">
              <a:solidFill>
                <a:srgbClr val="D9DFEA"/>
              </a:solidFill>
            </a:ln>
          </p:spPr>
        </p:sp>
        <p:sp>
          <p:nvSpPr>
            <p:cNvPr id="8" name="Rectangle 8"/>
            <p:cNvSpPr/>
            <p:nvPr/>
          </p:nvSpPr>
          <p:spPr>
            <a:xfrm>
              <a:off x="542925" y="1657350"/>
              <a:ext cx="47625" cy="2409825"/>
            </a:xfrm>
            <a:prstGeom prst="roundRect">
              <a:avLst>
                <a:gd name="adj" fmla="val 50000"/>
              </a:avLst>
            </a:prstGeom>
            <a:solidFill>
              <a:srgbClr val="F26B3A"/>
            </a:solidFill>
            <a:ln>
              <a:noFill/>
            </a:ln>
          </p:spPr>
        </p:sp>
        <p:sp>
          <p:nvSpPr>
            <p:cNvPr id="9" name="Rectangle 9"/>
            <p:cNvSpPr/>
            <p:nvPr/>
          </p:nvSpPr>
          <p:spPr>
            <a:xfrm>
              <a:off x="781050" y="1733550"/>
              <a:ext cx="494348" cy="257175"/>
            </a:xfrm>
            <a:prstGeom prst="roundRect">
              <a:avLst>
                <a:gd name="adj" fmla="val 50000"/>
              </a:avLst>
            </a:prstGeom>
            <a:solidFill>
              <a:srgbClr val="FDEEE7"/>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反证</a:t>
              </a:r>
            </a:p>
          </p:txBody>
        </p:sp>
        <p:sp>
          <p:nvSpPr>
            <p:cNvPr id="11" name="TextBox 11"/>
            <p:cNvSpPr txBox="1"/>
            <p:nvPr/>
          </p:nvSpPr>
          <p:spPr>
            <a:xfrm>
              <a:off x="1382078" y="1768792"/>
              <a:ext cx="286402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假设存在 w₁, w₂, b 实现 XOR</a:t>
              </a:r>
            </a:p>
          </p:txBody>
        </p:sp>
        <p:sp>
          <p:nvSpPr>
            <p:cNvPr id="12" name="Ellipse 12"/>
            <p:cNvSpPr/>
            <p:nvPr/>
          </p:nvSpPr>
          <p:spPr>
            <a:xfrm>
              <a:off x="781050" y="2116455"/>
              <a:ext cx="213360" cy="213360"/>
            </a:xfrm>
            <a:prstGeom prst="ellipse">
              <a:avLst/>
            </a:prstGeom>
            <a:solidFill>
              <a:srgbClr val="0E7C86"/>
            </a:solidFill>
            <a:ln>
              <a:noFill/>
            </a:ln>
          </p:spPr>
        </p:sp>
        <p:sp>
          <p:nvSpPr>
            <p:cNvPr id="13" name="TextBox 13"/>
            <p:cNvSpPr txBox="1"/>
            <p:nvPr/>
          </p:nvSpPr>
          <p:spPr>
            <a:xfrm>
              <a:off x="842899" y="215874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4" name="TextBox 14"/>
            <p:cNvSpPr txBox="1"/>
            <p:nvPr/>
          </p:nvSpPr>
          <p:spPr>
            <a:xfrm>
              <a:off x="1082040" y="2129790"/>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(0,0) → 0，故 b &lt; 0</a:t>
              </a:r>
            </a:p>
          </p:txBody>
        </p:sp>
        <p:sp>
          <p:nvSpPr>
            <p:cNvPr id="15" name="Ellipse 15"/>
            <p:cNvSpPr/>
            <p:nvPr/>
          </p:nvSpPr>
          <p:spPr>
            <a:xfrm>
              <a:off x="781050" y="2451735"/>
              <a:ext cx="213360" cy="213360"/>
            </a:xfrm>
            <a:prstGeom prst="ellipse">
              <a:avLst/>
            </a:prstGeom>
            <a:solidFill>
              <a:srgbClr val="0E7C86"/>
            </a:solidFill>
            <a:ln>
              <a:noFill/>
            </a:ln>
          </p:spPr>
        </p:sp>
        <p:sp>
          <p:nvSpPr>
            <p:cNvPr id="16" name="TextBox 16"/>
            <p:cNvSpPr txBox="1"/>
            <p:nvPr/>
          </p:nvSpPr>
          <p:spPr>
            <a:xfrm>
              <a:off x="842899" y="24940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7" name="TextBox 17"/>
            <p:cNvSpPr txBox="1"/>
            <p:nvPr/>
          </p:nvSpPr>
          <p:spPr>
            <a:xfrm>
              <a:off x="1082040" y="2465070"/>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(1,0) → 1，故 w₁ + b ≥ 0，即 w₁ ≥ −b &gt; 0</a:t>
              </a:r>
            </a:p>
          </p:txBody>
        </p:sp>
        <p:sp>
          <p:nvSpPr>
            <p:cNvPr id="18" name="Ellipse 18"/>
            <p:cNvSpPr/>
            <p:nvPr/>
          </p:nvSpPr>
          <p:spPr>
            <a:xfrm>
              <a:off x="781050" y="2787015"/>
              <a:ext cx="213360" cy="213360"/>
            </a:xfrm>
            <a:prstGeom prst="ellipse">
              <a:avLst/>
            </a:prstGeom>
            <a:solidFill>
              <a:srgbClr val="0E7C86"/>
            </a:solidFill>
            <a:ln>
              <a:noFill/>
            </a:ln>
          </p:spPr>
        </p:sp>
        <p:sp>
          <p:nvSpPr>
            <p:cNvPr id="19" name="TextBox 19"/>
            <p:cNvSpPr txBox="1"/>
            <p:nvPr/>
          </p:nvSpPr>
          <p:spPr>
            <a:xfrm>
              <a:off x="842899" y="28293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20" name="TextBox 20"/>
            <p:cNvSpPr txBox="1"/>
            <p:nvPr/>
          </p:nvSpPr>
          <p:spPr>
            <a:xfrm>
              <a:off x="1082040" y="2800350"/>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(0,1) → 1，故 w₂ + b ≥ 0，即 w₂ ≥ −b &gt; 0</a:t>
              </a:r>
            </a:p>
          </p:txBody>
        </p:sp>
        <p:sp>
          <p:nvSpPr>
            <p:cNvPr id="21" name="Ellipse 21"/>
            <p:cNvSpPr/>
            <p:nvPr/>
          </p:nvSpPr>
          <p:spPr>
            <a:xfrm>
              <a:off x="781050" y="3122295"/>
              <a:ext cx="213360" cy="213360"/>
            </a:xfrm>
            <a:prstGeom prst="ellipse">
              <a:avLst/>
            </a:prstGeom>
            <a:solidFill>
              <a:srgbClr val="0E7C86"/>
            </a:solidFill>
            <a:ln>
              <a:noFill/>
            </a:ln>
          </p:spPr>
        </p:sp>
        <p:sp>
          <p:nvSpPr>
            <p:cNvPr id="22" name="TextBox 22"/>
            <p:cNvSpPr txBox="1"/>
            <p:nvPr/>
          </p:nvSpPr>
          <p:spPr>
            <a:xfrm>
              <a:off x="842899" y="316458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23" name="TextBox 23"/>
            <p:cNvSpPr txBox="1"/>
            <p:nvPr/>
          </p:nvSpPr>
          <p:spPr>
            <a:xfrm>
              <a:off x="1082040" y="3135630"/>
              <a:ext cx="282206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(1,1) → 0，故 w₁ + w₂ + b &lt; 0</a:t>
              </a:r>
            </a:p>
          </p:txBody>
        </p:sp>
        <p:sp>
          <p:nvSpPr>
            <p:cNvPr id="24" name="TextBox 24"/>
            <p:cNvSpPr txBox="1"/>
            <p:nvPr/>
          </p:nvSpPr>
          <p:spPr>
            <a:xfrm>
              <a:off x="773430" y="3470910"/>
              <a:ext cx="4739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 2、3 两式相加：w₁ + w₂ + b ≥ (−b) + (−b) + b = −b</a:t>
              </a:r>
              <a:br/>
              <a:r>
                <a:rPr lang="zh-CN" sz="1500" dirty="0">
                  <a:solidFill>
                    <a:srgbClr val="1F2937"/>
                  </a:solidFill>
                  <a:latin typeface="+mn-lt"/>
                  <a:ea typeface="+mn-ea"/>
                  <a:cs typeface="+mn-cs"/>
                </a:rPr>
                <a:t xml:space="preserve">&gt; 0，与第 4 条矛盾。所以 </a:t>
              </a:r>
              <a:r>
                <a:rPr lang="zh-CN" sz="1500" b="1" dirty="0">
                  <a:solidFill>
                    <a:srgbClr val="B42318"/>
                  </a:solidFill>
                  <a:latin typeface="+mn-lt"/>
                  <a:ea typeface="+mn-ea"/>
                  <a:cs typeface="+mn-cs"/>
                </a:rPr>
                <a:t>这样的 w₁, w₂, b 不存在</a:t>
              </a:r>
              <a:r>
                <a:rPr lang="zh-CN" sz="1500" dirty="0">
                  <a:solidFill>
                    <a:srgbClr val="1F2937"/>
                  </a:solidFill>
                  <a:latin typeface="+mn-lt"/>
                  <a:ea typeface="+mn-ea"/>
                  <a:cs typeface="+mn-cs"/>
                </a:rPr>
                <a:t>。</a:t>
              </a:r>
            </a:p>
          </p:txBody>
        </p:sp>
      </p:grpSp>
      <p:grpSp>
        <p:nvGrpSpPr>
          <p:cNvPr id="31" name="c1-callout-2"/>
          <p:cNvGrpSpPr/>
          <p:nvPr/>
        </p:nvGrpSpPr>
        <p:grpSpPr>
          <a:xfrm>
            <a:off x="533400" y="4391025"/>
            <a:ext cx="5626418" cy="782955"/>
            <a:chOff x="533400" y="4391025"/>
            <a:chExt cx="5626418" cy="782955"/>
          </a:xfrm>
        </p:grpSpPr>
        <p:sp>
          <p:nvSpPr>
            <p:cNvPr id="26" name="Rectangle 26"/>
            <p:cNvSpPr/>
            <p:nvPr/>
          </p:nvSpPr>
          <p:spPr>
            <a:xfrm>
              <a:off x="533400" y="4391025"/>
              <a:ext cx="5626418" cy="782955"/>
            </a:xfrm>
            <a:prstGeom prst="roundRect">
              <a:avLst>
                <a:gd name="adj" fmla="val 14599"/>
              </a:avLst>
            </a:prstGeom>
            <a:solidFill>
              <a:srgbClr val="0E7C86"/>
            </a:solidFill>
            <a:ln>
              <a:noFill/>
            </a:ln>
          </p:spPr>
        </p:sp>
        <p:grpSp>
          <p:nvGrpSpPr>
            <p:cNvPr id="29" name="Group 29"/>
            <p:cNvGrpSpPr/>
            <p:nvPr/>
          </p:nvGrpSpPr>
          <p:grpSpPr>
            <a:xfrm>
              <a:off x="738188" y="4682492"/>
              <a:ext cx="200023" cy="200023"/>
              <a:chOff x="738188" y="4682492"/>
              <a:chExt cx="200023" cy="200023"/>
            </a:xfrm>
          </p:grpSpPr>
          <p:sp>
            <p:nvSpPr>
              <p:cNvPr id="27" name="Freeform 27"/>
              <p:cNvSpPr/>
              <p:nvPr/>
            </p:nvSpPr>
            <p:spPr>
              <a:xfrm>
                <a:off x="738188" y="468249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8" name="Freeform 28"/>
              <p:cNvSpPr/>
              <p:nvPr/>
            </p:nvSpPr>
            <p:spPr>
              <a:xfrm>
                <a:off x="871538" y="474916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0" name="TextBox 30"/>
            <p:cNvSpPr txBox="1"/>
            <p:nvPr/>
          </p:nvSpPr>
          <p:spPr>
            <a:xfrm>
              <a:off x="1040130" y="4539615"/>
              <a:ext cx="46158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几何上看：XOR 的两个正样本在对角线两端，任何一条</a:t>
              </a:r>
              <a:br/>
              <a:r>
                <a:rPr lang="zh-CN" sz="1500" dirty="0">
                  <a:solidFill>
                    <a:srgbClr val="FFFFFF"/>
                  </a:solidFill>
                  <a:latin typeface="+mn-lt"/>
                  <a:ea typeface="+mn-ea"/>
                  <a:cs typeface="+mn-cs"/>
                </a:rPr>
                <a:t>直线都分不开对角的两个点。</a:t>
              </a:r>
            </a:p>
          </p:txBody>
        </p:sp>
      </p:grpSp>
      <p:grpSp>
        <p:nvGrpSpPr>
          <p:cNvPr id="45" name="c2-graph-1"/>
          <p:cNvGrpSpPr/>
          <p:nvPr/>
        </p:nvGrpSpPr>
        <p:grpSpPr>
          <a:xfrm>
            <a:off x="7040880" y="1752600"/>
            <a:ext cx="4060508" cy="1620202"/>
            <a:chOff x="7040880" y="1752600"/>
            <a:chExt cx="4060508" cy="1620202"/>
          </a:xfrm>
        </p:grpSpPr>
        <p:sp>
          <p:nvSpPr>
            <p:cNvPr id="32" name="Freeform 32"/>
            <p:cNvSpPr/>
            <p:nvPr/>
          </p:nvSpPr>
          <p:spPr>
            <a:xfrm>
              <a:off x="7126605" y="3080385"/>
              <a:ext cx="3879532" cy="9525"/>
            </a:xfrm>
            <a:custGeom>
              <a:avLst/>
              <a:gdLst/>
              <a:ahLst/>
              <a:cxnLst/>
              <a:rect l="l" t="t" r="r" b="b"/>
              <a:pathLst>
                <a:path w="3879532" h="9525">
                  <a:moveTo>
                    <a:pt x="0" y="0"/>
                  </a:moveTo>
                  <a:lnTo>
                    <a:pt x="3879532" y="0"/>
                  </a:lnTo>
                </a:path>
              </a:pathLst>
            </a:custGeom>
            <a:noFill/>
            <a:ln w="17145">
              <a:solidFill>
                <a:srgbClr val="1F2937"/>
              </a:solidFill>
            </a:ln>
          </p:spPr>
        </p:sp>
        <p:sp>
          <p:nvSpPr>
            <p:cNvPr id="33" name="Freeform 33"/>
            <p:cNvSpPr/>
            <p:nvPr/>
          </p:nvSpPr>
          <p:spPr>
            <a:xfrm>
              <a:off x="11006138" y="30327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4" name="Freeform 34"/>
            <p:cNvSpPr/>
            <p:nvPr/>
          </p:nvSpPr>
          <p:spPr>
            <a:xfrm>
              <a:off x="7088505" y="1885950"/>
              <a:ext cx="9525" cy="1072515"/>
            </a:xfrm>
            <a:custGeom>
              <a:avLst/>
              <a:gdLst/>
              <a:ahLst/>
              <a:cxnLst/>
              <a:rect l="l" t="t" r="r" b="b"/>
              <a:pathLst>
                <a:path w="9525" h="1072515">
                  <a:moveTo>
                    <a:pt x="0" y="1072515"/>
                  </a:moveTo>
                  <a:lnTo>
                    <a:pt x="0" y="0"/>
                  </a:lnTo>
                </a:path>
              </a:pathLst>
            </a:custGeom>
            <a:noFill/>
            <a:ln w="17145">
              <a:solidFill>
                <a:srgbClr val="1F2937"/>
              </a:solidFill>
            </a:ln>
          </p:spPr>
        </p:sp>
        <p:sp>
          <p:nvSpPr>
            <p:cNvPr id="35" name="Freeform 35"/>
            <p:cNvSpPr/>
            <p:nvPr/>
          </p:nvSpPr>
          <p:spPr>
            <a:xfrm>
              <a:off x="7040880" y="179070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6" name="Ellipse 36"/>
            <p:cNvSpPr/>
            <p:nvPr/>
          </p:nvSpPr>
          <p:spPr>
            <a:xfrm>
              <a:off x="7531418" y="2823210"/>
              <a:ext cx="152400" cy="152400"/>
            </a:xfrm>
            <a:prstGeom prst="ellipse">
              <a:avLst/>
            </a:prstGeom>
            <a:solidFill>
              <a:srgbClr val="D9DFEA"/>
            </a:solidFill>
            <a:ln>
              <a:noFill/>
            </a:ln>
          </p:spPr>
        </p:sp>
        <p:sp>
          <p:nvSpPr>
            <p:cNvPr id="37" name="Ellipse 37"/>
            <p:cNvSpPr/>
            <p:nvPr/>
          </p:nvSpPr>
          <p:spPr>
            <a:xfrm>
              <a:off x="7531418" y="1882140"/>
              <a:ext cx="152400" cy="152400"/>
            </a:xfrm>
            <a:prstGeom prst="ellipse">
              <a:avLst/>
            </a:prstGeom>
            <a:solidFill>
              <a:srgbClr val="0E7C86"/>
            </a:solidFill>
            <a:ln>
              <a:noFill/>
            </a:ln>
          </p:spPr>
        </p:sp>
        <p:sp>
          <p:nvSpPr>
            <p:cNvPr id="38" name="Ellipse 38"/>
            <p:cNvSpPr/>
            <p:nvPr/>
          </p:nvSpPr>
          <p:spPr>
            <a:xfrm>
              <a:off x="10127932" y="2823210"/>
              <a:ext cx="152400" cy="152400"/>
            </a:xfrm>
            <a:prstGeom prst="ellipse">
              <a:avLst/>
            </a:prstGeom>
            <a:solidFill>
              <a:srgbClr val="0E7C86"/>
            </a:solidFill>
            <a:ln>
              <a:noFill/>
            </a:ln>
          </p:spPr>
        </p:sp>
        <p:sp>
          <p:nvSpPr>
            <p:cNvPr id="39" name="Ellipse 39"/>
            <p:cNvSpPr/>
            <p:nvPr/>
          </p:nvSpPr>
          <p:spPr>
            <a:xfrm>
              <a:off x="10127932" y="1882140"/>
              <a:ext cx="152400" cy="152400"/>
            </a:xfrm>
            <a:prstGeom prst="ellipse">
              <a:avLst/>
            </a:prstGeom>
            <a:solidFill>
              <a:srgbClr val="D9DFEA"/>
            </a:solidFill>
            <a:ln>
              <a:noFill/>
            </a:ln>
          </p:spPr>
        </p:sp>
        <p:sp>
          <p:nvSpPr>
            <p:cNvPr id="40" name="TextBox 40"/>
            <p:cNvSpPr txBox="1"/>
            <p:nvPr/>
          </p:nvSpPr>
          <p:spPr>
            <a:xfrm>
              <a:off x="7881004" y="291084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a:t>
              </a:r>
            </a:p>
          </p:txBody>
        </p:sp>
        <p:sp>
          <p:nvSpPr>
            <p:cNvPr id="41" name="TextBox 41"/>
            <p:cNvSpPr txBox="1"/>
            <p:nvPr/>
          </p:nvSpPr>
          <p:spPr>
            <a:xfrm>
              <a:off x="7881004" y="175260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a:t>
              </a:r>
            </a:p>
          </p:txBody>
        </p:sp>
        <p:sp>
          <p:nvSpPr>
            <p:cNvPr id="42" name="TextBox 42"/>
            <p:cNvSpPr txBox="1"/>
            <p:nvPr/>
          </p:nvSpPr>
          <p:spPr>
            <a:xfrm>
              <a:off x="10477519" y="291084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a:t>
              </a:r>
            </a:p>
          </p:txBody>
        </p:sp>
        <p:sp>
          <p:nvSpPr>
            <p:cNvPr id="43" name="TextBox 43"/>
            <p:cNvSpPr txBox="1"/>
            <p:nvPr/>
          </p:nvSpPr>
          <p:spPr>
            <a:xfrm>
              <a:off x="10477519" y="175260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a:t>
              </a:r>
            </a:p>
          </p:txBody>
        </p:sp>
        <p:sp>
          <p:nvSpPr>
            <p:cNvPr id="44" name="TextBox 44"/>
            <p:cNvSpPr txBox="1"/>
            <p:nvPr/>
          </p:nvSpPr>
          <p:spPr>
            <a:xfrm>
              <a:off x="8434197" y="3196590"/>
              <a:ext cx="146342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输出相同的两点在对角线上</a:t>
              </a:r>
            </a:p>
          </p:txBody>
        </p:sp>
      </p:grpSp>
      <p:grpSp>
        <p:nvGrpSpPr>
          <p:cNvPr id="52" name="c2-card-2"/>
          <p:cNvGrpSpPr/>
          <p:nvPr/>
        </p:nvGrpSpPr>
        <p:grpSpPr>
          <a:xfrm>
            <a:off x="6464618" y="3524250"/>
            <a:ext cx="5193982" cy="1649730"/>
            <a:chOff x="6464618" y="3524250"/>
            <a:chExt cx="5193982" cy="1649730"/>
          </a:xfrm>
        </p:grpSpPr>
        <p:sp>
          <p:nvSpPr>
            <p:cNvPr id="46" name="Rectangle 46"/>
            <p:cNvSpPr/>
            <p:nvPr/>
          </p:nvSpPr>
          <p:spPr>
            <a:xfrm>
              <a:off x="6464618" y="3524250"/>
              <a:ext cx="5193982" cy="1649730"/>
            </a:xfrm>
            <a:prstGeom prst="roundRect">
              <a:avLst>
                <a:gd name="adj" fmla="val 8083"/>
              </a:avLst>
            </a:prstGeom>
            <a:solidFill>
              <a:srgbClr val="FFFFFF"/>
            </a:solidFill>
            <a:ln w="14288">
              <a:solidFill>
                <a:srgbClr val="D9DFEA"/>
              </a:solidFill>
            </a:ln>
          </p:spPr>
        </p:sp>
        <p:sp>
          <p:nvSpPr>
            <p:cNvPr id="47" name="Rectangle 47"/>
            <p:cNvSpPr/>
            <p:nvPr/>
          </p:nvSpPr>
          <p:spPr>
            <a:xfrm>
              <a:off x="6474142" y="3657600"/>
              <a:ext cx="47625" cy="1383030"/>
            </a:xfrm>
            <a:prstGeom prst="roundRect">
              <a:avLst>
                <a:gd name="adj" fmla="val 50000"/>
              </a:avLst>
            </a:prstGeom>
            <a:solidFill>
              <a:srgbClr val="14A38B"/>
            </a:solidFill>
            <a:ln>
              <a:noFill/>
            </a:ln>
          </p:spPr>
        </p:sp>
        <p:sp>
          <p:nvSpPr>
            <p:cNvPr id="48" name="Rectangle 48"/>
            <p:cNvSpPr/>
            <p:nvPr/>
          </p:nvSpPr>
          <p:spPr>
            <a:xfrm>
              <a:off x="6712268" y="3733800"/>
              <a:ext cx="494348" cy="257175"/>
            </a:xfrm>
            <a:prstGeom prst="roundRect">
              <a:avLst>
                <a:gd name="adj" fmla="val 50000"/>
              </a:avLst>
            </a:prstGeom>
            <a:solidFill>
              <a:srgbClr val="E3F5F1"/>
            </a:solidFill>
            <a:ln>
              <a:noFill/>
            </a:ln>
          </p:spPr>
        </p:sp>
        <p:sp>
          <p:nvSpPr>
            <p:cNvPr id="49" name="TextBox 49"/>
            <p:cNvSpPr txBox="1"/>
            <p:nvPr/>
          </p:nvSpPr>
          <p:spPr>
            <a:xfrm>
              <a:off x="6803428" y="376951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出路</a:t>
              </a:r>
            </a:p>
          </p:txBody>
        </p:sp>
        <p:sp>
          <p:nvSpPr>
            <p:cNvPr id="50" name="TextBox 50"/>
            <p:cNvSpPr txBox="1"/>
            <p:nvPr/>
          </p:nvSpPr>
          <p:spPr>
            <a:xfrm>
              <a:off x="7313295" y="3769042"/>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两层就够了</a:t>
              </a:r>
            </a:p>
          </p:txBody>
        </p:sp>
        <p:sp>
          <p:nvSpPr>
            <p:cNvPr id="51" name="TextBox 51"/>
            <p:cNvSpPr txBox="1"/>
            <p:nvPr/>
          </p:nvSpPr>
          <p:spPr>
            <a:xfrm>
              <a:off x="6704648" y="4130040"/>
              <a:ext cx="44729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 XOR 拆成 (A ∨ B) ∧ ¬(A ∧ B)：第一层两个神经</a:t>
              </a:r>
              <a:br/>
              <a:r>
                <a:rPr lang="zh-CN" sz="1500" dirty="0">
                  <a:solidFill>
                    <a:srgbClr val="1F2937"/>
                  </a:solidFill>
                  <a:latin typeface="+mn-lt"/>
                  <a:ea typeface="+mn-ea"/>
                  <a:cs typeface="+mn-cs"/>
                </a:rPr>
                <a:t>元分别算 OR 和 AND，第二层再组合。这就是 Minsky</a:t>
              </a:r>
              <a:br/>
              <a:r>
                <a:rPr lang="zh-CN" sz="1500" dirty="0">
                  <a:solidFill>
                    <a:srgbClr val="1F2937"/>
                  </a:solidFill>
                  <a:latin typeface="+mn-lt"/>
                  <a:ea typeface="+mn-ea"/>
                  <a:cs typeface="+mn-cs"/>
                </a:rPr>
                <a:t>批评之后，多层网络必须被提出来的直接原因。</a:t>
              </a:r>
            </a:p>
          </p:txBody>
        </p:sp>
      </p:grpSp>
      <p:grpSp>
        <p:nvGrpSpPr>
          <p:cNvPr id="59" name="takeaway"/>
          <p:cNvGrpSpPr/>
          <p:nvPr/>
        </p:nvGrpSpPr>
        <p:grpSpPr>
          <a:xfrm>
            <a:off x="533400" y="5829300"/>
            <a:ext cx="11125200" cy="533400"/>
            <a:chOff x="533400" y="5829300"/>
            <a:chExt cx="11125200" cy="533400"/>
          </a:xfrm>
        </p:grpSpPr>
        <p:sp>
          <p:nvSpPr>
            <p:cNvPr id="53" name="Rectangle 53"/>
            <p:cNvSpPr/>
            <p:nvPr/>
          </p:nvSpPr>
          <p:spPr>
            <a:xfrm>
              <a:off x="533400" y="5829300"/>
              <a:ext cx="11125200" cy="533400"/>
            </a:xfrm>
            <a:prstGeom prst="roundRect">
              <a:avLst>
                <a:gd name="adj" fmla="val 21429"/>
              </a:avLst>
            </a:prstGeom>
            <a:solidFill>
              <a:srgbClr val="FDECEA"/>
            </a:solidFill>
            <a:ln>
              <a:noFill/>
            </a:ln>
          </p:spPr>
        </p:sp>
        <p:grpSp>
          <p:nvGrpSpPr>
            <p:cNvPr id="57" name="Group 57"/>
            <p:cNvGrpSpPr/>
            <p:nvPr/>
          </p:nvGrpSpPr>
          <p:grpSpPr>
            <a:xfrm>
              <a:off x="726129" y="5992296"/>
              <a:ext cx="224134" cy="192560"/>
              <a:chOff x="726129" y="5992296"/>
              <a:chExt cx="224134" cy="192560"/>
            </a:xfrm>
          </p:grpSpPr>
          <p:sp>
            <p:nvSpPr>
              <p:cNvPr id="54" name="Freeform 54"/>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5" name="Freeform 55"/>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6" name="Freeform 56"/>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8" name="TextBox 58"/>
            <p:cNvSpPr txBox="1"/>
            <p:nvPr/>
          </p:nvSpPr>
          <p:spPr>
            <a:xfrm>
              <a:off x="1040130" y="5991225"/>
              <a:ext cx="10295858"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1969 年 Minsky 与 Papert 正是用 XOR 这个例子指出单层感知器的局限，直接导致神经网络研究进入第一次低潮。</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层数决定能围出什么形状的决策区域</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3" name="c1-table-1"/>
          <p:cNvGrpSpPr/>
          <p:nvPr/>
        </p:nvGrpSpPr>
        <p:grpSpPr>
          <a:xfrm>
            <a:off x="528447" y="1524000"/>
            <a:ext cx="4982718" cy="2349531"/>
            <a:chOff x="528447" y="1524000"/>
            <a:chExt cx="4982718" cy="2349531"/>
          </a:xfrm>
        </p:grpSpPr>
        <p:sp>
          <p:nvSpPr>
            <p:cNvPr id="7" name="Rectangle 7"/>
            <p:cNvSpPr/>
            <p:nvPr/>
          </p:nvSpPr>
          <p:spPr>
            <a:xfrm>
              <a:off x="533400" y="1524000"/>
              <a:ext cx="4977765" cy="381000"/>
            </a:xfrm>
            <a:prstGeom prst="rect">
              <a:avLst/>
            </a:prstGeom>
            <a:solidFill>
              <a:srgbClr val="0E7C86"/>
            </a:solidFill>
            <a:ln>
              <a:noFill/>
            </a:ln>
          </p:spPr>
        </p:sp>
        <p:sp>
          <p:nvSpPr>
            <p:cNvPr id="8" name="TextBox 8"/>
            <p:cNvSpPr txBox="1"/>
            <p:nvPr/>
          </p:nvSpPr>
          <p:spPr>
            <a:xfrm>
              <a:off x="934402"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结构</a:t>
              </a:r>
            </a:p>
          </p:txBody>
        </p:sp>
        <p:sp>
          <p:nvSpPr>
            <p:cNvPr id="9" name="TextBox 9"/>
            <p:cNvSpPr txBox="1"/>
            <p:nvPr/>
          </p:nvSpPr>
          <p:spPr>
            <a:xfrm>
              <a:off x="2045208" y="1641157"/>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决策区域类型</a:t>
              </a:r>
            </a:p>
          </p:txBody>
        </p:sp>
        <p:sp>
          <p:nvSpPr>
            <p:cNvPr id="10" name="TextBox 10"/>
            <p:cNvSpPr txBox="1"/>
            <p:nvPr/>
          </p:nvSpPr>
          <p:spPr>
            <a:xfrm>
              <a:off x="3518638" y="1641157"/>
              <a:ext cx="300784"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XOR</a:t>
              </a:r>
            </a:p>
          </p:txBody>
        </p:sp>
        <p:sp>
          <p:nvSpPr>
            <p:cNvPr id="11" name="TextBox 11"/>
            <p:cNvSpPr txBox="1"/>
            <p:nvPr/>
          </p:nvSpPr>
          <p:spPr>
            <a:xfrm>
              <a:off x="4335018" y="1641157"/>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交错分布的类</a:t>
              </a:r>
            </a:p>
          </p:txBody>
        </p:sp>
        <p:sp>
          <p:nvSpPr>
            <p:cNvPr id="12" name="TextBox 12"/>
            <p:cNvSpPr txBox="1"/>
            <p:nvPr/>
          </p:nvSpPr>
          <p:spPr>
            <a:xfrm>
              <a:off x="628078" y="2023110"/>
              <a:ext cx="829770"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单层</a:t>
              </a:r>
              <a:br/>
              <a:r>
                <a:rPr lang="en-US" sz="1050" b="1" dirty="0">
                  <a:solidFill>
                    <a:srgbClr val="1F2937"/>
                  </a:solidFill>
                  <a:latin typeface="+mn-lt"/>
                  <a:ea typeface="+mn-ea"/>
                  <a:cs typeface="+mn-cs"/>
                </a:rPr>
                <a:t>single-layer</a:t>
              </a:r>
            </a:p>
          </p:txBody>
        </p:sp>
        <p:sp>
          <p:nvSpPr>
            <p:cNvPr id="13" name="TextBox 13"/>
            <p:cNvSpPr txBox="1"/>
            <p:nvPr/>
          </p:nvSpPr>
          <p:spPr>
            <a:xfrm>
              <a:off x="1723454" y="2023110"/>
              <a:ext cx="13441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被一个超平面切出的半</a:t>
              </a:r>
              <a:br/>
              <a:r>
                <a:rPr lang="zh-CN" sz="1050" dirty="0">
                  <a:solidFill>
                    <a:srgbClr val="1F2937"/>
                  </a:solidFill>
                  <a:latin typeface="+mn-lt"/>
                  <a:ea typeface="+mn-ea"/>
                  <a:cs typeface="+mn-cs"/>
                </a:rPr>
                <a:t>平面</a:t>
              </a:r>
            </a:p>
          </p:txBody>
        </p:sp>
        <p:sp>
          <p:nvSpPr>
            <p:cNvPr id="14" name="TextBox 14"/>
            <p:cNvSpPr txBox="1"/>
            <p:nvPr/>
          </p:nvSpPr>
          <p:spPr>
            <a:xfrm>
              <a:off x="3415094" y="2116455"/>
              <a:ext cx="152019" cy="205359"/>
            </a:xfrm>
            <a:prstGeom prst="rect">
              <a:avLst/>
            </a:prstGeom>
            <a:noFill/>
            <a:ln>
              <a:noFill/>
            </a:ln>
          </p:spPr>
          <p:txBody>
            <a:bodyPr wrap="none" lIns="0" tIns="0" rIns="0" bIns="0" anchor="t" anchorCtr="0">
              <a:spAutoFit/>
            </a:bodyPr>
            <a:lstStyle/>
            <a:p>
              <a:pPr algn="l"/>
              <a:r>
                <a:rPr lang="zh-CN" sz="1050" dirty="0">
                  <a:solidFill>
                    <a:srgbClr val="B42318"/>
                  </a:solidFill>
                  <a:latin typeface="+mn-lt"/>
                  <a:ea typeface="+mn-ea"/>
                  <a:cs typeface="+mn-cs"/>
                </a:rPr>
                <a:t>✗</a:t>
              </a:r>
            </a:p>
          </p:txBody>
        </p:sp>
        <p:sp>
          <p:nvSpPr>
            <p:cNvPr id="15" name="TextBox 15"/>
            <p:cNvSpPr txBox="1"/>
            <p:nvPr/>
          </p:nvSpPr>
          <p:spPr>
            <a:xfrm>
              <a:off x="4112324" y="2116455"/>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不能</a:t>
              </a:r>
            </a:p>
          </p:txBody>
        </p:sp>
        <p:sp>
          <p:nvSpPr>
            <p:cNvPr id="16" name="Rectangle 16"/>
            <p:cNvSpPr/>
            <p:nvPr/>
          </p:nvSpPr>
          <p:spPr>
            <a:xfrm>
              <a:off x="533400" y="2468880"/>
              <a:ext cx="4977765" cy="9525"/>
            </a:xfrm>
            <a:prstGeom prst="rect">
              <a:avLst/>
            </a:prstGeom>
            <a:solidFill>
              <a:srgbClr val="D9DFEA"/>
            </a:solidFill>
            <a:ln>
              <a:noFill/>
            </a:ln>
          </p:spPr>
        </p:sp>
        <p:sp>
          <p:nvSpPr>
            <p:cNvPr id="17" name="Rectangle 17"/>
            <p:cNvSpPr/>
            <p:nvPr/>
          </p:nvSpPr>
          <p:spPr>
            <a:xfrm>
              <a:off x="533400" y="2473642"/>
              <a:ext cx="4977765" cy="567690"/>
            </a:xfrm>
            <a:prstGeom prst="rect">
              <a:avLst/>
            </a:prstGeom>
            <a:solidFill>
              <a:srgbClr val="F4F6FB"/>
            </a:solidFill>
            <a:ln>
              <a:noFill/>
            </a:ln>
          </p:spPr>
        </p:sp>
        <p:sp>
          <p:nvSpPr>
            <p:cNvPr id="18" name="TextBox 18"/>
            <p:cNvSpPr txBox="1"/>
            <p:nvPr/>
          </p:nvSpPr>
          <p:spPr>
            <a:xfrm>
              <a:off x="628078" y="2590800"/>
              <a:ext cx="696754"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两层</a:t>
              </a:r>
              <a:br/>
              <a:r>
                <a:rPr lang="en-US" sz="1050" b="1" dirty="0">
                  <a:solidFill>
                    <a:srgbClr val="1F2937"/>
                  </a:solidFill>
                  <a:latin typeface="+mn-lt"/>
                  <a:ea typeface="+mn-ea"/>
                  <a:cs typeface="+mn-cs"/>
                </a:rPr>
                <a:t>two-layer</a:t>
              </a:r>
            </a:p>
          </p:txBody>
        </p:sp>
        <p:sp>
          <p:nvSpPr>
            <p:cNvPr id="19" name="TextBox 19"/>
            <p:cNvSpPr txBox="1"/>
            <p:nvPr/>
          </p:nvSpPr>
          <p:spPr>
            <a:xfrm>
              <a:off x="1723454" y="268414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凸的开区域或闭区域</a:t>
              </a:r>
            </a:p>
          </p:txBody>
        </p:sp>
        <p:sp>
          <p:nvSpPr>
            <p:cNvPr id="20" name="TextBox 20"/>
            <p:cNvSpPr txBox="1"/>
            <p:nvPr/>
          </p:nvSpPr>
          <p:spPr>
            <a:xfrm>
              <a:off x="3415094" y="2684145"/>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a:t>
              </a:r>
            </a:p>
          </p:txBody>
        </p:sp>
        <p:sp>
          <p:nvSpPr>
            <p:cNvPr id="21" name="TextBox 21"/>
            <p:cNvSpPr txBox="1"/>
            <p:nvPr/>
          </p:nvSpPr>
          <p:spPr>
            <a:xfrm>
              <a:off x="4112324" y="2684145"/>
              <a:ext cx="43472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部分能</a:t>
              </a:r>
            </a:p>
          </p:txBody>
        </p:sp>
        <p:sp>
          <p:nvSpPr>
            <p:cNvPr id="22" name="Rectangle 22"/>
            <p:cNvSpPr/>
            <p:nvPr/>
          </p:nvSpPr>
          <p:spPr>
            <a:xfrm>
              <a:off x="533400" y="3036570"/>
              <a:ext cx="4977765" cy="9525"/>
            </a:xfrm>
            <a:prstGeom prst="rect">
              <a:avLst/>
            </a:prstGeom>
            <a:solidFill>
              <a:srgbClr val="D9DFEA"/>
            </a:solidFill>
            <a:ln>
              <a:noFill/>
            </a:ln>
          </p:spPr>
        </p:sp>
        <p:sp>
          <p:nvSpPr>
            <p:cNvPr id="23" name="TextBox 23"/>
            <p:cNvSpPr txBox="1"/>
            <p:nvPr/>
          </p:nvSpPr>
          <p:spPr>
            <a:xfrm>
              <a:off x="628078" y="3158490"/>
              <a:ext cx="822770"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三层</a:t>
              </a:r>
              <a:br/>
              <a:r>
                <a:rPr lang="en-US" sz="1050" b="1" dirty="0">
                  <a:solidFill>
                    <a:srgbClr val="1F2937"/>
                  </a:solidFill>
                  <a:latin typeface="+mn-lt"/>
                  <a:ea typeface="+mn-ea"/>
                  <a:cs typeface="+mn-cs"/>
                </a:rPr>
                <a:t>three-layer</a:t>
              </a:r>
            </a:p>
          </p:txBody>
        </p:sp>
        <p:sp>
          <p:nvSpPr>
            <p:cNvPr id="24" name="Rectangle 24"/>
            <p:cNvSpPr/>
            <p:nvPr/>
          </p:nvSpPr>
          <p:spPr>
            <a:xfrm>
              <a:off x="1638300" y="3050858"/>
              <a:ext cx="1673542" cy="548640"/>
            </a:xfrm>
            <a:prstGeom prst="rect">
              <a:avLst/>
            </a:prstGeom>
            <a:solidFill>
              <a:srgbClr val="E3F5F1"/>
            </a:solidFill>
            <a:ln>
              <a:noFill/>
            </a:ln>
          </p:spPr>
        </p:sp>
        <p:sp>
          <p:nvSpPr>
            <p:cNvPr id="25" name="TextBox 25"/>
            <p:cNvSpPr txBox="1"/>
            <p:nvPr/>
          </p:nvSpPr>
          <p:spPr>
            <a:xfrm>
              <a:off x="1723454" y="3158490"/>
              <a:ext cx="13441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任意形状（复杂度受节</a:t>
              </a:r>
              <a:br/>
              <a:r>
                <a:rPr lang="zh-CN" sz="1050" dirty="0">
                  <a:solidFill>
                    <a:srgbClr val="1F2937"/>
                  </a:solidFill>
                  <a:latin typeface="+mn-lt"/>
                  <a:ea typeface="+mn-ea"/>
                  <a:cs typeface="+mn-cs"/>
                </a:rPr>
                <a:t>点数限制）</a:t>
              </a:r>
            </a:p>
          </p:txBody>
        </p:sp>
        <p:sp>
          <p:nvSpPr>
            <p:cNvPr id="26" name="TextBox 26"/>
            <p:cNvSpPr txBox="1"/>
            <p:nvPr/>
          </p:nvSpPr>
          <p:spPr>
            <a:xfrm>
              <a:off x="3415094" y="3251835"/>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a:t>
              </a:r>
            </a:p>
          </p:txBody>
        </p:sp>
        <p:sp>
          <p:nvSpPr>
            <p:cNvPr id="27" name="TextBox 27"/>
            <p:cNvSpPr txBox="1"/>
            <p:nvPr/>
          </p:nvSpPr>
          <p:spPr>
            <a:xfrm>
              <a:off x="4112324" y="3251835"/>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能</a:t>
              </a:r>
            </a:p>
          </p:txBody>
        </p:sp>
        <p:sp>
          <p:nvSpPr>
            <p:cNvPr id="28" name="Rectangle 28"/>
            <p:cNvSpPr/>
            <p:nvPr/>
          </p:nvSpPr>
          <p:spPr>
            <a:xfrm>
              <a:off x="533400" y="1524000"/>
              <a:ext cx="4977765" cy="2085975"/>
            </a:xfrm>
            <a:prstGeom prst="rect">
              <a:avLst/>
            </a:prstGeom>
            <a:noFill/>
            <a:ln w="14288">
              <a:solidFill>
                <a:srgbClr val="D9DFEA"/>
              </a:solidFill>
            </a:ln>
          </p:spPr>
        </p:sp>
        <p:sp>
          <p:nvSpPr>
            <p:cNvPr id="29" name="Rectangle 29"/>
            <p:cNvSpPr/>
            <p:nvPr/>
          </p:nvSpPr>
          <p:spPr>
            <a:xfrm>
              <a:off x="1624012" y="1524000"/>
              <a:ext cx="9525" cy="2085975"/>
            </a:xfrm>
            <a:prstGeom prst="rect">
              <a:avLst/>
            </a:prstGeom>
            <a:solidFill>
              <a:srgbClr val="D9DFEA"/>
            </a:solidFill>
            <a:ln>
              <a:noFill/>
            </a:ln>
          </p:spPr>
        </p:sp>
        <p:sp>
          <p:nvSpPr>
            <p:cNvPr id="30" name="Rectangle 30"/>
            <p:cNvSpPr/>
            <p:nvPr/>
          </p:nvSpPr>
          <p:spPr>
            <a:xfrm>
              <a:off x="3315652" y="1524000"/>
              <a:ext cx="9525" cy="2085975"/>
            </a:xfrm>
            <a:prstGeom prst="rect">
              <a:avLst/>
            </a:prstGeom>
            <a:solidFill>
              <a:srgbClr val="D9DFEA"/>
            </a:solidFill>
            <a:ln>
              <a:noFill/>
            </a:ln>
          </p:spPr>
        </p:sp>
        <p:sp>
          <p:nvSpPr>
            <p:cNvPr id="31" name="Rectangle 31"/>
            <p:cNvSpPr/>
            <p:nvPr/>
          </p:nvSpPr>
          <p:spPr>
            <a:xfrm>
              <a:off x="4012882" y="1524000"/>
              <a:ext cx="9525" cy="2085975"/>
            </a:xfrm>
            <a:prstGeom prst="rect">
              <a:avLst/>
            </a:prstGeom>
            <a:solidFill>
              <a:srgbClr val="D9DFEA"/>
            </a:solidFill>
            <a:ln>
              <a:noFill/>
            </a:ln>
          </p:spPr>
        </p:sp>
        <p:sp>
          <p:nvSpPr>
            <p:cNvPr id="32" name="TextBox 32"/>
            <p:cNvSpPr txBox="1"/>
            <p:nvPr/>
          </p:nvSpPr>
          <p:spPr>
            <a:xfrm>
              <a:off x="528447" y="3682841"/>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网络结构与可表示的决策区域</a:t>
              </a:r>
            </a:p>
          </p:txBody>
        </p:sp>
      </p:grpSp>
      <p:grpSp>
        <p:nvGrpSpPr>
          <p:cNvPr id="47" name="c1-card-2"/>
          <p:cNvGrpSpPr/>
          <p:nvPr/>
        </p:nvGrpSpPr>
        <p:grpSpPr>
          <a:xfrm>
            <a:off x="533400" y="3999548"/>
            <a:ext cx="4977765" cy="1487805"/>
            <a:chOff x="533400" y="3999548"/>
            <a:chExt cx="4977765" cy="1487805"/>
          </a:xfrm>
        </p:grpSpPr>
        <p:sp>
          <p:nvSpPr>
            <p:cNvPr id="34" name="Rectangle 34"/>
            <p:cNvSpPr/>
            <p:nvPr/>
          </p:nvSpPr>
          <p:spPr>
            <a:xfrm>
              <a:off x="533400" y="3999548"/>
              <a:ext cx="4977765" cy="1487805"/>
            </a:xfrm>
            <a:prstGeom prst="roundRect">
              <a:avLst>
                <a:gd name="adj" fmla="val 8963"/>
              </a:avLst>
            </a:prstGeom>
            <a:solidFill>
              <a:srgbClr val="0E7C86"/>
            </a:solidFill>
            <a:ln>
              <a:noFill/>
            </a:ln>
          </p:spPr>
        </p:sp>
        <p:sp>
          <p:nvSpPr>
            <p:cNvPr id="35" name="Rectangle 35"/>
            <p:cNvSpPr/>
            <p:nvPr/>
          </p:nvSpPr>
          <p:spPr>
            <a:xfrm>
              <a:off x="714375" y="4180522"/>
              <a:ext cx="582930" cy="238125"/>
            </a:xfrm>
            <a:prstGeom prst="roundRect">
              <a:avLst>
                <a:gd name="adj" fmla="val 50000"/>
              </a:avLst>
            </a:prstGeom>
            <a:solidFill>
              <a:srgbClr val="0B5F67"/>
            </a:solidFill>
            <a:ln>
              <a:noFill/>
            </a:ln>
          </p:spPr>
        </p:sp>
        <p:sp>
          <p:nvSpPr>
            <p:cNvPr id="36" name="TextBox 36"/>
            <p:cNvSpPr txBox="1"/>
            <p:nvPr/>
          </p:nvSpPr>
          <p:spPr>
            <a:xfrm>
              <a:off x="802996" y="4213384"/>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为什么</a:t>
              </a:r>
            </a:p>
          </p:txBody>
        </p:sp>
        <p:sp>
          <p:nvSpPr>
            <p:cNvPr id="37" name="TextBox 37"/>
            <p:cNvSpPr txBox="1"/>
            <p:nvPr/>
          </p:nvSpPr>
          <p:spPr>
            <a:xfrm>
              <a:off x="1405128" y="4221004"/>
              <a:ext cx="2452053"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每多一层，做的是“再组合一次”</a:t>
              </a:r>
            </a:p>
          </p:txBody>
        </p:sp>
        <p:sp>
          <p:nvSpPr>
            <p:cNvPr id="38" name="Ellipse 38"/>
            <p:cNvSpPr/>
            <p:nvPr/>
          </p:nvSpPr>
          <p:spPr>
            <a:xfrm>
              <a:off x="714375" y="4526280"/>
              <a:ext cx="180975" cy="180975"/>
            </a:xfrm>
            <a:prstGeom prst="ellipse">
              <a:avLst/>
            </a:prstGeom>
            <a:solidFill>
              <a:srgbClr val="0E7C86"/>
            </a:solidFill>
            <a:ln>
              <a:noFill/>
            </a:ln>
          </p:spPr>
        </p:sp>
        <p:sp>
          <p:nvSpPr>
            <p:cNvPr id="39" name="TextBox 39"/>
            <p:cNvSpPr txBox="1"/>
            <p:nvPr/>
          </p:nvSpPr>
          <p:spPr>
            <a:xfrm>
              <a:off x="766282" y="456190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40" name="TextBox 40"/>
            <p:cNvSpPr txBox="1"/>
            <p:nvPr/>
          </p:nvSpPr>
          <p:spPr>
            <a:xfrm>
              <a:off x="984123" y="4537234"/>
              <a:ext cx="3631540"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第一层的每个神经元切一刀，得到若干半平面；</a:t>
              </a:r>
            </a:p>
          </p:txBody>
        </p:sp>
        <p:sp>
          <p:nvSpPr>
            <p:cNvPr id="41" name="Ellipse 41"/>
            <p:cNvSpPr/>
            <p:nvPr/>
          </p:nvSpPr>
          <p:spPr>
            <a:xfrm>
              <a:off x="714375" y="4811078"/>
              <a:ext cx="180975" cy="180975"/>
            </a:xfrm>
            <a:prstGeom prst="ellipse">
              <a:avLst/>
            </a:prstGeom>
            <a:solidFill>
              <a:srgbClr val="0E7C86"/>
            </a:solidFill>
            <a:ln>
              <a:noFill/>
            </a:ln>
          </p:spPr>
        </p:sp>
        <p:sp>
          <p:nvSpPr>
            <p:cNvPr id="42" name="TextBox 42"/>
            <p:cNvSpPr txBox="1"/>
            <p:nvPr/>
          </p:nvSpPr>
          <p:spPr>
            <a:xfrm>
              <a:off x="766282" y="484670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43" name="TextBox 43"/>
            <p:cNvSpPr txBox="1"/>
            <p:nvPr/>
          </p:nvSpPr>
          <p:spPr>
            <a:xfrm>
              <a:off x="984123" y="4822031"/>
              <a:ext cx="329731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第二层把这些半平面做 AND，交出凸区域；</a:t>
              </a:r>
            </a:p>
          </p:txBody>
        </p:sp>
        <p:sp>
          <p:nvSpPr>
            <p:cNvPr id="44" name="Ellipse 44"/>
            <p:cNvSpPr/>
            <p:nvPr/>
          </p:nvSpPr>
          <p:spPr>
            <a:xfrm>
              <a:off x="714375" y="5095875"/>
              <a:ext cx="180975" cy="180975"/>
            </a:xfrm>
            <a:prstGeom prst="ellipse">
              <a:avLst/>
            </a:prstGeom>
            <a:solidFill>
              <a:srgbClr val="0E7C86"/>
            </a:solidFill>
            <a:ln>
              <a:noFill/>
            </a:ln>
          </p:spPr>
        </p:sp>
        <p:sp>
          <p:nvSpPr>
            <p:cNvPr id="45" name="TextBox 45"/>
            <p:cNvSpPr txBox="1"/>
            <p:nvPr/>
          </p:nvSpPr>
          <p:spPr>
            <a:xfrm>
              <a:off x="766282" y="513149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46" name="TextBox 46"/>
            <p:cNvSpPr txBox="1"/>
            <p:nvPr/>
          </p:nvSpPr>
          <p:spPr>
            <a:xfrm>
              <a:off x="984123" y="5106829"/>
              <a:ext cx="340590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第三层把若干凸区域做 OR，拼出任意形状。</a:t>
              </a:r>
            </a:p>
          </p:txBody>
        </p:sp>
      </p:grpSp>
      <p:grpSp>
        <p:nvGrpSpPr>
          <p:cNvPr id="101" name="c2-graph-1"/>
          <p:cNvGrpSpPr/>
          <p:nvPr/>
        </p:nvGrpSpPr>
        <p:grpSpPr>
          <a:xfrm>
            <a:off x="5922645" y="1682115"/>
            <a:ext cx="5628323" cy="3945731"/>
            <a:chOff x="5922645" y="1682115"/>
            <a:chExt cx="5628323" cy="3945731"/>
          </a:xfrm>
        </p:grpSpPr>
        <p:sp>
          <p:nvSpPr>
            <p:cNvPr id="48" name="Freeform 48"/>
            <p:cNvSpPr/>
            <p:nvPr/>
          </p:nvSpPr>
          <p:spPr>
            <a:xfrm>
              <a:off x="5932170" y="1691640"/>
              <a:ext cx="2687955" cy="1512570"/>
            </a:xfrm>
            <a:custGeom>
              <a:avLst/>
              <a:gdLst/>
              <a:ahLst/>
              <a:cxnLst/>
              <a:rect l="l" t="t" r="r" b="b"/>
              <a:pathLst>
                <a:path w="2687955" h="1512570">
                  <a:moveTo>
                    <a:pt x="19050" y="0"/>
                  </a:moveTo>
                  <a:lnTo>
                    <a:pt x="2687955" y="0"/>
                  </a:lnTo>
                  <a:lnTo>
                    <a:pt x="2687955" y="1512570"/>
                  </a:lnTo>
                  <a:lnTo>
                    <a:pt x="0" y="1512570"/>
                  </a:lnTo>
                  <a:lnTo>
                    <a:pt x="0" y="0"/>
                  </a:lnTo>
                  <a:lnTo>
                    <a:pt x="0" y="0"/>
                  </a:lnTo>
                </a:path>
              </a:pathLst>
            </a:custGeom>
            <a:noFill/>
            <a:ln w="17145">
              <a:solidFill>
                <a:srgbClr val="5B6475"/>
              </a:solidFill>
            </a:ln>
          </p:spPr>
        </p:sp>
        <p:sp>
          <p:nvSpPr>
            <p:cNvPr id="49" name="Freeform 49"/>
            <p:cNvSpPr/>
            <p:nvPr/>
          </p:nvSpPr>
          <p:spPr>
            <a:xfrm>
              <a:off x="8853488" y="1691640"/>
              <a:ext cx="2687955" cy="1512570"/>
            </a:xfrm>
            <a:custGeom>
              <a:avLst/>
              <a:gdLst/>
              <a:ahLst/>
              <a:cxnLst/>
              <a:rect l="l" t="t" r="r" b="b"/>
              <a:pathLst>
                <a:path w="2687955" h="1512570">
                  <a:moveTo>
                    <a:pt x="19050" y="0"/>
                  </a:moveTo>
                  <a:lnTo>
                    <a:pt x="2687955" y="0"/>
                  </a:lnTo>
                  <a:lnTo>
                    <a:pt x="2687955" y="1512570"/>
                  </a:lnTo>
                  <a:lnTo>
                    <a:pt x="0" y="1512570"/>
                  </a:lnTo>
                  <a:lnTo>
                    <a:pt x="0" y="0"/>
                  </a:lnTo>
                  <a:lnTo>
                    <a:pt x="0" y="0"/>
                  </a:lnTo>
                </a:path>
              </a:pathLst>
            </a:custGeom>
            <a:noFill/>
            <a:ln w="17145">
              <a:solidFill>
                <a:srgbClr val="5B6475"/>
              </a:solidFill>
            </a:ln>
          </p:spPr>
        </p:sp>
        <p:sp>
          <p:nvSpPr>
            <p:cNvPr id="50" name="Freeform 50"/>
            <p:cNvSpPr/>
            <p:nvPr/>
          </p:nvSpPr>
          <p:spPr>
            <a:xfrm>
              <a:off x="5932170" y="3791902"/>
              <a:ext cx="2687955" cy="1511617"/>
            </a:xfrm>
            <a:custGeom>
              <a:avLst/>
              <a:gdLst/>
              <a:ahLst/>
              <a:cxnLst/>
              <a:rect l="l" t="t" r="r" b="b"/>
              <a:pathLst>
                <a:path w="2687955" h="1511617">
                  <a:moveTo>
                    <a:pt x="19050" y="0"/>
                  </a:moveTo>
                  <a:lnTo>
                    <a:pt x="2687955" y="0"/>
                  </a:lnTo>
                  <a:lnTo>
                    <a:pt x="2687955" y="1511617"/>
                  </a:lnTo>
                  <a:lnTo>
                    <a:pt x="0" y="1511617"/>
                  </a:lnTo>
                  <a:lnTo>
                    <a:pt x="0" y="0"/>
                  </a:lnTo>
                  <a:lnTo>
                    <a:pt x="0" y="0"/>
                  </a:lnTo>
                </a:path>
              </a:pathLst>
            </a:custGeom>
            <a:noFill/>
            <a:ln w="17145">
              <a:solidFill>
                <a:srgbClr val="5B6475"/>
              </a:solidFill>
            </a:ln>
          </p:spPr>
        </p:sp>
        <p:sp>
          <p:nvSpPr>
            <p:cNvPr id="51" name="Freeform 51"/>
            <p:cNvSpPr/>
            <p:nvPr/>
          </p:nvSpPr>
          <p:spPr>
            <a:xfrm>
              <a:off x="8853488" y="3791902"/>
              <a:ext cx="2687955" cy="1511617"/>
            </a:xfrm>
            <a:custGeom>
              <a:avLst/>
              <a:gdLst/>
              <a:ahLst/>
              <a:cxnLst/>
              <a:rect l="l" t="t" r="r" b="b"/>
              <a:pathLst>
                <a:path w="2687955" h="1511617">
                  <a:moveTo>
                    <a:pt x="19050" y="0"/>
                  </a:moveTo>
                  <a:lnTo>
                    <a:pt x="2687955" y="0"/>
                  </a:lnTo>
                  <a:lnTo>
                    <a:pt x="2687955" y="1511617"/>
                  </a:lnTo>
                  <a:lnTo>
                    <a:pt x="0" y="1511617"/>
                  </a:lnTo>
                  <a:lnTo>
                    <a:pt x="0" y="0"/>
                  </a:lnTo>
                  <a:lnTo>
                    <a:pt x="0" y="0"/>
                  </a:lnTo>
                </a:path>
              </a:pathLst>
            </a:custGeom>
            <a:noFill/>
            <a:ln w="17145">
              <a:solidFill>
                <a:srgbClr val="5B6475"/>
              </a:solidFill>
            </a:ln>
          </p:spPr>
        </p:sp>
        <p:sp>
          <p:nvSpPr>
            <p:cNvPr id="52" name="Freeform 52"/>
            <p:cNvSpPr/>
            <p:nvPr/>
          </p:nvSpPr>
          <p:spPr>
            <a:xfrm>
              <a:off x="5948362" y="1702118"/>
              <a:ext cx="1633538" cy="1066800"/>
            </a:xfrm>
            <a:custGeom>
              <a:avLst/>
              <a:gdLst/>
              <a:ahLst/>
              <a:cxnLst/>
              <a:rect l="l" t="t" r="r" b="b"/>
              <a:pathLst>
                <a:path w="1633538" h="1066800">
                  <a:moveTo>
                    <a:pt x="0" y="1066800"/>
                  </a:moveTo>
                  <a:lnTo>
                    <a:pt x="1633538" y="0"/>
                  </a:lnTo>
                </a:path>
              </a:pathLst>
            </a:custGeom>
            <a:noFill/>
            <a:ln w="17145">
              <a:solidFill>
                <a:srgbClr val="0E7C86"/>
              </a:solidFill>
            </a:ln>
          </p:spPr>
        </p:sp>
        <p:sp>
          <p:nvSpPr>
            <p:cNvPr id="53" name="Freeform 53"/>
            <p:cNvSpPr/>
            <p:nvPr/>
          </p:nvSpPr>
          <p:spPr>
            <a:xfrm>
              <a:off x="9244965" y="1700212"/>
              <a:ext cx="2279333" cy="1066800"/>
            </a:xfrm>
            <a:custGeom>
              <a:avLst/>
              <a:gdLst/>
              <a:ahLst/>
              <a:cxnLst/>
              <a:rect l="l" t="t" r="r" b="b"/>
              <a:pathLst>
                <a:path w="2279333" h="1066800">
                  <a:moveTo>
                    <a:pt x="0" y="0"/>
                  </a:moveTo>
                  <a:lnTo>
                    <a:pt x="2279333" y="1066800"/>
                  </a:lnTo>
                </a:path>
              </a:pathLst>
            </a:custGeom>
            <a:noFill/>
            <a:ln w="17145">
              <a:solidFill>
                <a:srgbClr val="0E7C86"/>
              </a:solidFill>
            </a:ln>
          </p:spPr>
        </p:sp>
        <p:sp>
          <p:nvSpPr>
            <p:cNvPr id="54" name="Freeform 54"/>
            <p:cNvSpPr/>
            <p:nvPr/>
          </p:nvSpPr>
          <p:spPr>
            <a:xfrm>
              <a:off x="8871585" y="2128838"/>
              <a:ext cx="2279333" cy="1066800"/>
            </a:xfrm>
            <a:custGeom>
              <a:avLst/>
              <a:gdLst/>
              <a:ahLst/>
              <a:cxnLst/>
              <a:rect l="l" t="t" r="r" b="b"/>
              <a:pathLst>
                <a:path w="2279333" h="1066800">
                  <a:moveTo>
                    <a:pt x="0" y="0"/>
                  </a:moveTo>
                  <a:lnTo>
                    <a:pt x="2279333" y="1066800"/>
                  </a:lnTo>
                </a:path>
              </a:pathLst>
            </a:custGeom>
            <a:noFill/>
            <a:ln w="17145">
              <a:solidFill>
                <a:srgbClr val="0E7C86"/>
              </a:solidFill>
            </a:ln>
          </p:spPr>
        </p:sp>
        <p:sp>
          <p:nvSpPr>
            <p:cNvPr id="55" name="Freeform 55"/>
            <p:cNvSpPr/>
            <p:nvPr/>
          </p:nvSpPr>
          <p:spPr>
            <a:xfrm>
              <a:off x="6037898" y="3850005"/>
              <a:ext cx="969645" cy="639128"/>
            </a:xfrm>
            <a:custGeom>
              <a:avLst/>
              <a:gdLst/>
              <a:ahLst/>
              <a:cxnLst/>
              <a:rect l="l" t="t" r="r" b="b"/>
              <a:pathLst>
                <a:path w="969645" h="639128">
                  <a:moveTo>
                    <a:pt x="19050" y="17145"/>
                  </a:moveTo>
                  <a:lnTo>
                    <a:pt x="969645" y="0"/>
                  </a:lnTo>
                  <a:lnTo>
                    <a:pt x="805815" y="639128"/>
                  </a:lnTo>
                  <a:lnTo>
                    <a:pt x="81915" y="575310"/>
                  </a:lnTo>
                  <a:lnTo>
                    <a:pt x="0" y="17145"/>
                  </a:lnTo>
                  <a:lnTo>
                    <a:pt x="0" y="17145"/>
                  </a:lnTo>
                </a:path>
              </a:pathLst>
            </a:custGeom>
            <a:noFill/>
            <a:ln w="17145">
              <a:solidFill>
                <a:srgbClr val="0E7C86"/>
              </a:solidFill>
            </a:ln>
          </p:spPr>
        </p:sp>
        <p:sp>
          <p:nvSpPr>
            <p:cNvPr id="56" name="Freeform 56"/>
            <p:cNvSpPr/>
            <p:nvPr/>
          </p:nvSpPr>
          <p:spPr>
            <a:xfrm>
              <a:off x="7544752" y="4547235"/>
              <a:ext cx="1022985" cy="709612"/>
            </a:xfrm>
            <a:custGeom>
              <a:avLst/>
              <a:gdLst/>
              <a:ahLst/>
              <a:cxnLst/>
              <a:rect l="l" t="t" r="r" b="b"/>
              <a:pathLst>
                <a:path w="1022985" h="709612">
                  <a:moveTo>
                    <a:pt x="19050" y="29528"/>
                  </a:moveTo>
                  <a:lnTo>
                    <a:pt x="970597" y="0"/>
                  </a:lnTo>
                  <a:lnTo>
                    <a:pt x="1022985" y="709612"/>
                  </a:lnTo>
                  <a:lnTo>
                    <a:pt x="105728" y="663893"/>
                  </a:lnTo>
                  <a:lnTo>
                    <a:pt x="0" y="29528"/>
                  </a:lnTo>
                  <a:lnTo>
                    <a:pt x="0" y="29528"/>
                  </a:lnTo>
                </a:path>
              </a:pathLst>
            </a:custGeom>
            <a:noFill/>
            <a:ln w="17145">
              <a:solidFill>
                <a:srgbClr val="0E7C86"/>
              </a:solidFill>
            </a:ln>
          </p:spPr>
        </p:sp>
        <p:sp>
          <p:nvSpPr>
            <p:cNvPr id="57" name="Freeform 57"/>
            <p:cNvSpPr/>
            <p:nvPr/>
          </p:nvSpPr>
          <p:spPr>
            <a:xfrm>
              <a:off x="9017318" y="3884295"/>
              <a:ext cx="2419350" cy="1360170"/>
            </a:xfrm>
            <a:custGeom>
              <a:avLst/>
              <a:gdLst/>
              <a:ahLst/>
              <a:cxnLst/>
              <a:rect l="l" t="t" r="r" b="b"/>
              <a:pathLst>
                <a:path w="2419350" h="1360170">
                  <a:moveTo>
                    <a:pt x="71438" y="176212"/>
                  </a:moveTo>
                  <a:lnTo>
                    <a:pt x="963930" y="0"/>
                  </a:lnTo>
                  <a:lnTo>
                    <a:pt x="1233488" y="512445"/>
                  </a:lnTo>
                  <a:lnTo>
                    <a:pt x="1934527" y="117158"/>
                  </a:lnTo>
                  <a:lnTo>
                    <a:pt x="2419350" y="784860"/>
                  </a:lnTo>
                  <a:lnTo>
                    <a:pt x="1770697" y="1360170"/>
                  </a:lnTo>
                  <a:lnTo>
                    <a:pt x="642938" y="1267777"/>
                  </a:lnTo>
                  <a:lnTo>
                    <a:pt x="911543" y="843915"/>
                  </a:lnTo>
                  <a:lnTo>
                    <a:pt x="0" y="755333"/>
                  </a:lnTo>
                  <a:lnTo>
                    <a:pt x="52388" y="180022"/>
                  </a:lnTo>
                  <a:lnTo>
                    <a:pt x="52388" y="180022"/>
                  </a:lnTo>
                </a:path>
              </a:pathLst>
            </a:custGeom>
            <a:noFill/>
            <a:ln w="17145">
              <a:solidFill>
                <a:srgbClr val="0E7C86"/>
              </a:solidFill>
            </a:ln>
          </p:spPr>
        </p:sp>
        <p:sp>
          <p:nvSpPr>
            <p:cNvPr id="58" name="Freeform 58"/>
            <p:cNvSpPr/>
            <p:nvPr/>
          </p:nvSpPr>
          <p:spPr>
            <a:xfrm>
              <a:off x="10519410" y="4576762"/>
              <a:ext cx="380047" cy="331470"/>
            </a:xfrm>
            <a:custGeom>
              <a:avLst/>
              <a:gdLst/>
              <a:ahLst/>
              <a:cxnLst/>
              <a:rect l="l" t="t" r="r" b="b"/>
              <a:pathLst>
                <a:path w="380047" h="331470">
                  <a:moveTo>
                    <a:pt x="19050" y="60008"/>
                  </a:moveTo>
                  <a:lnTo>
                    <a:pt x="380047" y="0"/>
                  </a:lnTo>
                  <a:lnTo>
                    <a:pt x="216217" y="331470"/>
                  </a:lnTo>
                  <a:lnTo>
                    <a:pt x="0" y="62865"/>
                  </a:lnTo>
                  <a:lnTo>
                    <a:pt x="0" y="62865"/>
                  </a:lnTo>
                </a:path>
              </a:pathLst>
            </a:custGeom>
            <a:noFill/>
            <a:ln w="17145">
              <a:solidFill>
                <a:srgbClr val="0E7C86"/>
              </a:solidFill>
            </a:ln>
          </p:spPr>
        </p:sp>
        <p:sp>
          <p:nvSpPr>
            <p:cNvPr id="59" name="Ellipse 59"/>
            <p:cNvSpPr/>
            <p:nvPr/>
          </p:nvSpPr>
          <p:spPr>
            <a:xfrm>
              <a:off x="5922645" y="1682115"/>
              <a:ext cx="19050" cy="19050"/>
            </a:xfrm>
            <a:prstGeom prst="ellipse">
              <a:avLst/>
            </a:prstGeom>
            <a:solidFill>
              <a:srgbClr val="D9DFEA"/>
            </a:solidFill>
            <a:ln>
              <a:noFill/>
            </a:ln>
          </p:spPr>
        </p:sp>
        <p:sp>
          <p:nvSpPr>
            <p:cNvPr id="60" name="Ellipse 60"/>
            <p:cNvSpPr/>
            <p:nvPr/>
          </p:nvSpPr>
          <p:spPr>
            <a:xfrm>
              <a:off x="8843962" y="1682115"/>
              <a:ext cx="19050" cy="19050"/>
            </a:xfrm>
            <a:prstGeom prst="ellipse">
              <a:avLst/>
            </a:prstGeom>
            <a:solidFill>
              <a:srgbClr val="D9DFEA"/>
            </a:solidFill>
            <a:ln>
              <a:noFill/>
            </a:ln>
          </p:spPr>
        </p:sp>
        <p:sp>
          <p:nvSpPr>
            <p:cNvPr id="61" name="Ellipse 61"/>
            <p:cNvSpPr/>
            <p:nvPr/>
          </p:nvSpPr>
          <p:spPr>
            <a:xfrm>
              <a:off x="5922645" y="3782378"/>
              <a:ext cx="19050" cy="19050"/>
            </a:xfrm>
            <a:prstGeom prst="ellipse">
              <a:avLst/>
            </a:prstGeom>
            <a:solidFill>
              <a:srgbClr val="D9DFEA"/>
            </a:solidFill>
            <a:ln>
              <a:noFill/>
            </a:ln>
          </p:spPr>
        </p:sp>
        <p:sp>
          <p:nvSpPr>
            <p:cNvPr id="62" name="Ellipse 62"/>
            <p:cNvSpPr/>
            <p:nvPr/>
          </p:nvSpPr>
          <p:spPr>
            <a:xfrm>
              <a:off x="8843962" y="3782378"/>
              <a:ext cx="19050" cy="19050"/>
            </a:xfrm>
            <a:prstGeom prst="ellipse">
              <a:avLst/>
            </a:prstGeom>
            <a:solidFill>
              <a:srgbClr val="D9DFEA"/>
            </a:solidFill>
            <a:ln>
              <a:noFill/>
            </a:ln>
          </p:spPr>
        </p:sp>
        <p:sp>
          <p:nvSpPr>
            <p:cNvPr id="63" name="Ellipse 63"/>
            <p:cNvSpPr/>
            <p:nvPr/>
          </p:nvSpPr>
          <p:spPr>
            <a:xfrm>
              <a:off x="5922645" y="2769870"/>
              <a:ext cx="19050" cy="19050"/>
            </a:xfrm>
            <a:prstGeom prst="ellipse">
              <a:avLst/>
            </a:prstGeom>
            <a:solidFill>
              <a:srgbClr val="0E7C86"/>
            </a:solidFill>
            <a:ln>
              <a:noFill/>
            </a:ln>
          </p:spPr>
        </p:sp>
        <p:sp>
          <p:nvSpPr>
            <p:cNvPr id="64" name="Ellipse 64"/>
            <p:cNvSpPr/>
            <p:nvPr/>
          </p:nvSpPr>
          <p:spPr>
            <a:xfrm>
              <a:off x="7588568" y="1682115"/>
              <a:ext cx="19050" cy="19050"/>
            </a:xfrm>
            <a:prstGeom prst="ellipse">
              <a:avLst/>
            </a:prstGeom>
            <a:solidFill>
              <a:srgbClr val="0E7C86"/>
            </a:solidFill>
            <a:ln>
              <a:noFill/>
            </a:ln>
          </p:spPr>
        </p:sp>
        <p:sp>
          <p:nvSpPr>
            <p:cNvPr id="65" name="Ellipse 65"/>
            <p:cNvSpPr/>
            <p:nvPr/>
          </p:nvSpPr>
          <p:spPr>
            <a:xfrm>
              <a:off x="9218295" y="1682115"/>
              <a:ext cx="19050" cy="19050"/>
            </a:xfrm>
            <a:prstGeom prst="ellipse">
              <a:avLst/>
            </a:prstGeom>
            <a:solidFill>
              <a:srgbClr val="0E7C86"/>
            </a:solidFill>
            <a:ln>
              <a:noFill/>
            </a:ln>
          </p:spPr>
        </p:sp>
        <p:sp>
          <p:nvSpPr>
            <p:cNvPr id="66" name="Ellipse 66"/>
            <p:cNvSpPr/>
            <p:nvPr/>
          </p:nvSpPr>
          <p:spPr>
            <a:xfrm>
              <a:off x="11531918" y="2766060"/>
              <a:ext cx="19050" cy="19050"/>
            </a:xfrm>
            <a:prstGeom prst="ellipse">
              <a:avLst/>
            </a:prstGeom>
            <a:solidFill>
              <a:srgbClr val="0E7C86"/>
            </a:solidFill>
            <a:ln>
              <a:noFill/>
            </a:ln>
          </p:spPr>
        </p:sp>
        <p:sp>
          <p:nvSpPr>
            <p:cNvPr id="67" name="Ellipse 67"/>
            <p:cNvSpPr/>
            <p:nvPr/>
          </p:nvSpPr>
          <p:spPr>
            <a:xfrm>
              <a:off x="8843962" y="2110740"/>
              <a:ext cx="19050" cy="19050"/>
            </a:xfrm>
            <a:prstGeom prst="ellipse">
              <a:avLst/>
            </a:prstGeom>
            <a:solidFill>
              <a:srgbClr val="0E7C86"/>
            </a:solidFill>
            <a:ln>
              <a:noFill/>
            </a:ln>
          </p:spPr>
        </p:sp>
        <p:sp>
          <p:nvSpPr>
            <p:cNvPr id="68" name="Ellipse 68"/>
            <p:cNvSpPr/>
            <p:nvPr/>
          </p:nvSpPr>
          <p:spPr>
            <a:xfrm>
              <a:off x="11158538" y="3194685"/>
              <a:ext cx="19050" cy="19050"/>
            </a:xfrm>
            <a:prstGeom prst="ellipse">
              <a:avLst/>
            </a:prstGeom>
            <a:solidFill>
              <a:srgbClr val="0E7C86"/>
            </a:solidFill>
            <a:ln>
              <a:noFill/>
            </a:ln>
          </p:spPr>
        </p:sp>
        <p:sp>
          <p:nvSpPr>
            <p:cNvPr id="69" name="Ellipse 69"/>
            <p:cNvSpPr/>
            <p:nvPr/>
          </p:nvSpPr>
          <p:spPr>
            <a:xfrm>
              <a:off x="6028372" y="3857625"/>
              <a:ext cx="19050" cy="19050"/>
            </a:xfrm>
            <a:prstGeom prst="ellipse">
              <a:avLst/>
            </a:prstGeom>
            <a:solidFill>
              <a:srgbClr val="0E7C86"/>
            </a:solidFill>
            <a:ln>
              <a:noFill/>
            </a:ln>
          </p:spPr>
        </p:sp>
        <p:sp>
          <p:nvSpPr>
            <p:cNvPr id="70" name="Ellipse 70"/>
            <p:cNvSpPr/>
            <p:nvPr/>
          </p:nvSpPr>
          <p:spPr>
            <a:xfrm>
              <a:off x="7535228" y="4567238"/>
              <a:ext cx="19050" cy="19050"/>
            </a:xfrm>
            <a:prstGeom prst="ellipse">
              <a:avLst/>
            </a:prstGeom>
            <a:solidFill>
              <a:srgbClr val="0E7C86"/>
            </a:solidFill>
            <a:ln>
              <a:noFill/>
            </a:ln>
          </p:spPr>
        </p:sp>
        <p:sp>
          <p:nvSpPr>
            <p:cNvPr id="71" name="Ellipse 71"/>
            <p:cNvSpPr/>
            <p:nvPr/>
          </p:nvSpPr>
          <p:spPr>
            <a:xfrm>
              <a:off x="9060180" y="4054792"/>
              <a:ext cx="19050" cy="19050"/>
            </a:xfrm>
            <a:prstGeom prst="ellipse">
              <a:avLst/>
            </a:prstGeom>
            <a:solidFill>
              <a:srgbClr val="0E7C86"/>
            </a:solidFill>
            <a:ln>
              <a:noFill/>
            </a:ln>
          </p:spPr>
        </p:sp>
        <p:sp>
          <p:nvSpPr>
            <p:cNvPr id="72" name="Ellipse 72"/>
            <p:cNvSpPr/>
            <p:nvPr/>
          </p:nvSpPr>
          <p:spPr>
            <a:xfrm>
              <a:off x="10509885" y="4630102"/>
              <a:ext cx="19050" cy="19050"/>
            </a:xfrm>
            <a:prstGeom prst="ellipse">
              <a:avLst/>
            </a:prstGeom>
            <a:solidFill>
              <a:srgbClr val="0E7C86"/>
            </a:solidFill>
            <a:ln>
              <a:noFill/>
            </a:ln>
          </p:spPr>
        </p:sp>
        <p:sp>
          <p:nvSpPr>
            <p:cNvPr id="73" name="Ellipse 73"/>
            <p:cNvSpPr/>
            <p:nvPr/>
          </p:nvSpPr>
          <p:spPr>
            <a:xfrm>
              <a:off x="6346508" y="1945958"/>
              <a:ext cx="247650" cy="247650"/>
            </a:xfrm>
            <a:prstGeom prst="ellipse">
              <a:avLst/>
            </a:prstGeom>
            <a:solidFill>
              <a:srgbClr val="0E7C86"/>
            </a:solidFill>
            <a:ln w="17145">
              <a:solidFill>
                <a:srgbClr val="0E7C86"/>
              </a:solidFill>
            </a:ln>
          </p:spPr>
        </p:sp>
        <p:sp>
          <p:nvSpPr>
            <p:cNvPr id="74" name="Ellipse 74"/>
            <p:cNvSpPr/>
            <p:nvPr/>
          </p:nvSpPr>
          <p:spPr>
            <a:xfrm>
              <a:off x="7959090" y="2702242"/>
              <a:ext cx="247650" cy="247650"/>
            </a:xfrm>
            <a:prstGeom prst="ellipse">
              <a:avLst/>
            </a:prstGeom>
            <a:solidFill>
              <a:srgbClr val="0E7C86"/>
            </a:solidFill>
            <a:ln w="17145">
              <a:solidFill>
                <a:srgbClr val="0E7C86"/>
              </a:solidFill>
            </a:ln>
          </p:spPr>
        </p:sp>
        <p:sp>
          <p:nvSpPr>
            <p:cNvPr id="75" name="Ellipse 75"/>
            <p:cNvSpPr/>
            <p:nvPr/>
          </p:nvSpPr>
          <p:spPr>
            <a:xfrm>
              <a:off x="7959090" y="1945958"/>
              <a:ext cx="247650" cy="247650"/>
            </a:xfrm>
            <a:prstGeom prst="ellipse">
              <a:avLst/>
            </a:prstGeom>
            <a:solidFill>
              <a:srgbClr val="FFFFFF"/>
            </a:solidFill>
            <a:ln w="17145">
              <a:solidFill>
                <a:srgbClr val="0E7C86"/>
              </a:solidFill>
            </a:ln>
          </p:spPr>
        </p:sp>
        <p:sp>
          <p:nvSpPr>
            <p:cNvPr id="76" name="Ellipse 76"/>
            <p:cNvSpPr/>
            <p:nvPr/>
          </p:nvSpPr>
          <p:spPr>
            <a:xfrm>
              <a:off x="6346508" y="2702242"/>
              <a:ext cx="247650" cy="247650"/>
            </a:xfrm>
            <a:prstGeom prst="ellipse">
              <a:avLst/>
            </a:prstGeom>
            <a:solidFill>
              <a:srgbClr val="FFFFFF"/>
            </a:solidFill>
            <a:ln w="17145">
              <a:solidFill>
                <a:srgbClr val="0E7C86"/>
              </a:solidFill>
            </a:ln>
          </p:spPr>
        </p:sp>
        <p:sp>
          <p:nvSpPr>
            <p:cNvPr id="77" name="Ellipse 77"/>
            <p:cNvSpPr/>
            <p:nvPr/>
          </p:nvSpPr>
          <p:spPr>
            <a:xfrm>
              <a:off x="9267825" y="1945958"/>
              <a:ext cx="247650" cy="247650"/>
            </a:xfrm>
            <a:prstGeom prst="ellipse">
              <a:avLst/>
            </a:prstGeom>
            <a:solidFill>
              <a:srgbClr val="0E7C86"/>
            </a:solidFill>
            <a:ln w="17145">
              <a:solidFill>
                <a:srgbClr val="0E7C86"/>
              </a:solidFill>
            </a:ln>
          </p:spPr>
        </p:sp>
        <p:sp>
          <p:nvSpPr>
            <p:cNvPr id="78" name="Ellipse 78"/>
            <p:cNvSpPr/>
            <p:nvPr/>
          </p:nvSpPr>
          <p:spPr>
            <a:xfrm>
              <a:off x="10880408" y="2702242"/>
              <a:ext cx="247650" cy="247650"/>
            </a:xfrm>
            <a:prstGeom prst="ellipse">
              <a:avLst/>
            </a:prstGeom>
            <a:solidFill>
              <a:srgbClr val="0E7C86"/>
            </a:solidFill>
            <a:ln w="17145">
              <a:solidFill>
                <a:srgbClr val="0E7C86"/>
              </a:solidFill>
            </a:ln>
          </p:spPr>
        </p:sp>
        <p:sp>
          <p:nvSpPr>
            <p:cNvPr id="79" name="Ellipse 79"/>
            <p:cNvSpPr/>
            <p:nvPr/>
          </p:nvSpPr>
          <p:spPr>
            <a:xfrm>
              <a:off x="10880408" y="1945958"/>
              <a:ext cx="247650" cy="247650"/>
            </a:xfrm>
            <a:prstGeom prst="ellipse">
              <a:avLst/>
            </a:prstGeom>
            <a:solidFill>
              <a:srgbClr val="FFFFFF"/>
            </a:solidFill>
            <a:ln w="17145">
              <a:solidFill>
                <a:srgbClr val="0E7C86"/>
              </a:solidFill>
            </a:ln>
          </p:spPr>
        </p:sp>
        <p:sp>
          <p:nvSpPr>
            <p:cNvPr id="80" name="Ellipse 80"/>
            <p:cNvSpPr/>
            <p:nvPr/>
          </p:nvSpPr>
          <p:spPr>
            <a:xfrm>
              <a:off x="9267825" y="2702242"/>
              <a:ext cx="247650" cy="247650"/>
            </a:xfrm>
            <a:prstGeom prst="ellipse">
              <a:avLst/>
            </a:prstGeom>
            <a:solidFill>
              <a:srgbClr val="FFFFFF"/>
            </a:solidFill>
            <a:ln w="17145">
              <a:solidFill>
                <a:srgbClr val="0E7C86"/>
              </a:solidFill>
            </a:ln>
          </p:spPr>
        </p:sp>
        <p:sp>
          <p:nvSpPr>
            <p:cNvPr id="81" name="Ellipse 81"/>
            <p:cNvSpPr/>
            <p:nvPr/>
          </p:nvSpPr>
          <p:spPr>
            <a:xfrm>
              <a:off x="6346508" y="4046220"/>
              <a:ext cx="247650" cy="247650"/>
            </a:xfrm>
            <a:prstGeom prst="ellipse">
              <a:avLst/>
            </a:prstGeom>
            <a:solidFill>
              <a:srgbClr val="0E7C86"/>
            </a:solidFill>
            <a:ln w="17145">
              <a:solidFill>
                <a:srgbClr val="0E7C86"/>
              </a:solidFill>
            </a:ln>
          </p:spPr>
        </p:sp>
        <p:sp>
          <p:nvSpPr>
            <p:cNvPr id="82" name="Ellipse 82"/>
            <p:cNvSpPr/>
            <p:nvPr/>
          </p:nvSpPr>
          <p:spPr>
            <a:xfrm>
              <a:off x="7959090" y="4801552"/>
              <a:ext cx="247650" cy="247650"/>
            </a:xfrm>
            <a:prstGeom prst="ellipse">
              <a:avLst/>
            </a:prstGeom>
            <a:solidFill>
              <a:srgbClr val="0E7C86"/>
            </a:solidFill>
            <a:ln w="17145">
              <a:solidFill>
                <a:srgbClr val="0E7C86"/>
              </a:solidFill>
            </a:ln>
          </p:spPr>
        </p:sp>
        <p:sp>
          <p:nvSpPr>
            <p:cNvPr id="83" name="Ellipse 83"/>
            <p:cNvSpPr/>
            <p:nvPr/>
          </p:nvSpPr>
          <p:spPr>
            <a:xfrm>
              <a:off x="7959090" y="4046220"/>
              <a:ext cx="247650" cy="247650"/>
            </a:xfrm>
            <a:prstGeom prst="ellipse">
              <a:avLst/>
            </a:prstGeom>
            <a:solidFill>
              <a:srgbClr val="FFFFFF"/>
            </a:solidFill>
            <a:ln w="17145">
              <a:solidFill>
                <a:srgbClr val="0E7C86"/>
              </a:solidFill>
            </a:ln>
          </p:spPr>
        </p:sp>
        <p:sp>
          <p:nvSpPr>
            <p:cNvPr id="84" name="Ellipse 84"/>
            <p:cNvSpPr/>
            <p:nvPr/>
          </p:nvSpPr>
          <p:spPr>
            <a:xfrm>
              <a:off x="6346508" y="4801552"/>
              <a:ext cx="247650" cy="247650"/>
            </a:xfrm>
            <a:prstGeom prst="ellipse">
              <a:avLst/>
            </a:prstGeom>
            <a:solidFill>
              <a:srgbClr val="FFFFFF"/>
            </a:solidFill>
            <a:ln w="17145">
              <a:solidFill>
                <a:srgbClr val="0E7C86"/>
              </a:solidFill>
            </a:ln>
          </p:spPr>
        </p:sp>
        <p:sp>
          <p:nvSpPr>
            <p:cNvPr id="85" name="TextBox 85"/>
            <p:cNvSpPr txBox="1"/>
            <p:nvPr/>
          </p:nvSpPr>
          <p:spPr>
            <a:xfrm>
              <a:off x="6428605" y="2013585"/>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86" name="TextBox 86"/>
            <p:cNvSpPr txBox="1"/>
            <p:nvPr/>
          </p:nvSpPr>
          <p:spPr>
            <a:xfrm>
              <a:off x="8041188" y="27698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87" name="TextBox 87"/>
            <p:cNvSpPr txBox="1"/>
            <p:nvPr/>
          </p:nvSpPr>
          <p:spPr>
            <a:xfrm>
              <a:off x="8041188" y="2013585"/>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88" name="TextBox 88"/>
            <p:cNvSpPr txBox="1"/>
            <p:nvPr/>
          </p:nvSpPr>
          <p:spPr>
            <a:xfrm>
              <a:off x="6428605" y="2769870"/>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89" name="TextBox 89"/>
            <p:cNvSpPr txBox="1"/>
            <p:nvPr/>
          </p:nvSpPr>
          <p:spPr>
            <a:xfrm>
              <a:off x="9349923" y="2013585"/>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90" name="TextBox 90"/>
            <p:cNvSpPr txBox="1"/>
            <p:nvPr/>
          </p:nvSpPr>
          <p:spPr>
            <a:xfrm>
              <a:off x="10962505" y="27698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91" name="TextBox 91"/>
            <p:cNvSpPr txBox="1"/>
            <p:nvPr/>
          </p:nvSpPr>
          <p:spPr>
            <a:xfrm>
              <a:off x="10962505" y="2013585"/>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92" name="TextBox 92"/>
            <p:cNvSpPr txBox="1"/>
            <p:nvPr/>
          </p:nvSpPr>
          <p:spPr>
            <a:xfrm>
              <a:off x="9349923" y="2769870"/>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93" name="TextBox 93"/>
            <p:cNvSpPr txBox="1"/>
            <p:nvPr/>
          </p:nvSpPr>
          <p:spPr>
            <a:xfrm>
              <a:off x="6428605" y="4113848"/>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94" name="TextBox 94"/>
            <p:cNvSpPr txBox="1"/>
            <p:nvPr/>
          </p:nvSpPr>
          <p:spPr>
            <a:xfrm>
              <a:off x="8041188" y="486918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A</a:t>
              </a:r>
            </a:p>
          </p:txBody>
        </p:sp>
        <p:sp>
          <p:nvSpPr>
            <p:cNvPr id="95" name="TextBox 95"/>
            <p:cNvSpPr txBox="1"/>
            <p:nvPr/>
          </p:nvSpPr>
          <p:spPr>
            <a:xfrm>
              <a:off x="8041188" y="4113848"/>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96" name="TextBox 96"/>
            <p:cNvSpPr txBox="1"/>
            <p:nvPr/>
          </p:nvSpPr>
          <p:spPr>
            <a:xfrm>
              <a:off x="6428605" y="4869180"/>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97" name="TextBox 97"/>
            <p:cNvSpPr txBox="1"/>
            <p:nvPr/>
          </p:nvSpPr>
          <p:spPr>
            <a:xfrm>
              <a:off x="6612200" y="3366611"/>
              <a:ext cx="1327896"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单层：一刀只能圈住一个 A</a:t>
              </a:r>
            </a:p>
          </p:txBody>
        </p:sp>
        <p:sp>
          <p:nvSpPr>
            <p:cNvPr id="98" name="TextBox 98"/>
            <p:cNvSpPr txBox="1"/>
            <p:nvPr/>
          </p:nvSpPr>
          <p:spPr>
            <a:xfrm>
              <a:off x="9640760" y="3366611"/>
              <a:ext cx="1113409"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两层：两刀夹出凸条带</a:t>
              </a:r>
            </a:p>
          </p:txBody>
        </p:sp>
        <p:sp>
          <p:nvSpPr>
            <p:cNvPr id="99" name="TextBox 99"/>
            <p:cNvSpPr txBox="1"/>
            <p:nvPr/>
          </p:nvSpPr>
          <p:spPr>
            <a:xfrm>
              <a:off x="6664249" y="5465921"/>
              <a:ext cx="1223797"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三层：两块不相连的区域</a:t>
              </a:r>
            </a:p>
          </p:txBody>
        </p:sp>
        <p:sp>
          <p:nvSpPr>
            <p:cNvPr id="100" name="TextBox 100"/>
            <p:cNvSpPr txBox="1"/>
            <p:nvPr/>
          </p:nvSpPr>
          <p:spPr>
            <a:xfrm>
              <a:off x="9530372" y="5465921"/>
              <a:ext cx="1334186"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三层：可以凹，也可以带洞</a:t>
              </a:r>
            </a:p>
          </p:txBody>
        </p:sp>
      </p:grpSp>
      <p:grpSp>
        <p:nvGrpSpPr>
          <p:cNvPr id="107" name="takeaway"/>
          <p:cNvGrpSpPr/>
          <p:nvPr/>
        </p:nvGrpSpPr>
        <p:grpSpPr>
          <a:xfrm>
            <a:off x="533400" y="5895022"/>
            <a:ext cx="11125200" cy="467678"/>
            <a:chOff x="533400" y="5895022"/>
            <a:chExt cx="11125200" cy="467678"/>
          </a:xfrm>
        </p:grpSpPr>
        <p:sp>
          <p:nvSpPr>
            <p:cNvPr id="102" name="Rectangle 102"/>
            <p:cNvSpPr/>
            <p:nvPr/>
          </p:nvSpPr>
          <p:spPr>
            <a:xfrm>
              <a:off x="533400" y="5895022"/>
              <a:ext cx="11125200" cy="467678"/>
            </a:xfrm>
            <a:prstGeom prst="roundRect">
              <a:avLst>
                <a:gd name="adj" fmla="val 24440"/>
              </a:avLst>
            </a:prstGeom>
            <a:solidFill>
              <a:srgbClr val="0E7C86"/>
            </a:solidFill>
            <a:ln>
              <a:noFill/>
            </a:ln>
          </p:spPr>
        </p:sp>
        <p:grpSp>
          <p:nvGrpSpPr>
            <p:cNvPr id="105" name="Group 105"/>
            <p:cNvGrpSpPr/>
            <p:nvPr/>
          </p:nvGrpSpPr>
          <p:grpSpPr>
            <a:xfrm>
              <a:off x="738188" y="6028375"/>
              <a:ext cx="200023" cy="200023"/>
              <a:chOff x="738188" y="6028375"/>
              <a:chExt cx="200023" cy="200023"/>
            </a:xfrm>
          </p:grpSpPr>
          <p:sp>
            <p:nvSpPr>
              <p:cNvPr id="103" name="Freeform 103"/>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04" name="Freeform 104"/>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06" name="TextBox 106"/>
            <p:cNvSpPr txBox="1"/>
            <p:nvPr/>
          </p:nvSpPr>
          <p:spPr>
            <a:xfrm>
              <a:off x="1041273" y="6039326"/>
              <a:ext cx="8902385"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这张表是整个多层网络的动机：单层画不出 XOR 需要的边界，加一层才能夹出条带，再加一层才能圈出分开的几块。</a:t>
              </a:r>
            </a:p>
          </p:txBody>
        </p:sp>
      </p:grpSp>
      <p:grpSp>
        <p:nvGrpSpPr>
          <p:cNvPr id="110" name="footer"/>
          <p:cNvGrpSpPr/>
          <p:nvPr/>
        </p:nvGrpSpPr>
        <p:grpSpPr>
          <a:xfrm>
            <a:off x="528447" y="6581299"/>
            <a:ext cx="11135106" cy="190690"/>
            <a:chOff x="528447" y="6581299"/>
            <a:chExt cx="11135106" cy="190690"/>
          </a:xfrm>
        </p:grpSpPr>
        <p:sp>
          <p:nvSpPr>
            <p:cNvPr id="108" name="TextBox 108"/>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09" name="TextBox 10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换成可导的激活函数，学习规则怎么变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7625067" cy="264033"/>
            <a:chOff x="526542" y="1545907"/>
            <a:chExt cx="7625067" cy="264033"/>
          </a:xfrm>
        </p:grpSpPr>
        <p:sp>
          <p:nvSpPr>
            <p:cNvPr id="7" name="TextBox 7"/>
            <p:cNvSpPr txBox="1"/>
            <p:nvPr/>
          </p:nvSpPr>
          <p:spPr>
            <a:xfrm>
              <a:off x="526542" y="1545907"/>
              <a:ext cx="7625067"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感知器的阶跃函数不可导，把它换成线性函数或 Sigmoid，就能直接用梯度下降推出更新公式。</a:t>
              </a:r>
            </a:p>
          </p:txBody>
        </p:sp>
      </p:grpSp>
      <p:grpSp>
        <p:nvGrpSpPr>
          <p:cNvPr id="19" name="c1-card-1"/>
          <p:cNvGrpSpPr/>
          <p:nvPr/>
        </p:nvGrpSpPr>
        <p:grpSpPr>
          <a:xfrm>
            <a:off x="533400" y="1928812"/>
            <a:ext cx="5410200" cy="3649028"/>
            <a:chOff x="533400" y="1928812"/>
            <a:chExt cx="5410200" cy="3649028"/>
          </a:xfrm>
        </p:grpSpPr>
        <p:sp>
          <p:nvSpPr>
            <p:cNvPr id="9" name="Rectangle 9"/>
            <p:cNvSpPr/>
            <p:nvPr/>
          </p:nvSpPr>
          <p:spPr>
            <a:xfrm>
              <a:off x="533400" y="1928812"/>
              <a:ext cx="5410200" cy="3649028"/>
            </a:xfrm>
            <a:prstGeom prst="roundRect">
              <a:avLst>
                <a:gd name="adj" fmla="val 3654"/>
              </a:avLst>
            </a:prstGeom>
            <a:solidFill>
              <a:srgbClr val="FFFFFF"/>
            </a:solidFill>
            <a:ln w="14288">
              <a:solidFill>
                <a:srgbClr val="D9DFEA"/>
              </a:solidFill>
            </a:ln>
          </p:spPr>
        </p:sp>
        <p:sp>
          <p:nvSpPr>
            <p:cNvPr id="10" name="Rectangle 10"/>
            <p:cNvSpPr/>
            <p:nvPr/>
          </p:nvSpPr>
          <p:spPr>
            <a:xfrm>
              <a:off x="542925" y="2062162"/>
              <a:ext cx="47625" cy="3382328"/>
            </a:xfrm>
            <a:prstGeom prst="roundRect">
              <a:avLst>
                <a:gd name="adj" fmla="val 50000"/>
              </a:avLst>
            </a:prstGeom>
            <a:solidFill>
              <a:srgbClr val="0E7C86"/>
            </a:solidFill>
            <a:ln>
              <a:noFill/>
            </a:ln>
          </p:spPr>
        </p:sp>
        <p:sp>
          <p:nvSpPr>
            <p:cNvPr id="11" name="Rectangle 11"/>
            <p:cNvSpPr/>
            <p:nvPr/>
          </p:nvSpPr>
          <p:spPr>
            <a:xfrm>
              <a:off x="752475" y="2109788"/>
              <a:ext cx="582930" cy="238125"/>
            </a:xfrm>
            <a:prstGeom prst="roundRect">
              <a:avLst>
                <a:gd name="adj" fmla="val 50000"/>
              </a:avLst>
            </a:prstGeom>
            <a:solidFill>
              <a:srgbClr val="E2F3F4"/>
            </a:solidFill>
            <a:ln>
              <a:noFill/>
            </a:ln>
          </p:spPr>
        </p:sp>
        <p:sp>
          <p:nvSpPr>
            <p:cNvPr id="12" name="TextBox 12"/>
            <p:cNvSpPr txBox="1"/>
            <p:nvPr/>
          </p:nvSpPr>
          <p:spPr>
            <a:xfrm>
              <a:off x="841096" y="214264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情形一</a:t>
              </a:r>
            </a:p>
          </p:txBody>
        </p:sp>
        <p:sp>
          <p:nvSpPr>
            <p:cNvPr id="13" name="TextBox 13"/>
            <p:cNvSpPr txBox="1"/>
            <p:nvPr/>
          </p:nvSpPr>
          <p:spPr>
            <a:xfrm>
              <a:off x="1443228" y="2149316"/>
              <a:ext cx="137293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f 取线性连续函数</a:t>
              </a:r>
            </a:p>
          </p:txBody>
        </p:sp>
        <p:sp>
          <p:nvSpPr>
            <p:cNvPr id="14" name="TextBox 14"/>
            <p:cNvSpPr txBox="1"/>
            <p:nvPr/>
          </p:nvSpPr>
          <p:spPr>
            <a:xfrm>
              <a:off x="745998" y="2465546"/>
              <a:ext cx="2969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Oᵢ = f(vᵢ) = Σⱼ Iⱼ Wᵢⱼ，误差函数取</a:t>
              </a:r>
            </a:p>
          </p:txBody>
        </p:sp>
        <mc:AlternateContent xmlns:mc="http://schemas.openxmlformats.org/markup-compatibility/2006">
          <mc:Choice xmlns:a14="http://schemas.microsoft.com/office/drawing/2010/main" Requires="a14">
            <p:sp>
              <p:nvSpPr>
                <p:cNvPr id="15" name="formula93"/>
                <p:cNvSpPr txBox="1">
                  <a:spLocks noGrp="1"/>
                </p:cNvSpPr>
                <p:nvPr/>
              </p:nvSpPr>
              <p:spPr>
                <a:xfrm>
                  <a:off x="752475" y="2729865"/>
                  <a:ext cx="501015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80" dirty="0">
                            <a:solidFill>
                              <a:srgbClr val="1F2937"/>
                            </a:solidFill>
                            <a:latin typeface="Cambria Math"/>
                            <a:ea typeface="Cambria Math"/>
                            <a:cs typeface="Cambria Math"/>
                          </a:rPr>
                          <m:t>E</m:t>
                        </m:r>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sub>
                          <m:sup/>
                          <m:e>
                            <m:sSup>
                              <m:e>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i</m:t>
                                        </m:r>
                                      </m:sub>
                                    </m:sSub>
                                  </m:e>
                                </m:d>
                              </m:e>
                              <m:sup>
                                <m:r>
                                  <a:rPr lang="zh-CN" sz="1280" dirty="0">
                                    <a:solidFill>
                                      <a:srgbClr val="1F2937"/>
                                    </a:solidFill>
                                    <a:latin typeface="Cambria Math"/>
                                    <a:ea typeface="Cambria Math"/>
                                    <a:cs typeface="Cambria Math"/>
                                  </a:rPr>
                                  <m:t>2</m:t>
                                </m:r>
                              </m:sup>
                            </m:sSup>
                          </m:e>
                        </m:nary>
                      </m:oMath>
                    </m:oMathPara>
                  </a14:m>
                </a:p>
              </p:txBody>
            </p:sp>
          </mc:Choice>
        </mc:AlternateContent>
        <mc:AlternateContent xmlns:mc="http://schemas.openxmlformats.org/markup-compatibility/2006">
          <mc:Choice xmlns:a14="http://schemas.microsoft.com/office/drawing/2010/main" Requires="a14">
            <p:sp>
              <p:nvSpPr>
                <p:cNvPr id="16" name="formula94"/>
                <p:cNvSpPr txBox="1">
                  <a:spLocks noGrp="1"/>
                </p:cNvSpPr>
                <p:nvPr/>
              </p:nvSpPr>
              <p:spPr>
                <a:xfrm>
                  <a:off x="752475" y="3345180"/>
                  <a:ext cx="5010150"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E</m:t>
                            </m:r>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den>
                        </m:f>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den>
                        </m:f>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sSub>
                          <m:e>
                            <m:r>
                              <a:rPr lang="zh-CN" sz="1280" dirty="0">
                                <a:solidFill>
                                  <a:srgbClr val="1F2937"/>
                                </a:solidFill>
                                <a:latin typeface="Cambria Math"/>
                                <a:ea typeface="Cambria Math"/>
                                <a:cs typeface="Cambria Math"/>
                              </a:rPr>
                              <m:t>I</m:t>
                            </m:r>
                          </m:e>
                          <m:sub>
                            <m:r>
                              <a:rPr lang="zh-CN" sz="1280" dirty="0">
                                <a:solidFill>
                                  <a:srgbClr val="1F2937"/>
                                </a:solidFill>
                                <a:latin typeface="Cambria Math"/>
                                <a:ea typeface="Cambria Math"/>
                                <a:cs typeface="Cambria Math"/>
                              </a:rPr>
                              <m:t>i</m:t>
                            </m:r>
                          </m:sub>
                        </m:sSub>
                      </m:oMath>
                    </m:oMathPara>
                  </a14:m>
                </a:p>
              </p:txBody>
            </p:sp>
          </mc:Choice>
        </mc:AlternateContent>
        <mc:AlternateContent xmlns:mc="http://schemas.openxmlformats.org/markup-compatibility/2006">
          <mc:Choice xmlns:a14="http://schemas.microsoft.com/office/drawing/2010/main" Requires="a14">
            <p:sp>
              <p:nvSpPr>
                <p:cNvPr id="17" name="formula95"/>
                <p:cNvSpPr txBox="1">
                  <a:spLocks noGrp="1"/>
                </p:cNvSpPr>
                <p:nvPr/>
              </p:nvSpPr>
              <p:spPr>
                <a:xfrm>
                  <a:off x="752475" y="3863340"/>
                  <a:ext cx="501015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r>
                          <a:rPr lang="zh-CN" sz="1280" dirty="0">
                            <a:solidFill>
                              <a:srgbClr val="1F2937"/>
                            </a:solidFill>
                            <a:latin typeface="Cambria Math"/>
                            <a:ea typeface="Cambria Math"/>
                            <a:cs typeface="Cambria Math"/>
                          </a:rPr>
                          <m:t xml:space="preserve"> </m:t>
                        </m:r>
                        <m:sSub>
                          <m:e>
                            <m:r>
                              <a:rPr lang="zh-CN" sz="1280" dirty="0">
                                <a:solidFill>
                                  <a:srgbClr val="1F2937"/>
                                </a:solidFill>
                                <a:latin typeface="Cambria Math"/>
                                <a:ea typeface="Cambria Math"/>
                                <a:cs typeface="Cambria Math"/>
                              </a:rPr>
                              <m:t>I</m:t>
                            </m:r>
                          </m:e>
                          <m:sub>
                            <m:r>
                              <a:rPr lang="zh-CN" sz="1280" dirty="0">
                                <a:solidFill>
                                  <a:srgbClr val="1F2937"/>
                                </a:solidFill>
                                <a:latin typeface="Cambria Math"/>
                                <a:ea typeface="Cambria Math"/>
                                <a:cs typeface="Cambria Math"/>
                              </a:rPr>
                              <m:t>i</m:t>
                            </m:r>
                          </m:sub>
                        </m:sSub>
                      </m:oMath>
                    </m:oMathPara>
                  </a14:m>
                </a:p>
              </p:txBody>
            </p:sp>
          </mc:Choice>
        </mc:AlternateContent>
        <p:sp>
          <p:nvSpPr>
            <p:cNvPr id="18" name="TextBox 18"/>
            <p:cNvSpPr txBox="1"/>
            <p:nvPr/>
          </p:nvSpPr>
          <p:spPr>
            <a:xfrm>
              <a:off x="747141" y="4285298"/>
              <a:ext cx="242051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结果与 Err = T − O 那一版完全一致。</a:t>
              </a:r>
            </a:p>
          </p:txBody>
        </p:sp>
      </p:grpSp>
      <p:grpSp>
        <p:nvGrpSpPr>
          <p:cNvPr id="28" name="c2-card-1"/>
          <p:cNvGrpSpPr/>
          <p:nvPr/>
        </p:nvGrpSpPr>
        <p:grpSpPr>
          <a:xfrm>
            <a:off x="6248400" y="1928812"/>
            <a:ext cx="5410200" cy="1795462"/>
            <a:chOff x="6248400" y="1928812"/>
            <a:chExt cx="5410200" cy="1795462"/>
          </a:xfrm>
        </p:grpSpPr>
        <p:sp>
          <p:nvSpPr>
            <p:cNvPr id="20" name="Rectangle 20"/>
            <p:cNvSpPr/>
            <p:nvPr/>
          </p:nvSpPr>
          <p:spPr>
            <a:xfrm>
              <a:off x="6248400" y="1928812"/>
              <a:ext cx="5410200" cy="1795462"/>
            </a:xfrm>
            <a:prstGeom prst="roundRect">
              <a:avLst>
                <a:gd name="adj" fmla="val 7427"/>
              </a:avLst>
            </a:prstGeom>
            <a:solidFill>
              <a:srgbClr val="FFFFFF"/>
            </a:solidFill>
            <a:ln w="14288">
              <a:solidFill>
                <a:srgbClr val="D9DFEA"/>
              </a:solidFill>
            </a:ln>
          </p:spPr>
        </p:sp>
        <p:sp>
          <p:nvSpPr>
            <p:cNvPr id="21" name="Rectangle 21"/>
            <p:cNvSpPr/>
            <p:nvPr/>
          </p:nvSpPr>
          <p:spPr>
            <a:xfrm>
              <a:off x="6257925" y="2062162"/>
              <a:ext cx="47625" cy="1528762"/>
            </a:xfrm>
            <a:prstGeom prst="roundRect">
              <a:avLst>
                <a:gd name="adj" fmla="val 50000"/>
              </a:avLst>
            </a:prstGeom>
            <a:solidFill>
              <a:srgbClr val="0E7C86"/>
            </a:solidFill>
            <a:ln>
              <a:noFill/>
            </a:ln>
          </p:spPr>
        </p:sp>
        <p:sp>
          <p:nvSpPr>
            <p:cNvPr id="22" name="Rectangle 22"/>
            <p:cNvSpPr/>
            <p:nvPr/>
          </p:nvSpPr>
          <p:spPr>
            <a:xfrm>
              <a:off x="6467475" y="2109788"/>
              <a:ext cx="582930" cy="238125"/>
            </a:xfrm>
            <a:prstGeom prst="roundRect">
              <a:avLst>
                <a:gd name="adj" fmla="val 50000"/>
              </a:avLst>
            </a:prstGeom>
            <a:solidFill>
              <a:srgbClr val="E2F3F4"/>
            </a:solidFill>
            <a:ln>
              <a:noFill/>
            </a:ln>
          </p:spPr>
        </p:sp>
        <p:sp>
          <p:nvSpPr>
            <p:cNvPr id="23" name="TextBox 23"/>
            <p:cNvSpPr txBox="1"/>
            <p:nvPr/>
          </p:nvSpPr>
          <p:spPr>
            <a:xfrm>
              <a:off x="6556096" y="214264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情形二</a:t>
              </a:r>
            </a:p>
          </p:txBody>
        </p:sp>
        <p:sp>
          <p:nvSpPr>
            <p:cNvPr id="24" name="TextBox 24"/>
            <p:cNvSpPr txBox="1"/>
            <p:nvPr/>
          </p:nvSpPr>
          <p:spPr>
            <a:xfrm>
              <a:off x="7158228" y="2149316"/>
              <a:ext cx="104126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f 取 Sigmoid</a:t>
              </a:r>
            </a:p>
          </p:txBody>
        </p:sp>
        <p:sp>
          <p:nvSpPr>
            <p:cNvPr id="25" name="TextBox 25"/>
            <p:cNvSpPr txBox="1"/>
            <p:nvPr/>
          </p:nvSpPr>
          <p:spPr>
            <a:xfrm>
              <a:off x="6460998" y="2465546"/>
              <a:ext cx="25006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关键是 σ′(vⱼ) = Oⱼ(1 − Oⱼ)。</a:t>
              </a:r>
            </a:p>
          </p:txBody>
        </p:sp>
        <mc:AlternateContent xmlns:mc="http://schemas.openxmlformats.org/markup-compatibility/2006">
          <mc:Choice xmlns:a14="http://schemas.microsoft.com/office/drawing/2010/main" Requires="a14">
            <p:sp>
              <p:nvSpPr>
                <p:cNvPr id="26" name="formula96"/>
                <p:cNvSpPr txBox="1">
                  <a:spLocks noGrp="1"/>
                </p:cNvSpPr>
                <p:nvPr/>
              </p:nvSpPr>
              <p:spPr>
                <a:xfrm>
                  <a:off x="6467475" y="2729865"/>
                  <a:ext cx="5010150"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E</m:t>
                            </m:r>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den>
                        </m:f>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v</m:t>
                                </m:r>
                              </m:e>
                              <m:sub>
                                <m:r>
                                  <a:rPr lang="zh-CN" sz="1200" dirty="0">
                                    <a:solidFill>
                                      <a:srgbClr val="1F2937"/>
                                    </a:solidFill>
                                    <a:latin typeface="Cambria Math"/>
                                    <a:ea typeface="Cambria Math"/>
                                    <a:cs typeface="Cambria Math"/>
                                  </a:rPr>
                                  <m:t>j</m:t>
                                </m:r>
                              </m:sub>
                            </m:sSub>
                          </m:den>
                        </m:f>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v</m:t>
                                </m:r>
                              </m:e>
                              <m:sub>
                                <m:r>
                                  <a:rPr lang="zh-CN" sz="1200" dirty="0">
                                    <a:solidFill>
                                      <a:srgbClr val="1F2937"/>
                                    </a:solidFill>
                                    <a:latin typeface="Cambria Math"/>
                                    <a:ea typeface="Cambria Math"/>
                                    <a:cs typeface="Cambria Math"/>
                                  </a:rPr>
                                  <m:t>j</m:t>
                                </m:r>
                              </m:sub>
                            </m:sSub>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den>
                        </m:f>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I</m:t>
                            </m:r>
                          </m:e>
                          <m:sub>
                            <m:r>
                              <a:rPr lang="zh-CN" sz="1200" dirty="0">
                                <a:solidFill>
                                  <a:srgbClr val="1F2937"/>
                                </a:solidFill>
                                <a:latin typeface="Cambria Math"/>
                                <a:ea typeface="Cambria Math"/>
                                <a:cs typeface="Cambria Math"/>
                              </a:rPr>
                              <m:t>i</m:t>
                            </m:r>
                          </m:sub>
                        </m:sSub>
                      </m:oMath>
                    </m:oMathPara>
                  </a14:m>
                </a:p>
              </p:txBody>
            </p:sp>
          </mc:Choice>
        </mc:AlternateContent>
        <mc:AlternateContent xmlns:mc="http://schemas.openxmlformats.org/markup-compatibility/2006">
          <mc:Choice xmlns:a14="http://schemas.microsoft.com/office/drawing/2010/main" Requires="a14">
            <p:sp>
              <p:nvSpPr>
                <p:cNvPr id="27" name="formula97"/>
                <p:cNvSpPr txBox="1">
                  <a:spLocks noGrp="1"/>
                </p:cNvSpPr>
                <p:nvPr/>
              </p:nvSpPr>
              <p:spPr>
                <a:xfrm>
                  <a:off x="6467475" y="3222308"/>
                  <a:ext cx="5010150"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η</m:t>
                        </m:r>
                        <m:r>
                          <a:rPr lang="zh-CN" sz="1200" dirty="0">
                            <a:solidFill>
                              <a:srgbClr val="1F2937"/>
                            </a:solidFill>
                            <a:latin typeface="Cambria Math"/>
                            <a:ea typeface="Cambria Math"/>
                            <a:cs typeface="Cambria Math"/>
                          </a:rPr>
                          <m:t xml:space="preserve"> </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I</m:t>
                            </m:r>
                          </m:e>
                          <m:sub>
                            <m:r>
                              <a:rPr lang="zh-CN" sz="1200" dirty="0">
                                <a:solidFill>
                                  <a:srgbClr val="1F2937"/>
                                </a:solidFill>
                                <a:latin typeface="Cambria Math"/>
                                <a:ea typeface="Cambria Math"/>
                                <a:cs typeface="Cambria Math"/>
                              </a:rPr>
                              <m:t>i</m:t>
                            </m:r>
                          </m:sub>
                        </m:sSub>
                      </m:oMath>
                    </m:oMathPara>
                  </a14:m>
                </a:p>
              </p:txBody>
            </p:sp>
          </mc:Choice>
        </mc:AlternateContent>
      </p:grpSp>
      <p:grpSp>
        <p:nvGrpSpPr>
          <p:cNvPr id="40" name="c2-card-2"/>
          <p:cNvGrpSpPr/>
          <p:nvPr/>
        </p:nvGrpSpPr>
        <p:grpSpPr>
          <a:xfrm>
            <a:off x="6248400" y="3889058"/>
            <a:ext cx="5410200" cy="1687830"/>
            <a:chOff x="6248400" y="3889058"/>
            <a:chExt cx="5410200" cy="1687830"/>
          </a:xfrm>
        </p:grpSpPr>
        <p:sp>
          <p:nvSpPr>
            <p:cNvPr id="29" name="Rectangle 29"/>
            <p:cNvSpPr/>
            <p:nvPr/>
          </p:nvSpPr>
          <p:spPr>
            <a:xfrm>
              <a:off x="6248400" y="3889058"/>
              <a:ext cx="5410200" cy="1687830"/>
            </a:xfrm>
            <a:prstGeom prst="roundRect">
              <a:avLst>
                <a:gd name="adj" fmla="val 7901"/>
              </a:avLst>
            </a:prstGeom>
            <a:solidFill>
              <a:srgbClr val="FFFFFF"/>
            </a:solidFill>
            <a:ln w="14288">
              <a:solidFill>
                <a:srgbClr val="D9DFEA"/>
              </a:solidFill>
            </a:ln>
          </p:spPr>
        </p:sp>
        <p:sp>
          <p:nvSpPr>
            <p:cNvPr id="30" name="Rectangle 30"/>
            <p:cNvSpPr/>
            <p:nvPr/>
          </p:nvSpPr>
          <p:spPr>
            <a:xfrm>
              <a:off x="6257925" y="4022408"/>
              <a:ext cx="47625" cy="1421130"/>
            </a:xfrm>
            <a:prstGeom prst="roundRect">
              <a:avLst>
                <a:gd name="adj" fmla="val 50000"/>
              </a:avLst>
            </a:prstGeom>
            <a:solidFill>
              <a:srgbClr val="B42318"/>
            </a:solidFill>
            <a:ln>
              <a:noFill/>
            </a:ln>
          </p:spPr>
        </p:sp>
        <p:sp>
          <p:nvSpPr>
            <p:cNvPr id="31" name="Rectangle 31"/>
            <p:cNvSpPr/>
            <p:nvPr/>
          </p:nvSpPr>
          <p:spPr>
            <a:xfrm>
              <a:off x="6467475" y="4070032"/>
              <a:ext cx="458152" cy="238125"/>
            </a:xfrm>
            <a:prstGeom prst="roundRect">
              <a:avLst>
                <a:gd name="adj" fmla="val 50000"/>
              </a:avLst>
            </a:prstGeom>
            <a:solidFill>
              <a:srgbClr val="FDECEA"/>
            </a:solidFill>
            <a:ln>
              <a:noFill/>
            </a:ln>
          </p:spPr>
        </p:sp>
        <p:sp>
          <p:nvSpPr>
            <p:cNvPr id="32" name="TextBox 32"/>
            <p:cNvSpPr txBox="1"/>
            <p:nvPr/>
          </p:nvSpPr>
          <p:spPr>
            <a:xfrm>
              <a:off x="6560147" y="4102894"/>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33" name="TextBox 33"/>
            <p:cNvSpPr txBox="1"/>
            <p:nvPr/>
          </p:nvSpPr>
          <p:spPr>
            <a:xfrm>
              <a:off x="7033451" y="4109561"/>
              <a:ext cx="22432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A 版课件这一页有两处符号错</a:t>
              </a:r>
            </a:p>
          </p:txBody>
        </p:sp>
        <p:sp>
          <p:nvSpPr>
            <p:cNvPr id="34" name="Ellipse 34"/>
            <p:cNvSpPr/>
            <p:nvPr/>
          </p:nvSpPr>
          <p:spPr>
            <a:xfrm>
              <a:off x="6467475" y="4414838"/>
              <a:ext cx="180975" cy="180975"/>
            </a:xfrm>
            <a:prstGeom prst="ellipse">
              <a:avLst/>
            </a:prstGeom>
            <a:solidFill>
              <a:srgbClr val="0E7C86"/>
            </a:solidFill>
            <a:ln>
              <a:noFill/>
            </a:ln>
          </p:spPr>
        </p:sp>
        <p:sp>
          <p:nvSpPr>
            <p:cNvPr id="35" name="TextBox 35"/>
            <p:cNvSpPr txBox="1"/>
            <p:nvPr/>
          </p:nvSpPr>
          <p:spPr>
            <a:xfrm>
              <a:off x="6519382" y="445046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36" name="TextBox 36"/>
            <p:cNvSpPr txBox="1"/>
            <p:nvPr/>
          </p:nvSpPr>
          <p:spPr>
            <a:xfrm>
              <a:off x="6737223" y="4426744"/>
              <a:ext cx="3523437"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σ′(v) 被写成 </a:t>
              </a:r>
              <a:r>
                <a:rPr lang="zh-CN" sz="1280" b="1" dirty="0">
                  <a:solidFill>
                    <a:srgbClr val="B42318"/>
                  </a:solidFill>
                  <a:latin typeface="+mn-lt"/>
                  <a:ea typeface="+mn-ea"/>
                  <a:cs typeface="+mn-cs"/>
                </a:rPr>
                <a:t>负的 e⁻ᵛ/(1+e⁻ᵛ)²</a:t>
              </a:r>
              <a:r>
                <a:rPr lang="zh-CN" sz="1280" dirty="0">
                  <a:solidFill>
                    <a:srgbClr val="1F2937"/>
                  </a:solidFill>
                  <a:latin typeface="+mn-lt"/>
                  <a:ea typeface="+mn-ea"/>
                  <a:cs typeface="+mn-cs"/>
                </a:rPr>
                <a:t>；正确写法是</a:t>
              </a:r>
              <a:br/>
              <a:r>
                <a:rPr lang="en-US" sz="1280" b="1" dirty="0">
                  <a:solidFill>
                    <a:srgbClr val="0F7A68"/>
                  </a:solidFill>
                  <a:latin typeface="+mn-lt"/>
                  <a:ea typeface="+mn-ea"/>
                  <a:cs typeface="+mn-cs"/>
                </a:rPr>
                <a:t>e⁻ᵛ/(1+e⁻ᵛ)² = O(1−O)</a:t>
              </a:r>
              <a:r>
                <a:rPr lang="zh-CN" sz="1280" dirty="0">
                  <a:solidFill>
                    <a:srgbClr val="1F2937"/>
                  </a:solidFill>
                  <a:latin typeface="+mn-lt"/>
                  <a:ea typeface="+mn-ea"/>
                  <a:cs typeface="+mn-cs"/>
                </a:rPr>
                <a:t>，它恒为正。</a:t>
              </a:r>
            </a:p>
          </p:txBody>
        </p:sp>
        <p:sp>
          <p:nvSpPr>
            <p:cNvPr id="37" name="Ellipse 37"/>
            <p:cNvSpPr/>
            <p:nvPr/>
          </p:nvSpPr>
          <p:spPr>
            <a:xfrm>
              <a:off x="6467475" y="4943475"/>
              <a:ext cx="180975" cy="180975"/>
            </a:xfrm>
            <a:prstGeom prst="ellipse">
              <a:avLst/>
            </a:prstGeom>
            <a:solidFill>
              <a:srgbClr val="0E7C86"/>
            </a:solidFill>
            <a:ln>
              <a:noFill/>
            </a:ln>
          </p:spPr>
        </p:sp>
        <p:sp>
          <p:nvSpPr>
            <p:cNvPr id="38" name="TextBox 38"/>
            <p:cNvSpPr txBox="1"/>
            <p:nvPr/>
          </p:nvSpPr>
          <p:spPr>
            <a:xfrm>
              <a:off x="6519382" y="49781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9" name="TextBox 39"/>
            <p:cNvSpPr txBox="1"/>
            <p:nvPr/>
          </p:nvSpPr>
          <p:spPr>
            <a:xfrm>
              <a:off x="6737223" y="4954429"/>
              <a:ext cx="4449623"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由此得到的更新式 </a:t>
              </a:r>
              <a:r>
                <a:rPr lang="el-GR" sz="1280" b="1" dirty="0">
                  <a:solidFill>
                    <a:srgbClr val="B42318"/>
                  </a:solidFill>
                  <a:latin typeface="+mn-lt"/>
                  <a:ea typeface="+mn-ea"/>
                  <a:cs typeface="+mn-cs"/>
                </a:rPr>
                <a:t>wᵢⱼ ← wᵢⱼ − η Iᵢ Oⱼ(1−Oⱼ)(Tⱼ−Oⱼ)</a:t>
              </a:r>
              <a:r>
                <a:rPr lang="zh-CN" sz="1280" dirty="0">
                  <a:solidFill>
                    <a:srgbClr val="1F2937"/>
                  </a:solidFill>
                  <a:latin typeface="+mn-lt"/>
                  <a:ea typeface="+mn-ea"/>
                  <a:cs typeface="+mn-cs"/>
                </a:rPr>
                <a:t xml:space="preserve"> 方</a:t>
              </a:r>
              <a:br/>
              <a:r>
                <a:rPr lang="zh-CN" sz="1280" dirty="0">
                  <a:solidFill>
                    <a:srgbClr val="1F2937"/>
                  </a:solidFill>
                  <a:latin typeface="+mn-lt"/>
                  <a:ea typeface="+mn-ea"/>
                  <a:cs typeface="+mn-cs"/>
                </a:rPr>
                <a:t>向反了，照它更新误差会变大。</a:t>
              </a:r>
            </a:p>
          </p:txBody>
        </p:sp>
      </p:grpSp>
      <p:grpSp>
        <p:nvGrpSpPr>
          <p:cNvPr id="46" name="takeaway"/>
          <p:cNvGrpSpPr/>
          <p:nvPr/>
        </p:nvGrpSpPr>
        <p:grpSpPr>
          <a:xfrm>
            <a:off x="533400" y="5895022"/>
            <a:ext cx="11125200" cy="467678"/>
            <a:chOff x="533400" y="5895022"/>
            <a:chExt cx="11125200" cy="467678"/>
          </a:xfrm>
        </p:grpSpPr>
        <p:sp>
          <p:nvSpPr>
            <p:cNvPr id="41" name="Rectangle 41"/>
            <p:cNvSpPr/>
            <p:nvPr/>
          </p:nvSpPr>
          <p:spPr>
            <a:xfrm>
              <a:off x="533400" y="5895022"/>
              <a:ext cx="11125200" cy="467678"/>
            </a:xfrm>
            <a:prstGeom prst="roundRect">
              <a:avLst>
                <a:gd name="adj" fmla="val 24440"/>
              </a:avLst>
            </a:prstGeom>
            <a:solidFill>
              <a:srgbClr val="0E7C86"/>
            </a:solidFill>
            <a:ln>
              <a:noFill/>
            </a:ln>
          </p:spPr>
        </p:sp>
        <p:grpSp>
          <p:nvGrpSpPr>
            <p:cNvPr id="44" name="Group 44"/>
            <p:cNvGrpSpPr/>
            <p:nvPr/>
          </p:nvGrpSpPr>
          <p:grpSpPr>
            <a:xfrm>
              <a:off x="738188" y="6028375"/>
              <a:ext cx="200023" cy="200023"/>
              <a:chOff x="738188" y="6028375"/>
              <a:chExt cx="200023" cy="200023"/>
            </a:xfrm>
          </p:grpSpPr>
          <p:sp>
            <p:nvSpPr>
              <p:cNvPr id="42" name="Freeform 42"/>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3" name="Freeform 43"/>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5" name="TextBox 45"/>
            <p:cNvSpPr txBox="1"/>
            <p:nvPr/>
          </p:nvSpPr>
          <p:spPr>
            <a:xfrm>
              <a:off x="1041273" y="6039326"/>
              <a:ext cx="852004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自查办法：同一页上线性情形的更新是“加”，Sigmoid 只是多乘了一个恒正的 Oⱼ(1−Oⱼ)，符号不可能翻过来。</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8" name="section-title"/>
          <p:cNvGrpSpPr/>
          <p:nvPr/>
        </p:nvGrpSpPr>
        <p:grpSpPr>
          <a:xfrm>
            <a:off x="667512" y="1835468"/>
            <a:ext cx="5312298" cy="3351847"/>
            <a:chOff x="667512" y="1835468"/>
            <a:chExt cx="531229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531229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多层前馈网络与 BP 算法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57073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隐层没有教师信号，误差怎么传回去</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网络结构与记号</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正向传播加反向传播</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链式法则的两种情形</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6730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手算一次完整的BP迭代</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558075" cy="909257"/>
            <a:chOff x="520446" y="342900"/>
            <a:chExt cx="4558075"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45580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多层前馈网络：3-4-2 的记号</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4" name="c1-kv-1"/>
          <p:cNvGrpSpPr/>
          <p:nvPr/>
        </p:nvGrpSpPr>
        <p:grpSpPr>
          <a:xfrm>
            <a:off x="526923" y="1545431"/>
            <a:ext cx="4767072" cy="3078289"/>
            <a:chOff x="526923" y="1545431"/>
            <a:chExt cx="4767072" cy="3078289"/>
          </a:xfrm>
        </p:grpSpPr>
        <p:sp>
          <p:nvSpPr>
            <p:cNvPr id="7" name="TextBox 7"/>
            <p:cNvSpPr txBox="1"/>
            <p:nvPr/>
          </p:nvSpPr>
          <p:spPr>
            <a:xfrm>
              <a:off x="526923" y="1545431"/>
              <a:ext cx="529895"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输入层</a:t>
              </a:r>
            </a:p>
          </p:txBody>
        </p:sp>
        <p:sp>
          <p:nvSpPr>
            <p:cNvPr id="8" name="TextBox 8"/>
            <p:cNvSpPr txBox="1"/>
            <p:nvPr/>
          </p:nvSpPr>
          <p:spPr>
            <a:xfrm>
              <a:off x="1955673" y="1545431"/>
              <a:ext cx="310159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只负责把特征送进网络，不做计算，不计入</a:t>
              </a:r>
              <a:br/>
              <a:r>
                <a:rPr lang="zh-CN" sz="1280" dirty="0">
                  <a:solidFill>
                    <a:srgbClr val="1F2937"/>
                  </a:solidFill>
                  <a:latin typeface="+mn-lt"/>
                  <a:ea typeface="+mn-ea"/>
                  <a:cs typeface="+mn-cs"/>
                </a:rPr>
                <a:t>层数的说法因教材而异</a:t>
              </a:r>
            </a:p>
          </p:txBody>
        </p:sp>
        <p:sp>
          <p:nvSpPr>
            <p:cNvPr id="9" name="Rectangle 9"/>
            <p:cNvSpPr/>
            <p:nvPr/>
          </p:nvSpPr>
          <p:spPr>
            <a:xfrm>
              <a:off x="533400" y="2056448"/>
              <a:ext cx="4760595" cy="9525"/>
            </a:xfrm>
            <a:prstGeom prst="rect">
              <a:avLst/>
            </a:prstGeom>
            <a:solidFill>
              <a:srgbClr val="D9DFEA"/>
            </a:solidFill>
            <a:ln>
              <a:noFill/>
            </a:ln>
          </p:spPr>
        </p:sp>
        <p:sp>
          <p:nvSpPr>
            <p:cNvPr id="10" name="TextBox 10"/>
            <p:cNvSpPr txBox="1"/>
            <p:nvPr/>
          </p:nvSpPr>
          <p:spPr>
            <a:xfrm>
              <a:off x="526923" y="2158841"/>
              <a:ext cx="909879" cy="489394"/>
            </a:xfrm>
            <a:prstGeom prst="rect">
              <a:avLst/>
            </a:prstGeom>
            <a:noFill/>
            <a:ln>
              <a:noFill/>
            </a:ln>
          </p:spPr>
          <p:txBody>
            <a:bodyPr wrap="none" lIns="0" tIns="0" rIns="0" bIns="0" anchor="t" anchorCtr="0">
              <a:spAutoFit/>
            </a:bodyPr>
            <a:lstStyle/>
            <a:p>
              <a:pPr algn="l">
                <a:lnSpc>
                  <a:spcPts val="1890"/>
                </a:lnSpc>
              </a:pPr>
              <a:r>
                <a:rPr lang="zh-CN" sz="1280" b="1" dirty="0">
                  <a:solidFill>
                    <a:srgbClr val="0E7C86"/>
                  </a:solidFill>
                  <a:latin typeface="+mn-lt"/>
                  <a:ea typeface="+mn-ea"/>
                  <a:cs typeface="+mn-cs"/>
                </a:rPr>
                <a:t>隐层 hidden</a:t>
              </a:r>
              <a:br/>
              <a:r>
                <a:rPr lang="en-US" sz="1280" b="1" dirty="0">
                  <a:solidFill>
                    <a:srgbClr val="0E7C86"/>
                  </a:solidFill>
                  <a:latin typeface="+mn-lt"/>
                  <a:ea typeface="+mn-ea"/>
                  <a:cs typeface="+mn-cs"/>
                </a:rPr>
                <a:t>layer</a:t>
              </a:r>
            </a:p>
          </p:txBody>
        </p:sp>
        <p:sp>
          <p:nvSpPr>
            <p:cNvPr id="11" name="TextBox 11"/>
            <p:cNvSpPr txBox="1"/>
            <p:nvPr/>
          </p:nvSpPr>
          <p:spPr>
            <a:xfrm>
              <a:off x="1955673" y="2158841"/>
              <a:ext cx="310159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位于输入与输出之间，没有教师信号直接告</a:t>
              </a:r>
              <a:br/>
              <a:r>
                <a:rPr lang="zh-CN" sz="1280" dirty="0">
                  <a:solidFill>
                    <a:srgbClr val="1F2937"/>
                  </a:solidFill>
                  <a:latin typeface="+mn-lt"/>
                  <a:ea typeface="+mn-ea"/>
                  <a:cs typeface="+mn-cs"/>
                </a:rPr>
                <a:t>诉它该输出什么</a:t>
              </a:r>
            </a:p>
          </p:txBody>
        </p:sp>
        <p:sp>
          <p:nvSpPr>
            <p:cNvPr id="12" name="Rectangle 12"/>
            <p:cNvSpPr/>
            <p:nvPr/>
          </p:nvSpPr>
          <p:spPr>
            <a:xfrm>
              <a:off x="533400" y="2670810"/>
              <a:ext cx="4760595" cy="9525"/>
            </a:xfrm>
            <a:prstGeom prst="rect">
              <a:avLst/>
            </a:prstGeom>
            <a:solidFill>
              <a:srgbClr val="D9DFEA"/>
            </a:solidFill>
            <a:ln>
              <a:noFill/>
            </a:ln>
          </p:spPr>
        </p:sp>
        <p:sp>
          <p:nvSpPr>
            <p:cNvPr id="13" name="TextBox 13"/>
            <p:cNvSpPr txBox="1"/>
            <p:nvPr/>
          </p:nvSpPr>
          <p:spPr>
            <a:xfrm>
              <a:off x="526923" y="2772251"/>
              <a:ext cx="529895"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输出层</a:t>
              </a:r>
            </a:p>
          </p:txBody>
        </p:sp>
        <p:sp>
          <p:nvSpPr>
            <p:cNvPr id="14" name="TextBox 14"/>
            <p:cNvSpPr txBox="1"/>
            <p:nvPr/>
          </p:nvSpPr>
          <p:spPr>
            <a:xfrm>
              <a:off x="1955673" y="2772251"/>
              <a:ext cx="29793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给出最终结果，与目标 T 比较产生误差</a:t>
              </a:r>
            </a:p>
          </p:txBody>
        </p:sp>
        <p:sp>
          <p:nvSpPr>
            <p:cNvPr id="15" name="Rectangle 15"/>
            <p:cNvSpPr/>
            <p:nvPr/>
          </p:nvSpPr>
          <p:spPr>
            <a:xfrm>
              <a:off x="533400" y="3044190"/>
              <a:ext cx="4760595" cy="9525"/>
            </a:xfrm>
            <a:prstGeom prst="rect">
              <a:avLst/>
            </a:prstGeom>
            <a:solidFill>
              <a:srgbClr val="D9DFEA"/>
            </a:solidFill>
            <a:ln>
              <a:noFill/>
            </a:ln>
          </p:spPr>
        </p:sp>
        <p:sp>
          <p:nvSpPr>
            <p:cNvPr id="16" name="TextBox 16"/>
            <p:cNvSpPr txBox="1"/>
            <p:nvPr/>
          </p:nvSpPr>
          <p:spPr>
            <a:xfrm>
              <a:off x="526923" y="3146584"/>
              <a:ext cx="465277"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sⱼ(l)</a:t>
              </a:r>
            </a:p>
          </p:txBody>
        </p:sp>
        <p:sp>
          <p:nvSpPr>
            <p:cNvPr id="17" name="TextBox 17"/>
            <p:cNvSpPr txBox="1"/>
            <p:nvPr/>
          </p:nvSpPr>
          <p:spPr>
            <a:xfrm>
              <a:off x="1955673" y="3146584"/>
              <a:ext cx="3069082"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第 l 层第 j 个神经元的状态，即激活后的输</a:t>
              </a:r>
              <a:br/>
              <a:r>
                <a:rPr lang="zh-CN" sz="1280" dirty="0">
                  <a:solidFill>
                    <a:srgbClr val="1F2937"/>
                  </a:solidFill>
                  <a:latin typeface="+mn-lt"/>
                  <a:ea typeface="+mn-ea"/>
                  <a:cs typeface="+mn-cs"/>
                </a:rPr>
                <a:t>出</a:t>
              </a:r>
            </a:p>
          </p:txBody>
        </p:sp>
        <p:sp>
          <p:nvSpPr>
            <p:cNvPr id="18" name="Rectangle 18"/>
            <p:cNvSpPr/>
            <p:nvPr/>
          </p:nvSpPr>
          <p:spPr>
            <a:xfrm>
              <a:off x="533400" y="3658552"/>
              <a:ext cx="4760595" cy="9525"/>
            </a:xfrm>
            <a:prstGeom prst="rect">
              <a:avLst/>
            </a:prstGeom>
            <a:solidFill>
              <a:srgbClr val="D9DFEA"/>
            </a:solidFill>
            <a:ln>
              <a:noFill/>
            </a:ln>
          </p:spPr>
        </p:sp>
        <p:sp>
          <p:nvSpPr>
            <p:cNvPr id="19" name="TextBox 19"/>
            <p:cNvSpPr txBox="1"/>
            <p:nvPr/>
          </p:nvSpPr>
          <p:spPr>
            <a:xfrm>
              <a:off x="526923" y="3759994"/>
              <a:ext cx="465277" cy="249364"/>
            </a:xfrm>
            <a:prstGeom prst="rect">
              <a:avLst/>
            </a:prstGeom>
            <a:noFill/>
            <a:ln>
              <a:noFill/>
            </a:ln>
          </p:spPr>
          <p:txBody>
            <a:bodyPr wrap="none" lIns="0" tIns="0" rIns="0" bIns="0" anchor="t" anchorCtr="0">
              <a:spAutoFit/>
            </a:bodyPr>
            <a:lstStyle/>
            <a:p>
              <a:pPr algn="l"/>
              <a:r>
                <a:rPr lang="el-GR" sz="1280" b="1" dirty="0">
                  <a:solidFill>
                    <a:srgbClr val="0E7C86"/>
                  </a:solidFill>
                  <a:latin typeface="+mn-lt"/>
                  <a:ea typeface="+mn-ea"/>
                  <a:cs typeface="+mn-cs"/>
                </a:rPr>
                <a:t>ϑⱼ(l)</a:t>
              </a:r>
            </a:p>
          </p:txBody>
        </p:sp>
        <p:sp>
          <p:nvSpPr>
            <p:cNvPr id="20" name="TextBox 20"/>
            <p:cNvSpPr txBox="1"/>
            <p:nvPr/>
          </p:nvSpPr>
          <p:spPr>
            <a:xfrm>
              <a:off x="1955673" y="3759994"/>
              <a:ext cx="22185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l 层第 j 个神经元的净输入</a:t>
              </a:r>
            </a:p>
          </p:txBody>
        </p:sp>
        <p:sp>
          <p:nvSpPr>
            <p:cNvPr id="21" name="Rectangle 21"/>
            <p:cNvSpPr/>
            <p:nvPr/>
          </p:nvSpPr>
          <p:spPr>
            <a:xfrm>
              <a:off x="533400" y="4031932"/>
              <a:ext cx="4760595" cy="9525"/>
            </a:xfrm>
            <a:prstGeom prst="rect">
              <a:avLst/>
            </a:prstGeom>
            <a:solidFill>
              <a:srgbClr val="D9DFEA"/>
            </a:solidFill>
            <a:ln>
              <a:noFill/>
            </a:ln>
          </p:spPr>
        </p:sp>
        <p:sp>
          <p:nvSpPr>
            <p:cNvPr id="22" name="TextBox 22"/>
            <p:cNvSpPr txBox="1"/>
            <p:nvPr/>
          </p:nvSpPr>
          <p:spPr>
            <a:xfrm>
              <a:off x="526923" y="4134326"/>
              <a:ext cx="60097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wₘⱼ(l)</a:t>
              </a:r>
            </a:p>
          </p:txBody>
        </p:sp>
        <p:sp>
          <p:nvSpPr>
            <p:cNvPr id="23" name="TextBox 23"/>
            <p:cNvSpPr txBox="1"/>
            <p:nvPr/>
          </p:nvSpPr>
          <p:spPr>
            <a:xfrm>
              <a:off x="1955673" y="4134326"/>
              <a:ext cx="3125978"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第 l−1 层第 m 个神经元到第 l 层第 j 个神经</a:t>
              </a:r>
              <a:br/>
              <a:r>
                <a:rPr lang="zh-CN" sz="1280" dirty="0">
                  <a:solidFill>
                    <a:srgbClr val="1F2937"/>
                  </a:solidFill>
                  <a:latin typeface="+mn-lt"/>
                  <a:ea typeface="+mn-ea"/>
                  <a:cs typeface="+mn-cs"/>
                </a:rPr>
                <a:t>元的连接权</a:t>
              </a:r>
            </a:p>
          </p:txBody>
        </p:sp>
      </p:grpSp>
      <p:grpSp>
        <p:nvGrpSpPr>
          <p:cNvPr id="31" name="c1-callout-2"/>
          <p:cNvGrpSpPr/>
          <p:nvPr/>
        </p:nvGrpSpPr>
        <p:grpSpPr>
          <a:xfrm>
            <a:off x="533400" y="4737735"/>
            <a:ext cx="4760595" cy="702945"/>
            <a:chOff x="533400" y="4737735"/>
            <a:chExt cx="4760595" cy="702945"/>
          </a:xfrm>
        </p:grpSpPr>
        <p:sp>
          <p:nvSpPr>
            <p:cNvPr id="25" name="Rectangle 25"/>
            <p:cNvSpPr/>
            <p:nvPr/>
          </p:nvSpPr>
          <p:spPr>
            <a:xfrm>
              <a:off x="533400" y="4737735"/>
              <a:ext cx="4760595" cy="702945"/>
            </a:xfrm>
            <a:prstGeom prst="roundRect">
              <a:avLst>
                <a:gd name="adj" fmla="val 16260"/>
              </a:avLst>
            </a:prstGeom>
            <a:solidFill>
              <a:srgbClr val="F4F6FB"/>
            </a:solidFill>
            <a:ln>
              <a:noFill/>
            </a:ln>
          </p:spPr>
        </p:sp>
        <p:grpSp>
          <p:nvGrpSpPr>
            <p:cNvPr id="29" name="Group 29"/>
            <p:cNvGrpSpPr/>
            <p:nvPr/>
          </p:nvGrpSpPr>
          <p:grpSpPr>
            <a:xfrm>
              <a:off x="738188" y="4989195"/>
              <a:ext cx="200026" cy="200026"/>
              <a:chOff x="738188" y="4989195"/>
              <a:chExt cx="200026" cy="200026"/>
            </a:xfrm>
          </p:grpSpPr>
          <p:sp>
            <p:nvSpPr>
              <p:cNvPr id="26" name="Freeform 26"/>
              <p:cNvSpPr/>
              <p:nvPr/>
            </p:nvSpPr>
            <p:spPr>
              <a:xfrm>
                <a:off x="738188" y="49891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7" name="Freeform 27"/>
              <p:cNvSpPr/>
              <p:nvPr/>
            </p:nvSpPr>
            <p:spPr>
              <a:xfrm>
                <a:off x="838200" y="50558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8" name="Freeform 28"/>
              <p:cNvSpPr/>
              <p:nvPr/>
            </p:nvSpPr>
            <p:spPr>
              <a:xfrm>
                <a:off x="827088" y="50892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0" name="TextBox 30"/>
            <p:cNvSpPr txBox="1"/>
            <p:nvPr/>
          </p:nvSpPr>
          <p:spPr>
            <a:xfrm>
              <a:off x="1041273" y="4882991"/>
              <a:ext cx="386562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3-4-2 network 的意思是输入 3 个、隐层 4 个、输出</a:t>
              </a:r>
              <a:br/>
              <a:r>
                <a:rPr lang="zh-CN" sz="1280" dirty="0">
                  <a:solidFill>
                    <a:srgbClr val="1F2937"/>
                  </a:solidFill>
                  <a:latin typeface="+mn-lt"/>
                  <a:ea typeface="+mn-ea"/>
                  <a:cs typeface="+mn-cs"/>
                </a:rPr>
                <a:t>2 个，共 3×4 + 4×2 = 20 个权值再加 6 个偏置。</a:t>
              </a:r>
            </a:p>
          </p:txBody>
        </p:sp>
      </p:grpSp>
      <p:grpSp>
        <p:nvGrpSpPr>
          <p:cNvPr id="64" name="c2-graph-1"/>
          <p:cNvGrpSpPr/>
          <p:nvPr/>
        </p:nvGrpSpPr>
        <p:grpSpPr>
          <a:xfrm>
            <a:off x="6035192" y="1793558"/>
            <a:ext cx="5187963" cy="3045618"/>
            <a:chOff x="6035192" y="1793558"/>
            <a:chExt cx="5187963" cy="3045618"/>
          </a:xfrm>
        </p:grpSpPr>
        <p:sp>
          <p:nvSpPr>
            <p:cNvPr id="32" name="Freeform 32"/>
            <p:cNvSpPr/>
            <p:nvPr/>
          </p:nvSpPr>
          <p:spPr>
            <a:xfrm>
              <a:off x="6336982" y="1939290"/>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33" name="Freeform 33"/>
            <p:cNvSpPr/>
            <p:nvPr/>
          </p:nvSpPr>
          <p:spPr>
            <a:xfrm>
              <a:off x="6336030" y="2335530"/>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34" name="Freeform 34"/>
            <p:cNvSpPr/>
            <p:nvPr/>
          </p:nvSpPr>
          <p:spPr>
            <a:xfrm>
              <a:off x="6322695" y="2374582"/>
              <a:ext cx="2188845" cy="1184910"/>
            </a:xfrm>
            <a:custGeom>
              <a:avLst/>
              <a:gdLst/>
              <a:ahLst/>
              <a:cxnLst/>
              <a:rect l="l" t="t" r="r" b="b"/>
              <a:pathLst>
                <a:path w="2188845" h="1184910">
                  <a:moveTo>
                    <a:pt x="0" y="0"/>
                  </a:moveTo>
                  <a:lnTo>
                    <a:pt x="2188845" y="1184910"/>
                  </a:lnTo>
                </a:path>
              </a:pathLst>
            </a:custGeom>
            <a:noFill/>
            <a:ln w="17145">
              <a:solidFill>
                <a:srgbClr val="1F2937"/>
              </a:solidFill>
            </a:ln>
          </p:spPr>
        </p:sp>
        <p:sp>
          <p:nvSpPr>
            <p:cNvPr id="35" name="Freeform 35"/>
            <p:cNvSpPr/>
            <p:nvPr/>
          </p:nvSpPr>
          <p:spPr>
            <a:xfrm>
              <a:off x="6304598" y="2399348"/>
              <a:ext cx="2225040" cy="1986915"/>
            </a:xfrm>
            <a:custGeom>
              <a:avLst/>
              <a:gdLst/>
              <a:ahLst/>
              <a:cxnLst/>
              <a:rect l="l" t="t" r="r" b="b"/>
              <a:pathLst>
                <a:path w="2225040" h="1986915">
                  <a:moveTo>
                    <a:pt x="0" y="0"/>
                  </a:moveTo>
                  <a:lnTo>
                    <a:pt x="2225040" y="1986915"/>
                  </a:lnTo>
                </a:path>
              </a:pathLst>
            </a:custGeom>
            <a:noFill/>
            <a:ln w="17145">
              <a:solidFill>
                <a:srgbClr val="1F2937"/>
              </a:solidFill>
            </a:ln>
          </p:spPr>
        </p:sp>
        <p:sp>
          <p:nvSpPr>
            <p:cNvPr id="36" name="Freeform 36"/>
            <p:cNvSpPr/>
            <p:nvPr/>
          </p:nvSpPr>
          <p:spPr>
            <a:xfrm>
              <a:off x="6323648" y="1978342"/>
              <a:ext cx="2186940" cy="1123950"/>
            </a:xfrm>
            <a:custGeom>
              <a:avLst/>
              <a:gdLst/>
              <a:ahLst/>
              <a:cxnLst/>
              <a:rect l="l" t="t" r="r" b="b"/>
              <a:pathLst>
                <a:path w="2186940" h="1123950">
                  <a:moveTo>
                    <a:pt x="0" y="1123950"/>
                  </a:moveTo>
                  <a:lnTo>
                    <a:pt x="2186940" y="0"/>
                  </a:lnTo>
                </a:path>
              </a:pathLst>
            </a:custGeom>
            <a:noFill/>
            <a:ln w="17145">
              <a:solidFill>
                <a:srgbClr val="1F2937"/>
              </a:solidFill>
            </a:ln>
          </p:spPr>
        </p:sp>
        <p:sp>
          <p:nvSpPr>
            <p:cNvPr id="37" name="Freeform 37"/>
            <p:cNvSpPr/>
            <p:nvPr/>
          </p:nvSpPr>
          <p:spPr>
            <a:xfrm>
              <a:off x="6336982" y="2791778"/>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38" name="Freeform 38"/>
            <p:cNvSpPr/>
            <p:nvPr/>
          </p:nvSpPr>
          <p:spPr>
            <a:xfrm>
              <a:off x="6336030" y="3188018"/>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39" name="Freeform 39"/>
            <p:cNvSpPr/>
            <p:nvPr/>
          </p:nvSpPr>
          <p:spPr>
            <a:xfrm>
              <a:off x="6322695" y="3227070"/>
              <a:ext cx="2188845" cy="1184910"/>
            </a:xfrm>
            <a:custGeom>
              <a:avLst/>
              <a:gdLst/>
              <a:ahLst/>
              <a:cxnLst/>
              <a:rect l="l" t="t" r="r" b="b"/>
              <a:pathLst>
                <a:path w="2188845" h="1184910">
                  <a:moveTo>
                    <a:pt x="0" y="0"/>
                  </a:moveTo>
                  <a:lnTo>
                    <a:pt x="2188845" y="1184910"/>
                  </a:lnTo>
                </a:path>
              </a:pathLst>
            </a:custGeom>
            <a:noFill/>
            <a:ln w="17145">
              <a:solidFill>
                <a:srgbClr val="1F2937"/>
              </a:solidFill>
            </a:ln>
          </p:spPr>
        </p:sp>
        <p:sp>
          <p:nvSpPr>
            <p:cNvPr id="40" name="Freeform 40"/>
            <p:cNvSpPr/>
            <p:nvPr/>
          </p:nvSpPr>
          <p:spPr>
            <a:xfrm>
              <a:off x="6305550" y="2005012"/>
              <a:ext cx="2222182" cy="1924050"/>
            </a:xfrm>
            <a:custGeom>
              <a:avLst/>
              <a:gdLst/>
              <a:ahLst/>
              <a:cxnLst/>
              <a:rect l="l" t="t" r="r" b="b"/>
              <a:pathLst>
                <a:path w="2222182" h="1924050">
                  <a:moveTo>
                    <a:pt x="0" y="1924050"/>
                  </a:moveTo>
                  <a:lnTo>
                    <a:pt x="2222182" y="0"/>
                  </a:lnTo>
                </a:path>
              </a:pathLst>
            </a:custGeom>
            <a:noFill/>
            <a:ln w="17145">
              <a:solidFill>
                <a:srgbClr val="1F2937"/>
              </a:solidFill>
            </a:ln>
          </p:spPr>
        </p:sp>
        <p:sp>
          <p:nvSpPr>
            <p:cNvPr id="41" name="Freeform 41"/>
            <p:cNvSpPr/>
            <p:nvPr/>
          </p:nvSpPr>
          <p:spPr>
            <a:xfrm>
              <a:off x="6323648" y="2830830"/>
              <a:ext cx="2186940" cy="1123950"/>
            </a:xfrm>
            <a:custGeom>
              <a:avLst/>
              <a:gdLst/>
              <a:ahLst/>
              <a:cxnLst/>
              <a:rect l="l" t="t" r="r" b="b"/>
              <a:pathLst>
                <a:path w="2186940" h="1123950">
                  <a:moveTo>
                    <a:pt x="0" y="1123950"/>
                  </a:moveTo>
                  <a:lnTo>
                    <a:pt x="2186940" y="0"/>
                  </a:lnTo>
                </a:path>
              </a:pathLst>
            </a:custGeom>
            <a:noFill/>
            <a:ln w="17145">
              <a:solidFill>
                <a:srgbClr val="1F2937"/>
              </a:solidFill>
            </a:ln>
          </p:spPr>
        </p:sp>
        <p:sp>
          <p:nvSpPr>
            <p:cNvPr id="42" name="Freeform 42"/>
            <p:cNvSpPr/>
            <p:nvPr/>
          </p:nvSpPr>
          <p:spPr>
            <a:xfrm>
              <a:off x="6336982" y="3644265"/>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43" name="Freeform 43"/>
            <p:cNvSpPr/>
            <p:nvPr/>
          </p:nvSpPr>
          <p:spPr>
            <a:xfrm>
              <a:off x="6336030" y="4040505"/>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44" name="Freeform 44"/>
            <p:cNvSpPr/>
            <p:nvPr/>
          </p:nvSpPr>
          <p:spPr>
            <a:xfrm>
              <a:off x="8757285" y="1952625"/>
              <a:ext cx="2166938" cy="585788"/>
            </a:xfrm>
            <a:custGeom>
              <a:avLst/>
              <a:gdLst/>
              <a:ahLst/>
              <a:cxnLst/>
              <a:rect l="l" t="t" r="r" b="b"/>
              <a:pathLst>
                <a:path w="2166938" h="585788">
                  <a:moveTo>
                    <a:pt x="0" y="0"/>
                  </a:moveTo>
                  <a:lnTo>
                    <a:pt x="2166938" y="585788"/>
                  </a:lnTo>
                </a:path>
              </a:pathLst>
            </a:custGeom>
            <a:noFill/>
            <a:ln w="17145">
              <a:solidFill>
                <a:srgbClr val="1F2937"/>
              </a:solidFill>
            </a:ln>
          </p:spPr>
        </p:sp>
        <p:sp>
          <p:nvSpPr>
            <p:cNvPr id="45" name="Freeform 45"/>
            <p:cNvSpPr/>
            <p:nvPr/>
          </p:nvSpPr>
          <p:spPr>
            <a:xfrm>
              <a:off x="8735378" y="1998345"/>
              <a:ext cx="2210752" cy="1674495"/>
            </a:xfrm>
            <a:custGeom>
              <a:avLst/>
              <a:gdLst/>
              <a:ahLst/>
              <a:cxnLst/>
              <a:rect l="l" t="t" r="r" b="b"/>
              <a:pathLst>
                <a:path w="2210752" h="1674495">
                  <a:moveTo>
                    <a:pt x="0" y="0"/>
                  </a:moveTo>
                  <a:lnTo>
                    <a:pt x="2210752" y="1674495"/>
                  </a:lnTo>
                </a:path>
              </a:pathLst>
            </a:custGeom>
            <a:noFill/>
            <a:ln w="17145">
              <a:solidFill>
                <a:srgbClr val="1F2937"/>
              </a:solidFill>
            </a:ln>
          </p:spPr>
        </p:sp>
        <p:sp>
          <p:nvSpPr>
            <p:cNvPr id="46" name="Freeform 46"/>
            <p:cNvSpPr/>
            <p:nvPr/>
          </p:nvSpPr>
          <p:spPr>
            <a:xfrm>
              <a:off x="8762048" y="2584132"/>
              <a:ext cx="2157413" cy="175260"/>
            </a:xfrm>
            <a:custGeom>
              <a:avLst/>
              <a:gdLst/>
              <a:ahLst/>
              <a:cxnLst/>
              <a:rect l="l" t="t" r="r" b="b"/>
              <a:pathLst>
                <a:path w="2157413" h="175260">
                  <a:moveTo>
                    <a:pt x="0" y="175260"/>
                  </a:moveTo>
                  <a:lnTo>
                    <a:pt x="2157413" y="0"/>
                  </a:lnTo>
                </a:path>
              </a:pathLst>
            </a:custGeom>
            <a:noFill/>
            <a:ln w="17145">
              <a:solidFill>
                <a:srgbClr val="1F2937"/>
              </a:solidFill>
            </a:ln>
          </p:spPr>
        </p:sp>
        <p:sp>
          <p:nvSpPr>
            <p:cNvPr id="47" name="Freeform 47"/>
            <p:cNvSpPr/>
            <p:nvPr/>
          </p:nvSpPr>
          <p:spPr>
            <a:xfrm>
              <a:off x="8752522" y="2820352"/>
              <a:ext cx="2176463" cy="882967"/>
            </a:xfrm>
            <a:custGeom>
              <a:avLst/>
              <a:gdLst/>
              <a:ahLst/>
              <a:cxnLst/>
              <a:rect l="l" t="t" r="r" b="b"/>
              <a:pathLst>
                <a:path w="2176463" h="882967">
                  <a:moveTo>
                    <a:pt x="0" y="0"/>
                  </a:moveTo>
                  <a:lnTo>
                    <a:pt x="2176463" y="882967"/>
                  </a:lnTo>
                </a:path>
              </a:pathLst>
            </a:custGeom>
            <a:noFill/>
            <a:ln w="17145">
              <a:solidFill>
                <a:srgbClr val="1F2937"/>
              </a:solidFill>
            </a:ln>
          </p:spPr>
        </p:sp>
        <p:sp>
          <p:nvSpPr>
            <p:cNvPr id="48" name="Freeform 48"/>
            <p:cNvSpPr/>
            <p:nvPr/>
          </p:nvSpPr>
          <p:spPr>
            <a:xfrm>
              <a:off x="8751570" y="2626042"/>
              <a:ext cx="2178368" cy="943928"/>
            </a:xfrm>
            <a:custGeom>
              <a:avLst/>
              <a:gdLst/>
              <a:ahLst/>
              <a:cxnLst/>
              <a:rect l="l" t="t" r="r" b="b"/>
              <a:pathLst>
                <a:path w="2178368" h="943928">
                  <a:moveTo>
                    <a:pt x="0" y="943928"/>
                  </a:moveTo>
                  <a:lnTo>
                    <a:pt x="2178368" y="0"/>
                  </a:lnTo>
                </a:path>
              </a:pathLst>
            </a:custGeom>
            <a:noFill/>
            <a:ln w="17145">
              <a:solidFill>
                <a:srgbClr val="1F2937"/>
              </a:solidFill>
            </a:ln>
          </p:spPr>
        </p:sp>
        <p:sp>
          <p:nvSpPr>
            <p:cNvPr id="49" name="Freeform 49"/>
            <p:cNvSpPr/>
            <p:nvPr/>
          </p:nvSpPr>
          <p:spPr>
            <a:xfrm>
              <a:off x="8762048" y="3629978"/>
              <a:ext cx="2157413" cy="116205"/>
            </a:xfrm>
            <a:custGeom>
              <a:avLst/>
              <a:gdLst/>
              <a:ahLst/>
              <a:cxnLst/>
              <a:rect l="l" t="t" r="r" b="b"/>
              <a:pathLst>
                <a:path w="2157413" h="116205">
                  <a:moveTo>
                    <a:pt x="0" y="0"/>
                  </a:moveTo>
                  <a:lnTo>
                    <a:pt x="2157413" y="116205"/>
                  </a:lnTo>
                </a:path>
              </a:pathLst>
            </a:custGeom>
            <a:noFill/>
            <a:ln w="17145">
              <a:solidFill>
                <a:srgbClr val="1F2937"/>
              </a:solidFill>
            </a:ln>
          </p:spPr>
        </p:sp>
        <p:sp>
          <p:nvSpPr>
            <p:cNvPr id="50" name="Freeform 50"/>
            <p:cNvSpPr/>
            <p:nvPr/>
          </p:nvSpPr>
          <p:spPr>
            <a:xfrm>
              <a:off x="8733472" y="2655570"/>
              <a:ext cx="2214563" cy="1737360"/>
            </a:xfrm>
            <a:custGeom>
              <a:avLst/>
              <a:gdLst/>
              <a:ahLst/>
              <a:cxnLst/>
              <a:rect l="l" t="t" r="r" b="b"/>
              <a:pathLst>
                <a:path w="2214563" h="1737360">
                  <a:moveTo>
                    <a:pt x="0" y="1737360"/>
                  </a:moveTo>
                  <a:lnTo>
                    <a:pt x="2214563" y="0"/>
                  </a:lnTo>
                </a:path>
              </a:pathLst>
            </a:custGeom>
            <a:noFill/>
            <a:ln w="17145">
              <a:solidFill>
                <a:srgbClr val="1F2937"/>
              </a:solidFill>
            </a:ln>
          </p:spPr>
        </p:sp>
        <p:sp>
          <p:nvSpPr>
            <p:cNvPr id="51" name="Freeform 51"/>
            <p:cNvSpPr/>
            <p:nvPr/>
          </p:nvSpPr>
          <p:spPr>
            <a:xfrm>
              <a:off x="8756332" y="3791902"/>
              <a:ext cx="2168843" cy="644842"/>
            </a:xfrm>
            <a:custGeom>
              <a:avLst/>
              <a:gdLst/>
              <a:ahLst/>
              <a:cxnLst/>
              <a:rect l="l" t="t" r="r" b="b"/>
              <a:pathLst>
                <a:path w="2168843" h="644842">
                  <a:moveTo>
                    <a:pt x="0" y="644842"/>
                  </a:moveTo>
                  <a:lnTo>
                    <a:pt x="2168843" y="0"/>
                  </a:lnTo>
                </a:path>
              </a:pathLst>
            </a:custGeom>
            <a:noFill/>
            <a:ln w="17145">
              <a:solidFill>
                <a:srgbClr val="1F2937"/>
              </a:solidFill>
            </a:ln>
          </p:spPr>
        </p:sp>
        <p:sp>
          <p:nvSpPr>
            <p:cNvPr id="52" name="Ellipse 52"/>
            <p:cNvSpPr/>
            <p:nvPr/>
          </p:nvSpPr>
          <p:spPr>
            <a:xfrm>
              <a:off x="6081712" y="2186940"/>
              <a:ext cx="247650" cy="247650"/>
            </a:xfrm>
            <a:prstGeom prst="ellipse">
              <a:avLst/>
            </a:prstGeom>
            <a:solidFill>
              <a:srgbClr val="F4F6FB"/>
            </a:solidFill>
            <a:ln w="17145">
              <a:solidFill>
                <a:srgbClr val="D9DFEA"/>
              </a:solidFill>
            </a:ln>
          </p:spPr>
        </p:sp>
        <p:sp>
          <p:nvSpPr>
            <p:cNvPr id="53" name="Ellipse 53"/>
            <p:cNvSpPr/>
            <p:nvPr/>
          </p:nvSpPr>
          <p:spPr>
            <a:xfrm>
              <a:off x="6081712" y="3039428"/>
              <a:ext cx="247650" cy="247650"/>
            </a:xfrm>
            <a:prstGeom prst="ellipse">
              <a:avLst/>
            </a:prstGeom>
            <a:solidFill>
              <a:srgbClr val="F4F6FB"/>
            </a:solidFill>
            <a:ln w="17145">
              <a:solidFill>
                <a:srgbClr val="D9DFEA"/>
              </a:solidFill>
            </a:ln>
          </p:spPr>
        </p:sp>
        <p:sp>
          <p:nvSpPr>
            <p:cNvPr id="54" name="Ellipse 54"/>
            <p:cNvSpPr/>
            <p:nvPr/>
          </p:nvSpPr>
          <p:spPr>
            <a:xfrm>
              <a:off x="6081712" y="3891915"/>
              <a:ext cx="247650" cy="247650"/>
            </a:xfrm>
            <a:prstGeom prst="ellipse">
              <a:avLst/>
            </a:prstGeom>
            <a:solidFill>
              <a:srgbClr val="F4F6FB"/>
            </a:solidFill>
            <a:ln w="17145">
              <a:solidFill>
                <a:srgbClr val="D9DFEA"/>
              </a:solidFill>
            </a:ln>
          </p:spPr>
        </p:sp>
        <p:sp>
          <p:nvSpPr>
            <p:cNvPr id="55" name="Ellipse 55"/>
            <p:cNvSpPr/>
            <p:nvPr/>
          </p:nvSpPr>
          <p:spPr>
            <a:xfrm>
              <a:off x="8504872" y="1793558"/>
              <a:ext cx="247650" cy="247650"/>
            </a:xfrm>
            <a:prstGeom prst="ellipse">
              <a:avLst/>
            </a:prstGeom>
            <a:solidFill>
              <a:srgbClr val="0E7C86"/>
            </a:solidFill>
            <a:ln w="17145">
              <a:solidFill>
                <a:srgbClr val="0E7C86"/>
              </a:solidFill>
            </a:ln>
          </p:spPr>
        </p:sp>
        <p:sp>
          <p:nvSpPr>
            <p:cNvPr id="56" name="Ellipse 56"/>
            <p:cNvSpPr/>
            <p:nvPr/>
          </p:nvSpPr>
          <p:spPr>
            <a:xfrm>
              <a:off x="8504872" y="2646045"/>
              <a:ext cx="247650" cy="247650"/>
            </a:xfrm>
            <a:prstGeom prst="ellipse">
              <a:avLst/>
            </a:prstGeom>
            <a:solidFill>
              <a:srgbClr val="0E7C86"/>
            </a:solidFill>
            <a:ln w="17145">
              <a:solidFill>
                <a:srgbClr val="0E7C86"/>
              </a:solidFill>
            </a:ln>
          </p:spPr>
        </p:sp>
        <p:sp>
          <p:nvSpPr>
            <p:cNvPr id="57" name="Ellipse 57"/>
            <p:cNvSpPr/>
            <p:nvPr/>
          </p:nvSpPr>
          <p:spPr>
            <a:xfrm>
              <a:off x="8504872" y="3498532"/>
              <a:ext cx="247650" cy="247650"/>
            </a:xfrm>
            <a:prstGeom prst="ellipse">
              <a:avLst/>
            </a:prstGeom>
            <a:solidFill>
              <a:srgbClr val="0E7C86"/>
            </a:solidFill>
            <a:ln w="17145">
              <a:solidFill>
                <a:srgbClr val="0E7C86"/>
              </a:solidFill>
            </a:ln>
          </p:spPr>
        </p:sp>
        <p:sp>
          <p:nvSpPr>
            <p:cNvPr id="58" name="Ellipse 58"/>
            <p:cNvSpPr/>
            <p:nvPr/>
          </p:nvSpPr>
          <p:spPr>
            <a:xfrm>
              <a:off x="8504872" y="4351020"/>
              <a:ext cx="247650" cy="247650"/>
            </a:xfrm>
            <a:prstGeom prst="ellipse">
              <a:avLst/>
            </a:prstGeom>
            <a:solidFill>
              <a:srgbClr val="0E7C86"/>
            </a:solidFill>
            <a:ln w="17145">
              <a:solidFill>
                <a:srgbClr val="0E7C86"/>
              </a:solidFill>
            </a:ln>
          </p:spPr>
        </p:sp>
        <p:sp>
          <p:nvSpPr>
            <p:cNvPr id="59" name="Ellipse 59"/>
            <p:cNvSpPr/>
            <p:nvPr/>
          </p:nvSpPr>
          <p:spPr>
            <a:xfrm>
              <a:off x="10928985" y="2449830"/>
              <a:ext cx="247650" cy="247650"/>
            </a:xfrm>
            <a:prstGeom prst="ellipse">
              <a:avLst/>
            </a:prstGeom>
            <a:solidFill>
              <a:srgbClr val="FFFFFF"/>
            </a:solidFill>
            <a:ln w="17145">
              <a:solidFill>
                <a:srgbClr val="0E7C86"/>
              </a:solidFill>
            </a:ln>
          </p:spPr>
        </p:sp>
        <p:sp>
          <p:nvSpPr>
            <p:cNvPr id="60" name="Ellipse 60"/>
            <p:cNvSpPr/>
            <p:nvPr/>
          </p:nvSpPr>
          <p:spPr>
            <a:xfrm>
              <a:off x="10928985" y="3629978"/>
              <a:ext cx="247650" cy="247650"/>
            </a:xfrm>
            <a:prstGeom prst="ellipse">
              <a:avLst/>
            </a:prstGeom>
            <a:solidFill>
              <a:srgbClr val="FFFFFF"/>
            </a:solidFill>
            <a:ln w="17145">
              <a:solidFill>
                <a:srgbClr val="0E7C86"/>
              </a:solidFill>
            </a:ln>
          </p:spPr>
        </p:sp>
        <p:sp>
          <p:nvSpPr>
            <p:cNvPr id="61" name="TextBox 61"/>
            <p:cNvSpPr txBox="1"/>
            <p:nvPr/>
          </p:nvSpPr>
          <p:spPr>
            <a:xfrm>
              <a:off x="6035192" y="4677251"/>
              <a:ext cx="340690"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输入层</a:t>
              </a:r>
            </a:p>
          </p:txBody>
        </p:sp>
        <p:sp>
          <p:nvSpPr>
            <p:cNvPr id="62" name="TextBox 62"/>
            <p:cNvSpPr txBox="1"/>
            <p:nvPr/>
          </p:nvSpPr>
          <p:spPr>
            <a:xfrm>
              <a:off x="8513547" y="4677251"/>
              <a:ext cx="230302"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隐层</a:t>
              </a:r>
            </a:p>
          </p:txBody>
        </p:sp>
        <p:sp>
          <p:nvSpPr>
            <p:cNvPr id="63" name="TextBox 63"/>
            <p:cNvSpPr txBox="1"/>
            <p:nvPr/>
          </p:nvSpPr>
          <p:spPr>
            <a:xfrm>
              <a:off x="10882465" y="4677251"/>
              <a:ext cx="340690"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输出层</a:t>
              </a:r>
            </a:p>
          </p:txBody>
        </p:sp>
      </p:grpSp>
      <p:grpSp>
        <p:nvGrpSpPr>
          <p:cNvPr id="70" name="takeaway"/>
          <p:cNvGrpSpPr/>
          <p:nvPr/>
        </p:nvGrpSpPr>
        <p:grpSpPr>
          <a:xfrm>
            <a:off x="533400" y="5895022"/>
            <a:ext cx="11125200" cy="467678"/>
            <a:chOff x="533400" y="5895022"/>
            <a:chExt cx="11125200" cy="467678"/>
          </a:xfrm>
        </p:grpSpPr>
        <p:sp>
          <p:nvSpPr>
            <p:cNvPr id="65" name="Rectangle 65"/>
            <p:cNvSpPr/>
            <p:nvPr/>
          </p:nvSpPr>
          <p:spPr>
            <a:xfrm>
              <a:off x="533400" y="5895022"/>
              <a:ext cx="11125200" cy="467678"/>
            </a:xfrm>
            <a:prstGeom prst="roundRect">
              <a:avLst>
                <a:gd name="adj" fmla="val 24440"/>
              </a:avLst>
            </a:prstGeom>
            <a:solidFill>
              <a:srgbClr val="0E7C86"/>
            </a:solidFill>
            <a:ln>
              <a:noFill/>
            </a:ln>
          </p:spPr>
        </p:sp>
        <p:grpSp>
          <p:nvGrpSpPr>
            <p:cNvPr id="68" name="Group 68"/>
            <p:cNvGrpSpPr/>
            <p:nvPr/>
          </p:nvGrpSpPr>
          <p:grpSpPr>
            <a:xfrm>
              <a:off x="738188" y="6028375"/>
              <a:ext cx="200023" cy="200023"/>
              <a:chOff x="738188" y="6028375"/>
              <a:chExt cx="200023" cy="200023"/>
            </a:xfrm>
          </p:grpSpPr>
          <p:sp>
            <p:nvSpPr>
              <p:cNvPr id="66" name="Freeform 6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7" name="Freeform 6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9" name="TextBox 69"/>
            <p:cNvSpPr txBox="1"/>
            <p:nvPr/>
          </p:nvSpPr>
          <p:spPr>
            <a:xfrm>
              <a:off x="1041273" y="6039326"/>
              <a:ext cx="5526989"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前馈的含义：连接只从前一层指向后一层，没有同层连接，也没有回边。</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738153" cy="909257"/>
            <a:chOff x="520446" y="342900"/>
            <a:chExt cx="6738153"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673815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BP 的总体思想：正向算输出，反向分摊误差</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835244" cy="264033"/>
            <a:chOff x="526542" y="1545907"/>
            <a:chExt cx="5835244" cy="264033"/>
          </a:xfrm>
        </p:grpSpPr>
        <p:sp>
          <p:nvSpPr>
            <p:cNvPr id="7" name="TextBox 7"/>
            <p:cNvSpPr txBox="1"/>
            <p:nvPr/>
          </p:nvSpPr>
          <p:spPr>
            <a:xfrm>
              <a:off x="526542" y="1545907"/>
              <a:ext cx="5835244"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Rumelhart 等人 1986 年重新提出，较好地解决了多层网络的学习问题。</a:t>
              </a:r>
            </a:p>
          </p:txBody>
        </p:sp>
      </p:grpSp>
      <p:grpSp>
        <p:nvGrpSpPr>
          <p:cNvPr id="41" name="c1-flow-1"/>
          <p:cNvGrpSpPr/>
          <p:nvPr/>
        </p:nvGrpSpPr>
        <p:grpSpPr>
          <a:xfrm>
            <a:off x="513398" y="1938338"/>
            <a:ext cx="5240655" cy="2034540"/>
            <a:chOff x="513398" y="1938338"/>
            <a:chExt cx="5240655" cy="2034540"/>
          </a:xfrm>
        </p:grpSpPr>
        <p:sp>
          <p:nvSpPr>
            <p:cNvPr id="9" name="Freeform 9"/>
            <p:cNvSpPr/>
            <p:nvPr/>
          </p:nvSpPr>
          <p:spPr>
            <a:xfrm>
              <a:off x="1885950" y="2225040"/>
              <a:ext cx="9525" cy="85725"/>
            </a:xfrm>
            <a:custGeom>
              <a:avLst/>
              <a:gdLst/>
              <a:ahLst/>
              <a:cxnLst/>
              <a:rect l="l" t="t" r="r" b="b"/>
              <a:pathLst>
                <a:path w="9525" h="85725">
                  <a:moveTo>
                    <a:pt x="0" y="85725"/>
                  </a:moveTo>
                  <a:lnTo>
                    <a:pt x="0" y="0"/>
                  </a:lnTo>
                </a:path>
              </a:pathLst>
            </a:custGeom>
            <a:noFill/>
            <a:ln w="15240">
              <a:solidFill>
                <a:srgbClr val="5B6475"/>
              </a:solidFill>
            </a:ln>
          </p:spPr>
        </p:sp>
        <p:sp>
          <p:nvSpPr>
            <p:cNvPr id="10" name="Freeform 10"/>
            <p:cNvSpPr/>
            <p:nvPr/>
          </p:nvSpPr>
          <p:spPr>
            <a:xfrm>
              <a:off x="1833562" y="22250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1885950" y="2616518"/>
              <a:ext cx="9525" cy="85725"/>
            </a:xfrm>
            <a:custGeom>
              <a:avLst/>
              <a:gdLst/>
              <a:ahLst/>
              <a:cxnLst/>
              <a:rect l="l" t="t" r="r" b="b"/>
              <a:pathLst>
                <a:path w="9525" h="85725">
                  <a:moveTo>
                    <a:pt x="0" y="85725"/>
                  </a:moveTo>
                  <a:lnTo>
                    <a:pt x="0" y="0"/>
                  </a:lnTo>
                </a:path>
              </a:pathLst>
            </a:custGeom>
            <a:noFill/>
            <a:ln w="15240">
              <a:solidFill>
                <a:srgbClr val="5B6475"/>
              </a:solidFill>
            </a:ln>
          </p:spPr>
        </p:sp>
        <p:sp>
          <p:nvSpPr>
            <p:cNvPr id="12" name="Freeform 12"/>
            <p:cNvSpPr/>
            <p:nvPr/>
          </p:nvSpPr>
          <p:spPr>
            <a:xfrm>
              <a:off x="1833562" y="261651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1885950" y="3008948"/>
              <a:ext cx="9525" cy="84773"/>
            </a:xfrm>
            <a:custGeom>
              <a:avLst/>
              <a:gdLst/>
              <a:ahLst/>
              <a:cxnLst/>
              <a:rect l="l" t="t" r="r" b="b"/>
              <a:pathLst>
                <a:path w="9525" h="84773">
                  <a:moveTo>
                    <a:pt x="0" y="84773"/>
                  </a:moveTo>
                  <a:lnTo>
                    <a:pt x="0" y="0"/>
                  </a:lnTo>
                </a:path>
              </a:pathLst>
            </a:custGeom>
            <a:noFill/>
            <a:ln w="15240">
              <a:solidFill>
                <a:srgbClr val="5B6475"/>
              </a:solidFill>
            </a:ln>
          </p:spPr>
        </p:sp>
        <p:sp>
          <p:nvSpPr>
            <p:cNvPr id="14" name="Freeform 14"/>
            <p:cNvSpPr/>
            <p:nvPr/>
          </p:nvSpPr>
          <p:spPr>
            <a:xfrm>
              <a:off x="1833562" y="30089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722948" y="3299460"/>
              <a:ext cx="2221230" cy="391478"/>
            </a:xfrm>
            <a:custGeom>
              <a:avLst/>
              <a:gdLst/>
              <a:ahLst/>
              <a:cxnLst/>
              <a:rect l="l" t="t" r="r" b="b"/>
              <a:pathLst>
                <a:path w="2221230" h="391478">
                  <a:moveTo>
                    <a:pt x="0" y="0"/>
                  </a:moveTo>
                  <a:lnTo>
                    <a:pt x="1163002" y="0"/>
                  </a:lnTo>
                  <a:lnTo>
                    <a:pt x="1163002" y="391478"/>
                  </a:lnTo>
                  <a:lnTo>
                    <a:pt x="2221230" y="391478"/>
                  </a:lnTo>
                </a:path>
              </a:pathLst>
            </a:custGeom>
            <a:noFill/>
            <a:ln w="15240">
              <a:solidFill>
                <a:srgbClr val="5B6475"/>
              </a:solidFill>
            </a:ln>
          </p:spPr>
        </p:sp>
        <p:sp>
          <p:nvSpPr>
            <p:cNvPr id="16" name="Freeform 16"/>
            <p:cNvSpPr/>
            <p:nvPr/>
          </p:nvSpPr>
          <p:spPr>
            <a:xfrm>
              <a:off x="2944178" y="363855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3048952" y="3690938"/>
              <a:ext cx="274320" cy="9525"/>
            </a:xfrm>
            <a:custGeom>
              <a:avLst/>
              <a:gdLst/>
              <a:ahLst/>
              <a:cxnLst/>
              <a:rect l="l" t="t" r="r" b="b"/>
              <a:pathLst>
                <a:path w="274320" h="9525">
                  <a:moveTo>
                    <a:pt x="0" y="0"/>
                  </a:moveTo>
                  <a:lnTo>
                    <a:pt x="274320" y="0"/>
                  </a:lnTo>
                </a:path>
              </a:pathLst>
            </a:custGeom>
            <a:noFill/>
            <a:ln w="15240">
              <a:solidFill>
                <a:srgbClr val="5B6475"/>
              </a:solidFill>
            </a:ln>
          </p:spPr>
        </p:sp>
        <p:sp>
          <p:nvSpPr>
            <p:cNvPr id="18" name="Freeform 18"/>
            <p:cNvSpPr/>
            <p:nvPr/>
          </p:nvSpPr>
          <p:spPr>
            <a:xfrm>
              <a:off x="3323272" y="363855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513398" y="2124075"/>
              <a:ext cx="236220" cy="1566862"/>
            </a:xfrm>
            <a:custGeom>
              <a:avLst/>
              <a:gdLst/>
              <a:ahLst/>
              <a:cxnLst/>
              <a:rect l="l" t="t" r="r" b="b"/>
              <a:pathLst>
                <a:path w="236220" h="1566862">
                  <a:moveTo>
                    <a:pt x="209550" y="1566862"/>
                  </a:moveTo>
                  <a:lnTo>
                    <a:pt x="0" y="1566862"/>
                  </a:lnTo>
                  <a:lnTo>
                    <a:pt x="236220" y="1566862"/>
                  </a:lnTo>
                  <a:lnTo>
                    <a:pt x="236220" y="783908"/>
                  </a:lnTo>
                  <a:lnTo>
                    <a:pt x="236220" y="0"/>
                  </a:lnTo>
                  <a:lnTo>
                    <a:pt x="0" y="0"/>
                  </a:lnTo>
                  <a:lnTo>
                    <a:pt x="104775" y="0"/>
                  </a:lnTo>
                </a:path>
              </a:pathLst>
            </a:custGeom>
            <a:noFill/>
            <a:ln w="15240">
              <a:solidFill>
                <a:srgbClr val="5B6475"/>
              </a:solidFill>
            </a:ln>
          </p:spPr>
        </p:sp>
        <p:sp>
          <p:nvSpPr>
            <p:cNvPr id="20" name="Freeform 20"/>
            <p:cNvSpPr/>
            <p:nvPr/>
          </p:nvSpPr>
          <p:spPr>
            <a:xfrm>
              <a:off x="618172" y="20716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Rectangle 21"/>
            <p:cNvSpPr/>
            <p:nvPr/>
          </p:nvSpPr>
          <p:spPr>
            <a:xfrm>
              <a:off x="722948" y="1938338"/>
              <a:ext cx="2326005" cy="372428"/>
            </a:xfrm>
            <a:prstGeom prst="roundRect">
              <a:avLst>
                <a:gd name="adj" fmla="val 50000"/>
              </a:avLst>
            </a:prstGeom>
            <a:solidFill>
              <a:srgbClr val="0E7C86"/>
            </a:solidFill>
            <a:ln>
              <a:noFill/>
            </a:ln>
          </p:spPr>
        </p:sp>
        <p:sp>
          <p:nvSpPr>
            <p:cNvPr id="22" name="Rectangle 22"/>
            <p:cNvSpPr/>
            <p:nvPr/>
          </p:nvSpPr>
          <p:spPr>
            <a:xfrm>
              <a:off x="722948" y="2329815"/>
              <a:ext cx="2326005" cy="372428"/>
            </a:xfrm>
            <a:prstGeom prst="roundRect">
              <a:avLst>
                <a:gd name="adj" fmla="val 25575"/>
              </a:avLst>
            </a:prstGeom>
            <a:solidFill>
              <a:srgbClr val="FFFFFF"/>
            </a:solidFill>
            <a:ln w="15240">
              <a:solidFill>
                <a:srgbClr val="0E7C86"/>
              </a:solidFill>
            </a:ln>
          </p:spPr>
        </p:sp>
        <p:sp>
          <p:nvSpPr>
            <p:cNvPr id="23" name="Rectangle 23"/>
            <p:cNvSpPr/>
            <p:nvPr/>
          </p:nvSpPr>
          <p:spPr>
            <a:xfrm>
              <a:off x="722948" y="2721292"/>
              <a:ext cx="2326005" cy="372428"/>
            </a:xfrm>
            <a:prstGeom prst="roundRect">
              <a:avLst>
                <a:gd name="adj" fmla="val 25575"/>
              </a:avLst>
            </a:prstGeom>
            <a:solidFill>
              <a:srgbClr val="E2F3F4"/>
            </a:solidFill>
            <a:ln w="19050">
              <a:solidFill>
                <a:srgbClr val="0E7C86"/>
              </a:solidFill>
            </a:ln>
          </p:spPr>
        </p:sp>
        <p:sp>
          <p:nvSpPr>
            <p:cNvPr id="24" name="Rectangle 24"/>
            <p:cNvSpPr/>
            <p:nvPr/>
          </p:nvSpPr>
          <p:spPr>
            <a:xfrm>
              <a:off x="722948" y="3113722"/>
              <a:ext cx="2326005" cy="372428"/>
            </a:xfrm>
            <a:prstGeom prst="roundRect">
              <a:avLst>
                <a:gd name="adj" fmla="val 25575"/>
              </a:avLst>
            </a:prstGeom>
            <a:solidFill>
              <a:srgbClr val="FFFFFF"/>
            </a:solidFill>
            <a:ln w="15240">
              <a:solidFill>
                <a:srgbClr val="0E7C86"/>
              </a:solidFill>
            </a:ln>
          </p:spPr>
        </p:sp>
        <p:sp>
          <p:nvSpPr>
            <p:cNvPr id="25" name="Freeform 25"/>
            <p:cNvSpPr/>
            <p:nvPr/>
          </p:nvSpPr>
          <p:spPr>
            <a:xfrm>
              <a:off x="722948" y="3409950"/>
              <a:ext cx="2326005" cy="562928"/>
            </a:xfrm>
            <a:custGeom>
              <a:avLst/>
              <a:gdLst/>
              <a:ahLst/>
              <a:cxnLst/>
              <a:rect l="l" t="t" r="r" b="b"/>
              <a:pathLst>
                <a:path w="2326005" h="562928">
                  <a:moveTo>
                    <a:pt x="1163002" y="0"/>
                  </a:moveTo>
                  <a:lnTo>
                    <a:pt x="2326005" y="280988"/>
                  </a:lnTo>
                  <a:lnTo>
                    <a:pt x="1163002" y="562928"/>
                  </a:lnTo>
                  <a:lnTo>
                    <a:pt x="0" y="280988"/>
                  </a:lnTo>
                  <a:close/>
                </a:path>
              </a:pathLst>
            </a:custGeom>
            <a:solidFill>
              <a:srgbClr val="FDEEE7"/>
            </a:solidFill>
            <a:ln w="15240">
              <a:solidFill>
                <a:srgbClr val="F26B3A"/>
              </a:solidFill>
            </a:ln>
          </p:spPr>
        </p:sp>
        <p:sp>
          <p:nvSpPr>
            <p:cNvPr id="26" name="Rectangle 26"/>
            <p:cNvSpPr/>
            <p:nvPr/>
          </p:nvSpPr>
          <p:spPr>
            <a:xfrm>
              <a:off x="3428048" y="3505200"/>
              <a:ext cx="2326005" cy="372428"/>
            </a:xfrm>
            <a:prstGeom prst="roundRect">
              <a:avLst>
                <a:gd name="adj" fmla="val 50000"/>
              </a:avLst>
            </a:prstGeom>
            <a:solidFill>
              <a:srgbClr val="0E7C86"/>
            </a:solidFill>
            <a:ln>
              <a:noFill/>
            </a:ln>
          </p:spPr>
        </p:sp>
        <p:sp>
          <p:nvSpPr>
            <p:cNvPr id="27" name="TextBox 27"/>
            <p:cNvSpPr txBox="1"/>
            <p:nvPr/>
          </p:nvSpPr>
          <p:spPr>
            <a:xfrm>
              <a:off x="1244536" y="2050732"/>
              <a:ext cx="128282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输入信息送入输入层</a:t>
              </a:r>
            </a:p>
          </p:txBody>
        </p:sp>
        <p:sp>
          <p:nvSpPr>
            <p:cNvPr id="28" name="TextBox 28"/>
            <p:cNvSpPr txBox="1"/>
            <p:nvPr/>
          </p:nvSpPr>
          <p:spPr>
            <a:xfrm>
              <a:off x="1173861" y="2443162"/>
              <a:ext cx="1424178"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逐层计算各神经元输出</a:t>
              </a:r>
            </a:p>
          </p:txBody>
        </p:sp>
        <p:sp>
          <p:nvSpPr>
            <p:cNvPr id="29" name="TextBox 29"/>
            <p:cNvSpPr txBox="1"/>
            <p:nvPr/>
          </p:nvSpPr>
          <p:spPr>
            <a:xfrm>
              <a:off x="961834" y="2834640"/>
              <a:ext cx="1848231"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与所需输出比较得到误差矢量</a:t>
              </a:r>
            </a:p>
          </p:txBody>
        </p:sp>
        <p:sp>
          <p:nvSpPr>
            <p:cNvPr id="30" name="TextBox 30"/>
            <p:cNvSpPr txBox="1"/>
            <p:nvPr/>
          </p:nvSpPr>
          <p:spPr>
            <a:xfrm>
              <a:off x="891159" y="3226118"/>
              <a:ext cx="198958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从输出层到输入层逐层修正权值</a:t>
              </a:r>
            </a:p>
          </p:txBody>
        </p:sp>
        <p:sp>
          <p:nvSpPr>
            <p:cNvPr id="31" name="TextBox 31"/>
            <p:cNvSpPr txBox="1"/>
            <p:nvPr/>
          </p:nvSpPr>
          <p:spPr>
            <a:xfrm>
              <a:off x="1527238" y="3617595"/>
              <a:ext cx="717423"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误差够小？</a:t>
              </a:r>
            </a:p>
          </p:txBody>
        </p:sp>
        <p:sp>
          <p:nvSpPr>
            <p:cNvPr id="32" name="TextBox 32"/>
            <p:cNvSpPr txBox="1"/>
            <p:nvPr/>
          </p:nvSpPr>
          <p:spPr>
            <a:xfrm>
              <a:off x="4444365" y="3617595"/>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停止</a:t>
              </a:r>
            </a:p>
          </p:txBody>
        </p:sp>
        <p:sp>
          <p:nvSpPr>
            <p:cNvPr id="33" name="Rectangle 33"/>
            <p:cNvSpPr/>
            <p:nvPr/>
          </p:nvSpPr>
          <p:spPr>
            <a:xfrm>
              <a:off x="3106102" y="2241232"/>
              <a:ext cx="323850" cy="165735"/>
            </a:xfrm>
            <a:prstGeom prst="roundRect">
              <a:avLst>
                <a:gd name="adj" fmla="val 22989"/>
              </a:avLst>
            </a:prstGeom>
            <a:solidFill>
              <a:srgbClr val="FFFFFF"/>
            </a:solidFill>
            <a:ln>
              <a:noFill/>
            </a:ln>
          </p:spPr>
        </p:sp>
        <p:sp>
          <p:nvSpPr>
            <p:cNvPr id="34" name="TextBox 34"/>
            <p:cNvSpPr txBox="1"/>
            <p:nvPr/>
          </p:nvSpPr>
          <p:spPr>
            <a:xfrm>
              <a:off x="3148965" y="2264092"/>
              <a:ext cx="25184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正向</a:t>
              </a:r>
            </a:p>
          </p:txBody>
        </p:sp>
        <p:sp>
          <p:nvSpPr>
            <p:cNvPr id="35" name="Rectangle 35"/>
            <p:cNvSpPr/>
            <p:nvPr/>
          </p:nvSpPr>
          <p:spPr>
            <a:xfrm>
              <a:off x="3106102" y="3025140"/>
              <a:ext cx="323850" cy="165735"/>
            </a:xfrm>
            <a:prstGeom prst="roundRect">
              <a:avLst>
                <a:gd name="adj" fmla="val 22989"/>
              </a:avLst>
            </a:prstGeom>
            <a:solidFill>
              <a:srgbClr val="FFFFFF"/>
            </a:solidFill>
            <a:ln>
              <a:noFill/>
            </a:ln>
          </p:spPr>
        </p:sp>
        <p:sp>
          <p:nvSpPr>
            <p:cNvPr id="36" name="TextBox 36"/>
            <p:cNvSpPr txBox="1"/>
            <p:nvPr/>
          </p:nvSpPr>
          <p:spPr>
            <a:xfrm>
              <a:off x="3148965" y="3048000"/>
              <a:ext cx="25184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反向</a:t>
              </a:r>
            </a:p>
          </p:txBody>
        </p:sp>
        <p:sp>
          <p:nvSpPr>
            <p:cNvPr id="37" name="Rectangle 37"/>
            <p:cNvSpPr/>
            <p:nvPr/>
          </p:nvSpPr>
          <p:spPr>
            <a:xfrm>
              <a:off x="3133725" y="3494722"/>
              <a:ext cx="209550" cy="165735"/>
            </a:xfrm>
            <a:prstGeom prst="roundRect">
              <a:avLst>
                <a:gd name="adj" fmla="val 22989"/>
              </a:avLst>
            </a:prstGeom>
            <a:solidFill>
              <a:srgbClr val="FFFFFF"/>
            </a:solidFill>
            <a:ln>
              <a:noFill/>
            </a:ln>
          </p:spPr>
        </p:sp>
        <p:sp>
          <p:nvSpPr>
            <p:cNvPr id="38" name="TextBox 38"/>
            <p:cNvSpPr txBox="1"/>
            <p:nvPr/>
          </p:nvSpPr>
          <p:spPr>
            <a:xfrm>
              <a:off x="3173158" y="3517582"/>
              <a:ext cx="130683"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是</a:t>
              </a:r>
            </a:p>
          </p:txBody>
        </p:sp>
        <p:sp>
          <p:nvSpPr>
            <p:cNvPr id="39" name="Rectangle 39"/>
            <p:cNvSpPr/>
            <p:nvPr/>
          </p:nvSpPr>
          <p:spPr>
            <a:xfrm>
              <a:off x="3106102" y="2437448"/>
              <a:ext cx="209550" cy="165735"/>
            </a:xfrm>
            <a:prstGeom prst="roundRect">
              <a:avLst>
                <a:gd name="adj" fmla="val 22989"/>
              </a:avLst>
            </a:prstGeom>
            <a:solidFill>
              <a:srgbClr val="FFFFFF"/>
            </a:solidFill>
            <a:ln>
              <a:noFill/>
            </a:ln>
          </p:spPr>
        </p:sp>
        <p:sp>
          <p:nvSpPr>
            <p:cNvPr id="40" name="TextBox 40"/>
            <p:cNvSpPr txBox="1"/>
            <p:nvPr/>
          </p:nvSpPr>
          <p:spPr>
            <a:xfrm>
              <a:off x="3148965" y="2460308"/>
              <a:ext cx="130683"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否</a:t>
              </a:r>
            </a:p>
          </p:txBody>
        </p:sp>
      </p:grpSp>
      <p:grpSp>
        <p:nvGrpSpPr>
          <p:cNvPr id="44" name="c1-image-2"/>
          <p:cNvGrpSpPr/>
          <p:nvPr/>
        </p:nvGrpSpPr>
        <p:grpSpPr>
          <a:xfrm>
            <a:off x="2244090" y="4051935"/>
            <a:ext cx="1988820" cy="1335119"/>
            <a:chOff x="2244090" y="4051935"/>
            <a:chExt cx="1988820" cy="1335119"/>
          </a:xfrm>
        </p:grpSpPr>
        <p:pic>
          <p:nvPicPr>
            <p:cNvPr id="42" name="Image 42"/>
            <p:cNvPicPr>
              <a:picLocks noChangeAspect="1"/>
            </p:cNvPicPr>
            <p:nvPr/>
          </p:nvPicPr>
          <p:blipFill>
            <a:blip r:embed="rId2"/>
            <a:srcRect l="12" t="0" r="11" b="0"/>
            <a:stretch>
              <a:fillRect/>
            </a:stretch>
          </p:blipFill>
          <p:spPr>
            <a:xfrm>
              <a:off x="2536508" y="4051935"/>
              <a:ext cx="1403032" cy="1052512"/>
            </a:xfrm>
            <a:prstGeom prst="roundRect">
              <a:avLst>
                <a:gd name="adj" fmla="val 12669"/>
              </a:avLst>
            </a:prstGeom>
          </p:spPr>
        </p:pic>
        <p:sp>
          <p:nvSpPr>
            <p:cNvPr id="43" name="TextBox 43"/>
            <p:cNvSpPr txBox="1"/>
            <p:nvPr/>
          </p:nvSpPr>
          <p:spPr>
            <a:xfrm>
              <a:off x="2244090" y="5196364"/>
              <a:ext cx="1988820"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货物正向传下去，责任反向追回来</a:t>
              </a:r>
            </a:p>
          </p:txBody>
        </p:sp>
      </p:grpSp>
      <p:grpSp>
        <p:nvGrpSpPr>
          <p:cNvPr id="52" name="c2-card-1"/>
          <p:cNvGrpSpPr/>
          <p:nvPr/>
        </p:nvGrpSpPr>
        <p:grpSpPr>
          <a:xfrm>
            <a:off x="6248400" y="1928812"/>
            <a:ext cx="5410200" cy="2127885"/>
            <a:chOff x="6248400" y="1928812"/>
            <a:chExt cx="5410200" cy="2127885"/>
          </a:xfrm>
        </p:grpSpPr>
        <p:sp>
          <p:nvSpPr>
            <p:cNvPr id="45" name="Rectangle 45"/>
            <p:cNvSpPr/>
            <p:nvPr/>
          </p:nvSpPr>
          <p:spPr>
            <a:xfrm>
              <a:off x="6248400" y="1928812"/>
              <a:ext cx="5410200" cy="2127885"/>
            </a:xfrm>
            <a:prstGeom prst="roundRect">
              <a:avLst>
                <a:gd name="adj" fmla="val 6267"/>
              </a:avLst>
            </a:prstGeom>
            <a:solidFill>
              <a:srgbClr val="0E7C86"/>
            </a:solidFill>
            <a:ln>
              <a:noFill/>
            </a:ln>
          </p:spPr>
        </p:sp>
        <p:sp>
          <p:nvSpPr>
            <p:cNvPr id="46" name="Rectangle 46"/>
            <p:cNvSpPr/>
            <p:nvPr/>
          </p:nvSpPr>
          <p:spPr>
            <a:xfrm>
              <a:off x="6429375" y="2109788"/>
              <a:ext cx="707708" cy="238125"/>
            </a:xfrm>
            <a:prstGeom prst="roundRect">
              <a:avLst>
                <a:gd name="adj" fmla="val 50000"/>
              </a:avLst>
            </a:prstGeom>
            <a:solidFill>
              <a:srgbClr val="0B5F67"/>
            </a:solidFill>
            <a:ln>
              <a:noFill/>
            </a:ln>
          </p:spPr>
        </p:sp>
        <p:sp>
          <p:nvSpPr>
            <p:cNvPr id="47" name="TextBox 47"/>
            <p:cNvSpPr txBox="1"/>
            <p:nvPr/>
          </p:nvSpPr>
          <p:spPr>
            <a:xfrm>
              <a:off x="6513944" y="2142649"/>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两个方向</a:t>
              </a:r>
            </a:p>
          </p:txBody>
        </p:sp>
        <p:sp>
          <p:nvSpPr>
            <p:cNvPr id="48" name="TextBox 48"/>
            <p:cNvSpPr txBox="1"/>
            <p:nvPr/>
          </p:nvSpPr>
          <p:spPr>
            <a:xfrm>
              <a:off x="7244906" y="2149316"/>
              <a:ext cx="156377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一次迭代里发生的事</a:t>
              </a:r>
            </a:p>
          </p:txBody>
        </p:sp>
        <p:sp>
          <p:nvSpPr>
            <p:cNvPr id="49" name="TextBox 49"/>
            <p:cNvSpPr txBox="1"/>
            <p:nvPr/>
          </p:nvSpPr>
          <p:spPr>
            <a:xfrm>
              <a:off x="6422898" y="2465546"/>
              <a:ext cx="472719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FFFF"/>
                  </a:solidFill>
                  <a:latin typeface="+mn-lt"/>
                  <a:ea typeface="+mn-ea"/>
                  <a:cs typeface="+mn-cs"/>
                </a:rPr>
                <a:t>正向传播</a:t>
              </a:r>
              <a:r>
                <a:rPr lang="zh-CN" sz="1280" dirty="0">
                  <a:solidFill>
                    <a:srgbClr val="FFFFFF"/>
                  </a:solidFill>
                  <a:latin typeface="+mn-lt"/>
                  <a:ea typeface="+mn-ea"/>
                  <a:cs typeface="+mn-cs"/>
                </a:rPr>
                <a:t>：输入信息从输入层开始，经过各层神经元的处理后产生</a:t>
              </a:r>
              <a:br/>
              <a:r>
                <a:rPr lang="zh-CN" sz="1280" dirty="0">
                  <a:solidFill>
                    <a:srgbClr val="FFFFFF"/>
                  </a:solidFill>
                  <a:latin typeface="+mn-lt"/>
                  <a:ea typeface="+mn-ea"/>
                  <a:cs typeface="+mn-cs"/>
                </a:rPr>
                <a:t>一个输出；将实际输出和所需输出比较，得到一个误差矢量。</a:t>
              </a:r>
            </a:p>
          </p:txBody>
        </p:sp>
        <p:sp>
          <p:nvSpPr>
            <p:cNvPr id="50" name="TextBox 50"/>
            <p:cNvSpPr txBox="1"/>
            <p:nvPr/>
          </p:nvSpPr>
          <p:spPr>
            <a:xfrm>
              <a:off x="6422898" y="2994184"/>
              <a:ext cx="472719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FFFF"/>
                  </a:solidFill>
                  <a:latin typeface="+mn-lt"/>
                  <a:ea typeface="+mn-ea"/>
                  <a:cs typeface="+mn-cs"/>
                </a:rPr>
                <a:t>反向传播</a:t>
              </a:r>
              <a:r>
                <a:rPr lang="zh-CN" sz="1280" dirty="0">
                  <a:solidFill>
                    <a:srgbClr val="FFFFFF"/>
                  </a:solidFill>
                  <a:latin typeface="+mn-lt"/>
                  <a:ea typeface="+mn-ea"/>
                  <a:cs typeface="+mn-cs"/>
                </a:rPr>
                <a:t>：从输出层至输入层，利用这个误差矢量对权值进行逐层</a:t>
              </a:r>
              <a:br/>
              <a:r>
                <a:rPr lang="zh-CN" sz="1280" dirty="0">
                  <a:solidFill>
                    <a:srgbClr val="FFFFFF"/>
                  </a:solidFill>
                  <a:latin typeface="+mn-lt"/>
                  <a:ea typeface="+mn-ea"/>
                  <a:cs typeface="+mn-cs"/>
                </a:rPr>
                <a:t>修正。</a:t>
              </a:r>
            </a:p>
          </p:txBody>
        </p:sp>
        <p:sp>
          <p:nvSpPr>
            <p:cNvPr id="51" name="TextBox 51"/>
            <p:cNvSpPr txBox="1"/>
            <p:nvPr/>
          </p:nvSpPr>
          <p:spPr>
            <a:xfrm>
              <a:off x="6424041" y="3517582"/>
              <a:ext cx="4811268"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FFFFFF"/>
                  </a:solidFill>
                  <a:latin typeface="+mn-lt"/>
                  <a:ea typeface="+mn-ea"/>
                  <a:cs typeface="+mn-cs"/>
                </a:rPr>
                <a:t>正向传播和反向传播交替迭代进行，通过不断迭代优化，使网络的输出逐渐接近目</a:t>
              </a:r>
              <a:br/>
              <a:r>
                <a:rPr lang="zh-CN" sz="1050" dirty="0">
                  <a:solidFill>
                    <a:srgbClr val="FFFFFF"/>
                  </a:solidFill>
                  <a:latin typeface="+mn-lt"/>
                  <a:ea typeface="+mn-ea"/>
                  <a:cs typeface="+mn-cs"/>
                </a:rPr>
                <a:t>标值。</a:t>
              </a:r>
            </a:p>
          </p:txBody>
        </p:sp>
      </p:grpSp>
      <p:grpSp>
        <p:nvGrpSpPr>
          <p:cNvPr id="59" name="c2-card-2"/>
          <p:cNvGrpSpPr/>
          <p:nvPr/>
        </p:nvGrpSpPr>
        <p:grpSpPr>
          <a:xfrm>
            <a:off x="6248400" y="4221480"/>
            <a:ext cx="5410200" cy="1403032"/>
            <a:chOff x="6248400" y="4221480"/>
            <a:chExt cx="5410200" cy="1403032"/>
          </a:xfrm>
        </p:grpSpPr>
        <p:sp>
          <p:nvSpPr>
            <p:cNvPr id="53" name="Rectangle 53"/>
            <p:cNvSpPr/>
            <p:nvPr/>
          </p:nvSpPr>
          <p:spPr>
            <a:xfrm>
              <a:off x="6248400" y="4221480"/>
              <a:ext cx="5410200" cy="1403032"/>
            </a:xfrm>
            <a:prstGeom prst="roundRect">
              <a:avLst>
                <a:gd name="adj" fmla="val 9504"/>
              </a:avLst>
            </a:prstGeom>
            <a:solidFill>
              <a:srgbClr val="FFFFFF"/>
            </a:solidFill>
            <a:ln w="14288">
              <a:solidFill>
                <a:srgbClr val="D9DFEA"/>
              </a:solidFill>
            </a:ln>
          </p:spPr>
        </p:sp>
        <p:sp>
          <p:nvSpPr>
            <p:cNvPr id="54" name="Rectangle 54"/>
            <p:cNvSpPr/>
            <p:nvPr/>
          </p:nvSpPr>
          <p:spPr>
            <a:xfrm>
              <a:off x="6257925" y="4354830"/>
              <a:ext cx="47625" cy="1136332"/>
            </a:xfrm>
            <a:prstGeom prst="roundRect">
              <a:avLst>
                <a:gd name="adj" fmla="val 50000"/>
              </a:avLst>
            </a:prstGeom>
            <a:solidFill>
              <a:srgbClr val="B42318"/>
            </a:solidFill>
            <a:ln>
              <a:noFill/>
            </a:ln>
          </p:spPr>
        </p:sp>
        <p:sp>
          <p:nvSpPr>
            <p:cNvPr id="55" name="Rectangle 55"/>
            <p:cNvSpPr/>
            <p:nvPr/>
          </p:nvSpPr>
          <p:spPr>
            <a:xfrm>
              <a:off x="6467475" y="4402455"/>
              <a:ext cx="707708" cy="238125"/>
            </a:xfrm>
            <a:prstGeom prst="roundRect">
              <a:avLst>
                <a:gd name="adj" fmla="val 50000"/>
              </a:avLst>
            </a:prstGeom>
            <a:solidFill>
              <a:srgbClr val="FDECEA"/>
            </a:solidFill>
            <a:ln>
              <a:noFill/>
            </a:ln>
          </p:spPr>
        </p:sp>
        <p:sp>
          <p:nvSpPr>
            <p:cNvPr id="56" name="TextBox 56"/>
            <p:cNvSpPr txBox="1"/>
            <p:nvPr/>
          </p:nvSpPr>
          <p:spPr>
            <a:xfrm>
              <a:off x="6552044" y="4435316"/>
              <a:ext cx="537616"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难点在哪</a:t>
              </a:r>
            </a:p>
          </p:txBody>
        </p:sp>
        <p:sp>
          <p:nvSpPr>
            <p:cNvPr id="57" name="TextBox 57"/>
            <p:cNvSpPr txBox="1"/>
            <p:nvPr/>
          </p:nvSpPr>
          <p:spPr>
            <a:xfrm>
              <a:off x="7283006" y="4441984"/>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隐层没有自己的目标值</a:t>
              </a:r>
            </a:p>
          </p:txBody>
        </p:sp>
        <p:sp>
          <p:nvSpPr>
            <p:cNvPr id="58" name="TextBox 58"/>
            <p:cNvSpPr txBox="1"/>
            <p:nvPr/>
          </p:nvSpPr>
          <p:spPr>
            <a:xfrm>
              <a:off x="6460998" y="4758214"/>
              <a:ext cx="477596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输出层能直接算出 T − O，隐层不行：没人告诉隐层神经元“你本该</a:t>
              </a:r>
              <a:br/>
              <a:r>
                <a:rPr lang="zh-CN" sz="1280" dirty="0">
                  <a:solidFill>
                    <a:srgbClr val="1F2937"/>
                  </a:solidFill>
                  <a:latin typeface="+mn-lt"/>
                  <a:ea typeface="+mn-ea"/>
                  <a:cs typeface="+mn-cs"/>
                </a:rPr>
                <a:t>输出多少”。BP 的全部技巧就是用链式法则，把输出层的误差按连</a:t>
              </a:r>
              <a:br/>
              <a:r>
                <a:rPr lang="zh-CN" sz="1280" dirty="0">
                  <a:solidFill>
                    <a:srgbClr val="1F2937"/>
                  </a:solidFill>
                  <a:latin typeface="+mn-lt"/>
                  <a:ea typeface="+mn-ea"/>
                  <a:cs typeface="+mn-cs"/>
                </a:rPr>
                <a:t xml:space="preserve">接权的大小 </a:t>
              </a:r>
              <a:r>
                <a:rPr lang="zh-CN" sz="1280" b="1" dirty="0">
                  <a:solidFill>
                    <a:srgbClr val="C2410C"/>
                  </a:solidFill>
                  <a:latin typeface="+mn-lt"/>
                  <a:ea typeface="+mn-ea"/>
                  <a:cs typeface="+mn-cs"/>
                </a:rPr>
                <a:t>分摊</a:t>
              </a:r>
              <a:r>
                <a:rPr lang="zh-CN" sz="1280" dirty="0">
                  <a:solidFill>
                    <a:srgbClr val="1F2937"/>
                  </a:solidFill>
                  <a:latin typeface="+mn-lt"/>
                  <a:ea typeface="+mn-ea"/>
                  <a:cs typeface="+mn-cs"/>
                </a:rPr>
                <a:t xml:space="preserve"> 给上游每个神经元。</a:t>
              </a:r>
            </a:p>
          </p:txBody>
        </p:sp>
      </p:grpSp>
      <p:grpSp>
        <p:nvGrpSpPr>
          <p:cNvPr id="66" name="takeaway"/>
          <p:cNvGrpSpPr/>
          <p:nvPr/>
        </p:nvGrpSpPr>
        <p:grpSpPr>
          <a:xfrm>
            <a:off x="533400" y="5895022"/>
            <a:ext cx="11125200" cy="467678"/>
            <a:chOff x="533400" y="5895022"/>
            <a:chExt cx="11125200" cy="467678"/>
          </a:xfrm>
        </p:grpSpPr>
        <p:sp>
          <p:nvSpPr>
            <p:cNvPr id="60" name="Rectangle 60"/>
            <p:cNvSpPr/>
            <p:nvPr/>
          </p:nvSpPr>
          <p:spPr>
            <a:xfrm>
              <a:off x="533400" y="5895022"/>
              <a:ext cx="11125200" cy="467678"/>
            </a:xfrm>
            <a:prstGeom prst="roundRect">
              <a:avLst>
                <a:gd name="adj" fmla="val 24440"/>
              </a:avLst>
            </a:prstGeom>
            <a:solidFill>
              <a:srgbClr val="F4F6FB"/>
            </a:solidFill>
            <a:ln>
              <a:noFill/>
            </a:ln>
          </p:spPr>
        </p:sp>
        <p:grpSp>
          <p:nvGrpSpPr>
            <p:cNvPr id="64" name="Group 64"/>
            <p:cNvGrpSpPr/>
            <p:nvPr/>
          </p:nvGrpSpPr>
          <p:grpSpPr>
            <a:xfrm>
              <a:off x="738188" y="6028373"/>
              <a:ext cx="200026" cy="200026"/>
              <a:chOff x="738188" y="6028373"/>
              <a:chExt cx="200026" cy="200026"/>
            </a:xfrm>
          </p:grpSpPr>
          <p:sp>
            <p:nvSpPr>
              <p:cNvPr id="61" name="Freeform 61"/>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2" name="Freeform 62"/>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3" name="Freeform 63"/>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5" name="TextBox 65"/>
            <p:cNvSpPr txBox="1"/>
            <p:nvPr/>
          </p:nvSpPr>
          <p:spPr>
            <a:xfrm>
              <a:off x="1041273" y="6039326"/>
              <a:ext cx="595419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BP 是求梯度的方法，不是优化方法本身；拿到梯度之后用的仍然是梯度下降。</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250502" cy="909257"/>
            <a:chOff x="520446" y="342900"/>
            <a:chExt cx="3250502"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链式法则的两种情形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1654492"/>
            <a:chOff x="533400" y="1524000"/>
            <a:chExt cx="5410200" cy="1654492"/>
          </a:xfrm>
        </p:grpSpPr>
        <p:sp>
          <p:nvSpPr>
            <p:cNvPr id="7" name="Rectangle 7"/>
            <p:cNvSpPr/>
            <p:nvPr/>
          </p:nvSpPr>
          <p:spPr>
            <a:xfrm>
              <a:off x="533400" y="1524000"/>
              <a:ext cx="5410200" cy="1654492"/>
            </a:xfrm>
            <a:prstGeom prst="roundRect">
              <a:avLst>
                <a:gd name="adj" fmla="val 8060"/>
              </a:avLst>
            </a:prstGeom>
            <a:solidFill>
              <a:srgbClr val="FFFFFF"/>
            </a:solidFill>
            <a:ln w="14288">
              <a:solidFill>
                <a:srgbClr val="D9DFEA"/>
              </a:solidFill>
            </a:ln>
          </p:spPr>
        </p:sp>
        <p:sp>
          <p:nvSpPr>
            <p:cNvPr id="8" name="Rectangle 8"/>
            <p:cNvSpPr/>
            <p:nvPr/>
          </p:nvSpPr>
          <p:spPr>
            <a:xfrm>
              <a:off x="542925" y="1657350"/>
              <a:ext cx="47625" cy="1387792"/>
            </a:xfrm>
            <a:prstGeom prst="roundRect">
              <a:avLst>
                <a:gd name="adj" fmla="val 50000"/>
              </a:avLst>
            </a:prstGeom>
            <a:solidFill>
              <a:srgbClr val="0E7C86"/>
            </a:solidFill>
            <a:ln>
              <a:noFill/>
            </a:ln>
          </p:spPr>
        </p:sp>
        <p:sp>
          <p:nvSpPr>
            <p:cNvPr id="9" name="Rectangle 9"/>
            <p:cNvSpPr/>
            <p:nvPr/>
          </p:nvSpPr>
          <p:spPr>
            <a:xfrm>
              <a:off x="775335" y="1727835"/>
              <a:ext cx="621030" cy="257175"/>
            </a:xfrm>
            <a:prstGeom prst="roundRect">
              <a:avLst>
                <a:gd name="adj" fmla="val 50000"/>
              </a:avLst>
            </a:prstGeom>
            <a:solidFill>
              <a:srgbClr val="E2F3F4"/>
            </a:solidFill>
            <a:ln>
              <a:noFill/>
            </a:ln>
          </p:spPr>
        </p:sp>
        <p:sp>
          <p:nvSpPr>
            <p:cNvPr id="10" name="TextBox 10"/>
            <p:cNvSpPr txBox="1"/>
            <p:nvPr/>
          </p:nvSpPr>
          <p:spPr>
            <a:xfrm>
              <a:off x="862078" y="1763554"/>
              <a:ext cx="44754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情形 1</a:t>
              </a:r>
            </a:p>
          </p:txBody>
        </p:sp>
        <p:sp>
          <p:nvSpPr>
            <p:cNvPr id="11" name="TextBox 11"/>
            <p:cNvSpPr txBox="1"/>
            <p:nvPr/>
          </p:nvSpPr>
          <p:spPr>
            <a:xfrm>
              <a:off x="1503426" y="1767364"/>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串联：一条路径</a:t>
              </a:r>
            </a:p>
          </p:txBody>
        </p:sp>
        <p:sp>
          <p:nvSpPr>
            <p:cNvPr id="12" name="TextBox 12"/>
            <p:cNvSpPr txBox="1"/>
            <p:nvPr/>
          </p:nvSpPr>
          <p:spPr>
            <a:xfrm>
              <a:off x="768096" y="2119789"/>
              <a:ext cx="425355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y = g(x)，z = h(y)，变化沿 Δx → Δy → Δz 传递。</a:t>
              </a:r>
            </a:p>
          </p:txBody>
        </p:sp>
        <mc:AlternateContent xmlns:mc="http://schemas.openxmlformats.org/markup-compatibility/2006">
          <mc:Choice xmlns:a14="http://schemas.microsoft.com/office/drawing/2010/main" Requires="a14">
            <p:sp>
              <p:nvSpPr>
                <p:cNvPr id="13" name="formula111"/>
                <p:cNvSpPr txBox="1">
                  <a:spLocks noGrp="1"/>
                </p:cNvSpPr>
                <p:nvPr/>
              </p:nvSpPr>
              <p:spPr>
                <a:xfrm>
                  <a:off x="775335" y="2415540"/>
                  <a:ext cx="4964430" cy="54006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dx</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dy</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dy</m:t>
                            </m:r>
                          </m:num>
                          <m:den>
                            <m:r>
                              <a:rPr lang="zh-CN" sz="1580" dirty="0">
                                <a:solidFill>
                                  <a:srgbClr val="1F2937"/>
                                </a:solidFill>
                                <a:latin typeface="Cambria Math"/>
                                <a:ea typeface="Cambria Math"/>
                                <a:cs typeface="Cambria Math"/>
                              </a:rPr>
                              <m:t>dx</m:t>
                            </m:r>
                          </m:den>
                        </m:f>
                      </m:oMath>
                    </m:oMathPara>
                  </a14:m>
                </a:p>
              </p:txBody>
            </p:sp>
          </mc:Choice>
        </mc:AlternateContent>
      </p:grpSp>
      <p:grpSp>
        <p:nvGrpSpPr>
          <p:cNvPr id="22" name="c1-card-2"/>
          <p:cNvGrpSpPr/>
          <p:nvPr/>
        </p:nvGrpSpPr>
        <p:grpSpPr>
          <a:xfrm>
            <a:off x="533400" y="3363278"/>
            <a:ext cx="5410200" cy="2230755"/>
            <a:chOff x="533400" y="3363278"/>
            <a:chExt cx="5410200" cy="2230755"/>
          </a:xfrm>
        </p:grpSpPr>
        <p:sp>
          <p:nvSpPr>
            <p:cNvPr id="15" name="Rectangle 15"/>
            <p:cNvSpPr/>
            <p:nvPr/>
          </p:nvSpPr>
          <p:spPr>
            <a:xfrm>
              <a:off x="533400" y="3363278"/>
              <a:ext cx="5410200" cy="2230755"/>
            </a:xfrm>
            <a:prstGeom prst="roundRect">
              <a:avLst>
                <a:gd name="adj" fmla="val 5978"/>
              </a:avLst>
            </a:prstGeom>
            <a:solidFill>
              <a:srgbClr val="FFFFFF"/>
            </a:solidFill>
            <a:ln w="14288">
              <a:solidFill>
                <a:srgbClr val="D9DFEA"/>
              </a:solidFill>
            </a:ln>
          </p:spPr>
        </p:sp>
        <p:sp>
          <p:nvSpPr>
            <p:cNvPr id="16" name="Rectangle 16"/>
            <p:cNvSpPr/>
            <p:nvPr/>
          </p:nvSpPr>
          <p:spPr>
            <a:xfrm>
              <a:off x="542925" y="3496628"/>
              <a:ext cx="47625" cy="1964055"/>
            </a:xfrm>
            <a:prstGeom prst="roundRect">
              <a:avLst>
                <a:gd name="adj" fmla="val 50000"/>
              </a:avLst>
            </a:prstGeom>
            <a:solidFill>
              <a:srgbClr val="0E7C86"/>
            </a:solidFill>
            <a:ln>
              <a:noFill/>
            </a:ln>
          </p:spPr>
        </p:sp>
        <p:sp>
          <p:nvSpPr>
            <p:cNvPr id="17" name="Rectangle 17"/>
            <p:cNvSpPr/>
            <p:nvPr/>
          </p:nvSpPr>
          <p:spPr>
            <a:xfrm>
              <a:off x="775335" y="3567112"/>
              <a:ext cx="621030" cy="257175"/>
            </a:xfrm>
            <a:prstGeom prst="roundRect">
              <a:avLst>
                <a:gd name="adj" fmla="val 50000"/>
              </a:avLst>
            </a:prstGeom>
            <a:solidFill>
              <a:srgbClr val="E2F3F4"/>
            </a:solidFill>
            <a:ln>
              <a:noFill/>
            </a:ln>
          </p:spPr>
        </p:sp>
        <p:sp>
          <p:nvSpPr>
            <p:cNvPr id="18" name="TextBox 18"/>
            <p:cNvSpPr txBox="1"/>
            <p:nvPr/>
          </p:nvSpPr>
          <p:spPr>
            <a:xfrm>
              <a:off x="862078" y="3602831"/>
              <a:ext cx="44754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情形 2</a:t>
              </a:r>
            </a:p>
          </p:txBody>
        </p:sp>
        <p:sp>
          <p:nvSpPr>
            <p:cNvPr id="19" name="TextBox 19"/>
            <p:cNvSpPr txBox="1"/>
            <p:nvPr/>
          </p:nvSpPr>
          <p:spPr>
            <a:xfrm>
              <a:off x="1503426" y="3607594"/>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分叉再汇合：多条路径</a:t>
              </a:r>
            </a:p>
          </p:txBody>
        </p:sp>
        <p:sp>
          <p:nvSpPr>
            <p:cNvPr id="20" name="TextBox 20"/>
            <p:cNvSpPr txBox="1"/>
            <p:nvPr/>
          </p:nvSpPr>
          <p:spPr>
            <a:xfrm>
              <a:off x="768096" y="3959066"/>
              <a:ext cx="4513961"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x = g(s)，y = h(s)，z = k(x, y)，s 的变化沿两条路径</a:t>
              </a:r>
              <a:br/>
              <a:r>
                <a:rPr lang="zh-CN" sz="1420" dirty="0">
                  <a:solidFill>
                    <a:srgbClr val="1F2937"/>
                  </a:solidFill>
                  <a:latin typeface="+mn-lt"/>
                  <a:ea typeface="+mn-ea"/>
                  <a:cs typeface="+mn-cs"/>
                </a:rPr>
                <a:t>Δx 和 Δy 同时影响 z。</a:t>
              </a:r>
            </a:p>
          </p:txBody>
        </p:sp>
        <mc:AlternateContent xmlns:mc="http://schemas.openxmlformats.org/markup-compatibility/2006">
          <mc:Choice xmlns:a14="http://schemas.microsoft.com/office/drawing/2010/main" Requires="a14">
            <p:sp>
              <p:nvSpPr>
                <p:cNvPr id="21" name="formula112"/>
                <p:cNvSpPr txBox="1">
                  <a:spLocks noGrp="1"/>
                </p:cNvSpPr>
                <p:nvPr/>
              </p:nvSpPr>
              <p:spPr>
                <a:xfrm>
                  <a:off x="775335" y="4527232"/>
                  <a:ext cx="4964430" cy="54006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ds</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z</m:t>
                            </m:r>
                          </m:num>
                          <m:den>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x</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dx</m:t>
                            </m:r>
                          </m:num>
                          <m:den>
                            <m:r>
                              <a:rPr lang="zh-CN" sz="1580" dirty="0">
                                <a:solidFill>
                                  <a:srgbClr val="1F2937"/>
                                </a:solidFill>
                                <a:latin typeface="Cambria Math"/>
                                <a:ea typeface="Cambria Math"/>
                                <a:cs typeface="Cambria Math"/>
                              </a:rPr>
                              <m:t>ds</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z</m:t>
                            </m:r>
                          </m:num>
                          <m:den>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y</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dy</m:t>
                            </m:r>
                          </m:num>
                          <m:den>
                            <m:r>
                              <a:rPr lang="zh-CN" sz="1580" dirty="0">
                                <a:solidFill>
                                  <a:srgbClr val="1F2937"/>
                                </a:solidFill>
                                <a:latin typeface="Cambria Math"/>
                                <a:ea typeface="Cambria Math"/>
                                <a:cs typeface="Cambria Math"/>
                              </a:rPr>
                              <m:t>ds</m:t>
                            </m:r>
                          </m:den>
                        </m:f>
                      </m:oMath>
                    </m:oMathPara>
                  </a14:m>
                </a:p>
              </p:txBody>
            </p:sp>
          </mc:Choice>
        </mc:AlternateContent>
      </p:grpSp>
      <p:grpSp>
        <p:nvGrpSpPr>
          <p:cNvPr id="28" name="c2-card-1"/>
          <p:cNvGrpSpPr/>
          <p:nvPr/>
        </p:nvGrpSpPr>
        <p:grpSpPr>
          <a:xfrm>
            <a:off x="6248400" y="1524000"/>
            <a:ext cx="5410200" cy="1564958"/>
            <a:chOff x="6248400" y="1524000"/>
            <a:chExt cx="5410200" cy="1564958"/>
          </a:xfrm>
        </p:grpSpPr>
        <p:sp>
          <p:nvSpPr>
            <p:cNvPr id="23" name="Rectangle 23"/>
            <p:cNvSpPr/>
            <p:nvPr/>
          </p:nvSpPr>
          <p:spPr>
            <a:xfrm>
              <a:off x="6248400" y="1524000"/>
              <a:ext cx="5410200" cy="1564958"/>
            </a:xfrm>
            <a:prstGeom prst="roundRect">
              <a:avLst>
                <a:gd name="adj" fmla="val 8521"/>
              </a:avLst>
            </a:prstGeom>
            <a:solidFill>
              <a:srgbClr val="0E7C86"/>
            </a:solidFill>
            <a:ln>
              <a:noFill/>
            </a:ln>
          </p:spPr>
        </p:sp>
        <p:sp>
          <p:nvSpPr>
            <p:cNvPr id="24" name="Rectangle 24"/>
            <p:cNvSpPr/>
            <p:nvPr/>
          </p:nvSpPr>
          <p:spPr>
            <a:xfrm>
              <a:off x="6452235" y="1727835"/>
              <a:ext cx="921068" cy="257175"/>
            </a:xfrm>
            <a:prstGeom prst="roundRect">
              <a:avLst>
                <a:gd name="adj" fmla="val 50000"/>
              </a:avLst>
            </a:prstGeom>
            <a:solidFill>
              <a:srgbClr val="0B5F67"/>
            </a:solidFill>
            <a:ln>
              <a:noFill/>
            </a:ln>
          </p:spPr>
        </p:sp>
        <p:sp>
          <p:nvSpPr>
            <p:cNvPr id="25" name="TextBox 25"/>
            <p:cNvSpPr txBox="1"/>
            <p:nvPr/>
          </p:nvSpPr>
          <p:spPr>
            <a:xfrm>
              <a:off x="6529642" y="1763554"/>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对应到网络</a:t>
              </a:r>
            </a:p>
          </p:txBody>
        </p:sp>
        <p:sp>
          <p:nvSpPr>
            <p:cNvPr id="26" name="TextBox 26"/>
            <p:cNvSpPr txBox="1"/>
            <p:nvPr/>
          </p:nvSpPr>
          <p:spPr>
            <a:xfrm>
              <a:off x="7480364" y="1767364"/>
              <a:ext cx="1943963"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情形 2 才是 BP 的主体</a:t>
              </a:r>
            </a:p>
          </p:txBody>
        </p:sp>
        <p:sp>
          <p:nvSpPr>
            <p:cNvPr id="27" name="TextBox 27"/>
            <p:cNvSpPr txBox="1"/>
            <p:nvPr/>
          </p:nvSpPr>
          <p:spPr>
            <a:xfrm>
              <a:off x="6444996" y="2119789"/>
              <a:ext cx="475742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一个隐层神经元的输出会送给下一层的每一个神经元，所以</a:t>
              </a:r>
              <a:br/>
              <a:r>
                <a:rPr lang="zh-CN" sz="1420" dirty="0">
                  <a:solidFill>
                    <a:srgbClr val="FFFFFF"/>
                  </a:solidFill>
                  <a:latin typeface="+mn-lt"/>
                  <a:ea typeface="+mn-ea"/>
                  <a:cs typeface="+mn-cs"/>
                </a:rPr>
                <a:t xml:space="preserve">它对损失的影响有多条路径，必须把各条路径的贡献 </a:t>
              </a:r>
              <a:r>
                <a:rPr lang="zh-CN" sz="1420" b="1" dirty="0">
                  <a:solidFill>
                    <a:srgbClr val="FFD58A"/>
                  </a:solidFill>
                  <a:latin typeface="+mn-lt"/>
                  <a:ea typeface="+mn-ea"/>
                  <a:cs typeface="+mn-cs"/>
                </a:rPr>
                <a:t>相加</a:t>
              </a:r>
              <a:r>
                <a:rPr lang="zh-CN" sz="1420" dirty="0">
                  <a:solidFill>
                    <a:srgbClr val="FFFFFF"/>
                  </a:solidFill>
                  <a:latin typeface="+mn-lt"/>
                  <a:ea typeface="+mn-ea"/>
                  <a:cs typeface="+mn-cs"/>
                </a:rPr>
                <a:t>。</a:t>
              </a:r>
              <a:br/>
              <a:r>
                <a:rPr lang="zh-CN" sz="1420" dirty="0">
                  <a:solidFill>
                    <a:srgbClr val="FFFFFF"/>
                  </a:solidFill>
                  <a:latin typeface="+mn-lt"/>
                  <a:ea typeface="+mn-ea"/>
                  <a:cs typeface="+mn-cs"/>
                </a:rPr>
                <a:t>这就是后面 ∂l/∂z 公式里那个求和的来源。</a:t>
              </a:r>
            </a:p>
          </p:txBody>
        </p:sp>
      </p:grpSp>
      <p:grpSp>
        <p:nvGrpSpPr>
          <p:cNvPr id="37" name="c2-card-2"/>
          <p:cNvGrpSpPr/>
          <p:nvPr/>
        </p:nvGrpSpPr>
        <p:grpSpPr>
          <a:xfrm>
            <a:off x="6248400" y="3273742"/>
            <a:ext cx="5410200" cy="2320290"/>
            <a:chOff x="6248400" y="3273742"/>
            <a:chExt cx="5410200" cy="2320290"/>
          </a:xfrm>
        </p:grpSpPr>
        <p:sp>
          <p:nvSpPr>
            <p:cNvPr id="29" name="Rectangle 29"/>
            <p:cNvSpPr/>
            <p:nvPr/>
          </p:nvSpPr>
          <p:spPr>
            <a:xfrm>
              <a:off x="6248400" y="3273742"/>
              <a:ext cx="5410200" cy="2320290"/>
            </a:xfrm>
            <a:prstGeom prst="roundRect">
              <a:avLst>
                <a:gd name="adj" fmla="val 5747"/>
              </a:avLst>
            </a:prstGeom>
            <a:solidFill>
              <a:srgbClr val="FFFFFF"/>
            </a:solidFill>
            <a:ln w="14288">
              <a:solidFill>
                <a:srgbClr val="D9DFEA"/>
              </a:solidFill>
            </a:ln>
          </p:spPr>
        </p:sp>
        <p:sp>
          <p:nvSpPr>
            <p:cNvPr id="30" name="Rectangle 30"/>
            <p:cNvSpPr/>
            <p:nvPr/>
          </p:nvSpPr>
          <p:spPr>
            <a:xfrm>
              <a:off x="6257925" y="3407092"/>
              <a:ext cx="47625" cy="2053590"/>
            </a:xfrm>
            <a:prstGeom prst="roundRect">
              <a:avLst>
                <a:gd name="adj" fmla="val 50000"/>
              </a:avLst>
            </a:prstGeom>
            <a:solidFill>
              <a:srgbClr val="14A38B"/>
            </a:solidFill>
            <a:ln>
              <a:noFill/>
            </a:ln>
          </p:spPr>
        </p:sp>
        <p:sp>
          <p:nvSpPr>
            <p:cNvPr id="31" name="Rectangle 31"/>
            <p:cNvSpPr/>
            <p:nvPr/>
          </p:nvSpPr>
          <p:spPr>
            <a:xfrm>
              <a:off x="6490335" y="3477578"/>
              <a:ext cx="1129665" cy="257175"/>
            </a:xfrm>
            <a:prstGeom prst="roundRect">
              <a:avLst>
                <a:gd name="adj" fmla="val 50000"/>
              </a:avLst>
            </a:prstGeom>
            <a:solidFill>
              <a:srgbClr val="E3F5F1"/>
            </a:solidFill>
            <a:ln>
              <a:noFill/>
            </a:ln>
          </p:spPr>
        </p:sp>
        <p:sp>
          <p:nvSpPr>
            <p:cNvPr id="32" name="TextBox 32"/>
            <p:cNvSpPr txBox="1"/>
            <p:nvPr/>
          </p:nvSpPr>
          <p:spPr>
            <a:xfrm>
              <a:off x="6555425" y="3513296"/>
              <a:ext cx="999486"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为什么要用 BP</a:t>
              </a:r>
            </a:p>
          </p:txBody>
        </p:sp>
        <p:sp>
          <p:nvSpPr>
            <p:cNvPr id="33" name="TextBox 33"/>
            <p:cNvSpPr txBox="1"/>
            <p:nvPr/>
          </p:nvSpPr>
          <p:spPr>
            <a:xfrm>
              <a:off x="7727061" y="3518059"/>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参数数以万计时的代价</a:t>
              </a:r>
            </a:p>
          </p:txBody>
        </p:sp>
        <p:sp>
          <p:nvSpPr>
            <p:cNvPr id="34" name="TextBox 34"/>
            <p:cNvSpPr txBox="1"/>
            <p:nvPr/>
          </p:nvSpPr>
          <p:spPr>
            <a:xfrm>
              <a:off x="6483096" y="3869531"/>
              <a:ext cx="506111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网络参数 Θ = {w₁, w₂, …, b₁, b₂, …}，梯度下降要算的是</a:t>
              </a:r>
            </a:p>
          </p:txBody>
        </p:sp>
        <mc:AlternateContent xmlns:mc="http://schemas.openxmlformats.org/markup-compatibility/2006">
          <mc:Choice xmlns:a14="http://schemas.microsoft.com/office/drawing/2010/main" Requires="a14">
            <p:sp>
              <p:nvSpPr>
                <p:cNvPr id="35" name="formula113"/>
                <p:cNvSpPr txBox="1">
                  <a:spLocks noGrp="1"/>
                </p:cNvSpPr>
                <p:nvPr/>
              </p:nvSpPr>
              <p:spPr>
                <a:xfrm>
                  <a:off x="6490335" y="4166235"/>
                  <a:ext cx="4964430"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p>
                        </m:sSup>
                        <m:r>
                          <m:rPr>
                            <m:sty m:val="p"/>
                          </m:rPr>
                          <a:rPr lang="zh-CN" sz="1350" dirty="0">
                            <a:solidFill>
                              <a:srgbClr val="1F2937"/>
                            </a:solidFill>
                            <a:latin typeface="Cambria Math"/>
                            <a:ea typeface="Cambria Math"/>
                            <a:cs typeface="Cambria Math"/>
                          </a:rPr>
                          <m:t>=</m:t>
                        </m:r>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η</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L</m:t>
                        </m:r>
                        <m:d>
                          <m:dPr>
                            <m:begChr m:val="("/>
                            <m:sepChr m:val=""/>
                            <m:endChr m:val=")"/>
                            <m:grow m:val="on"/>
                            <m:ctrlPr>
                              <a:rPr lang="zh-CN" sz="1350" dirty="0">
                                <a:solidFill>
                                  <a:srgbClr val="1F2937"/>
                                </a:solidFill>
                                <a:latin typeface="Cambria Math"/>
                                <a:ea typeface="Cambria Math"/>
                                <a:cs typeface="Cambria Math"/>
                              </a:rPr>
                            </m:ctrlPr>
                          </m:dPr>
                          <m:e>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sup>
                            </m:sSup>
                          </m:e>
                        </m:d>
                      </m:oMath>
                    </m:oMathPara>
                  </a14:m>
                </a:p>
              </p:txBody>
            </p:sp>
          </mc:Choice>
        </mc:AlternateContent>
        <p:sp>
          <p:nvSpPr>
            <p:cNvPr id="36" name="TextBox 36"/>
            <p:cNvSpPr txBox="1"/>
            <p:nvPr/>
          </p:nvSpPr>
          <p:spPr>
            <a:xfrm>
              <a:off x="6483096" y="4624864"/>
              <a:ext cx="457708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逐个参数用数值差分求偏导，每个参数都要跑一遍完整前</a:t>
              </a:r>
              <a:br/>
              <a:r>
                <a:rPr lang="zh-CN" sz="1420" dirty="0">
                  <a:solidFill>
                    <a:srgbClr val="1F2937"/>
                  </a:solidFill>
                  <a:latin typeface="+mn-lt"/>
                  <a:ea typeface="+mn-ea"/>
                  <a:cs typeface="+mn-cs"/>
                </a:rPr>
                <a:t>向，代价是 O(参数个数 × 前向代价)。反向传播只要一次</a:t>
              </a:r>
              <a:br/>
              <a:r>
                <a:rPr lang="zh-CN" sz="1420" dirty="0">
                  <a:solidFill>
                    <a:srgbClr val="1F2937"/>
                  </a:solidFill>
                  <a:latin typeface="+mn-lt"/>
                  <a:ea typeface="+mn-ea"/>
                  <a:cs typeface="+mn-cs"/>
                </a:rPr>
                <a:t xml:space="preserve">前向加一次反向，就把 </a:t>
              </a:r>
              <a:r>
                <a:rPr lang="zh-CN" sz="1420" b="1" dirty="0">
                  <a:solidFill>
                    <a:srgbClr val="C2410C"/>
                  </a:solidFill>
                  <a:latin typeface="+mn-lt"/>
                  <a:ea typeface="+mn-ea"/>
                  <a:cs typeface="+mn-cs"/>
                </a:rPr>
                <a:t>所有</a:t>
              </a:r>
              <a:r>
                <a:rPr lang="zh-CN" sz="1420" dirty="0">
                  <a:solidFill>
                    <a:srgbClr val="1F2937"/>
                  </a:solidFill>
                  <a:latin typeface="+mn-lt"/>
                  <a:ea typeface="+mn-ea"/>
                  <a:cs typeface="+mn-cs"/>
                </a:rPr>
                <a:t xml:space="preserve"> 偏导一起算出来。</a:t>
              </a:r>
            </a:p>
          </p:txBody>
        </p:sp>
      </p:grpSp>
      <p:grpSp>
        <p:nvGrpSpPr>
          <p:cNvPr id="43" name="takeaway"/>
          <p:cNvGrpSpPr/>
          <p:nvPr/>
        </p:nvGrpSpPr>
        <p:grpSpPr>
          <a:xfrm>
            <a:off x="533400" y="5844540"/>
            <a:ext cx="11125200" cy="518160"/>
            <a:chOff x="533400" y="5844540"/>
            <a:chExt cx="11125200" cy="518160"/>
          </a:xfrm>
        </p:grpSpPr>
        <p:sp>
          <p:nvSpPr>
            <p:cNvPr id="38" name="Rectangle 38"/>
            <p:cNvSpPr/>
            <p:nvPr/>
          </p:nvSpPr>
          <p:spPr>
            <a:xfrm>
              <a:off x="533400" y="5844540"/>
              <a:ext cx="11125200" cy="518160"/>
            </a:xfrm>
            <a:prstGeom prst="roundRect">
              <a:avLst>
                <a:gd name="adj" fmla="val 22059"/>
              </a:avLst>
            </a:prstGeom>
            <a:solidFill>
              <a:srgbClr val="0E7C86"/>
            </a:solidFill>
            <a:ln>
              <a:noFill/>
            </a:ln>
          </p:spPr>
        </p:sp>
        <p:grpSp>
          <p:nvGrpSpPr>
            <p:cNvPr id="41" name="Group 41"/>
            <p:cNvGrpSpPr/>
            <p:nvPr/>
          </p:nvGrpSpPr>
          <p:grpSpPr>
            <a:xfrm>
              <a:off x="738188" y="6003610"/>
              <a:ext cx="200023" cy="200023"/>
              <a:chOff x="738188" y="6003610"/>
              <a:chExt cx="200023" cy="200023"/>
            </a:xfrm>
          </p:grpSpPr>
          <p:sp>
            <p:nvSpPr>
              <p:cNvPr id="39" name="Freeform 39"/>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记住这句话：前向一遍存下中间值，反向一遍复用它们，代价与前向同阶。</a:t>
              </a:r>
            </a:p>
          </p:txBody>
        </p:sp>
      </p:grpSp>
      <p:grpSp>
        <p:nvGrpSpPr>
          <p:cNvPr id="46" name="footer"/>
          <p:cNvGrpSpPr/>
          <p:nvPr/>
        </p:nvGrpSpPr>
        <p:grpSpPr>
          <a:xfrm>
            <a:off x="528447" y="6581299"/>
            <a:ext cx="11135106" cy="190690"/>
            <a:chOff x="528447" y="6581299"/>
            <a:chExt cx="11135106" cy="190690"/>
          </a:xfrm>
        </p:grpSpPr>
        <p:sp>
          <p:nvSpPr>
            <p:cNvPr id="44" name="TextBox 4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5" name="TextBox 4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346569" cy="909257"/>
            <a:chOff x="520446" y="342900"/>
            <a:chExt cx="6346569"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634656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前向过程：∂z/∂w 就是这条连接上的输入</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347853" cy="278702"/>
            <a:chOff x="526161" y="1547336"/>
            <a:chExt cx="5347853" cy="278702"/>
          </a:xfrm>
        </p:grpSpPr>
        <p:sp>
          <p:nvSpPr>
            <p:cNvPr id="7" name="TextBox 7"/>
            <p:cNvSpPr txBox="1"/>
            <p:nvPr/>
          </p:nvSpPr>
          <p:spPr>
            <a:xfrm>
              <a:off x="526161" y="1547336"/>
              <a:ext cx="5347853"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对某个神经元 z = x₁w₁ + x₂w₂ + b，要算的第一半是 ∂z/∂w。</a:t>
              </a:r>
            </a:p>
          </p:txBody>
        </p:sp>
      </p:grpSp>
      <p:grpSp>
        <p:nvGrpSpPr>
          <p:cNvPr id="18" name="c1-card-1"/>
          <p:cNvGrpSpPr/>
          <p:nvPr/>
        </p:nvGrpSpPr>
        <p:grpSpPr>
          <a:xfrm>
            <a:off x="533400" y="1941195"/>
            <a:ext cx="5410200" cy="1873568"/>
            <a:chOff x="533400" y="1941195"/>
            <a:chExt cx="5410200" cy="1873568"/>
          </a:xfrm>
        </p:grpSpPr>
        <p:sp>
          <p:nvSpPr>
            <p:cNvPr id="9" name="Rectangle 9"/>
            <p:cNvSpPr/>
            <p:nvPr/>
          </p:nvSpPr>
          <p:spPr>
            <a:xfrm>
              <a:off x="533400" y="1941195"/>
              <a:ext cx="5410200" cy="1873568"/>
            </a:xfrm>
            <a:prstGeom prst="roundRect">
              <a:avLst>
                <a:gd name="adj" fmla="val 7117"/>
              </a:avLst>
            </a:prstGeom>
            <a:solidFill>
              <a:srgbClr val="0E7C86"/>
            </a:solidFill>
            <a:ln>
              <a:noFill/>
            </a:ln>
          </p:spPr>
        </p:sp>
        <p:sp>
          <p:nvSpPr>
            <p:cNvPr id="10" name="Rectangle 10"/>
            <p:cNvSpPr/>
            <p:nvPr/>
          </p:nvSpPr>
          <p:spPr>
            <a:xfrm>
              <a:off x="725805" y="2133600"/>
              <a:ext cx="742950" cy="247650"/>
            </a:xfrm>
            <a:prstGeom prst="roundRect">
              <a:avLst>
                <a:gd name="adj" fmla="val 50000"/>
              </a:avLst>
            </a:prstGeom>
            <a:solidFill>
              <a:srgbClr val="0B5F67"/>
            </a:solidFill>
            <a:ln>
              <a:noFill/>
            </a:ln>
          </p:spPr>
        </p:sp>
        <p:sp>
          <p:nvSpPr>
            <p:cNvPr id="11" name="TextBox 11"/>
            <p:cNvSpPr txBox="1"/>
            <p:nvPr/>
          </p:nvSpPr>
          <p:spPr>
            <a:xfrm>
              <a:off x="809244" y="216789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拆成两半</a:t>
              </a:r>
            </a:p>
          </p:txBody>
        </p:sp>
        <p:sp>
          <p:nvSpPr>
            <p:cNvPr id="12" name="TextBox 12"/>
            <p:cNvSpPr txBox="1"/>
            <p:nvPr/>
          </p:nvSpPr>
          <p:spPr>
            <a:xfrm>
              <a:off x="1576197" y="2173605"/>
              <a:ext cx="118864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把 ∂l/∂w 拆开</a:t>
              </a:r>
            </a:p>
          </p:txBody>
        </p:sp>
        <mc:AlternateContent xmlns:mc="http://schemas.openxmlformats.org/markup-compatibility/2006">
          <mc:Choice xmlns:a14="http://schemas.microsoft.com/office/drawing/2010/main" Requires="a14">
            <p:sp>
              <p:nvSpPr>
                <p:cNvPr id="13" name="formula118"/>
                <p:cNvSpPr txBox="1">
                  <a:spLocks noGrp="1"/>
                </p:cNvSpPr>
                <p:nvPr/>
              </p:nvSpPr>
              <p:spPr>
                <a:xfrm>
                  <a:off x="725805" y="2486025"/>
                  <a:ext cx="5025390" cy="5143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l</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w</m:t>
                            </m:r>
                          </m:den>
                        </m:f>
                        <m:r>
                          <m:rPr>
                            <m:sty m:val="p"/>
                          </m:rPr>
                          <a:rPr lang="zh-CN" sz="1500" dirty="0">
                            <a:solidFill>
                              <a:srgbClr val="FFFFFF"/>
                            </a:solidFill>
                            <a:latin typeface="Cambria Math"/>
                            <a:ea typeface="Cambria Math"/>
                            <a:cs typeface="Cambria Math"/>
                          </a:rPr>
                          <m:t>=</m:t>
                        </m:r>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z</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w</m:t>
                            </m:r>
                          </m:den>
                        </m:f>
                        <m:r>
                          <m:rPr>
                            <m:sty m:val="p"/>
                          </m:rPr>
                          <a:rPr lang="zh-CN" sz="1500" dirty="0">
                            <a:solidFill>
                              <a:srgbClr val="FFFFFF"/>
                            </a:solidFill>
                            <a:latin typeface="Cambria Math"/>
                            <a:ea typeface="Cambria Math"/>
                            <a:cs typeface="Cambria Math"/>
                          </a:rPr>
                          <m:t>⋅</m:t>
                        </m:r>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l</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z</m:t>
                            </m:r>
                          </m:den>
                        </m:f>
                      </m:oMath>
                    </m:oMathPara>
                  </a14:m>
                </a:p>
              </p:txBody>
            </p:sp>
          </mc:Choice>
        </mc:AlternateContent>
        <p:sp>
          <p:nvSpPr>
            <p:cNvPr id="14" name="Ellipse 14"/>
            <p:cNvSpPr/>
            <p:nvPr/>
          </p:nvSpPr>
          <p:spPr>
            <a:xfrm>
              <a:off x="734378" y="3165157"/>
              <a:ext cx="59055" cy="59055"/>
            </a:xfrm>
            <a:prstGeom prst="ellipse">
              <a:avLst/>
            </a:prstGeom>
            <a:solidFill>
              <a:srgbClr val="FFFFFF"/>
            </a:solidFill>
            <a:ln>
              <a:noFill/>
            </a:ln>
          </p:spPr>
        </p:sp>
        <p:sp>
          <p:nvSpPr>
            <p:cNvPr id="15" name="TextBox 15"/>
            <p:cNvSpPr txBox="1"/>
            <p:nvPr/>
          </p:nvSpPr>
          <p:spPr>
            <a:xfrm>
              <a:off x="890397" y="3108960"/>
              <a:ext cx="296694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前向过程</a:t>
              </a:r>
              <a:r>
                <a:rPr lang="zh-CN" sz="1350" dirty="0">
                  <a:solidFill>
                    <a:srgbClr val="FFFFFF"/>
                  </a:solidFill>
                  <a:latin typeface="+mn-lt"/>
                  <a:ea typeface="+mn-ea"/>
                  <a:cs typeface="+mn-cs"/>
                </a:rPr>
                <a:t>负责对所有参数算出 ∂z/∂w</a:t>
              </a:r>
            </a:p>
          </p:txBody>
        </p:sp>
        <p:sp>
          <p:nvSpPr>
            <p:cNvPr id="16" name="Ellipse 16"/>
            <p:cNvSpPr/>
            <p:nvPr/>
          </p:nvSpPr>
          <p:spPr>
            <a:xfrm>
              <a:off x="734378" y="3468052"/>
              <a:ext cx="59055" cy="59055"/>
            </a:xfrm>
            <a:prstGeom prst="ellipse">
              <a:avLst/>
            </a:prstGeom>
            <a:solidFill>
              <a:srgbClr val="FFFFFF"/>
            </a:solidFill>
            <a:ln>
              <a:noFill/>
            </a:ln>
          </p:spPr>
        </p:sp>
        <p:sp>
          <p:nvSpPr>
            <p:cNvPr id="17" name="TextBox 17"/>
            <p:cNvSpPr txBox="1"/>
            <p:nvPr/>
          </p:nvSpPr>
          <p:spPr>
            <a:xfrm>
              <a:off x="890397" y="3411855"/>
              <a:ext cx="38211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后向过程</a:t>
              </a:r>
              <a:r>
                <a:rPr lang="zh-CN" sz="1350" dirty="0">
                  <a:solidFill>
                    <a:srgbClr val="FFFFFF"/>
                  </a:solidFill>
                  <a:latin typeface="+mn-lt"/>
                  <a:ea typeface="+mn-ea"/>
                  <a:cs typeface="+mn-cs"/>
                </a:rPr>
                <a:t>负责对所有激活函数输入 z 算出 ∂l/∂z</a:t>
              </a:r>
            </a:p>
          </p:txBody>
        </p:sp>
      </p:grpSp>
      <p:grpSp>
        <p:nvGrpSpPr>
          <p:cNvPr id="26" name="c1-card-2"/>
          <p:cNvGrpSpPr/>
          <p:nvPr/>
        </p:nvGrpSpPr>
        <p:grpSpPr>
          <a:xfrm>
            <a:off x="533400" y="3990022"/>
            <a:ext cx="5410200" cy="1697355"/>
            <a:chOff x="533400" y="3990022"/>
            <a:chExt cx="5410200" cy="1697355"/>
          </a:xfrm>
        </p:grpSpPr>
        <p:sp>
          <p:nvSpPr>
            <p:cNvPr id="19" name="Rectangle 19"/>
            <p:cNvSpPr/>
            <p:nvPr/>
          </p:nvSpPr>
          <p:spPr>
            <a:xfrm>
              <a:off x="533400" y="3990022"/>
              <a:ext cx="5410200" cy="1697355"/>
            </a:xfrm>
            <a:prstGeom prst="roundRect">
              <a:avLst>
                <a:gd name="adj" fmla="val 7856"/>
              </a:avLst>
            </a:prstGeom>
            <a:solidFill>
              <a:srgbClr val="FFFFFF"/>
            </a:solidFill>
            <a:ln w="14288">
              <a:solidFill>
                <a:srgbClr val="D9DFEA"/>
              </a:solidFill>
            </a:ln>
          </p:spPr>
        </p:sp>
        <p:sp>
          <p:nvSpPr>
            <p:cNvPr id="20" name="Rectangle 20"/>
            <p:cNvSpPr/>
            <p:nvPr/>
          </p:nvSpPr>
          <p:spPr>
            <a:xfrm>
              <a:off x="542925" y="4123372"/>
              <a:ext cx="47625" cy="1430655"/>
            </a:xfrm>
            <a:prstGeom prst="roundRect">
              <a:avLst>
                <a:gd name="adj" fmla="val 50000"/>
              </a:avLst>
            </a:prstGeom>
            <a:solidFill>
              <a:srgbClr val="F26B3A"/>
            </a:solidFill>
            <a:ln>
              <a:noFill/>
            </a:ln>
          </p:spPr>
        </p:sp>
        <p:sp>
          <p:nvSpPr>
            <p:cNvPr id="21" name="Rectangle 21"/>
            <p:cNvSpPr/>
            <p:nvPr/>
          </p:nvSpPr>
          <p:spPr>
            <a:xfrm>
              <a:off x="763905" y="4182428"/>
              <a:ext cx="476250" cy="247650"/>
            </a:xfrm>
            <a:prstGeom prst="roundRect">
              <a:avLst>
                <a:gd name="adj" fmla="val 50000"/>
              </a:avLst>
            </a:prstGeom>
            <a:solidFill>
              <a:srgbClr val="FDEEE7"/>
            </a:solidFill>
            <a:ln>
              <a:noFill/>
            </a:ln>
          </p:spPr>
        </p:sp>
        <p:sp>
          <p:nvSpPr>
            <p:cNvPr id="22" name="TextBox 22"/>
            <p:cNvSpPr txBox="1"/>
            <p:nvPr/>
          </p:nvSpPr>
          <p:spPr>
            <a:xfrm>
              <a:off x="855345" y="4216718"/>
              <a:ext cx="293370"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结论</a:t>
              </a:r>
            </a:p>
          </p:txBody>
        </p:sp>
        <p:sp>
          <p:nvSpPr>
            <p:cNvPr id="23" name="TextBox 23"/>
            <p:cNvSpPr txBox="1"/>
            <p:nvPr/>
          </p:nvSpPr>
          <p:spPr>
            <a:xfrm>
              <a:off x="1347597" y="4222432"/>
              <a:ext cx="2389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∂z/∂w₁ = x₁，∂z/∂w₂ = x₂</a:t>
              </a:r>
            </a:p>
          </p:txBody>
        </p:sp>
        <p:sp>
          <p:nvSpPr>
            <p:cNvPr id="24" name="TextBox 24"/>
            <p:cNvSpPr txBox="1"/>
            <p:nvPr/>
          </p:nvSpPr>
          <p:spPr>
            <a:xfrm>
              <a:off x="757047" y="4555808"/>
              <a:ext cx="477145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z 是输入的线性组合，对 w₁ 求偏导时其余项都是常数，剩下的</a:t>
              </a:r>
              <a:br/>
              <a:r>
                <a:rPr lang="zh-CN" sz="1350" dirty="0">
                  <a:solidFill>
                    <a:srgbClr val="1F2937"/>
                  </a:solidFill>
                  <a:latin typeface="+mn-lt"/>
                  <a:ea typeface="+mn-ea"/>
                  <a:cs typeface="+mn-cs"/>
                </a:rPr>
                <a:t>正好是与 w₁ 相乘的那个输入。对偏置同理，∂z/∂b = 1。</a:t>
              </a:r>
            </a:p>
          </p:txBody>
        </p:sp>
        <p:sp>
          <p:nvSpPr>
            <p:cNvPr id="25" name="TextBox 25"/>
            <p:cNvSpPr txBox="1"/>
            <p:nvPr/>
          </p:nvSpPr>
          <p:spPr>
            <a:xfrm>
              <a:off x="758190" y="5112544"/>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前向过程不用额外计算：做一遍前向，把每个神经元的输入值存下来，所有</a:t>
              </a:r>
              <a:br/>
              <a:r>
                <a:rPr lang="zh-CN" sz="1120" dirty="0">
                  <a:solidFill>
                    <a:srgbClr val="5B6475"/>
                  </a:solidFill>
                  <a:latin typeface="+mn-lt"/>
                  <a:ea typeface="+mn-ea"/>
                  <a:cs typeface="+mn-cs"/>
                </a:rPr>
                <a:t>的 ∂z/∂w 就都有了。</a:t>
              </a:r>
            </a:p>
          </p:txBody>
        </p:sp>
      </p:grpSp>
      <p:grpSp>
        <p:nvGrpSpPr>
          <p:cNvPr id="61" name="c2-graph-1"/>
          <p:cNvGrpSpPr/>
          <p:nvPr/>
        </p:nvGrpSpPr>
        <p:grpSpPr>
          <a:xfrm>
            <a:off x="6468428" y="2341245"/>
            <a:ext cx="4688204" cy="2913221"/>
            <a:chOff x="6468428" y="2341245"/>
            <a:chExt cx="4688204" cy="2913221"/>
          </a:xfrm>
        </p:grpSpPr>
        <p:sp>
          <p:nvSpPr>
            <p:cNvPr id="27" name="Freeform 27"/>
            <p:cNvSpPr/>
            <p:nvPr/>
          </p:nvSpPr>
          <p:spPr>
            <a:xfrm>
              <a:off x="7110412" y="2531745"/>
              <a:ext cx="1331595" cy="9525"/>
            </a:xfrm>
            <a:custGeom>
              <a:avLst/>
              <a:gdLst/>
              <a:ahLst/>
              <a:cxnLst/>
              <a:rect l="l" t="t" r="r" b="b"/>
              <a:pathLst>
                <a:path w="1331595" h="9525">
                  <a:moveTo>
                    <a:pt x="0" y="0"/>
                  </a:moveTo>
                  <a:lnTo>
                    <a:pt x="1331595" y="0"/>
                  </a:lnTo>
                </a:path>
              </a:pathLst>
            </a:custGeom>
            <a:noFill/>
            <a:ln w="17145">
              <a:solidFill>
                <a:srgbClr val="1F2937"/>
              </a:solidFill>
            </a:ln>
          </p:spPr>
        </p:sp>
        <p:sp>
          <p:nvSpPr>
            <p:cNvPr id="28" name="Freeform 28"/>
            <p:cNvSpPr/>
            <p:nvPr/>
          </p:nvSpPr>
          <p:spPr>
            <a:xfrm>
              <a:off x="8442008" y="24841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927532" y="2733675"/>
              <a:ext cx="1594485" cy="1502092"/>
            </a:xfrm>
            <a:custGeom>
              <a:avLst/>
              <a:gdLst/>
              <a:ahLst/>
              <a:cxnLst/>
              <a:rect l="l" t="t" r="r" b="b"/>
              <a:pathLst>
                <a:path w="1594485" h="1502092">
                  <a:moveTo>
                    <a:pt x="0" y="1502092"/>
                  </a:moveTo>
                  <a:lnTo>
                    <a:pt x="1594485" y="0"/>
                  </a:lnTo>
                </a:path>
              </a:pathLst>
            </a:custGeom>
            <a:noFill/>
            <a:ln w="17145">
              <a:solidFill>
                <a:srgbClr val="1F2937"/>
              </a:solidFill>
            </a:ln>
          </p:spPr>
        </p:sp>
        <p:sp>
          <p:nvSpPr>
            <p:cNvPr id="30" name="Freeform 30"/>
            <p:cNvSpPr/>
            <p:nvPr/>
          </p:nvSpPr>
          <p:spPr>
            <a:xfrm>
              <a:off x="8489632" y="2668905"/>
              <a:ext cx="101918" cy="100012"/>
            </a:xfrm>
            <a:custGeom>
              <a:avLst/>
              <a:gdLst/>
              <a:ahLst/>
              <a:cxnLst/>
              <a:rect l="l" t="t" r="r" b="b"/>
              <a:pathLst>
                <a:path w="101918" h="100012">
                  <a:moveTo>
                    <a:pt x="101918" y="0"/>
                  </a:moveTo>
                  <a:lnTo>
                    <a:pt x="64770" y="100012"/>
                  </a:lnTo>
                  <a:lnTo>
                    <a:pt x="0" y="30480"/>
                  </a:lnTo>
                  <a:close/>
                </a:path>
              </a:pathLst>
            </a:custGeom>
            <a:solidFill>
              <a:srgbClr val="1F2937"/>
            </a:solidFill>
            <a:ln>
              <a:noFill/>
            </a:ln>
          </p:spPr>
        </p:sp>
        <p:sp>
          <p:nvSpPr>
            <p:cNvPr id="31" name="Freeform 31"/>
            <p:cNvSpPr/>
            <p:nvPr/>
          </p:nvSpPr>
          <p:spPr>
            <a:xfrm>
              <a:off x="6927532" y="2661285"/>
              <a:ext cx="1594485" cy="1502093"/>
            </a:xfrm>
            <a:custGeom>
              <a:avLst/>
              <a:gdLst/>
              <a:ahLst/>
              <a:cxnLst/>
              <a:rect l="l" t="t" r="r" b="b"/>
              <a:pathLst>
                <a:path w="1594485" h="1502093">
                  <a:moveTo>
                    <a:pt x="0" y="0"/>
                  </a:moveTo>
                  <a:lnTo>
                    <a:pt x="1594485" y="1502093"/>
                  </a:lnTo>
                </a:path>
              </a:pathLst>
            </a:custGeom>
            <a:noFill/>
            <a:ln w="17145">
              <a:solidFill>
                <a:srgbClr val="1F2937"/>
              </a:solidFill>
            </a:ln>
          </p:spPr>
        </p:sp>
        <p:sp>
          <p:nvSpPr>
            <p:cNvPr id="32" name="Freeform 32"/>
            <p:cNvSpPr/>
            <p:nvPr/>
          </p:nvSpPr>
          <p:spPr>
            <a:xfrm>
              <a:off x="8489632" y="4129088"/>
              <a:ext cx="101918" cy="100012"/>
            </a:xfrm>
            <a:custGeom>
              <a:avLst/>
              <a:gdLst/>
              <a:ahLst/>
              <a:cxnLst/>
              <a:rect l="l" t="t" r="r" b="b"/>
              <a:pathLst>
                <a:path w="101918" h="100012">
                  <a:moveTo>
                    <a:pt x="101918" y="100012"/>
                  </a:moveTo>
                  <a:lnTo>
                    <a:pt x="0" y="69533"/>
                  </a:lnTo>
                  <a:lnTo>
                    <a:pt x="64770" y="0"/>
                  </a:lnTo>
                  <a:close/>
                </a:path>
              </a:pathLst>
            </a:custGeom>
            <a:solidFill>
              <a:srgbClr val="1F2937"/>
            </a:solidFill>
            <a:ln>
              <a:noFill/>
            </a:ln>
          </p:spPr>
        </p:sp>
        <p:sp>
          <p:nvSpPr>
            <p:cNvPr id="33" name="Freeform 33"/>
            <p:cNvSpPr/>
            <p:nvPr/>
          </p:nvSpPr>
          <p:spPr>
            <a:xfrm>
              <a:off x="7110412" y="4366260"/>
              <a:ext cx="1331595" cy="9525"/>
            </a:xfrm>
            <a:custGeom>
              <a:avLst/>
              <a:gdLst/>
              <a:ahLst/>
              <a:cxnLst/>
              <a:rect l="l" t="t" r="r" b="b"/>
              <a:pathLst>
                <a:path w="1331595" h="9525">
                  <a:moveTo>
                    <a:pt x="0" y="0"/>
                  </a:moveTo>
                  <a:lnTo>
                    <a:pt x="1331595" y="0"/>
                  </a:lnTo>
                </a:path>
              </a:pathLst>
            </a:custGeom>
            <a:noFill/>
            <a:ln w="17145">
              <a:solidFill>
                <a:srgbClr val="1F2937"/>
              </a:solidFill>
            </a:ln>
          </p:spPr>
        </p:sp>
        <p:sp>
          <p:nvSpPr>
            <p:cNvPr id="34" name="Freeform 34"/>
            <p:cNvSpPr/>
            <p:nvPr/>
          </p:nvSpPr>
          <p:spPr>
            <a:xfrm>
              <a:off x="8442008" y="431863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5" name="Freeform 35"/>
            <p:cNvSpPr/>
            <p:nvPr/>
          </p:nvSpPr>
          <p:spPr>
            <a:xfrm>
              <a:off x="8937308" y="2531745"/>
              <a:ext cx="1396365" cy="9525"/>
            </a:xfrm>
            <a:custGeom>
              <a:avLst/>
              <a:gdLst/>
              <a:ahLst/>
              <a:cxnLst/>
              <a:rect l="l" t="t" r="r" b="b"/>
              <a:pathLst>
                <a:path w="1396365" h="9525">
                  <a:moveTo>
                    <a:pt x="0" y="0"/>
                  </a:moveTo>
                  <a:lnTo>
                    <a:pt x="1396365" y="0"/>
                  </a:lnTo>
                </a:path>
              </a:pathLst>
            </a:custGeom>
            <a:noFill/>
            <a:ln w="17145">
              <a:solidFill>
                <a:srgbClr val="1F2937"/>
              </a:solidFill>
            </a:ln>
          </p:spPr>
        </p:sp>
        <p:sp>
          <p:nvSpPr>
            <p:cNvPr id="36" name="Freeform 36"/>
            <p:cNvSpPr/>
            <p:nvPr/>
          </p:nvSpPr>
          <p:spPr>
            <a:xfrm>
              <a:off x="10333672" y="24841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7" name="Freeform 37"/>
            <p:cNvSpPr/>
            <p:nvPr/>
          </p:nvSpPr>
          <p:spPr>
            <a:xfrm>
              <a:off x="8937308" y="4366260"/>
              <a:ext cx="1396365" cy="9525"/>
            </a:xfrm>
            <a:custGeom>
              <a:avLst/>
              <a:gdLst/>
              <a:ahLst/>
              <a:cxnLst/>
              <a:rect l="l" t="t" r="r" b="b"/>
              <a:pathLst>
                <a:path w="1396365" h="9525">
                  <a:moveTo>
                    <a:pt x="0" y="0"/>
                  </a:moveTo>
                  <a:lnTo>
                    <a:pt x="1396365" y="0"/>
                  </a:lnTo>
                </a:path>
              </a:pathLst>
            </a:custGeom>
            <a:noFill/>
            <a:ln w="17145">
              <a:solidFill>
                <a:srgbClr val="1F2937"/>
              </a:solidFill>
            </a:ln>
          </p:spPr>
        </p:sp>
        <p:sp>
          <p:nvSpPr>
            <p:cNvPr id="38" name="Freeform 38"/>
            <p:cNvSpPr/>
            <p:nvPr/>
          </p:nvSpPr>
          <p:spPr>
            <a:xfrm>
              <a:off x="10333672" y="431863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9" name="Rectangle 39"/>
            <p:cNvSpPr/>
            <p:nvPr/>
          </p:nvSpPr>
          <p:spPr>
            <a:xfrm>
              <a:off x="6468428" y="2401252"/>
              <a:ext cx="641032" cy="260032"/>
            </a:xfrm>
            <a:prstGeom prst="roundRect">
              <a:avLst>
                <a:gd name="adj" fmla="val 36630"/>
              </a:avLst>
            </a:prstGeom>
            <a:solidFill>
              <a:srgbClr val="FFFFFF"/>
            </a:solidFill>
            <a:ln w="17145">
              <a:solidFill>
                <a:srgbClr val="0E7C86"/>
              </a:solidFill>
            </a:ln>
          </p:spPr>
        </p:sp>
        <p:sp>
          <p:nvSpPr>
            <p:cNvPr id="40" name="Rectangle 40"/>
            <p:cNvSpPr/>
            <p:nvPr/>
          </p:nvSpPr>
          <p:spPr>
            <a:xfrm>
              <a:off x="6468428" y="4235768"/>
              <a:ext cx="641032" cy="260032"/>
            </a:xfrm>
            <a:prstGeom prst="roundRect">
              <a:avLst>
                <a:gd name="adj" fmla="val 36630"/>
              </a:avLst>
            </a:prstGeom>
            <a:solidFill>
              <a:srgbClr val="FFFFFF"/>
            </a:solidFill>
            <a:ln w="17145">
              <a:solidFill>
                <a:srgbClr val="0E7C86"/>
              </a:solidFill>
            </a:ln>
          </p:spPr>
        </p:sp>
        <p:sp>
          <p:nvSpPr>
            <p:cNvPr id="41" name="Ellipse 41"/>
            <p:cNvSpPr/>
            <p:nvPr/>
          </p:nvSpPr>
          <p:spPr>
            <a:xfrm>
              <a:off x="8546782" y="2341245"/>
              <a:ext cx="381000" cy="381000"/>
            </a:xfrm>
            <a:prstGeom prst="ellipse">
              <a:avLst/>
            </a:prstGeom>
            <a:solidFill>
              <a:srgbClr val="0E7C86"/>
            </a:solidFill>
            <a:ln w="17145">
              <a:solidFill>
                <a:srgbClr val="0E7C86"/>
              </a:solidFill>
            </a:ln>
          </p:spPr>
        </p:sp>
        <p:sp>
          <p:nvSpPr>
            <p:cNvPr id="42" name="Ellipse 42"/>
            <p:cNvSpPr/>
            <p:nvPr/>
          </p:nvSpPr>
          <p:spPr>
            <a:xfrm>
              <a:off x="8546782" y="4175760"/>
              <a:ext cx="381000" cy="381000"/>
            </a:xfrm>
            <a:prstGeom prst="ellipse">
              <a:avLst/>
            </a:prstGeom>
            <a:solidFill>
              <a:srgbClr val="0E7C86"/>
            </a:solidFill>
            <a:ln w="17145">
              <a:solidFill>
                <a:srgbClr val="0E7C86"/>
              </a:solidFill>
            </a:ln>
          </p:spPr>
        </p:sp>
        <p:sp>
          <p:nvSpPr>
            <p:cNvPr id="43" name="Rectangle 43"/>
            <p:cNvSpPr/>
            <p:nvPr/>
          </p:nvSpPr>
          <p:spPr>
            <a:xfrm>
              <a:off x="10428922" y="2409825"/>
              <a:ext cx="727710" cy="242888"/>
            </a:xfrm>
            <a:prstGeom prst="roundRect">
              <a:avLst>
                <a:gd name="adj" fmla="val 39216"/>
              </a:avLst>
            </a:prstGeom>
            <a:solidFill>
              <a:srgbClr val="FFFFFF"/>
            </a:solidFill>
            <a:ln w="17145">
              <a:solidFill>
                <a:srgbClr val="0E7C86"/>
              </a:solidFill>
            </a:ln>
          </p:spPr>
        </p:sp>
        <p:sp>
          <p:nvSpPr>
            <p:cNvPr id="44" name="Rectangle 44"/>
            <p:cNvSpPr/>
            <p:nvPr/>
          </p:nvSpPr>
          <p:spPr>
            <a:xfrm>
              <a:off x="10428922" y="4244340"/>
              <a:ext cx="727710" cy="242888"/>
            </a:xfrm>
            <a:prstGeom prst="roundRect">
              <a:avLst>
                <a:gd name="adj" fmla="val 39216"/>
              </a:avLst>
            </a:prstGeom>
            <a:solidFill>
              <a:srgbClr val="FFFFFF"/>
            </a:solidFill>
            <a:ln w="17145">
              <a:solidFill>
                <a:srgbClr val="0E7C86"/>
              </a:solidFill>
            </a:ln>
          </p:spPr>
        </p:sp>
        <p:sp>
          <p:nvSpPr>
            <p:cNvPr id="45" name="TextBox 45"/>
            <p:cNvSpPr txBox="1"/>
            <p:nvPr/>
          </p:nvSpPr>
          <p:spPr>
            <a:xfrm>
              <a:off x="6562067" y="2461736"/>
              <a:ext cx="454707"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x₁ = 1</a:t>
              </a:r>
            </a:p>
          </p:txBody>
        </p:sp>
        <p:sp>
          <p:nvSpPr>
            <p:cNvPr id="46" name="TextBox 46"/>
            <p:cNvSpPr txBox="1"/>
            <p:nvPr/>
          </p:nvSpPr>
          <p:spPr>
            <a:xfrm>
              <a:off x="6518531" y="4296251"/>
              <a:ext cx="54177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x₂ = −1</a:t>
              </a:r>
            </a:p>
          </p:txBody>
        </p:sp>
        <p:sp>
          <p:nvSpPr>
            <p:cNvPr id="47" name="TextBox 47"/>
            <p:cNvSpPr txBox="1"/>
            <p:nvPr/>
          </p:nvSpPr>
          <p:spPr>
            <a:xfrm>
              <a:off x="8644495" y="2461736"/>
              <a:ext cx="185574"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z₁</a:t>
              </a:r>
            </a:p>
          </p:txBody>
        </p:sp>
        <p:sp>
          <p:nvSpPr>
            <p:cNvPr id="48" name="TextBox 48"/>
            <p:cNvSpPr txBox="1"/>
            <p:nvPr/>
          </p:nvSpPr>
          <p:spPr>
            <a:xfrm>
              <a:off x="8644495" y="4296251"/>
              <a:ext cx="185574"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z₂</a:t>
              </a:r>
            </a:p>
          </p:txBody>
        </p:sp>
        <p:sp>
          <p:nvSpPr>
            <p:cNvPr id="49" name="TextBox 49"/>
            <p:cNvSpPr txBox="1"/>
            <p:nvPr/>
          </p:nvSpPr>
          <p:spPr>
            <a:xfrm>
              <a:off x="10434816" y="2461736"/>
              <a:ext cx="71592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a₁ = 0.98</a:t>
              </a:r>
            </a:p>
          </p:txBody>
        </p:sp>
        <p:sp>
          <p:nvSpPr>
            <p:cNvPr id="50" name="TextBox 50"/>
            <p:cNvSpPr txBox="1"/>
            <p:nvPr/>
          </p:nvSpPr>
          <p:spPr>
            <a:xfrm>
              <a:off x="10434816" y="4296251"/>
              <a:ext cx="71592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a₂ = 0.12</a:t>
              </a:r>
            </a:p>
          </p:txBody>
        </p:sp>
        <p:sp>
          <p:nvSpPr>
            <p:cNvPr id="51" name="Rectangle 51"/>
            <p:cNvSpPr/>
            <p:nvPr/>
          </p:nvSpPr>
          <p:spPr>
            <a:xfrm>
              <a:off x="7711440" y="2446020"/>
              <a:ext cx="224790" cy="160020"/>
            </a:xfrm>
            <a:prstGeom prst="roundRect">
              <a:avLst>
                <a:gd name="adj" fmla="val 23810"/>
              </a:avLst>
            </a:prstGeom>
            <a:solidFill>
              <a:srgbClr val="FFFFFF"/>
            </a:solidFill>
            <a:ln>
              <a:noFill/>
            </a:ln>
          </p:spPr>
        </p:sp>
        <p:sp>
          <p:nvSpPr>
            <p:cNvPr id="52" name="TextBox 52"/>
            <p:cNvSpPr txBox="1"/>
            <p:nvPr/>
          </p:nvSpPr>
          <p:spPr>
            <a:xfrm>
              <a:off x="7740320" y="2477452"/>
              <a:ext cx="167030" cy="176212"/>
            </a:xfrm>
            <a:prstGeom prst="rect">
              <a:avLst/>
            </a:prstGeom>
            <a:noFill/>
            <a:ln>
              <a:noFill/>
            </a:ln>
          </p:spPr>
          <p:txBody>
            <a:bodyPr wrap="none" lIns="0" tIns="0" rIns="0" bIns="0" anchor="t" anchorCtr="0">
              <a:spAutoFit/>
            </a:bodyPr>
            <a:lstStyle/>
            <a:p>
              <a:pPr algn="ctr"/>
              <a:r>
                <a:rPr lang="en-US" sz="900" dirty="0">
                  <a:solidFill>
                    <a:srgbClr val="C2410C"/>
                  </a:solidFill>
                  <a:latin typeface="+mn-lt"/>
                  <a:ea typeface="+mn-ea"/>
                  <a:cs typeface="+mn-cs"/>
                </a:rPr>
                <a:t>w₁</a:t>
              </a:r>
            </a:p>
          </p:txBody>
        </p:sp>
        <p:sp>
          <p:nvSpPr>
            <p:cNvPr id="53" name="Rectangle 53"/>
            <p:cNvSpPr/>
            <p:nvPr/>
          </p:nvSpPr>
          <p:spPr>
            <a:xfrm>
              <a:off x="7646670" y="3366135"/>
              <a:ext cx="224790" cy="160020"/>
            </a:xfrm>
            <a:prstGeom prst="roundRect">
              <a:avLst>
                <a:gd name="adj" fmla="val 23810"/>
              </a:avLst>
            </a:prstGeom>
            <a:solidFill>
              <a:srgbClr val="FFFFFF"/>
            </a:solidFill>
            <a:ln>
              <a:noFill/>
            </a:ln>
          </p:spPr>
        </p:sp>
        <p:sp>
          <p:nvSpPr>
            <p:cNvPr id="54" name="TextBox 54"/>
            <p:cNvSpPr txBox="1"/>
            <p:nvPr/>
          </p:nvSpPr>
          <p:spPr>
            <a:xfrm>
              <a:off x="7675550" y="3398520"/>
              <a:ext cx="167030" cy="176212"/>
            </a:xfrm>
            <a:prstGeom prst="rect">
              <a:avLst/>
            </a:prstGeom>
            <a:noFill/>
            <a:ln>
              <a:noFill/>
            </a:ln>
          </p:spPr>
          <p:txBody>
            <a:bodyPr wrap="none" lIns="0" tIns="0" rIns="0" bIns="0" anchor="t" anchorCtr="0">
              <a:spAutoFit/>
            </a:bodyPr>
            <a:lstStyle/>
            <a:p>
              <a:pPr algn="ctr"/>
              <a:r>
                <a:rPr lang="en-US" sz="900" dirty="0">
                  <a:solidFill>
                    <a:srgbClr val="C2410C"/>
                  </a:solidFill>
                  <a:latin typeface="+mn-lt"/>
                  <a:ea typeface="+mn-ea"/>
                  <a:cs typeface="+mn-cs"/>
                </a:rPr>
                <a:t>w₂</a:t>
              </a:r>
            </a:p>
          </p:txBody>
        </p:sp>
        <p:sp>
          <p:nvSpPr>
            <p:cNvPr id="55" name="Rectangle 55"/>
            <p:cNvSpPr/>
            <p:nvPr/>
          </p:nvSpPr>
          <p:spPr>
            <a:xfrm>
              <a:off x="9613582" y="2446020"/>
              <a:ext cx="139065" cy="160020"/>
            </a:xfrm>
            <a:prstGeom prst="roundRect">
              <a:avLst>
                <a:gd name="adj" fmla="val 27397"/>
              </a:avLst>
            </a:prstGeom>
            <a:solidFill>
              <a:srgbClr val="FFFFFF"/>
            </a:solidFill>
            <a:ln>
              <a:noFill/>
            </a:ln>
          </p:spPr>
        </p:sp>
        <p:sp>
          <p:nvSpPr>
            <p:cNvPr id="56" name="TextBox 56"/>
            <p:cNvSpPr txBox="1"/>
            <p:nvPr/>
          </p:nvSpPr>
          <p:spPr>
            <a:xfrm>
              <a:off x="9645034" y="2477452"/>
              <a:ext cx="76162" cy="176212"/>
            </a:xfrm>
            <a:prstGeom prst="rect">
              <a:avLst/>
            </a:prstGeom>
            <a:noFill/>
            <a:ln>
              <a:noFill/>
            </a:ln>
          </p:spPr>
          <p:txBody>
            <a:bodyPr wrap="none" lIns="0" tIns="0" rIns="0" bIns="0" anchor="t" anchorCtr="0">
              <a:spAutoFit/>
            </a:bodyPr>
            <a:lstStyle/>
            <a:p>
              <a:pPr algn="ctr"/>
              <a:r>
                <a:rPr lang="el-GR" sz="900" dirty="0">
                  <a:solidFill>
                    <a:srgbClr val="C2410C"/>
                  </a:solidFill>
                  <a:latin typeface="+mn-lt"/>
                  <a:ea typeface="+mn-ea"/>
                  <a:cs typeface="+mn-cs"/>
                </a:rPr>
                <a:t>σ</a:t>
              </a:r>
            </a:p>
          </p:txBody>
        </p:sp>
        <p:sp>
          <p:nvSpPr>
            <p:cNvPr id="57" name="Rectangle 57"/>
            <p:cNvSpPr/>
            <p:nvPr/>
          </p:nvSpPr>
          <p:spPr>
            <a:xfrm>
              <a:off x="9613582" y="4280535"/>
              <a:ext cx="139065" cy="160020"/>
            </a:xfrm>
            <a:prstGeom prst="roundRect">
              <a:avLst>
                <a:gd name="adj" fmla="val 27397"/>
              </a:avLst>
            </a:prstGeom>
            <a:solidFill>
              <a:srgbClr val="FFFFFF"/>
            </a:solidFill>
            <a:ln>
              <a:noFill/>
            </a:ln>
          </p:spPr>
        </p:sp>
        <p:sp>
          <p:nvSpPr>
            <p:cNvPr id="58" name="TextBox 58"/>
            <p:cNvSpPr txBox="1"/>
            <p:nvPr/>
          </p:nvSpPr>
          <p:spPr>
            <a:xfrm>
              <a:off x="9645034" y="4311968"/>
              <a:ext cx="76162" cy="176212"/>
            </a:xfrm>
            <a:prstGeom prst="rect">
              <a:avLst/>
            </a:prstGeom>
            <a:noFill/>
            <a:ln>
              <a:noFill/>
            </a:ln>
          </p:spPr>
          <p:txBody>
            <a:bodyPr wrap="none" lIns="0" tIns="0" rIns="0" bIns="0" anchor="t" anchorCtr="0">
              <a:spAutoFit/>
            </a:bodyPr>
            <a:lstStyle/>
            <a:p>
              <a:pPr algn="ctr"/>
              <a:r>
                <a:rPr lang="el-GR" sz="900" dirty="0">
                  <a:solidFill>
                    <a:srgbClr val="C2410C"/>
                  </a:solidFill>
                  <a:latin typeface="+mn-lt"/>
                  <a:ea typeface="+mn-ea"/>
                  <a:cs typeface="+mn-cs"/>
                </a:rPr>
                <a:t>σ</a:t>
              </a:r>
            </a:p>
          </p:txBody>
        </p:sp>
        <p:sp>
          <p:nvSpPr>
            <p:cNvPr id="59" name="TextBox 59"/>
            <p:cNvSpPr txBox="1"/>
            <p:nvPr/>
          </p:nvSpPr>
          <p:spPr>
            <a:xfrm>
              <a:off x="7162971" y="5092541"/>
              <a:ext cx="1416977"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这条连接的 ∂z/∂w = x₂ = −1</a:t>
              </a:r>
            </a:p>
          </p:txBody>
        </p:sp>
        <p:sp>
          <p:nvSpPr>
            <p:cNvPr id="60" name="TextBox 60"/>
            <p:cNvSpPr txBox="1"/>
            <p:nvPr/>
          </p:nvSpPr>
          <p:spPr>
            <a:xfrm>
              <a:off x="9209340" y="5092541"/>
              <a:ext cx="186957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下一层这条连接的 ∂z/∂w = a₂ = 0.12</a:t>
              </a:r>
            </a:p>
          </p:txBody>
        </p:sp>
      </p:grpSp>
      <p:grpSp>
        <p:nvGrpSpPr>
          <p:cNvPr id="67" name="takeaway"/>
          <p:cNvGrpSpPr/>
          <p:nvPr/>
        </p:nvGrpSpPr>
        <p:grpSpPr>
          <a:xfrm>
            <a:off x="533400" y="5874068"/>
            <a:ext cx="11125200" cy="488632"/>
            <a:chOff x="533400" y="5874068"/>
            <a:chExt cx="11125200" cy="488632"/>
          </a:xfrm>
        </p:grpSpPr>
        <p:sp>
          <p:nvSpPr>
            <p:cNvPr id="62" name="Rectangle 62"/>
            <p:cNvSpPr/>
            <p:nvPr/>
          </p:nvSpPr>
          <p:spPr>
            <a:xfrm>
              <a:off x="533400" y="5874068"/>
              <a:ext cx="11125200" cy="488632"/>
            </a:xfrm>
            <a:prstGeom prst="roundRect">
              <a:avLst>
                <a:gd name="adj" fmla="val 23392"/>
              </a:avLst>
            </a:prstGeom>
            <a:solidFill>
              <a:srgbClr val="0E7C86"/>
            </a:solidFill>
            <a:ln>
              <a:noFill/>
            </a:ln>
          </p:spPr>
        </p:sp>
        <p:grpSp>
          <p:nvGrpSpPr>
            <p:cNvPr id="65" name="Group 65"/>
            <p:cNvGrpSpPr/>
            <p:nvPr/>
          </p:nvGrpSpPr>
          <p:grpSpPr>
            <a:xfrm>
              <a:off x="738188" y="6017897"/>
              <a:ext cx="200023" cy="200023"/>
              <a:chOff x="738188" y="6017897"/>
              <a:chExt cx="200023" cy="200023"/>
            </a:xfrm>
          </p:grpSpPr>
          <p:sp>
            <p:nvSpPr>
              <p:cNvPr id="63" name="Freeform 63"/>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892" y="6023610"/>
              <a:ext cx="569299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一句话记住：某个权的 ∂z/∂w，等于这个权左端那根线上流过的数值。</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22346" cy="909257"/>
            <a:chOff x="520446" y="342900"/>
            <a:chExt cx="7322346"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732234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后向过程：一个神经元的 ∂l/∂z 由它的下游决定</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842635" cy="1925002"/>
            <a:chOff x="533400" y="1524000"/>
            <a:chExt cx="5842635" cy="1925002"/>
          </a:xfrm>
        </p:grpSpPr>
        <p:sp>
          <p:nvSpPr>
            <p:cNvPr id="7" name="Rectangle 7"/>
            <p:cNvSpPr/>
            <p:nvPr/>
          </p:nvSpPr>
          <p:spPr>
            <a:xfrm>
              <a:off x="533400" y="1524000"/>
              <a:ext cx="5842635" cy="1925002"/>
            </a:xfrm>
            <a:prstGeom prst="roundRect">
              <a:avLst>
                <a:gd name="adj" fmla="val 6927"/>
              </a:avLst>
            </a:prstGeom>
            <a:solidFill>
              <a:srgbClr val="FFFFFF"/>
            </a:solidFill>
            <a:ln w="14288">
              <a:solidFill>
                <a:srgbClr val="D9DFEA"/>
              </a:solidFill>
            </a:ln>
          </p:spPr>
        </p:sp>
        <p:sp>
          <p:nvSpPr>
            <p:cNvPr id="8" name="Rectangle 8"/>
            <p:cNvSpPr/>
            <p:nvPr/>
          </p:nvSpPr>
          <p:spPr>
            <a:xfrm>
              <a:off x="542925" y="1657350"/>
              <a:ext cx="47625" cy="1658302"/>
            </a:xfrm>
            <a:prstGeom prst="roundRect">
              <a:avLst>
                <a:gd name="adj" fmla="val 50000"/>
              </a:avLst>
            </a:prstGeom>
            <a:solidFill>
              <a:srgbClr val="F26B3A"/>
            </a:solidFill>
            <a:ln>
              <a:noFill/>
            </a:ln>
          </p:spPr>
        </p:sp>
        <p:sp>
          <p:nvSpPr>
            <p:cNvPr id="9" name="Rectangle 9"/>
            <p:cNvSpPr/>
            <p:nvPr/>
          </p:nvSpPr>
          <p:spPr>
            <a:xfrm>
              <a:off x="752475" y="1704975"/>
              <a:ext cx="582930" cy="238125"/>
            </a:xfrm>
            <a:prstGeom prst="roundRect">
              <a:avLst>
                <a:gd name="adj" fmla="val 50000"/>
              </a:avLst>
            </a:prstGeom>
            <a:solidFill>
              <a:srgbClr val="FDEEE7"/>
            </a:solidFill>
            <a:ln>
              <a:noFill/>
            </a:ln>
          </p:spPr>
        </p:sp>
        <p:sp>
          <p:nvSpPr>
            <p:cNvPr id="10" name="TextBox 10"/>
            <p:cNvSpPr txBox="1"/>
            <p:nvPr/>
          </p:nvSpPr>
          <p:spPr>
            <a:xfrm>
              <a:off x="841096" y="1737836"/>
              <a:ext cx="405689"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递推式</a:t>
              </a:r>
            </a:p>
          </p:txBody>
        </p:sp>
        <p:sp>
          <p:nvSpPr>
            <p:cNvPr id="11" name="TextBox 11"/>
            <p:cNvSpPr txBox="1"/>
            <p:nvPr/>
          </p:nvSpPr>
          <p:spPr>
            <a:xfrm>
              <a:off x="1443228" y="1744504"/>
              <a:ext cx="121914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非输出层神经元</a:t>
              </a:r>
            </a:p>
          </p:txBody>
        </p:sp>
        <p:sp>
          <p:nvSpPr>
            <p:cNvPr id="12" name="TextBox 12"/>
            <p:cNvSpPr txBox="1"/>
            <p:nvPr/>
          </p:nvSpPr>
          <p:spPr>
            <a:xfrm>
              <a:off x="745998" y="2061686"/>
              <a:ext cx="490601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设 z 经激活得到 a = σ(z)，a 又通过权 w₃、w₄ 送给下一层的 z′ 和</a:t>
              </a:r>
              <a:br/>
              <a:r>
                <a:rPr lang="zh-CN" sz="1280" dirty="0">
                  <a:solidFill>
                    <a:srgbClr val="1F2937"/>
                  </a:solidFill>
                  <a:latin typeface="+mn-lt"/>
                  <a:ea typeface="+mn-ea"/>
                  <a:cs typeface="+mn-cs"/>
                </a:rPr>
                <a:t>z″，则由链式法则（情形 2）</a:t>
              </a:r>
            </a:p>
          </p:txBody>
        </p:sp>
        <mc:AlternateContent xmlns:mc="http://schemas.openxmlformats.org/markup-compatibility/2006">
          <mc:Choice xmlns:a14="http://schemas.microsoft.com/office/drawing/2010/main" Requires="a14">
            <p:sp>
              <p:nvSpPr>
                <p:cNvPr id="13" name="formula131"/>
                <p:cNvSpPr txBox="1">
                  <a:spLocks noGrp="1"/>
                </p:cNvSpPr>
                <p:nvPr/>
              </p:nvSpPr>
              <p:spPr>
                <a:xfrm>
                  <a:off x="752475" y="2567940"/>
                  <a:ext cx="5442585"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σ'</m:t>
                        </m:r>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z</m:t>
                            </m:r>
                          </m:e>
                        </m:d>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3</m:t>
                                </m:r>
                              </m:sub>
                            </m:sSub>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4</m:t>
                                </m:r>
                              </m:sub>
                            </m:sSub>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e>
                        </m:d>
                      </m:oMath>
                    </m:oMathPara>
                  </a14:m>
                </a:p>
              </p:txBody>
            </p:sp>
          </mc:Choice>
        </mc:AlternateContent>
        <p:sp>
          <p:nvSpPr>
            <p:cNvPr id="14" name="TextBox 14"/>
            <p:cNvSpPr txBox="1"/>
            <p:nvPr/>
          </p:nvSpPr>
          <p:spPr>
            <a:xfrm>
              <a:off x="747141" y="3103245"/>
              <a:ext cx="415932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 xml:space="preserve">σ'(z) 在前向过程中已经算出来了，对反向过程来说是一个 </a:t>
              </a:r>
              <a:r>
                <a:rPr lang="zh-CN" sz="1050" b="1" dirty="0">
                  <a:solidFill>
                    <a:srgbClr val="C2410C"/>
                  </a:solidFill>
                  <a:latin typeface="+mn-lt"/>
                  <a:ea typeface="+mn-ea"/>
                  <a:cs typeface="+mn-cs"/>
                </a:rPr>
                <a:t>常数</a:t>
              </a:r>
              <a:r>
                <a:rPr lang="zh-CN" sz="1050" dirty="0">
                  <a:solidFill>
                    <a:srgbClr val="5B6475"/>
                  </a:solidFill>
                  <a:latin typeface="+mn-lt"/>
                  <a:ea typeface="+mn-ea"/>
                  <a:cs typeface="+mn-cs"/>
                </a:rPr>
                <a:t>。</a:t>
              </a:r>
            </a:p>
          </p:txBody>
        </p:sp>
      </p:grpSp>
      <p:grpSp>
        <p:nvGrpSpPr>
          <p:cNvPr id="24" name="c1-card-2"/>
          <p:cNvGrpSpPr/>
          <p:nvPr/>
        </p:nvGrpSpPr>
        <p:grpSpPr>
          <a:xfrm>
            <a:off x="533400" y="3613785"/>
            <a:ext cx="5842635" cy="1963102"/>
            <a:chOff x="533400" y="3613785"/>
            <a:chExt cx="5842635" cy="1963102"/>
          </a:xfrm>
        </p:grpSpPr>
        <p:sp>
          <p:nvSpPr>
            <p:cNvPr id="16" name="Rectangle 16"/>
            <p:cNvSpPr/>
            <p:nvPr/>
          </p:nvSpPr>
          <p:spPr>
            <a:xfrm>
              <a:off x="533400" y="3613785"/>
              <a:ext cx="5842635" cy="1963102"/>
            </a:xfrm>
            <a:prstGeom prst="roundRect">
              <a:avLst>
                <a:gd name="adj" fmla="val 6793"/>
              </a:avLst>
            </a:prstGeom>
            <a:solidFill>
              <a:srgbClr val="FFFFFF"/>
            </a:solidFill>
            <a:ln w="14288">
              <a:solidFill>
                <a:srgbClr val="D9DFEA"/>
              </a:solidFill>
            </a:ln>
          </p:spPr>
        </p:sp>
        <p:sp>
          <p:nvSpPr>
            <p:cNvPr id="17" name="Rectangle 17"/>
            <p:cNvSpPr/>
            <p:nvPr/>
          </p:nvSpPr>
          <p:spPr>
            <a:xfrm>
              <a:off x="542925" y="3747135"/>
              <a:ext cx="47625" cy="1696402"/>
            </a:xfrm>
            <a:prstGeom prst="roundRect">
              <a:avLst>
                <a:gd name="adj" fmla="val 50000"/>
              </a:avLst>
            </a:prstGeom>
            <a:solidFill>
              <a:srgbClr val="0E7C86"/>
            </a:solidFill>
            <a:ln>
              <a:noFill/>
            </a:ln>
          </p:spPr>
        </p:sp>
        <p:sp>
          <p:nvSpPr>
            <p:cNvPr id="18" name="Rectangle 18"/>
            <p:cNvSpPr/>
            <p:nvPr/>
          </p:nvSpPr>
          <p:spPr>
            <a:xfrm>
              <a:off x="752475" y="3794760"/>
              <a:ext cx="707708" cy="238125"/>
            </a:xfrm>
            <a:prstGeom prst="roundRect">
              <a:avLst>
                <a:gd name="adj" fmla="val 50000"/>
              </a:avLst>
            </a:prstGeom>
            <a:solidFill>
              <a:srgbClr val="E2F3F4"/>
            </a:solidFill>
            <a:ln>
              <a:noFill/>
            </a:ln>
          </p:spPr>
        </p:sp>
        <p:sp>
          <p:nvSpPr>
            <p:cNvPr id="19" name="TextBox 19"/>
            <p:cNvSpPr txBox="1"/>
            <p:nvPr/>
          </p:nvSpPr>
          <p:spPr>
            <a:xfrm>
              <a:off x="837044" y="3827621"/>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边界条件</a:t>
              </a:r>
            </a:p>
          </p:txBody>
        </p:sp>
        <p:sp>
          <p:nvSpPr>
            <p:cNvPr id="20" name="TextBox 20"/>
            <p:cNvSpPr txBox="1"/>
            <p:nvPr/>
          </p:nvSpPr>
          <p:spPr>
            <a:xfrm>
              <a:off x="1568006" y="3834289"/>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输出层神经元</a:t>
              </a:r>
            </a:p>
          </p:txBody>
        </p:sp>
        <p:sp>
          <p:nvSpPr>
            <p:cNvPr id="21" name="TextBox 21"/>
            <p:cNvSpPr txBox="1"/>
            <p:nvPr/>
          </p:nvSpPr>
          <p:spPr>
            <a:xfrm>
              <a:off x="745998" y="4150519"/>
              <a:ext cx="313183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输出层的 z′ 直接决定最终输出 y₁，所以</a:t>
              </a:r>
            </a:p>
          </p:txBody>
        </p:sp>
        <mc:AlternateContent xmlns:mc="http://schemas.openxmlformats.org/markup-compatibility/2006">
          <mc:Choice xmlns:a14="http://schemas.microsoft.com/office/drawing/2010/main" Requires="a14">
            <p:sp>
              <p:nvSpPr>
                <p:cNvPr id="22" name="formula132"/>
                <p:cNvSpPr txBox="1">
                  <a:spLocks noGrp="1"/>
                </p:cNvSpPr>
                <p:nvPr/>
              </p:nvSpPr>
              <p:spPr>
                <a:xfrm>
                  <a:off x="752475" y="4414838"/>
                  <a:ext cx="5442585"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1</m:t>
                                </m:r>
                              </m:sub>
                            </m:sSub>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1</m:t>
                                </m:r>
                              </m:sub>
                            </m:sSub>
                          </m:den>
                        </m:f>
                      </m:oMath>
                    </m:oMathPara>
                  </a14:m>
                </a:p>
              </p:txBody>
            </p:sp>
          </mc:Choice>
        </mc:AlternateContent>
        <p:sp>
          <p:nvSpPr>
            <p:cNvPr id="23" name="TextBox 23"/>
            <p:cNvSpPr txBox="1"/>
            <p:nvPr/>
          </p:nvSpPr>
          <p:spPr>
            <a:xfrm>
              <a:off x="745998" y="4953476"/>
              <a:ext cx="50523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两个因子都是现成的：前者是激活函数的导数，后者由损失函数直接给</a:t>
              </a:r>
              <a:br/>
              <a:r>
                <a:rPr lang="zh-CN" sz="1280" dirty="0">
                  <a:solidFill>
                    <a:srgbClr val="1F2937"/>
                  </a:solidFill>
                  <a:latin typeface="+mn-lt"/>
                  <a:ea typeface="+mn-ea"/>
                  <a:cs typeface="+mn-cs"/>
                </a:rPr>
                <a:t>出。</a:t>
              </a:r>
            </a:p>
          </p:txBody>
        </p:sp>
      </p:grpSp>
      <p:grpSp>
        <p:nvGrpSpPr>
          <p:cNvPr id="53" name="c2-graph-1"/>
          <p:cNvGrpSpPr/>
          <p:nvPr/>
        </p:nvGrpSpPr>
        <p:grpSpPr>
          <a:xfrm>
            <a:off x="7197090" y="1602105"/>
            <a:ext cx="3547110" cy="1786890"/>
            <a:chOff x="7197090" y="1602105"/>
            <a:chExt cx="3547110" cy="1786890"/>
          </a:xfrm>
        </p:grpSpPr>
        <p:sp>
          <p:nvSpPr>
            <p:cNvPr id="25" name="Freeform 25"/>
            <p:cNvSpPr/>
            <p:nvPr/>
          </p:nvSpPr>
          <p:spPr>
            <a:xfrm>
              <a:off x="7568565" y="2495550"/>
              <a:ext cx="792480" cy="9525"/>
            </a:xfrm>
            <a:custGeom>
              <a:avLst/>
              <a:gdLst/>
              <a:ahLst/>
              <a:cxnLst/>
              <a:rect l="l" t="t" r="r" b="b"/>
              <a:pathLst>
                <a:path w="792480" h="9525">
                  <a:moveTo>
                    <a:pt x="0" y="0"/>
                  </a:moveTo>
                  <a:lnTo>
                    <a:pt x="792480" y="0"/>
                  </a:lnTo>
                </a:path>
              </a:pathLst>
            </a:custGeom>
            <a:noFill/>
            <a:ln w="17145">
              <a:solidFill>
                <a:srgbClr val="1F2937"/>
              </a:solidFill>
            </a:ln>
          </p:spPr>
        </p:sp>
        <p:sp>
          <p:nvSpPr>
            <p:cNvPr id="26" name="Freeform 26"/>
            <p:cNvSpPr/>
            <p:nvPr/>
          </p:nvSpPr>
          <p:spPr>
            <a:xfrm>
              <a:off x="8361045" y="244792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7" name="Freeform 27"/>
            <p:cNvSpPr/>
            <p:nvPr/>
          </p:nvSpPr>
          <p:spPr>
            <a:xfrm>
              <a:off x="9087802" y="2001202"/>
              <a:ext cx="1203960" cy="391477"/>
            </a:xfrm>
            <a:custGeom>
              <a:avLst/>
              <a:gdLst/>
              <a:ahLst/>
              <a:cxnLst/>
              <a:rect l="l" t="t" r="r" b="b"/>
              <a:pathLst>
                <a:path w="1203960" h="391477">
                  <a:moveTo>
                    <a:pt x="0" y="391477"/>
                  </a:moveTo>
                  <a:lnTo>
                    <a:pt x="1203960" y="0"/>
                  </a:lnTo>
                </a:path>
              </a:pathLst>
            </a:custGeom>
            <a:noFill/>
            <a:ln w="17145">
              <a:solidFill>
                <a:srgbClr val="1F2937"/>
              </a:solidFill>
            </a:ln>
          </p:spPr>
        </p:sp>
        <p:sp>
          <p:nvSpPr>
            <p:cNvPr id="28" name="Freeform 28"/>
            <p:cNvSpPr/>
            <p:nvPr/>
          </p:nvSpPr>
          <p:spPr>
            <a:xfrm>
              <a:off x="10277475" y="1955482"/>
              <a:ext cx="104775" cy="90488"/>
            </a:xfrm>
            <a:custGeom>
              <a:avLst/>
              <a:gdLst/>
              <a:ahLst/>
              <a:cxnLst/>
              <a:rect l="l" t="t" r="r" b="b"/>
              <a:pathLst>
                <a:path w="104775" h="90488">
                  <a:moveTo>
                    <a:pt x="104775" y="16192"/>
                  </a:moveTo>
                  <a:lnTo>
                    <a:pt x="29527" y="90488"/>
                  </a:lnTo>
                  <a:lnTo>
                    <a:pt x="0" y="0"/>
                  </a:lnTo>
                  <a:close/>
                </a:path>
              </a:pathLst>
            </a:custGeom>
            <a:solidFill>
              <a:srgbClr val="1F2937"/>
            </a:solidFill>
            <a:ln>
              <a:noFill/>
            </a:ln>
          </p:spPr>
        </p:sp>
        <p:sp>
          <p:nvSpPr>
            <p:cNvPr id="29" name="Freeform 29"/>
            <p:cNvSpPr/>
            <p:nvPr/>
          </p:nvSpPr>
          <p:spPr>
            <a:xfrm>
              <a:off x="9087802" y="2598420"/>
              <a:ext cx="1203960" cy="391477"/>
            </a:xfrm>
            <a:custGeom>
              <a:avLst/>
              <a:gdLst/>
              <a:ahLst/>
              <a:cxnLst/>
              <a:rect l="l" t="t" r="r" b="b"/>
              <a:pathLst>
                <a:path w="1203960" h="391477">
                  <a:moveTo>
                    <a:pt x="0" y="0"/>
                  </a:moveTo>
                  <a:lnTo>
                    <a:pt x="1203960" y="391477"/>
                  </a:lnTo>
                </a:path>
              </a:pathLst>
            </a:custGeom>
            <a:noFill/>
            <a:ln w="17145">
              <a:solidFill>
                <a:srgbClr val="1F2937"/>
              </a:solidFill>
            </a:ln>
          </p:spPr>
        </p:sp>
        <p:sp>
          <p:nvSpPr>
            <p:cNvPr id="30" name="Freeform 30"/>
            <p:cNvSpPr/>
            <p:nvPr/>
          </p:nvSpPr>
          <p:spPr>
            <a:xfrm>
              <a:off x="10277475" y="2945130"/>
              <a:ext cx="104775" cy="90488"/>
            </a:xfrm>
            <a:custGeom>
              <a:avLst/>
              <a:gdLst/>
              <a:ahLst/>
              <a:cxnLst/>
              <a:rect l="l" t="t" r="r" b="b"/>
              <a:pathLst>
                <a:path w="104775" h="90488">
                  <a:moveTo>
                    <a:pt x="104775" y="74295"/>
                  </a:moveTo>
                  <a:lnTo>
                    <a:pt x="0" y="90488"/>
                  </a:lnTo>
                  <a:lnTo>
                    <a:pt x="29527" y="0"/>
                  </a:lnTo>
                  <a:close/>
                </a:path>
              </a:pathLst>
            </a:custGeom>
            <a:solidFill>
              <a:srgbClr val="1F2937"/>
            </a:solidFill>
            <a:ln>
              <a:noFill/>
            </a:ln>
          </p:spPr>
        </p:sp>
        <p:sp>
          <p:nvSpPr>
            <p:cNvPr id="31" name="Freeform 31"/>
            <p:cNvSpPr/>
            <p:nvPr/>
          </p:nvSpPr>
          <p:spPr>
            <a:xfrm>
              <a:off x="7464742" y="1602105"/>
              <a:ext cx="3098482" cy="664845"/>
            </a:xfrm>
            <a:custGeom>
              <a:avLst/>
              <a:gdLst/>
              <a:ahLst/>
              <a:cxnLst/>
              <a:rect l="l" t="t" r="r" b="b"/>
              <a:pathLst>
                <a:path w="3098482" h="664845">
                  <a:moveTo>
                    <a:pt x="3098482" y="120015"/>
                  </a:moveTo>
                  <a:lnTo>
                    <a:pt x="1505902" y="0"/>
                  </a:lnTo>
                  <a:lnTo>
                    <a:pt x="0" y="664845"/>
                  </a:lnTo>
                </a:path>
              </a:pathLst>
            </a:custGeom>
            <a:noFill/>
            <a:ln w="17145">
              <a:solidFill>
                <a:srgbClr val="0E7C86"/>
              </a:solidFill>
              <a:custDash>
                <a:ds d="333333" sp="222222"/>
              </a:custDash>
            </a:ln>
          </p:spPr>
        </p:sp>
        <p:sp>
          <p:nvSpPr>
            <p:cNvPr id="32" name="Freeform 32"/>
            <p:cNvSpPr/>
            <p:nvPr/>
          </p:nvSpPr>
          <p:spPr>
            <a:xfrm>
              <a:off x="7378065" y="2223135"/>
              <a:ext cx="106680" cy="86677"/>
            </a:xfrm>
            <a:custGeom>
              <a:avLst/>
              <a:gdLst/>
              <a:ahLst/>
              <a:cxnLst/>
              <a:rect l="l" t="t" r="r" b="b"/>
              <a:pathLst>
                <a:path w="106680" h="86677">
                  <a:moveTo>
                    <a:pt x="0" y="81915"/>
                  </a:moveTo>
                  <a:lnTo>
                    <a:pt x="67628" y="0"/>
                  </a:lnTo>
                  <a:lnTo>
                    <a:pt x="106680" y="86677"/>
                  </a:lnTo>
                  <a:close/>
                </a:path>
              </a:pathLst>
            </a:custGeom>
            <a:solidFill>
              <a:srgbClr val="0E7C86"/>
            </a:solidFill>
            <a:ln>
              <a:noFill/>
            </a:ln>
          </p:spPr>
        </p:sp>
        <p:sp>
          <p:nvSpPr>
            <p:cNvPr id="33" name="Freeform 33"/>
            <p:cNvSpPr/>
            <p:nvPr/>
          </p:nvSpPr>
          <p:spPr>
            <a:xfrm>
              <a:off x="7464742" y="2724150"/>
              <a:ext cx="3098482" cy="664845"/>
            </a:xfrm>
            <a:custGeom>
              <a:avLst/>
              <a:gdLst/>
              <a:ahLst/>
              <a:cxnLst/>
              <a:rect l="l" t="t" r="r" b="b"/>
              <a:pathLst>
                <a:path w="3098482" h="664845">
                  <a:moveTo>
                    <a:pt x="3098482" y="544830"/>
                  </a:moveTo>
                  <a:lnTo>
                    <a:pt x="1505902" y="664845"/>
                  </a:lnTo>
                  <a:lnTo>
                    <a:pt x="0" y="0"/>
                  </a:lnTo>
                </a:path>
              </a:pathLst>
            </a:custGeom>
            <a:noFill/>
            <a:ln w="17145">
              <a:solidFill>
                <a:srgbClr val="0E7C86"/>
              </a:solidFill>
              <a:custDash>
                <a:ds d="333333" sp="222222"/>
              </a:custDash>
            </a:ln>
          </p:spPr>
        </p:sp>
        <p:sp>
          <p:nvSpPr>
            <p:cNvPr id="34" name="Freeform 34"/>
            <p:cNvSpPr/>
            <p:nvPr/>
          </p:nvSpPr>
          <p:spPr>
            <a:xfrm>
              <a:off x="7378065" y="2681288"/>
              <a:ext cx="106680" cy="86678"/>
            </a:xfrm>
            <a:custGeom>
              <a:avLst/>
              <a:gdLst/>
              <a:ahLst/>
              <a:cxnLst/>
              <a:rect l="l" t="t" r="r" b="b"/>
              <a:pathLst>
                <a:path w="106680" h="86678">
                  <a:moveTo>
                    <a:pt x="0" y="4762"/>
                  </a:moveTo>
                  <a:lnTo>
                    <a:pt x="106680" y="0"/>
                  </a:lnTo>
                  <a:lnTo>
                    <a:pt x="67628" y="86678"/>
                  </a:lnTo>
                  <a:close/>
                </a:path>
              </a:pathLst>
            </a:custGeom>
            <a:solidFill>
              <a:srgbClr val="0E7C86"/>
            </a:solidFill>
            <a:ln>
              <a:noFill/>
            </a:ln>
          </p:spPr>
        </p:sp>
        <p:sp>
          <p:nvSpPr>
            <p:cNvPr id="35" name="Ellipse 35"/>
            <p:cNvSpPr/>
            <p:nvPr/>
          </p:nvSpPr>
          <p:spPr>
            <a:xfrm>
              <a:off x="7197090" y="2314575"/>
              <a:ext cx="361950" cy="361950"/>
            </a:xfrm>
            <a:prstGeom prst="ellipse">
              <a:avLst/>
            </a:prstGeom>
            <a:solidFill>
              <a:srgbClr val="0E7C86"/>
            </a:solidFill>
            <a:ln w="17145">
              <a:solidFill>
                <a:srgbClr val="0E7C86"/>
              </a:solidFill>
            </a:ln>
          </p:spPr>
        </p:sp>
        <p:sp>
          <p:nvSpPr>
            <p:cNvPr id="36" name="Rectangle 36"/>
            <p:cNvSpPr/>
            <p:nvPr/>
          </p:nvSpPr>
          <p:spPr>
            <a:xfrm>
              <a:off x="8456295" y="2382202"/>
              <a:ext cx="631508" cy="226695"/>
            </a:xfrm>
            <a:prstGeom prst="roundRect">
              <a:avLst>
                <a:gd name="adj" fmla="val 42017"/>
              </a:avLst>
            </a:prstGeom>
            <a:solidFill>
              <a:srgbClr val="FFFFFF"/>
            </a:solidFill>
            <a:ln w="17145">
              <a:solidFill>
                <a:srgbClr val="0E7C86"/>
              </a:solidFill>
            </a:ln>
          </p:spPr>
        </p:sp>
        <p:sp>
          <p:nvSpPr>
            <p:cNvPr id="37" name="Ellipse 37"/>
            <p:cNvSpPr/>
            <p:nvPr/>
          </p:nvSpPr>
          <p:spPr>
            <a:xfrm>
              <a:off x="10382250" y="1731645"/>
              <a:ext cx="361950" cy="361950"/>
            </a:xfrm>
            <a:prstGeom prst="ellipse">
              <a:avLst/>
            </a:prstGeom>
            <a:solidFill>
              <a:srgbClr val="FFFFFF"/>
            </a:solidFill>
            <a:ln w="17145">
              <a:solidFill>
                <a:srgbClr val="0E7C86"/>
              </a:solidFill>
            </a:ln>
          </p:spPr>
        </p:sp>
        <p:sp>
          <p:nvSpPr>
            <p:cNvPr id="38" name="Ellipse 38"/>
            <p:cNvSpPr/>
            <p:nvPr/>
          </p:nvSpPr>
          <p:spPr>
            <a:xfrm>
              <a:off x="10382250" y="2897505"/>
              <a:ext cx="361950" cy="361950"/>
            </a:xfrm>
            <a:prstGeom prst="ellipse">
              <a:avLst/>
            </a:prstGeom>
            <a:solidFill>
              <a:srgbClr val="FFFFFF"/>
            </a:solidFill>
            <a:ln w="17145">
              <a:solidFill>
                <a:srgbClr val="0E7C86"/>
              </a:solidFill>
            </a:ln>
          </p:spPr>
        </p:sp>
        <p:sp>
          <p:nvSpPr>
            <p:cNvPr id="39" name="TextBox 39"/>
            <p:cNvSpPr txBox="1"/>
            <p:nvPr/>
          </p:nvSpPr>
          <p:spPr>
            <a:xfrm>
              <a:off x="7331916" y="2429828"/>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z</a:t>
              </a:r>
            </a:p>
          </p:txBody>
        </p:sp>
        <p:sp>
          <p:nvSpPr>
            <p:cNvPr id="40" name="TextBox 40"/>
            <p:cNvSpPr txBox="1"/>
            <p:nvPr/>
          </p:nvSpPr>
          <p:spPr>
            <a:xfrm>
              <a:off x="8476822" y="2429828"/>
              <a:ext cx="589500" cy="205359"/>
            </a:xfrm>
            <a:prstGeom prst="rect">
              <a:avLst/>
            </a:prstGeom>
            <a:noFill/>
            <a:ln>
              <a:noFill/>
            </a:ln>
          </p:spPr>
          <p:txBody>
            <a:bodyPr wrap="none" lIns="0" tIns="0" rIns="0" bIns="0" anchor="t" anchorCtr="0">
              <a:spAutoFit/>
            </a:bodyPr>
            <a:lstStyle/>
            <a:p>
              <a:pPr algn="ctr"/>
              <a:r>
                <a:rPr lang="el-GR" sz="1050" b="1" dirty="0">
                  <a:solidFill>
                    <a:srgbClr val="1F2937"/>
                  </a:solidFill>
                  <a:latin typeface="+mn-lt"/>
                  <a:ea typeface="+mn-ea"/>
                  <a:cs typeface="+mn-cs"/>
                </a:rPr>
                <a:t>a = σ(z)</a:t>
              </a:r>
            </a:p>
          </p:txBody>
        </p:sp>
        <p:sp>
          <p:nvSpPr>
            <p:cNvPr id="41" name="TextBox 41"/>
            <p:cNvSpPr txBox="1"/>
            <p:nvPr/>
          </p:nvSpPr>
          <p:spPr>
            <a:xfrm>
              <a:off x="10476261" y="1846898"/>
              <a:ext cx="17392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z′</a:t>
              </a:r>
            </a:p>
          </p:txBody>
        </p:sp>
        <p:sp>
          <p:nvSpPr>
            <p:cNvPr id="42" name="TextBox 42"/>
            <p:cNvSpPr txBox="1"/>
            <p:nvPr/>
          </p:nvSpPr>
          <p:spPr>
            <a:xfrm>
              <a:off x="10476261" y="3012758"/>
              <a:ext cx="17392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z″</a:t>
              </a:r>
            </a:p>
          </p:txBody>
        </p:sp>
        <p:sp>
          <p:nvSpPr>
            <p:cNvPr id="43" name="Rectangle 43"/>
            <p:cNvSpPr/>
            <p:nvPr/>
          </p:nvSpPr>
          <p:spPr>
            <a:xfrm>
              <a:off x="9628822" y="2104072"/>
              <a:ext cx="211455" cy="146685"/>
            </a:xfrm>
            <a:prstGeom prst="roundRect">
              <a:avLst>
                <a:gd name="adj" fmla="val 25974"/>
              </a:avLst>
            </a:prstGeom>
            <a:solidFill>
              <a:srgbClr val="FFFFFF"/>
            </a:solidFill>
            <a:ln>
              <a:noFill/>
            </a:ln>
          </p:spPr>
        </p:sp>
        <p:sp>
          <p:nvSpPr>
            <p:cNvPr id="44" name="TextBox 44"/>
            <p:cNvSpPr txBox="1"/>
            <p:nvPr/>
          </p:nvSpPr>
          <p:spPr>
            <a:xfrm>
              <a:off x="9658035" y="2133124"/>
              <a:ext cx="15303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w₃</a:t>
              </a:r>
            </a:p>
          </p:txBody>
        </p:sp>
        <p:sp>
          <p:nvSpPr>
            <p:cNvPr id="45" name="Rectangle 45"/>
            <p:cNvSpPr/>
            <p:nvPr/>
          </p:nvSpPr>
          <p:spPr>
            <a:xfrm>
              <a:off x="9628822" y="2729865"/>
              <a:ext cx="211455" cy="146685"/>
            </a:xfrm>
            <a:prstGeom prst="roundRect">
              <a:avLst>
                <a:gd name="adj" fmla="val 25974"/>
              </a:avLst>
            </a:prstGeom>
            <a:solidFill>
              <a:srgbClr val="FFFFFF"/>
            </a:solidFill>
            <a:ln>
              <a:noFill/>
            </a:ln>
          </p:spPr>
        </p:sp>
        <p:sp>
          <p:nvSpPr>
            <p:cNvPr id="46" name="TextBox 46"/>
            <p:cNvSpPr txBox="1"/>
            <p:nvPr/>
          </p:nvSpPr>
          <p:spPr>
            <a:xfrm>
              <a:off x="9658035" y="2759869"/>
              <a:ext cx="15303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w₄</a:t>
              </a:r>
            </a:p>
          </p:txBody>
        </p:sp>
        <p:sp>
          <p:nvSpPr>
            <p:cNvPr id="47" name="Rectangle 47"/>
            <p:cNvSpPr/>
            <p:nvPr/>
          </p:nvSpPr>
          <p:spPr>
            <a:xfrm>
              <a:off x="7940992" y="1874520"/>
              <a:ext cx="466725" cy="146685"/>
            </a:xfrm>
            <a:prstGeom prst="roundRect">
              <a:avLst>
                <a:gd name="adj" fmla="val 25974"/>
              </a:avLst>
            </a:prstGeom>
            <a:solidFill>
              <a:srgbClr val="FFFFFF"/>
            </a:solidFill>
            <a:ln>
              <a:noFill/>
            </a:ln>
          </p:spPr>
        </p:sp>
        <p:sp>
          <p:nvSpPr>
            <p:cNvPr id="48" name="TextBox 48"/>
            <p:cNvSpPr txBox="1"/>
            <p:nvPr/>
          </p:nvSpPr>
          <p:spPr>
            <a:xfrm>
              <a:off x="8001250" y="1904524"/>
              <a:ext cx="34621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∂l/∂z′</a:t>
              </a:r>
            </a:p>
          </p:txBody>
        </p:sp>
        <p:sp>
          <p:nvSpPr>
            <p:cNvPr id="49" name="Rectangle 49"/>
            <p:cNvSpPr/>
            <p:nvPr/>
          </p:nvSpPr>
          <p:spPr>
            <a:xfrm>
              <a:off x="7940992" y="2959418"/>
              <a:ext cx="466725" cy="146685"/>
            </a:xfrm>
            <a:prstGeom prst="roundRect">
              <a:avLst>
                <a:gd name="adj" fmla="val 25974"/>
              </a:avLst>
            </a:prstGeom>
            <a:solidFill>
              <a:srgbClr val="FFFFFF"/>
            </a:solidFill>
            <a:ln>
              <a:noFill/>
            </a:ln>
          </p:spPr>
        </p:sp>
        <p:sp>
          <p:nvSpPr>
            <p:cNvPr id="50" name="TextBox 50"/>
            <p:cNvSpPr txBox="1"/>
            <p:nvPr/>
          </p:nvSpPr>
          <p:spPr>
            <a:xfrm>
              <a:off x="8001250" y="2988469"/>
              <a:ext cx="34621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∂l/∂z″</a:t>
              </a:r>
            </a:p>
          </p:txBody>
        </p:sp>
        <p:sp>
          <p:nvSpPr>
            <p:cNvPr id="51" name="TextBox 51"/>
            <p:cNvSpPr txBox="1"/>
            <p:nvPr/>
          </p:nvSpPr>
          <p:spPr>
            <a:xfrm>
              <a:off x="8546033" y="209597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实线正向</a:t>
              </a:r>
            </a:p>
          </p:txBody>
        </p:sp>
        <p:sp>
          <p:nvSpPr>
            <p:cNvPr id="52" name="TextBox 52"/>
            <p:cNvSpPr txBox="1"/>
            <p:nvPr/>
          </p:nvSpPr>
          <p:spPr>
            <a:xfrm>
              <a:off x="8546033" y="2756059"/>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虚线反向</a:t>
              </a:r>
            </a:p>
          </p:txBody>
        </p:sp>
      </p:grpSp>
      <p:grpSp>
        <p:nvGrpSpPr>
          <p:cNvPr id="59" name="c2-callout-2"/>
          <p:cNvGrpSpPr/>
          <p:nvPr/>
        </p:nvGrpSpPr>
        <p:grpSpPr>
          <a:xfrm>
            <a:off x="6680835" y="3631882"/>
            <a:ext cx="4977765" cy="702945"/>
            <a:chOff x="6680835" y="3631882"/>
            <a:chExt cx="4977765" cy="702945"/>
          </a:xfrm>
        </p:grpSpPr>
        <p:sp>
          <p:nvSpPr>
            <p:cNvPr id="54" name="Rectangle 54"/>
            <p:cNvSpPr/>
            <p:nvPr/>
          </p:nvSpPr>
          <p:spPr>
            <a:xfrm>
              <a:off x="6680835" y="3631882"/>
              <a:ext cx="4977765" cy="702945"/>
            </a:xfrm>
            <a:prstGeom prst="roundRect">
              <a:avLst>
                <a:gd name="adj" fmla="val 16260"/>
              </a:avLst>
            </a:prstGeom>
            <a:solidFill>
              <a:srgbClr val="0E7C86"/>
            </a:solidFill>
            <a:ln>
              <a:noFill/>
            </a:ln>
          </p:spPr>
        </p:sp>
        <p:grpSp>
          <p:nvGrpSpPr>
            <p:cNvPr id="57" name="Group 57"/>
            <p:cNvGrpSpPr/>
            <p:nvPr/>
          </p:nvGrpSpPr>
          <p:grpSpPr>
            <a:xfrm>
              <a:off x="6885623" y="3883345"/>
              <a:ext cx="200023" cy="200023"/>
              <a:chOff x="6885623" y="3883345"/>
              <a:chExt cx="200023" cy="200023"/>
            </a:xfrm>
          </p:grpSpPr>
          <p:sp>
            <p:nvSpPr>
              <p:cNvPr id="55" name="Freeform 55"/>
              <p:cNvSpPr/>
              <p:nvPr/>
            </p:nvSpPr>
            <p:spPr>
              <a:xfrm>
                <a:off x="6885623" y="388334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7018973" y="395001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7188708" y="3777139"/>
              <a:ext cx="388188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从输出层开始往回递归地算 ∂l/∂z，一直算到输入层，</a:t>
              </a:r>
              <a:br/>
              <a:r>
                <a:rPr lang="zh-CN" sz="1280" dirty="0">
                  <a:solidFill>
                    <a:srgbClr val="FFFFFF"/>
                  </a:solidFill>
                  <a:latin typeface="+mn-lt"/>
                  <a:ea typeface="+mn-ea"/>
                  <a:cs typeface="+mn-cs"/>
                </a:rPr>
                <a:t>每个 z 只算一次。</a:t>
              </a:r>
            </a:p>
          </p:txBody>
        </p:sp>
      </p:grpSp>
      <p:grpSp>
        <p:nvGrpSpPr>
          <p:cNvPr id="66" name="takeaway"/>
          <p:cNvGrpSpPr/>
          <p:nvPr/>
        </p:nvGrpSpPr>
        <p:grpSpPr>
          <a:xfrm>
            <a:off x="533400" y="5895022"/>
            <a:ext cx="11125200" cy="467678"/>
            <a:chOff x="533400" y="5895022"/>
            <a:chExt cx="11125200" cy="467678"/>
          </a:xfrm>
        </p:grpSpPr>
        <p:sp>
          <p:nvSpPr>
            <p:cNvPr id="60" name="Rectangle 60"/>
            <p:cNvSpPr/>
            <p:nvPr/>
          </p:nvSpPr>
          <p:spPr>
            <a:xfrm>
              <a:off x="533400" y="5895022"/>
              <a:ext cx="11125200" cy="467678"/>
            </a:xfrm>
            <a:prstGeom prst="roundRect">
              <a:avLst>
                <a:gd name="adj" fmla="val 24440"/>
              </a:avLst>
            </a:prstGeom>
            <a:solidFill>
              <a:srgbClr val="FDEEE7"/>
            </a:solidFill>
            <a:ln>
              <a:noFill/>
            </a:ln>
          </p:spPr>
        </p:sp>
        <p:grpSp>
          <p:nvGrpSpPr>
            <p:cNvPr id="64" name="Group 64"/>
            <p:cNvGrpSpPr/>
            <p:nvPr/>
          </p:nvGrpSpPr>
          <p:grpSpPr>
            <a:xfrm>
              <a:off x="738188" y="6028373"/>
              <a:ext cx="200026" cy="200025"/>
              <a:chOff x="738188" y="6028373"/>
              <a:chExt cx="200026" cy="200025"/>
            </a:xfrm>
          </p:grpSpPr>
          <p:sp>
            <p:nvSpPr>
              <p:cNvPr id="61" name="Freeform 61"/>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2" name="Freeform 62"/>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3" name="Freeform 63"/>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5" name="TextBox 65"/>
            <p:cNvSpPr txBox="1"/>
            <p:nvPr/>
          </p:nvSpPr>
          <p:spPr>
            <a:xfrm>
              <a:off x="1041273" y="6039326"/>
              <a:ext cx="7775682"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把反向过程想成另一个网络：它的连接权与原网络相同，但方向相反，每个节点上乘一个常数 σ'(z)。</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38220" cy="909257"/>
            <a:chOff x="520446" y="342900"/>
            <a:chExt cx="5138220"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13822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逐层记号版：δ 的定义与权值更新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674481" cy="264033"/>
            <a:chOff x="526542" y="1545907"/>
            <a:chExt cx="5674481" cy="264033"/>
          </a:xfrm>
        </p:grpSpPr>
        <p:sp>
          <p:nvSpPr>
            <p:cNvPr id="7" name="TextBox 7"/>
            <p:cNvSpPr txBox="1"/>
            <p:nvPr/>
          </p:nvSpPr>
          <p:spPr>
            <a:xfrm>
              <a:off x="526542" y="1545907"/>
              <a:ext cx="567448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A 版课件用 s、ϑ、δ 的写法，与上一页是同一回事，更便于写成程序。</a:t>
              </a:r>
            </a:p>
          </p:txBody>
        </p:sp>
      </p:grpSp>
      <p:grpSp>
        <p:nvGrpSpPr>
          <p:cNvPr id="24" name="c1-card-1"/>
          <p:cNvGrpSpPr/>
          <p:nvPr/>
        </p:nvGrpSpPr>
        <p:grpSpPr>
          <a:xfrm>
            <a:off x="533400" y="1928812"/>
            <a:ext cx="5842635" cy="1980248"/>
            <a:chOff x="533400" y="1928812"/>
            <a:chExt cx="5842635" cy="1980248"/>
          </a:xfrm>
        </p:grpSpPr>
        <p:sp>
          <p:nvSpPr>
            <p:cNvPr id="9" name="Rectangle 9"/>
            <p:cNvSpPr/>
            <p:nvPr/>
          </p:nvSpPr>
          <p:spPr>
            <a:xfrm>
              <a:off x="533400" y="1928812"/>
              <a:ext cx="5842635" cy="1980248"/>
            </a:xfrm>
            <a:prstGeom prst="roundRect">
              <a:avLst>
                <a:gd name="adj" fmla="val 6734"/>
              </a:avLst>
            </a:prstGeom>
            <a:solidFill>
              <a:srgbClr val="FFFFFF"/>
            </a:solidFill>
            <a:ln w="14288">
              <a:solidFill>
                <a:srgbClr val="D9DFEA"/>
              </a:solidFill>
            </a:ln>
          </p:spPr>
        </p:sp>
        <p:sp>
          <p:nvSpPr>
            <p:cNvPr id="10" name="Rectangle 10"/>
            <p:cNvSpPr/>
            <p:nvPr/>
          </p:nvSpPr>
          <p:spPr>
            <a:xfrm>
              <a:off x="542925" y="2062162"/>
              <a:ext cx="47625" cy="1713548"/>
            </a:xfrm>
            <a:prstGeom prst="roundRect">
              <a:avLst>
                <a:gd name="adj" fmla="val 50000"/>
              </a:avLst>
            </a:prstGeom>
            <a:solidFill>
              <a:srgbClr val="0E7C86"/>
            </a:solidFill>
            <a:ln>
              <a:noFill/>
            </a:ln>
          </p:spPr>
        </p:sp>
        <p:sp>
          <p:nvSpPr>
            <p:cNvPr id="11" name="Rectangle 11"/>
            <p:cNvSpPr/>
            <p:nvPr/>
          </p:nvSpPr>
          <p:spPr>
            <a:xfrm>
              <a:off x="752475" y="2109788"/>
              <a:ext cx="707708" cy="238125"/>
            </a:xfrm>
            <a:prstGeom prst="roundRect">
              <a:avLst>
                <a:gd name="adj" fmla="val 50000"/>
              </a:avLst>
            </a:prstGeom>
            <a:solidFill>
              <a:srgbClr val="E2F3F4"/>
            </a:solidFill>
            <a:ln>
              <a:noFill/>
            </a:ln>
          </p:spPr>
        </p:sp>
        <p:sp>
          <p:nvSpPr>
            <p:cNvPr id="12" name="TextBox 12"/>
            <p:cNvSpPr txBox="1"/>
            <p:nvPr/>
          </p:nvSpPr>
          <p:spPr>
            <a:xfrm>
              <a:off x="837044" y="214264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三个偏导</a:t>
              </a:r>
            </a:p>
          </p:txBody>
        </p:sp>
        <p:sp>
          <p:nvSpPr>
            <p:cNvPr id="13" name="TextBox 13"/>
            <p:cNvSpPr txBox="1"/>
            <p:nvPr/>
          </p:nvSpPr>
          <p:spPr>
            <a:xfrm>
              <a:off x="1568006" y="2149316"/>
              <a:ext cx="140970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拆开 dE/dwₘⱼ(l)</a:t>
              </a:r>
            </a:p>
          </p:txBody>
        </p:sp>
        <mc:AlternateContent xmlns:mc="http://schemas.openxmlformats.org/markup-compatibility/2006">
          <mc:Choice xmlns:a14="http://schemas.microsoft.com/office/drawing/2010/main" Requires="a14">
            <p:sp>
              <p:nvSpPr>
                <p:cNvPr id="14" name="formula151"/>
                <p:cNvSpPr txBox="1">
                  <a:spLocks noGrp="1"/>
                </p:cNvSpPr>
                <p:nvPr/>
              </p:nvSpPr>
              <p:spPr>
                <a:xfrm>
                  <a:off x="752475" y="2445068"/>
                  <a:ext cx="5442585"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dE</m:t>
                            </m:r>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dE</m:t>
                            </m:r>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ϑ</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ϑ</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oMath>
                    </m:oMathPara>
                  </a14:m>
                </a:p>
              </p:txBody>
            </p:sp>
          </mc:Choice>
        </mc:AlternateContent>
        <p:sp>
          <p:nvSpPr>
            <p:cNvPr id="15" name="Ellipse 15"/>
            <p:cNvSpPr/>
            <p:nvPr/>
          </p:nvSpPr>
          <p:spPr>
            <a:xfrm>
              <a:off x="752475" y="2947035"/>
              <a:ext cx="180975" cy="180975"/>
            </a:xfrm>
            <a:prstGeom prst="ellipse">
              <a:avLst/>
            </a:prstGeom>
            <a:solidFill>
              <a:srgbClr val="0E7C86"/>
            </a:solidFill>
            <a:ln>
              <a:noFill/>
            </a:ln>
          </p:spPr>
        </p:sp>
        <p:sp>
          <p:nvSpPr>
            <p:cNvPr id="16" name="TextBox 16"/>
            <p:cNvSpPr txBox="1"/>
            <p:nvPr/>
          </p:nvSpPr>
          <p:spPr>
            <a:xfrm>
              <a:off x="804382" y="298265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17" name="TextBox 17"/>
            <p:cNvSpPr txBox="1"/>
            <p:nvPr/>
          </p:nvSpPr>
          <p:spPr>
            <a:xfrm>
              <a:off x="1022223" y="2957989"/>
              <a:ext cx="34419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激活导数 dsⱼ(l)/dϑⱼ(l) = sⱼ(l)[1 − sⱼ(l)]</a:t>
              </a:r>
            </a:p>
          </p:txBody>
        </p:sp>
        <p:sp>
          <p:nvSpPr>
            <p:cNvPr id="18" name="Ellipse 18"/>
            <p:cNvSpPr/>
            <p:nvPr/>
          </p:nvSpPr>
          <p:spPr>
            <a:xfrm>
              <a:off x="752475" y="3231832"/>
              <a:ext cx="180975" cy="180975"/>
            </a:xfrm>
            <a:prstGeom prst="ellipse">
              <a:avLst/>
            </a:prstGeom>
            <a:solidFill>
              <a:srgbClr val="0E7C86"/>
            </a:solidFill>
            <a:ln>
              <a:noFill/>
            </a:ln>
          </p:spPr>
        </p:sp>
        <p:sp>
          <p:nvSpPr>
            <p:cNvPr id="19" name="TextBox 19"/>
            <p:cNvSpPr txBox="1"/>
            <p:nvPr/>
          </p:nvSpPr>
          <p:spPr>
            <a:xfrm>
              <a:off x="804382" y="326745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20" name="TextBox 20"/>
            <p:cNvSpPr txBox="1"/>
            <p:nvPr/>
          </p:nvSpPr>
          <p:spPr>
            <a:xfrm>
              <a:off x="1022223" y="3243739"/>
              <a:ext cx="365738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dϑⱼ(l)/dwₘⱼ(l) = sₘ(l−1)，即上一层送来的值</a:t>
              </a:r>
            </a:p>
          </p:txBody>
        </p:sp>
        <p:sp>
          <p:nvSpPr>
            <p:cNvPr id="21" name="Ellipse 21"/>
            <p:cNvSpPr/>
            <p:nvPr/>
          </p:nvSpPr>
          <p:spPr>
            <a:xfrm>
              <a:off x="752475" y="3517582"/>
              <a:ext cx="180975" cy="180975"/>
            </a:xfrm>
            <a:prstGeom prst="ellipse">
              <a:avLst/>
            </a:prstGeom>
            <a:solidFill>
              <a:srgbClr val="0E7C86"/>
            </a:solidFill>
            <a:ln>
              <a:noFill/>
            </a:ln>
          </p:spPr>
        </p:sp>
        <p:sp>
          <p:nvSpPr>
            <p:cNvPr id="22" name="TextBox 22"/>
            <p:cNvSpPr txBox="1"/>
            <p:nvPr/>
          </p:nvSpPr>
          <p:spPr>
            <a:xfrm>
              <a:off x="804382" y="355225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23" name="TextBox 23"/>
            <p:cNvSpPr txBox="1"/>
            <p:nvPr/>
          </p:nvSpPr>
          <p:spPr>
            <a:xfrm>
              <a:off x="1022223" y="3528536"/>
              <a:ext cx="326220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误差对状态的导数 dE/dsⱼ(l)，记作 δⱼ(l)</a:t>
              </a:r>
            </a:p>
          </p:txBody>
        </p:sp>
      </p:grpSp>
      <p:grpSp>
        <p:nvGrpSpPr>
          <p:cNvPr id="32" name="c1-card-2"/>
          <p:cNvGrpSpPr/>
          <p:nvPr/>
        </p:nvGrpSpPr>
        <p:grpSpPr>
          <a:xfrm>
            <a:off x="533400" y="4072890"/>
            <a:ext cx="5842635" cy="1599248"/>
            <a:chOff x="533400" y="4072890"/>
            <a:chExt cx="5842635" cy="1599248"/>
          </a:xfrm>
        </p:grpSpPr>
        <p:sp>
          <p:nvSpPr>
            <p:cNvPr id="25" name="Rectangle 25"/>
            <p:cNvSpPr/>
            <p:nvPr/>
          </p:nvSpPr>
          <p:spPr>
            <a:xfrm>
              <a:off x="533400" y="4072890"/>
              <a:ext cx="5842635" cy="1599248"/>
            </a:xfrm>
            <a:prstGeom prst="roundRect">
              <a:avLst>
                <a:gd name="adj" fmla="val 8338"/>
              </a:avLst>
            </a:prstGeom>
            <a:solidFill>
              <a:srgbClr val="FFFFFF"/>
            </a:solidFill>
            <a:ln w="14288">
              <a:solidFill>
                <a:srgbClr val="D9DFEA"/>
              </a:solidFill>
            </a:ln>
          </p:spPr>
        </p:sp>
        <p:sp>
          <p:nvSpPr>
            <p:cNvPr id="26" name="Rectangle 26"/>
            <p:cNvSpPr/>
            <p:nvPr/>
          </p:nvSpPr>
          <p:spPr>
            <a:xfrm>
              <a:off x="542925" y="4206240"/>
              <a:ext cx="47625" cy="1332548"/>
            </a:xfrm>
            <a:prstGeom prst="roundRect">
              <a:avLst>
                <a:gd name="adj" fmla="val 50000"/>
              </a:avLst>
            </a:prstGeom>
            <a:solidFill>
              <a:srgbClr val="F26B3A"/>
            </a:solidFill>
            <a:ln>
              <a:noFill/>
            </a:ln>
          </p:spPr>
        </p:sp>
        <p:sp>
          <p:nvSpPr>
            <p:cNvPr id="27" name="Rectangle 27"/>
            <p:cNvSpPr/>
            <p:nvPr/>
          </p:nvSpPr>
          <p:spPr>
            <a:xfrm>
              <a:off x="752475" y="4253865"/>
              <a:ext cx="831532" cy="238125"/>
            </a:xfrm>
            <a:prstGeom prst="roundRect">
              <a:avLst>
                <a:gd name="adj" fmla="val 50000"/>
              </a:avLst>
            </a:prstGeom>
            <a:solidFill>
              <a:srgbClr val="FDEEE7"/>
            </a:solidFill>
            <a:ln>
              <a:noFill/>
            </a:ln>
          </p:spPr>
        </p:sp>
        <p:sp>
          <p:nvSpPr>
            <p:cNvPr id="28" name="TextBox 28"/>
            <p:cNvSpPr txBox="1"/>
            <p:nvPr/>
          </p:nvSpPr>
          <p:spPr>
            <a:xfrm>
              <a:off x="833946" y="4286726"/>
              <a:ext cx="669544"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递推与更新</a:t>
              </a:r>
            </a:p>
          </p:txBody>
        </p:sp>
        <p:sp>
          <p:nvSpPr>
            <p:cNvPr id="29" name="TextBox 29"/>
            <p:cNvSpPr txBox="1"/>
            <p:nvPr/>
          </p:nvSpPr>
          <p:spPr>
            <a:xfrm>
              <a:off x="1691830" y="4294346"/>
              <a:ext cx="154525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δ 从后一层递推回来</a:t>
              </a:r>
            </a:p>
          </p:txBody>
        </p:sp>
        <mc:AlternateContent xmlns:mc="http://schemas.openxmlformats.org/markup-compatibility/2006">
          <mc:Choice xmlns:a14="http://schemas.microsoft.com/office/drawing/2010/main" Requires="a14">
            <p:sp>
              <p:nvSpPr>
                <p:cNvPr id="30" name="formula152"/>
                <p:cNvSpPr txBox="1">
                  <a:spLocks noGrp="1"/>
                </p:cNvSpPr>
                <p:nvPr/>
              </p:nvSpPr>
              <p:spPr>
                <a:xfrm>
                  <a:off x="752475" y="4589145"/>
                  <a:ext cx="5442585" cy="5000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120" dirty="0">
                                <a:solidFill>
                                  <a:srgbClr val="1F2937"/>
                                </a:solidFill>
                                <a:latin typeface="Cambria Math"/>
                                <a:ea typeface="Cambria Math"/>
                                <a:cs typeface="Cambria Math"/>
                              </a:rPr>
                              <m:t>δ</m:t>
                            </m:r>
                          </m:e>
                          <m:sub>
                            <m:r>
                              <a:rPr lang="zh-CN" sz="1120" dirty="0">
                                <a:solidFill>
                                  <a:srgbClr val="1F2937"/>
                                </a:solidFill>
                                <a:latin typeface="Cambria Math"/>
                                <a:ea typeface="Cambria Math"/>
                                <a:cs typeface="Cambria Math"/>
                              </a:rPr>
                              <m:t>j</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e>
                        </m:d>
                        <m:r>
                          <m:rPr>
                            <m:sty m:val="p"/>
                          </m:rPr>
                          <a:rPr lang="zh-CN" sz="1120" dirty="0">
                            <a:solidFill>
                              <a:srgbClr val="1F2937"/>
                            </a:solidFill>
                            <a:latin typeface="Cambria Math"/>
                            <a:ea typeface="Cambria Math"/>
                            <a:cs typeface="Cambria Math"/>
                          </a:rPr>
                          <m:t>=</m:t>
                        </m:r>
                        <m:nary>
                          <m:naryPr>
                            <m:chr m:val="∑"/>
                            <m:limLoc m:val="undOvr"/>
                            <m:grow m:val="off"/>
                            <m:subHide m:val="off"/>
                            <m:supHide m:val="on"/>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n</m:t>
                            </m:r>
                          </m:sub>
                          <m:sup/>
                          <m:e>
                            <m:sSub>
                              <m:e>
                                <m:r>
                                  <a:rPr lang="zh-CN" sz="1120" dirty="0">
                                    <a:solidFill>
                                      <a:srgbClr val="1F2937"/>
                                    </a:solidFill>
                                    <a:latin typeface="Cambria Math"/>
                                    <a:ea typeface="Cambria Math"/>
                                    <a:cs typeface="Cambria Math"/>
                                  </a:rPr>
                                  <m:t>δ</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r>
                              <a:rPr lang="zh-CN" sz="1120" dirty="0">
                                <a:solidFill>
                                  <a:srgbClr val="1F2937"/>
                                </a:solidFill>
                                <a:latin typeface="Cambria Math"/>
                                <a:ea typeface="Cambria Math"/>
                                <a:cs typeface="Cambria Math"/>
                              </a:rPr>
                              <m:t xml:space="preserve"> </m:t>
                            </m:r>
                            <m:sSub>
                              <m:e>
                                <m:r>
                                  <a:rPr lang="zh-CN" sz="1120" dirty="0">
                                    <a:solidFill>
                                      <a:srgbClr val="1F2937"/>
                                    </a:solidFill>
                                    <a:latin typeface="Cambria Math"/>
                                    <a:ea typeface="Cambria Math"/>
                                    <a:cs typeface="Cambria Math"/>
                                  </a:rPr>
                                  <m:t>s</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1</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s</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e>
                            </m:d>
                            <m:sSub>
                              <m:e>
                                <m:r>
                                  <a:rPr lang="zh-CN" sz="1120" dirty="0">
                                    <a:solidFill>
                                      <a:srgbClr val="1F2937"/>
                                    </a:solidFill>
                                    <a:latin typeface="Cambria Math"/>
                                    <a:ea typeface="Cambria Math"/>
                                    <a:cs typeface="Cambria Math"/>
                                  </a:rPr>
                                  <m:t>w</m:t>
                                </m:r>
                              </m:e>
                              <m:sub>
                                <m:r>
                                  <a:rPr lang="zh-CN" sz="1120" dirty="0">
                                    <a:solidFill>
                                      <a:srgbClr val="1F2937"/>
                                    </a:solidFill>
                                    <a:latin typeface="Cambria Math"/>
                                    <a:ea typeface="Cambria Math"/>
                                    <a:cs typeface="Cambria Math"/>
                                  </a:rPr>
                                  <m:t>jn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e>
                        </m:nary>
                      </m:oMath>
                    </m:oMathPara>
                  </a14:m>
                </a:p>
              </p:txBody>
            </p:sp>
          </mc:Choice>
        </mc:AlternateContent>
        <mc:AlternateContent xmlns:mc="http://schemas.openxmlformats.org/markup-compatibility/2006">
          <mc:Choice xmlns:a14="http://schemas.microsoft.com/office/drawing/2010/main" Requires="a14">
            <p:sp>
              <p:nvSpPr>
                <p:cNvPr id="31" name="formula153"/>
                <p:cNvSpPr txBox="1">
                  <a:spLocks noGrp="1"/>
                </p:cNvSpPr>
                <p:nvPr/>
              </p:nvSpPr>
              <p:spPr>
                <a:xfrm>
                  <a:off x="752475" y="5170170"/>
                  <a:ext cx="5442585"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η</m:t>
                        </m:r>
                        <m:r>
                          <a:rPr lang="zh-CN" sz="1200" dirty="0">
                            <a:solidFill>
                              <a:srgbClr val="1F2937"/>
                            </a:solidFill>
                            <a:latin typeface="Cambria Math"/>
                            <a:ea typeface="Cambria Math"/>
                            <a:cs typeface="Cambria Math"/>
                          </a:rPr>
                          <m:t xml:space="preserve"> </m:t>
                        </m:r>
                        <m:sSub>
                          <m:e>
                            <m:r>
                              <a:rPr lang="zh-CN" sz="1200" dirty="0">
                                <a:solidFill>
                                  <a:srgbClr val="1F2937"/>
                                </a:solidFill>
                                <a:latin typeface="Cambria Math"/>
                                <a:ea typeface="Cambria Math"/>
                                <a:cs typeface="Cambria Math"/>
                              </a:rPr>
                              <m:t>δ</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a:rPr lang="zh-CN" sz="1200" dirty="0">
                            <a:solidFill>
                              <a:srgbClr val="1F2937"/>
                            </a:solidFill>
                            <a:latin typeface="Cambria Math"/>
                            <a:ea typeface="Cambria Math"/>
                            <a:cs typeface="Cambria Math"/>
                          </a:rPr>
                          <m:t xml:space="preserve"> </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e>
                        </m:d>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m</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e>
                        </m:d>
                      </m:oMath>
                    </m:oMathPara>
                  </a14:m>
                </a:p>
              </p:txBody>
            </p:sp>
          </mc:Choice>
        </mc:AlternateContent>
      </p:grpSp>
      <p:grpSp>
        <p:nvGrpSpPr>
          <p:cNvPr id="46" name="c2-steps-1"/>
          <p:cNvGrpSpPr/>
          <p:nvPr/>
        </p:nvGrpSpPr>
        <p:grpSpPr>
          <a:xfrm>
            <a:off x="6680835" y="1938338"/>
            <a:ext cx="2523496" cy="1596009"/>
            <a:chOff x="6680835" y="1938338"/>
            <a:chExt cx="2523496" cy="1596009"/>
          </a:xfrm>
        </p:grpSpPr>
        <p:sp>
          <p:nvSpPr>
            <p:cNvPr id="33" name="Rectangle 33"/>
            <p:cNvSpPr/>
            <p:nvPr/>
          </p:nvSpPr>
          <p:spPr>
            <a:xfrm>
              <a:off x="6814185" y="2081212"/>
              <a:ext cx="19050" cy="1105852"/>
            </a:xfrm>
            <a:prstGeom prst="rect">
              <a:avLst/>
            </a:prstGeom>
            <a:solidFill>
              <a:srgbClr val="D9DFEA"/>
            </a:solidFill>
            <a:ln>
              <a:noFill/>
            </a:ln>
          </p:spPr>
        </p:sp>
        <p:sp>
          <p:nvSpPr>
            <p:cNvPr id="34" name="Ellipse 34"/>
            <p:cNvSpPr/>
            <p:nvPr/>
          </p:nvSpPr>
          <p:spPr>
            <a:xfrm>
              <a:off x="6680835" y="1938338"/>
              <a:ext cx="285750" cy="285750"/>
            </a:xfrm>
            <a:prstGeom prst="ellipse">
              <a:avLst/>
            </a:prstGeom>
            <a:solidFill>
              <a:srgbClr val="0E7C86"/>
            </a:solidFill>
            <a:ln>
              <a:noFill/>
            </a:ln>
          </p:spPr>
        </p:sp>
        <p:sp>
          <p:nvSpPr>
            <p:cNvPr id="35" name="TextBox 35"/>
            <p:cNvSpPr txBox="1"/>
            <p:nvPr/>
          </p:nvSpPr>
          <p:spPr>
            <a:xfrm>
              <a:off x="6774459"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6" name="Ellipse 36"/>
            <p:cNvSpPr/>
            <p:nvPr/>
          </p:nvSpPr>
          <p:spPr>
            <a:xfrm>
              <a:off x="6680835" y="2490788"/>
              <a:ext cx="285750" cy="285750"/>
            </a:xfrm>
            <a:prstGeom prst="ellipse">
              <a:avLst/>
            </a:prstGeom>
            <a:solidFill>
              <a:srgbClr val="0E7C86"/>
            </a:solidFill>
            <a:ln>
              <a:noFill/>
            </a:ln>
          </p:spPr>
        </p:sp>
        <p:sp>
          <p:nvSpPr>
            <p:cNvPr id="37" name="TextBox 37"/>
            <p:cNvSpPr txBox="1"/>
            <p:nvPr/>
          </p:nvSpPr>
          <p:spPr>
            <a:xfrm>
              <a:off x="6774459" y="25646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8" name="Ellipse 38"/>
            <p:cNvSpPr/>
            <p:nvPr/>
          </p:nvSpPr>
          <p:spPr>
            <a:xfrm>
              <a:off x="6680835" y="3044190"/>
              <a:ext cx="285750" cy="285750"/>
            </a:xfrm>
            <a:prstGeom prst="ellipse">
              <a:avLst/>
            </a:prstGeom>
            <a:solidFill>
              <a:srgbClr val="0E7C86"/>
            </a:solidFill>
            <a:ln>
              <a:noFill/>
            </a:ln>
          </p:spPr>
        </p:sp>
        <p:sp>
          <p:nvSpPr>
            <p:cNvPr id="39" name="TextBox 39"/>
            <p:cNvSpPr txBox="1"/>
            <p:nvPr/>
          </p:nvSpPr>
          <p:spPr>
            <a:xfrm>
              <a:off x="6774459" y="31180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40" name="TextBox 40"/>
            <p:cNvSpPr txBox="1"/>
            <p:nvPr/>
          </p:nvSpPr>
          <p:spPr>
            <a:xfrm>
              <a:off x="7093458" y="1968341"/>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1</a:t>
              </a:r>
            </a:p>
          </p:txBody>
        </p:sp>
        <p:sp>
          <p:nvSpPr>
            <p:cNvPr id="41" name="TextBox 41"/>
            <p:cNvSpPr txBox="1"/>
            <p:nvPr/>
          </p:nvSpPr>
          <p:spPr>
            <a:xfrm>
              <a:off x="7094601" y="2223135"/>
              <a:ext cx="196131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数据输入，前向算出各层 sⱼ(l)</a:t>
              </a:r>
            </a:p>
          </p:txBody>
        </p:sp>
        <p:sp>
          <p:nvSpPr>
            <p:cNvPr id="42" name="TextBox 42"/>
            <p:cNvSpPr txBox="1"/>
            <p:nvPr/>
          </p:nvSpPr>
          <p:spPr>
            <a:xfrm>
              <a:off x="7093458" y="2521744"/>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2</a:t>
              </a:r>
            </a:p>
          </p:txBody>
        </p:sp>
        <p:sp>
          <p:nvSpPr>
            <p:cNvPr id="43" name="TextBox 43"/>
            <p:cNvSpPr txBox="1"/>
            <p:nvPr/>
          </p:nvSpPr>
          <p:spPr>
            <a:xfrm>
              <a:off x="7094601" y="2776538"/>
              <a:ext cx="210973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算输出误差，反向定各神经元的 δ</a:t>
              </a:r>
            </a:p>
          </p:txBody>
        </p:sp>
        <p:sp>
          <p:nvSpPr>
            <p:cNvPr id="44" name="TextBox 44"/>
            <p:cNvSpPr txBox="1"/>
            <p:nvPr/>
          </p:nvSpPr>
          <p:spPr>
            <a:xfrm>
              <a:off x="7093458" y="3075146"/>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3</a:t>
              </a:r>
            </a:p>
          </p:txBody>
        </p:sp>
        <p:sp>
          <p:nvSpPr>
            <p:cNvPr id="45" name="TextBox 45"/>
            <p:cNvSpPr txBox="1"/>
            <p:nvPr/>
          </p:nvSpPr>
          <p:spPr>
            <a:xfrm>
              <a:off x="7094601" y="3328988"/>
              <a:ext cx="17280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用 δ 和上一层状态更新权值</a:t>
              </a:r>
            </a:p>
          </p:txBody>
        </p:sp>
      </p:grpSp>
      <p:grpSp>
        <p:nvGrpSpPr>
          <p:cNvPr id="54" name="c2-card-2"/>
          <p:cNvGrpSpPr/>
          <p:nvPr/>
        </p:nvGrpSpPr>
        <p:grpSpPr>
          <a:xfrm>
            <a:off x="6680835" y="3696652"/>
            <a:ext cx="4977765" cy="1976438"/>
            <a:chOff x="6680835" y="3696652"/>
            <a:chExt cx="4977765" cy="1976438"/>
          </a:xfrm>
        </p:grpSpPr>
        <p:sp>
          <p:nvSpPr>
            <p:cNvPr id="47" name="Rectangle 47"/>
            <p:cNvSpPr/>
            <p:nvPr/>
          </p:nvSpPr>
          <p:spPr>
            <a:xfrm>
              <a:off x="6680835" y="3696652"/>
              <a:ext cx="4977765" cy="1976438"/>
            </a:xfrm>
            <a:prstGeom prst="roundRect">
              <a:avLst>
                <a:gd name="adj" fmla="val 6747"/>
              </a:avLst>
            </a:prstGeom>
            <a:solidFill>
              <a:srgbClr val="FFFFFF"/>
            </a:solidFill>
            <a:ln w="14288">
              <a:solidFill>
                <a:srgbClr val="D9DFEA"/>
              </a:solidFill>
            </a:ln>
          </p:spPr>
        </p:sp>
        <p:sp>
          <p:nvSpPr>
            <p:cNvPr id="48" name="Rectangle 48"/>
            <p:cNvSpPr/>
            <p:nvPr/>
          </p:nvSpPr>
          <p:spPr>
            <a:xfrm>
              <a:off x="6690360" y="3830002"/>
              <a:ext cx="47625" cy="1709738"/>
            </a:xfrm>
            <a:prstGeom prst="roundRect">
              <a:avLst>
                <a:gd name="adj" fmla="val 50000"/>
              </a:avLst>
            </a:prstGeom>
            <a:solidFill>
              <a:srgbClr val="B42318"/>
            </a:solidFill>
            <a:ln>
              <a:noFill/>
            </a:ln>
          </p:spPr>
        </p:sp>
        <p:sp>
          <p:nvSpPr>
            <p:cNvPr id="49" name="Rectangle 49"/>
            <p:cNvSpPr/>
            <p:nvPr/>
          </p:nvSpPr>
          <p:spPr>
            <a:xfrm>
              <a:off x="6899910" y="3877628"/>
              <a:ext cx="458152" cy="238125"/>
            </a:xfrm>
            <a:prstGeom prst="roundRect">
              <a:avLst>
                <a:gd name="adj" fmla="val 50000"/>
              </a:avLst>
            </a:prstGeom>
            <a:solidFill>
              <a:srgbClr val="FDECEA"/>
            </a:solidFill>
            <a:ln>
              <a:noFill/>
            </a:ln>
          </p:spPr>
        </p:sp>
        <p:sp>
          <p:nvSpPr>
            <p:cNvPr id="50" name="TextBox 50"/>
            <p:cNvSpPr txBox="1"/>
            <p:nvPr/>
          </p:nvSpPr>
          <p:spPr>
            <a:xfrm>
              <a:off x="6992582" y="3910489"/>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51" name="TextBox 51"/>
            <p:cNvSpPr txBox="1"/>
            <p:nvPr/>
          </p:nvSpPr>
          <p:spPr>
            <a:xfrm>
              <a:off x="7466838" y="3917156"/>
              <a:ext cx="246109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输出层 δ 的符号要与更新式配套</a:t>
              </a:r>
            </a:p>
          </p:txBody>
        </p:sp>
        <p:sp>
          <p:nvSpPr>
            <p:cNvPr id="52" name="TextBox 52"/>
            <p:cNvSpPr txBox="1"/>
            <p:nvPr/>
          </p:nvSpPr>
          <p:spPr>
            <a:xfrm>
              <a:off x="6893433" y="4233386"/>
              <a:ext cx="432079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A 版课件一处定义 δⱼ(l) = dE/dsⱼ(l)，另一处又把输出层写</a:t>
              </a:r>
              <a:br/>
              <a:r>
                <a:rPr lang="zh-CN" sz="1280" dirty="0">
                  <a:solidFill>
                    <a:srgbClr val="1F2937"/>
                  </a:solidFill>
                  <a:latin typeface="+mn-lt"/>
                  <a:ea typeface="+mn-ea"/>
                  <a:cs typeface="+mn-cs"/>
                </a:rPr>
                <a:t>成 δⱼ(L) = tⱼ − oⱼ，两者差一个负号，配上“减 η”的更新式</a:t>
              </a:r>
              <a:br/>
              <a:r>
                <a:rPr lang="zh-CN" sz="1280" dirty="0">
                  <a:solidFill>
                    <a:srgbClr val="1F2937"/>
                  </a:solidFill>
                  <a:latin typeface="+mn-lt"/>
                  <a:ea typeface="+mn-ea"/>
                  <a:cs typeface="+mn-cs"/>
                </a:rPr>
                <a:t>就变成了梯度上升。</a:t>
              </a:r>
            </a:p>
          </p:txBody>
        </p:sp>
        <p:sp>
          <p:nvSpPr>
            <p:cNvPr id="53" name="TextBox 53"/>
            <p:cNvSpPr txBox="1"/>
            <p:nvPr/>
          </p:nvSpPr>
          <p:spPr>
            <a:xfrm>
              <a:off x="6893433" y="5003959"/>
              <a:ext cx="410093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本讲义统一取 </a:t>
              </a:r>
              <a:r>
                <a:rPr lang="el-GR" sz="1280" b="1" dirty="0">
                  <a:solidFill>
                    <a:srgbClr val="0F7A68"/>
                  </a:solidFill>
                  <a:latin typeface="+mn-lt"/>
                  <a:ea typeface="+mn-ea"/>
                  <a:cs typeface="+mn-cs"/>
                </a:rPr>
                <a:t>δⱼ(l) = ∂E/∂sⱼ(l)</a:t>
              </a:r>
              <a:r>
                <a:rPr lang="zh-CN" sz="1280" dirty="0">
                  <a:solidFill>
                    <a:srgbClr val="1F2937"/>
                  </a:solidFill>
                  <a:latin typeface="+mn-lt"/>
                  <a:ea typeface="+mn-ea"/>
                  <a:cs typeface="+mn-cs"/>
                </a:rPr>
                <a:t xml:space="preserve">，于是输出层 </a:t>
              </a:r>
              <a:r>
                <a:rPr lang="el-GR" sz="1280" b="1" dirty="0">
                  <a:solidFill>
                    <a:srgbClr val="0F7A68"/>
                  </a:solidFill>
                  <a:latin typeface="+mn-lt"/>
                  <a:ea typeface="+mn-ea"/>
                  <a:cs typeface="+mn-cs"/>
                </a:rPr>
                <a:t>δⱼ(L) =</a:t>
              </a:r>
              <a:br/>
              <a:r>
                <a:rPr lang="en-US" sz="1280" b="1" dirty="0">
                  <a:solidFill>
                    <a:srgbClr val="0F7A68"/>
                  </a:solidFill>
                  <a:latin typeface="+mn-lt"/>
                  <a:ea typeface="+mn-ea"/>
                  <a:cs typeface="+mn-cs"/>
                </a:rPr>
                <a:t>oⱼ − tⱼ</a:t>
              </a:r>
              <a:r>
                <a:rPr lang="zh-CN" sz="1280" dirty="0">
                  <a:solidFill>
                    <a:srgbClr val="1F2937"/>
                  </a:solidFill>
                  <a:latin typeface="+mn-lt"/>
                  <a:ea typeface="+mn-ea"/>
                  <a:cs typeface="+mn-cs"/>
                </a:rPr>
                <a:t>，更新式照上面的“减 η”写，方向才正确。</a:t>
              </a:r>
            </a:p>
          </p:txBody>
        </p:sp>
      </p:grpSp>
      <p:grpSp>
        <p:nvGrpSpPr>
          <p:cNvPr id="60"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0E7C86"/>
            </a:solidFill>
            <a:ln>
              <a:noFill/>
            </a:ln>
          </p:spPr>
        </p:sp>
        <p:grpSp>
          <p:nvGrpSpPr>
            <p:cNvPr id="58" name="Group 58"/>
            <p:cNvGrpSpPr/>
            <p:nvPr/>
          </p:nvGrpSpPr>
          <p:grpSpPr>
            <a:xfrm>
              <a:off x="738188" y="6028375"/>
              <a:ext cx="200023" cy="200023"/>
              <a:chOff x="738188" y="6028375"/>
              <a:chExt cx="200023" cy="200023"/>
            </a:xfrm>
          </p:grpSpPr>
          <p:sp>
            <p:nvSpPr>
              <p:cNvPr id="56" name="Freeform 5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1273" y="6039326"/>
              <a:ext cx="568174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检验办法：更新一次后重新算一遍 E，必须变小。下一页的例题就这样验。</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837510" cy="909257"/>
            <a:chOff x="520446" y="342900"/>
            <a:chExt cx="7837510"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783751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例题：2-2-1 网络做一次完整 BP（前向与输出层）</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8436293" cy="293370"/>
            <a:chOff x="525780" y="1548765"/>
            <a:chExt cx="8436293" cy="293370"/>
          </a:xfrm>
        </p:grpSpPr>
        <p:sp>
          <p:nvSpPr>
            <p:cNvPr id="7" name="TextBox 7"/>
            <p:cNvSpPr txBox="1"/>
            <p:nvPr/>
          </p:nvSpPr>
          <p:spPr>
            <a:xfrm>
              <a:off x="525780" y="1548765"/>
              <a:ext cx="8436293"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全部神经元用 Sigmoid，损失 E = ½(t − o)²，输入 x = (1, 0)，目标 t = 1，学习率 η = 0.5。</a:t>
              </a:r>
            </a:p>
          </p:txBody>
        </p:sp>
      </p:grpSp>
      <p:grpSp>
        <p:nvGrpSpPr>
          <p:cNvPr id="46" name="c1-graph-1"/>
          <p:cNvGrpSpPr/>
          <p:nvPr/>
        </p:nvGrpSpPr>
        <p:grpSpPr>
          <a:xfrm>
            <a:off x="795063" y="1977390"/>
            <a:ext cx="4094195" cy="1829752"/>
            <a:chOff x="795063" y="1977390"/>
            <a:chExt cx="4094195" cy="1829752"/>
          </a:xfrm>
        </p:grpSpPr>
        <p:sp>
          <p:nvSpPr>
            <p:cNvPr id="9" name="Freeform 9"/>
            <p:cNvSpPr/>
            <p:nvPr/>
          </p:nvSpPr>
          <p:spPr>
            <a:xfrm>
              <a:off x="1159192" y="2398395"/>
              <a:ext cx="1380173" cy="9525"/>
            </a:xfrm>
            <a:custGeom>
              <a:avLst/>
              <a:gdLst/>
              <a:ahLst/>
              <a:cxnLst/>
              <a:rect l="l" t="t" r="r" b="b"/>
              <a:pathLst>
                <a:path w="1380173" h="9525">
                  <a:moveTo>
                    <a:pt x="0" y="0"/>
                  </a:moveTo>
                  <a:lnTo>
                    <a:pt x="1380173" y="0"/>
                  </a:lnTo>
                </a:path>
              </a:pathLst>
            </a:custGeom>
            <a:noFill/>
            <a:ln w="17145">
              <a:solidFill>
                <a:srgbClr val="1F2937"/>
              </a:solidFill>
            </a:ln>
          </p:spPr>
        </p:sp>
        <p:sp>
          <p:nvSpPr>
            <p:cNvPr id="10" name="Freeform 10"/>
            <p:cNvSpPr/>
            <p:nvPr/>
          </p:nvSpPr>
          <p:spPr>
            <a:xfrm>
              <a:off x="2539365" y="235077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1" name="Freeform 11"/>
            <p:cNvSpPr/>
            <p:nvPr/>
          </p:nvSpPr>
          <p:spPr>
            <a:xfrm>
              <a:off x="1139190" y="2478405"/>
              <a:ext cx="1430655" cy="756285"/>
            </a:xfrm>
            <a:custGeom>
              <a:avLst/>
              <a:gdLst/>
              <a:ahLst/>
              <a:cxnLst/>
              <a:rect l="l" t="t" r="r" b="b"/>
              <a:pathLst>
                <a:path w="1430655" h="756285">
                  <a:moveTo>
                    <a:pt x="0" y="0"/>
                  </a:moveTo>
                  <a:lnTo>
                    <a:pt x="1430655" y="756285"/>
                  </a:lnTo>
                </a:path>
              </a:pathLst>
            </a:custGeom>
            <a:noFill/>
            <a:ln w="17145">
              <a:solidFill>
                <a:srgbClr val="1F2937"/>
              </a:solidFill>
            </a:ln>
          </p:spPr>
        </p:sp>
        <p:sp>
          <p:nvSpPr>
            <p:cNvPr id="12" name="Freeform 12"/>
            <p:cNvSpPr/>
            <p:nvPr/>
          </p:nvSpPr>
          <p:spPr>
            <a:xfrm>
              <a:off x="2547938" y="3191828"/>
              <a:ext cx="105728" cy="86677"/>
            </a:xfrm>
            <a:custGeom>
              <a:avLst/>
              <a:gdLst/>
              <a:ahLst/>
              <a:cxnLst/>
              <a:rect l="l" t="t" r="r" b="b"/>
              <a:pathLst>
                <a:path w="105728" h="86677">
                  <a:moveTo>
                    <a:pt x="105728" y="86677"/>
                  </a:moveTo>
                  <a:lnTo>
                    <a:pt x="0" y="84772"/>
                  </a:lnTo>
                  <a:lnTo>
                    <a:pt x="43815" y="0"/>
                  </a:lnTo>
                  <a:close/>
                </a:path>
              </a:pathLst>
            </a:custGeom>
            <a:solidFill>
              <a:srgbClr val="1F2937"/>
            </a:solidFill>
            <a:ln>
              <a:noFill/>
            </a:ln>
          </p:spPr>
        </p:sp>
        <p:sp>
          <p:nvSpPr>
            <p:cNvPr id="13" name="Freeform 13"/>
            <p:cNvSpPr/>
            <p:nvPr/>
          </p:nvSpPr>
          <p:spPr>
            <a:xfrm>
              <a:off x="1139190" y="2522220"/>
              <a:ext cx="1430655" cy="756285"/>
            </a:xfrm>
            <a:custGeom>
              <a:avLst/>
              <a:gdLst/>
              <a:ahLst/>
              <a:cxnLst/>
              <a:rect l="l" t="t" r="r" b="b"/>
              <a:pathLst>
                <a:path w="1430655" h="756285">
                  <a:moveTo>
                    <a:pt x="0" y="756285"/>
                  </a:moveTo>
                  <a:lnTo>
                    <a:pt x="1430655" y="0"/>
                  </a:lnTo>
                </a:path>
              </a:pathLst>
            </a:custGeom>
            <a:noFill/>
            <a:ln w="17145">
              <a:solidFill>
                <a:srgbClr val="1F2937"/>
              </a:solidFill>
            </a:ln>
          </p:spPr>
        </p:sp>
        <p:sp>
          <p:nvSpPr>
            <p:cNvPr id="14" name="Freeform 14"/>
            <p:cNvSpPr/>
            <p:nvPr/>
          </p:nvSpPr>
          <p:spPr>
            <a:xfrm>
              <a:off x="2547938" y="2478405"/>
              <a:ext cx="105728" cy="86678"/>
            </a:xfrm>
            <a:custGeom>
              <a:avLst/>
              <a:gdLst/>
              <a:ahLst/>
              <a:cxnLst/>
              <a:rect l="l" t="t" r="r" b="b"/>
              <a:pathLst>
                <a:path w="105728" h="86678">
                  <a:moveTo>
                    <a:pt x="105728" y="0"/>
                  </a:moveTo>
                  <a:lnTo>
                    <a:pt x="43815" y="86678"/>
                  </a:lnTo>
                  <a:lnTo>
                    <a:pt x="0" y="1905"/>
                  </a:lnTo>
                  <a:close/>
                </a:path>
              </a:pathLst>
            </a:custGeom>
            <a:solidFill>
              <a:srgbClr val="1F2937"/>
            </a:solidFill>
            <a:ln>
              <a:noFill/>
            </a:ln>
          </p:spPr>
        </p:sp>
        <p:sp>
          <p:nvSpPr>
            <p:cNvPr id="15" name="Freeform 15"/>
            <p:cNvSpPr/>
            <p:nvPr/>
          </p:nvSpPr>
          <p:spPr>
            <a:xfrm>
              <a:off x="1159192" y="3358515"/>
              <a:ext cx="1380173" cy="9525"/>
            </a:xfrm>
            <a:custGeom>
              <a:avLst/>
              <a:gdLst/>
              <a:ahLst/>
              <a:cxnLst/>
              <a:rect l="l" t="t" r="r" b="b"/>
              <a:pathLst>
                <a:path w="1380173" h="9525">
                  <a:moveTo>
                    <a:pt x="0" y="0"/>
                  </a:moveTo>
                  <a:lnTo>
                    <a:pt x="1380173" y="0"/>
                  </a:lnTo>
                </a:path>
              </a:pathLst>
            </a:custGeom>
            <a:noFill/>
            <a:ln w="17145">
              <a:solidFill>
                <a:srgbClr val="1F2937"/>
              </a:solidFill>
            </a:ln>
          </p:spPr>
        </p:sp>
        <p:sp>
          <p:nvSpPr>
            <p:cNvPr id="16" name="Freeform 16"/>
            <p:cNvSpPr/>
            <p:nvPr/>
          </p:nvSpPr>
          <p:spPr>
            <a:xfrm>
              <a:off x="2539365" y="33108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7" name="Freeform 17"/>
            <p:cNvSpPr/>
            <p:nvPr/>
          </p:nvSpPr>
          <p:spPr>
            <a:xfrm>
              <a:off x="2971800" y="2442210"/>
              <a:ext cx="1393508" cy="367665"/>
            </a:xfrm>
            <a:custGeom>
              <a:avLst/>
              <a:gdLst/>
              <a:ahLst/>
              <a:cxnLst/>
              <a:rect l="l" t="t" r="r" b="b"/>
              <a:pathLst>
                <a:path w="1393508" h="367665">
                  <a:moveTo>
                    <a:pt x="0" y="0"/>
                  </a:moveTo>
                  <a:lnTo>
                    <a:pt x="1393508" y="367665"/>
                  </a:lnTo>
                </a:path>
              </a:pathLst>
            </a:custGeom>
            <a:noFill/>
            <a:ln w="17145">
              <a:solidFill>
                <a:srgbClr val="1F2937"/>
              </a:solidFill>
            </a:ln>
          </p:spPr>
        </p:sp>
        <p:sp>
          <p:nvSpPr>
            <p:cNvPr id="18" name="Freeform 18"/>
            <p:cNvSpPr/>
            <p:nvPr/>
          </p:nvSpPr>
          <p:spPr>
            <a:xfrm>
              <a:off x="4353878" y="2764155"/>
              <a:ext cx="103822" cy="92392"/>
            </a:xfrm>
            <a:custGeom>
              <a:avLst/>
              <a:gdLst/>
              <a:ahLst/>
              <a:cxnLst/>
              <a:rect l="l" t="t" r="r" b="b"/>
              <a:pathLst>
                <a:path w="103822" h="92392">
                  <a:moveTo>
                    <a:pt x="103822" y="70485"/>
                  </a:moveTo>
                  <a:lnTo>
                    <a:pt x="0" y="92392"/>
                  </a:lnTo>
                  <a:lnTo>
                    <a:pt x="23812" y="0"/>
                  </a:lnTo>
                  <a:close/>
                </a:path>
              </a:pathLst>
            </a:custGeom>
            <a:solidFill>
              <a:srgbClr val="1F2937"/>
            </a:solidFill>
            <a:ln>
              <a:noFill/>
            </a:ln>
          </p:spPr>
        </p:sp>
        <p:sp>
          <p:nvSpPr>
            <p:cNvPr id="19" name="Freeform 19"/>
            <p:cNvSpPr/>
            <p:nvPr/>
          </p:nvSpPr>
          <p:spPr>
            <a:xfrm>
              <a:off x="2971800" y="2947035"/>
              <a:ext cx="1393508" cy="367665"/>
            </a:xfrm>
            <a:custGeom>
              <a:avLst/>
              <a:gdLst/>
              <a:ahLst/>
              <a:cxnLst/>
              <a:rect l="l" t="t" r="r" b="b"/>
              <a:pathLst>
                <a:path w="1393508" h="367665">
                  <a:moveTo>
                    <a:pt x="0" y="367665"/>
                  </a:moveTo>
                  <a:lnTo>
                    <a:pt x="1393508" y="0"/>
                  </a:lnTo>
                </a:path>
              </a:pathLst>
            </a:custGeom>
            <a:noFill/>
            <a:ln w="17145">
              <a:solidFill>
                <a:srgbClr val="1F2937"/>
              </a:solidFill>
            </a:ln>
          </p:spPr>
        </p:sp>
        <p:sp>
          <p:nvSpPr>
            <p:cNvPr id="20" name="Freeform 20"/>
            <p:cNvSpPr/>
            <p:nvPr/>
          </p:nvSpPr>
          <p:spPr>
            <a:xfrm>
              <a:off x="4353878" y="2900362"/>
              <a:ext cx="103822" cy="92392"/>
            </a:xfrm>
            <a:custGeom>
              <a:avLst/>
              <a:gdLst/>
              <a:ahLst/>
              <a:cxnLst/>
              <a:rect l="l" t="t" r="r" b="b"/>
              <a:pathLst>
                <a:path w="103822" h="92392">
                  <a:moveTo>
                    <a:pt x="103822" y="21908"/>
                  </a:moveTo>
                  <a:lnTo>
                    <a:pt x="23812" y="92392"/>
                  </a:lnTo>
                  <a:lnTo>
                    <a:pt x="0" y="0"/>
                  </a:lnTo>
                  <a:close/>
                </a:path>
              </a:pathLst>
            </a:custGeom>
            <a:solidFill>
              <a:srgbClr val="1F2937"/>
            </a:solidFill>
            <a:ln>
              <a:noFill/>
            </a:ln>
          </p:spPr>
        </p:sp>
        <p:sp>
          <p:nvSpPr>
            <p:cNvPr id="21" name="Ellipse 21"/>
            <p:cNvSpPr/>
            <p:nvPr/>
          </p:nvSpPr>
          <p:spPr>
            <a:xfrm>
              <a:off x="825818" y="2236470"/>
              <a:ext cx="323850" cy="323850"/>
            </a:xfrm>
            <a:prstGeom prst="ellipse">
              <a:avLst/>
            </a:prstGeom>
            <a:solidFill>
              <a:srgbClr val="FFFFFF"/>
            </a:solidFill>
            <a:ln w="17145">
              <a:solidFill>
                <a:srgbClr val="0E7C86"/>
              </a:solidFill>
            </a:ln>
          </p:spPr>
        </p:sp>
        <p:sp>
          <p:nvSpPr>
            <p:cNvPr id="22" name="Ellipse 22"/>
            <p:cNvSpPr/>
            <p:nvPr/>
          </p:nvSpPr>
          <p:spPr>
            <a:xfrm>
              <a:off x="825818" y="3196590"/>
              <a:ext cx="323850" cy="323850"/>
            </a:xfrm>
            <a:prstGeom prst="ellipse">
              <a:avLst/>
            </a:prstGeom>
            <a:solidFill>
              <a:srgbClr val="FFFFFF"/>
            </a:solidFill>
            <a:ln w="17145">
              <a:solidFill>
                <a:srgbClr val="0E7C86"/>
              </a:solidFill>
            </a:ln>
          </p:spPr>
        </p:sp>
        <p:sp>
          <p:nvSpPr>
            <p:cNvPr id="23" name="Ellipse 23"/>
            <p:cNvSpPr/>
            <p:nvPr/>
          </p:nvSpPr>
          <p:spPr>
            <a:xfrm>
              <a:off x="2644140" y="2236470"/>
              <a:ext cx="323850" cy="323850"/>
            </a:xfrm>
            <a:prstGeom prst="ellipse">
              <a:avLst/>
            </a:prstGeom>
            <a:solidFill>
              <a:srgbClr val="0E7C86"/>
            </a:solidFill>
            <a:ln w="17145">
              <a:solidFill>
                <a:srgbClr val="0E7C86"/>
              </a:solidFill>
            </a:ln>
          </p:spPr>
        </p:sp>
        <p:sp>
          <p:nvSpPr>
            <p:cNvPr id="24" name="Ellipse 24"/>
            <p:cNvSpPr/>
            <p:nvPr/>
          </p:nvSpPr>
          <p:spPr>
            <a:xfrm>
              <a:off x="2644140" y="3196590"/>
              <a:ext cx="323850" cy="323850"/>
            </a:xfrm>
            <a:prstGeom prst="ellipse">
              <a:avLst/>
            </a:prstGeom>
            <a:solidFill>
              <a:srgbClr val="0E7C86"/>
            </a:solidFill>
            <a:ln w="17145">
              <a:solidFill>
                <a:srgbClr val="0E7C86"/>
              </a:solidFill>
            </a:ln>
          </p:spPr>
        </p:sp>
        <p:sp>
          <p:nvSpPr>
            <p:cNvPr id="25" name="Ellipse 25"/>
            <p:cNvSpPr/>
            <p:nvPr/>
          </p:nvSpPr>
          <p:spPr>
            <a:xfrm>
              <a:off x="4461510" y="2716530"/>
              <a:ext cx="323850" cy="323850"/>
            </a:xfrm>
            <a:prstGeom prst="ellipse">
              <a:avLst/>
            </a:prstGeom>
            <a:solidFill>
              <a:srgbClr val="FFFFFF"/>
            </a:solidFill>
            <a:ln w="17145">
              <a:solidFill>
                <a:srgbClr val="0E7C86"/>
              </a:solidFill>
            </a:ln>
          </p:spPr>
        </p:sp>
        <p:sp>
          <p:nvSpPr>
            <p:cNvPr id="26" name="TextBox 26"/>
            <p:cNvSpPr txBox="1"/>
            <p:nvPr/>
          </p:nvSpPr>
          <p:spPr>
            <a:xfrm>
              <a:off x="795063" y="2323148"/>
              <a:ext cx="38535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x₁=1</a:t>
              </a:r>
            </a:p>
          </p:txBody>
        </p:sp>
        <p:sp>
          <p:nvSpPr>
            <p:cNvPr id="27" name="TextBox 27"/>
            <p:cNvSpPr txBox="1"/>
            <p:nvPr/>
          </p:nvSpPr>
          <p:spPr>
            <a:xfrm>
              <a:off x="795063" y="3284220"/>
              <a:ext cx="38535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x₂=0</a:t>
              </a:r>
            </a:p>
          </p:txBody>
        </p:sp>
        <p:sp>
          <p:nvSpPr>
            <p:cNvPr id="28" name="TextBox 28"/>
            <p:cNvSpPr txBox="1"/>
            <p:nvPr/>
          </p:nvSpPr>
          <p:spPr>
            <a:xfrm>
              <a:off x="2706677" y="2323148"/>
              <a:ext cx="1987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h₁</a:t>
              </a:r>
            </a:p>
          </p:txBody>
        </p:sp>
        <p:sp>
          <p:nvSpPr>
            <p:cNvPr id="29" name="TextBox 29"/>
            <p:cNvSpPr txBox="1"/>
            <p:nvPr/>
          </p:nvSpPr>
          <p:spPr>
            <a:xfrm>
              <a:off x="2706677" y="3284220"/>
              <a:ext cx="1987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h₂</a:t>
              </a:r>
            </a:p>
          </p:txBody>
        </p:sp>
        <p:sp>
          <p:nvSpPr>
            <p:cNvPr id="30" name="TextBox 30"/>
            <p:cNvSpPr txBox="1"/>
            <p:nvPr/>
          </p:nvSpPr>
          <p:spPr>
            <a:xfrm>
              <a:off x="4570693" y="2804160"/>
              <a:ext cx="1054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o</a:t>
              </a:r>
            </a:p>
          </p:txBody>
        </p:sp>
        <p:sp>
          <p:nvSpPr>
            <p:cNvPr id="31" name="Rectangle 31"/>
            <p:cNvSpPr/>
            <p:nvPr/>
          </p:nvSpPr>
          <p:spPr>
            <a:xfrm>
              <a:off x="1824038" y="2305050"/>
              <a:ext cx="144780" cy="173355"/>
            </a:xfrm>
            <a:prstGeom prst="roundRect">
              <a:avLst>
                <a:gd name="adj" fmla="val 26316"/>
              </a:avLst>
            </a:prstGeom>
            <a:solidFill>
              <a:srgbClr val="FFFFFF"/>
            </a:solidFill>
            <a:ln>
              <a:noFill/>
            </a:ln>
          </p:spPr>
        </p:sp>
        <p:sp>
          <p:nvSpPr>
            <p:cNvPr id="32" name="TextBox 32"/>
            <p:cNvSpPr txBox="1"/>
            <p:nvPr/>
          </p:nvSpPr>
          <p:spPr>
            <a:xfrm>
              <a:off x="1855194" y="233981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3" name="Rectangle 33"/>
            <p:cNvSpPr/>
            <p:nvPr/>
          </p:nvSpPr>
          <p:spPr>
            <a:xfrm>
              <a:off x="1824038" y="2785110"/>
              <a:ext cx="144780" cy="173355"/>
            </a:xfrm>
            <a:prstGeom prst="roundRect">
              <a:avLst>
                <a:gd name="adj" fmla="val 26316"/>
              </a:avLst>
            </a:prstGeom>
            <a:solidFill>
              <a:srgbClr val="FFFFFF"/>
            </a:solidFill>
            <a:ln>
              <a:noFill/>
            </a:ln>
          </p:spPr>
        </p:sp>
        <p:sp>
          <p:nvSpPr>
            <p:cNvPr id="34" name="TextBox 34"/>
            <p:cNvSpPr txBox="1"/>
            <p:nvPr/>
          </p:nvSpPr>
          <p:spPr>
            <a:xfrm>
              <a:off x="1855194" y="281987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5" name="Rectangle 35"/>
            <p:cNvSpPr/>
            <p:nvPr/>
          </p:nvSpPr>
          <p:spPr>
            <a:xfrm>
              <a:off x="1643062" y="2881312"/>
              <a:ext cx="144780" cy="173355"/>
            </a:xfrm>
            <a:prstGeom prst="roundRect">
              <a:avLst>
                <a:gd name="adj" fmla="val 26316"/>
              </a:avLst>
            </a:prstGeom>
            <a:solidFill>
              <a:srgbClr val="FFFFFF"/>
            </a:solidFill>
            <a:ln>
              <a:noFill/>
            </a:ln>
          </p:spPr>
        </p:sp>
        <p:sp>
          <p:nvSpPr>
            <p:cNvPr id="36" name="TextBox 36"/>
            <p:cNvSpPr txBox="1"/>
            <p:nvPr/>
          </p:nvSpPr>
          <p:spPr>
            <a:xfrm>
              <a:off x="1674219" y="2916079"/>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7" name="Rectangle 37"/>
            <p:cNvSpPr/>
            <p:nvPr/>
          </p:nvSpPr>
          <p:spPr>
            <a:xfrm>
              <a:off x="1789748" y="3266122"/>
              <a:ext cx="213360" cy="173355"/>
            </a:xfrm>
            <a:prstGeom prst="roundRect">
              <a:avLst>
                <a:gd name="adj" fmla="val 21978"/>
              </a:avLst>
            </a:prstGeom>
            <a:solidFill>
              <a:srgbClr val="FFFFFF"/>
            </a:solidFill>
            <a:ln>
              <a:noFill/>
            </a:ln>
          </p:spPr>
        </p:sp>
        <p:sp>
          <p:nvSpPr>
            <p:cNvPr id="38" name="TextBox 38"/>
            <p:cNvSpPr txBox="1"/>
            <p:nvPr/>
          </p:nvSpPr>
          <p:spPr>
            <a:xfrm>
              <a:off x="1818914" y="3300889"/>
              <a:ext cx="15502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9" name="Rectangle 39"/>
            <p:cNvSpPr/>
            <p:nvPr/>
          </p:nvSpPr>
          <p:spPr>
            <a:xfrm>
              <a:off x="3642360" y="2545080"/>
              <a:ext cx="144780" cy="173355"/>
            </a:xfrm>
            <a:prstGeom prst="roundRect">
              <a:avLst>
                <a:gd name="adj" fmla="val 26316"/>
              </a:avLst>
            </a:prstGeom>
            <a:solidFill>
              <a:srgbClr val="FFFFFF"/>
            </a:solidFill>
            <a:ln>
              <a:noFill/>
            </a:ln>
          </p:spPr>
        </p:sp>
        <p:sp>
          <p:nvSpPr>
            <p:cNvPr id="40" name="TextBox 40"/>
            <p:cNvSpPr txBox="1"/>
            <p:nvPr/>
          </p:nvSpPr>
          <p:spPr>
            <a:xfrm>
              <a:off x="3673517" y="257984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41" name="Rectangle 41"/>
            <p:cNvSpPr/>
            <p:nvPr/>
          </p:nvSpPr>
          <p:spPr>
            <a:xfrm>
              <a:off x="3608070" y="3026092"/>
              <a:ext cx="213360" cy="173355"/>
            </a:xfrm>
            <a:prstGeom prst="roundRect">
              <a:avLst>
                <a:gd name="adj" fmla="val 21978"/>
              </a:avLst>
            </a:prstGeom>
            <a:solidFill>
              <a:srgbClr val="FFFFFF"/>
            </a:solidFill>
            <a:ln>
              <a:noFill/>
            </a:ln>
          </p:spPr>
        </p:sp>
        <p:sp>
          <p:nvSpPr>
            <p:cNvPr id="42" name="TextBox 42"/>
            <p:cNvSpPr txBox="1"/>
            <p:nvPr/>
          </p:nvSpPr>
          <p:spPr>
            <a:xfrm>
              <a:off x="3637237" y="3060859"/>
              <a:ext cx="15502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43" name="TextBox 43"/>
            <p:cNvSpPr txBox="1"/>
            <p:nvPr/>
          </p:nvSpPr>
          <p:spPr>
            <a:xfrm>
              <a:off x="2598363" y="1977390"/>
              <a:ext cx="41540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b₁ = −1</a:t>
              </a:r>
            </a:p>
          </p:txBody>
        </p:sp>
        <p:sp>
          <p:nvSpPr>
            <p:cNvPr id="44" name="TextBox 44"/>
            <p:cNvSpPr txBox="1"/>
            <p:nvPr/>
          </p:nvSpPr>
          <p:spPr>
            <a:xfrm>
              <a:off x="2631681" y="3630930"/>
              <a:ext cx="34876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b₂ = 0</a:t>
              </a:r>
            </a:p>
          </p:txBody>
        </p:sp>
        <p:sp>
          <p:nvSpPr>
            <p:cNvPr id="45" name="TextBox 45"/>
            <p:cNvSpPr txBox="1"/>
            <p:nvPr/>
          </p:nvSpPr>
          <p:spPr>
            <a:xfrm>
              <a:off x="4540491" y="2337435"/>
              <a:ext cx="34876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b₃ = 0</a:t>
              </a:r>
            </a:p>
          </p:txBody>
        </p:sp>
      </p:grpSp>
      <p:grpSp>
        <p:nvGrpSpPr>
          <p:cNvPr id="53" name="c1-callout-2"/>
          <p:cNvGrpSpPr/>
          <p:nvPr/>
        </p:nvGrpSpPr>
        <p:grpSpPr>
          <a:xfrm>
            <a:off x="533400" y="3988118"/>
            <a:ext cx="4544378" cy="1524000"/>
            <a:chOff x="533400" y="3988118"/>
            <a:chExt cx="4544378" cy="1524000"/>
          </a:xfrm>
        </p:grpSpPr>
        <p:sp>
          <p:nvSpPr>
            <p:cNvPr id="47" name="Rectangle 47"/>
            <p:cNvSpPr/>
            <p:nvPr/>
          </p:nvSpPr>
          <p:spPr>
            <a:xfrm>
              <a:off x="533400" y="3988118"/>
              <a:ext cx="4544378" cy="1524000"/>
            </a:xfrm>
            <a:prstGeom prst="roundRect">
              <a:avLst>
                <a:gd name="adj" fmla="val 7500"/>
              </a:avLst>
            </a:prstGeom>
            <a:solidFill>
              <a:srgbClr val="F4F6FB"/>
            </a:solidFill>
            <a:ln>
              <a:noFill/>
            </a:ln>
          </p:spPr>
        </p:sp>
        <p:grpSp>
          <p:nvGrpSpPr>
            <p:cNvPr id="51" name="Group 51"/>
            <p:cNvGrpSpPr/>
            <p:nvPr/>
          </p:nvGrpSpPr>
          <p:grpSpPr>
            <a:xfrm>
              <a:off x="738188" y="4650105"/>
              <a:ext cx="200026" cy="200026"/>
              <a:chOff x="738188" y="4650105"/>
              <a:chExt cx="200026" cy="200026"/>
            </a:xfrm>
          </p:grpSpPr>
          <p:sp>
            <p:nvSpPr>
              <p:cNvPr id="48" name="Freeform 48"/>
              <p:cNvSpPr/>
              <p:nvPr/>
            </p:nvSpPr>
            <p:spPr>
              <a:xfrm>
                <a:off x="738188" y="465010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9" name="Freeform 49"/>
              <p:cNvSpPr/>
              <p:nvPr/>
            </p:nvSpPr>
            <p:spPr>
              <a:xfrm>
                <a:off x="838200" y="471678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0" name="Freeform 50"/>
              <p:cNvSpPr/>
              <p:nvPr/>
            </p:nvSpPr>
            <p:spPr>
              <a:xfrm>
                <a:off x="827088" y="475011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2" name="TextBox 52"/>
            <p:cNvSpPr txBox="1"/>
            <p:nvPr/>
          </p:nvSpPr>
          <p:spPr>
            <a:xfrm>
              <a:off x="1040511" y="4519136"/>
              <a:ext cx="3413887"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边上的数字是初始权值，b 是各神经元的偏</a:t>
              </a:r>
              <a:br/>
              <a:r>
                <a:rPr lang="zh-CN" sz="1420" dirty="0">
                  <a:solidFill>
                    <a:srgbClr val="1F2937"/>
                  </a:solidFill>
                  <a:latin typeface="+mn-lt"/>
                  <a:ea typeface="+mn-ea"/>
                  <a:cs typeface="+mn-cs"/>
                </a:rPr>
                <a:t>置。</a:t>
              </a:r>
            </a:p>
          </p:txBody>
        </p:sp>
      </p:grpSp>
      <p:grpSp>
        <p:nvGrpSpPr>
          <p:cNvPr id="81" name="c2-table-1"/>
          <p:cNvGrpSpPr/>
          <p:nvPr/>
        </p:nvGrpSpPr>
        <p:grpSpPr>
          <a:xfrm>
            <a:off x="5376862" y="1954530"/>
            <a:ext cx="6281738" cy="2659857"/>
            <a:chOff x="5376862" y="1954530"/>
            <a:chExt cx="6281738" cy="2659857"/>
          </a:xfrm>
        </p:grpSpPr>
        <p:sp>
          <p:nvSpPr>
            <p:cNvPr id="54" name="Rectangle 54"/>
            <p:cNvSpPr/>
            <p:nvPr/>
          </p:nvSpPr>
          <p:spPr>
            <a:xfrm>
              <a:off x="5382578" y="1954530"/>
              <a:ext cx="6276022" cy="430530"/>
            </a:xfrm>
            <a:prstGeom prst="rect">
              <a:avLst/>
            </a:prstGeom>
            <a:solidFill>
              <a:srgbClr val="0E7C86"/>
            </a:solidFill>
            <a:ln>
              <a:noFill/>
            </a:ln>
          </p:spPr>
        </p:sp>
        <p:sp>
          <p:nvSpPr>
            <p:cNvPr id="55" name="TextBox 55"/>
            <p:cNvSpPr txBox="1"/>
            <p:nvPr/>
          </p:nvSpPr>
          <p:spPr>
            <a:xfrm>
              <a:off x="5716905"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位置</a:t>
              </a:r>
            </a:p>
          </p:txBody>
        </p:sp>
        <p:sp>
          <p:nvSpPr>
            <p:cNvPr id="56" name="TextBox 56"/>
            <p:cNvSpPr txBox="1"/>
            <p:nvPr/>
          </p:nvSpPr>
          <p:spPr>
            <a:xfrm>
              <a:off x="7707820" y="208597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净输入</a:t>
              </a:r>
            </a:p>
          </p:txBody>
        </p:sp>
        <p:sp>
          <p:nvSpPr>
            <p:cNvPr id="57" name="TextBox 57"/>
            <p:cNvSpPr txBox="1"/>
            <p:nvPr/>
          </p:nvSpPr>
          <p:spPr>
            <a:xfrm>
              <a:off x="10343388" y="208597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激活后</a:t>
              </a:r>
            </a:p>
          </p:txBody>
        </p:sp>
        <p:sp>
          <p:nvSpPr>
            <p:cNvPr id="58" name="TextBox 58"/>
            <p:cNvSpPr txBox="1"/>
            <p:nvPr/>
          </p:nvSpPr>
          <p:spPr>
            <a:xfrm>
              <a:off x="5487924" y="2515552"/>
              <a:ext cx="57275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隐层 h₁</a:t>
              </a:r>
            </a:p>
          </p:txBody>
        </p:sp>
        <p:sp>
          <p:nvSpPr>
            <p:cNvPr id="59" name="TextBox 59"/>
            <p:cNvSpPr txBox="1"/>
            <p:nvPr/>
          </p:nvSpPr>
          <p:spPr>
            <a:xfrm>
              <a:off x="6491859" y="2515552"/>
              <a:ext cx="182148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net₁ = 1×1 + 1×0 − 1 = 0</a:t>
              </a:r>
            </a:p>
          </p:txBody>
        </p:sp>
        <p:sp>
          <p:nvSpPr>
            <p:cNvPr id="60" name="TextBox 60"/>
            <p:cNvSpPr txBox="1"/>
            <p:nvPr/>
          </p:nvSpPr>
          <p:spPr>
            <a:xfrm>
              <a:off x="9630346" y="2515552"/>
              <a:ext cx="144993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s₁ = σ(0) = 0.5000</a:t>
              </a:r>
            </a:p>
          </p:txBody>
        </p:sp>
        <p:sp>
          <p:nvSpPr>
            <p:cNvPr id="61" name="Rectangle 61"/>
            <p:cNvSpPr/>
            <p:nvPr/>
          </p:nvSpPr>
          <p:spPr>
            <a:xfrm>
              <a:off x="5382578" y="2809875"/>
              <a:ext cx="6276022" cy="9525"/>
            </a:xfrm>
            <a:prstGeom prst="rect">
              <a:avLst/>
            </a:prstGeom>
            <a:solidFill>
              <a:srgbClr val="D9DFEA"/>
            </a:solidFill>
            <a:ln>
              <a:noFill/>
            </a:ln>
          </p:spPr>
        </p:sp>
        <p:sp>
          <p:nvSpPr>
            <p:cNvPr id="62" name="Rectangle 62"/>
            <p:cNvSpPr/>
            <p:nvPr/>
          </p:nvSpPr>
          <p:spPr>
            <a:xfrm>
              <a:off x="5382578" y="2814638"/>
              <a:ext cx="6276022" cy="430530"/>
            </a:xfrm>
            <a:prstGeom prst="rect">
              <a:avLst/>
            </a:prstGeom>
            <a:solidFill>
              <a:srgbClr val="F4F6FB"/>
            </a:solidFill>
            <a:ln>
              <a:noFill/>
            </a:ln>
          </p:spPr>
        </p:sp>
        <p:sp>
          <p:nvSpPr>
            <p:cNvPr id="63" name="TextBox 63"/>
            <p:cNvSpPr txBox="1"/>
            <p:nvPr/>
          </p:nvSpPr>
          <p:spPr>
            <a:xfrm>
              <a:off x="5487924" y="2946082"/>
              <a:ext cx="57275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隐层 h₂</a:t>
              </a:r>
            </a:p>
          </p:txBody>
        </p:sp>
        <p:sp>
          <p:nvSpPr>
            <p:cNvPr id="64" name="TextBox 64"/>
            <p:cNvSpPr txBox="1"/>
            <p:nvPr/>
          </p:nvSpPr>
          <p:spPr>
            <a:xfrm>
              <a:off x="6491859" y="2946082"/>
              <a:ext cx="2088032"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net₂ = 1×1 + (−1)×0 + 0 = 1</a:t>
              </a:r>
            </a:p>
          </p:txBody>
        </p:sp>
        <p:sp>
          <p:nvSpPr>
            <p:cNvPr id="65" name="TextBox 65"/>
            <p:cNvSpPr txBox="1"/>
            <p:nvPr/>
          </p:nvSpPr>
          <p:spPr>
            <a:xfrm>
              <a:off x="9630346" y="2946082"/>
              <a:ext cx="144993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s₂ = σ(1) = 0.7311</a:t>
              </a:r>
            </a:p>
          </p:txBody>
        </p:sp>
        <p:sp>
          <p:nvSpPr>
            <p:cNvPr id="66" name="Rectangle 66"/>
            <p:cNvSpPr/>
            <p:nvPr/>
          </p:nvSpPr>
          <p:spPr>
            <a:xfrm>
              <a:off x="5382578" y="3240405"/>
              <a:ext cx="6276022" cy="9525"/>
            </a:xfrm>
            <a:prstGeom prst="rect">
              <a:avLst/>
            </a:prstGeom>
            <a:solidFill>
              <a:srgbClr val="D9DFEA"/>
            </a:solidFill>
            <a:ln>
              <a:noFill/>
            </a:ln>
          </p:spPr>
        </p:sp>
        <p:sp>
          <p:nvSpPr>
            <p:cNvPr id="67" name="TextBox 67"/>
            <p:cNvSpPr txBox="1"/>
            <p:nvPr/>
          </p:nvSpPr>
          <p:spPr>
            <a:xfrm>
              <a:off x="5487924" y="3483292"/>
              <a:ext cx="47945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输出 o</a:t>
              </a:r>
            </a:p>
          </p:txBody>
        </p:sp>
        <p:sp>
          <p:nvSpPr>
            <p:cNvPr id="68" name="TextBox 68"/>
            <p:cNvSpPr txBox="1"/>
            <p:nvPr/>
          </p:nvSpPr>
          <p:spPr>
            <a:xfrm>
              <a:off x="6491859" y="3376612"/>
              <a:ext cx="2176272" cy="44805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net_o = 0.5000 − 0.7311 + 0 =</a:t>
              </a:r>
              <a:br/>
              <a:r>
                <a:rPr lang="zh-CN" sz="1200" dirty="0">
                  <a:solidFill>
                    <a:srgbClr val="1F2937"/>
                  </a:solidFill>
                  <a:latin typeface="+mn-lt"/>
                  <a:ea typeface="+mn-ea"/>
                  <a:cs typeface="+mn-cs"/>
                </a:rPr>
                <a:t>−0.2311</a:t>
              </a:r>
            </a:p>
          </p:txBody>
        </p:sp>
        <p:sp>
          <p:nvSpPr>
            <p:cNvPr id="69" name="Rectangle 69"/>
            <p:cNvSpPr/>
            <p:nvPr/>
          </p:nvSpPr>
          <p:spPr>
            <a:xfrm>
              <a:off x="9534525" y="3254692"/>
              <a:ext cx="2114550" cy="624840"/>
            </a:xfrm>
            <a:prstGeom prst="rect">
              <a:avLst/>
            </a:prstGeom>
            <a:solidFill>
              <a:srgbClr val="FDEEE7"/>
            </a:solidFill>
            <a:ln>
              <a:noFill/>
            </a:ln>
          </p:spPr>
        </p:sp>
        <p:sp>
          <p:nvSpPr>
            <p:cNvPr id="70" name="TextBox 70"/>
            <p:cNvSpPr txBox="1"/>
            <p:nvPr/>
          </p:nvSpPr>
          <p:spPr>
            <a:xfrm>
              <a:off x="9630346" y="3483292"/>
              <a:ext cx="1894180"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o = σ(−0.2311) = 0.4425</a:t>
              </a:r>
            </a:p>
          </p:txBody>
        </p:sp>
        <p:sp>
          <p:nvSpPr>
            <p:cNvPr id="71" name="Rectangle 71"/>
            <p:cNvSpPr/>
            <p:nvPr/>
          </p:nvSpPr>
          <p:spPr>
            <a:xfrm>
              <a:off x="5382578" y="3883342"/>
              <a:ext cx="6276022" cy="9525"/>
            </a:xfrm>
            <a:prstGeom prst="rect">
              <a:avLst/>
            </a:prstGeom>
            <a:solidFill>
              <a:srgbClr val="D9DFEA"/>
            </a:solidFill>
            <a:ln>
              <a:noFill/>
            </a:ln>
          </p:spPr>
        </p:sp>
        <p:sp>
          <p:nvSpPr>
            <p:cNvPr id="72" name="Rectangle 72"/>
            <p:cNvSpPr/>
            <p:nvPr/>
          </p:nvSpPr>
          <p:spPr>
            <a:xfrm>
              <a:off x="5382578" y="3888105"/>
              <a:ext cx="6276022" cy="430530"/>
            </a:xfrm>
            <a:prstGeom prst="rect">
              <a:avLst/>
            </a:prstGeom>
            <a:solidFill>
              <a:srgbClr val="F4F6FB"/>
            </a:solidFill>
            <a:ln>
              <a:noFill/>
            </a:ln>
          </p:spPr>
        </p:sp>
        <p:sp>
          <p:nvSpPr>
            <p:cNvPr id="73" name="TextBox 73"/>
            <p:cNvSpPr txBox="1"/>
            <p:nvPr/>
          </p:nvSpPr>
          <p:spPr>
            <a:xfrm>
              <a:off x="5487924" y="4019550"/>
              <a:ext cx="487619"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误差 E</a:t>
              </a:r>
            </a:p>
          </p:txBody>
        </p:sp>
        <p:sp>
          <p:nvSpPr>
            <p:cNvPr id="74" name="TextBox 74"/>
            <p:cNvSpPr txBox="1"/>
            <p:nvPr/>
          </p:nvSpPr>
          <p:spPr>
            <a:xfrm>
              <a:off x="6491859" y="4019550"/>
              <a:ext cx="117530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½(1 − 0.4425)²</a:t>
              </a:r>
            </a:p>
          </p:txBody>
        </p:sp>
        <p:sp>
          <p:nvSpPr>
            <p:cNvPr id="75" name="Rectangle 75"/>
            <p:cNvSpPr/>
            <p:nvPr/>
          </p:nvSpPr>
          <p:spPr>
            <a:xfrm>
              <a:off x="9534525" y="3897630"/>
              <a:ext cx="2114550" cy="411480"/>
            </a:xfrm>
            <a:prstGeom prst="rect">
              <a:avLst/>
            </a:prstGeom>
            <a:solidFill>
              <a:srgbClr val="FDEEE7"/>
            </a:solidFill>
            <a:ln>
              <a:noFill/>
            </a:ln>
          </p:spPr>
        </p:sp>
        <p:sp>
          <p:nvSpPr>
            <p:cNvPr id="76" name="TextBox 76"/>
            <p:cNvSpPr txBox="1"/>
            <p:nvPr/>
          </p:nvSpPr>
          <p:spPr>
            <a:xfrm>
              <a:off x="9630346" y="401955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0.1554</a:t>
              </a:r>
            </a:p>
          </p:txBody>
        </p:sp>
        <p:sp>
          <p:nvSpPr>
            <p:cNvPr id="77" name="Rectangle 77"/>
            <p:cNvSpPr/>
            <p:nvPr/>
          </p:nvSpPr>
          <p:spPr>
            <a:xfrm>
              <a:off x="5382578" y="1954530"/>
              <a:ext cx="6276022" cy="2364105"/>
            </a:xfrm>
            <a:prstGeom prst="rect">
              <a:avLst/>
            </a:prstGeom>
            <a:noFill/>
            <a:ln w="14288">
              <a:solidFill>
                <a:srgbClr val="D9DFEA"/>
              </a:solidFill>
            </a:ln>
          </p:spPr>
        </p:sp>
        <p:sp>
          <p:nvSpPr>
            <p:cNvPr id="78" name="Rectangle 78"/>
            <p:cNvSpPr/>
            <p:nvPr/>
          </p:nvSpPr>
          <p:spPr>
            <a:xfrm>
              <a:off x="6381750" y="1954530"/>
              <a:ext cx="9525" cy="2364105"/>
            </a:xfrm>
            <a:prstGeom prst="rect">
              <a:avLst/>
            </a:prstGeom>
            <a:solidFill>
              <a:srgbClr val="D9DFEA"/>
            </a:solidFill>
            <a:ln>
              <a:noFill/>
            </a:ln>
          </p:spPr>
        </p:sp>
        <p:sp>
          <p:nvSpPr>
            <p:cNvPr id="79" name="Rectangle 79"/>
            <p:cNvSpPr/>
            <p:nvPr/>
          </p:nvSpPr>
          <p:spPr>
            <a:xfrm>
              <a:off x="9520238" y="1954530"/>
              <a:ext cx="9525" cy="2364105"/>
            </a:xfrm>
            <a:prstGeom prst="rect">
              <a:avLst/>
            </a:prstGeom>
            <a:solidFill>
              <a:srgbClr val="D9DFEA"/>
            </a:solidFill>
            <a:ln>
              <a:noFill/>
            </a:ln>
          </p:spPr>
        </p:sp>
        <p:sp>
          <p:nvSpPr>
            <p:cNvPr id="80" name="TextBox 80"/>
            <p:cNvSpPr txBox="1"/>
            <p:nvPr/>
          </p:nvSpPr>
          <p:spPr>
            <a:xfrm>
              <a:off x="5376862" y="4394359"/>
              <a:ext cx="61452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前向传播</a:t>
              </a:r>
            </a:p>
          </p:txBody>
        </p:sp>
      </p:grpSp>
      <p:grpSp>
        <p:nvGrpSpPr>
          <p:cNvPr id="88" name="c2-callout-2"/>
          <p:cNvGrpSpPr/>
          <p:nvPr/>
        </p:nvGrpSpPr>
        <p:grpSpPr>
          <a:xfrm>
            <a:off x="5382578" y="4755832"/>
            <a:ext cx="6276022" cy="756285"/>
            <a:chOff x="5382578" y="4755832"/>
            <a:chExt cx="6276022" cy="756285"/>
          </a:xfrm>
        </p:grpSpPr>
        <p:sp>
          <p:nvSpPr>
            <p:cNvPr id="82" name="Rectangle 82"/>
            <p:cNvSpPr/>
            <p:nvPr/>
          </p:nvSpPr>
          <p:spPr>
            <a:xfrm>
              <a:off x="5382578" y="4755832"/>
              <a:ext cx="6276022" cy="756285"/>
            </a:xfrm>
            <a:prstGeom prst="roundRect">
              <a:avLst>
                <a:gd name="adj" fmla="val 15113"/>
              </a:avLst>
            </a:prstGeom>
            <a:solidFill>
              <a:srgbClr val="FDEEE7"/>
            </a:solidFill>
            <a:ln>
              <a:noFill/>
            </a:ln>
          </p:spPr>
        </p:sp>
        <p:grpSp>
          <p:nvGrpSpPr>
            <p:cNvPr id="86" name="Group 86"/>
            <p:cNvGrpSpPr/>
            <p:nvPr/>
          </p:nvGrpSpPr>
          <p:grpSpPr>
            <a:xfrm>
              <a:off x="5587365" y="5033963"/>
              <a:ext cx="200026" cy="200025"/>
              <a:chOff x="5587365" y="5033963"/>
              <a:chExt cx="200026" cy="200025"/>
            </a:xfrm>
          </p:grpSpPr>
          <p:sp>
            <p:nvSpPr>
              <p:cNvPr id="83" name="Freeform 83"/>
              <p:cNvSpPr/>
              <p:nvPr/>
            </p:nvSpPr>
            <p:spPr>
              <a:xfrm>
                <a:off x="5587365" y="503396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4" name="Freeform 84"/>
              <p:cNvSpPr/>
              <p:nvPr/>
            </p:nvSpPr>
            <p:spPr>
              <a:xfrm>
                <a:off x="5627104" y="507841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5" name="Freeform 85"/>
              <p:cNvSpPr/>
              <p:nvPr/>
            </p:nvSpPr>
            <p:spPr>
              <a:xfrm>
                <a:off x="5661819" y="518953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7" name="TextBox 87"/>
            <p:cNvSpPr txBox="1"/>
            <p:nvPr/>
          </p:nvSpPr>
          <p:spPr>
            <a:xfrm>
              <a:off x="5889688" y="4902994"/>
              <a:ext cx="5226304"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取 b₁ = −1 让 net₁ 恰好为 0，σ(0) = 0.5 是整数，手算时中间量</a:t>
              </a:r>
              <a:br/>
              <a:r>
                <a:rPr lang="zh-CN" sz="1420" dirty="0">
                  <a:solidFill>
                    <a:srgbClr val="C2410C"/>
                  </a:solidFill>
                  <a:latin typeface="+mn-lt"/>
                  <a:ea typeface="+mn-ea"/>
                  <a:cs typeface="+mn-cs"/>
                </a:rPr>
                <a:t>好核对。</a:t>
              </a:r>
            </a:p>
          </p:txBody>
        </p:sp>
      </p:grpSp>
      <p:grpSp>
        <p:nvGrpSpPr>
          <p:cNvPr id="94" name="takeaway"/>
          <p:cNvGrpSpPr/>
          <p:nvPr/>
        </p:nvGrpSpPr>
        <p:grpSpPr>
          <a:xfrm>
            <a:off x="533400" y="5844540"/>
            <a:ext cx="11125200" cy="518160"/>
            <a:chOff x="533400" y="5844540"/>
            <a:chExt cx="11125200" cy="518160"/>
          </a:xfrm>
        </p:grpSpPr>
        <p:sp>
          <p:nvSpPr>
            <p:cNvPr id="89" name="Rectangle 89"/>
            <p:cNvSpPr/>
            <p:nvPr/>
          </p:nvSpPr>
          <p:spPr>
            <a:xfrm>
              <a:off x="533400" y="5844540"/>
              <a:ext cx="11125200" cy="518160"/>
            </a:xfrm>
            <a:prstGeom prst="roundRect">
              <a:avLst>
                <a:gd name="adj" fmla="val 22059"/>
              </a:avLst>
            </a:prstGeom>
            <a:solidFill>
              <a:srgbClr val="0E7C86"/>
            </a:solidFill>
            <a:ln>
              <a:noFill/>
            </a:ln>
          </p:spPr>
        </p:sp>
        <p:grpSp>
          <p:nvGrpSpPr>
            <p:cNvPr id="92" name="Group 92"/>
            <p:cNvGrpSpPr/>
            <p:nvPr/>
          </p:nvGrpSpPr>
          <p:grpSpPr>
            <a:xfrm>
              <a:off x="738188" y="6003610"/>
              <a:ext cx="200023" cy="200023"/>
              <a:chOff x="738188" y="6003610"/>
              <a:chExt cx="200023" cy="200023"/>
            </a:xfrm>
          </p:grpSpPr>
          <p:sp>
            <p:nvSpPr>
              <p:cNvPr id="90" name="Freeform 90"/>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91" name="Freeform 91"/>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93" name="TextBox 93"/>
            <p:cNvSpPr txBox="1"/>
            <p:nvPr/>
          </p:nvSpPr>
          <p:spPr>
            <a:xfrm>
              <a:off x="1040511" y="6004084"/>
              <a:ext cx="8186585"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前向过程要做的不只是算出 o：每个神经元的输入值和 s(1−s) 都要存下来，反向过程直接取用。</a:t>
              </a:r>
            </a:p>
          </p:txBody>
        </p:sp>
      </p:grpSp>
      <p:grpSp>
        <p:nvGrpSpPr>
          <p:cNvPr id="97" name="footer"/>
          <p:cNvGrpSpPr/>
          <p:nvPr/>
        </p:nvGrpSpPr>
        <p:grpSpPr>
          <a:xfrm>
            <a:off x="528447" y="6581299"/>
            <a:ext cx="11135106" cy="190690"/>
            <a:chOff x="528447" y="6581299"/>
            <a:chExt cx="11135106" cy="190690"/>
          </a:xfrm>
        </p:grpSpPr>
        <p:sp>
          <p:nvSpPr>
            <p:cNvPr id="95" name="TextBox 9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96" name="TextBox 9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08377" cy="909257"/>
            <a:chOff x="520446" y="342900"/>
            <a:chExt cx="4108377"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410837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例题续：反向算出各层的 δ</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075091" cy="264033"/>
            <a:chOff x="526542" y="1545907"/>
            <a:chExt cx="5075091" cy="264033"/>
          </a:xfrm>
        </p:grpSpPr>
        <p:sp>
          <p:nvSpPr>
            <p:cNvPr id="7" name="TextBox 7"/>
            <p:cNvSpPr txBox="1"/>
            <p:nvPr/>
          </p:nvSpPr>
          <p:spPr>
            <a:xfrm>
              <a:off x="526542" y="1545907"/>
              <a:ext cx="507509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δ 记作损失对该神经元净输入的偏导，从输出层往回一层层求。</a:t>
              </a:r>
            </a:p>
          </p:txBody>
        </p:sp>
      </p:grpSp>
      <p:grpSp>
        <p:nvGrpSpPr>
          <p:cNvPr id="17" name="c1-card-1"/>
          <p:cNvGrpSpPr/>
          <p:nvPr/>
        </p:nvGrpSpPr>
        <p:grpSpPr>
          <a:xfrm>
            <a:off x="533400" y="1928812"/>
            <a:ext cx="5410200" cy="1448752"/>
            <a:chOff x="533400" y="1928812"/>
            <a:chExt cx="5410200" cy="1448752"/>
          </a:xfrm>
        </p:grpSpPr>
        <p:sp>
          <p:nvSpPr>
            <p:cNvPr id="9" name="Rectangle 9"/>
            <p:cNvSpPr/>
            <p:nvPr/>
          </p:nvSpPr>
          <p:spPr>
            <a:xfrm>
              <a:off x="533400" y="1928812"/>
              <a:ext cx="5410200" cy="1448752"/>
            </a:xfrm>
            <a:prstGeom prst="roundRect">
              <a:avLst>
                <a:gd name="adj" fmla="val 9204"/>
              </a:avLst>
            </a:prstGeom>
            <a:solidFill>
              <a:srgbClr val="FFFFFF"/>
            </a:solidFill>
            <a:ln w="14288">
              <a:solidFill>
                <a:srgbClr val="D9DFEA"/>
              </a:solidFill>
            </a:ln>
          </p:spPr>
        </p:sp>
        <p:sp>
          <p:nvSpPr>
            <p:cNvPr id="10" name="Rectangle 10"/>
            <p:cNvSpPr/>
            <p:nvPr/>
          </p:nvSpPr>
          <p:spPr>
            <a:xfrm>
              <a:off x="542925" y="2062162"/>
              <a:ext cx="47625" cy="1182052"/>
            </a:xfrm>
            <a:prstGeom prst="roundRect">
              <a:avLst>
                <a:gd name="adj" fmla="val 50000"/>
              </a:avLst>
            </a:prstGeom>
            <a:solidFill>
              <a:srgbClr val="14A38B"/>
            </a:solidFill>
            <a:ln>
              <a:noFill/>
            </a:ln>
          </p:spPr>
        </p:sp>
        <p:sp>
          <p:nvSpPr>
            <p:cNvPr id="11" name="Rectangle 11"/>
            <p:cNvSpPr/>
            <p:nvPr/>
          </p:nvSpPr>
          <p:spPr>
            <a:xfrm>
              <a:off x="752475" y="2109788"/>
              <a:ext cx="582930" cy="238125"/>
            </a:xfrm>
            <a:prstGeom prst="roundRect">
              <a:avLst>
                <a:gd name="adj" fmla="val 50000"/>
              </a:avLst>
            </a:prstGeom>
            <a:solidFill>
              <a:srgbClr val="E3F5F1"/>
            </a:solidFill>
            <a:ln>
              <a:noFill/>
            </a:ln>
          </p:spPr>
        </p:sp>
        <p:sp>
          <p:nvSpPr>
            <p:cNvPr id="12" name="TextBox 12"/>
            <p:cNvSpPr txBox="1"/>
            <p:nvPr/>
          </p:nvSpPr>
          <p:spPr>
            <a:xfrm>
              <a:off x="841096" y="2142649"/>
              <a:ext cx="405689"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输出层</a:t>
              </a:r>
            </a:p>
          </p:txBody>
        </p:sp>
        <p:sp>
          <p:nvSpPr>
            <p:cNvPr id="13" name="TextBox 13"/>
            <p:cNvSpPr txBox="1"/>
            <p:nvPr/>
          </p:nvSpPr>
          <p:spPr>
            <a:xfrm>
              <a:off x="1443228" y="2149316"/>
              <a:ext cx="198939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δₒ 由误差和激活导数相乘</a:t>
              </a:r>
            </a:p>
          </p:txBody>
        </p:sp>
        <p:sp>
          <p:nvSpPr>
            <p:cNvPr id="14" name="TextBox 14"/>
            <p:cNvSpPr txBox="1"/>
            <p:nvPr/>
          </p:nvSpPr>
          <p:spPr>
            <a:xfrm>
              <a:off x="745998" y="2465546"/>
              <a:ext cx="3000659"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δ_o = ∂E/∂net_o = −(t − o)·o(1 − o)</a:t>
              </a:r>
            </a:p>
          </p:txBody>
        </p:sp>
        <p:sp>
          <p:nvSpPr>
            <p:cNvPr id="15" name="TextBox 15"/>
            <p:cNvSpPr txBox="1"/>
            <p:nvPr/>
          </p:nvSpPr>
          <p:spPr>
            <a:xfrm>
              <a:off x="745998" y="2751296"/>
              <a:ext cx="383314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 −(1 − 0.4425) × 0.4425 × 0.5575 = </a:t>
              </a:r>
              <a:r>
                <a:rPr lang="zh-CN" sz="1280" b="1" dirty="0">
                  <a:solidFill>
                    <a:srgbClr val="1F2937"/>
                  </a:solidFill>
                  <a:latin typeface="+mn-lt"/>
                  <a:ea typeface="+mn-ea"/>
                  <a:cs typeface="+mn-cs"/>
                </a:rPr>
                <a:t>−0.13753</a:t>
              </a:r>
            </a:p>
          </p:txBody>
        </p:sp>
        <p:sp>
          <p:nvSpPr>
            <p:cNvPr id="16" name="TextBox 16"/>
            <p:cNvSpPr txBox="1"/>
            <p:nvPr/>
          </p:nvSpPr>
          <p:spPr>
            <a:xfrm>
              <a:off x="747141" y="3031808"/>
              <a:ext cx="383421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三个因子：误差 −0.5575、输出 0.4425、1 − 输出 0.5575。</a:t>
              </a:r>
            </a:p>
          </p:txBody>
        </p:sp>
      </p:grpSp>
      <p:grpSp>
        <p:nvGrpSpPr>
          <p:cNvPr id="26" name="c1-card-2"/>
          <p:cNvGrpSpPr/>
          <p:nvPr/>
        </p:nvGrpSpPr>
        <p:grpSpPr>
          <a:xfrm>
            <a:off x="533400" y="3542348"/>
            <a:ext cx="5410200" cy="2085975"/>
            <a:chOff x="533400" y="3542348"/>
            <a:chExt cx="5410200" cy="2085975"/>
          </a:xfrm>
        </p:grpSpPr>
        <p:sp>
          <p:nvSpPr>
            <p:cNvPr id="18" name="Rectangle 18"/>
            <p:cNvSpPr/>
            <p:nvPr/>
          </p:nvSpPr>
          <p:spPr>
            <a:xfrm>
              <a:off x="533400" y="3542348"/>
              <a:ext cx="5410200" cy="2085975"/>
            </a:xfrm>
            <a:prstGeom prst="roundRect">
              <a:avLst>
                <a:gd name="adj" fmla="val 6393"/>
              </a:avLst>
            </a:prstGeom>
            <a:solidFill>
              <a:srgbClr val="FFFFFF"/>
            </a:solidFill>
            <a:ln w="14288">
              <a:solidFill>
                <a:srgbClr val="D9DFEA"/>
              </a:solidFill>
            </a:ln>
          </p:spPr>
        </p:sp>
        <p:sp>
          <p:nvSpPr>
            <p:cNvPr id="19" name="Rectangle 19"/>
            <p:cNvSpPr/>
            <p:nvPr/>
          </p:nvSpPr>
          <p:spPr>
            <a:xfrm>
              <a:off x="542925" y="3675698"/>
              <a:ext cx="47625" cy="1819275"/>
            </a:xfrm>
            <a:prstGeom prst="roundRect">
              <a:avLst>
                <a:gd name="adj" fmla="val 50000"/>
              </a:avLst>
            </a:prstGeom>
            <a:solidFill>
              <a:srgbClr val="14A38B"/>
            </a:solidFill>
            <a:ln>
              <a:noFill/>
            </a:ln>
          </p:spPr>
        </p:sp>
        <p:sp>
          <p:nvSpPr>
            <p:cNvPr id="20" name="Rectangle 20"/>
            <p:cNvSpPr/>
            <p:nvPr/>
          </p:nvSpPr>
          <p:spPr>
            <a:xfrm>
              <a:off x="752475" y="3723322"/>
              <a:ext cx="1204912" cy="238125"/>
            </a:xfrm>
            <a:prstGeom prst="roundRect">
              <a:avLst>
                <a:gd name="adj" fmla="val 50000"/>
              </a:avLst>
            </a:prstGeom>
            <a:solidFill>
              <a:srgbClr val="E3F5F1"/>
            </a:solidFill>
            <a:ln>
              <a:noFill/>
            </a:ln>
          </p:spPr>
        </p:sp>
        <p:sp>
          <p:nvSpPr>
            <p:cNvPr id="21" name="TextBox 21"/>
            <p:cNvSpPr txBox="1"/>
            <p:nvPr/>
          </p:nvSpPr>
          <p:spPr>
            <a:xfrm>
              <a:off x="822744" y="3756184"/>
              <a:ext cx="1065327"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输出层的三个偏导</a:t>
              </a:r>
            </a:p>
          </p:txBody>
        </p:sp>
        <p:sp>
          <p:nvSpPr>
            <p:cNvPr id="22" name="TextBox 22"/>
            <p:cNvSpPr txBox="1"/>
            <p:nvPr/>
          </p:nvSpPr>
          <p:spPr>
            <a:xfrm>
              <a:off x="2065210" y="3762851"/>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乘上各自连接的输入</a:t>
              </a:r>
            </a:p>
          </p:txBody>
        </p:sp>
        <p:sp>
          <p:nvSpPr>
            <p:cNvPr id="23" name="TextBox 23"/>
            <p:cNvSpPr txBox="1"/>
            <p:nvPr/>
          </p:nvSpPr>
          <p:spPr>
            <a:xfrm>
              <a:off x="745998" y="4079081"/>
              <a:ext cx="4120593"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∂E/∂u₁ = δₒ · s₁ = −0.13753 × 0.5000 = </a:t>
              </a:r>
              <a:r>
                <a:rPr lang="zh-CN" sz="1280" b="1" dirty="0">
                  <a:solidFill>
                    <a:srgbClr val="1F2937"/>
                  </a:solidFill>
                  <a:latin typeface="+mn-lt"/>
                  <a:ea typeface="+mn-ea"/>
                  <a:cs typeface="+mn-cs"/>
                </a:rPr>
                <a:t>−0.06877</a:t>
              </a:r>
            </a:p>
          </p:txBody>
        </p:sp>
        <p:sp>
          <p:nvSpPr>
            <p:cNvPr id="24" name="TextBox 24"/>
            <p:cNvSpPr txBox="1"/>
            <p:nvPr/>
          </p:nvSpPr>
          <p:spPr>
            <a:xfrm>
              <a:off x="745998" y="4363879"/>
              <a:ext cx="4120593"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∂E/∂u₂ = δₒ · s₂ = −0.13753 × 0.7311 = </a:t>
              </a:r>
              <a:r>
                <a:rPr lang="zh-CN" sz="1280" b="1" dirty="0">
                  <a:solidFill>
                    <a:srgbClr val="1F2937"/>
                  </a:solidFill>
                  <a:latin typeface="+mn-lt"/>
                  <a:ea typeface="+mn-ea"/>
                  <a:cs typeface="+mn-cs"/>
                </a:rPr>
                <a:t>−0.10054</a:t>
              </a:r>
            </a:p>
          </p:txBody>
        </p:sp>
        <p:sp>
          <p:nvSpPr>
            <p:cNvPr id="25" name="TextBox 25"/>
            <p:cNvSpPr txBox="1"/>
            <p:nvPr/>
          </p:nvSpPr>
          <p:spPr>
            <a:xfrm>
              <a:off x="745998" y="4649629"/>
              <a:ext cx="2283787"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∂E/∂b₃ = δₒ × 1 = </a:t>
              </a:r>
              <a:r>
                <a:rPr lang="zh-CN" sz="1280" b="1" dirty="0">
                  <a:solidFill>
                    <a:srgbClr val="1F2937"/>
                  </a:solidFill>
                  <a:latin typeface="+mn-lt"/>
                  <a:ea typeface="+mn-ea"/>
                  <a:cs typeface="+mn-cs"/>
                </a:rPr>
                <a:t>−0.13753</a:t>
              </a:r>
            </a:p>
          </p:txBody>
        </p:sp>
      </p:grpSp>
      <p:grpSp>
        <p:nvGrpSpPr>
          <p:cNvPr id="35" name="c2-card-1"/>
          <p:cNvGrpSpPr/>
          <p:nvPr/>
        </p:nvGrpSpPr>
        <p:grpSpPr>
          <a:xfrm>
            <a:off x="6248400" y="1928812"/>
            <a:ext cx="5410200" cy="2127885"/>
            <a:chOff x="6248400" y="1928812"/>
            <a:chExt cx="5410200" cy="2127885"/>
          </a:xfrm>
        </p:grpSpPr>
        <p:sp>
          <p:nvSpPr>
            <p:cNvPr id="27" name="Rectangle 27"/>
            <p:cNvSpPr/>
            <p:nvPr/>
          </p:nvSpPr>
          <p:spPr>
            <a:xfrm>
              <a:off x="6248400" y="1928812"/>
              <a:ext cx="5410200" cy="2127885"/>
            </a:xfrm>
            <a:prstGeom prst="roundRect">
              <a:avLst>
                <a:gd name="adj" fmla="val 6267"/>
              </a:avLst>
            </a:prstGeom>
            <a:solidFill>
              <a:srgbClr val="FFFFFF"/>
            </a:solidFill>
            <a:ln w="14288">
              <a:solidFill>
                <a:srgbClr val="D9DFEA"/>
              </a:solidFill>
            </a:ln>
          </p:spPr>
        </p:sp>
        <p:sp>
          <p:nvSpPr>
            <p:cNvPr id="28" name="Rectangle 28"/>
            <p:cNvSpPr/>
            <p:nvPr/>
          </p:nvSpPr>
          <p:spPr>
            <a:xfrm>
              <a:off x="6257925" y="2062162"/>
              <a:ext cx="47625" cy="1861185"/>
            </a:xfrm>
            <a:prstGeom prst="roundRect">
              <a:avLst>
                <a:gd name="adj" fmla="val 50000"/>
              </a:avLst>
            </a:prstGeom>
            <a:solidFill>
              <a:srgbClr val="14A38B"/>
            </a:solidFill>
            <a:ln>
              <a:noFill/>
            </a:ln>
          </p:spPr>
        </p:sp>
        <p:sp>
          <p:nvSpPr>
            <p:cNvPr id="29" name="Rectangle 29"/>
            <p:cNvSpPr/>
            <p:nvPr/>
          </p:nvSpPr>
          <p:spPr>
            <a:xfrm>
              <a:off x="6467475" y="2109788"/>
              <a:ext cx="458152" cy="238125"/>
            </a:xfrm>
            <a:prstGeom prst="roundRect">
              <a:avLst>
                <a:gd name="adj" fmla="val 50000"/>
              </a:avLst>
            </a:prstGeom>
            <a:solidFill>
              <a:srgbClr val="E3F5F1"/>
            </a:solidFill>
            <a:ln>
              <a:noFill/>
            </a:ln>
          </p:spPr>
        </p:sp>
        <p:sp>
          <p:nvSpPr>
            <p:cNvPr id="30" name="TextBox 30"/>
            <p:cNvSpPr txBox="1"/>
            <p:nvPr/>
          </p:nvSpPr>
          <p:spPr>
            <a:xfrm>
              <a:off x="6560147" y="214264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隐层</a:t>
              </a:r>
            </a:p>
          </p:txBody>
        </p:sp>
        <p:sp>
          <p:nvSpPr>
            <p:cNvPr id="31" name="TextBox 31"/>
            <p:cNvSpPr txBox="1"/>
            <p:nvPr/>
          </p:nvSpPr>
          <p:spPr>
            <a:xfrm>
              <a:off x="7033451" y="2149316"/>
              <a:ext cx="152672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 δₒ 按权分摊回去</a:t>
              </a:r>
            </a:p>
          </p:txBody>
        </p:sp>
        <p:sp>
          <p:nvSpPr>
            <p:cNvPr id="32" name="TextBox 32"/>
            <p:cNvSpPr txBox="1"/>
            <p:nvPr/>
          </p:nvSpPr>
          <p:spPr>
            <a:xfrm>
              <a:off x="6460998" y="2465546"/>
              <a:ext cx="3963162" cy="492252"/>
            </a:xfrm>
            <a:prstGeom prst="rect">
              <a:avLst/>
            </a:prstGeom>
            <a:noFill/>
            <a:ln>
              <a:noFill/>
            </a:ln>
          </p:spPr>
          <p:txBody>
            <a:bodyPr wrap="none" lIns="0" tIns="0" rIns="0" bIns="0" anchor="t" anchorCtr="0">
              <a:spAutoFit/>
            </a:bodyPr>
            <a:lstStyle/>
            <a:p>
              <a:pPr algn="l">
                <a:lnSpc>
                  <a:spcPts val="1912"/>
                </a:lnSpc>
              </a:pPr>
              <a:r>
                <a:rPr lang="el-GR" sz="1280" dirty="0">
                  <a:solidFill>
                    <a:srgbClr val="1F2937"/>
                  </a:solidFill>
                  <a:latin typeface="+mn-lt"/>
                  <a:ea typeface="+mn-ea"/>
                  <a:cs typeface="+mn-cs"/>
                </a:rPr>
                <a:t>δ_h1 = δₒ · u₁ · s₁(1 − s₁) = −0.13753 × 1 × 0.25 =</a:t>
              </a:r>
              <a:br/>
              <a:r>
                <a:rPr lang="zh-CN" sz="1280" b="1" dirty="0">
                  <a:solidFill>
                    <a:srgbClr val="1F2937"/>
                  </a:solidFill>
                  <a:latin typeface="+mn-lt"/>
                  <a:ea typeface="+mn-ea"/>
                  <a:cs typeface="+mn-cs"/>
                </a:rPr>
                <a:t>−0.03438</a:t>
              </a:r>
            </a:p>
          </p:txBody>
        </p:sp>
        <p:sp>
          <p:nvSpPr>
            <p:cNvPr id="33" name="TextBox 33"/>
            <p:cNvSpPr txBox="1"/>
            <p:nvPr/>
          </p:nvSpPr>
          <p:spPr>
            <a:xfrm>
              <a:off x="6460998" y="2994184"/>
              <a:ext cx="4499610" cy="492252"/>
            </a:xfrm>
            <a:prstGeom prst="rect">
              <a:avLst/>
            </a:prstGeom>
            <a:noFill/>
            <a:ln>
              <a:noFill/>
            </a:ln>
          </p:spPr>
          <p:txBody>
            <a:bodyPr wrap="none" lIns="0" tIns="0" rIns="0" bIns="0" anchor="t" anchorCtr="0">
              <a:spAutoFit/>
            </a:bodyPr>
            <a:lstStyle/>
            <a:p>
              <a:pPr algn="l">
                <a:lnSpc>
                  <a:spcPts val="1912"/>
                </a:lnSpc>
              </a:pPr>
              <a:r>
                <a:rPr lang="el-GR" sz="1280" dirty="0">
                  <a:solidFill>
                    <a:srgbClr val="1F2937"/>
                  </a:solidFill>
                  <a:latin typeface="+mn-lt"/>
                  <a:ea typeface="+mn-ea"/>
                  <a:cs typeface="+mn-cs"/>
                </a:rPr>
                <a:t>δ_h2 = δₒ · u₂ · s₂(1 − s₂) = −0.13753 × (−1) × 0.19661 =</a:t>
              </a:r>
              <a:br/>
              <a:r>
                <a:rPr lang="zh-CN" sz="1280" b="1" dirty="0">
                  <a:solidFill>
                    <a:srgbClr val="1F2937"/>
                  </a:solidFill>
                  <a:latin typeface="+mn-lt"/>
                  <a:ea typeface="+mn-ea"/>
                  <a:cs typeface="+mn-cs"/>
                </a:rPr>
                <a:t>+0.02704</a:t>
              </a:r>
            </a:p>
          </p:txBody>
        </p:sp>
        <p:sp>
          <p:nvSpPr>
            <p:cNvPr id="34" name="TextBox 34"/>
            <p:cNvSpPr txBox="1"/>
            <p:nvPr/>
          </p:nvSpPr>
          <p:spPr>
            <a:xfrm>
              <a:off x="6462141" y="3517582"/>
              <a:ext cx="4731258"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u₂ 是负权，分摊回去的误差符号被翻了过来。</a:t>
              </a:r>
              <a:r>
                <a:rPr lang="zh-CN" sz="1050" b="1" dirty="0">
                  <a:solidFill>
                    <a:srgbClr val="C2410C"/>
                  </a:solidFill>
                  <a:latin typeface="+mn-lt"/>
                  <a:ea typeface="+mn-ea"/>
                  <a:cs typeface="+mn-cs"/>
                </a:rPr>
                <a:t>权值的大小和符号决定了各自该负</a:t>
              </a:r>
              <a:br/>
              <a:r>
                <a:rPr lang="zh-CN" sz="1050" b="1" dirty="0">
                  <a:solidFill>
                    <a:srgbClr val="C2410C"/>
                  </a:solidFill>
                  <a:latin typeface="+mn-lt"/>
                  <a:ea typeface="+mn-ea"/>
                  <a:cs typeface="+mn-cs"/>
                </a:rPr>
                <a:t>多少责任</a:t>
              </a:r>
              <a:r>
                <a:rPr lang="zh-CN" sz="1050" dirty="0">
                  <a:solidFill>
                    <a:srgbClr val="5B6475"/>
                  </a:solidFill>
                  <a:latin typeface="+mn-lt"/>
                  <a:ea typeface="+mn-ea"/>
                  <a:cs typeface="+mn-cs"/>
                </a:rPr>
                <a:t>。</a:t>
              </a:r>
            </a:p>
          </p:txBody>
        </p:sp>
      </p:grpSp>
      <p:grpSp>
        <p:nvGrpSpPr>
          <p:cNvPr id="39" name="c2-code-2"/>
          <p:cNvGrpSpPr/>
          <p:nvPr/>
        </p:nvGrpSpPr>
        <p:grpSpPr>
          <a:xfrm>
            <a:off x="6248400" y="4221480"/>
            <a:ext cx="5410200" cy="1406842"/>
            <a:chOff x="6248400" y="4221480"/>
            <a:chExt cx="5410200" cy="1406842"/>
          </a:xfrm>
        </p:grpSpPr>
        <p:sp>
          <p:nvSpPr>
            <p:cNvPr id="36" name="Rectangle 36"/>
            <p:cNvSpPr/>
            <p:nvPr/>
          </p:nvSpPr>
          <p:spPr>
            <a:xfrm>
              <a:off x="6248400" y="4221480"/>
              <a:ext cx="5410200" cy="1406842"/>
            </a:xfrm>
            <a:prstGeom prst="roundRect">
              <a:avLst>
                <a:gd name="adj" fmla="val 6770"/>
              </a:avLst>
            </a:prstGeom>
            <a:solidFill>
              <a:srgbClr val="F6F8FA"/>
            </a:solidFill>
            <a:ln w="11430">
              <a:solidFill>
                <a:srgbClr val="D9DFEA"/>
              </a:solidFill>
            </a:ln>
          </p:spPr>
        </p:sp>
        <p:sp>
          <p:nvSpPr>
            <p:cNvPr id="37" name="TextBox 37"/>
            <p:cNvSpPr txBox="1"/>
            <p:nvPr/>
          </p:nvSpPr>
          <p:spPr>
            <a:xfrm>
              <a:off x="6376797" y="4373404"/>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复核代码</a:t>
              </a:r>
            </a:p>
          </p:txBody>
        </p:sp>
        <p:sp>
          <p:nvSpPr>
            <p:cNvPr id="38" name="TextBox 38"/>
            <p:cNvSpPr txBox="1"/>
            <p:nvPr/>
          </p:nvSpPr>
          <p:spPr>
            <a:xfrm>
              <a:off x="6376988" y="4632484"/>
              <a:ext cx="2873375" cy="909638"/>
            </a:xfrm>
            <a:prstGeom prst="rect">
              <a:avLst/>
            </a:prstGeom>
            <a:noFill/>
            <a:ln>
              <a:noFill/>
            </a:ln>
          </p:spPr>
          <p:txBody>
            <a:bodyPr wrap="none" lIns="0" tIns="0" rIns="0" bIns="0" anchor="t" anchorCtr="0">
              <a:spAutoFit/>
            </a:bodyPr>
            <a:lstStyle/>
            <a:p>
              <a:pPr algn="l">
                <a:lnSpc>
                  <a:spcPts val="1178"/>
                </a:lnSpc>
              </a:pPr>
              <a:r>
                <a:rPr lang="en-US" sz="820" dirty="0">
                  <a:solidFill>
                    <a:srgbClr val="1F2937"/>
                  </a:solidFill>
                  <a:latin typeface="Consolas"/>
                  <a:ea typeface="Consolas"/>
                  <a:cs typeface="Consolas"/>
                </a:rPr>
                <a:t xml:space="preserve">sig = </a:t>
              </a:r>
              <a:r>
                <a:rPr lang="en-US" sz="820" b="1" dirty="0">
                  <a:solidFill>
                    <a:srgbClr val="0E7C86"/>
                  </a:solidFill>
                  <a:latin typeface="Consolas"/>
                  <a:ea typeface="Consolas"/>
                  <a:cs typeface="Consolas"/>
                </a:rPr>
                <a:t>lambda</a:t>
              </a:r>
              <a:r>
                <a:rPr lang="en-US" sz="820" dirty="0">
                  <a:solidFill>
                    <a:srgbClr val="1F2937"/>
                  </a:solidFill>
                  <a:latin typeface="Consolas"/>
                  <a:ea typeface="Consolas"/>
                  <a:cs typeface="Consolas"/>
                </a:rPr>
                <a:t xml:space="preserve"> z: 1 / (1 + 2.718281828 ** -z)</a:t>
              </a:r>
              <a:br/>
              <a:r>
                <a:rPr lang="en-US" sz="820" dirty="0">
                  <a:solidFill>
                    <a:srgbClr val="1F2937"/>
                  </a:solidFill>
                  <a:latin typeface="Consolas"/>
                  <a:ea typeface="Consolas"/>
                  <a:cs typeface="Consolas"/>
                </a:rPr>
                <a:t xml:space="preserve">s1, s2 = sig(0), sig(1)           </a:t>
              </a:r>
              <a:r>
                <a:rPr lang="zh-CN" sz="820" dirty="0">
                  <a:solidFill>
                    <a:srgbClr val="0F7A68"/>
                  </a:solidFill>
                  <a:latin typeface="Consolas"/>
                  <a:ea typeface="Consolas"/>
                  <a:cs typeface="Consolas"/>
                </a:rPr>
                <a:t># 0.5000, 0.7311</a:t>
              </a:r>
              <a:br/>
              <a:r>
                <a:rPr lang="en-US" sz="820" dirty="0">
                  <a:solidFill>
                    <a:srgbClr val="1F2937"/>
                  </a:solidFill>
                  <a:latin typeface="Consolas"/>
                  <a:ea typeface="Consolas"/>
                  <a:cs typeface="Consolas"/>
                </a:rPr>
                <a:t xml:space="preserve">o = sig(s1 - s2)                  </a:t>
              </a:r>
              <a:r>
                <a:rPr lang="zh-CN" sz="820" dirty="0">
                  <a:solidFill>
                    <a:srgbClr val="0F7A68"/>
                  </a:solidFill>
                  <a:latin typeface="Consolas"/>
                  <a:ea typeface="Consolas"/>
                  <a:cs typeface="Consolas"/>
                </a:rPr>
                <a:t># 0.4425</a:t>
              </a:r>
              <a:br/>
              <a:r>
                <a:rPr lang="en-US" sz="820" dirty="0">
                  <a:solidFill>
                    <a:srgbClr val="1F2937"/>
                  </a:solidFill>
                  <a:latin typeface="Consolas"/>
                  <a:ea typeface="Consolas"/>
                  <a:cs typeface="Consolas"/>
                </a:rPr>
                <a:t xml:space="preserve">d_o = -(1 - o) * o * (1 - o)      </a:t>
              </a:r>
              <a:r>
                <a:rPr lang="zh-CN" sz="820" dirty="0">
                  <a:solidFill>
                    <a:srgbClr val="0F7A68"/>
                  </a:solidFill>
                  <a:latin typeface="Consolas"/>
                  <a:ea typeface="Consolas"/>
                  <a:cs typeface="Consolas"/>
                </a:rPr>
                <a:t># -0.13753</a:t>
              </a:r>
              <a:br/>
              <a:r>
                <a:rPr lang="en-US" sz="820" dirty="0">
                  <a:solidFill>
                    <a:srgbClr val="1F2937"/>
                  </a:solidFill>
                  <a:latin typeface="Consolas"/>
                  <a:ea typeface="Consolas"/>
                  <a:cs typeface="Consolas"/>
                </a:rPr>
                <a:t xml:space="preserve">d_h1 = d_o * 1 * s1 * (1 - s1)    </a:t>
              </a:r>
              <a:r>
                <a:rPr lang="zh-CN" sz="820" dirty="0">
                  <a:solidFill>
                    <a:srgbClr val="0F7A68"/>
                  </a:solidFill>
                  <a:latin typeface="Consolas"/>
                  <a:ea typeface="Consolas"/>
                  <a:cs typeface="Consolas"/>
                </a:rPr>
                <a:t># -0.03438</a:t>
              </a:r>
              <a:br/>
              <a:r>
                <a:rPr lang="en-US" sz="820" dirty="0">
                  <a:solidFill>
                    <a:srgbClr val="1F2937"/>
                  </a:solidFill>
                  <a:latin typeface="Consolas"/>
                  <a:ea typeface="Consolas"/>
                  <a:cs typeface="Consolas"/>
                </a:rPr>
                <a:t xml:space="preserve">d_h2 = d_o * -1 * s2 * (1 - s2)   </a:t>
              </a:r>
              <a:r>
                <a:rPr lang="zh-CN" sz="820" dirty="0">
                  <a:solidFill>
                    <a:srgbClr val="0F7A68"/>
                  </a:solidFill>
                  <a:latin typeface="Consolas"/>
                  <a:ea typeface="Consolas"/>
                  <a:cs typeface="Consolas"/>
                </a:rPr>
                <a:t># +0.02704</a:t>
              </a:r>
            </a:p>
          </p:txBody>
        </p:sp>
      </p:grpSp>
      <p:grpSp>
        <p:nvGrpSpPr>
          <p:cNvPr id="46" name="takeaway"/>
          <p:cNvGrpSpPr/>
          <p:nvPr/>
        </p:nvGrpSpPr>
        <p:grpSpPr>
          <a:xfrm>
            <a:off x="533400" y="5895022"/>
            <a:ext cx="11125200" cy="467678"/>
            <a:chOff x="533400" y="5895022"/>
            <a:chExt cx="11125200" cy="467678"/>
          </a:xfrm>
        </p:grpSpPr>
        <p:sp>
          <p:nvSpPr>
            <p:cNvPr id="40" name="Rectangle 40"/>
            <p:cNvSpPr/>
            <p:nvPr/>
          </p:nvSpPr>
          <p:spPr>
            <a:xfrm>
              <a:off x="533400" y="5895022"/>
              <a:ext cx="11125200" cy="467678"/>
            </a:xfrm>
            <a:prstGeom prst="roundRect">
              <a:avLst>
                <a:gd name="adj" fmla="val 24440"/>
              </a:avLst>
            </a:prstGeom>
            <a:solidFill>
              <a:srgbClr val="F4F6FB"/>
            </a:solidFill>
            <a:ln>
              <a:noFill/>
            </a:ln>
          </p:spPr>
        </p:sp>
        <p:grpSp>
          <p:nvGrpSpPr>
            <p:cNvPr id="44" name="Group 44"/>
            <p:cNvGrpSpPr/>
            <p:nvPr/>
          </p:nvGrpSpPr>
          <p:grpSpPr>
            <a:xfrm>
              <a:off x="738188" y="6028373"/>
              <a:ext cx="200026" cy="200026"/>
              <a:chOff x="738188" y="6028373"/>
              <a:chExt cx="200026" cy="200026"/>
            </a:xfrm>
          </p:grpSpPr>
          <p:sp>
            <p:nvSpPr>
              <p:cNvPr id="41" name="Freeform 41"/>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2" name="Freeform 42"/>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3" name="Freeform 43"/>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5" name="TextBox 45"/>
            <p:cNvSpPr txBox="1"/>
            <p:nvPr/>
          </p:nvSpPr>
          <p:spPr>
            <a:xfrm>
              <a:off x="1041273" y="6039326"/>
              <a:ext cx="79856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隐层这一步用的就是递推式 δ = σ′(net)·Σ w·δ(下游)，这里下游只有一个神经元，所以求和只有一项。</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例题收尾：更新权值，误差确实下降</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7495870" cy="293370"/>
            <a:chOff x="525780" y="1548765"/>
            <a:chExt cx="7495870" cy="293370"/>
          </a:xfrm>
        </p:grpSpPr>
        <p:sp>
          <p:nvSpPr>
            <p:cNvPr id="7" name="TextBox 7"/>
            <p:cNvSpPr txBox="1"/>
            <p:nvPr/>
          </p:nvSpPr>
          <p:spPr>
            <a:xfrm>
              <a:off x="525780" y="1548765"/>
              <a:ext cx="749587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按 w ← w − η·∂E/∂w 更新，η = 0.5；每个偏导等于该连接的 δ 乘以它左端的输入。</a:t>
              </a:r>
            </a:p>
          </p:txBody>
        </p:sp>
      </p:grpSp>
      <p:grpSp>
        <p:nvGrpSpPr>
          <p:cNvPr id="58" name="c1-table-1"/>
          <p:cNvGrpSpPr/>
          <p:nvPr/>
        </p:nvGrpSpPr>
        <p:grpSpPr>
          <a:xfrm>
            <a:off x="527685" y="1954530"/>
            <a:ext cx="5848350" cy="3737134"/>
            <a:chOff x="527685" y="1954530"/>
            <a:chExt cx="5848350" cy="3737134"/>
          </a:xfrm>
        </p:grpSpPr>
        <p:sp>
          <p:nvSpPr>
            <p:cNvPr id="9" name="Rectangle 9"/>
            <p:cNvSpPr/>
            <p:nvPr/>
          </p:nvSpPr>
          <p:spPr>
            <a:xfrm>
              <a:off x="533400" y="1954530"/>
              <a:ext cx="5842635" cy="430530"/>
            </a:xfrm>
            <a:prstGeom prst="rect">
              <a:avLst/>
            </a:prstGeom>
            <a:solidFill>
              <a:srgbClr val="0E7C86"/>
            </a:solidFill>
            <a:ln>
              <a:noFill/>
            </a:ln>
          </p:spPr>
        </p:sp>
        <p:sp>
          <p:nvSpPr>
            <p:cNvPr id="10" name="TextBox 10"/>
            <p:cNvSpPr txBox="1"/>
            <p:nvPr/>
          </p:nvSpPr>
          <p:spPr>
            <a:xfrm>
              <a:off x="89154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参数</a:t>
              </a:r>
            </a:p>
          </p:txBody>
        </p:sp>
        <p:sp>
          <p:nvSpPr>
            <p:cNvPr id="11" name="TextBox 11"/>
            <p:cNvSpPr txBox="1"/>
            <p:nvPr/>
          </p:nvSpPr>
          <p:spPr>
            <a:xfrm>
              <a:off x="194310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原值</a:t>
              </a:r>
            </a:p>
          </p:txBody>
        </p:sp>
        <p:sp>
          <p:nvSpPr>
            <p:cNvPr id="12" name="TextBox 12"/>
            <p:cNvSpPr txBox="1"/>
            <p:nvPr/>
          </p:nvSpPr>
          <p:spPr>
            <a:xfrm>
              <a:off x="3346132"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偏导</a:t>
              </a:r>
            </a:p>
          </p:txBody>
        </p:sp>
        <p:sp>
          <p:nvSpPr>
            <p:cNvPr id="13" name="TextBox 13"/>
            <p:cNvSpPr txBox="1"/>
            <p:nvPr/>
          </p:nvSpPr>
          <p:spPr>
            <a:xfrm>
              <a:off x="521589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新值</a:t>
              </a:r>
            </a:p>
          </p:txBody>
        </p:sp>
        <p:sp>
          <p:nvSpPr>
            <p:cNvPr id="14" name="TextBox 14"/>
            <p:cNvSpPr txBox="1"/>
            <p:nvPr/>
          </p:nvSpPr>
          <p:spPr>
            <a:xfrm>
              <a:off x="638746" y="251555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u₁</a:t>
              </a:r>
            </a:p>
          </p:txBody>
        </p:sp>
        <p:sp>
          <p:nvSpPr>
            <p:cNvPr id="15" name="TextBox 15"/>
            <p:cNvSpPr txBox="1"/>
            <p:nvPr/>
          </p:nvSpPr>
          <p:spPr>
            <a:xfrm>
              <a:off x="1690306" y="251555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16" name="TextBox 16"/>
            <p:cNvSpPr txBox="1"/>
            <p:nvPr/>
          </p:nvSpPr>
          <p:spPr>
            <a:xfrm>
              <a:off x="2741866" y="251555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−0.06877</a:t>
              </a:r>
            </a:p>
          </p:txBody>
        </p:sp>
        <p:sp>
          <p:nvSpPr>
            <p:cNvPr id="17" name="Rectangle 17"/>
            <p:cNvSpPr/>
            <p:nvPr/>
          </p:nvSpPr>
          <p:spPr>
            <a:xfrm>
              <a:off x="4399598" y="2394585"/>
              <a:ext cx="1967865" cy="411480"/>
            </a:xfrm>
            <a:prstGeom prst="rect">
              <a:avLst/>
            </a:prstGeom>
            <a:solidFill>
              <a:srgbClr val="FDEEE7"/>
            </a:solidFill>
            <a:ln>
              <a:noFill/>
            </a:ln>
          </p:spPr>
        </p:sp>
        <p:sp>
          <p:nvSpPr>
            <p:cNvPr id="18" name="TextBox 18"/>
            <p:cNvSpPr txBox="1"/>
            <p:nvPr/>
          </p:nvSpPr>
          <p:spPr>
            <a:xfrm>
              <a:off x="4495419" y="2515552"/>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1.0344</a:t>
              </a:r>
            </a:p>
          </p:txBody>
        </p:sp>
        <p:sp>
          <p:nvSpPr>
            <p:cNvPr id="19" name="Rectangle 19"/>
            <p:cNvSpPr/>
            <p:nvPr/>
          </p:nvSpPr>
          <p:spPr>
            <a:xfrm>
              <a:off x="533400" y="2809875"/>
              <a:ext cx="5842635" cy="9525"/>
            </a:xfrm>
            <a:prstGeom prst="rect">
              <a:avLst/>
            </a:prstGeom>
            <a:solidFill>
              <a:srgbClr val="D9DFEA"/>
            </a:solidFill>
            <a:ln>
              <a:noFill/>
            </a:ln>
          </p:spPr>
        </p:sp>
        <p:sp>
          <p:nvSpPr>
            <p:cNvPr id="20" name="Rectangle 20"/>
            <p:cNvSpPr/>
            <p:nvPr/>
          </p:nvSpPr>
          <p:spPr>
            <a:xfrm>
              <a:off x="533400" y="2814638"/>
              <a:ext cx="5842635" cy="430530"/>
            </a:xfrm>
            <a:prstGeom prst="rect">
              <a:avLst/>
            </a:prstGeom>
            <a:solidFill>
              <a:srgbClr val="F4F6FB"/>
            </a:solidFill>
            <a:ln>
              <a:noFill/>
            </a:ln>
          </p:spPr>
        </p:sp>
        <p:sp>
          <p:nvSpPr>
            <p:cNvPr id="21" name="TextBox 21"/>
            <p:cNvSpPr txBox="1"/>
            <p:nvPr/>
          </p:nvSpPr>
          <p:spPr>
            <a:xfrm>
              <a:off x="638746" y="294608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u₂</a:t>
              </a:r>
            </a:p>
          </p:txBody>
        </p:sp>
        <p:sp>
          <p:nvSpPr>
            <p:cNvPr id="22" name="TextBox 22"/>
            <p:cNvSpPr txBox="1"/>
            <p:nvPr/>
          </p:nvSpPr>
          <p:spPr>
            <a:xfrm>
              <a:off x="1690306" y="294608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23" name="TextBox 23"/>
            <p:cNvSpPr txBox="1"/>
            <p:nvPr/>
          </p:nvSpPr>
          <p:spPr>
            <a:xfrm>
              <a:off x="2741866" y="294608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−0.10054</a:t>
              </a:r>
            </a:p>
          </p:txBody>
        </p:sp>
        <p:sp>
          <p:nvSpPr>
            <p:cNvPr id="24" name="TextBox 24"/>
            <p:cNvSpPr txBox="1"/>
            <p:nvPr/>
          </p:nvSpPr>
          <p:spPr>
            <a:xfrm>
              <a:off x="4495419" y="2946082"/>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−0.9497</a:t>
              </a:r>
            </a:p>
          </p:txBody>
        </p:sp>
        <p:sp>
          <p:nvSpPr>
            <p:cNvPr id="25" name="Rectangle 25"/>
            <p:cNvSpPr/>
            <p:nvPr/>
          </p:nvSpPr>
          <p:spPr>
            <a:xfrm>
              <a:off x="533400" y="3240405"/>
              <a:ext cx="5842635" cy="9525"/>
            </a:xfrm>
            <a:prstGeom prst="rect">
              <a:avLst/>
            </a:prstGeom>
            <a:solidFill>
              <a:srgbClr val="D9DFEA"/>
            </a:solidFill>
            <a:ln>
              <a:noFill/>
            </a:ln>
          </p:spPr>
        </p:sp>
        <p:sp>
          <p:nvSpPr>
            <p:cNvPr id="26" name="TextBox 26"/>
            <p:cNvSpPr txBox="1"/>
            <p:nvPr/>
          </p:nvSpPr>
          <p:spPr>
            <a:xfrm>
              <a:off x="638746" y="337661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b₃</a:t>
              </a:r>
            </a:p>
          </p:txBody>
        </p:sp>
        <p:sp>
          <p:nvSpPr>
            <p:cNvPr id="27" name="TextBox 27"/>
            <p:cNvSpPr txBox="1"/>
            <p:nvPr/>
          </p:nvSpPr>
          <p:spPr>
            <a:xfrm>
              <a:off x="1690306" y="337661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28" name="TextBox 28"/>
            <p:cNvSpPr txBox="1"/>
            <p:nvPr/>
          </p:nvSpPr>
          <p:spPr>
            <a:xfrm>
              <a:off x="2741866" y="337661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−0.13753</a:t>
              </a:r>
            </a:p>
          </p:txBody>
        </p:sp>
        <p:sp>
          <p:nvSpPr>
            <p:cNvPr id="29" name="TextBox 29"/>
            <p:cNvSpPr txBox="1"/>
            <p:nvPr/>
          </p:nvSpPr>
          <p:spPr>
            <a:xfrm>
              <a:off x="4495419" y="3376612"/>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0.0688</a:t>
              </a:r>
            </a:p>
          </p:txBody>
        </p:sp>
        <p:sp>
          <p:nvSpPr>
            <p:cNvPr id="30" name="Rectangle 30"/>
            <p:cNvSpPr/>
            <p:nvPr/>
          </p:nvSpPr>
          <p:spPr>
            <a:xfrm>
              <a:off x="533400" y="3669982"/>
              <a:ext cx="5842635" cy="9525"/>
            </a:xfrm>
            <a:prstGeom prst="rect">
              <a:avLst/>
            </a:prstGeom>
            <a:solidFill>
              <a:srgbClr val="D9DFEA"/>
            </a:solidFill>
            <a:ln>
              <a:noFill/>
            </a:ln>
          </p:spPr>
        </p:sp>
        <p:sp>
          <p:nvSpPr>
            <p:cNvPr id="31" name="Rectangle 31"/>
            <p:cNvSpPr/>
            <p:nvPr/>
          </p:nvSpPr>
          <p:spPr>
            <a:xfrm>
              <a:off x="533400" y="3674745"/>
              <a:ext cx="5842635" cy="430530"/>
            </a:xfrm>
            <a:prstGeom prst="rect">
              <a:avLst/>
            </a:prstGeom>
            <a:solidFill>
              <a:srgbClr val="F4F6FB"/>
            </a:solidFill>
            <a:ln>
              <a:noFill/>
            </a:ln>
          </p:spPr>
        </p:sp>
        <p:sp>
          <p:nvSpPr>
            <p:cNvPr id="32" name="TextBox 32"/>
            <p:cNvSpPr txBox="1"/>
            <p:nvPr/>
          </p:nvSpPr>
          <p:spPr>
            <a:xfrm>
              <a:off x="638746" y="3806190"/>
              <a:ext cx="32599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w₁₁</a:t>
              </a:r>
            </a:p>
          </p:txBody>
        </p:sp>
        <p:sp>
          <p:nvSpPr>
            <p:cNvPr id="33" name="TextBox 33"/>
            <p:cNvSpPr txBox="1"/>
            <p:nvPr/>
          </p:nvSpPr>
          <p:spPr>
            <a:xfrm>
              <a:off x="1690306" y="3806190"/>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34" name="TextBox 34"/>
            <p:cNvSpPr txBox="1"/>
            <p:nvPr/>
          </p:nvSpPr>
          <p:spPr>
            <a:xfrm>
              <a:off x="2741866" y="3806190"/>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−0.03438</a:t>
              </a:r>
            </a:p>
          </p:txBody>
        </p:sp>
        <p:sp>
          <p:nvSpPr>
            <p:cNvPr id="35" name="TextBox 35"/>
            <p:cNvSpPr txBox="1"/>
            <p:nvPr/>
          </p:nvSpPr>
          <p:spPr>
            <a:xfrm>
              <a:off x="4495419" y="380619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1.0172</a:t>
              </a:r>
            </a:p>
          </p:txBody>
        </p:sp>
        <p:sp>
          <p:nvSpPr>
            <p:cNvPr id="36" name="Rectangle 36"/>
            <p:cNvSpPr/>
            <p:nvPr/>
          </p:nvSpPr>
          <p:spPr>
            <a:xfrm>
              <a:off x="533400" y="4100512"/>
              <a:ext cx="5842635" cy="9525"/>
            </a:xfrm>
            <a:prstGeom prst="rect">
              <a:avLst/>
            </a:prstGeom>
            <a:solidFill>
              <a:srgbClr val="D9DFEA"/>
            </a:solidFill>
            <a:ln>
              <a:noFill/>
            </a:ln>
          </p:spPr>
        </p:sp>
        <p:sp>
          <p:nvSpPr>
            <p:cNvPr id="37" name="TextBox 37"/>
            <p:cNvSpPr txBox="1"/>
            <p:nvPr/>
          </p:nvSpPr>
          <p:spPr>
            <a:xfrm>
              <a:off x="638746" y="4236720"/>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b₁</a:t>
              </a:r>
            </a:p>
          </p:txBody>
        </p:sp>
        <p:sp>
          <p:nvSpPr>
            <p:cNvPr id="38" name="TextBox 38"/>
            <p:cNvSpPr txBox="1"/>
            <p:nvPr/>
          </p:nvSpPr>
          <p:spPr>
            <a:xfrm>
              <a:off x="1690306" y="423672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39" name="TextBox 39"/>
            <p:cNvSpPr txBox="1"/>
            <p:nvPr/>
          </p:nvSpPr>
          <p:spPr>
            <a:xfrm>
              <a:off x="2741866" y="4236720"/>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−0.03438</a:t>
              </a:r>
            </a:p>
          </p:txBody>
        </p:sp>
        <p:sp>
          <p:nvSpPr>
            <p:cNvPr id="40" name="TextBox 40"/>
            <p:cNvSpPr txBox="1"/>
            <p:nvPr/>
          </p:nvSpPr>
          <p:spPr>
            <a:xfrm>
              <a:off x="4495419" y="4236720"/>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−0.9828</a:t>
              </a:r>
            </a:p>
          </p:txBody>
        </p:sp>
        <p:sp>
          <p:nvSpPr>
            <p:cNvPr id="41" name="Rectangle 41"/>
            <p:cNvSpPr/>
            <p:nvPr/>
          </p:nvSpPr>
          <p:spPr>
            <a:xfrm>
              <a:off x="533400" y="4531042"/>
              <a:ext cx="5842635" cy="9525"/>
            </a:xfrm>
            <a:prstGeom prst="rect">
              <a:avLst/>
            </a:prstGeom>
            <a:solidFill>
              <a:srgbClr val="D9DFEA"/>
            </a:solidFill>
            <a:ln>
              <a:noFill/>
            </a:ln>
          </p:spPr>
        </p:sp>
        <p:sp>
          <p:nvSpPr>
            <p:cNvPr id="42" name="Rectangle 42"/>
            <p:cNvSpPr/>
            <p:nvPr/>
          </p:nvSpPr>
          <p:spPr>
            <a:xfrm>
              <a:off x="533400" y="4535805"/>
              <a:ext cx="5842635" cy="430530"/>
            </a:xfrm>
            <a:prstGeom prst="rect">
              <a:avLst/>
            </a:prstGeom>
            <a:solidFill>
              <a:srgbClr val="F4F6FB"/>
            </a:solidFill>
            <a:ln>
              <a:noFill/>
            </a:ln>
          </p:spPr>
        </p:sp>
        <p:sp>
          <p:nvSpPr>
            <p:cNvPr id="43" name="TextBox 43"/>
            <p:cNvSpPr txBox="1"/>
            <p:nvPr/>
          </p:nvSpPr>
          <p:spPr>
            <a:xfrm>
              <a:off x="638746" y="4666298"/>
              <a:ext cx="32599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w₁₂</a:t>
              </a:r>
            </a:p>
          </p:txBody>
        </p:sp>
        <p:sp>
          <p:nvSpPr>
            <p:cNvPr id="44" name="TextBox 44"/>
            <p:cNvSpPr txBox="1"/>
            <p:nvPr/>
          </p:nvSpPr>
          <p:spPr>
            <a:xfrm>
              <a:off x="1690306" y="4666298"/>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45" name="TextBox 45"/>
            <p:cNvSpPr txBox="1"/>
            <p:nvPr/>
          </p:nvSpPr>
          <p:spPr>
            <a:xfrm>
              <a:off x="2741866" y="4666298"/>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+0.02704</a:t>
              </a:r>
            </a:p>
          </p:txBody>
        </p:sp>
        <p:sp>
          <p:nvSpPr>
            <p:cNvPr id="46" name="Rectangle 46"/>
            <p:cNvSpPr/>
            <p:nvPr/>
          </p:nvSpPr>
          <p:spPr>
            <a:xfrm>
              <a:off x="4399598" y="4545330"/>
              <a:ext cx="1967865" cy="411480"/>
            </a:xfrm>
            <a:prstGeom prst="rect">
              <a:avLst/>
            </a:prstGeom>
            <a:solidFill>
              <a:srgbClr val="FDEEE7"/>
            </a:solidFill>
            <a:ln>
              <a:noFill/>
            </a:ln>
          </p:spPr>
        </p:sp>
        <p:sp>
          <p:nvSpPr>
            <p:cNvPr id="47" name="TextBox 47"/>
            <p:cNvSpPr txBox="1"/>
            <p:nvPr/>
          </p:nvSpPr>
          <p:spPr>
            <a:xfrm>
              <a:off x="4495419" y="4666298"/>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0.9865</a:t>
              </a:r>
            </a:p>
          </p:txBody>
        </p:sp>
        <p:sp>
          <p:nvSpPr>
            <p:cNvPr id="48" name="Rectangle 48"/>
            <p:cNvSpPr/>
            <p:nvPr/>
          </p:nvSpPr>
          <p:spPr>
            <a:xfrm>
              <a:off x="533400" y="4960620"/>
              <a:ext cx="5842635" cy="9525"/>
            </a:xfrm>
            <a:prstGeom prst="rect">
              <a:avLst/>
            </a:prstGeom>
            <a:solidFill>
              <a:srgbClr val="D9DFEA"/>
            </a:solidFill>
            <a:ln>
              <a:noFill/>
            </a:ln>
          </p:spPr>
        </p:sp>
        <p:sp>
          <p:nvSpPr>
            <p:cNvPr id="49" name="TextBox 49"/>
            <p:cNvSpPr txBox="1"/>
            <p:nvPr/>
          </p:nvSpPr>
          <p:spPr>
            <a:xfrm>
              <a:off x="638746" y="5096828"/>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b₂</a:t>
              </a:r>
            </a:p>
          </p:txBody>
        </p:sp>
        <p:sp>
          <p:nvSpPr>
            <p:cNvPr id="50" name="TextBox 50"/>
            <p:cNvSpPr txBox="1"/>
            <p:nvPr/>
          </p:nvSpPr>
          <p:spPr>
            <a:xfrm>
              <a:off x="1690306" y="5096828"/>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51" name="TextBox 51"/>
            <p:cNvSpPr txBox="1"/>
            <p:nvPr/>
          </p:nvSpPr>
          <p:spPr>
            <a:xfrm>
              <a:off x="2741866" y="5096828"/>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+0.02704</a:t>
              </a:r>
            </a:p>
          </p:txBody>
        </p:sp>
        <p:sp>
          <p:nvSpPr>
            <p:cNvPr id="52" name="TextBox 52"/>
            <p:cNvSpPr txBox="1"/>
            <p:nvPr/>
          </p:nvSpPr>
          <p:spPr>
            <a:xfrm>
              <a:off x="4495419" y="5096828"/>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−0.0135</a:t>
              </a:r>
            </a:p>
          </p:txBody>
        </p:sp>
        <p:sp>
          <p:nvSpPr>
            <p:cNvPr id="53" name="Rectangle 53"/>
            <p:cNvSpPr/>
            <p:nvPr/>
          </p:nvSpPr>
          <p:spPr>
            <a:xfrm>
              <a:off x="533400" y="1954530"/>
              <a:ext cx="5842635" cy="3441382"/>
            </a:xfrm>
            <a:prstGeom prst="rect">
              <a:avLst/>
            </a:prstGeom>
            <a:noFill/>
            <a:ln w="14288">
              <a:solidFill>
                <a:srgbClr val="D9DFEA"/>
              </a:solidFill>
            </a:ln>
          </p:spPr>
        </p:sp>
        <p:sp>
          <p:nvSpPr>
            <p:cNvPr id="54" name="Rectangle 54"/>
            <p:cNvSpPr/>
            <p:nvPr/>
          </p:nvSpPr>
          <p:spPr>
            <a:xfrm>
              <a:off x="1580198" y="1954530"/>
              <a:ext cx="9525" cy="3441382"/>
            </a:xfrm>
            <a:prstGeom prst="rect">
              <a:avLst/>
            </a:prstGeom>
            <a:solidFill>
              <a:srgbClr val="D9DFEA"/>
            </a:solidFill>
            <a:ln>
              <a:noFill/>
            </a:ln>
          </p:spPr>
        </p:sp>
        <p:sp>
          <p:nvSpPr>
            <p:cNvPr id="55" name="Rectangle 55"/>
            <p:cNvSpPr/>
            <p:nvPr/>
          </p:nvSpPr>
          <p:spPr>
            <a:xfrm>
              <a:off x="2631758" y="1954530"/>
              <a:ext cx="9525" cy="3441382"/>
            </a:xfrm>
            <a:prstGeom prst="rect">
              <a:avLst/>
            </a:prstGeom>
            <a:solidFill>
              <a:srgbClr val="D9DFEA"/>
            </a:solidFill>
            <a:ln>
              <a:noFill/>
            </a:ln>
          </p:spPr>
        </p:sp>
        <p:sp>
          <p:nvSpPr>
            <p:cNvPr id="56" name="Rectangle 56"/>
            <p:cNvSpPr/>
            <p:nvPr/>
          </p:nvSpPr>
          <p:spPr>
            <a:xfrm>
              <a:off x="4385310" y="1954530"/>
              <a:ext cx="9525" cy="3441382"/>
            </a:xfrm>
            <a:prstGeom prst="rect">
              <a:avLst/>
            </a:prstGeom>
            <a:solidFill>
              <a:srgbClr val="D9DFEA"/>
            </a:solidFill>
            <a:ln>
              <a:noFill/>
            </a:ln>
          </p:spPr>
        </p:sp>
        <p:sp>
          <p:nvSpPr>
            <p:cNvPr id="57" name="TextBox 57"/>
            <p:cNvSpPr txBox="1"/>
            <p:nvPr/>
          </p:nvSpPr>
          <p:spPr>
            <a:xfrm>
              <a:off x="527685" y="5471636"/>
              <a:ext cx="433865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更新后的全部参数（w₂₁、w₂₂ 的偏导为 0，保持 1 和 −1 不变）</a:t>
              </a:r>
            </a:p>
          </p:txBody>
        </p:sp>
      </p:grpSp>
      <p:grpSp>
        <p:nvGrpSpPr>
          <p:cNvPr id="68" name="c2-card-1"/>
          <p:cNvGrpSpPr/>
          <p:nvPr/>
        </p:nvGrpSpPr>
        <p:grpSpPr>
          <a:xfrm>
            <a:off x="6680835" y="1954530"/>
            <a:ext cx="4977765" cy="2253615"/>
            <a:chOff x="6680835" y="1954530"/>
            <a:chExt cx="4977765" cy="2253615"/>
          </a:xfrm>
        </p:grpSpPr>
        <p:sp>
          <p:nvSpPr>
            <p:cNvPr id="59" name="Rectangle 59"/>
            <p:cNvSpPr/>
            <p:nvPr/>
          </p:nvSpPr>
          <p:spPr>
            <a:xfrm>
              <a:off x="6680835" y="1954530"/>
              <a:ext cx="4977765" cy="2253615"/>
            </a:xfrm>
            <a:prstGeom prst="roundRect">
              <a:avLst>
                <a:gd name="adj" fmla="val 5917"/>
              </a:avLst>
            </a:prstGeom>
            <a:solidFill>
              <a:srgbClr val="FFFFFF"/>
            </a:solidFill>
            <a:ln w="14288">
              <a:solidFill>
                <a:srgbClr val="D9DFEA"/>
              </a:solidFill>
            </a:ln>
          </p:spPr>
        </p:sp>
        <p:sp>
          <p:nvSpPr>
            <p:cNvPr id="60" name="Rectangle 60"/>
            <p:cNvSpPr/>
            <p:nvPr/>
          </p:nvSpPr>
          <p:spPr>
            <a:xfrm>
              <a:off x="6690360" y="2087880"/>
              <a:ext cx="47625" cy="1986915"/>
            </a:xfrm>
            <a:prstGeom prst="roundRect">
              <a:avLst>
                <a:gd name="adj" fmla="val 50000"/>
              </a:avLst>
            </a:prstGeom>
            <a:solidFill>
              <a:srgbClr val="14A38B"/>
            </a:solidFill>
            <a:ln>
              <a:noFill/>
            </a:ln>
          </p:spPr>
        </p:sp>
        <p:sp>
          <p:nvSpPr>
            <p:cNvPr id="61" name="Rectangle 61"/>
            <p:cNvSpPr/>
            <p:nvPr/>
          </p:nvSpPr>
          <p:spPr>
            <a:xfrm>
              <a:off x="6922770" y="2158365"/>
              <a:ext cx="494348" cy="257175"/>
            </a:xfrm>
            <a:prstGeom prst="roundRect">
              <a:avLst>
                <a:gd name="adj" fmla="val 50000"/>
              </a:avLst>
            </a:prstGeom>
            <a:solidFill>
              <a:srgbClr val="E3F5F1"/>
            </a:solidFill>
            <a:ln>
              <a:noFill/>
            </a:ln>
          </p:spPr>
        </p:sp>
        <p:sp>
          <p:nvSpPr>
            <p:cNvPr id="62" name="TextBox 62"/>
            <p:cNvSpPr txBox="1"/>
            <p:nvPr/>
          </p:nvSpPr>
          <p:spPr>
            <a:xfrm>
              <a:off x="7013931" y="219408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验算</a:t>
              </a:r>
            </a:p>
          </p:txBody>
        </p:sp>
        <p:sp>
          <p:nvSpPr>
            <p:cNvPr id="63" name="TextBox 63"/>
            <p:cNvSpPr txBox="1"/>
            <p:nvPr/>
          </p:nvSpPr>
          <p:spPr>
            <a:xfrm>
              <a:off x="7524179" y="2197894"/>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用新权值再跑一次前向</a:t>
              </a:r>
            </a:p>
          </p:txBody>
        </p:sp>
        <p:sp>
          <p:nvSpPr>
            <p:cNvPr id="64" name="TextBox 64"/>
            <p:cNvSpPr txBox="1"/>
            <p:nvPr/>
          </p:nvSpPr>
          <p:spPr>
            <a:xfrm>
              <a:off x="6915531" y="2550319"/>
              <a:ext cx="3092160" cy="278702"/>
            </a:xfrm>
            <a:prstGeom prst="rect">
              <a:avLst/>
            </a:prstGeom>
            <a:noFill/>
            <a:ln>
              <a:noFill/>
            </a:ln>
          </p:spPr>
          <p:txBody>
            <a:bodyPr wrap="none" lIns="0" tIns="0" rIns="0" bIns="0" anchor="t" anchorCtr="0">
              <a:spAutoFit/>
            </a:bodyPr>
            <a:lstStyle/>
            <a:p>
              <a:pPr algn="l"/>
              <a:r>
                <a:rPr lang="el-GR" sz="1420" dirty="0">
                  <a:solidFill>
                    <a:srgbClr val="1F2937"/>
                  </a:solidFill>
                  <a:latin typeface="+mn-lt"/>
                  <a:ea typeface="+mn-ea"/>
                  <a:cs typeface="+mn-cs"/>
                </a:rPr>
                <a:t>s₁ = σ(1.0172 − 0.9828) = 0.5086</a:t>
              </a:r>
            </a:p>
          </p:txBody>
        </p:sp>
        <p:sp>
          <p:nvSpPr>
            <p:cNvPr id="65" name="TextBox 65"/>
            <p:cNvSpPr txBox="1"/>
            <p:nvPr/>
          </p:nvSpPr>
          <p:spPr>
            <a:xfrm>
              <a:off x="6915531" y="2870359"/>
              <a:ext cx="3092160" cy="278702"/>
            </a:xfrm>
            <a:prstGeom prst="rect">
              <a:avLst/>
            </a:prstGeom>
            <a:noFill/>
            <a:ln>
              <a:noFill/>
            </a:ln>
          </p:spPr>
          <p:txBody>
            <a:bodyPr wrap="none" lIns="0" tIns="0" rIns="0" bIns="0" anchor="t" anchorCtr="0">
              <a:spAutoFit/>
            </a:bodyPr>
            <a:lstStyle/>
            <a:p>
              <a:pPr algn="l"/>
              <a:r>
                <a:rPr lang="el-GR" sz="1420" dirty="0">
                  <a:solidFill>
                    <a:srgbClr val="1F2937"/>
                  </a:solidFill>
                  <a:latin typeface="+mn-lt"/>
                  <a:ea typeface="+mn-ea"/>
                  <a:cs typeface="+mn-cs"/>
                </a:rPr>
                <a:t>s₂ = σ(0.9865 − 0.0135) = 0.7257</a:t>
              </a:r>
            </a:p>
          </p:txBody>
        </p:sp>
        <p:sp>
          <p:nvSpPr>
            <p:cNvPr id="66" name="TextBox 66"/>
            <p:cNvSpPr txBox="1"/>
            <p:nvPr/>
          </p:nvSpPr>
          <p:spPr>
            <a:xfrm>
              <a:off x="6915531" y="3190399"/>
              <a:ext cx="3458972" cy="550164"/>
            </a:xfrm>
            <a:prstGeom prst="rect">
              <a:avLst/>
            </a:prstGeom>
            <a:noFill/>
            <a:ln>
              <a:noFill/>
            </a:ln>
          </p:spPr>
          <p:txBody>
            <a:bodyPr wrap="none" lIns="0" tIns="0" rIns="0" bIns="0" anchor="t" anchorCtr="0">
              <a:spAutoFit/>
            </a:bodyPr>
            <a:lstStyle/>
            <a:p>
              <a:pPr algn="l">
                <a:lnSpc>
                  <a:spcPts val="2138"/>
                </a:lnSpc>
              </a:pPr>
              <a:r>
                <a:rPr lang="el-GR" sz="1420" dirty="0">
                  <a:solidFill>
                    <a:srgbClr val="1F2937"/>
                  </a:solidFill>
                  <a:latin typeface="+mn-lt"/>
                  <a:ea typeface="+mn-ea"/>
                  <a:cs typeface="+mn-cs"/>
                </a:rPr>
                <a:t>o = σ(1.0344×0.5086 − 0.9497×0.7257 +</a:t>
              </a:r>
              <a:br/>
              <a:r>
                <a:rPr lang="zh-CN" sz="1420" dirty="0">
                  <a:solidFill>
                    <a:srgbClr val="1F2937"/>
                  </a:solidFill>
                  <a:latin typeface="+mn-lt"/>
                  <a:ea typeface="+mn-ea"/>
                  <a:cs typeface="+mn-cs"/>
                </a:rPr>
                <a:t xml:space="preserve">0.0688) = </a:t>
              </a:r>
              <a:r>
                <a:rPr lang="zh-CN" sz="1420" b="1" dirty="0">
                  <a:solidFill>
                    <a:srgbClr val="1F2937"/>
                  </a:solidFill>
                  <a:latin typeface="+mn-lt"/>
                  <a:ea typeface="+mn-ea"/>
                  <a:cs typeface="+mn-cs"/>
                </a:rPr>
                <a:t>0.4764</a:t>
              </a:r>
            </a:p>
          </p:txBody>
        </p:sp>
        <p:sp>
          <p:nvSpPr>
            <p:cNvPr id="67" name="TextBox 67"/>
            <p:cNvSpPr txBox="1"/>
            <p:nvPr/>
          </p:nvSpPr>
          <p:spPr>
            <a:xfrm>
              <a:off x="6915531" y="3781901"/>
              <a:ext cx="4513222" cy="278702"/>
            </a:xfrm>
            <a:prstGeom prst="rect">
              <a:avLst/>
            </a:prstGeom>
            <a:noFill/>
            <a:ln>
              <a:noFill/>
            </a:ln>
          </p:spPr>
          <p:txBody>
            <a:bodyPr wrap="none" lIns="0" tIns="0" rIns="0" bIns="0" anchor="t" anchorCtr="0">
              <a:spAutoFit/>
            </a:bodyPr>
            <a:lstStyle/>
            <a:p>
              <a:pPr algn="l"/>
              <a:r>
                <a:rPr lang="en-US" sz="1420" dirty="0">
                  <a:solidFill>
                    <a:srgbClr val="1F2937"/>
                  </a:solidFill>
                  <a:latin typeface="+mn-lt"/>
                  <a:ea typeface="+mn-ea"/>
                  <a:cs typeface="+mn-cs"/>
                </a:rPr>
                <a:t xml:space="preserve">E = ½(1 − 0.4764)² = </a:t>
              </a:r>
              <a:r>
                <a:rPr lang="zh-CN" sz="1420" b="1" dirty="0">
                  <a:solidFill>
                    <a:srgbClr val="1F2937"/>
                  </a:solidFill>
                  <a:latin typeface="+mn-lt"/>
                  <a:ea typeface="+mn-ea"/>
                  <a:cs typeface="+mn-cs"/>
                </a:rPr>
                <a:t>0.1371</a:t>
              </a:r>
              <a:r>
                <a:rPr lang="zh-CN" sz="1420" dirty="0">
                  <a:solidFill>
                    <a:srgbClr val="1F2937"/>
                  </a:solidFill>
                  <a:latin typeface="+mn-lt"/>
                  <a:ea typeface="+mn-ea"/>
                  <a:cs typeface="+mn-cs"/>
                </a:rPr>
                <a:t xml:space="preserve"> &lt; 0.1554，</a:t>
              </a:r>
              <a:r>
                <a:rPr lang="zh-CN" sz="1420" b="1" dirty="0">
                  <a:solidFill>
                    <a:srgbClr val="0F7A68"/>
                  </a:solidFill>
                  <a:latin typeface="+mn-lt"/>
                  <a:ea typeface="+mn-ea"/>
                  <a:cs typeface="+mn-cs"/>
                </a:rPr>
                <a:t>误差下降</a:t>
              </a:r>
            </a:p>
          </p:txBody>
        </p:sp>
      </p:grpSp>
      <p:grpSp>
        <p:nvGrpSpPr>
          <p:cNvPr id="74" name="c2-callout-2"/>
          <p:cNvGrpSpPr/>
          <p:nvPr/>
        </p:nvGrpSpPr>
        <p:grpSpPr>
          <a:xfrm>
            <a:off x="6680835" y="4392930"/>
            <a:ext cx="4977765" cy="1253490"/>
            <a:chOff x="6680835" y="4392930"/>
            <a:chExt cx="4977765" cy="1253490"/>
          </a:xfrm>
        </p:grpSpPr>
        <p:sp>
          <p:nvSpPr>
            <p:cNvPr id="69" name="Rectangle 69"/>
            <p:cNvSpPr/>
            <p:nvPr/>
          </p:nvSpPr>
          <p:spPr>
            <a:xfrm>
              <a:off x="6680835" y="4392930"/>
              <a:ext cx="4977765" cy="1253490"/>
            </a:xfrm>
            <a:prstGeom prst="roundRect">
              <a:avLst>
                <a:gd name="adj" fmla="val 9119"/>
              </a:avLst>
            </a:prstGeom>
            <a:solidFill>
              <a:srgbClr val="0E7C86"/>
            </a:solidFill>
            <a:ln>
              <a:noFill/>
            </a:ln>
          </p:spPr>
        </p:sp>
        <p:grpSp>
          <p:nvGrpSpPr>
            <p:cNvPr id="72" name="Group 72"/>
            <p:cNvGrpSpPr/>
            <p:nvPr/>
          </p:nvGrpSpPr>
          <p:grpSpPr>
            <a:xfrm>
              <a:off x="6885623" y="4920617"/>
              <a:ext cx="200023" cy="200023"/>
              <a:chOff x="6885623" y="4920617"/>
              <a:chExt cx="200023" cy="200023"/>
            </a:xfrm>
          </p:grpSpPr>
          <p:sp>
            <p:nvSpPr>
              <p:cNvPr id="70" name="Freeform 70"/>
              <p:cNvSpPr/>
              <p:nvPr/>
            </p:nvSpPr>
            <p:spPr>
              <a:xfrm>
                <a:off x="6885623" y="49206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1" name="Freeform 71"/>
              <p:cNvSpPr/>
              <p:nvPr/>
            </p:nvSpPr>
            <p:spPr>
              <a:xfrm>
                <a:off x="7018973" y="49872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3" name="TextBox 73"/>
            <p:cNvSpPr txBox="1"/>
            <p:nvPr/>
          </p:nvSpPr>
          <p:spPr>
            <a:xfrm>
              <a:off x="7187946" y="4789646"/>
              <a:ext cx="4108196"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每写完一次 BP 都该做这个验算：更新一步后误差必</a:t>
              </a:r>
              <a:br/>
              <a:r>
                <a:rPr lang="zh-CN" sz="1420" dirty="0">
                  <a:solidFill>
                    <a:srgbClr val="FFFFFF"/>
                  </a:solidFill>
                  <a:latin typeface="+mn-lt"/>
                  <a:ea typeface="+mn-ea"/>
                  <a:cs typeface="+mn-cs"/>
                </a:rPr>
                <a:t>须变小，否则多半是某处符号写反了。</a:t>
              </a:r>
            </a:p>
          </p:txBody>
        </p:sp>
      </p:grpSp>
      <p:grpSp>
        <p:nvGrpSpPr>
          <p:cNvPr id="80" name="takeaway"/>
          <p:cNvGrpSpPr/>
          <p:nvPr/>
        </p:nvGrpSpPr>
        <p:grpSpPr>
          <a:xfrm>
            <a:off x="533400" y="5844540"/>
            <a:ext cx="11125200" cy="518160"/>
            <a:chOff x="533400" y="5844540"/>
            <a:chExt cx="11125200" cy="518160"/>
          </a:xfrm>
        </p:grpSpPr>
        <p:sp>
          <p:nvSpPr>
            <p:cNvPr id="75" name="Rectangle 75"/>
            <p:cNvSpPr/>
            <p:nvPr/>
          </p:nvSpPr>
          <p:spPr>
            <a:xfrm>
              <a:off x="533400" y="5844540"/>
              <a:ext cx="11125200" cy="518160"/>
            </a:xfrm>
            <a:prstGeom prst="roundRect">
              <a:avLst>
                <a:gd name="adj" fmla="val 22059"/>
              </a:avLst>
            </a:prstGeom>
            <a:solidFill>
              <a:srgbClr val="0E7C86"/>
            </a:solidFill>
            <a:ln>
              <a:noFill/>
            </a:ln>
          </p:spPr>
        </p:sp>
        <p:grpSp>
          <p:nvGrpSpPr>
            <p:cNvPr id="78" name="Group 78"/>
            <p:cNvGrpSpPr/>
            <p:nvPr/>
          </p:nvGrpSpPr>
          <p:grpSpPr>
            <a:xfrm>
              <a:off x="738188" y="6003610"/>
              <a:ext cx="200023" cy="200023"/>
              <a:chOff x="738188" y="6003610"/>
              <a:chExt cx="200023" cy="200023"/>
            </a:xfrm>
          </p:grpSpPr>
          <p:sp>
            <p:nvSpPr>
              <p:cNvPr id="76" name="Freeform 76"/>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7" name="Freeform 77"/>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9" name="TextBox 79"/>
            <p:cNvSpPr txBox="1"/>
            <p:nvPr/>
          </p:nvSpPr>
          <p:spPr>
            <a:xfrm>
              <a:off x="1040511" y="6004084"/>
              <a:ext cx="902769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输入为 0 的连接这一轮学不到任何东西，这也是实际建模前要做特征标准化、避免大量零输入的原因之一。</a:t>
              </a:r>
            </a:p>
          </p:txBody>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批量、随机与小批量：三种更新时机</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7" name="c1-table-1"/>
          <p:cNvGrpSpPr/>
          <p:nvPr/>
        </p:nvGrpSpPr>
        <p:grpSpPr>
          <a:xfrm>
            <a:off x="533400" y="1524000"/>
            <a:ext cx="11125200" cy="1933575"/>
            <a:chOff x="533400" y="1524000"/>
            <a:chExt cx="11125200" cy="1933575"/>
          </a:xfrm>
        </p:grpSpPr>
        <p:sp>
          <p:nvSpPr>
            <p:cNvPr id="7" name="Rectangle 7"/>
            <p:cNvSpPr/>
            <p:nvPr/>
          </p:nvSpPr>
          <p:spPr>
            <a:xfrm>
              <a:off x="533400" y="1524000"/>
              <a:ext cx="11125200" cy="430530"/>
            </a:xfrm>
            <a:prstGeom prst="rect">
              <a:avLst/>
            </a:prstGeom>
            <a:solidFill>
              <a:srgbClr val="0E7C86"/>
            </a:solidFill>
            <a:ln>
              <a:noFill/>
            </a:ln>
          </p:spPr>
        </p:sp>
        <p:sp>
          <p:nvSpPr>
            <p:cNvPr id="8" name="TextBox 8"/>
            <p:cNvSpPr txBox="1"/>
            <p:nvPr/>
          </p:nvSpPr>
          <p:spPr>
            <a:xfrm>
              <a:off x="136683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方式</a:t>
              </a:r>
            </a:p>
          </p:txBody>
        </p:sp>
        <p:sp>
          <p:nvSpPr>
            <p:cNvPr id="9" name="TextBox 9"/>
            <p:cNvSpPr txBox="1"/>
            <p:nvPr/>
          </p:nvSpPr>
          <p:spPr>
            <a:xfrm>
              <a:off x="3491675" y="165544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何时更新权值</a:t>
              </a:r>
            </a:p>
          </p:txBody>
        </p:sp>
        <p:sp>
          <p:nvSpPr>
            <p:cNvPr id="10" name="TextBox 10"/>
            <p:cNvSpPr txBox="1"/>
            <p:nvPr/>
          </p:nvSpPr>
          <p:spPr>
            <a:xfrm>
              <a:off x="5716715" y="165544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每代更新次数</a:t>
              </a:r>
            </a:p>
          </p:txBody>
        </p:sp>
        <p:sp>
          <p:nvSpPr>
            <p:cNvPr id="11" name="TextBox 11"/>
            <p:cNvSpPr txBox="1"/>
            <p:nvPr/>
          </p:nvSpPr>
          <p:spPr>
            <a:xfrm>
              <a:off x="7986712"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优点</a:t>
              </a:r>
            </a:p>
          </p:txBody>
        </p:sp>
        <p:sp>
          <p:nvSpPr>
            <p:cNvPr id="12" name="TextBox 12"/>
            <p:cNvSpPr txBox="1"/>
            <p:nvPr/>
          </p:nvSpPr>
          <p:spPr>
            <a:xfrm>
              <a:off x="1032319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缺点</a:t>
              </a:r>
            </a:p>
          </p:txBody>
        </p:sp>
        <p:sp>
          <p:nvSpPr>
            <p:cNvPr id="13" name="TextBox 13"/>
            <p:cNvSpPr txBox="1"/>
            <p:nvPr/>
          </p:nvSpPr>
          <p:spPr>
            <a:xfrm>
              <a:off x="638746" y="2085022"/>
              <a:ext cx="1014169"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批处理 batch</a:t>
              </a:r>
            </a:p>
          </p:txBody>
        </p:sp>
        <p:sp>
          <p:nvSpPr>
            <p:cNvPr id="14" name="TextBox 14"/>
            <p:cNvSpPr txBox="1"/>
            <p:nvPr/>
          </p:nvSpPr>
          <p:spPr>
            <a:xfrm>
              <a:off x="2640902" y="208502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计算完所有样本的误差之后</a:t>
              </a:r>
            </a:p>
          </p:txBody>
        </p:sp>
        <p:sp>
          <p:nvSpPr>
            <p:cNvPr id="15" name="TextBox 15"/>
            <p:cNvSpPr txBox="1"/>
            <p:nvPr/>
          </p:nvSpPr>
          <p:spPr>
            <a:xfrm>
              <a:off x="5533644" y="2085022"/>
              <a:ext cx="31104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 次</a:t>
              </a:r>
            </a:p>
          </p:txBody>
        </p:sp>
        <p:sp>
          <p:nvSpPr>
            <p:cNvPr id="16" name="TextBox 16"/>
            <p:cNvSpPr txBox="1"/>
            <p:nvPr/>
          </p:nvSpPr>
          <p:spPr>
            <a:xfrm>
              <a:off x="7090982" y="208502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真正的最速梯度下降，方向稳</a:t>
              </a:r>
            </a:p>
          </p:txBody>
        </p:sp>
        <p:sp>
          <p:nvSpPr>
            <p:cNvPr id="17" name="TextBox 17"/>
            <p:cNvSpPr txBox="1"/>
            <p:nvPr/>
          </p:nvSpPr>
          <p:spPr>
            <a:xfrm>
              <a:off x="9427464" y="208502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每步很慢，容易停在局部极小</a:t>
              </a:r>
            </a:p>
          </p:txBody>
        </p:sp>
        <p:sp>
          <p:nvSpPr>
            <p:cNvPr id="18" name="Rectangle 18"/>
            <p:cNvSpPr/>
            <p:nvPr/>
          </p:nvSpPr>
          <p:spPr>
            <a:xfrm>
              <a:off x="533400" y="2379345"/>
              <a:ext cx="11125200" cy="9525"/>
            </a:xfrm>
            <a:prstGeom prst="rect">
              <a:avLst/>
            </a:prstGeom>
            <a:solidFill>
              <a:srgbClr val="D9DFEA"/>
            </a:solidFill>
            <a:ln>
              <a:noFill/>
            </a:ln>
          </p:spPr>
        </p:sp>
        <p:sp>
          <p:nvSpPr>
            <p:cNvPr id="19" name="Rectangle 19"/>
            <p:cNvSpPr/>
            <p:nvPr/>
          </p:nvSpPr>
          <p:spPr>
            <a:xfrm>
              <a:off x="533400" y="2384108"/>
              <a:ext cx="11125200" cy="643890"/>
            </a:xfrm>
            <a:prstGeom prst="rect">
              <a:avLst/>
            </a:prstGeom>
            <a:solidFill>
              <a:srgbClr val="F4F6FB"/>
            </a:solidFill>
            <a:ln>
              <a:noFill/>
            </a:ln>
          </p:spPr>
        </p:sp>
        <p:sp>
          <p:nvSpPr>
            <p:cNvPr id="20" name="TextBox 20"/>
            <p:cNvSpPr txBox="1"/>
            <p:nvPr/>
          </p:nvSpPr>
          <p:spPr>
            <a:xfrm>
              <a:off x="638746" y="2622232"/>
              <a:ext cx="127667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随机 stochastic</a:t>
              </a:r>
            </a:p>
          </p:txBody>
        </p:sp>
        <p:sp>
          <p:nvSpPr>
            <p:cNvPr id="21" name="TextBox 21"/>
            <p:cNvSpPr txBox="1"/>
            <p:nvPr/>
          </p:nvSpPr>
          <p:spPr>
            <a:xfrm>
              <a:off x="2640902" y="262223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每算完一个样本就更新</a:t>
              </a:r>
            </a:p>
          </p:txBody>
        </p:sp>
        <p:sp>
          <p:nvSpPr>
            <p:cNvPr id="22" name="TextBox 22"/>
            <p:cNvSpPr txBox="1"/>
            <p:nvPr/>
          </p:nvSpPr>
          <p:spPr>
            <a:xfrm>
              <a:off x="5533644" y="2622232"/>
              <a:ext cx="31882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N 次</a:t>
              </a:r>
            </a:p>
          </p:txBody>
        </p:sp>
        <p:sp>
          <p:nvSpPr>
            <p:cNvPr id="23" name="TextBox 23"/>
            <p:cNvSpPr txBox="1"/>
            <p:nvPr/>
          </p:nvSpPr>
          <p:spPr>
            <a:xfrm>
              <a:off x="7090982" y="2515552"/>
              <a:ext cx="1993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更新快，噪声有助于跳出局部</a:t>
              </a:r>
              <a:br/>
              <a:r>
                <a:rPr lang="zh-CN" sz="1200" dirty="0">
                  <a:solidFill>
                    <a:srgbClr val="1F2937"/>
                  </a:solidFill>
                  <a:latin typeface="+mn-lt"/>
                  <a:ea typeface="+mn-ea"/>
                  <a:cs typeface="+mn-cs"/>
                </a:rPr>
                <a:t>极小</a:t>
              </a:r>
            </a:p>
          </p:txBody>
        </p:sp>
        <p:sp>
          <p:nvSpPr>
            <p:cNvPr id="24" name="TextBox 24"/>
            <p:cNvSpPr txBox="1"/>
            <p:nvPr/>
          </p:nvSpPr>
          <p:spPr>
            <a:xfrm>
              <a:off x="9427464" y="262223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方向抖动大，不易精确收敛</a:t>
              </a:r>
            </a:p>
          </p:txBody>
        </p:sp>
        <p:sp>
          <p:nvSpPr>
            <p:cNvPr id="25" name="Rectangle 25"/>
            <p:cNvSpPr/>
            <p:nvPr/>
          </p:nvSpPr>
          <p:spPr>
            <a:xfrm>
              <a:off x="533400" y="3023235"/>
              <a:ext cx="11125200" cy="9525"/>
            </a:xfrm>
            <a:prstGeom prst="rect">
              <a:avLst/>
            </a:prstGeom>
            <a:solidFill>
              <a:srgbClr val="D9DFEA"/>
            </a:solidFill>
            <a:ln>
              <a:noFill/>
            </a:ln>
          </p:spPr>
        </p:sp>
        <p:sp>
          <p:nvSpPr>
            <p:cNvPr id="26" name="TextBox 26"/>
            <p:cNvSpPr txBox="1"/>
            <p:nvPr/>
          </p:nvSpPr>
          <p:spPr>
            <a:xfrm>
              <a:off x="638746" y="3159442"/>
              <a:ext cx="1429741"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小批量 mini-batch</a:t>
              </a:r>
            </a:p>
          </p:txBody>
        </p:sp>
        <p:sp>
          <p:nvSpPr>
            <p:cNvPr id="27" name="TextBox 27"/>
            <p:cNvSpPr txBox="1"/>
            <p:nvPr/>
          </p:nvSpPr>
          <p:spPr>
            <a:xfrm>
              <a:off x="2640902" y="315944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每算完一小批样本更新一次</a:t>
              </a:r>
            </a:p>
          </p:txBody>
        </p:sp>
        <p:sp>
          <p:nvSpPr>
            <p:cNvPr id="28" name="TextBox 28"/>
            <p:cNvSpPr txBox="1"/>
            <p:nvPr/>
          </p:nvSpPr>
          <p:spPr>
            <a:xfrm>
              <a:off x="5533644" y="3159442"/>
              <a:ext cx="50657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N/B 次</a:t>
              </a:r>
            </a:p>
          </p:txBody>
        </p:sp>
        <p:sp>
          <p:nvSpPr>
            <p:cNvPr id="29" name="Rectangle 29"/>
            <p:cNvSpPr/>
            <p:nvPr/>
          </p:nvSpPr>
          <p:spPr>
            <a:xfrm>
              <a:off x="6995160" y="3037522"/>
              <a:ext cx="2317432" cy="411480"/>
            </a:xfrm>
            <a:prstGeom prst="rect">
              <a:avLst/>
            </a:prstGeom>
            <a:solidFill>
              <a:srgbClr val="E3F5F1"/>
            </a:solidFill>
            <a:ln>
              <a:noFill/>
            </a:ln>
          </p:spPr>
        </p:sp>
        <p:sp>
          <p:nvSpPr>
            <p:cNvPr id="30" name="TextBox 30"/>
            <p:cNvSpPr txBox="1"/>
            <p:nvPr/>
          </p:nvSpPr>
          <p:spPr>
            <a:xfrm>
              <a:off x="7090982" y="315944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兼顾两者，能用矩阵运算加速</a:t>
              </a:r>
            </a:p>
          </p:txBody>
        </p:sp>
        <p:sp>
          <p:nvSpPr>
            <p:cNvPr id="31" name="TextBox 31"/>
            <p:cNvSpPr txBox="1"/>
            <p:nvPr/>
          </p:nvSpPr>
          <p:spPr>
            <a:xfrm>
              <a:off x="9427464" y="3159442"/>
              <a:ext cx="101620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批大小 B 要调</a:t>
              </a:r>
            </a:p>
          </p:txBody>
        </p:sp>
        <p:sp>
          <p:nvSpPr>
            <p:cNvPr id="32" name="Rectangle 32"/>
            <p:cNvSpPr/>
            <p:nvPr/>
          </p:nvSpPr>
          <p:spPr>
            <a:xfrm>
              <a:off x="533400" y="1524000"/>
              <a:ext cx="11125200" cy="1933575"/>
            </a:xfrm>
            <a:prstGeom prst="rect">
              <a:avLst/>
            </a:prstGeom>
            <a:noFill/>
            <a:ln w="14288">
              <a:solidFill>
                <a:srgbClr val="D9DFEA"/>
              </a:solidFill>
            </a:ln>
          </p:spPr>
        </p:sp>
        <p:sp>
          <p:nvSpPr>
            <p:cNvPr id="33" name="Rectangle 33"/>
            <p:cNvSpPr/>
            <p:nvPr/>
          </p:nvSpPr>
          <p:spPr>
            <a:xfrm>
              <a:off x="2530792" y="1524000"/>
              <a:ext cx="9525" cy="1933575"/>
            </a:xfrm>
            <a:prstGeom prst="rect">
              <a:avLst/>
            </a:prstGeom>
            <a:solidFill>
              <a:srgbClr val="D9DFEA"/>
            </a:solidFill>
            <a:ln>
              <a:noFill/>
            </a:ln>
          </p:spPr>
        </p:sp>
        <p:sp>
          <p:nvSpPr>
            <p:cNvPr id="34" name="Rectangle 34"/>
            <p:cNvSpPr/>
            <p:nvPr/>
          </p:nvSpPr>
          <p:spPr>
            <a:xfrm>
              <a:off x="5423535" y="1524000"/>
              <a:ext cx="9525" cy="1933575"/>
            </a:xfrm>
            <a:prstGeom prst="rect">
              <a:avLst/>
            </a:prstGeom>
            <a:solidFill>
              <a:srgbClr val="D9DFEA"/>
            </a:solidFill>
            <a:ln>
              <a:noFill/>
            </a:ln>
          </p:spPr>
        </p:sp>
        <p:sp>
          <p:nvSpPr>
            <p:cNvPr id="35" name="Rectangle 35"/>
            <p:cNvSpPr/>
            <p:nvPr/>
          </p:nvSpPr>
          <p:spPr>
            <a:xfrm>
              <a:off x="6980872" y="1524000"/>
              <a:ext cx="9525" cy="1933575"/>
            </a:xfrm>
            <a:prstGeom prst="rect">
              <a:avLst/>
            </a:prstGeom>
            <a:solidFill>
              <a:srgbClr val="D9DFEA"/>
            </a:solidFill>
            <a:ln>
              <a:noFill/>
            </a:ln>
          </p:spPr>
        </p:sp>
        <p:sp>
          <p:nvSpPr>
            <p:cNvPr id="36" name="Rectangle 36"/>
            <p:cNvSpPr/>
            <p:nvPr/>
          </p:nvSpPr>
          <p:spPr>
            <a:xfrm>
              <a:off x="9317355" y="1524000"/>
              <a:ext cx="9525" cy="1933575"/>
            </a:xfrm>
            <a:prstGeom prst="rect">
              <a:avLst/>
            </a:prstGeom>
            <a:solidFill>
              <a:srgbClr val="D9DFEA"/>
            </a:solidFill>
            <a:ln>
              <a:noFill/>
            </a:ln>
          </p:spPr>
        </p:sp>
      </p:grpSp>
      <p:grpSp>
        <p:nvGrpSpPr>
          <p:cNvPr id="57" name="c1-compare-2"/>
          <p:cNvGrpSpPr/>
          <p:nvPr/>
        </p:nvGrpSpPr>
        <p:grpSpPr>
          <a:xfrm>
            <a:off x="533400" y="3643312"/>
            <a:ext cx="11125200" cy="2029778"/>
            <a:chOff x="533400" y="3643312"/>
            <a:chExt cx="11125200" cy="2029778"/>
          </a:xfrm>
        </p:grpSpPr>
        <p:sp>
          <p:nvSpPr>
            <p:cNvPr id="38" name="Rectangle 38"/>
            <p:cNvSpPr/>
            <p:nvPr/>
          </p:nvSpPr>
          <p:spPr>
            <a:xfrm>
              <a:off x="533400" y="3643312"/>
              <a:ext cx="5353050" cy="2029778"/>
            </a:xfrm>
            <a:prstGeom prst="roundRect">
              <a:avLst>
                <a:gd name="adj" fmla="val 6570"/>
              </a:avLst>
            </a:prstGeom>
            <a:solidFill>
              <a:srgbClr val="FFFFFF"/>
            </a:solidFill>
            <a:ln w="14288">
              <a:solidFill>
                <a:srgbClr val="D9DFEA"/>
              </a:solidFill>
            </a:ln>
          </p:spPr>
        </p:sp>
        <p:sp>
          <p:nvSpPr>
            <p:cNvPr id="39" name="Rectangle 39"/>
            <p:cNvSpPr/>
            <p:nvPr/>
          </p:nvSpPr>
          <p:spPr>
            <a:xfrm>
              <a:off x="542925" y="3776662"/>
              <a:ext cx="47625" cy="1763078"/>
            </a:xfrm>
            <a:prstGeom prst="roundRect">
              <a:avLst>
                <a:gd name="adj" fmla="val 50000"/>
              </a:avLst>
            </a:prstGeom>
            <a:solidFill>
              <a:srgbClr val="B42318"/>
            </a:solidFill>
            <a:ln>
              <a:noFill/>
            </a:ln>
          </p:spPr>
        </p:sp>
        <p:sp>
          <p:nvSpPr>
            <p:cNvPr id="40" name="TextBox 40"/>
            <p:cNvSpPr txBox="1"/>
            <p:nvPr/>
          </p:nvSpPr>
          <p:spPr>
            <a:xfrm>
              <a:off x="768096" y="3870484"/>
              <a:ext cx="249956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用随机或小批量时必须做的事</a:t>
              </a:r>
            </a:p>
          </p:txBody>
        </p:sp>
        <p:sp>
          <p:nvSpPr>
            <p:cNvPr id="41" name="Ellipse 41"/>
            <p:cNvSpPr/>
            <p:nvPr/>
          </p:nvSpPr>
          <p:spPr>
            <a:xfrm>
              <a:off x="782955" y="4269105"/>
              <a:ext cx="60960" cy="60960"/>
            </a:xfrm>
            <a:prstGeom prst="ellipse">
              <a:avLst/>
            </a:prstGeom>
            <a:solidFill>
              <a:srgbClr val="0E7C86"/>
            </a:solidFill>
            <a:ln>
              <a:noFill/>
            </a:ln>
          </p:spPr>
        </p:sp>
        <p:sp>
          <p:nvSpPr>
            <p:cNvPr id="42" name="TextBox 42"/>
            <p:cNvSpPr txBox="1"/>
            <p:nvPr/>
          </p:nvSpPr>
          <p:spPr>
            <a:xfrm>
              <a:off x="939546" y="4209574"/>
              <a:ext cx="340757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每一轮（epoch）开始前把数据随机打乱</a:t>
              </a:r>
            </a:p>
          </p:txBody>
        </p:sp>
        <p:sp>
          <p:nvSpPr>
            <p:cNvPr id="43" name="Ellipse 43"/>
            <p:cNvSpPr/>
            <p:nvPr/>
          </p:nvSpPr>
          <p:spPr>
            <a:xfrm>
              <a:off x="782955" y="4589145"/>
              <a:ext cx="60960" cy="60960"/>
            </a:xfrm>
            <a:prstGeom prst="ellipse">
              <a:avLst/>
            </a:prstGeom>
            <a:solidFill>
              <a:srgbClr val="0E7C86"/>
            </a:solidFill>
            <a:ln>
              <a:noFill/>
            </a:ln>
          </p:spPr>
        </p:sp>
        <p:sp>
          <p:nvSpPr>
            <p:cNvPr id="44" name="TextBox 44"/>
            <p:cNvSpPr txBox="1"/>
            <p:nvPr/>
          </p:nvSpPr>
          <p:spPr>
            <a:xfrm>
              <a:off x="939546" y="4529614"/>
              <a:ext cx="307304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否则样本顺序会被网络学成一种规律</a:t>
              </a:r>
            </a:p>
          </p:txBody>
        </p:sp>
        <p:sp>
          <p:nvSpPr>
            <p:cNvPr id="45" name="Ellipse 45"/>
            <p:cNvSpPr/>
            <p:nvPr/>
          </p:nvSpPr>
          <p:spPr>
            <a:xfrm>
              <a:off x="782955" y="4909185"/>
              <a:ext cx="60960" cy="60960"/>
            </a:xfrm>
            <a:prstGeom prst="ellipse">
              <a:avLst/>
            </a:prstGeom>
            <a:solidFill>
              <a:srgbClr val="0E7C86"/>
            </a:solidFill>
            <a:ln>
              <a:noFill/>
            </a:ln>
          </p:spPr>
        </p:sp>
        <p:sp>
          <p:nvSpPr>
            <p:cNvPr id="46" name="TextBox 46"/>
            <p:cNvSpPr txBox="1"/>
            <p:nvPr/>
          </p:nvSpPr>
          <p:spPr>
            <a:xfrm>
              <a:off x="939546" y="4849654"/>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学习率通常要比批处理取得小</a:t>
              </a:r>
            </a:p>
          </p:txBody>
        </p:sp>
        <p:sp>
          <p:nvSpPr>
            <p:cNvPr id="47" name="Rectangle 47"/>
            <p:cNvSpPr/>
            <p:nvPr/>
          </p:nvSpPr>
          <p:spPr>
            <a:xfrm>
              <a:off x="6305550" y="3643312"/>
              <a:ext cx="5353050" cy="2029778"/>
            </a:xfrm>
            <a:prstGeom prst="roundRect">
              <a:avLst>
                <a:gd name="adj" fmla="val 6570"/>
              </a:avLst>
            </a:prstGeom>
            <a:solidFill>
              <a:srgbClr val="F4F6FB"/>
            </a:solidFill>
            <a:ln>
              <a:noFill/>
            </a:ln>
          </p:spPr>
        </p:sp>
        <p:sp>
          <p:nvSpPr>
            <p:cNvPr id="48" name="TextBox 48"/>
            <p:cNvSpPr txBox="1"/>
            <p:nvPr/>
          </p:nvSpPr>
          <p:spPr>
            <a:xfrm>
              <a:off x="6502146" y="387048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术语对照</a:t>
              </a:r>
            </a:p>
          </p:txBody>
        </p:sp>
        <p:sp>
          <p:nvSpPr>
            <p:cNvPr id="49" name="Ellipse 49"/>
            <p:cNvSpPr/>
            <p:nvPr/>
          </p:nvSpPr>
          <p:spPr>
            <a:xfrm>
              <a:off x="6517005" y="4269105"/>
              <a:ext cx="60960" cy="60960"/>
            </a:xfrm>
            <a:prstGeom prst="ellipse">
              <a:avLst/>
            </a:prstGeom>
            <a:solidFill>
              <a:srgbClr val="0E7C86"/>
            </a:solidFill>
            <a:ln>
              <a:noFill/>
            </a:ln>
          </p:spPr>
        </p:sp>
        <p:sp>
          <p:nvSpPr>
            <p:cNvPr id="50" name="TextBox 50"/>
            <p:cNvSpPr txBox="1"/>
            <p:nvPr/>
          </p:nvSpPr>
          <p:spPr>
            <a:xfrm>
              <a:off x="6673596" y="4209574"/>
              <a:ext cx="250912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一代 epoch：全部样本过一遍</a:t>
              </a:r>
            </a:p>
          </p:txBody>
        </p:sp>
        <p:sp>
          <p:nvSpPr>
            <p:cNvPr id="51" name="Ellipse 51"/>
            <p:cNvSpPr/>
            <p:nvPr/>
          </p:nvSpPr>
          <p:spPr>
            <a:xfrm>
              <a:off x="6517005" y="4589145"/>
              <a:ext cx="60960" cy="60960"/>
            </a:xfrm>
            <a:prstGeom prst="ellipse">
              <a:avLst/>
            </a:prstGeom>
            <a:solidFill>
              <a:srgbClr val="0E7C86"/>
            </a:solidFill>
            <a:ln>
              <a:noFill/>
            </a:ln>
          </p:spPr>
        </p:sp>
        <p:sp>
          <p:nvSpPr>
            <p:cNvPr id="52" name="TextBox 52"/>
            <p:cNvSpPr txBox="1"/>
            <p:nvPr/>
          </p:nvSpPr>
          <p:spPr>
            <a:xfrm>
              <a:off x="6673596" y="4529614"/>
              <a:ext cx="264293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一步 iteration：更新一次权值</a:t>
              </a:r>
            </a:p>
          </p:txBody>
        </p:sp>
        <p:sp>
          <p:nvSpPr>
            <p:cNvPr id="53" name="Ellipse 53"/>
            <p:cNvSpPr/>
            <p:nvPr/>
          </p:nvSpPr>
          <p:spPr>
            <a:xfrm>
              <a:off x="6517005" y="4909185"/>
              <a:ext cx="60960" cy="60960"/>
            </a:xfrm>
            <a:prstGeom prst="ellipse">
              <a:avLst/>
            </a:prstGeom>
            <a:solidFill>
              <a:srgbClr val="0E7C86"/>
            </a:solidFill>
            <a:ln>
              <a:noFill/>
            </a:ln>
          </p:spPr>
        </p:sp>
        <p:sp>
          <p:nvSpPr>
            <p:cNvPr id="54" name="TextBox 54"/>
            <p:cNvSpPr txBox="1"/>
            <p:nvPr/>
          </p:nvSpPr>
          <p:spPr>
            <a:xfrm>
              <a:off x="6673596" y="4849654"/>
              <a:ext cx="332155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批大小 batch size：一步用到的样本数</a:t>
              </a:r>
            </a:p>
          </p:txBody>
        </p:sp>
        <p:sp>
          <p:nvSpPr>
            <p:cNvPr id="55" name="Ellipse 55"/>
            <p:cNvSpPr/>
            <p:nvPr/>
          </p:nvSpPr>
          <p:spPr>
            <a:xfrm>
              <a:off x="5934075" y="4495800"/>
              <a:ext cx="323850" cy="323850"/>
            </a:xfrm>
            <a:prstGeom prst="ellipse">
              <a:avLst/>
            </a:prstGeom>
            <a:solidFill>
              <a:srgbClr val="F26B3A"/>
            </a:solidFill>
            <a:ln>
              <a:noFill/>
            </a:ln>
          </p:spPr>
        </p:sp>
        <p:sp>
          <p:nvSpPr>
            <p:cNvPr id="56" name="TextBox 56"/>
            <p:cNvSpPr txBox="1"/>
            <p:nvPr/>
          </p:nvSpPr>
          <p:spPr>
            <a:xfrm>
              <a:off x="6004415" y="459295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4" name="takeaway"/>
          <p:cNvGrpSpPr/>
          <p:nvPr/>
        </p:nvGrpSpPr>
        <p:grpSpPr>
          <a:xfrm>
            <a:off x="533400" y="5844540"/>
            <a:ext cx="11128106" cy="518160"/>
            <a:chOff x="533400" y="5844540"/>
            <a:chExt cx="11128106" cy="518160"/>
          </a:xfrm>
        </p:grpSpPr>
        <p:sp>
          <p:nvSpPr>
            <p:cNvPr id="58" name="Rectangle 58"/>
            <p:cNvSpPr/>
            <p:nvPr/>
          </p:nvSpPr>
          <p:spPr>
            <a:xfrm>
              <a:off x="533400" y="5844540"/>
              <a:ext cx="11125200" cy="518160"/>
            </a:xfrm>
            <a:prstGeom prst="roundRect">
              <a:avLst>
                <a:gd name="adj" fmla="val 22059"/>
              </a:avLst>
            </a:prstGeom>
            <a:solidFill>
              <a:srgbClr val="F4F6FB"/>
            </a:solidFill>
            <a:ln>
              <a:noFill/>
            </a:ln>
          </p:spPr>
        </p:sp>
        <p:grpSp>
          <p:nvGrpSpPr>
            <p:cNvPr id="62" name="Group 62"/>
            <p:cNvGrpSpPr/>
            <p:nvPr/>
          </p:nvGrpSpPr>
          <p:grpSpPr>
            <a:xfrm>
              <a:off x="738188" y="6003608"/>
              <a:ext cx="200026" cy="200026"/>
              <a:chOff x="738188" y="6003608"/>
              <a:chExt cx="200026" cy="200026"/>
            </a:xfrm>
          </p:grpSpPr>
          <p:sp>
            <p:nvSpPr>
              <p:cNvPr id="59" name="Freeform 59"/>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0" name="Freeform 60"/>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1" name="Freeform 61"/>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3" name="TextBox 63"/>
            <p:cNvSpPr txBox="1"/>
            <p:nvPr/>
          </p:nvSpPr>
          <p:spPr>
            <a:xfrm>
              <a:off x="1040511" y="6004084"/>
              <a:ext cx="1062099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更正：B 版课件把随机BP的两条特点（逐样本更新、每轮打乱）直接排在“批处理BP算法”标题下，实际它们描述的是随机BP。</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8" name="section-title"/>
          <p:cNvGrpSpPr/>
          <p:nvPr/>
        </p:nvGrpSpPr>
        <p:grpSpPr>
          <a:xfrm>
            <a:off x="667512" y="1835468"/>
            <a:ext cx="3802761" cy="3351847"/>
            <a:chOff x="667512" y="1835468"/>
            <a:chExt cx="3802761"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342900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训练技巧与泛化</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梯度算对了，还有一堆事会让训练失败</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学习率与自适应方法</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6210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动量项</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局部极小与跳出策略</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过拟合与三种缓解办法</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学习率：太大不收敛，太小太慢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3" name="c1-table-1"/>
          <p:cNvGrpSpPr/>
          <p:nvPr/>
        </p:nvGrpSpPr>
        <p:grpSpPr>
          <a:xfrm>
            <a:off x="533400" y="1524000"/>
            <a:ext cx="5410200" cy="1906905"/>
            <a:chOff x="533400" y="1524000"/>
            <a:chExt cx="5410200" cy="1906905"/>
          </a:xfrm>
        </p:grpSpPr>
        <p:sp>
          <p:nvSpPr>
            <p:cNvPr id="7" name="Rectangle 7"/>
            <p:cNvSpPr/>
            <p:nvPr/>
          </p:nvSpPr>
          <p:spPr>
            <a:xfrm>
              <a:off x="533400" y="1524000"/>
              <a:ext cx="5410200" cy="381000"/>
            </a:xfrm>
            <a:prstGeom prst="rect">
              <a:avLst/>
            </a:prstGeom>
            <a:solidFill>
              <a:srgbClr val="0E7C86"/>
            </a:solidFill>
            <a:ln>
              <a:noFill/>
            </a:ln>
          </p:spPr>
        </p:sp>
        <p:sp>
          <p:nvSpPr>
            <p:cNvPr id="8" name="TextBox 8"/>
            <p:cNvSpPr txBox="1"/>
            <p:nvPr/>
          </p:nvSpPr>
          <p:spPr>
            <a:xfrm>
              <a:off x="911352"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学习率</a:t>
              </a:r>
            </a:p>
          </p:txBody>
        </p:sp>
        <p:sp>
          <p:nvSpPr>
            <p:cNvPr id="9" name="TextBox 9"/>
            <p:cNvSpPr txBox="1"/>
            <p:nvPr/>
          </p:nvSpPr>
          <p:spPr>
            <a:xfrm>
              <a:off x="2359342" y="1641157"/>
              <a:ext cx="100012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损失曲线的样子</a:t>
              </a:r>
            </a:p>
          </p:txBody>
        </p:sp>
        <p:sp>
          <p:nvSpPr>
            <p:cNvPr id="10" name="TextBox 10"/>
            <p:cNvSpPr txBox="1"/>
            <p:nvPr/>
          </p:nvSpPr>
          <p:spPr>
            <a:xfrm>
              <a:off x="482346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后果</a:t>
              </a:r>
            </a:p>
          </p:txBody>
        </p:sp>
        <p:sp>
          <p:nvSpPr>
            <p:cNvPr id="11" name="TextBox 11"/>
            <p:cNvSpPr txBox="1"/>
            <p:nvPr/>
          </p:nvSpPr>
          <p:spPr>
            <a:xfrm>
              <a:off x="628078" y="2023110"/>
              <a:ext cx="434721"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非常大</a:t>
              </a:r>
            </a:p>
          </p:txBody>
        </p:sp>
        <p:sp>
          <p:nvSpPr>
            <p:cNvPr id="12" name="TextBox 12"/>
            <p:cNvSpPr txBox="1"/>
            <p:nvPr/>
          </p:nvSpPr>
          <p:spPr>
            <a:xfrm>
              <a:off x="1818704" y="2023110"/>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一上来就冲高，再也下不来</a:t>
              </a:r>
            </a:p>
          </p:txBody>
        </p:sp>
        <p:sp>
          <p:nvSpPr>
            <p:cNvPr id="13" name="Rectangle 13"/>
            <p:cNvSpPr/>
            <p:nvPr/>
          </p:nvSpPr>
          <p:spPr>
            <a:xfrm>
              <a:off x="4005262" y="1914525"/>
              <a:ext cx="1928812" cy="361950"/>
            </a:xfrm>
            <a:prstGeom prst="rect">
              <a:avLst/>
            </a:prstGeom>
            <a:solidFill>
              <a:srgbClr val="FDECEA"/>
            </a:solidFill>
            <a:ln>
              <a:noFill/>
            </a:ln>
          </p:spPr>
        </p:sp>
        <p:sp>
          <p:nvSpPr>
            <p:cNvPr id="14" name="TextBox 14"/>
            <p:cNvSpPr txBox="1"/>
            <p:nvPr/>
          </p:nvSpPr>
          <p:spPr>
            <a:xfrm>
              <a:off x="4090416" y="2023110"/>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发散</a:t>
              </a:r>
            </a:p>
          </p:txBody>
        </p:sp>
        <p:sp>
          <p:nvSpPr>
            <p:cNvPr id="15" name="Rectangle 15"/>
            <p:cNvSpPr/>
            <p:nvPr/>
          </p:nvSpPr>
          <p:spPr>
            <a:xfrm>
              <a:off x="533400" y="2282190"/>
              <a:ext cx="5410200" cy="9525"/>
            </a:xfrm>
            <a:prstGeom prst="rect">
              <a:avLst/>
            </a:prstGeom>
            <a:solidFill>
              <a:srgbClr val="D9DFEA"/>
            </a:solidFill>
            <a:ln>
              <a:noFill/>
            </a:ln>
          </p:spPr>
        </p:sp>
        <p:sp>
          <p:nvSpPr>
            <p:cNvPr id="16" name="Rectangle 16"/>
            <p:cNvSpPr/>
            <p:nvPr/>
          </p:nvSpPr>
          <p:spPr>
            <a:xfrm>
              <a:off x="533400" y="2286952"/>
              <a:ext cx="5410200" cy="381000"/>
            </a:xfrm>
            <a:prstGeom prst="rect">
              <a:avLst/>
            </a:prstGeom>
            <a:solidFill>
              <a:srgbClr val="F4F6FB"/>
            </a:solidFill>
            <a:ln>
              <a:noFill/>
            </a:ln>
          </p:spPr>
        </p:sp>
        <p:sp>
          <p:nvSpPr>
            <p:cNvPr id="17" name="TextBox 17"/>
            <p:cNvSpPr txBox="1"/>
            <p:nvPr/>
          </p:nvSpPr>
          <p:spPr>
            <a:xfrm>
              <a:off x="628078" y="2404110"/>
              <a:ext cx="15201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大</a:t>
              </a:r>
            </a:p>
          </p:txBody>
        </p:sp>
        <p:sp>
          <p:nvSpPr>
            <p:cNvPr id="18" name="TextBox 18"/>
            <p:cNvSpPr txBox="1"/>
            <p:nvPr/>
          </p:nvSpPr>
          <p:spPr>
            <a:xfrm>
              <a:off x="1818704" y="2404110"/>
              <a:ext cx="198958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快速下降后卡在一个较高的水平</a:t>
              </a:r>
            </a:p>
          </p:txBody>
        </p:sp>
        <p:sp>
          <p:nvSpPr>
            <p:cNvPr id="19" name="TextBox 19"/>
            <p:cNvSpPr txBox="1"/>
            <p:nvPr/>
          </p:nvSpPr>
          <p:spPr>
            <a:xfrm>
              <a:off x="4090416" y="2404110"/>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在谷口两侧来回跳</a:t>
              </a:r>
            </a:p>
          </p:txBody>
        </p:sp>
        <p:sp>
          <p:nvSpPr>
            <p:cNvPr id="20" name="Rectangle 20"/>
            <p:cNvSpPr/>
            <p:nvPr/>
          </p:nvSpPr>
          <p:spPr>
            <a:xfrm>
              <a:off x="533400" y="2663190"/>
              <a:ext cx="5410200" cy="9525"/>
            </a:xfrm>
            <a:prstGeom prst="rect">
              <a:avLst/>
            </a:prstGeom>
            <a:solidFill>
              <a:srgbClr val="D9DFEA"/>
            </a:solidFill>
            <a:ln>
              <a:noFill/>
            </a:ln>
          </p:spPr>
        </p:sp>
        <p:sp>
          <p:nvSpPr>
            <p:cNvPr id="21" name="TextBox 21"/>
            <p:cNvSpPr txBox="1"/>
            <p:nvPr/>
          </p:nvSpPr>
          <p:spPr>
            <a:xfrm>
              <a:off x="628078" y="2785110"/>
              <a:ext cx="15201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小</a:t>
              </a:r>
            </a:p>
          </p:txBody>
        </p:sp>
        <p:sp>
          <p:nvSpPr>
            <p:cNvPr id="22" name="TextBox 22"/>
            <p:cNvSpPr txBox="1"/>
            <p:nvPr/>
          </p:nvSpPr>
          <p:spPr>
            <a:xfrm>
              <a:off x="1818704" y="2785110"/>
              <a:ext cx="142417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平滑下降但很久不到底</a:t>
              </a:r>
            </a:p>
          </p:txBody>
        </p:sp>
        <p:sp>
          <p:nvSpPr>
            <p:cNvPr id="23" name="TextBox 23"/>
            <p:cNvSpPr txBox="1"/>
            <p:nvPr/>
          </p:nvSpPr>
          <p:spPr>
            <a:xfrm>
              <a:off x="4090416" y="2785110"/>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训练时间长</a:t>
              </a:r>
            </a:p>
          </p:txBody>
        </p:sp>
        <p:sp>
          <p:nvSpPr>
            <p:cNvPr id="24" name="Rectangle 24"/>
            <p:cNvSpPr/>
            <p:nvPr/>
          </p:nvSpPr>
          <p:spPr>
            <a:xfrm>
              <a:off x="533400" y="3045142"/>
              <a:ext cx="5410200" cy="9525"/>
            </a:xfrm>
            <a:prstGeom prst="rect">
              <a:avLst/>
            </a:prstGeom>
            <a:solidFill>
              <a:srgbClr val="D9DFEA"/>
            </a:solidFill>
            <a:ln>
              <a:noFill/>
            </a:ln>
          </p:spPr>
        </p:sp>
        <p:sp>
          <p:nvSpPr>
            <p:cNvPr id="25" name="Rectangle 25"/>
            <p:cNvSpPr/>
            <p:nvPr/>
          </p:nvSpPr>
          <p:spPr>
            <a:xfrm>
              <a:off x="533400" y="3049905"/>
              <a:ext cx="5410200" cy="381000"/>
            </a:xfrm>
            <a:prstGeom prst="rect">
              <a:avLst/>
            </a:prstGeom>
            <a:solidFill>
              <a:srgbClr val="F4F6FB"/>
            </a:solidFill>
            <a:ln>
              <a:noFill/>
            </a:ln>
          </p:spPr>
        </p:sp>
        <p:sp>
          <p:nvSpPr>
            <p:cNvPr id="26" name="TextBox 26"/>
            <p:cNvSpPr txBox="1"/>
            <p:nvPr/>
          </p:nvSpPr>
          <p:spPr>
            <a:xfrm>
              <a:off x="628078" y="3167062"/>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合适</a:t>
              </a:r>
            </a:p>
          </p:txBody>
        </p:sp>
        <p:sp>
          <p:nvSpPr>
            <p:cNvPr id="27" name="TextBox 27"/>
            <p:cNvSpPr txBox="1"/>
            <p:nvPr/>
          </p:nvSpPr>
          <p:spPr>
            <a:xfrm>
              <a:off x="1818704" y="3167062"/>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稳定下降并收敛到较低点</a:t>
              </a:r>
            </a:p>
          </p:txBody>
        </p:sp>
        <p:sp>
          <p:nvSpPr>
            <p:cNvPr id="28" name="Rectangle 28"/>
            <p:cNvSpPr/>
            <p:nvPr/>
          </p:nvSpPr>
          <p:spPr>
            <a:xfrm>
              <a:off x="4005262" y="3059430"/>
              <a:ext cx="1928812" cy="361950"/>
            </a:xfrm>
            <a:prstGeom prst="rect">
              <a:avLst/>
            </a:prstGeom>
            <a:solidFill>
              <a:srgbClr val="E3F5F1"/>
            </a:solidFill>
            <a:ln>
              <a:noFill/>
            </a:ln>
          </p:spPr>
        </p:sp>
        <p:sp>
          <p:nvSpPr>
            <p:cNvPr id="29" name="TextBox 29"/>
            <p:cNvSpPr txBox="1"/>
            <p:nvPr/>
          </p:nvSpPr>
          <p:spPr>
            <a:xfrm>
              <a:off x="4090416" y="316706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理想情况</a:t>
              </a:r>
            </a:p>
          </p:txBody>
        </p:sp>
        <p:sp>
          <p:nvSpPr>
            <p:cNvPr id="30" name="Rectangle 30"/>
            <p:cNvSpPr/>
            <p:nvPr/>
          </p:nvSpPr>
          <p:spPr>
            <a:xfrm>
              <a:off x="533400" y="1524000"/>
              <a:ext cx="5410200" cy="1906905"/>
            </a:xfrm>
            <a:prstGeom prst="rect">
              <a:avLst/>
            </a:prstGeom>
            <a:noFill/>
            <a:ln w="14288">
              <a:solidFill>
                <a:srgbClr val="D9DFEA"/>
              </a:solidFill>
            </a:ln>
          </p:spPr>
        </p:sp>
        <p:sp>
          <p:nvSpPr>
            <p:cNvPr id="31" name="Rectangle 31"/>
            <p:cNvSpPr/>
            <p:nvPr/>
          </p:nvSpPr>
          <p:spPr>
            <a:xfrm>
              <a:off x="1719262" y="1524000"/>
              <a:ext cx="9525" cy="1906905"/>
            </a:xfrm>
            <a:prstGeom prst="rect">
              <a:avLst/>
            </a:prstGeom>
            <a:solidFill>
              <a:srgbClr val="D9DFEA"/>
            </a:solidFill>
            <a:ln>
              <a:noFill/>
            </a:ln>
          </p:spPr>
        </p:sp>
        <p:sp>
          <p:nvSpPr>
            <p:cNvPr id="32" name="Rectangle 32"/>
            <p:cNvSpPr/>
            <p:nvPr/>
          </p:nvSpPr>
          <p:spPr>
            <a:xfrm>
              <a:off x="3990975" y="1524000"/>
              <a:ext cx="9525" cy="1906905"/>
            </a:xfrm>
            <a:prstGeom prst="rect">
              <a:avLst/>
            </a:prstGeom>
            <a:solidFill>
              <a:srgbClr val="D9DFEA"/>
            </a:solidFill>
            <a:ln>
              <a:noFill/>
            </a:ln>
          </p:spPr>
        </p:sp>
      </p:grpSp>
      <p:grpSp>
        <p:nvGrpSpPr>
          <p:cNvPr id="42" name="c1-card-2"/>
          <p:cNvGrpSpPr/>
          <p:nvPr/>
        </p:nvGrpSpPr>
        <p:grpSpPr>
          <a:xfrm>
            <a:off x="533400" y="3595688"/>
            <a:ext cx="5410200" cy="1925002"/>
            <a:chOff x="533400" y="3595688"/>
            <a:chExt cx="5410200" cy="1925002"/>
          </a:xfrm>
        </p:grpSpPr>
        <p:sp>
          <p:nvSpPr>
            <p:cNvPr id="34" name="Rectangle 34"/>
            <p:cNvSpPr/>
            <p:nvPr/>
          </p:nvSpPr>
          <p:spPr>
            <a:xfrm>
              <a:off x="533400" y="3595688"/>
              <a:ext cx="5410200" cy="1925002"/>
            </a:xfrm>
            <a:prstGeom prst="roundRect">
              <a:avLst>
                <a:gd name="adj" fmla="val 6927"/>
              </a:avLst>
            </a:prstGeom>
            <a:solidFill>
              <a:srgbClr val="FFFFFF"/>
            </a:solidFill>
            <a:ln w="14288">
              <a:solidFill>
                <a:srgbClr val="D9DFEA"/>
              </a:solidFill>
            </a:ln>
          </p:spPr>
        </p:sp>
        <p:sp>
          <p:nvSpPr>
            <p:cNvPr id="35" name="Rectangle 35"/>
            <p:cNvSpPr/>
            <p:nvPr/>
          </p:nvSpPr>
          <p:spPr>
            <a:xfrm>
              <a:off x="542925" y="3729038"/>
              <a:ext cx="47625" cy="1658302"/>
            </a:xfrm>
            <a:prstGeom prst="roundRect">
              <a:avLst>
                <a:gd name="adj" fmla="val 50000"/>
              </a:avLst>
            </a:prstGeom>
            <a:solidFill>
              <a:srgbClr val="0E7C86"/>
            </a:solidFill>
            <a:ln>
              <a:noFill/>
            </a:ln>
          </p:spPr>
        </p:sp>
        <p:sp>
          <p:nvSpPr>
            <p:cNvPr id="36" name="Rectangle 36"/>
            <p:cNvSpPr/>
            <p:nvPr/>
          </p:nvSpPr>
          <p:spPr>
            <a:xfrm>
              <a:off x="752475" y="3776662"/>
              <a:ext cx="956310" cy="238125"/>
            </a:xfrm>
            <a:prstGeom prst="roundRect">
              <a:avLst>
                <a:gd name="adj" fmla="val 50000"/>
              </a:avLst>
            </a:prstGeom>
            <a:solidFill>
              <a:srgbClr val="E2F3F4"/>
            </a:solidFill>
            <a:ln>
              <a:noFill/>
            </a:ln>
          </p:spPr>
        </p:sp>
        <p:sp>
          <p:nvSpPr>
            <p:cNvPr id="37" name="TextBox 37"/>
            <p:cNvSpPr txBox="1"/>
            <p:nvPr/>
          </p:nvSpPr>
          <p:spPr>
            <a:xfrm>
              <a:off x="829894" y="3809524"/>
              <a:ext cx="801472"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最朴素的改法</a:t>
              </a:r>
            </a:p>
          </p:txBody>
        </p:sp>
        <p:sp>
          <p:nvSpPr>
            <p:cNvPr id="38" name="TextBox 38"/>
            <p:cNvSpPr txBox="1"/>
            <p:nvPr/>
          </p:nvSpPr>
          <p:spPr>
            <a:xfrm>
              <a:off x="1816608" y="3816191"/>
              <a:ext cx="268683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每隔几个 epoch 就把学习率降一些</a:t>
              </a:r>
            </a:p>
          </p:txBody>
        </p:sp>
        <p:sp>
          <p:nvSpPr>
            <p:cNvPr id="39" name="TextBox 39"/>
            <p:cNvSpPr txBox="1"/>
            <p:nvPr/>
          </p:nvSpPr>
          <p:spPr>
            <a:xfrm>
              <a:off x="745998" y="4133374"/>
              <a:ext cx="478409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一开始离目标很远，用大的学习率；经过几个 epoch 离目标近了，</a:t>
              </a:r>
              <a:br/>
              <a:r>
                <a:rPr lang="zh-CN" sz="1280" dirty="0">
                  <a:solidFill>
                    <a:srgbClr val="1F2937"/>
                  </a:solidFill>
                  <a:latin typeface="+mn-lt"/>
                  <a:ea typeface="+mn-ea"/>
                  <a:cs typeface="+mn-cs"/>
                </a:rPr>
                <a:t>就把学习率调小。常用的 1/t 衰减写成</a:t>
              </a:r>
            </a:p>
          </p:txBody>
        </p:sp>
        <mc:AlternateContent xmlns:mc="http://schemas.openxmlformats.org/markup-compatibility/2006">
          <mc:Choice xmlns:a14="http://schemas.microsoft.com/office/drawing/2010/main" Requires="a14">
            <p:sp>
              <p:nvSpPr>
                <p:cNvPr id="40" name="formula160"/>
                <p:cNvSpPr txBox="1">
                  <a:spLocks noGrp="1"/>
                </p:cNvSpPr>
                <p:nvPr/>
              </p:nvSpPr>
              <p:spPr>
                <a:xfrm>
                  <a:off x="752475" y="4639628"/>
                  <a:ext cx="5010150"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80" dirty="0">
                                <a:solidFill>
                                  <a:srgbClr val="1F2937"/>
                                </a:solidFill>
                                <a:latin typeface="Cambria Math"/>
                                <a:ea typeface="Cambria Math"/>
                                <a:cs typeface="Cambria Math"/>
                              </a:rPr>
                              <m:t>η</m:t>
                            </m:r>
                          </m:e>
                          <m:sup>
                            <m:r>
                              <a:rPr lang="zh-CN" sz="1280" dirty="0">
                                <a:solidFill>
                                  <a:srgbClr val="1F2937"/>
                                </a:solidFill>
                                <a:latin typeface="Cambria Math"/>
                                <a:ea typeface="Cambria Math"/>
                                <a:cs typeface="Cambria Math"/>
                              </a:rPr>
                              <m:t>t</m:t>
                            </m:r>
                          </m:sup>
                        </m:sSup>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η</m:t>
                            </m:r>
                          </m:num>
                          <m:den>
                            <m:rad>
                              <m:radPr>
                                <m:degHide m:val="on"/>
                                <m:ctrlPr>
                                  <a:rPr lang="zh-CN" sz="1280" dirty="0">
                                    <a:solidFill>
                                      <a:srgbClr val="1F2937"/>
                                    </a:solidFill>
                                    <a:latin typeface="Cambria Math"/>
                                    <a:ea typeface="Cambria Math"/>
                                    <a:cs typeface="Cambria Math"/>
                                  </a:rPr>
                                </m:ctrlPr>
                              </m:radPr>
                              <m:deg/>
                              <m:e>
                                <m:r>
                                  <a:rPr lang="zh-CN" sz="1280" dirty="0">
                                    <a:solidFill>
                                      <a:srgbClr val="1F2937"/>
                                    </a:solidFill>
                                    <a:latin typeface="Cambria Math"/>
                                    <a:ea typeface="Cambria Math"/>
                                    <a:cs typeface="Cambria Math"/>
                                  </a:rPr>
                                  <m:t>t</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e>
                            </m:rad>
                          </m:den>
                        </m:f>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sSup>
                          <m:e>
                            <m:r>
                              <a:rPr lang="zh-CN" sz="1280" dirty="0">
                                <a:solidFill>
                                  <a:srgbClr val="1F2937"/>
                                </a:solidFill>
                                <a:latin typeface="Cambria Math"/>
                                <a:ea typeface="Cambria Math"/>
                                <a:cs typeface="Cambria Math"/>
                              </a:rPr>
                              <m:t>w</m:t>
                            </m:r>
                          </m:e>
                          <m:sup>
                            <m:r>
                              <a:rPr lang="zh-CN" sz="1280" dirty="0">
                                <a:solidFill>
                                  <a:srgbClr val="1F2937"/>
                                </a:solidFill>
                                <a:latin typeface="Cambria Math"/>
                                <a:ea typeface="Cambria Math"/>
                                <a:cs typeface="Cambria Math"/>
                              </a:rPr>
                              <m:t>t</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p>
                        <m:r>
                          <m:rPr>
                            <m:sty m:val="p"/>
                          </m:rPr>
                          <a:rPr lang="zh-CN" sz="1280" dirty="0">
                            <a:solidFill>
                              <a:srgbClr val="1F2937"/>
                            </a:solidFill>
                            <a:latin typeface="Cambria Math"/>
                            <a:ea typeface="Cambria Math"/>
                            <a:cs typeface="Cambria Math"/>
                          </a:rPr>
                          <m:t>←</m:t>
                        </m:r>
                        <m:sSup>
                          <m:e>
                            <m:r>
                              <a:rPr lang="zh-CN" sz="1280" dirty="0">
                                <a:solidFill>
                                  <a:srgbClr val="1F2937"/>
                                </a:solidFill>
                                <a:latin typeface="Cambria Math"/>
                                <a:ea typeface="Cambria Math"/>
                                <a:cs typeface="Cambria Math"/>
                              </a:rPr>
                              <m:t>w</m:t>
                            </m:r>
                          </m:e>
                          <m:sup>
                            <m:r>
                              <a:rPr lang="zh-CN" sz="1280" dirty="0">
                                <a:solidFill>
                                  <a:srgbClr val="1F2937"/>
                                </a:solidFill>
                                <a:latin typeface="Cambria Math"/>
                                <a:ea typeface="Cambria Math"/>
                                <a:cs typeface="Cambria Math"/>
                              </a:rPr>
                              <m:t>t</m:t>
                            </m:r>
                          </m:sup>
                        </m:sSup>
                        <m:r>
                          <m:rPr>
                            <m:sty m:val="p"/>
                          </m:rPr>
                          <a:rPr lang="zh-CN" sz="1280" dirty="0">
                            <a:solidFill>
                              <a:srgbClr val="1F2937"/>
                            </a:solidFill>
                            <a:latin typeface="Cambria Math"/>
                            <a:ea typeface="Cambria Math"/>
                            <a:cs typeface="Cambria Math"/>
                          </a:rPr>
                          <m:t>−</m:t>
                        </m:r>
                        <m:sSup>
                          <m:e>
                            <m:r>
                              <a:rPr lang="zh-CN" sz="1280" dirty="0">
                                <a:solidFill>
                                  <a:srgbClr val="1F2937"/>
                                </a:solidFill>
                                <a:latin typeface="Cambria Math"/>
                                <a:ea typeface="Cambria Math"/>
                                <a:cs typeface="Cambria Math"/>
                              </a:rPr>
                              <m:t>η</m:t>
                            </m:r>
                          </m:e>
                          <m:sup>
                            <m:r>
                              <a:rPr lang="zh-CN" sz="1280" dirty="0">
                                <a:solidFill>
                                  <a:srgbClr val="1F2937"/>
                                </a:solidFill>
                                <a:latin typeface="Cambria Math"/>
                                <a:ea typeface="Cambria Math"/>
                                <a:cs typeface="Cambria Math"/>
                              </a:rPr>
                              <m:t>t</m:t>
                            </m:r>
                          </m:sup>
                        </m:sSup>
                        <m:sSup>
                          <m:e>
                            <m:r>
                              <a:rPr lang="zh-CN" sz="1280" dirty="0">
                                <a:solidFill>
                                  <a:srgbClr val="1F2937"/>
                                </a:solidFill>
                                <a:latin typeface="Cambria Math"/>
                                <a:ea typeface="Cambria Math"/>
                                <a:cs typeface="Cambria Math"/>
                              </a:rPr>
                              <m:t>g</m:t>
                            </m:r>
                          </m:e>
                          <m:sup>
                            <m:r>
                              <a:rPr lang="zh-CN" sz="1280" dirty="0">
                                <a:solidFill>
                                  <a:srgbClr val="1F2937"/>
                                </a:solidFill>
                                <a:latin typeface="Cambria Math"/>
                                <a:ea typeface="Cambria Math"/>
                                <a:cs typeface="Cambria Math"/>
                              </a:rPr>
                              <m:t>t</m:t>
                            </m:r>
                          </m:sup>
                        </m:sSup>
                      </m:oMath>
                    </m:oMathPara>
                  </a14:m>
                </a:p>
              </p:txBody>
            </p:sp>
          </mc:Choice>
        </mc:AlternateContent>
        <p:sp>
          <p:nvSpPr>
            <p:cNvPr id="41" name="TextBox 41"/>
            <p:cNvSpPr txBox="1"/>
            <p:nvPr/>
          </p:nvSpPr>
          <p:spPr>
            <a:xfrm>
              <a:off x="747141" y="5174933"/>
              <a:ext cx="228188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gᵗ = ∂L(Θᵗ)/∂w 是第 t 步的梯度。</a:t>
              </a:r>
            </a:p>
          </p:txBody>
        </p:sp>
      </p:grpSp>
      <p:grpSp>
        <p:nvGrpSpPr>
          <p:cNvPr id="68" name="c2-graph-1"/>
          <p:cNvGrpSpPr/>
          <p:nvPr/>
        </p:nvGrpSpPr>
        <p:grpSpPr>
          <a:xfrm>
            <a:off x="6403759" y="1545431"/>
            <a:ext cx="5102441" cy="1857375"/>
            <a:chOff x="6403759" y="1545431"/>
            <a:chExt cx="5102441" cy="1857375"/>
          </a:xfrm>
        </p:grpSpPr>
        <p:sp>
          <p:nvSpPr>
            <p:cNvPr id="43" name="Freeform 43"/>
            <p:cNvSpPr/>
            <p:nvPr/>
          </p:nvSpPr>
          <p:spPr>
            <a:xfrm>
              <a:off x="6808470" y="3199448"/>
              <a:ext cx="4573905" cy="9525"/>
            </a:xfrm>
            <a:custGeom>
              <a:avLst/>
              <a:gdLst/>
              <a:ahLst/>
              <a:cxnLst/>
              <a:rect l="l" t="t" r="r" b="b"/>
              <a:pathLst>
                <a:path w="4573905" h="9525">
                  <a:moveTo>
                    <a:pt x="0" y="0"/>
                  </a:moveTo>
                  <a:lnTo>
                    <a:pt x="4573905" y="0"/>
                  </a:lnTo>
                </a:path>
              </a:pathLst>
            </a:custGeom>
            <a:noFill/>
            <a:ln w="17145">
              <a:solidFill>
                <a:srgbClr val="1F2937"/>
              </a:solidFill>
            </a:ln>
          </p:spPr>
        </p:sp>
        <p:sp>
          <p:nvSpPr>
            <p:cNvPr id="44" name="Freeform 44"/>
            <p:cNvSpPr/>
            <p:nvPr/>
          </p:nvSpPr>
          <p:spPr>
            <a:xfrm>
              <a:off x="11382375" y="315182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5" name="Freeform 45"/>
            <p:cNvSpPr/>
            <p:nvPr/>
          </p:nvSpPr>
          <p:spPr>
            <a:xfrm>
              <a:off x="6789420" y="1712595"/>
              <a:ext cx="9525" cy="1467802"/>
            </a:xfrm>
            <a:custGeom>
              <a:avLst/>
              <a:gdLst/>
              <a:ahLst/>
              <a:cxnLst/>
              <a:rect l="l" t="t" r="r" b="b"/>
              <a:pathLst>
                <a:path w="9525" h="1467802">
                  <a:moveTo>
                    <a:pt x="0" y="1467802"/>
                  </a:moveTo>
                  <a:lnTo>
                    <a:pt x="0" y="0"/>
                  </a:lnTo>
                </a:path>
              </a:pathLst>
            </a:custGeom>
            <a:noFill/>
            <a:ln w="17145">
              <a:solidFill>
                <a:srgbClr val="1F2937"/>
              </a:solidFill>
            </a:ln>
          </p:spPr>
        </p:sp>
        <p:sp>
          <p:nvSpPr>
            <p:cNvPr id="46" name="Freeform 46"/>
            <p:cNvSpPr/>
            <p:nvPr/>
          </p:nvSpPr>
          <p:spPr>
            <a:xfrm>
              <a:off x="6741795" y="1617345"/>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7" name="Freeform 47"/>
            <p:cNvSpPr/>
            <p:nvPr/>
          </p:nvSpPr>
          <p:spPr>
            <a:xfrm>
              <a:off x="6968490" y="1608772"/>
              <a:ext cx="886778" cy="540067"/>
            </a:xfrm>
            <a:custGeom>
              <a:avLst/>
              <a:gdLst/>
              <a:ahLst/>
              <a:cxnLst/>
              <a:rect l="l" t="t" r="r" b="b"/>
              <a:pathLst>
                <a:path w="886778" h="540067">
                  <a:moveTo>
                    <a:pt x="0" y="540067"/>
                  </a:moveTo>
                  <a:lnTo>
                    <a:pt x="253365" y="418148"/>
                  </a:lnTo>
                  <a:lnTo>
                    <a:pt x="578167" y="194310"/>
                  </a:lnTo>
                  <a:lnTo>
                    <a:pt x="886778" y="0"/>
                  </a:lnTo>
                </a:path>
              </a:pathLst>
            </a:custGeom>
            <a:noFill/>
            <a:ln w="17145">
              <a:solidFill>
                <a:srgbClr val="B42318"/>
              </a:solidFill>
            </a:ln>
          </p:spPr>
        </p:sp>
        <p:sp>
          <p:nvSpPr>
            <p:cNvPr id="48" name="Freeform 48"/>
            <p:cNvSpPr/>
            <p:nvPr/>
          </p:nvSpPr>
          <p:spPr>
            <a:xfrm>
              <a:off x="6963728" y="2208848"/>
              <a:ext cx="4405312" cy="543878"/>
            </a:xfrm>
            <a:custGeom>
              <a:avLst/>
              <a:gdLst/>
              <a:ahLst/>
              <a:cxnLst/>
              <a:rect l="l" t="t" r="r" b="b"/>
              <a:pathLst>
                <a:path w="4405312" h="543878">
                  <a:moveTo>
                    <a:pt x="0" y="0"/>
                  </a:moveTo>
                  <a:lnTo>
                    <a:pt x="204788" y="246698"/>
                  </a:lnTo>
                  <a:lnTo>
                    <a:pt x="475297" y="413385"/>
                  </a:lnTo>
                  <a:lnTo>
                    <a:pt x="1016317" y="506730"/>
                  </a:lnTo>
                  <a:lnTo>
                    <a:pt x="4405312" y="543878"/>
                  </a:lnTo>
                </a:path>
              </a:pathLst>
            </a:custGeom>
            <a:noFill/>
            <a:ln w="17145">
              <a:solidFill>
                <a:srgbClr val="F26B3A"/>
              </a:solidFill>
            </a:ln>
          </p:spPr>
        </p:sp>
        <p:sp>
          <p:nvSpPr>
            <p:cNvPr id="49" name="Freeform 49"/>
            <p:cNvSpPr/>
            <p:nvPr/>
          </p:nvSpPr>
          <p:spPr>
            <a:xfrm>
              <a:off x="6970395" y="2234565"/>
              <a:ext cx="4398645" cy="701993"/>
            </a:xfrm>
            <a:custGeom>
              <a:avLst/>
              <a:gdLst/>
              <a:ahLst/>
              <a:cxnLst/>
              <a:rect l="l" t="t" r="r" b="b"/>
              <a:pathLst>
                <a:path w="4398645" h="701993">
                  <a:moveTo>
                    <a:pt x="0" y="0"/>
                  </a:moveTo>
                  <a:lnTo>
                    <a:pt x="1442085" y="239077"/>
                  </a:lnTo>
                  <a:lnTo>
                    <a:pt x="3065145" y="481013"/>
                  </a:lnTo>
                  <a:lnTo>
                    <a:pt x="4398645" y="701993"/>
                  </a:lnTo>
                </a:path>
              </a:pathLst>
            </a:custGeom>
            <a:noFill/>
            <a:ln w="17145">
              <a:solidFill>
                <a:srgbClr val="1F2937"/>
              </a:solidFill>
            </a:ln>
          </p:spPr>
        </p:sp>
        <p:sp>
          <p:nvSpPr>
            <p:cNvPr id="50" name="Freeform 50"/>
            <p:cNvSpPr/>
            <p:nvPr/>
          </p:nvSpPr>
          <p:spPr>
            <a:xfrm>
              <a:off x="6965632" y="2281238"/>
              <a:ext cx="4403408" cy="768667"/>
            </a:xfrm>
            <a:custGeom>
              <a:avLst/>
              <a:gdLst/>
              <a:ahLst/>
              <a:cxnLst/>
              <a:rect l="l" t="t" r="r" b="b"/>
              <a:pathLst>
                <a:path w="4403408" h="768667">
                  <a:moveTo>
                    <a:pt x="0" y="0"/>
                  </a:moveTo>
                  <a:lnTo>
                    <a:pt x="364808" y="322897"/>
                  </a:lnTo>
                  <a:lnTo>
                    <a:pt x="905828" y="546735"/>
                  </a:lnTo>
                  <a:lnTo>
                    <a:pt x="1987868" y="695325"/>
                  </a:lnTo>
                  <a:lnTo>
                    <a:pt x="4403408" y="768667"/>
                  </a:lnTo>
                </a:path>
              </a:pathLst>
            </a:custGeom>
            <a:noFill/>
            <a:ln w="17145">
              <a:solidFill>
                <a:srgbClr val="0E7C86"/>
              </a:solidFill>
            </a:ln>
          </p:spPr>
        </p:sp>
        <p:sp>
          <p:nvSpPr>
            <p:cNvPr id="51" name="Ellipse 51"/>
            <p:cNvSpPr/>
            <p:nvPr/>
          </p:nvSpPr>
          <p:spPr>
            <a:xfrm>
              <a:off x="6779895" y="3189922"/>
              <a:ext cx="19050" cy="19050"/>
            </a:xfrm>
            <a:prstGeom prst="ellipse">
              <a:avLst/>
            </a:prstGeom>
            <a:solidFill>
              <a:srgbClr val="0E7C86"/>
            </a:solidFill>
            <a:ln>
              <a:noFill/>
            </a:ln>
          </p:spPr>
        </p:sp>
        <p:sp>
          <p:nvSpPr>
            <p:cNvPr id="52" name="Ellipse 52"/>
            <p:cNvSpPr/>
            <p:nvPr/>
          </p:nvSpPr>
          <p:spPr>
            <a:xfrm>
              <a:off x="11487150" y="3189922"/>
              <a:ext cx="19050" cy="19050"/>
            </a:xfrm>
            <a:prstGeom prst="ellipse">
              <a:avLst/>
            </a:prstGeom>
            <a:solidFill>
              <a:srgbClr val="0E7C86"/>
            </a:solidFill>
            <a:ln>
              <a:noFill/>
            </a:ln>
          </p:spPr>
        </p:sp>
        <p:sp>
          <p:nvSpPr>
            <p:cNvPr id="53" name="Ellipse 53"/>
            <p:cNvSpPr/>
            <p:nvPr/>
          </p:nvSpPr>
          <p:spPr>
            <a:xfrm>
              <a:off x="6779895" y="1588770"/>
              <a:ext cx="19050" cy="19050"/>
            </a:xfrm>
            <a:prstGeom prst="ellipse">
              <a:avLst/>
            </a:prstGeom>
            <a:solidFill>
              <a:srgbClr val="0E7C86"/>
            </a:solidFill>
            <a:ln>
              <a:noFill/>
            </a:ln>
          </p:spPr>
        </p:sp>
        <p:sp>
          <p:nvSpPr>
            <p:cNvPr id="54" name="Ellipse 54"/>
            <p:cNvSpPr/>
            <p:nvPr/>
          </p:nvSpPr>
          <p:spPr>
            <a:xfrm>
              <a:off x="6941820" y="2147888"/>
              <a:ext cx="19050" cy="19050"/>
            </a:xfrm>
            <a:prstGeom prst="ellipse">
              <a:avLst/>
            </a:prstGeom>
            <a:solidFill>
              <a:srgbClr val="B42318"/>
            </a:solidFill>
            <a:ln>
              <a:noFill/>
            </a:ln>
          </p:spPr>
        </p:sp>
        <p:sp>
          <p:nvSpPr>
            <p:cNvPr id="55" name="Ellipse 55"/>
            <p:cNvSpPr/>
            <p:nvPr/>
          </p:nvSpPr>
          <p:spPr>
            <a:xfrm>
              <a:off x="7861935" y="1588770"/>
              <a:ext cx="19050" cy="19050"/>
            </a:xfrm>
            <a:prstGeom prst="ellipse">
              <a:avLst/>
            </a:prstGeom>
            <a:solidFill>
              <a:srgbClr val="B42318"/>
            </a:solidFill>
            <a:ln>
              <a:noFill/>
            </a:ln>
          </p:spPr>
        </p:sp>
        <p:sp>
          <p:nvSpPr>
            <p:cNvPr id="56" name="Ellipse 56"/>
            <p:cNvSpPr/>
            <p:nvPr/>
          </p:nvSpPr>
          <p:spPr>
            <a:xfrm>
              <a:off x="6941820" y="2185035"/>
              <a:ext cx="19050" cy="19050"/>
            </a:xfrm>
            <a:prstGeom prst="ellipse">
              <a:avLst/>
            </a:prstGeom>
            <a:solidFill>
              <a:srgbClr val="F26B3A"/>
            </a:solidFill>
            <a:ln>
              <a:noFill/>
            </a:ln>
          </p:spPr>
        </p:sp>
        <p:sp>
          <p:nvSpPr>
            <p:cNvPr id="57" name="Ellipse 57"/>
            <p:cNvSpPr/>
            <p:nvPr/>
          </p:nvSpPr>
          <p:spPr>
            <a:xfrm>
              <a:off x="11378565" y="2743200"/>
              <a:ext cx="19050" cy="19050"/>
            </a:xfrm>
            <a:prstGeom prst="ellipse">
              <a:avLst/>
            </a:prstGeom>
            <a:solidFill>
              <a:srgbClr val="F26B3A"/>
            </a:solidFill>
            <a:ln>
              <a:noFill/>
            </a:ln>
          </p:spPr>
        </p:sp>
        <p:sp>
          <p:nvSpPr>
            <p:cNvPr id="58" name="Ellipse 58"/>
            <p:cNvSpPr/>
            <p:nvPr/>
          </p:nvSpPr>
          <p:spPr>
            <a:xfrm>
              <a:off x="6941820" y="2222182"/>
              <a:ext cx="19050" cy="19050"/>
            </a:xfrm>
            <a:prstGeom prst="ellipse">
              <a:avLst/>
            </a:prstGeom>
            <a:solidFill>
              <a:srgbClr val="0E7C86"/>
            </a:solidFill>
            <a:ln>
              <a:noFill/>
            </a:ln>
          </p:spPr>
        </p:sp>
        <p:sp>
          <p:nvSpPr>
            <p:cNvPr id="59" name="Ellipse 59"/>
            <p:cNvSpPr/>
            <p:nvPr/>
          </p:nvSpPr>
          <p:spPr>
            <a:xfrm>
              <a:off x="11378565" y="2929890"/>
              <a:ext cx="19050" cy="19050"/>
            </a:xfrm>
            <a:prstGeom prst="ellipse">
              <a:avLst/>
            </a:prstGeom>
            <a:solidFill>
              <a:srgbClr val="0E7C86"/>
            </a:solidFill>
            <a:ln>
              <a:noFill/>
            </a:ln>
          </p:spPr>
        </p:sp>
        <p:sp>
          <p:nvSpPr>
            <p:cNvPr id="60" name="Ellipse 60"/>
            <p:cNvSpPr/>
            <p:nvPr/>
          </p:nvSpPr>
          <p:spPr>
            <a:xfrm>
              <a:off x="6941820" y="2259330"/>
              <a:ext cx="19050" cy="19050"/>
            </a:xfrm>
            <a:prstGeom prst="ellipse">
              <a:avLst/>
            </a:prstGeom>
            <a:solidFill>
              <a:srgbClr val="0E7C86"/>
            </a:solidFill>
            <a:ln>
              <a:noFill/>
            </a:ln>
          </p:spPr>
        </p:sp>
        <p:sp>
          <p:nvSpPr>
            <p:cNvPr id="61" name="Ellipse 61"/>
            <p:cNvSpPr/>
            <p:nvPr/>
          </p:nvSpPr>
          <p:spPr>
            <a:xfrm>
              <a:off x="11378565" y="3041332"/>
              <a:ext cx="19050" cy="19050"/>
            </a:xfrm>
            <a:prstGeom prst="ellipse">
              <a:avLst/>
            </a:prstGeom>
            <a:solidFill>
              <a:srgbClr val="0E7C86"/>
            </a:solidFill>
            <a:ln>
              <a:noFill/>
            </a:ln>
          </p:spPr>
        </p:sp>
        <p:sp>
          <p:nvSpPr>
            <p:cNvPr id="62" name="TextBox 62"/>
            <p:cNvSpPr txBox="1"/>
            <p:nvPr/>
          </p:nvSpPr>
          <p:spPr>
            <a:xfrm>
              <a:off x="8942375" y="3240881"/>
              <a:ext cx="671855"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参数更新次数</a:t>
              </a:r>
            </a:p>
          </p:txBody>
        </p:sp>
        <p:sp>
          <p:nvSpPr>
            <p:cNvPr id="63" name="TextBox 63"/>
            <p:cNvSpPr txBox="1"/>
            <p:nvPr/>
          </p:nvSpPr>
          <p:spPr>
            <a:xfrm>
              <a:off x="6403759" y="1545431"/>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损失</a:t>
              </a:r>
            </a:p>
          </p:txBody>
        </p:sp>
        <p:sp>
          <p:nvSpPr>
            <p:cNvPr id="64" name="TextBox 64"/>
            <p:cNvSpPr txBox="1"/>
            <p:nvPr/>
          </p:nvSpPr>
          <p:spPr>
            <a:xfrm>
              <a:off x="8292770" y="1621631"/>
              <a:ext cx="671855" cy="161925"/>
            </a:xfrm>
            <a:prstGeom prst="rect">
              <a:avLst/>
            </a:prstGeom>
            <a:noFill/>
            <a:ln>
              <a:noFill/>
            </a:ln>
          </p:spPr>
          <p:txBody>
            <a:bodyPr wrap="none" lIns="0" tIns="0" rIns="0" bIns="0" anchor="t" anchorCtr="0">
              <a:spAutoFit/>
            </a:bodyPr>
            <a:lstStyle/>
            <a:p>
              <a:pPr algn="ctr"/>
              <a:r>
                <a:rPr lang="zh-CN" sz="820" dirty="0">
                  <a:solidFill>
                    <a:srgbClr val="B42318"/>
                  </a:solidFill>
                  <a:latin typeface="+mn-lt"/>
                  <a:ea typeface="+mn-ea"/>
                  <a:cs typeface="+mn-cs"/>
                </a:rPr>
                <a:t>学习率非常大</a:t>
              </a:r>
            </a:p>
          </p:txBody>
        </p:sp>
        <p:sp>
          <p:nvSpPr>
            <p:cNvPr id="65" name="TextBox 65"/>
            <p:cNvSpPr txBox="1"/>
            <p:nvPr/>
          </p:nvSpPr>
          <p:spPr>
            <a:xfrm>
              <a:off x="10675823" y="2515076"/>
              <a:ext cx="451079" cy="161925"/>
            </a:xfrm>
            <a:prstGeom prst="rect">
              <a:avLst/>
            </a:prstGeom>
            <a:noFill/>
            <a:ln>
              <a:noFill/>
            </a:ln>
          </p:spPr>
          <p:txBody>
            <a:bodyPr wrap="none" lIns="0" tIns="0" rIns="0" bIns="0" anchor="t" anchorCtr="0">
              <a:spAutoFit/>
            </a:bodyPr>
            <a:lstStyle/>
            <a:p>
              <a:pPr algn="ctr"/>
              <a:r>
                <a:rPr lang="zh-CN" sz="820" dirty="0">
                  <a:solidFill>
                    <a:srgbClr val="F26B3A"/>
                  </a:solidFill>
                  <a:latin typeface="+mn-lt"/>
                  <a:ea typeface="+mn-ea"/>
                  <a:cs typeface="+mn-cs"/>
                </a:rPr>
                <a:t>大学习率</a:t>
              </a:r>
            </a:p>
          </p:txBody>
        </p:sp>
        <p:sp>
          <p:nvSpPr>
            <p:cNvPr id="66" name="TextBox 66"/>
            <p:cNvSpPr txBox="1"/>
            <p:nvPr/>
          </p:nvSpPr>
          <p:spPr>
            <a:xfrm>
              <a:off x="8836546" y="2273141"/>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小学习率</a:t>
              </a:r>
            </a:p>
          </p:txBody>
        </p:sp>
        <p:sp>
          <p:nvSpPr>
            <p:cNvPr id="67" name="TextBox 67"/>
            <p:cNvSpPr txBox="1"/>
            <p:nvPr/>
          </p:nvSpPr>
          <p:spPr>
            <a:xfrm>
              <a:off x="7862138" y="2998946"/>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理想情况</a:t>
              </a:r>
            </a:p>
          </p:txBody>
        </p:sp>
      </p:grpSp>
      <p:grpSp>
        <p:nvGrpSpPr>
          <p:cNvPr id="106" name="c2-graph-2"/>
          <p:cNvGrpSpPr/>
          <p:nvPr/>
        </p:nvGrpSpPr>
        <p:grpSpPr>
          <a:xfrm>
            <a:off x="6509385" y="3523298"/>
            <a:ext cx="5099685" cy="2186463"/>
            <a:chOff x="6509385" y="3523298"/>
            <a:chExt cx="5099685" cy="2186463"/>
          </a:xfrm>
        </p:grpSpPr>
        <p:sp>
          <p:nvSpPr>
            <p:cNvPr id="69" name="Freeform 69"/>
            <p:cNvSpPr/>
            <p:nvPr/>
          </p:nvSpPr>
          <p:spPr>
            <a:xfrm>
              <a:off x="6529388" y="3577590"/>
              <a:ext cx="4832985" cy="1924050"/>
            </a:xfrm>
            <a:custGeom>
              <a:avLst/>
              <a:gdLst/>
              <a:ahLst/>
              <a:cxnLst/>
              <a:rect l="l" t="t" r="r" b="b"/>
              <a:pathLst>
                <a:path w="4832985" h="1924050">
                  <a:moveTo>
                    <a:pt x="0" y="0"/>
                  </a:moveTo>
                  <a:lnTo>
                    <a:pt x="151447" y="234315"/>
                  </a:lnTo>
                  <a:lnTo>
                    <a:pt x="368618" y="540067"/>
                  </a:lnTo>
                  <a:lnTo>
                    <a:pt x="584835" y="818197"/>
                  </a:lnTo>
                  <a:lnTo>
                    <a:pt x="801053" y="1063942"/>
                  </a:lnTo>
                  <a:lnTo>
                    <a:pt x="1017270" y="1279207"/>
                  </a:lnTo>
                  <a:lnTo>
                    <a:pt x="1233488" y="1463992"/>
                  </a:lnTo>
                  <a:lnTo>
                    <a:pt x="1450657" y="1618297"/>
                  </a:lnTo>
                  <a:lnTo>
                    <a:pt x="1666875" y="1739265"/>
                  </a:lnTo>
                  <a:lnTo>
                    <a:pt x="1883093" y="1832610"/>
                  </a:lnTo>
                  <a:lnTo>
                    <a:pt x="2099310" y="1893570"/>
                  </a:lnTo>
                  <a:lnTo>
                    <a:pt x="2315528" y="1924050"/>
                  </a:lnTo>
                  <a:lnTo>
                    <a:pt x="2532698" y="1924050"/>
                  </a:lnTo>
                  <a:lnTo>
                    <a:pt x="2748915" y="1893570"/>
                  </a:lnTo>
                  <a:lnTo>
                    <a:pt x="2965132" y="1832610"/>
                  </a:lnTo>
                  <a:lnTo>
                    <a:pt x="3181350" y="1739265"/>
                  </a:lnTo>
                  <a:lnTo>
                    <a:pt x="3397568" y="1618297"/>
                  </a:lnTo>
                  <a:lnTo>
                    <a:pt x="3614738" y="1463992"/>
                  </a:lnTo>
                  <a:lnTo>
                    <a:pt x="3830955" y="1279207"/>
                  </a:lnTo>
                  <a:lnTo>
                    <a:pt x="4047173" y="1063942"/>
                  </a:lnTo>
                  <a:lnTo>
                    <a:pt x="4263390" y="818197"/>
                  </a:lnTo>
                  <a:lnTo>
                    <a:pt x="4479608" y="540067"/>
                  </a:lnTo>
                  <a:lnTo>
                    <a:pt x="4696777" y="234315"/>
                  </a:lnTo>
                  <a:lnTo>
                    <a:pt x="4832985" y="23812"/>
                  </a:lnTo>
                </a:path>
              </a:pathLst>
            </a:custGeom>
            <a:noFill/>
            <a:ln w="17145">
              <a:solidFill>
                <a:srgbClr val="5B6475"/>
              </a:solidFill>
            </a:ln>
          </p:spPr>
        </p:sp>
        <p:sp>
          <p:nvSpPr>
            <p:cNvPr id="70" name="Freeform 70"/>
            <p:cNvSpPr/>
            <p:nvPr/>
          </p:nvSpPr>
          <p:spPr>
            <a:xfrm>
              <a:off x="6821805" y="4005262"/>
              <a:ext cx="951547" cy="1012507"/>
            </a:xfrm>
            <a:custGeom>
              <a:avLst/>
              <a:gdLst/>
              <a:ahLst/>
              <a:cxnLst/>
              <a:rect l="l" t="t" r="r" b="b"/>
              <a:pathLst>
                <a:path w="951547" h="1012507">
                  <a:moveTo>
                    <a:pt x="0" y="0"/>
                  </a:moveTo>
                  <a:lnTo>
                    <a:pt x="951547" y="1012507"/>
                  </a:lnTo>
                </a:path>
              </a:pathLst>
            </a:custGeom>
            <a:noFill/>
            <a:ln w="17145">
              <a:solidFill>
                <a:srgbClr val="0E7C86"/>
              </a:solidFill>
            </a:ln>
          </p:spPr>
        </p:sp>
        <p:sp>
          <p:nvSpPr>
            <p:cNvPr id="71" name="Freeform 71"/>
            <p:cNvSpPr/>
            <p:nvPr/>
          </p:nvSpPr>
          <p:spPr>
            <a:xfrm>
              <a:off x="7739062" y="4984432"/>
              <a:ext cx="100012" cy="102870"/>
            </a:xfrm>
            <a:custGeom>
              <a:avLst/>
              <a:gdLst/>
              <a:ahLst/>
              <a:cxnLst/>
              <a:rect l="l" t="t" r="r" b="b"/>
              <a:pathLst>
                <a:path w="100012" h="102870">
                  <a:moveTo>
                    <a:pt x="100012" y="102870"/>
                  </a:moveTo>
                  <a:lnTo>
                    <a:pt x="0" y="65723"/>
                  </a:lnTo>
                  <a:lnTo>
                    <a:pt x="69532" y="0"/>
                  </a:lnTo>
                  <a:close/>
                </a:path>
              </a:pathLst>
            </a:custGeom>
            <a:solidFill>
              <a:srgbClr val="0E7C86"/>
            </a:solidFill>
            <a:ln>
              <a:noFill/>
            </a:ln>
          </p:spPr>
        </p:sp>
        <p:sp>
          <p:nvSpPr>
            <p:cNvPr id="72" name="Freeform 72"/>
            <p:cNvSpPr/>
            <p:nvPr/>
          </p:nvSpPr>
          <p:spPr>
            <a:xfrm>
              <a:off x="7913370" y="5144452"/>
              <a:ext cx="373380" cy="199072"/>
            </a:xfrm>
            <a:custGeom>
              <a:avLst/>
              <a:gdLst/>
              <a:ahLst/>
              <a:cxnLst/>
              <a:rect l="l" t="t" r="r" b="b"/>
              <a:pathLst>
                <a:path w="373380" h="199072">
                  <a:moveTo>
                    <a:pt x="0" y="0"/>
                  </a:moveTo>
                  <a:lnTo>
                    <a:pt x="373380" y="199072"/>
                  </a:lnTo>
                </a:path>
              </a:pathLst>
            </a:custGeom>
            <a:noFill/>
            <a:ln w="17145">
              <a:solidFill>
                <a:srgbClr val="0E7C86"/>
              </a:solidFill>
            </a:ln>
          </p:spPr>
        </p:sp>
        <p:sp>
          <p:nvSpPr>
            <p:cNvPr id="73" name="Freeform 73"/>
            <p:cNvSpPr/>
            <p:nvPr/>
          </p:nvSpPr>
          <p:spPr>
            <a:xfrm>
              <a:off x="8263890" y="5301615"/>
              <a:ext cx="106680" cy="86678"/>
            </a:xfrm>
            <a:custGeom>
              <a:avLst/>
              <a:gdLst/>
              <a:ahLst/>
              <a:cxnLst/>
              <a:rect l="l" t="t" r="r" b="b"/>
              <a:pathLst>
                <a:path w="106680" h="86678">
                  <a:moveTo>
                    <a:pt x="106680" y="86678"/>
                  </a:moveTo>
                  <a:lnTo>
                    <a:pt x="0" y="83820"/>
                  </a:lnTo>
                  <a:lnTo>
                    <a:pt x="44767" y="0"/>
                  </a:lnTo>
                  <a:close/>
                </a:path>
              </a:pathLst>
            </a:custGeom>
            <a:solidFill>
              <a:srgbClr val="0E7C86"/>
            </a:solidFill>
            <a:ln>
              <a:noFill/>
            </a:ln>
          </p:spPr>
        </p:sp>
        <p:sp>
          <p:nvSpPr>
            <p:cNvPr id="74" name="Freeform 74"/>
            <p:cNvSpPr/>
            <p:nvPr/>
          </p:nvSpPr>
          <p:spPr>
            <a:xfrm>
              <a:off x="8458200" y="5422582"/>
              <a:ext cx="86678" cy="22860"/>
            </a:xfrm>
            <a:custGeom>
              <a:avLst/>
              <a:gdLst/>
              <a:ahLst/>
              <a:cxnLst/>
              <a:rect l="l" t="t" r="r" b="b"/>
              <a:pathLst>
                <a:path w="86678" h="22860">
                  <a:moveTo>
                    <a:pt x="0" y="0"/>
                  </a:moveTo>
                  <a:lnTo>
                    <a:pt x="86678" y="22860"/>
                  </a:lnTo>
                </a:path>
              </a:pathLst>
            </a:custGeom>
            <a:noFill/>
            <a:ln w="17145">
              <a:solidFill>
                <a:srgbClr val="0E7C86"/>
              </a:solidFill>
            </a:ln>
          </p:spPr>
        </p:sp>
        <p:sp>
          <p:nvSpPr>
            <p:cNvPr id="75" name="Freeform 75"/>
            <p:cNvSpPr/>
            <p:nvPr/>
          </p:nvSpPr>
          <p:spPr>
            <a:xfrm>
              <a:off x="8532495" y="5399722"/>
              <a:ext cx="104775" cy="92393"/>
            </a:xfrm>
            <a:custGeom>
              <a:avLst/>
              <a:gdLst/>
              <a:ahLst/>
              <a:cxnLst/>
              <a:rect l="l" t="t" r="r" b="b"/>
              <a:pathLst>
                <a:path w="104775" h="92393">
                  <a:moveTo>
                    <a:pt x="104775" y="70485"/>
                  </a:moveTo>
                  <a:lnTo>
                    <a:pt x="0" y="92393"/>
                  </a:lnTo>
                  <a:lnTo>
                    <a:pt x="24765" y="0"/>
                  </a:lnTo>
                  <a:close/>
                </a:path>
              </a:pathLst>
            </a:custGeom>
            <a:solidFill>
              <a:srgbClr val="0E7C86"/>
            </a:solidFill>
            <a:ln>
              <a:noFill/>
            </a:ln>
          </p:spPr>
        </p:sp>
        <p:sp>
          <p:nvSpPr>
            <p:cNvPr id="76" name="Freeform 76"/>
            <p:cNvSpPr/>
            <p:nvPr/>
          </p:nvSpPr>
          <p:spPr>
            <a:xfrm>
              <a:off x="10324148" y="4886325"/>
              <a:ext cx="9525" cy="9525"/>
            </a:xfrm>
            <a:custGeom>
              <a:avLst/>
              <a:gdLst/>
              <a:ahLst/>
              <a:cxnLst/>
              <a:rect l="l" t="t" r="r" b="b"/>
              <a:pathLst>
                <a:path w="9525" h="9525">
                  <a:moveTo>
                    <a:pt x="0" y="1905"/>
                  </a:moveTo>
                  <a:lnTo>
                    <a:pt x="2857" y="0"/>
                  </a:lnTo>
                </a:path>
              </a:pathLst>
            </a:custGeom>
            <a:noFill/>
            <a:ln w="17145">
              <a:solidFill>
                <a:srgbClr val="1F2937"/>
              </a:solidFill>
            </a:ln>
          </p:spPr>
        </p:sp>
        <p:sp>
          <p:nvSpPr>
            <p:cNvPr id="77" name="Freeform 77"/>
            <p:cNvSpPr/>
            <p:nvPr/>
          </p:nvSpPr>
          <p:spPr>
            <a:xfrm>
              <a:off x="10255568" y="4850130"/>
              <a:ext cx="102870" cy="99060"/>
            </a:xfrm>
            <a:custGeom>
              <a:avLst/>
              <a:gdLst/>
              <a:ahLst/>
              <a:cxnLst/>
              <a:rect l="l" t="t" r="r" b="b"/>
              <a:pathLst>
                <a:path w="102870" h="99060">
                  <a:moveTo>
                    <a:pt x="0" y="99060"/>
                  </a:moveTo>
                  <a:lnTo>
                    <a:pt x="40005" y="0"/>
                  </a:lnTo>
                  <a:lnTo>
                    <a:pt x="102870" y="71438"/>
                  </a:lnTo>
                  <a:close/>
                </a:path>
              </a:pathLst>
            </a:custGeom>
            <a:solidFill>
              <a:srgbClr val="1F2937"/>
            </a:solidFill>
            <a:ln>
              <a:noFill/>
            </a:ln>
          </p:spPr>
        </p:sp>
        <p:sp>
          <p:nvSpPr>
            <p:cNvPr id="78" name="Freeform 78"/>
            <p:cNvSpPr/>
            <p:nvPr/>
          </p:nvSpPr>
          <p:spPr>
            <a:xfrm>
              <a:off x="10182225" y="4991100"/>
              <a:ext cx="23812" cy="19050"/>
            </a:xfrm>
            <a:custGeom>
              <a:avLst/>
              <a:gdLst/>
              <a:ahLst/>
              <a:cxnLst/>
              <a:rect l="l" t="t" r="r" b="b"/>
              <a:pathLst>
                <a:path w="23812" h="19050">
                  <a:moveTo>
                    <a:pt x="0" y="19050"/>
                  </a:moveTo>
                  <a:lnTo>
                    <a:pt x="23812" y="0"/>
                  </a:lnTo>
                </a:path>
              </a:pathLst>
            </a:custGeom>
            <a:noFill/>
            <a:ln w="17145">
              <a:solidFill>
                <a:srgbClr val="1F2937"/>
              </a:solidFill>
            </a:ln>
          </p:spPr>
        </p:sp>
        <p:sp>
          <p:nvSpPr>
            <p:cNvPr id="79" name="Freeform 79"/>
            <p:cNvSpPr/>
            <p:nvPr/>
          </p:nvSpPr>
          <p:spPr>
            <a:xfrm>
              <a:off x="10131742" y="4953952"/>
              <a:ext cx="104775" cy="96203"/>
            </a:xfrm>
            <a:custGeom>
              <a:avLst/>
              <a:gdLst/>
              <a:ahLst/>
              <a:cxnLst/>
              <a:rect l="l" t="t" r="r" b="b"/>
              <a:pathLst>
                <a:path w="104775" h="96203">
                  <a:moveTo>
                    <a:pt x="0" y="96203"/>
                  </a:moveTo>
                  <a:lnTo>
                    <a:pt x="44768" y="0"/>
                  </a:lnTo>
                  <a:lnTo>
                    <a:pt x="104775" y="74295"/>
                  </a:lnTo>
                  <a:close/>
                </a:path>
              </a:pathLst>
            </a:custGeom>
            <a:solidFill>
              <a:srgbClr val="1F2937"/>
            </a:solidFill>
            <a:ln>
              <a:noFill/>
            </a:ln>
          </p:spPr>
        </p:sp>
        <p:sp>
          <p:nvSpPr>
            <p:cNvPr id="80" name="Freeform 80"/>
            <p:cNvSpPr/>
            <p:nvPr/>
          </p:nvSpPr>
          <p:spPr>
            <a:xfrm>
              <a:off x="10056495" y="5077778"/>
              <a:ext cx="41910" cy="30480"/>
            </a:xfrm>
            <a:custGeom>
              <a:avLst/>
              <a:gdLst/>
              <a:ahLst/>
              <a:cxnLst/>
              <a:rect l="l" t="t" r="r" b="b"/>
              <a:pathLst>
                <a:path w="41910" h="30480">
                  <a:moveTo>
                    <a:pt x="0" y="30480"/>
                  </a:moveTo>
                  <a:lnTo>
                    <a:pt x="41910" y="0"/>
                  </a:lnTo>
                </a:path>
              </a:pathLst>
            </a:custGeom>
            <a:noFill/>
            <a:ln w="17145">
              <a:solidFill>
                <a:srgbClr val="1F2937"/>
              </a:solidFill>
            </a:ln>
          </p:spPr>
        </p:sp>
        <p:sp>
          <p:nvSpPr>
            <p:cNvPr id="81" name="Freeform 81"/>
            <p:cNvSpPr/>
            <p:nvPr/>
          </p:nvSpPr>
          <p:spPr>
            <a:xfrm>
              <a:off x="10020300" y="5039678"/>
              <a:ext cx="105727" cy="93345"/>
            </a:xfrm>
            <a:custGeom>
              <a:avLst/>
              <a:gdLst/>
              <a:ahLst/>
              <a:cxnLst/>
              <a:rect l="l" t="t" r="r" b="b"/>
              <a:pathLst>
                <a:path w="105727" h="93345">
                  <a:moveTo>
                    <a:pt x="0" y="93345"/>
                  </a:moveTo>
                  <a:lnTo>
                    <a:pt x="50482" y="0"/>
                  </a:lnTo>
                  <a:lnTo>
                    <a:pt x="105727" y="77153"/>
                  </a:lnTo>
                  <a:close/>
                </a:path>
              </a:pathLst>
            </a:custGeom>
            <a:solidFill>
              <a:srgbClr val="1F2937"/>
            </a:solidFill>
            <a:ln>
              <a:noFill/>
            </a:ln>
          </p:spPr>
        </p:sp>
        <p:sp>
          <p:nvSpPr>
            <p:cNvPr id="82" name="Freeform 82"/>
            <p:cNvSpPr/>
            <p:nvPr/>
          </p:nvSpPr>
          <p:spPr>
            <a:xfrm>
              <a:off x="6945630" y="4120515"/>
              <a:ext cx="3921443" cy="82550"/>
            </a:xfrm>
            <a:custGeom>
              <a:avLst/>
              <a:gdLst/>
              <a:ahLst/>
              <a:cxnLst/>
              <a:rect l="l" t="t" r="r" b="b"/>
              <a:pathLst>
                <a:path w="3921443" h="82550">
                  <a:moveTo>
                    <a:pt x="0" y="0"/>
                  </a:moveTo>
                  <a:cubicBezTo>
                    <a:pt x="1338580" y="80645"/>
                    <a:pt x="2645728" y="82550"/>
                    <a:pt x="3921443" y="5715"/>
                  </a:cubicBezTo>
                </a:path>
              </a:pathLst>
            </a:custGeom>
            <a:noFill/>
            <a:ln w="17145">
              <a:solidFill>
                <a:srgbClr val="F26B3A"/>
              </a:solidFill>
            </a:ln>
          </p:spPr>
        </p:sp>
        <p:sp>
          <p:nvSpPr>
            <p:cNvPr id="83" name="Freeform 83"/>
            <p:cNvSpPr/>
            <p:nvPr/>
          </p:nvSpPr>
          <p:spPr>
            <a:xfrm>
              <a:off x="10864215" y="4078605"/>
              <a:ext cx="97155" cy="95250"/>
            </a:xfrm>
            <a:custGeom>
              <a:avLst/>
              <a:gdLst/>
              <a:ahLst/>
              <a:cxnLst/>
              <a:rect l="l" t="t" r="r" b="b"/>
              <a:pathLst>
                <a:path w="97155" h="95250">
                  <a:moveTo>
                    <a:pt x="97155" y="41910"/>
                  </a:moveTo>
                  <a:lnTo>
                    <a:pt x="5715" y="95250"/>
                  </a:lnTo>
                  <a:lnTo>
                    <a:pt x="0" y="0"/>
                  </a:lnTo>
                  <a:close/>
                </a:path>
              </a:pathLst>
            </a:custGeom>
            <a:solidFill>
              <a:srgbClr val="F26B3A"/>
            </a:solidFill>
            <a:ln>
              <a:noFill/>
            </a:ln>
          </p:spPr>
        </p:sp>
        <p:sp>
          <p:nvSpPr>
            <p:cNvPr id="84" name="Freeform 84"/>
            <p:cNvSpPr/>
            <p:nvPr/>
          </p:nvSpPr>
          <p:spPr>
            <a:xfrm>
              <a:off x="7039928" y="4032885"/>
              <a:ext cx="3921442" cy="81915"/>
            </a:xfrm>
            <a:custGeom>
              <a:avLst/>
              <a:gdLst/>
              <a:ahLst/>
              <a:cxnLst/>
              <a:rect l="l" t="t" r="r" b="b"/>
              <a:pathLst>
                <a:path w="3921442" h="81915">
                  <a:moveTo>
                    <a:pt x="3921442" y="81915"/>
                  </a:moveTo>
                  <a:cubicBezTo>
                    <a:pt x="2582862" y="1905"/>
                    <a:pt x="1275715" y="0"/>
                    <a:pt x="0" y="76200"/>
                  </a:cubicBezTo>
                </a:path>
              </a:pathLst>
            </a:custGeom>
            <a:noFill/>
            <a:ln w="17145">
              <a:solidFill>
                <a:srgbClr val="F26B3A"/>
              </a:solidFill>
            </a:ln>
          </p:spPr>
        </p:sp>
        <p:sp>
          <p:nvSpPr>
            <p:cNvPr id="85" name="Freeform 85"/>
            <p:cNvSpPr/>
            <p:nvPr/>
          </p:nvSpPr>
          <p:spPr>
            <a:xfrm>
              <a:off x="6945630" y="4061460"/>
              <a:ext cx="97155" cy="95250"/>
            </a:xfrm>
            <a:custGeom>
              <a:avLst/>
              <a:gdLst/>
              <a:ahLst/>
              <a:cxnLst/>
              <a:rect l="l" t="t" r="r" b="b"/>
              <a:pathLst>
                <a:path w="97155" h="95250">
                  <a:moveTo>
                    <a:pt x="0" y="53340"/>
                  </a:moveTo>
                  <a:lnTo>
                    <a:pt x="91440" y="0"/>
                  </a:lnTo>
                  <a:lnTo>
                    <a:pt x="97155" y="95250"/>
                  </a:lnTo>
                  <a:close/>
                </a:path>
              </a:pathLst>
            </a:custGeom>
            <a:solidFill>
              <a:srgbClr val="F26B3A"/>
            </a:solidFill>
            <a:ln>
              <a:noFill/>
            </a:ln>
          </p:spPr>
        </p:sp>
        <p:sp>
          <p:nvSpPr>
            <p:cNvPr id="86" name="Freeform 86"/>
            <p:cNvSpPr/>
            <p:nvPr/>
          </p:nvSpPr>
          <p:spPr>
            <a:xfrm>
              <a:off x="7592378" y="3607118"/>
              <a:ext cx="3660458" cy="1234440"/>
            </a:xfrm>
            <a:custGeom>
              <a:avLst/>
              <a:gdLst/>
              <a:ahLst/>
              <a:cxnLst/>
              <a:rect l="l" t="t" r="r" b="b"/>
              <a:pathLst>
                <a:path w="3660458" h="1234440">
                  <a:moveTo>
                    <a:pt x="0" y="1234440"/>
                  </a:moveTo>
                  <a:lnTo>
                    <a:pt x="3660458" y="0"/>
                  </a:lnTo>
                </a:path>
              </a:pathLst>
            </a:custGeom>
            <a:noFill/>
            <a:ln w="17145">
              <a:solidFill>
                <a:srgbClr val="B42318"/>
              </a:solidFill>
            </a:ln>
          </p:spPr>
        </p:sp>
        <p:sp>
          <p:nvSpPr>
            <p:cNvPr id="87" name="Freeform 87"/>
            <p:cNvSpPr/>
            <p:nvPr/>
          </p:nvSpPr>
          <p:spPr>
            <a:xfrm>
              <a:off x="11237595" y="3562350"/>
              <a:ext cx="105728" cy="90488"/>
            </a:xfrm>
            <a:custGeom>
              <a:avLst/>
              <a:gdLst/>
              <a:ahLst/>
              <a:cxnLst/>
              <a:rect l="l" t="t" r="r" b="b"/>
              <a:pathLst>
                <a:path w="105728" h="90488">
                  <a:moveTo>
                    <a:pt x="105728" y="14288"/>
                  </a:moveTo>
                  <a:lnTo>
                    <a:pt x="30480" y="90488"/>
                  </a:lnTo>
                  <a:lnTo>
                    <a:pt x="0" y="0"/>
                  </a:lnTo>
                  <a:close/>
                </a:path>
              </a:pathLst>
            </a:custGeom>
            <a:solidFill>
              <a:srgbClr val="B42318"/>
            </a:solidFill>
            <a:ln>
              <a:noFill/>
            </a:ln>
          </p:spPr>
        </p:sp>
        <p:sp>
          <p:nvSpPr>
            <p:cNvPr id="88" name="Ellipse 88"/>
            <p:cNvSpPr/>
            <p:nvPr/>
          </p:nvSpPr>
          <p:spPr>
            <a:xfrm>
              <a:off x="6509385" y="3551872"/>
              <a:ext cx="19050" cy="19050"/>
            </a:xfrm>
            <a:prstGeom prst="ellipse">
              <a:avLst/>
            </a:prstGeom>
            <a:solidFill>
              <a:srgbClr val="0E7C86"/>
            </a:solidFill>
            <a:ln>
              <a:noFill/>
            </a:ln>
          </p:spPr>
        </p:sp>
        <p:sp>
          <p:nvSpPr>
            <p:cNvPr id="89" name="Ellipse 89"/>
            <p:cNvSpPr/>
            <p:nvPr/>
          </p:nvSpPr>
          <p:spPr>
            <a:xfrm>
              <a:off x="6751320" y="3931920"/>
              <a:ext cx="76200" cy="76200"/>
            </a:xfrm>
            <a:prstGeom prst="ellipse">
              <a:avLst/>
            </a:prstGeom>
            <a:solidFill>
              <a:srgbClr val="0E7C86"/>
            </a:solidFill>
            <a:ln>
              <a:noFill/>
            </a:ln>
          </p:spPr>
        </p:sp>
        <p:sp>
          <p:nvSpPr>
            <p:cNvPr id="90" name="Ellipse 90"/>
            <p:cNvSpPr/>
            <p:nvPr/>
          </p:nvSpPr>
          <p:spPr>
            <a:xfrm>
              <a:off x="7833360" y="5083492"/>
              <a:ext cx="76200" cy="76200"/>
            </a:xfrm>
            <a:prstGeom prst="ellipse">
              <a:avLst/>
            </a:prstGeom>
            <a:solidFill>
              <a:srgbClr val="0E7C86"/>
            </a:solidFill>
            <a:ln>
              <a:noFill/>
            </a:ln>
          </p:spPr>
        </p:sp>
        <p:sp>
          <p:nvSpPr>
            <p:cNvPr id="91" name="Ellipse 91"/>
            <p:cNvSpPr/>
            <p:nvPr/>
          </p:nvSpPr>
          <p:spPr>
            <a:xfrm>
              <a:off x="8374380" y="5372100"/>
              <a:ext cx="76200" cy="76200"/>
            </a:xfrm>
            <a:prstGeom prst="ellipse">
              <a:avLst/>
            </a:prstGeom>
            <a:solidFill>
              <a:srgbClr val="0E7C86"/>
            </a:solidFill>
            <a:ln>
              <a:noFill/>
            </a:ln>
          </p:spPr>
        </p:sp>
        <p:sp>
          <p:nvSpPr>
            <p:cNvPr id="92" name="Ellipse 92"/>
            <p:cNvSpPr/>
            <p:nvPr/>
          </p:nvSpPr>
          <p:spPr>
            <a:xfrm>
              <a:off x="8644890" y="5444490"/>
              <a:ext cx="76200" cy="76200"/>
            </a:xfrm>
            <a:prstGeom prst="ellipse">
              <a:avLst/>
            </a:prstGeom>
            <a:solidFill>
              <a:srgbClr val="0E7C86"/>
            </a:solidFill>
            <a:ln>
              <a:noFill/>
            </a:ln>
          </p:spPr>
        </p:sp>
        <p:sp>
          <p:nvSpPr>
            <p:cNvPr id="93" name="Ellipse 93"/>
            <p:cNvSpPr/>
            <p:nvPr/>
          </p:nvSpPr>
          <p:spPr>
            <a:xfrm>
              <a:off x="10322242" y="4818698"/>
              <a:ext cx="76200" cy="76200"/>
            </a:xfrm>
            <a:prstGeom prst="ellipse">
              <a:avLst/>
            </a:prstGeom>
            <a:solidFill>
              <a:srgbClr val="0E7C86"/>
            </a:solidFill>
            <a:ln>
              <a:noFill/>
            </a:ln>
          </p:spPr>
        </p:sp>
        <p:sp>
          <p:nvSpPr>
            <p:cNvPr id="94" name="Ellipse 94"/>
            <p:cNvSpPr/>
            <p:nvPr/>
          </p:nvSpPr>
          <p:spPr>
            <a:xfrm>
              <a:off x="10181272" y="4942522"/>
              <a:ext cx="76200" cy="76200"/>
            </a:xfrm>
            <a:prstGeom prst="ellipse">
              <a:avLst/>
            </a:prstGeom>
            <a:solidFill>
              <a:srgbClr val="0E7C86"/>
            </a:solidFill>
            <a:ln>
              <a:noFill/>
            </a:ln>
          </p:spPr>
        </p:sp>
        <p:sp>
          <p:nvSpPr>
            <p:cNvPr id="95" name="Ellipse 95"/>
            <p:cNvSpPr/>
            <p:nvPr/>
          </p:nvSpPr>
          <p:spPr>
            <a:xfrm>
              <a:off x="10056495" y="5042535"/>
              <a:ext cx="76200" cy="76200"/>
            </a:xfrm>
            <a:prstGeom prst="ellipse">
              <a:avLst/>
            </a:prstGeom>
            <a:solidFill>
              <a:srgbClr val="0E7C86"/>
            </a:solidFill>
            <a:ln>
              <a:noFill/>
            </a:ln>
          </p:spPr>
        </p:sp>
        <p:sp>
          <p:nvSpPr>
            <p:cNvPr id="96" name="Ellipse 96"/>
            <p:cNvSpPr/>
            <p:nvPr/>
          </p:nvSpPr>
          <p:spPr>
            <a:xfrm>
              <a:off x="9943148" y="5122545"/>
              <a:ext cx="76200" cy="76200"/>
            </a:xfrm>
            <a:prstGeom prst="ellipse">
              <a:avLst/>
            </a:prstGeom>
            <a:solidFill>
              <a:srgbClr val="0E7C86"/>
            </a:solidFill>
            <a:ln>
              <a:noFill/>
            </a:ln>
          </p:spPr>
        </p:sp>
        <p:sp>
          <p:nvSpPr>
            <p:cNvPr id="97" name="Ellipse 97"/>
            <p:cNvSpPr/>
            <p:nvPr/>
          </p:nvSpPr>
          <p:spPr>
            <a:xfrm>
              <a:off x="6859905" y="4079558"/>
              <a:ext cx="76200" cy="76200"/>
            </a:xfrm>
            <a:prstGeom prst="ellipse">
              <a:avLst/>
            </a:prstGeom>
            <a:solidFill>
              <a:srgbClr val="F26B3A"/>
            </a:solidFill>
            <a:ln>
              <a:noFill/>
            </a:ln>
          </p:spPr>
        </p:sp>
        <p:sp>
          <p:nvSpPr>
            <p:cNvPr id="98" name="Ellipse 98"/>
            <p:cNvSpPr/>
            <p:nvPr/>
          </p:nvSpPr>
          <p:spPr>
            <a:xfrm>
              <a:off x="10970895" y="4079558"/>
              <a:ext cx="76200" cy="76200"/>
            </a:xfrm>
            <a:prstGeom prst="ellipse">
              <a:avLst/>
            </a:prstGeom>
            <a:solidFill>
              <a:srgbClr val="F26B3A"/>
            </a:solidFill>
            <a:ln>
              <a:noFill/>
            </a:ln>
          </p:spPr>
        </p:sp>
        <p:sp>
          <p:nvSpPr>
            <p:cNvPr id="99" name="Ellipse 99"/>
            <p:cNvSpPr/>
            <p:nvPr/>
          </p:nvSpPr>
          <p:spPr>
            <a:xfrm>
              <a:off x="7508558" y="4818698"/>
              <a:ext cx="76200" cy="76200"/>
            </a:xfrm>
            <a:prstGeom prst="ellipse">
              <a:avLst/>
            </a:prstGeom>
            <a:solidFill>
              <a:srgbClr val="B42318"/>
            </a:solidFill>
            <a:ln>
              <a:noFill/>
            </a:ln>
          </p:spPr>
        </p:sp>
        <p:sp>
          <p:nvSpPr>
            <p:cNvPr id="100" name="Ellipse 100"/>
            <p:cNvSpPr/>
            <p:nvPr/>
          </p:nvSpPr>
          <p:spPr>
            <a:xfrm>
              <a:off x="11349990" y="3523298"/>
              <a:ext cx="76200" cy="76200"/>
            </a:xfrm>
            <a:prstGeom prst="ellipse">
              <a:avLst/>
            </a:prstGeom>
            <a:solidFill>
              <a:srgbClr val="B42318"/>
            </a:solidFill>
            <a:ln>
              <a:noFill/>
            </a:ln>
          </p:spPr>
        </p:sp>
        <p:sp>
          <p:nvSpPr>
            <p:cNvPr id="101" name="TextBox 101"/>
            <p:cNvSpPr txBox="1"/>
            <p:nvPr/>
          </p:nvSpPr>
          <p:spPr>
            <a:xfrm>
              <a:off x="9962881" y="5547836"/>
              <a:ext cx="1646189" cy="161925"/>
            </a:xfrm>
            <a:prstGeom prst="rect">
              <a:avLst/>
            </a:prstGeom>
            <a:noFill/>
            <a:ln>
              <a:noFill/>
            </a:ln>
          </p:spPr>
          <p:txBody>
            <a:bodyPr wrap="none" lIns="0" tIns="0" rIns="0" bIns="0" anchor="t" anchorCtr="0">
              <a:spAutoFit/>
            </a:bodyPr>
            <a:lstStyle/>
            <a:p>
              <a:pPr algn="r"/>
              <a:r>
                <a:rPr lang="zh-CN" sz="820" dirty="0">
                  <a:solidFill>
                    <a:srgbClr val="5B6475"/>
                  </a:solidFill>
                  <a:latin typeface="+mn-lt"/>
                  <a:ea typeface="+mn-ea"/>
                  <a:cs typeface="+mn-cs"/>
                </a:rPr>
                <a:t>曲线是损失 L(w)，横轴是参数 w</a:t>
              </a:r>
            </a:p>
          </p:txBody>
        </p:sp>
        <p:sp>
          <p:nvSpPr>
            <p:cNvPr id="102" name="TextBox 102"/>
            <p:cNvSpPr txBox="1"/>
            <p:nvPr/>
          </p:nvSpPr>
          <p:spPr>
            <a:xfrm>
              <a:off x="6884124" y="5460206"/>
              <a:ext cx="892632"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理想：几步到谷底</a:t>
              </a:r>
            </a:p>
          </p:txBody>
        </p:sp>
        <p:sp>
          <p:nvSpPr>
            <p:cNvPr id="103" name="TextBox 103"/>
            <p:cNvSpPr txBox="1"/>
            <p:nvPr/>
          </p:nvSpPr>
          <p:spPr>
            <a:xfrm>
              <a:off x="10562679" y="5112544"/>
              <a:ext cx="89263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小：每步只挪一点</a:t>
              </a:r>
            </a:p>
          </p:txBody>
        </p:sp>
        <p:sp>
          <p:nvSpPr>
            <p:cNvPr id="104" name="TextBox 104"/>
            <p:cNvSpPr txBox="1"/>
            <p:nvPr/>
          </p:nvSpPr>
          <p:spPr>
            <a:xfrm>
              <a:off x="8396796" y="3744754"/>
              <a:ext cx="1113409" cy="161925"/>
            </a:xfrm>
            <a:prstGeom prst="rect">
              <a:avLst/>
            </a:prstGeom>
            <a:noFill/>
            <a:ln>
              <a:noFill/>
            </a:ln>
          </p:spPr>
          <p:txBody>
            <a:bodyPr wrap="none" lIns="0" tIns="0" rIns="0" bIns="0" anchor="t" anchorCtr="0">
              <a:spAutoFit/>
            </a:bodyPr>
            <a:lstStyle/>
            <a:p>
              <a:pPr algn="ctr"/>
              <a:r>
                <a:rPr lang="zh-CN" sz="820" dirty="0">
                  <a:solidFill>
                    <a:srgbClr val="F26B3A"/>
                  </a:solidFill>
                  <a:latin typeface="+mn-lt"/>
                  <a:ea typeface="+mn-ea"/>
                  <a:cs typeface="+mn-cs"/>
                </a:rPr>
                <a:t>大：在谷口两侧来回跳</a:t>
              </a:r>
            </a:p>
          </p:txBody>
        </p:sp>
        <p:sp>
          <p:nvSpPr>
            <p:cNvPr id="105" name="TextBox 105"/>
            <p:cNvSpPr txBox="1"/>
            <p:nvPr/>
          </p:nvSpPr>
          <p:spPr>
            <a:xfrm>
              <a:off x="8343405" y="4764881"/>
              <a:ext cx="1003021" cy="161925"/>
            </a:xfrm>
            <a:prstGeom prst="rect">
              <a:avLst/>
            </a:prstGeom>
            <a:noFill/>
            <a:ln>
              <a:noFill/>
            </a:ln>
          </p:spPr>
          <p:txBody>
            <a:bodyPr wrap="none" lIns="0" tIns="0" rIns="0" bIns="0" anchor="t" anchorCtr="0">
              <a:spAutoFit/>
            </a:bodyPr>
            <a:lstStyle/>
            <a:p>
              <a:pPr algn="ctr"/>
              <a:r>
                <a:rPr lang="zh-CN" sz="820" dirty="0">
                  <a:solidFill>
                    <a:srgbClr val="B42318"/>
                  </a:solidFill>
                  <a:latin typeface="+mn-lt"/>
                  <a:ea typeface="+mn-ea"/>
                  <a:cs typeface="+mn-cs"/>
                </a:rPr>
                <a:t>非常大：一步跳出谷</a:t>
              </a:r>
            </a:p>
          </p:txBody>
        </p:sp>
      </p:grpSp>
      <p:grpSp>
        <p:nvGrpSpPr>
          <p:cNvPr id="112" name="takeaway"/>
          <p:cNvGrpSpPr/>
          <p:nvPr/>
        </p:nvGrpSpPr>
        <p:grpSpPr>
          <a:xfrm>
            <a:off x="533400" y="5895022"/>
            <a:ext cx="11125200" cy="467678"/>
            <a:chOff x="533400" y="5895022"/>
            <a:chExt cx="11125200" cy="467678"/>
          </a:xfrm>
        </p:grpSpPr>
        <p:sp>
          <p:nvSpPr>
            <p:cNvPr id="107" name="Rectangle 107"/>
            <p:cNvSpPr/>
            <p:nvPr/>
          </p:nvSpPr>
          <p:spPr>
            <a:xfrm>
              <a:off x="533400" y="5895022"/>
              <a:ext cx="11125200" cy="467678"/>
            </a:xfrm>
            <a:prstGeom prst="roundRect">
              <a:avLst>
                <a:gd name="adj" fmla="val 24440"/>
              </a:avLst>
            </a:prstGeom>
            <a:solidFill>
              <a:srgbClr val="0E7C86"/>
            </a:solidFill>
            <a:ln>
              <a:noFill/>
            </a:ln>
          </p:spPr>
        </p:sp>
        <p:grpSp>
          <p:nvGrpSpPr>
            <p:cNvPr id="110" name="Group 110"/>
            <p:cNvGrpSpPr/>
            <p:nvPr/>
          </p:nvGrpSpPr>
          <p:grpSpPr>
            <a:xfrm>
              <a:off x="738188" y="6028375"/>
              <a:ext cx="200023" cy="200023"/>
              <a:chOff x="738188" y="6028375"/>
              <a:chExt cx="200023" cy="200023"/>
            </a:xfrm>
          </p:grpSpPr>
          <p:sp>
            <p:nvSpPr>
              <p:cNvPr id="108" name="Freeform 108"/>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09" name="Freeform 109"/>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11" name="TextBox 111"/>
            <p:cNvSpPr txBox="1"/>
            <p:nvPr/>
          </p:nvSpPr>
          <p:spPr>
            <a:xfrm>
              <a:off x="1041273" y="6039326"/>
              <a:ext cx="6560871"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学习率不可能放之四海而皆准，除了随时间衰减，还应该给不同的参数不同的学习率。</a:t>
              </a:r>
            </a:p>
          </p:txBody>
        </p:sp>
      </p:grpSp>
      <p:grpSp>
        <p:nvGrpSpPr>
          <p:cNvPr id="115" name="footer"/>
          <p:cNvGrpSpPr/>
          <p:nvPr/>
        </p:nvGrpSpPr>
        <p:grpSpPr>
          <a:xfrm>
            <a:off x="528447" y="6581299"/>
            <a:ext cx="11135106" cy="190690"/>
            <a:chOff x="528447" y="6581299"/>
            <a:chExt cx="11135106" cy="190690"/>
          </a:xfrm>
        </p:grpSpPr>
        <p:sp>
          <p:nvSpPr>
            <p:cNvPr id="113" name="TextBox 113"/>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14" name="TextBox 11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8701" cy="909257"/>
            <a:chOff x="520446" y="342900"/>
            <a:chExt cx="689870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689870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自适应学习率：Adagrad、RMSProp、Adam</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410200" cy="2063115"/>
            <a:chOff x="533400" y="1524000"/>
            <a:chExt cx="5410200" cy="2063115"/>
          </a:xfrm>
        </p:grpSpPr>
        <p:sp>
          <p:nvSpPr>
            <p:cNvPr id="7" name="Rectangle 7"/>
            <p:cNvSpPr/>
            <p:nvPr/>
          </p:nvSpPr>
          <p:spPr>
            <a:xfrm>
              <a:off x="533400" y="1524000"/>
              <a:ext cx="5410200" cy="2063115"/>
            </a:xfrm>
            <a:prstGeom prst="roundRect">
              <a:avLst>
                <a:gd name="adj" fmla="val 6464"/>
              </a:avLst>
            </a:prstGeom>
            <a:solidFill>
              <a:srgbClr val="FFFFFF"/>
            </a:solidFill>
            <a:ln w="14288">
              <a:solidFill>
                <a:srgbClr val="D9DFEA"/>
              </a:solidFill>
            </a:ln>
          </p:spPr>
        </p:sp>
        <p:sp>
          <p:nvSpPr>
            <p:cNvPr id="8" name="Rectangle 8"/>
            <p:cNvSpPr/>
            <p:nvPr/>
          </p:nvSpPr>
          <p:spPr>
            <a:xfrm>
              <a:off x="542925" y="1657350"/>
              <a:ext cx="47625" cy="1796415"/>
            </a:xfrm>
            <a:prstGeom prst="roundRect">
              <a:avLst>
                <a:gd name="adj" fmla="val 50000"/>
              </a:avLst>
            </a:prstGeom>
            <a:solidFill>
              <a:srgbClr val="0E7C86"/>
            </a:solidFill>
            <a:ln>
              <a:noFill/>
            </a:ln>
          </p:spPr>
        </p:sp>
        <p:sp>
          <p:nvSpPr>
            <p:cNvPr id="9" name="Rectangle 9"/>
            <p:cNvSpPr/>
            <p:nvPr/>
          </p:nvSpPr>
          <p:spPr>
            <a:xfrm>
              <a:off x="752475" y="1704975"/>
              <a:ext cx="712470" cy="238125"/>
            </a:xfrm>
            <a:prstGeom prst="roundRect">
              <a:avLst>
                <a:gd name="adj" fmla="val 50000"/>
              </a:avLst>
            </a:prstGeom>
            <a:solidFill>
              <a:srgbClr val="E2F3F4"/>
            </a:solidFill>
            <a:ln>
              <a:noFill/>
            </a:ln>
          </p:spPr>
        </p:sp>
        <p:sp>
          <p:nvSpPr>
            <p:cNvPr id="10" name="TextBox 10"/>
            <p:cNvSpPr txBox="1"/>
            <p:nvPr/>
          </p:nvSpPr>
          <p:spPr>
            <a:xfrm>
              <a:off x="834942" y="1737836"/>
              <a:ext cx="547536"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Adagrad</a:t>
              </a:r>
            </a:p>
          </p:txBody>
        </p:sp>
        <p:sp>
          <p:nvSpPr>
            <p:cNvPr id="11" name="TextBox 11"/>
            <p:cNvSpPr txBox="1"/>
            <p:nvPr/>
          </p:nvSpPr>
          <p:spPr>
            <a:xfrm>
              <a:off x="1572768" y="1744504"/>
              <a:ext cx="225303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用历史梯度的平方和来缩步长</a:t>
              </a:r>
            </a:p>
          </p:txBody>
        </p:sp>
        <mc:AlternateContent xmlns:mc="http://schemas.openxmlformats.org/markup-compatibility/2006">
          <mc:Choice xmlns:a14="http://schemas.microsoft.com/office/drawing/2010/main" Requires="a14">
            <p:sp>
              <p:nvSpPr>
                <p:cNvPr id="12" name="formula173"/>
                <p:cNvSpPr txBox="1">
                  <a:spLocks noGrp="1"/>
                </p:cNvSpPr>
                <p:nvPr/>
              </p:nvSpPr>
              <p:spPr>
                <a:xfrm>
                  <a:off x="752475" y="2040255"/>
                  <a:ext cx="5010150" cy="5334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r>
                          <m:rPr>
                            <m:sty m:val="p"/>
                          </m:rPr>
                          <a:rPr lang="zh-CN" sz="1200" dirty="0">
                            <a:solidFill>
                              <a:srgbClr val="1F2937"/>
                            </a:solidFill>
                            <a:latin typeface="Cambria Math"/>
                            <a:ea typeface="Cambria Math"/>
                            <a:cs typeface="Cambria Math"/>
                          </a:rPr>
                          <m:t>←</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η</m:t>
                            </m:r>
                          </m:num>
                          <m:den>
                            <m:rad>
                              <m:radPr>
                                <m:degHide m:val="on"/>
                                <m:ctrlPr>
                                  <a:rPr lang="zh-CN" sz="1200" dirty="0">
                                    <a:solidFill>
                                      <a:srgbClr val="1F2937"/>
                                    </a:solidFill>
                                    <a:latin typeface="Cambria Math"/>
                                    <a:ea typeface="Cambria Math"/>
                                    <a:cs typeface="Cambria Math"/>
                                  </a:rPr>
                                </m:ctrlPr>
                              </m:radPr>
                              <m:deg/>
                              <m:e>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0</m:t>
                                    </m:r>
                                  </m:sub>
                                  <m:sup>
                                    <m:r>
                                      <a:rPr lang="zh-CN" sz="1200" dirty="0">
                                        <a:solidFill>
                                          <a:srgbClr val="1F2937"/>
                                        </a:solidFill>
                                        <a:latin typeface="Cambria Math"/>
                                        <a:ea typeface="Cambria Math"/>
                                        <a:cs typeface="Cambria Math"/>
                                      </a:rPr>
                                      <m:t>t</m:t>
                                    </m:r>
                                  </m:sup>
                                  <m:e>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i</m:t>
                                                </m:r>
                                              </m:sup>
                                            </m:sSup>
                                          </m:e>
                                        </m:d>
                                      </m:e>
                                      <m:sup>
                                        <m:r>
                                          <a:rPr lang="zh-CN" sz="1200" dirty="0">
                                            <a:solidFill>
                                              <a:srgbClr val="1F2937"/>
                                            </a:solidFill>
                                            <a:latin typeface="Cambria Math"/>
                                            <a:ea typeface="Cambria Math"/>
                                            <a:cs typeface="Cambria Math"/>
                                          </a:rPr>
                                          <m:t>2</m:t>
                                        </m:r>
                                      </m:sup>
                                    </m:sSup>
                                  </m:e>
                                </m:nary>
                              </m:e>
                            </m:rad>
                          </m:den>
                        </m:f>
                        <m:r>
                          <a:rPr lang="zh-CN" sz="1200" dirty="0">
                            <a:solidFill>
                              <a:srgbClr val="1F2937"/>
                            </a:solidFill>
                            <a:latin typeface="Cambria Math"/>
                            <a:ea typeface="Cambria Math"/>
                            <a:cs typeface="Cambria Math"/>
                          </a:rPr>
                          <m:t xml:space="preserve"> </m:t>
                        </m:r>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oMath>
                    </m:oMathPara>
                  </a14:m>
                </a:p>
              </p:txBody>
            </p:sp>
          </mc:Choice>
        </mc:AlternateContent>
        <p:sp>
          <p:nvSpPr>
            <p:cNvPr id="13" name="Ellipse 13"/>
            <p:cNvSpPr/>
            <p:nvPr/>
          </p:nvSpPr>
          <p:spPr>
            <a:xfrm>
              <a:off x="762000" y="2727960"/>
              <a:ext cx="57150" cy="57150"/>
            </a:xfrm>
            <a:prstGeom prst="ellipse">
              <a:avLst/>
            </a:prstGeom>
            <a:solidFill>
              <a:srgbClr val="0E7C86"/>
            </a:solidFill>
            <a:ln>
              <a:noFill/>
            </a:ln>
          </p:spPr>
        </p:sp>
        <p:sp>
          <p:nvSpPr>
            <p:cNvPr id="14" name="TextBox 14"/>
            <p:cNvSpPr txBox="1"/>
            <p:nvPr/>
          </p:nvSpPr>
          <p:spPr>
            <a:xfrm>
              <a:off x="917448" y="2676049"/>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一直梯度大的方向，分母累积得快，步长被压小</a:t>
              </a:r>
            </a:p>
          </p:txBody>
        </p:sp>
        <p:sp>
          <p:nvSpPr>
            <p:cNvPr id="15" name="Ellipse 15"/>
            <p:cNvSpPr/>
            <p:nvPr/>
          </p:nvSpPr>
          <p:spPr>
            <a:xfrm>
              <a:off x="762000" y="3012758"/>
              <a:ext cx="57150" cy="57150"/>
            </a:xfrm>
            <a:prstGeom prst="ellipse">
              <a:avLst/>
            </a:prstGeom>
            <a:solidFill>
              <a:srgbClr val="0E7C86"/>
            </a:solidFill>
            <a:ln>
              <a:noFill/>
            </a:ln>
          </p:spPr>
        </p:sp>
        <p:sp>
          <p:nvSpPr>
            <p:cNvPr id="16" name="TextBox 16"/>
            <p:cNvSpPr txBox="1"/>
            <p:nvPr/>
          </p:nvSpPr>
          <p:spPr>
            <a:xfrm>
              <a:off x="917448" y="2960846"/>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一直梯度小的方向，分母小，步长相对更大</a:t>
              </a:r>
            </a:p>
          </p:txBody>
        </p:sp>
        <p:sp>
          <p:nvSpPr>
            <p:cNvPr id="17" name="TextBox 17"/>
            <p:cNvSpPr txBox="1"/>
            <p:nvPr/>
          </p:nvSpPr>
          <p:spPr>
            <a:xfrm>
              <a:off x="747141" y="3242310"/>
              <a:ext cx="3848348"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缺点：分母只增不减，训练后期步长会趋近于 0 而提前停住。</a:t>
              </a:r>
            </a:p>
          </p:txBody>
        </p:sp>
      </p:grpSp>
      <p:grpSp>
        <p:nvGrpSpPr>
          <p:cNvPr id="26" name="c1-card-2"/>
          <p:cNvGrpSpPr/>
          <p:nvPr/>
        </p:nvGrpSpPr>
        <p:grpSpPr>
          <a:xfrm>
            <a:off x="533400" y="3751898"/>
            <a:ext cx="5410200" cy="1874520"/>
            <a:chOff x="533400" y="3751898"/>
            <a:chExt cx="5410200" cy="1874520"/>
          </a:xfrm>
        </p:grpSpPr>
        <p:sp>
          <p:nvSpPr>
            <p:cNvPr id="19" name="Rectangle 19"/>
            <p:cNvSpPr/>
            <p:nvPr/>
          </p:nvSpPr>
          <p:spPr>
            <a:xfrm>
              <a:off x="533400" y="3751898"/>
              <a:ext cx="5410200" cy="1874520"/>
            </a:xfrm>
            <a:prstGeom prst="roundRect">
              <a:avLst>
                <a:gd name="adj" fmla="val 7114"/>
              </a:avLst>
            </a:prstGeom>
            <a:solidFill>
              <a:srgbClr val="FFFFFF"/>
            </a:solidFill>
            <a:ln w="14288">
              <a:solidFill>
                <a:srgbClr val="D9DFEA"/>
              </a:solidFill>
            </a:ln>
          </p:spPr>
        </p:sp>
        <p:sp>
          <p:nvSpPr>
            <p:cNvPr id="20" name="Rectangle 20"/>
            <p:cNvSpPr/>
            <p:nvPr/>
          </p:nvSpPr>
          <p:spPr>
            <a:xfrm>
              <a:off x="542925" y="3885248"/>
              <a:ext cx="47625" cy="1607820"/>
            </a:xfrm>
            <a:prstGeom prst="roundRect">
              <a:avLst>
                <a:gd name="adj" fmla="val 50000"/>
              </a:avLst>
            </a:prstGeom>
            <a:solidFill>
              <a:srgbClr val="0E7C86"/>
            </a:solidFill>
            <a:ln>
              <a:noFill/>
            </a:ln>
          </p:spPr>
        </p:sp>
        <p:sp>
          <p:nvSpPr>
            <p:cNvPr id="21" name="Rectangle 21"/>
            <p:cNvSpPr/>
            <p:nvPr/>
          </p:nvSpPr>
          <p:spPr>
            <a:xfrm>
              <a:off x="752475" y="3932872"/>
              <a:ext cx="739140" cy="238125"/>
            </a:xfrm>
            <a:prstGeom prst="roundRect">
              <a:avLst>
                <a:gd name="adj" fmla="val 50000"/>
              </a:avLst>
            </a:prstGeom>
            <a:solidFill>
              <a:srgbClr val="E2F3F4"/>
            </a:solidFill>
            <a:ln>
              <a:noFill/>
            </a:ln>
          </p:spPr>
        </p:sp>
        <p:sp>
          <p:nvSpPr>
            <p:cNvPr id="22" name="TextBox 22"/>
            <p:cNvSpPr txBox="1"/>
            <p:nvPr/>
          </p:nvSpPr>
          <p:spPr>
            <a:xfrm>
              <a:off x="827508" y="3965734"/>
              <a:ext cx="589074"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RMSProp</a:t>
              </a:r>
            </a:p>
          </p:txBody>
        </p:sp>
        <p:sp>
          <p:nvSpPr>
            <p:cNvPr id="23" name="TextBox 23"/>
            <p:cNvSpPr txBox="1"/>
            <p:nvPr/>
          </p:nvSpPr>
          <p:spPr>
            <a:xfrm>
              <a:off x="1599438" y="3972401"/>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把累加换成指数衰减平均</a:t>
              </a:r>
            </a:p>
          </p:txBody>
        </p:sp>
        <mc:AlternateContent xmlns:mc="http://schemas.openxmlformats.org/markup-compatibility/2006">
          <mc:Choice xmlns:a14="http://schemas.microsoft.com/office/drawing/2010/main" Requires="a14">
            <p:sp>
              <p:nvSpPr>
                <p:cNvPr id="24" name="formula174"/>
                <p:cNvSpPr txBox="1">
                  <a:spLocks noGrp="1"/>
                </p:cNvSpPr>
                <p:nvPr/>
              </p:nvSpPr>
              <p:spPr>
                <a:xfrm>
                  <a:off x="752475" y="4268152"/>
                  <a:ext cx="5010150"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rad>
                          <m:radPr>
                            <m:degHide m:val="on"/>
                            <m:ctrlPr>
                              <a:rPr lang="zh-CN" sz="1200" dirty="0">
                                <a:solidFill>
                                  <a:srgbClr val="1F2937"/>
                                </a:solidFill>
                                <a:latin typeface="Cambria Math"/>
                                <a:ea typeface="Cambria Math"/>
                                <a:cs typeface="Cambria Math"/>
                              </a:rPr>
                            </m:ctrlPr>
                          </m:radPr>
                          <m:deg/>
                          <m:e>
                            <m:r>
                              <a:rPr lang="zh-CN" sz="1200" dirty="0">
                                <a:solidFill>
                                  <a:srgbClr val="1F2937"/>
                                </a:solidFill>
                                <a:latin typeface="Cambria Math"/>
                                <a:ea typeface="Cambria Math"/>
                                <a:cs typeface="Cambria Math"/>
                              </a:rPr>
                              <m:t>α</m:t>
                            </m:r>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e>
                                </m:d>
                              </m:e>
                              <m:sup>
                                <m:r>
                                  <a:rPr lang="zh-CN" sz="1200" dirty="0">
                                    <a:solidFill>
                                      <a:srgbClr val="1F2937"/>
                                    </a:solidFill>
                                    <a:latin typeface="Cambria Math"/>
                                    <a:ea typeface="Cambria Math"/>
                                    <a:cs typeface="Cambria Math"/>
                                  </a:rPr>
                                  <m:t>2</m:t>
                                </m:r>
                              </m:sup>
                            </m:sSup>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α</m:t>
                                </m:r>
                              </m:e>
                            </m:d>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e>
                                </m:d>
                              </m:e>
                              <m:sup>
                                <m:r>
                                  <a:rPr lang="zh-CN" sz="1200" dirty="0">
                                    <a:solidFill>
                                      <a:srgbClr val="1F2937"/>
                                    </a:solidFill>
                                    <a:latin typeface="Cambria Math"/>
                                    <a:ea typeface="Cambria Math"/>
                                    <a:cs typeface="Cambria Math"/>
                                  </a:rPr>
                                  <m:t>2</m:t>
                                </m:r>
                              </m:sup>
                            </m:sSup>
                          </m:e>
                        </m:ra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 xml:space="preserve"> </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r>
                          <m:rPr>
                            <m:sty m:val="p"/>
                          </m:rPr>
                          <a:rPr lang="zh-CN" sz="1200" dirty="0">
                            <a:solidFill>
                              <a:srgbClr val="1F2937"/>
                            </a:solidFill>
                            <a:latin typeface="Cambria Math"/>
                            <a:ea typeface="Cambria Math"/>
                            <a:cs typeface="Cambria Math"/>
                          </a:rPr>
                          <m:t>←</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η</m:t>
                            </m:r>
                          </m:num>
                          <m:den>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sup>
                            </m:sSup>
                          </m:den>
                        </m:f>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oMath>
                    </m:oMathPara>
                  </a14:m>
                </a:p>
              </p:txBody>
            </p:sp>
          </mc:Choice>
        </mc:AlternateContent>
        <p:sp>
          <p:nvSpPr>
            <p:cNvPr id="25" name="TextBox 25"/>
            <p:cNvSpPr txBox="1"/>
            <p:nvPr/>
          </p:nvSpPr>
          <p:spPr>
            <a:xfrm>
              <a:off x="745998" y="4781074"/>
              <a:ext cx="451586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旧的梯度均方根按 α 衰减，新的梯度占 1 − α，分母不会无限增</a:t>
              </a:r>
              <a:br/>
              <a:r>
                <a:rPr lang="zh-CN" sz="1280" dirty="0">
                  <a:solidFill>
                    <a:srgbClr val="1F2937"/>
                  </a:solidFill>
                  <a:latin typeface="+mn-lt"/>
                  <a:ea typeface="+mn-ea"/>
                  <a:cs typeface="+mn-cs"/>
                </a:rPr>
                <a:t>大。</a:t>
              </a:r>
            </a:p>
          </p:txBody>
        </p:sp>
      </p:grpSp>
      <p:grpSp>
        <p:nvGrpSpPr>
          <p:cNvPr id="33" name="c2-card-1"/>
          <p:cNvGrpSpPr/>
          <p:nvPr/>
        </p:nvGrpSpPr>
        <p:grpSpPr>
          <a:xfrm>
            <a:off x="6248400" y="1524000"/>
            <a:ext cx="5410200" cy="1649730"/>
            <a:chOff x="6248400" y="1524000"/>
            <a:chExt cx="5410200" cy="1649730"/>
          </a:xfrm>
        </p:grpSpPr>
        <p:sp>
          <p:nvSpPr>
            <p:cNvPr id="27" name="Rectangle 27"/>
            <p:cNvSpPr/>
            <p:nvPr/>
          </p:nvSpPr>
          <p:spPr>
            <a:xfrm>
              <a:off x="6248400" y="1524000"/>
              <a:ext cx="5410200" cy="1649730"/>
            </a:xfrm>
            <a:prstGeom prst="roundRect">
              <a:avLst>
                <a:gd name="adj" fmla="val 8083"/>
              </a:avLst>
            </a:prstGeom>
            <a:solidFill>
              <a:srgbClr val="0E7C86"/>
            </a:solidFill>
            <a:ln>
              <a:noFill/>
            </a:ln>
          </p:spPr>
        </p:sp>
        <p:sp>
          <p:nvSpPr>
            <p:cNvPr id="28" name="Rectangle 28"/>
            <p:cNvSpPr/>
            <p:nvPr/>
          </p:nvSpPr>
          <p:spPr>
            <a:xfrm>
              <a:off x="6429375" y="1704975"/>
              <a:ext cx="522922" cy="238125"/>
            </a:xfrm>
            <a:prstGeom prst="roundRect">
              <a:avLst>
                <a:gd name="adj" fmla="val 50000"/>
              </a:avLst>
            </a:prstGeom>
            <a:solidFill>
              <a:srgbClr val="0B5F67"/>
            </a:solidFill>
            <a:ln>
              <a:noFill/>
            </a:ln>
          </p:spPr>
        </p:sp>
        <p:sp>
          <p:nvSpPr>
            <p:cNvPr id="29" name="TextBox 29"/>
            <p:cNvSpPr txBox="1"/>
            <p:nvPr/>
          </p:nvSpPr>
          <p:spPr>
            <a:xfrm>
              <a:off x="6517778" y="1737836"/>
              <a:ext cx="347068"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Adam</a:t>
              </a:r>
            </a:p>
          </p:txBody>
        </p:sp>
        <p:sp>
          <p:nvSpPr>
            <p:cNvPr id="30" name="TextBox 30"/>
            <p:cNvSpPr txBox="1"/>
            <p:nvPr/>
          </p:nvSpPr>
          <p:spPr>
            <a:xfrm>
              <a:off x="7060120" y="1744504"/>
              <a:ext cx="1893253"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RMSProp + Momentum</a:t>
              </a:r>
            </a:p>
          </p:txBody>
        </p:sp>
        <p:sp>
          <p:nvSpPr>
            <p:cNvPr id="31" name="TextBox 31"/>
            <p:cNvSpPr txBox="1"/>
            <p:nvPr/>
          </p:nvSpPr>
          <p:spPr>
            <a:xfrm>
              <a:off x="6422898" y="2061686"/>
              <a:ext cx="476783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同时维护梯度的一阶矩 mₜ ← β₁mₜ₋₁ + (1−β₁)gₜ 给出方向，二阶</a:t>
              </a:r>
              <a:br/>
              <a:r>
                <a:rPr lang="zh-CN" sz="1280" dirty="0">
                  <a:solidFill>
                    <a:srgbClr val="FFFFFF"/>
                  </a:solidFill>
                  <a:latin typeface="+mn-lt"/>
                  <a:ea typeface="+mn-ea"/>
                  <a:cs typeface="+mn-cs"/>
                </a:rPr>
                <a:t>矩 vₜ ← β₂vₜ₋₁ + (1−β₂)gₜ² 给出步长缩放；两者做偏差修正后按</a:t>
              </a:r>
              <a:br/>
              <a:r>
                <a:rPr lang="zh-CN" sz="1280" dirty="0">
                  <a:solidFill>
                    <a:srgbClr val="FFFFFF"/>
                  </a:solidFill>
                  <a:latin typeface="+mn-lt"/>
                  <a:ea typeface="+mn-ea"/>
                  <a:cs typeface="+mn-cs"/>
                </a:rPr>
                <a:t>Θₜ ← Θₜ₋₁ − η·m̂ₜ/(√v̂ₜ + ε) 更新。</a:t>
              </a:r>
            </a:p>
          </p:txBody>
        </p:sp>
        <p:sp>
          <p:nvSpPr>
            <p:cNvPr id="32" name="TextBox 32"/>
            <p:cNvSpPr txBox="1"/>
            <p:nvPr/>
          </p:nvSpPr>
          <p:spPr>
            <a:xfrm>
              <a:off x="6424041" y="2827973"/>
              <a:ext cx="4145185"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论文推荐默认值：η = 0.001，β₁ = 0.9，β₂ = 0.999，ε = 10⁻⁸。</a:t>
              </a:r>
            </a:p>
          </p:txBody>
        </p:sp>
      </p:grpSp>
      <p:grpSp>
        <p:nvGrpSpPr>
          <p:cNvPr id="64" name="c2-table-2"/>
          <p:cNvGrpSpPr/>
          <p:nvPr/>
        </p:nvGrpSpPr>
        <p:grpSpPr>
          <a:xfrm>
            <a:off x="6248400" y="3338512"/>
            <a:ext cx="5410200" cy="2287905"/>
            <a:chOff x="6248400" y="3338512"/>
            <a:chExt cx="5410200" cy="2287905"/>
          </a:xfrm>
        </p:grpSpPr>
        <p:sp>
          <p:nvSpPr>
            <p:cNvPr id="34" name="Rectangle 34"/>
            <p:cNvSpPr/>
            <p:nvPr/>
          </p:nvSpPr>
          <p:spPr>
            <a:xfrm>
              <a:off x="6248400" y="3338512"/>
              <a:ext cx="5410200" cy="381000"/>
            </a:xfrm>
            <a:prstGeom prst="rect">
              <a:avLst/>
            </a:prstGeom>
            <a:solidFill>
              <a:srgbClr val="0E7C86"/>
            </a:solidFill>
            <a:ln>
              <a:noFill/>
            </a:ln>
          </p:spPr>
        </p:sp>
        <p:sp>
          <p:nvSpPr>
            <p:cNvPr id="35" name="TextBox 35"/>
            <p:cNvSpPr txBox="1"/>
            <p:nvPr/>
          </p:nvSpPr>
          <p:spPr>
            <a:xfrm>
              <a:off x="6858952" y="34556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方法</a:t>
              </a:r>
            </a:p>
          </p:txBody>
        </p:sp>
        <p:sp>
          <p:nvSpPr>
            <p:cNvPr id="36" name="TextBox 36"/>
            <p:cNvSpPr txBox="1"/>
            <p:nvPr/>
          </p:nvSpPr>
          <p:spPr>
            <a:xfrm>
              <a:off x="8394954" y="34556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方向来自</a:t>
              </a:r>
            </a:p>
          </p:txBody>
        </p:sp>
        <p:sp>
          <p:nvSpPr>
            <p:cNvPr id="37" name="TextBox 37"/>
            <p:cNvSpPr txBox="1"/>
            <p:nvPr/>
          </p:nvSpPr>
          <p:spPr>
            <a:xfrm>
              <a:off x="10342816" y="34556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步长来自</a:t>
              </a:r>
            </a:p>
          </p:txBody>
        </p:sp>
        <p:sp>
          <p:nvSpPr>
            <p:cNvPr id="38" name="TextBox 38"/>
            <p:cNvSpPr txBox="1"/>
            <p:nvPr/>
          </p:nvSpPr>
          <p:spPr>
            <a:xfrm>
              <a:off x="6343079" y="3836670"/>
              <a:ext cx="26942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SGD</a:t>
              </a:r>
            </a:p>
          </p:txBody>
        </p:sp>
        <p:sp>
          <p:nvSpPr>
            <p:cNvPr id="39" name="TextBox 39"/>
            <p:cNvSpPr txBox="1"/>
            <p:nvPr/>
          </p:nvSpPr>
          <p:spPr>
            <a:xfrm>
              <a:off x="7857554" y="3836670"/>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40" name="TextBox 40"/>
            <p:cNvSpPr txBox="1"/>
            <p:nvPr/>
          </p:nvSpPr>
          <p:spPr>
            <a:xfrm>
              <a:off x="9697784" y="3836670"/>
              <a:ext cx="41351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固定 η</a:t>
              </a:r>
            </a:p>
          </p:txBody>
        </p:sp>
        <p:sp>
          <p:nvSpPr>
            <p:cNvPr id="41" name="Rectangle 41"/>
            <p:cNvSpPr/>
            <p:nvPr/>
          </p:nvSpPr>
          <p:spPr>
            <a:xfrm>
              <a:off x="6248400" y="4095750"/>
              <a:ext cx="5410200" cy="9525"/>
            </a:xfrm>
            <a:prstGeom prst="rect">
              <a:avLst/>
            </a:prstGeom>
            <a:solidFill>
              <a:srgbClr val="D9DFEA"/>
            </a:solidFill>
            <a:ln>
              <a:noFill/>
            </a:ln>
          </p:spPr>
        </p:sp>
        <p:sp>
          <p:nvSpPr>
            <p:cNvPr id="42" name="Rectangle 42"/>
            <p:cNvSpPr/>
            <p:nvPr/>
          </p:nvSpPr>
          <p:spPr>
            <a:xfrm>
              <a:off x="6248400" y="4100512"/>
              <a:ext cx="5410200" cy="381000"/>
            </a:xfrm>
            <a:prstGeom prst="rect">
              <a:avLst/>
            </a:prstGeom>
            <a:solidFill>
              <a:srgbClr val="F4F6FB"/>
            </a:solidFill>
            <a:ln>
              <a:noFill/>
            </a:ln>
          </p:spPr>
        </p:sp>
        <p:sp>
          <p:nvSpPr>
            <p:cNvPr id="43" name="TextBox 43"/>
            <p:cNvSpPr txBox="1"/>
            <p:nvPr/>
          </p:nvSpPr>
          <p:spPr>
            <a:xfrm>
              <a:off x="6343079" y="4218622"/>
              <a:ext cx="758011"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Momentum</a:t>
              </a:r>
            </a:p>
          </p:txBody>
        </p:sp>
        <p:sp>
          <p:nvSpPr>
            <p:cNvPr id="44" name="TextBox 44"/>
            <p:cNvSpPr txBox="1"/>
            <p:nvPr/>
          </p:nvSpPr>
          <p:spPr>
            <a:xfrm>
              <a:off x="7857554" y="4218622"/>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累积的位移</a:t>
              </a:r>
            </a:p>
          </p:txBody>
        </p:sp>
        <p:sp>
          <p:nvSpPr>
            <p:cNvPr id="45" name="TextBox 45"/>
            <p:cNvSpPr txBox="1"/>
            <p:nvPr/>
          </p:nvSpPr>
          <p:spPr>
            <a:xfrm>
              <a:off x="9697784" y="4218622"/>
              <a:ext cx="41351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固定 η</a:t>
              </a:r>
            </a:p>
          </p:txBody>
        </p:sp>
        <p:sp>
          <p:nvSpPr>
            <p:cNvPr id="46" name="Rectangle 46"/>
            <p:cNvSpPr/>
            <p:nvPr/>
          </p:nvSpPr>
          <p:spPr>
            <a:xfrm>
              <a:off x="6248400" y="4477702"/>
              <a:ext cx="5410200" cy="9525"/>
            </a:xfrm>
            <a:prstGeom prst="rect">
              <a:avLst/>
            </a:prstGeom>
            <a:solidFill>
              <a:srgbClr val="D9DFEA"/>
            </a:solidFill>
            <a:ln>
              <a:noFill/>
            </a:ln>
          </p:spPr>
        </p:sp>
        <p:sp>
          <p:nvSpPr>
            <p:cNvPr id="47" name="TextBox 47"/>
            <p:cNvSpPr txBox="1"/>
            <p:nvPr/>
          </p:nvSpPr>
          <p:spPr>
            <a:xfrm>
              <a:off x="6343079" y="4599622"/>
              <a:ext cx="58670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Adagrad</a:t>
              </a:r>
            </a:p>
          </p:txBody>
        </p:sp>
        <p:sp>
          <p:nvSpPr>
            <p:cNvPr id="48" name="TextBox 48"/>
            <p:cNvSpPr txBox="1"/>
            <p:nvPr/>
          </p:nvSpPr>
          <p:spPr>
            <a:xfrm>
              <a:off x="7857554" y="459962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49" name="TextBox 49"/>
            <p:cNvSpPr txBox="1"/>
            <p:nvPr/>
          </p:nvSpPr>
          <p:spPr>
            <a:xfrm>
              <a:off x="9697784" y="4599622"/>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历史梯度平方和</a:t>
              </a:r>
            </a:p>
          </p:txBody>
        </p:sp>
        <p:sp>
          <p:nvSpPr>
            <p:cNvPr id="50" name="Rectangle 50"/>
            <p:cNvSpPr/>
            <p:nvPr/>
          </p:nvSpPr>
          <p:spPr>
            <a:xfrm>
              <a:off x="6248400" y="4858702"/>
              <a:ext cx="5410200" cy="9525"/>
            </a:xfrm>
            <a:prstGeom prst="rect">
              <a:avLst/>
            </a:prstGeom>
            <a:solidFill>
              <a:srgbClr val="D9DFEA"/>
            </a:solidFill>
            <a:ln>
              <a:noFill/>
            </a:ln>
          </p:spPr>
        </p:sp>
        <p:sp>
          <p:nvSpPr>
            <p:cNvPr id="51" name="Rectangle 51"/>
            <p:cNvSpPr/>
            <p:nvPr/>
          </p:nvSpPr>
          <p:spPr>
            <a:xfrm>
              <a:off x="6248400" y="4863465"/>
              <a:ext cx="5410200" cy="381000"/>
            </a:xfrm>
            <a:prstGeom prst="rect">
              <a:avLst/>
            </a:prstGeom>
            <a:solidFill>
              <a:srgbClr val="F4F6FB"/>
            </a:solidFill>
            <a:ln>
              <a:noFill/>
            </a:ln>
          </p:spPr>
        </p:sp>
        <p:sp>
          <p:nvSpPr>
            <p:cNvPr id="52" name="TextBox 52"/>
            <p:cNvSpPr txBox="1"/>
            <p:nvPr/>
          </p:nvSpPr>
          <p:spPr>
            <a:xfrm>
              <a:off x="6343079" y="4980622"/>
              <a:ext cx="631206"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RMSProp</a:t>
              </a:r>
            </a:p>
          </p:txBody>
        </p:sp>
        <p:sp>
          <p:nvSpPr>
            <p:cNvPr id="53" name="TextBox 53"/>
            <p:cNvSpPr txBox="1"/>
            <p:nvPr/>
          </p:nvSpPr>
          <p:spPr>
            <a:xfrm>
              <a:off x="7857554" y="498062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54" name="TextBox 54"/>
            <p:cNvSpPr txBox="1"/>
            <p:nvPr/>
          </p:nvSpPr>
          <p:spPr>
            <a:xfrm>
              <a:off x="9697784" y="4980622"/>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梯度平方的衰减平均</a:t>
              </a:r>
            </a:p>
          </p:txBody>
        </p:sp>
        <p:sp>
          <p:nvSpPr>
            <p:cNvPr id="55" name="Rectangle 55"/>
            <p:cNvSpPr/>
            <p:nvPr/>
          </p:nvSpPr>
          <p:spPr>
            <a:xfrm>
              <a:off x="6248400" y="5240655"/>
              <a:ext cx="5410200" cy="9525"/>
            </a:xfrm>
            <a:prstGeom prst="rect">
              <a:avLst/>
            </a:prstGeom>
            <a:solidFill>
              <a:srgbClr val="D9DFEA"/>
            </a:solidFill>
            <a:ln>
              <a:noFill/>
            </a:ln>
          </p:spPr>
        </p:sp>
        <p:sp>
          <p:nvSpPr>
            <p:cNvPr id="56" name="TextBox 56"/>
            <p:cNvSpPr txBox="1"/>
            <p:nvPr/>
          </p:nvSpPr>
          <p:spPr>
            <a:xfrm>
              <a:off x="6343079" y="5362575"/>
              <a:ext cx="371913"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Adam</a:t>
              </a:r>
            </a:p>
          </p:txBody>
        </p:sp>
        <p:sp>
          <p:nvSpPr>
            <p:cNvPr id="57" name="Rectangle 57"/>
            <p:cNvSpPr/>
            <p:nvPr/>
          </p:nvSpPr>
          <p:spPr>
            <a:xfrm>
              <a:off x="7772400" y="5254942"/>
              <a:ext cx="1820228" cy="361950"/>
            </a:xfrm>
            <a:prstGeom prst="rect">
              <a:avLst/>
            </a:prstGeom>
            <a:solidFill>
              <a:srgbClr val="E3F5F1"/>
            </a:solidFill>
            <a:ln>
              <a:noFill/>
            </a:ln>
          </p:spPr>
        </p:sp>
        <p:sp>
          <p:nvSpPr>
            <p:cNvPr id="58" name="TextBox 58"/>
            <p:cNvSpPr txBox="1"/>
            <p:nvPr/>
          </p:nvSpPr>
          <p:spPr>
            <a:xfrm>
              <a:off x="7857554" y="5362575"/>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累积的位移</a:t>
              </a:r>
            </a:p>
          </p:txBody>
        </p:sp>
        <p:sp>
          <p:nvSpPr>
            <p:cNvPr id="59" name="Rectangle 59"/>
            <p:cNvSpPr/>
            <p:nvPr/>
          </p:nvSpPr>
          <p:spPr>
            <a:xfrm>
              <a:off x="9612630" y="5254942"/>
              <a:ext cx="2036445" cy="361950"/>
            </a:xfrm>
            <a:prstGeom prst="rect">
              <a:avLst/>
            </a:prstGeom>
            <a:solidFill>
              <a:srgbClr val="E3F5F1"/>
            </a:solidFill>
            <a:ln>
              <a:noFill/>
            </a:ln>
          </p:spPr>
        </p:sp>
        <p:sp>
          <p:nvSpPr>
            <p:cNvPr id="60" name="TextBox 60"/>
            <p:cNvSpPr txBox="1"/>
            <p:nvPr/>
          </p:nvSpPr>
          <p:spPr>
            <a:xfrm>
              <a:off x="9697784" y="536257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梯度平方的衰减平均</a:t>
              </a:r>
            </a:p>
          </p:txBody>
        </p:sp>
        <p:sp>
          <p:nvSpPr>
            <p:cNvPr id="61" name="Rectangle 61"/>
            <p:cNvSpPr/>
            <p:nvPr/>
          </p:nvSpPr>
          <p:spPr>
            <a:xfrm>
              <a:off x="6248400" y="3338512"/>
              <a:ext cx="5410200" cy="2287905"/>
            </a:xfrm>
            <a:prstGeom prst="rect">
              <a:avLst/>
            </a:prstGeom>
            <a:noFill/>
            <a:ln w="14288">
              <a:solidFill>
                <a:srgbClr val="D9DFEA"/>
              </a:solidFill>
            </a:ln>
          </p:spPr>
        </p:sp>
        <p:sp>
          <p:nvSpPr>
            <p:cNvPr id="62" name="Rectangle 62"/>
            <p:cNvSpPr/>
            <p:nvPr/>
          </p:nvSpPr>
          <p:spPr>
            <a:xfrm>
              <a:off x="7758112" y="3338512"/>
              <a:ext cx="9525" cy="2287905"/>
            </a:xfrm>
            <a:prstGeom prst="rect">
              <a:avLst/>
            </a:prstGeom>
            <a:solidFill>
              <a:srgbClr val="D9DFEA"/>
            </a:solidFill>
            <a:ln>
              <a:noFill/>
            </a:ln>
          </p:spPr>
        </p:sp>
        <p:sp>
          <p:nvSpPr>
            <p:cNvPr id="63" name="Rectangle 63"/>
            <p:cNvSpPr/>
            <p:nvPr/>
          </p:nvSpPr>
          <p:spPr>
            <a:xfrm>
              <a:off x="9598342" y="3338512"/>
              <a:ext cx="9525" cy="2287905"/>
            </a:xfrm>
            <a:prstGeom prst="rect">
              <a:avLst/>
            </a:prstGeom>
            <a:solidFill>
              <a:srgbClr val="D9DFEA"/>
            </a:solidFill>
            <a:ln>
              <a:noFill/>
            </a:ln>
          </p:spPr>
        </p:sp>
      </p:grpSp>
      <p:grpSp>
        <p:nvGrpSpPr>
          <p:cNvPr id="71" name="takeaway"/>
          <p:cNvGrpSpPr/>
          <p:nvPr/>
        </p:nvGrpSpPr>
        <p:grpSpPr>
          <a:xfrm>
            <a:off x="533400" y="5895022"/>
            <a:ext cx="11125200" cy="467678"/>
            <a:chOff x="533400" y="5895022"/>
            <a:chExt cx="11125200" cy="467678"/>
          </a:xfrm>
        </p:grpSpPr>
        <p:sp>
          <p:nvSpPr>
            <p:cNvPr id="65" name="Rectangle 65"/>
            <p:cNvSpPr/>
            <p:nvPr/>
          </p:nvSpPr>
          <p:spPr>
            <a:xfrm>
              <a:off x="533400" y="5895022"/>
              <a:ext cx="11125200" cy="467678"/>
            </a:xfrm>
            <a:prstGeom prst="roundRect">
              <a:avLst>
                <a:gd name="adj" fmla="val 24440"/>
              </a:avLst>
            </a:prstGeom>
            <a:solidFill>
              <a:srgbClr val="FDEEE7"/>
            </a:solidFill>
            <a:ln>
              <a:noFill/>
            </a:ln>
          </p:spPr>
        </p:sp>
        <p:grpSp>
          <p:nvGrpSpPr>
            <p:cNvPr id="69" name="Group 69"/>
            <p:cNvGrpSpPr/>
            <p:nvPr/>
          </p:nvGrpSpPr>
          <p:grpSpPr>
            <a:xfrm>
              <a:off x="738188" y="6028373"/>
              <a:ext cx="200026" cy="200025"/>
              <a:chOff x="738188" y="6028373"/>
              <a:chExt cx="200026" cy="200025"/>
            </a:xfrm>
          </p:grpSpPr>
          <p:sp>
            <p:nvSpPr>
              <p:cNvPr id="66" name="Freeform 66"/>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7" name="Freeform 67"/>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8" name="Freeform 68"/>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0" name="TextBox 70"/>
            <p:cNvSpPr txBox="1"/>
            <p:nvPr/>
          </p:nvSpPr>
          <p:spPr>
            <a:xfrm>
              <a:off x="1041273" y="6039326"/>
              <a:ext cx="7528472"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拿不准时先用 Adam 跑通，再换回 SGD + Momentum 调最后几个点的精度，这是常见的工程顺序。</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动量项：让这一步记住上一步</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0" name="c1-card-1"/>
          <p:cNvGrpSpPr/>
          <p:nvPr/>
        </p:nvGrpSpPr>
        <p:grpSpPr>
          <a:xfrm>
            <a:off x="533400" y="1524000"/>
            <a:ext cx="5410200" cy="2698432"/>
            <a:chOff x="533400" y="1524000"/>
            <a:chExt cx="5410200" cy="2698432"/>
          </a:xfrm>
        </p:grpSpPr>
        <p:sp>
          <p:nvSpPr>
            <p:cNvPr id="7" name="Rectangle 7"/>
            <p:cNvSpPr/>
            <p:nvPr/>
          </p:nvSpPr>
          <p:spPr>
            <a:xfrm>
              <a:off x="533400" y="1524000"/>
              <a:ext cx="5410200" cy="2698432"/>
            </a:xfrm>
            <a:prstGeom prst="roundRect">
              <a:avLst>
                <a:gd name="adj" fmla="val 4942"/>
              </a:avLst>
            </a:prstGeom>
            <a:solidFill>
              <a:srgbClr val="FFFFFF"/>
            </a:solidFill>
            <a:ln w="14288">
              <a:solidFill>
                <a:srgbClr val="D9DFEA"/>
              </a:solidFill>
            </a:ln>
          </p:spPr>
        </p:sp>
        <p:sp>
          <p:nvSpPr>
            <p:cNvPr id="8" name="Rectangle 8"/>
            <p:cNvSpPr/>
            <p:nvPr/>
          </p:nvSpPr>
          <p:spPr>
            <a:xfrm>
              <a:off x="542925" y="1657350"/>
              <a:ext cx="47625" cy="2431732"/>
            </a:xfrm>
            <a:prstGeom prst="roundRect">
              <a:avLst>
                <a:gd name="adj" fmla="val 50000"/>
              </a:avLst>
            </a:prstGeom>
            <a:solidFill>
              <a:srgbClr val="0E7C86"/>
            </a:solidFill>
            <a:ln>
              <a:noFill/>
            </a:ln>
          </p:spPr>
        </p:sp>
        <p:sp>
          <p:nvSpPr>
            <p:cNvPr id="9" name="Rectangle 9"/>
            <p:cNvSpPr/>
            <p:nvPr/>
          </p:nvSpPr>
          <p:spPr>
            <a:xfrm>
              <a:off x="763905" y="1716405"/>
              <a:ext cx="476250" cy="247650"/>
            </a:xfrm>
            <a:prstGeom prst="roundRect">
              <a:avLst>
                <a:gd name="adj" fmla="val 50000"/>
              </a:avLst>
            </a:prstGeom>
            <a:solidFill>
              <a:srgbClr val="E2F3F4"/>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公式</a:t>
              </a:r>
            </a:p>
          </p:txBody>
        </p:sp>
        <p:sp>
          <p:nvSpPr>
            <p:cNvPr id="11" name="TextBox 11"/>
            <p:cNvSpPr txBox="1"/>
            <p:nvPr/>
          </p:nvSpPr>
          <p:spPr>
            <a:xfrm>
              <a:off x="1347597" y="175641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在更新量里加一份上一次的更新量</a:t>
              </a:r>
            </a:p>
          </p:txBody>
        </p:sp>
        <p:sp>
          <p:nvSpPr>
            <p:cNvPr id="12" name="TextBox 12"/>
            <p:cNvSpPr txBox="1"/>
            <p:nvPr/>
          </p:nvSpPr>
          <p:spPr>
            <a:xfrm>
              <a:off x="757047" y="2090738"/>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最速下降：</a:t>
              </a:r>
            </a:p>
          </p:txBody>
        </p:sp>
        <mc:AlternateContent xmlns:mc="http://schemas.openxmlformats.org/markup-compatibility/2006">
          <mc:Choice xmlns:a14="http://schemas.microsoft.com/office/drawing/2010/main" Requires="a14">
            <p:sp>
              <p:nvSpPr>
                <p:cNvPr id="13" name="formula183"/>
                <p:cNvSpPr txBox="1">
                  <a:spLocks noGrp="1"/>
                </p:cNvSpPr>
                <p:nvPr/>
              </p:nvSpPr>
              <p:spPr>
                <a:xfrm>
                  <a:off x="763905" y="2370772"/>
                  <a:ext cx="49872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oMath>
                    </m:oMathPara>
                  </a14:m>
                </a:p>
              </p:txBody>
            </p:sp>
          </mc:Choice>
        </mc:AlternateContent>
        <p:sp>
          <p:nvSpPr>
            <p:cNvPr id="14" name="TextBox 14"/>
            <p:cNvSpPr txBox="1"/>
            <p:nvPr/>
          </p:nvSpPr>
          <p:spPr>
            <a:xfrm>
              <a:off x="757047" y="2803208"/>
              <a:ext cx="131313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加动量 α 之后：</a:t>
              </a:r>
            </a:p>
          </p:txBody>
        </p:sp>
        <mc:AlternateContent xmlns:mc="http://schemas.openxmlformats.org/markup-compatibility/2006">
          <mc:Choice xmlns:a14="http://schemas.microsoft.com/office/drawing/2010/main" Requires="a14">
            <p:sp>
              <p:nvSpPr>
                <p:cNvPr id="15" name="formula184"/>
                <p:cNvSpPr txBox="1">
                  <a:spLocks noGrp="1"/>
                </p:cNvSpPr>
                <p:nvPr/>
              </p:nvSpPr>
              <p:spPr>
                <a:xfrm>
                  <a:off x="763905" y="3083242"/>
                  <a:ext cx="49872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α</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oMath>
                    </m:oMathPara>
                  </a14:m>
                </a:p>
              </p:txBody>
            </p:sp>
          </mc:Choice>
        </mc:AlternateContent>
        <p:sp>
          <p:nvSpPr>
            <p:cNvPr id="16" name="Ellipse 16"/>
            <p:cNvSpPr/>
            <p:nvPr/>
          </p:nvSpPr>
          <p:spPr>
            <a:xfrm>
              <a:off x="772478" y="3572827"/>
              <a:ext cx="59055" cy="59055"/>
            </a:xfrm>
            <a:prstGeom prst="ellipse">
              <a:avLst/>
            </a:prstGeom>
            <a:solidFill>
              <a:srgbClr val="0E7C86"/>
            </a:solidFill>
            <a:ln>
              <a:noFill/>
            </a:ln>
          </p:spPr>
        </p:sp>
        <p:sp>
          <p:nvSpPr>
            <p:cNvPr id="17" name="TextBox 17"/>
            <p:cNvSpPr txBox="1"/>
            <p:nvPr/>
          </p:nvSpPr>
          <p:spPr>
            <a:xfrm>
              <a:off x="928497" y="3516630"/>
              <a:ext cx="325772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m 是迭代次数，α 是动量系数，常取 0.9</a:t>
              </a:r>
            </a:p>
          </p:txBody>
        </p:sp>
        <p:sp>
          <p:nvSpPr>
            <p:cNvPr id="18" name="Ellipse 18"/>
            <p:cNvSpPr/>
            <p:nvPr/>
          </p:nvSpPr>
          <p:spPr>
            <a:xfrm>
              <a:off x="772478" y="3874770"/>
              <a:ext cx="59055" cy="59055"/>
            </a:xfrm>
            <a:prstGeom prst="ellipse">
              <a:avLst/>
            </a:prstGeom>
            <a:solidFill>
              <a:srgbClr val="0E7C86"/>
            </a:solidFill>
            <a:ln>
              <a:noFill/>
            </a:ln>
          </p:spPr>
        </p:sp>
        <p:sp>
          <p:nvSpPr>
            <p:cNvPr id="19" name="TextBox 19"/>
            <p:cNvSpPr txBox="1"/>
            <p:nvPr/>
          </p:nvSpPr>
          <p:spPr>
            <a:xfrm>
              <a:off x="928497" y="3818572"/>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新的一步受上一步影响，收敛速度得到改善</a:t>
              </a:r>
            </a:p>
          </p:txBody>
        </p:sp>
      </p:grpSp>
      <p:grpSp>
        <p:nvGrpSpPr>
          <p:cNvPr id="26" name="c1-callout-2"/>
          <p:cNvGrpSpPr/>
          <p:nvPr/>
        </p:nvGrpSpPr>
        <p:grpSpPr>
          <a:xfrm>
            <a:off x="533400" y="4397692"/>
            <a:ext cx="5410200" cy="870585"/>
            <a:chOff x="533400" y="4397692"/>
            <a:chExt cx="5410200" cy="870585"/>
          </a:xfrm>
        </p:grpSpPr>
        <p:sp>
          <p:nvSpPr>
            <p:cNvPr id="21" name="Rectangle 21"/>
            <p:cNvSpPr/>
            <p:nvPr/>
          </p:nvSpPr>
          <p:spPr>
            <a:xfrm>
              <a:off x="533400" y="4397692"/>
              <a:ext cx="5410200" cy="870585"/>
            </a:xfrm>
            <a:prstGeom prst="roundRect">
              <a:avLst>
                <a:gd name="adj" fmla="val 13129"/>
              </a:avLst>
            </a:prstGeom>
            <a:solidFill>
              <a:srgbClr val="0E7C86"/>
            </a:solidFill>
            <a:ln>
              <a:noFill/>
            </a:ln>
          </p:spPr>
        </p:sp>
        <p:grpSp>
          <p:nvGrpSpPr>
            <p:cNvPr id="24" name="Group 24"/>
            <p:cNvGrpSpPr/>
            <p:nvPr/>
          </p:nvGrpSpPr>
          <p:grpSpPr>
            <a:xfrm>
              <a:off x="738188" y="4732975"/>
              <a:ext cx="200023" cy="200023"/>
              <a:chOff x="738188" y="4732975"/>
              <a:chExt cx="200023" cy="200023"/>
            </a:xfrm>
          </p:grpSpPr>
          <p:sp>
            <p:nvSpPr>
              <p:cNvPr id="22" name="Freeform 22"/>
              <p:cNvSpPr/>
              <p:nvPr/>
            </p:nvSpPr>
            <p:spPr>
              <a:xfrm>
                <a:off x="738188" y="47329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3" name="Freeform 23"/>
              <p:cNvSpPr/>
              <p:nvPr/>
            </p:nvSpPr>
            <p:spPr>
              <a:xfrm>
                <a:off x="871538" y="47996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5" name="TextBox 25"/>
            <p:cNvSpPr txBox="1"/>
            <p:nvPr/>
          </p:nvSpPr>
          <p:spPr>
            <a:xfrm>
              <a:off x="1040892" y="4613910"/>
              <a:ext cx="452285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移动方向 = 负梯度 + 上一步的位移，所以运动不只取决于当</a:t>
              </a:r>
              <a:br/>
              <a:r>
                <a:rPr lang="zh-CN" sz="1350" dirty="0">
                  <a:solidFill>
                    <a:srgbClr val="FFFFFF"/>
                  </a:solidFill>
                  <a:latin typeface="+mn-lt"/>
                  <a:ea typeface="+mn-ea"/>
                  <a:cs typeface="+mn-cs"/>
                </a:rPr>
                <a:t>前梯度，还取决于以前的运动。</a:t>
              </a:r>
            </a:p>
          </p:txBody>
        </p:sp>
      </p:grpSp>
      <p:grpSp>
        <p:nvGrpSpPr>
          <p:cNvPr id="42" name="c2-card-1"/>
          <p:cNvGrpSpPr/>
          <p:nvPr/>
        </p:nvGrpSpPr>
        <p:grpSpPr>
          <a:xfrm>
            <a:off x="6248400" y="1524000"/>
            <a:ext cx="5410200" cy="2095500"/>
            <a:chOff x="6248400" y="1524000"/>
            <a:chExt cx="5410200" cy="2095500"/>
          </a:xfrm>
        </p:grpSpPr>
        <p:sp>
          <p:nvSpPr>
            <p:cNvPr id="27" name="Rectangle 27"/>
            <p:cNvSpPr/>
            <p:nvPr/>
          </p:nvSpPr>
          <p:spPr>
            <a:xfrm>
              <a:off x="6248400" y="1524000"/>
              <a:ext cx="5410200" cy="2095500"/>
            </a:xfrm>
            <a:prstGeom prst="roundRect">
              <a:avLst>
                <a:gd name="adj" fmla="val 6364"/>
              </a:avLst>
            </a:prstGeom>
            <a:solidFill>
              <a:srgbClr val="FFFFFF"/>
            </a:solidFill>
            <a:ln w="14288">
              <a:solidFill>
                <a:srgbClr val="D9DFEA"/>
              </a:solidFill>
            </a:ln>
          </p:spPr>
        </p:sp>
        <p:sp>
          <p:nvSpPr>
            <p:cNvPr id="28" name="Rectangle 28"/>
            <p:cNvSpPr/>
            <p:nvPr/>
          </p:nvSpPr>
          <p:spPr>
            <a:xfrm>
              <a:off x="6257925" y="1657350"/>
              <a:ext cx="47625" cy="1828800"/>
            </a:xfrm>
            <a:prstGeom prst="roundRect">
              <a:avLst>
                <a:gd name="adj" fmla="val 50000"/>
              </a:avLst>
            </a:prstGeom>
            <a:solidFill>
              <a:srgbClr val="14A38B"/>
            </a:solidFill>
            <a:ln>
              <a:noFill/>
            </a:ln>
          </p:spPr>
        </p:sp>
        <p:sp>
          <p:nvSpPr>
            <p:cNvPr id="29" name="Rectangle 29"/>
            <p:cNvSpPr/>
            <p:nvPr/>
          </p:nvSpPr>
          <p:spPr>
            <a:xfrm>
              <a:off x="6478905" y="1716405"/>
              <a:ext cx="1009650" cy="247650"/>
            </a:xfrm>
            <a:prstGeom prst="roundRect">
              <a:avLst>
                <a:gd name="adj" fmla="val 50000"/>
              </a:avLst>
            </a:prstGeom>
            <a:solidFill>
              <a:srgbClr val="E3F5F1"/>
            </a:solidFill>
            <a:ln>
              <a:noFill/>
            </a:ln>
          </p:spPr>
        </p:sp>
        <p:sp>
          <p:nvSpPr>
            <p:cNvPr id="30" name="TextBox 30"/>
            <p:cNvSpPr txBox="1"/>
            <p:nvPr/>
          </p:nvSpPr>
          <p:spPr>
            <a:xfrm>
              <a:off x="6554343" y="1750695"/>
              <a:ext cx="858774"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解决什么问题</a:t>
              </a:r>
            </a:p>
          </p:txBody>
        </p:sp>
        <p:sp>
          <p:nvSpPr>
            <p:cNvPr id="31" name="TextBox 31"/>
            <p:cNvSpPr txBox="1"/>
            <p:nvPr/>
          </p:nvSpPr>
          <p:spPr>
            <a:xfrm>
              <a:off x="7595997" y="1756410"/>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三种让梯度下降停住的地形</a:t>
              </a:r>
            </a:p>
          </p:txBody>
        </p:sp>
        <p:sp>
          <p:nvSpPr>
            <p:cNvPr id="32" name="Ellipse 32"/>
            <p:cNvSpPr/>
            <p:nvPr/>
          </p:nvSpPr>
          <p:spPr>
            <a:xfrm>
              <a:off x="6478905" y="2078355"/>
              <a:ext cx="192405" cy="192405"/>
            </a:xfrm>
            <a:prstGeom prst="ellipse">
              <a:avLst/>
            </a:prstGeom>
            <a:solidFill>
              <a:srgbClr val="0E7C86"/>
            </a:solidFill>
            <a:ln>
              <a:noFill/>
            </a:ln>
          </p:spPr>
        </p:sp>
        <p:sp>
          <p:nvSpPr>
            <p:cNvPr id="33" name="TextBox 33"/>
            <p:cNvSpPr txBox="1"/>
            <p:nvPr/>
          </p:nvSpPr>
          <p:spPr>
            <a:xfrm>
              <a:off x="6534583" y="21167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4" name="TextBox 34"/>
            <p:cNvSpPr txBox="1"/>
            <p:nvPr/>
          </p:nvSpPr>
          <p:spPr>
            <a:xfrm>
              <a:off x="6759702" y="2090738"/>
              <a:ext cx="451745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平坦区</a:t>
              </a:r>
              <a:r>
                <a:rPr lang="zh-CN" sz="1350" dirty="0">
                  <a:solidFill>
                    <a:srgbClr val="1F2937"/>
                  </a:solidFill>
                  <a:latin typeface="+mn-lt"/>
                  <a:ea typeface="+mn-ea"/>
                  <a:cs typeface="+mn-cs"/>
                </a:rPr>
                <a:t>：∂L/∂w ≈ 0，变化很慢，纯梯度下降几乎不动；</a:t>
              </a:r>
            </a:p>
          </p:txBody>
        </p:sp>
        <p:sp>
          <p:nvSpPr>
            <p:cNvPr id="35" name="Ellipse 35"/>
            <p:cNvSpPr/>
            <p:nvPr/>
          </p:nvSpPr>
          <p:spPr>
            <a:xfrm>
              <a:off x="6478905" y="2380298"/>
              <a:ext cx="192405" cy="192405"/>
            </a:xfrm>
            <a:prstGeom prst="ellipse">
              <a:avLst/>
            </a:prstGeom>
            <a:solidFill>
              <a:srgbClr val="0E7C86"/>
            </a:solidFill>
            <a:ln>
              <a:noFill/>
            </a:ln>
          </p:spPr>
        </p:sp>
        <p:sp>
          <p:nvSpPr>
            <p:cNvPr id="36" name="TextBox 36"/>
            <p:cNvSpPr txBox="1"/>
            <p:nvPr/>
          </p:nvSpPr>
          <p:spPr>
            <a:xfrm>
              <a:off x="6534583" y="24196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7" name="TextBox 37"/>
            <p:cNvSpPr txBox="1"/>
            <p:nvPr/>
          </p:nvSpPr>
          <p:spPr>
            <a:xfrm>
              <a:off x="6759702" y="2392680"/>
              <a:ext cx="4119944"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鞍点</a:t>
              </a:r>
              <a:r>
                <a:rPr lang="zh-CN" sz="1350" dirty="0">
                  <a:solidFill>
                    <a:srgbClr val="1F2937"/>
                  </a:solidFill>
                  <a:latin typeface="+mn-lt"/>
                  <a:ea typeface="+mn-ea"/>
                  <a:cs typeface="+mn-cs"/>
                </a:rPr>
                <a:t>：∂L/∂w = 0 但不是极小值，纯梯度下降会停在这</a:t>
              </a:r>
              <a:br/>
              <a:r>
                <a:rPr lang="zh-CN" sz="1350" dirty="0">
                  <a:solidFill>
                    <a:srgbClr val="1F2937"/>
                  </a:solidFill>
                  <a:latin typeface="+mn-lt"/>
                  <a:ea typeface="+mn-ea"/>
                  <a:cs typeface="+mn-cs"/>
                </a:rPr>
                <a:t>里；</a:t>
              </a:r>
            </a:p>
          </p:txBody>
        </p:sp>
        <p:sp>
          <p:nvSpPr>
            <p:cNvPr id="38" name="Ellipse 38"/>
            <p:cNvSpPr/>
            <p:nvPr/>
          </p:nvSpPr>
          <p:spPr>
            <a:xfrm>
              <a:off x="6478905" y="2940368"/>
              <a:ext cx="192405" cy="192405"/>
            </a:xfrm>
            <a:prstGeom prst="ellipse">
              <a:avLst/>
            </a:prstGeom>
            <a:solidFill>
              <a:srgbClr val="0E7C86"/>
            </a:solidFill>
            <a:ln>
              <a:noFill/>
            </a:ln>
          </p:spPr>
        </p:sp>
        <p:sp>
          <p:nvSpPr>
            <p:cNvPr id="39" name="TextBox 39"/>
            <p:cNvSpPr txBox="1"/>
            <p:nvPr/>
          </p:nvSpPr>
          <p:spPr>
            <a:xfrm>
              <a:off x="6534583" y="297875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0" name="TextBox 40"/>
            <p:cNvSpPr txBox="1"/>
            <p:nvPr/>
          </p:nvSpPr>
          <p:spPr>
            <a:xfrm>
              <a:off x="6759702" y="2952750"/>
              <a:ext cx="39722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局部最优点</a:t>
              </a:r>
              <a:r>
                <a:rPr lang="zh-CN" sz="1350" dirty="0">
                  <a:solidFill>
                    <a:srgbClr val="1F2937"/>
                  </a:solidFill>
                  <a:latin typeface="+mn-lt"/>
                  <a:ea typeface="+mn-ea"/>
                  <a:cs typeface="+mn-cs"/>
                </a:rPr>
                <a:t>：∂L/∂w = 0，纯梯度下降就此结束。</a:t>
              </a:r>
            </a:p>
          </p:txBody>
        </p:sp>
        <p:sp>
          <p:nvSpPr>
            <p:cNvPr id="41" name="TextBox 41"/>
            <p:cNvSpPr txBox="1"/>
            <p:nvPr/>
          </p:nvSpPr>
          <p:spPr>
            <a:xfrm>
              <a:off x="6473190" y="3251359"/>
              <a:ext cx="485128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带动量时，小球滚到这三种地方仍有“惯性”，有机会冲过去继续往下走。</a:t>
              </a:r>
            </a:p>
          </p:txBody>
        </p:sp>
      </p:grpSp>
      <p:grpSp>
        <p:nvGrpSpPr>
          <p:cNvPr id="52" name="c2-graph-2"/>
          <p:cNvGrpSpPr/>
          <p:nvPr/>
        </p:nvGrpSpPr>
        <p:grpSpPr>
          <a:xfrm>
            <a:off x="6349467" y="3815239"/>
            <a:ext cx="5054815" cy="1437322"/>
            <a:chOff x="6349467" y="3815239"/>
            <a:chExt cx="5054815" cy="1437322"/>
          </a:xfrm>
        </p:grpSpPr>
        <p:sp>
          <p:nvSpPr>
            <p:cNvPr id="43" name="Freeform 43"/>
            <p:cNvSpPr/>
            <p:nvPr/>
          </p:nvSpPr>
          <p:spPr>
            <a:xfrm>
              <a:off x="6718935" y="5061585"/>
              <a:ext cx="4590098" cy="9525"/>
            </a:xfrm>
            <a:custGeom>
              <a:avLst/>
              <a:gdLst/>
              <a:ahLst/>
              <a:cxnLst/>
              <a:rect l="l" t="t" r="r" b="b"/>
              <a:pathLst>
                <a:path w="4590098" h="9525">
                  <a:moveTo>
                    <a:pt x="0" y="0"/>
                  </a:moveTo>
                  <a:lnTo>
                    <a:pt x="4590098" y="0"/>
                  </a:lnTo>
                </a:path>
              </a:pathLst>
            </a:custGeom>
            <a:noFill/>
            <a:ln w="17145">
              <a:solidFill>
                <a:srgbClr val="1F2937"/>
              </a:solidFill>
            </a:ln>
          </p:spPr>
        </p:sp>
        <p:sp>
          <p:nvSpPr>
            <p:cNvPr id="44" name="Freeform 44"/>
            <p:cNvSpPr/>
            <p:nvPr/>
          </p:nvSpPr>
          <p:spPr>
            <a:xfrm>
              <a:off x="11309032" y="50139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5" name="Freeform 45"/>
            <p:cNvSpPr/>
            <p:nvPr/>
          </p:nvSpPr>
          <p:spPr>
            <a:xfrm>
              <a:off x="6680835" y="4122420"/>
              <a:ext cx="9525" cy="824865"/>
            </a:xfrm>
            <a:custGeom>
              <a:avLst/>
              <a:gdLst/>
              <a:ahLst/>
              <a:cxnLst/>
              <a:rect l="l" t="t" r="r" b="b"/>
              <a:pathLst>
                <a:path w="9525" h="824865">
                  <a:moveTo>
                    <a:pt x="0" y="824865"/>
                  </a:moveTo>
                  <a:lnTo>
                    <a:pt x="0" y="0"/>
                  </a:lnTo>
                </a:path>
              </a:pathLst>
            </a:custGeom>
            <a:noFill/>
            <a:ln w="17145">
              <a:solidFill>
                <a:srgbClr val="1F2937"/>
              </a:solidFill>
            </a:ln>
          </p:spPr>
        </p:sp>
        <p:sp>
          <p:nvSpPr>
            <p:cNvPr id="46" name="Freeform 46"/>
            <p:cNvSpPr/>
            <p:nvPr/>
          </p:nvSpPr>
          <p:spPr>
            <a:xfrm>
              <a:off x="6633210" y="402717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7" name="Freeform 47"/>
            <p:cNvSpPr/>
            <p:nvPr/>
          </p:nvSpPr>
          <p:spPr>
            <a:xfrm>
              <a:off x="6936105" y="4033838"/>
              <a:ext cx="4251960" cy="881062"/>
            </a:xfrm>
            <a:custGeom>
              <a:avLst/>
              <a:gdLst/>
              <a:ahLst/>
              <a:cxnLst/>
              <a:rect l="l" t="t" r="r" b="b"/>
              <a:pathLst>
                <a:path w="4251960" h="881062">
                  <a:moveTo>
                    <a:pt x="0" y="0"/>
                  </a:moveTo>
                  <a:lnTo>
                    <a:pt x="719138" y="615315"/>
                  </a:lnTo>
                  <a:lnTo>
                    <a:pt x="1476375" y="733425"/>
                  </a:lnTo>
                  <a:lnTo>
                    <a:pt x="2125980" y="674370"/>
                  </a:lnTo>
                  <a:lnTo>
                    <a:pt x="2774632" y="881062"/>
                  </a:lnTo>
                  <a:lnTo>
                    <a:pt x="3531870" y="497205"/>
                  </a:lnTo>
                  <a:lnTo>
                    <a:pt x="4251960" y="637222"/>
                  </a:lnTo>
                </a:path>
              </a:pathLst>
            </a:custGeom>
            <a:noFill/>
            <a:ln w="17145">
              <a:solidFill>
                <a:srgbClr val="1F2937"/>
              </a:solidFill>
            </a:ln>
          </p:spPr>
        </p:sp>
        <p:sp>
          <p:nvSpPr>
            <p:cNvPr id="48" name="Ellipse 48"/>
            <p:cNvSpPr/>
            <p:nvPr/>
          </p:nvSpPr>
          <p:spPr>
            <a:xfrm>
              <a:off x="8976360" y="4622482"/>
              <a:ext cx="171450" cy="171450"/>
            </a:xfrm>
            <a:prstGeom prst="ellipse">
              <a:avLst/>
            </a:prstGeom>
            <a:solidFill>
              <a:srgbClr val="0E7C86"/>
            </a:solidFill>
            <a:ln>
              <a:noFill/>
            </a:ln>
          </p:spPr>
        </p:sp>
        <p:sp>
          <p:nvSpPr>
            <p:cNvPr id="49" name="TextBox 49"/>
            <p:cNvSpPr txBox="1"/>
            <p:nvPr/>
          </p:nvSpPr>
          <p:spPr>
            <a:xfrm>
              <a:off x="6349467" y="3815239"/>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损失</a:t>
              </a:r>
            </a:p>
          </p:txBody>
        </p:sp>
        <p:sp>
          <p:nvSpPr>
            <p:cNvPr id="50" name="TextBox 50"/>
            <p:cNvSpPr txBox="1"/>
            <p:nvPr/>
          </p:nvSpPr>
          <p:spPr>
            <a:xfrm>
              <a:off x="9212830" y="5090636"/>
              <a:ext cx="34621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参数 w</a:t>
              </a:r>
            </a:p>
          </p:txBody>
        </p:sp>
        <p:sp>
          <p:nvSpPr>
            <p:cNvPr id="51" name="TextBox 51"/>
            <p:cNvSpPr txBox="1"/>
            <p:nvPr/>
          </p:nvSpPr>
          <p:spPr>
            <a:xfrm>
              <a:off x="8507184" y="4353401"/>
              <a:ext cx="892632"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靠惯性冲过这个坑</a:t>
              </a:r>
            </a:p>
          </p:txBody>
        </p:sp>
      </p:grpSp>
      <p:grpSp>
        <p:nvGrpSpPr>
          <p:cNvPr id="59" name="takeaway"/>
          <p:cNvGrpSpPr/>
          <p:nvPr/>
        </p:nvGrpSpPr>
        <p:grpSpPr>
          <a:xfrm>
            <a:off x="533400" y="5874068"/>
            <a:ext cx="11125200" cy="488632"/>
            <a:chOff x="533400" y="5874068"/>
            <a:chExt cx="11125200" cy="488632"/>
          </a:xfrm>
        </p:grpSpPr>
        <p:sp>
          <p:nvSpPr>
            <p:cNvPr id="53" name="Rectangle 53"/>
            <p:cNvSpPr/>
            <p:nvPr/>
          </p:nvSpPr>
          <p:spPr>
            <a:xfrm>
              <a:off x="533400" y="5874068"/>
              <a:ext cx="11125200" cy="488632"/>
            </a:xfrm>
            <a:prstGeom prst="roundRect">
              <a:avLst>
                <a:gd name="adj" fmla="val 23392"/>
              </a:avLst>
            </a:prstGeom>
            <a:solidFill>
              <a:srgbClr val="F4F6FB"/>
            </a:solidFill>
            <a:ln>
              <a:noFill/>
            </a:ln>
          </p:spPr>
        </p:sp>
        <p:grpSp>
          <p:nvGrpSpPr>
            <p:cNvPr id="57" name="Group 57"/>
            <p:cNvGrpSpPr/>
            <p:nvPr/>
          </p:nvGrpSpPr>
          <p:grpSpPr>
            <a:xfrm>
              <a:off x="738188" y="6017895"/>
              <a:ext cx="200026" cy="200026"/>
              <a:chOff x="738188" y="6017895"/>
              <a:chExt cx="200026" cy="200026"/>
            </a:xfrm>
          </p:grpSpPr>
          <p:sp>
            <p:nvSpPr>
              <p:cNvPr id="54" name="Freeform 5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5" name="Freeform 5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6" name="Freeform 5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8" name="TextBox 58"/>
            <p:cNvSpPr txBox="1"/>
            <p:nvPr/>
          </p:nvSpPr>
          <p:spPr>
            <a:xfrm>
              <a:off x="1040892" y="6023610"/>
              <a:ext cx="78284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动量不改变梯度的计算，只改变把梯度用到参数上的方式，所以它和任何求梯度的方法都能叠加。</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局部极小：跳出去的四个办法</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4977765" cy="1293495"/>
            <a:chOff x="533400" y="1524000"/>
            <a:chExt cx="4977765" cy="1293495"/>
          </a:xfrm>
        </p:grpSpPr>
        <p:sp>
          <p:nvSpPr>
            <p:cNvPr id="7" name="Rectangle 7"/>
            <p:cNvSpPr/>
            <p:nvPr/>
          </p:nvSpPr>
          <p:spPr>
            <a:xfrm>
              <a:off x="533400" y="1524000"/>
              <a:ext cx="4977765" cy="1293495"/>
            </a:xfrm>
            <a:prstGeom prst="roundRect">
              <a:avLst>
                <a:gd name="adj" fmla="val 10309"/>
              </a:avLst>
            </a:prstGeom>
            <a:solidFill>
              <a:srgbClr val="FFFFFF"/>
            </a:solidFill>
            <a:ln w="14288">
              <a:solidFill>
                <a:srgbClr val="D9DFEA"/>
              </a:solidFill>
            </a:ln>
          </p:spPr>
        </p:sp>
        <p:sp>
          <p:nvSpPr>
            <p:cNvPr id="8" name="Rectangle 8"/>
            <p:cNvSpPr/>
            <p:nvPr/>
          </p:nvSpPr>
          <p:spPr>
            <a:xfrm>
              <a:off x="542925" y="1657350"/>
              <a:ext cx="47625" cy="1026795"/>
            </a:xfrm>
            <a:prstGeom prst="roundRect">
              <a:avLst>
                <a:gd name="adj" fmla="val 50000"/>
              </a:avLst>
            </a:prstGeom>
            <a:solidFill>
              <a:srgbClr val="B42318"/>
            </a:solidFill>
            <a:ln>
              <a:noFill/>
            </a:ln>
          </p:spPr>
        </p:sp>
        <p:sp>
          <p:nvSpPr>
            <p:cNvPr id="9" name="Rectangle 9"/>
            <p:cNvSpPr/>
            <p:nvPr/>
          </p:nvSpPr>
          <p:spPr>
            <a:xfrm>
              <a:off x="775335" y="1727835"/>
              <a:ext cx="494348" cy="257175"/>
            </a:xfrm>
            <a:prstGeom prst="roundRect">
              <a:avLst>
                <a:gd name="adj" fmla="val 50000"/>
              </a:avLst>
            </a:prstGeom>
            <a:solidFill>
              <a:srgbClr val="FDECEA"/>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问题</a:t>
              </a:r>
            </a:p>
          </p:txBody>
        </p:sp>
        <p:sp>
          <p:nvSpPr>
            <p:cNvPr id="11" name="TextBox 11"/>
            <p:cNvSpPr txBox="1"/>
            <p:nvPr/>
          </p:nvSpPr>
          <p:spPr>
            <a:xfrm>
              <a:off x="1376744" y="1767364"/>
              <a:ext cx="345536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可能有多个局部极小，全局最小只有一个</a:t>
              </a:r>
            </a:p>
          </p:txBody>
        </p:sp>
        <p:sp>
          <p:nvSpPr>
            <p:cNvPr id="12" name="TextBox 12"/>
            <p:cNvSpPr txBox="1"/>
            <p:nvPr/>
          </p:nvSpPr>
          <p:spPr>
            <a:xfrm>
              <a:off x="768096" y="2119789"/>
              <a:ext cx="418934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误差曲面上梯度为 0 的点不止一处。梯度下降走到任</a:t>
              </a:r>
              <a:br/>
              <a:r>
                <a:rPr lang="zh-CN" sz="1420" dirty="0">
                  <a:solidFill>
                    <a:srgbClr val="1F2937"/>
                  </a:solidFill>
                  <a:latin typeface="+mn-lt"/>
                  <a:ea typeface="+mn-ea"/>
                  <a:cs typeface="+mn-cs"/>
                </a:rPr>
                <a:t>何一个局部极小就停下来，而我们要的是全局最小。</a:t>
              </a:r>
            </a:p>
          </p:txBody>
        </p:sp>
      </p:grpSp>
      <p:grpSp>
        <p:nvGrpSpPr>
          <p:cNvPr id="19" name="c1-callout-2"/>
          <p:cNvGrpSpPr/>
          <p:nvPr/>
        </p:nvGrpSpPr>
        <p:grpSpPr>
          <a:xfrm>
            <a:off x="533400" y="3002280"/>
            <a:ext cx="4977765" cy="756285"/>
            <a:chOff x="533400" y="3002280"/>
            <a:chExt cx="4977765" cy="756285"/>
          </a:xfrm>
        </p:grpSpPr>
        <p:sp>
          <p:nvSpPr>
            <p:cNvPr id="14" name="Rectangle 14"/>
            <p:cNvSpPr/>
            <p:nvPr/>
          </p:nvSpPr>
          <p:spPr>
            <a:xfrm>
              <a:off x="533400" y="3002280"/>
              <a:ext cx="4977765" cy="756285"/>
            </a:xfrm>
            <a:prstGeom prst="roundRect">
              <a:avLst>
                <a:gd name="adj" fmla="val 15113"/>
              </a:avLst>
            </a:prstGeom>
            <a:solidFill>
              <a:srgbClr val="0E7C86"/>
            </a:solidFill>
            <a:ln>
              <a:noFill/>
            </a:ln>
          </p:spPr>
        </p:sp>
        <p:grpSp>
          <p:nvGrpSpPr>
            <p:cNvPr id="17" name="Group 17"/>
            <p:cNvGrpSpPr/>
            <p:nvPr/>
          </p:nvGrpSpPr>
          <p:grpSpPr>
            <a:xfrm>
              <a:off x="738188" y="3280412"/>
              <a:ext cx="200023" cy="200023"/>
              <a:chOff x="738188" y="3280412"/>
              <a:chExt cx="200023" cy="200023"/>
            </a:xfrm>
          </p:grpSpPr>
          <p:sp>
            <p:nvSpPr>
              <p:cNvPr id="15" name="Freeform 15"/>
              <p:cNvSpPr/>
              <p:nvPr/>
            </p:nvSpPr>
            <p:spPr>
              <a:xfrm>
                <a:off x="738188" y="32804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6" name="Freeform 16"/>
              <p:cNvSpPr/>
              <p:nvPr/>
            </p:nvSpPr>
            <p:spPr>
              <a:xfrm>
                <a:off x="871538" y="33470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8" name="TextBox 18"/>
            <p:cNvSpPr txBox="1"/>
            <p:nvPr/>
          </p:nvSpPr>
          <p:spPr>
            <a:xfrm>
              <a:off x="1040511" y="3150394"/>
              <a:ext cx="381965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四种策略的共同点：都在“确定性地沿梯度走”之</a:t>
              </a:r>
              <a:br/>
              <a:r>
                <a:rPr lang="zh-CN" sz="1420" dirty="0">
                  <a:solidFill>
                    <a:srgbClr val="FFFFFF"/>
                  </a:solidFill>
                  <a:latin typeface="+mn-lt"/>
                  <a:ea typeface="+mn-ea"/>
                  <a:cs typeface="+mn-cs"/>
                </a:rPr>
                <a:t>外，额外引入一点随机或多样性。</a:t>
              </a:r>
            </a:p>
          </p:txBody>
        </p:sp>
      </p:grpSp>
      <p:grpSp>
        <p:nvGrpSpPr>
          <p:cNvPr id="34" name="c1-table-3"/>
          <p:cNvGrpSpPr/>
          <p:nvPr/>
        </p:nvGrpSpPr>
        <p:grpSpPr>
          <a:xfrm>
            <a:off x="533400" y="3944302"/>
            <a:ext cx="4977765" cy="1720215"/>
            <a:chOff x="533400" y="3944302"/>
            <a:chExt cx="4977765" cy="1720215"/>
          </a:xfrm>
        </p:grpSpPr>
        <p:sp>
          <p:nvSpPr>
            <p:cNvPr id="20" name="Rectangle 20"/>
            <p:cNvSpPr/>
            <p:nvPr/>
          </p:nvSpPr>
          <p:spPr>
            <a:xfrm>
              <a:off x="533400" y="3944302"/>
              <a:ext cx="4977765" cy="430530"/>
            </a:xfrm>
            <a:prstGeom prst="rect">
              <a:avLst/>
            </a:prstGeom>
            <a:solidFill>
              <a:srgbClr val="0E7C86"/>
            </a:solidFill>
            <a:ln>
              <a:noFill/>
            </a:ln>
          </p:spPr>
        </p:sp>
        <p:sp>
          <p:nvSpPr>
            <p:cNvPr id="21" name="TextBox 21"/>
            <p:cNvSpPr txBox="1"/>
            <p:nvPr/>
          </p:nvSpPr>
          <p:spPr>
            <a:xfrm>
              <a:off x="1510665" y="407574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现象</a:t>
              </a:r>
            </a:p>
          </p:txBody>
        </p:sp>
        <p:sp>
          <p:nvSpPr>
            <p:cNvPr id="22" name="TextBox 22"/>
            <p:cNvSpPr txBox="1"/>
            <p:nvPr/>
          </p:nvSpPr>
          <p:spPr>
            <a:xfrm>
              <a:off x="3999548" y="407574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判断</a:t>
              </a:r>
            </a:p>
          </p:txBody>
        </p:sp>
        <p:sp>
          <p:nvSpPr>
            <p:cNvPr id="23" name="TextBox 23"/>
            <p:cNvSpPr txBox="1"/>
            <p:nvPr/>
          </p:nvSpPr>
          <p:spPr>
            <a:xfrm>
              <a:off x="638746" y="4505325"/>
              <a:ext cx="146608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多次重跑结果差异大</a:t>
              </a:r>
            </a:p>
          </p:txBody>
        </p:sp>
        <p:sp>
          <p:nvSpPr>
            <p:cNvPr id="24" name="TextBox 24"/>
            <p:cNvSpPr txBox="1"/>
            <p:nvPr/>
          </p:nvSpPr>
          <p:spPr>
            <a:xfrm>
              <a:off x="2928557" y="4505325"/>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多半卡在不同局部极小</a:t>
              </a:r>
            </a:p>
          </p:txBody>
        </p:sp>
        <p:sp>
          <p:nvSpPr>
            <p:cNvPr id="25" name="Rectangle 25"/>
            <p:cNvSpPr/>
            <p:nvPr/>
          </p:nvSpPr>
          <p:spPr>
            <a:xfrm>
              <a:off x="533400" y="4799648"/>
              <a:ext cx="4977765" cy="9525"/>
            </a:xfrm>
            <a:prstGeom prst="rect">
              <a:avLst/>
            </a:prstGeom>
            <a:solidFill>
              <a:srgbClr val="D9DFEA"/>
            </a:solidFill>
            <a:ln>
              <a:noFill/>
            </a:ln>
          </p:spPr>
        </p:sp>
        <p:sp>
          <p:nvSpPr>
            <p:cNvPr id="26" name="Rectangle 26"/>
            <p:cNvSpPr/>
            <p:nvPr/>
          </p:nvSpPr>
          <p:spPr>
            <a:xfrm>
              <a:off x="533400" y="4804410"/>
              <a:ext cx="4977765" cy="430530"/>
            </a:xfrm>
            <a:prstGeom prst="rect">
              <a:avLst/>
            </a:prstGeom>
            <a:solidFill>
              <a:srgbClr val="F4F6FB"/>
            </a:solidFill>
            <a:ln>
              <a:noFill/>
            </a:ln>
          </p:spPr>
        </p:sp>
        <p:sp>
          <p:nvSpPr>
            <p:cNvPr id="27" name="TextBox 27"/>
            <p:cNvSpPr txBox="1"/>
            <p:nvPr/>
          </p:nvSpPr>
          <p:spPr>
            <a:xfrm>
              <a:off x="638746" y="4935855"/>
              <a:ext cx="130454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训练误差长期不降</a:t>
              </a:r>
            </a:p>
          </p:txBody>
        </p:sp>
        <p:sp>
          <p:nvSpPr>
            <p:cNvPr id="28" name="TextBox 28"/>
            <p:cNvSpPr txBox="1"/>
            <p:nvPr/>
          </p:nvSpPr>
          <p:spPr>
            <a:xfrm>
              <a:off x="2928557" y="4935855"/>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可能在鞍点或平坦区</a:t>
              </a:r>
            </a:p>
          </p:txBody>
        </p:sp>
        <p:sp>
          <p:nvSpPr>
            <p:cNvPr id="29" name="Rectangle 29"/>
            <p:cNvSpPr/>
            <p:nvPr/>
          </p:nvSpPr>
          <p:spPr>
            <a:xfrm>
              <a:off x="533400" y="5230178"/>
              <a:ext cx="4977765" cy="9525"/>
            </a:xfrm>
            <a:prstGeom prst="rect">
              <a:avLst/>
            </a:prstGeom>
            <a:solidFill>
              <a:srgbClr val="D9DFEA"/>
            </a:solidFill>
            <a:ln>
              <a:noFill/>
            </a:ln>
          </p:spPr>
        </p:sp>
        <p:sp>
          <p:nvSpPr>
            <p:cNvPr id="30" name="TextBox 30"/>
            <p:cNvSpPr txBox="1"/>
            <p:nvPr/>
          </p:nvSpPr>
          <p:spPr>
            <a:xfrm>
              <a:off x="638746" y="5365432"/>
              <a:ext cx="981456"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损失剧烈震荡</a:t>
              </a:r>
            </a:p>
          </p:txBody>
        </p:sp>
        <p:sp>
          <p:nvSpPr>
            <p:cNvPr id="31" name="TextBox 31"/>
            <p:cNvSpPr txBox="1"/>
            <p:nvPr/>
          </p:nvSpPr>
          <p:spPr>
            <a:xfrm>
              <a:off x="2928557" y="536543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学习率太大，与局部极小无关</a:t>
              </a:r>
            </a:p>
          </p:txBody>
        </p:sp>
        <p:sp>
          <p:nvSpPr>
            <p:cNvPr id="32" name="Rectangle 32"/>
            <p:cNvSpPr/>
            <p:nvPr/>
          </p:nvSpPr>
          <p:spPr>
            <a:xfrm>
              <a:off x="533400" y="3944302"/>
              <a:ext cx="4977765" cy="1720215"/>
            </a:xfrm>
            <a:prstGeom prst="rect">
              <a:avLst/>
            </a:prstGeom>
            <a:noFill/>
            <a:ln w="14288">
              <a:solidFill>
                <a:srgbClr val="D9DFEA"/>
              </a:solidFill>
            </a:ln>
          </p:spPr>
        </p:sp>
        <p:sp>
          <p:nvSpPr>
            <p:cNvPr id="33" name="Rectangle 33"/>
            <p:cNvSpPr/>
            <p:nvPr/>
          </p:nvSpPr>
          <p:spPr>
            <a:xfrm>
              <a:off x="2818448" y="3944302"/>
              <a:ext cx="9525" cy="1720215"/>
            </a:xfrm>
            <a:prstGeom prst="rect">
              <a:avLst/>
            </a:prstGeom>
            <a:solidFill>
              <a:srgbClr val="D9DFEA"/>
            </a:solidFill>
            <a:ln>
              <a:noFill/>
            </a:ln>
          </p:spPr>
        </p:sp>
      </p:grpSp>
      <p:grpSp>
        <p:nvGrpSpPr>
          <p:cNvPr id="52" name="c2-card-1"/>
          <p:cNvGrpSpPr/>
          <p:nvPr/>
        </p:nvGrpSpPr>
        <p:grpSpPr>
          <a:xfrm>
            <a:off x="5815965" y="1524000"/>
            <a:ext cx="5842635" cy="4140518"/>
            <a:chOff x="5815965" y="1524000"/>
            <a:chExt cx="5842635" cy="4140518"/>
          </a:xfrm>
        </p:grpSpPr>
        <p:sp>
          <p:nvSpPr>
            <p:cNvPr id="35" name="Rectangle 35"/>
            <p:cNvSpPr/>
            <p:nvPr/>
          </p:nvSpPr>
          <p:spPr>
            <a:xfrm>
              <a:off x="5815965" y="1524000"/>
              <a:ext cx="5842635" cy="4140518"/>
            </a:xfrm>
            <a:prstGeom prst="roundRect">
              <a:avLst>
                <a:gd name="adj" fmla="val 3221"/>
              </a:avLst>
            </a:prstGeom>
            <a:solidFill>
              <a:srgbClr val="FFFFFF"/>
            </a:solidFill>
            <a:ln w="14288">
              <a:solidFill>
                <a:srgbClr val="D9DFEA"/>
              </a:solidFill>
            </a:ln>
          </p:spPr>
        </p:sp>
        <p:sp>
          <p:nvSpPr>
            <p:cNvPr id="36" name="Rectangle 36"/>
            <p:cNvSpPr/>
            <p:nvPr/>
          </p:nvSpPr>
          <p:spPr>
            <a:xfrm>
              <a:off x="5825490" y="1657350"/>
              <a:ext cx="47625" cy="3873818"/>
            </a:xfrm>
            <a:prstGeom prst="roundRect">
              <a:avLst>
                <a:gd name="adj" fmla="val 50000"/>
              </a:avLst>
            </a:prstGeom>
            <a:solidFill>
              <a:srgbClr val="0E7C86"/>
            </a:solidFill>
            <a:ln>
              <a:noFill/>
            </a:ln>
          </p:spPr>
        </p:sp>
        <p:sp>
          <p:nvSpPr>
            <p:cNvPr id="37" name="Rectangle 37"/>
            <p:cNvSpPr/>
            <p:nvPr/>
          </p:nvSpPr>
          <p:spPr>
            <a:xfrm>
              <a:off x="6057900" y="1727835"/>
              <a:ext cx="494348" cy="257175"/>
            </a:xfrm>
            <a:prstGeom prst="roundRect">
              <a:avLst>
                <a:gd name="adj" fmla="val 50000"/>
              </a:avLst>
            </a:prstGeom>
            <a:solidFill>
              <a:srgbClr val="E2F3F4"/>
            </a:solidFill>
            <a:ln>
              <a:noFill/>
            </a:ln>
          </p:spPr>
        </p:sp>
        <p:sp>
          <p:nvSpPr>
            <p:cNvPr id="38" name="TextBox 38"/>
            <p:cNvSpPr txBox="1"/>
            <p:nvPr/>
          </p:nvSpPr>
          <p:spPr>
            <a:xfrm>
              <a:off x="6148108" y="176355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策略</a:t>
              </a:r>
            </a:p>
          </p:txBody>
        </p:sp>
        <p:sp>
          <p:nvSpPr>
            <p:cNvPr id="39" name="TextBox 39"/>
            <p:cNvSpPr txBox="1"/>
            <p:nvPr/>
          </p:nvSpPr>
          <p:spPr>
            <a:xfrm>
              <a:off x="6658356"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跳出局部极小的四种做法</a:t>
              </a:r>
            </a:p>
          </p:txBody>
        </p:sp>
        <p:sp>
          <p:nvSpPr>
            <p:cNvPr id="40" name="Ellipse 40"/>
            <p:cNvSpPr/>
            <p:nvPr/>
          </p:nvSpPr>
          <p:spPr>
            <a:xfrm>
              <a:off x="6057900" y="2106930"/>
              <a:ext cx="201930" cy="201930"/>
            </a:xfrm>
            <a:prstGeom prst="ellipse">
              <a:avLst/>
            </a:prstGeom>
            <a:solidFill>
              <a:srgbClr val="0E7C86"/>
            </a:solidFill>
            <a:ln>
              <a:noFill/>
            </a:ln>
          </p:spPr>
        </p:sp>
        <p:sp>
          <p:nvSpPr>
            <p:cNvPr id="41" name="TextBox 41"/>
            <p:cNvSpPr txBox="1"/>
            <p:nvPr/>
          </p:nvSpPr>
          <p:spPr>
            <a:xfrm>
              <a:off x="6116245"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42" name="TextBox 42"/>
            <p:cNvSpPr txBox="1"/>
            <p:nvPr/>
          </p:nvSpPr>
          <p:spPr>
            <a:xfrm>
              <a:off x="6347841" y="2119789"/>
              <a:ext cx="488365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多组不同的初始参数</a:t>
              </a:r>
              <a:r>
                <a:rPr lang="zh-CN" sz="1420" dirty="0">
                  <a:solidFill>
                    <a:srgbClr val="1F2937"/>
                  </a:solidFill>
                  <a:latin typeface="+mn-lt"/>
                  <a:ea typeface="+mn-ea"/>
                  <a:cs typeface="+mn-cs"/>
                </a:rPr>
                <a:t>分别优化神经网络，选取误差最小的解作</a:t>
              </a:r>
              <a:br/>
              <a:r>
                <a:rPr lang="zh-CN" sz="1420" dirty="0">
                  <a:solidFill>
                    <a:srgbClr val="1F2937"/>
                  </a:solidFill>
                  <a:latin typeface="+mn-lt"/>
                  <a:ea typeface="+mn-ea"/>
                  <a:cs typeface="+mn-cs"/>
                </a:rPr>
                <a:t>为最终参数。</a:t>
              </a:r>
            </a:p>
          </p:txBody>
        </p:sp>
        <p:sp>
          <p:nvSpPr>
            <p:cNvPr id="43" name="Ellipse 43"/>
            <p:cNvSpPr/>
            <p:nvPr/>
          </p:nvSpPr>
          <p:spPr>
            <a:xfrm>
              <a:off x="6057900" y="2698432"/>
              <a:ext cx="201930" cy="201930"/>
            </a:xfrm>
            <a:prstGeom prst="ellipse">
              <a:avLst/>
            </a:prstGeom>
            <a:solidFill>
              <a:srgbClr val="0E7C86"/>
            </a:solidFill>
            <a:ln>
              <a:noFill/>
            </a:ln>
          </p:spPr>
        </p:sp>
        <p:sp>
          <p:nvSpPr>
            <p:cNvPr id="44" name="TextBox 44"/>
            <p:cNvSpPr txBox="1"/>
            <p:nvPr/>
          </p:nvSpPr>
          <p:spPr>
            <a:xfrm>
              <a:off x="6116245" y="27387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45" name="TextBox 45"/>
            <p:cNvSpPr txBox="1"/>
            <p:nvPr/>
          </p:nvSpPr>
          <p:spPr>
            <a:xfrm>
              <a:off x="6347841" y="2711291"/>
              <a:ext cx="488365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模拟退火</a:t>
              </a:r>
              <a:r>
                <a:rPr lang="zh-CN" sz="1420" dirty="0">
                  <a:solidFill>
                    <a:srgbClr val="1F2937"/>
                  </a:solidFill>
                  <a:latin typeface="+mn-lt"/>
                  <a:ea typeface="+mn-ea"/>
                  <a:cs typeface="+mn-cs"/>
                </a:rPr>
                <a:t>［Aarts and Korst, 1989］：每一步都以一定的概</a:t>
              </a:r>
              <a:br/>
              <a:r>
                <a:rPr lang="zh-CN" sz="1420" dirty="0">
                  <a:solidFill>
                    <a:srgbClr val="1F2937"/>
                  </a:solidFill>
                  <a:latin typeface="+mn-lt"/>
                  <a:ea typeface="+mn-ea"/>
                  <a:cs typeface="+mn-cs"/>
                </a:rPr>
                <a:t>率接受比当前解更差的结果，从而有助于跳出局部极小；接受</a:t>
              </a:r>
              <a:br/>
              <a:r>
                <a:rPr lang="zh-CN" sz="1420" dirty="0">
                  <a:solidFill>
                    <a:srgbClr val="1F2937"/>
                  </a:solidFill>
                  <a:latin typeface="+mn-lt"/>
                  <a:ea typeface="+mn-ea"/>
                  <a:cs typeface="+mn-cs"/>
                </a:rPr>
                <a:t>概率随迭代逐渐降低。</a:t>
              </a:r>
            </a:p>
          </p:txBody>
        </p:sp>
        <p:sp>
          <p:nvSpPr>
            <p:cNvPr id="46" name="Ellipse 46"/>
            <p:cNvSpPr/>
            <p:nvPr/>
          </p:nvSpPr>
          <p:spPr>
            <a:xfrm>
              <a:off x="6057900" y="3561398"/>
              <a:ext cx="201930" cy="201930"/>
            </a:xfrm>
            <a:prstGeom prst="ellipse">
              <a:avLst/>
            </a:prstGeom>
            <a:solidFill>
              <a:srgbClr val="0E7C86"/>
            </a:solidFill>
            <a:ln>
              <a:noFill/>
            </a:ln>
          </p:spPr>
        </p:sp>
        <p:sp>
          <p:nvSpPr>
            <p:cNvPr id="47" name="TextBox 47"/>
            <p:cNvSpPr txBox="1"/>
            <p:nvPr/>
          </p:nvSpPr>
          <p:spPr>
            <a:xfrm>
              <a:off x="6116245" y="360173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48" name="TextBox 48"/>
            <p:cNvSpPr txBox="1"/>
            <p:nvPr/>
          </p:nvSpPr>
          <p:spPr>
            <a:xfrm>
              <a:off x="6347841" y="3574256"/>
              <a:ext cx="488365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随机梯度下降</a:t>
              </a:r>
              <a:r>
                <a:rPr lang="zh-CN" sz="1420" dirty="0">
                  <a:solidFill>
                    <a:srgbClr val="1F2937"/>
                  </a:solidFill>
                  <a:latin typeface="+mn-lt"/>
                  <a:ea typeface="+mn-ea"/>
                  <a:cs typeface="+mn-cs"/>
                </a:rPr>
                <a:t>：与标准梯度下降法精确计算梯度不同，随机梯</a:t>
              </a:r>
              <a:br/>
              <a:r>
                <a:rPr lang="zh-CN" sz="1420" dirty="0">
                  <a:solidFill>
                    <a:srgbClr val="1F2937"/>
                  </a:solidFill>
                  <a:latin typeface="+mn-lt"/>
                  <a:ea typeface="+mn-ea"/>
                  <a:cs typeface="+mn-cs"/>
                </a:rPr>
                <a:t>度下降法在计算梯度时加入了随机因素，即使陷入局部极小，</a:t>
              </a:r>
              <a:br/>
              <a:r>
                <a:rPr lang="zh-CN" sz="1420" dirty="0">
                  <a:solidFill>
                    <a:srgbClr val="1F2937"/>
                  </a:solidFill>
                  <a:latin typeface="+mn-lt"/>
                  <a:ea typeface="+mn-ea"/>
                  <a:cs typeface="+mn-cs"/>
                </a:rPr>
                <a:t>它算出的梯度仍可能不为零。</a:t>
              </a:r>
            </a:p>
          </p:txBody>
        </p:sp>
        <p:sp>
          <p:nvSpPr>
            <p:cNvPr id="49" name="Ellipse 49"/>
            <p:cNvSpPr/>
            <p:nvPr/>
          </p:nvSpPr>
          <p:spPr>
            <a:xfrm>
              <a:off x="6057900" y="4424362"/>
              <a:ext cx="201930" cy="201930"/>
            </a:xfrm>
            <a:prstGeom prst="ellipse">
              <a:avLst/>
            </a:prstGeom>
            <a:solidFill>
              <a:srgbClr val="0E7C86"/>
            </a:solidFill>
            <a:ln>
              <a:noFill/>
            </a:ln>
          </p:spPr>
        </p:sp>
        <p:sp>
          <p:nvSpPr>
            <p:cNvPr id="50" name="TextBox 50"/>
            <p:cNvSpPr txBox="1"/>
            <p:nvPr/>
          </p:nvSpPr>
          <p:spPr>
            <a:xfrm>
              <a:off x="6116245" y="446470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51" name="TextBox 51"/>
            <p:cNvSpPr txBox="1"/>
            <p:nvPr/>
          </p:nvSpPr>
          <p:spPr>
            <a:xfrm>
              <a:off x="6347841" y="4437221"/>
              <a:ext cx="4739386"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遗传算法</a:t>
              </a:r>
              <a:r>
                <a:rPr lang="zh-CN" sz="1420" dirty="0">
                  <a:solidFill>
                    <a:srgbClr val="1F2937"/>
                  </a:solidFill>
                  <a:latin typeface="+mn-lt"/>
                  <a:ea typeface="+mn-ea"/>
                  <a:cs typeface="+mn-cs"/>
                </a:rPr>
                <a:t>［Goldberg, 1989］：也常用来训练神经网络以更</a:t>
              </a:r>
              <a:br/>
              <a:r>
                <a:rPr lang="zh-CN" sz="1420" dirty="0">
                  <a:solidFill>
                    <a:srgbClr val="1F2937"/>
                  </a:solidFill>
                  <a:latin typeface="+mn-lt"/>
                  <a:ea typeface="+mn-ea"/>
                  <a:cs typeface="+mn-cs"/>
                </a:rPr>
                <a:t>好地逼近全局极小。</a:t>
              </a:r>
            </a:p>
          </p:txBody>
        </p:sp>
      </p:grpSp>
      <p:grpSp>
        <p:nvGrpSpPr>
          <p:cNvPr id="59" name="takeaway"/>
          <p:cNvGrpSpPr/>
          <p:nvPr/>
        </p:nvGrpSpPr>
        <p:grpSpPr>
          <a:xfrm>
            <a:off x="533400" y="5844540"/>
            <a:ext cx="11125200" cy="518160"/>
            <a:chOff x="533400" y="5844540"/>
            <a:chExt cx="11125200" cy="518160"/>
          </a:xfrm>
        </p:grpSpPr>
        <p:sp>
          <p:nvSpPr>
            <p:cNvPr id="53" name="Rectangle 53"/>
            <p:cNvSpPr/>
            <p:nvPr/>
          </p:nvSpPr>
          <p:spPr>
            <a:xfrm>
              <a:off x="533400" y="5844540"/>
              <a:ext cx="11125200" cy="518160"/>
            </a:xfrm>
            <a:prstGeom prst="roundRect">
              <a:avLst>
                <a:gd name="adj" fmla="val 22059"/>
              </a:avLst>
            </a:prstGeom>
            <a:solidFill>
              <a:srgbClr val="FDECEA"/>
            </a:solidFill>
            <a:ln>
              <a:noFill/>
            </a:ln>
          </p:spPr>
        </p:sp>
        <p:grpSp>
          <p:nvGrpSpPr>
            <p:cNvPr id="57" name="Group 57"/>
            <p:cNvGrpSpPr/>
            <p:nvPr/>
          </p:nvGrpSpPr>
          <p:grpSpPr>
            <a:xfrm>
              <a:off x="726129" y="5999916"/>
              <a:ext cx="224134" cy="192560"/>
              <a:chOff x="726129" y="5999916"/>
              <a:chExt cx="224134" cy="192560"/>
            </a:xfrm>
          </p:grpSpPr>
          <p:sp>
            <p:nvSpPr>
              <p:cNvPr id="54" name="Freeform 54"/>
              <p:cNvSpPr/>
              <p:nvPr/>
            </p:nvSpPr>
            <p:spPr>
              <a:xfrm>
                <a:off x="838200" y="607028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5" name="Freeform 55"/>
              <p:cNvSpPr/>
              <p:nvPr/>
            </p:nvSpPr>
            <p:spPr>
              <a:xfrm>
                <a:off x="726129" y="599991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6" name="Freeform 56"/>
              <p:cNvSpPr/>
              <p:nvPr/>
            </p:nvSpPr>
            <p:spPr>
              <a:xfrm>
                <a:off x="838200" y="614807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8" name="TextBox 58"/>
            <p:cNvSpPr txBox="1"/>
            <p:nvPr/>
          </p:nvSpPr>
          <p:spPr>
            <a:xfrm>
              <a:off x="1040511" y="6004084"/>
              <a:ext cx="7718242" cy="278702"/>
            </a:xfrm>
            <a:prstGeom prst="rect">
              <a:avLst/>
            </a:prstGeom>
            <a:noFill/>
            <a:ln>
              <a:noFill/>
            </a:ln>
          </p:spPr>
          <p:txBody>
            <a:bodyPr wrap="none" lIns="0" tIns="0" rIns="0" bIns="0" anchor="t" anchorCtr="0">
              <a:spAutoFit/>
            </a:bodyPr>
            <a:lstStyle/>
            <a:p>
              <a:pPr algn="l"/>
              <a:r>
                <a:rPr lang="zh-CN" sz="1420" dirty="0">
                  <a:solidFill>
                    <a:srgbClr val="B42318"/>
                  </a:solidFill>
                  <a:latin typeface="+mn-lt"/>
                  <a:ea typeface="+mn-ea"/>
                  <a:cs typeface="+mn-cs"/>
                </a:rPr>
                <a:t>这四种做法都是启发式的，没有一个能保证找到全局最小；工程上通常只用第 1 和第 3 种。</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学习还是记忆：泛化能力</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1163955"/>
            <a:chOff x="533400" y="1524000"/>
            <a:chExt cx="5626418" cy="1163955"/>
          </a:xfrm>
        </p:grpSpPr>
        <p:sp>
          <p:nvSpPr>
            <p:cNvPr id="7" name="Rectangle 7"/>
            <p:cNvSpPr/>
            <p:nvPr/>
          </p:nvSpPr>
          <p:spPr>
            <a:xfrm>
              <a:off x="533400" y="1524000"/>
              <a:ext cx="5626418" cy="1163955"/>
            </a:xfrm>
            <a:prstGeom prst="roundRect">
              <a:avLst>
                <a:gd name="adj" fmla="val 11457"/>
              </a:avLst>
            </a:prstGeom>
            <a:solidFill>
              <a:srgbClr val="FFFFFF"/>
            </a:solidFill>
            <a:ln w="14288">
              <a:solidFill>
                <a:srgbClr val="D9DFEA"/>
              </a:solidFill>
            </a:ln>
          </p:spPr>
        </p:sp>
        <p:sp>
          <p:nvSpPr>
            <p:cNvPr id="8" name="Rectangle 8"/>
            <p:cNvSpPr/>
            <p:nvPr/>
          </p:nvSpPr>
          <p:spPr>
            <a:xfrm>
              <a:off x="542925" y="1657350"/>
              <a:ext cx="47625" cy="897255"/>
            </a:xfrm>
            <a:prstGeom prst="roundRect">
              <a:avLst>
                <a:gd name="adj" fmla="val 50000"/>
              </a:avLst>
            </a:prstGeom>
            <a:solidFill>
              <a:srgbClr val="0E7C86"/>
            </a:solidFill>
            <a:ln>
              <a:noFill/>
            </a:ln>
          </p:spPr>
        </p:sp>
        <p:sp>
          <p:nvSpPr>
            <p:cNvPr id="9" name="Rectangle 9"/>
            <p:cNvSpPr/>
            <p:nvPr/>
          </p:nvSpPr>
          <p:spPr>
            <a:xfrm>
              <a:off x="752475" y="1704975"/>
              <a:ext cx="458152" cy="238125"/>
            </a:xfrm>
            <a:prstGeom prst="roundRect">
              <a:avLst>
                <a:gd name="adj" fmla="val 50000"/>
              </a:avLst>
            </a:prstGeom>
            <a:solidFill>
              <a:srgbClr val="E2F3F4"/>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1" name="TextBox 11"/>
            <p:cNvSpPr txBox="1"/>
            <p:nvPr/>
          </p:nvSpPr>
          <p:spPr>
            <a:xfrm>
              <a:off x="1318450" y="1744504"/>
              <a:ext cx="201394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泛化能力 generalization</a:t>
              </a:r>
            </a:p>
          </p:txBody>
        </p:sp>
        <p:sp>
          <p:nvSpPr>
            <p:cNvPr id="12" name="TextBox 12"/>
            <p:cNvSpPr txBox="1"/>
            <p:nvPr/>
          </p:nvSpPr>
          <p:spPr>
            <a:xfrm>
              <a:off x="745998" y="2061686"/>
              <a:ext cx="50100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学习过的模型，从训练过的数据归纳到新的测试集上，效果如何。</a:t>
              </a:r>
            </a:p>
          </p:txBody>
        </p:sp>
        <p:sp>
          <p:nvSpPr>
            <p:cNvPr id="13" name="TextBox 13"/>
            <p:cNvSpPr txBox="1"/>
            <p:nvPr/>
          </p:nvSpPr>
          <p:spPr>
            <a:xfrm>
              <a:off x="747141" y="2342198"/>
              <a:ext cx="532546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 xml:space="preserve">训练好的神经网络必须能成功地对 </a:t>
              </a:r>
              <a:r>
                <a:rPr lang="zh-CN" sz="1050" b="1" dirty="0">
                  <a:solidFill>
                    <a:srgbClr val="C2410C"/>
                  </a:solidFill>
                  <a:latin typeface="+mn-lt"/>
                  <a:ea typeface="+mn-ea"/>
                  <a:cs typeface="+mn-cs"/>
                </a:rPr>
                <a:t>未见到过的数据</a:t>
              </a:r>
              <a:r>
                <a:rPr lang="zh-CN" sz="1050" dirty="0">
                  <a:solidFill>
                    <a:srgbClr val="5B6475"/>
                  </a:solidFill>
                  <a:latin typeface="+mn-lt"/>
                  <a:ea typeface="+mn-ea"/>
                  <a:cs typeface="+mn-cs"/>
                </a:rPr>
                <a:t xml:space="preserve"> 进行分类，而不只是背下训练集。</a:t>
              </a:r>
            </a:p>
          </p:txBody>
        </p:sp>
      </p:grpSp>
      <p:grpSp>
        <p:nvGrpSpPr>
          <p:cNvPr id="35" name="c1-compare-2"/>
          <p:cNvGrpSpPr/>
          <p:nvPr/>
        </p:nvGrpSpPr>
        <p:grpSpPr>
          <a:xfrm>
            <a:off x="533400" y="2852738"/>
            <a:ext cx="5627370" cy="1696402"/>
            <a:chOff x="533400" y="2852738"/>
            <a:chExt cx="5627370" cy="1696402"/>
          </a:xfrm>
        </p:grpSpPr>
        <p:sp>
          <p:nvSpPr>
            <p:cNvPr id="15" name="Rectangle 15"/>
            <p:cNvSpPr/>
            <p:nvPr/>
          </p:nvSpPr>
          <p:spPr>
            <a:xfrm>
              <a:off x="533400" y="2852738"/>
              <a:ext cx="2604135" cy="1696402"/>
            </a:xfrm>
            <a:prstGeom prst="roundRect">
              <a:avLst>
                <a:gd name="adj" fmla="val 7861"/>
              </a:avLst>
            </a:prstGeom>
            <a:solidFill>
              <a:srgbClr val="FFFFFF"/>
            </a:solidFill>
            <a:ln w="14288">
              <a:solidFill>
                <a:srgbClr val="D9DFEA"/>
              </a:solidFill>
            </a:ln>
          </p:spPr>
        </p:sp>
        <p:sp>
          <p:nvSpPr>
            <p:cNvPr id="16" name="Rectangle 16"/>
            <p:cNvSpPr/>
            <p:nvPr/>
          </p:nvSpPr>
          <p:spPr>
            <a:xfrm>
              <a:off x="542925" y="2986088"/>
              <a:ext cx="47625" cy="1429702"/>
            </a:xfrm>
            <a:prstGeom prst="roundRect">
              <a:avLst>
                <a:gd name="adj" fmla="val 50000"/>
              </a:avLst>
            </a:prstGeom>
            <a:solidFill>
              <a:srgbClr val="14A38B"/>
            </a:solidFill>
            <a:ln>
              <a:noFill/>
            </a:ln>
          </p:spPr>
        </p:sp>
        <p:sp>
          <p:nvSpPr>
            <p:cNvPr id="17" name="TextBox 17"/>
            <p:cNvSpPr txBox="1"/>
            <p:nvPr/>
          </p:nvSpPr>
          <p:spPr>
            <a:xfrm>
              <a:off x="745998" y="3054191"/>
              <a:ext cx="146211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好的泛化 learning</a:t>
              </a:r>
            </a:p>
          </p:txBody>
        </p:sp>
        <p:sp>
          <p:nvSpPr>
            <p:cNvPr id="18" name="Ellipse 18"/>
            <p:cNvSpPr/>
            <p:nvPr/>
          </p:nvSpPr>
          <p:spPr>
            <a:xfrm>
              <a:off x="762000" y="3408045"/>
              <a:ext cx="57150" cy="57150"/>
            </a:xfrm>
            <a:prstGeom prst="ellipse">
              <a:avLst/>
            </a:prstGeom>
            <a:solidFill>
              <a:srgbClr val="0E7C86"/>
            </a:solidFill>
            <a:ln>
              <a:noFill/>
            </a:ln>
          </p:spPr>
        </p:sp>
        <p:sp>
          <p:nvSpPr>
            <p:cNvPr id="19" name="TextBox 19"/>
            <p:cNvSpPr txBox="1"/>
            <p:nvPr/>
          </p:nvSpPr>
          <p:spPr>
            <a:xfrm>
              <a:off x="917448" y="3355181"/>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边界平滑，贴着概念的真</a:t>
              </a:r>
              <a:br/>
              <a:r>
                <a:rPr lang="zh-CN" sz="1280" dirty="0">
                  <a:solidFill>
                    <a:srgbClr val="1F2937"/>
                  </a:solidFill>
                  <a:latin typeface="+mn-lt"/>
                  <a:ea typeface="+mn-ea"/>
                  <a:cs typeface="+mn-cs"/>
                </a:rPr>
                <a:t>实形状</a:t>
              </a:r>
            </a:p>
          </p:txBody>
        </p:sp>
        <p:sp>
          <p:nvSpPr>
            <p:cNvPr id="20" name="Ellipse 20"/>
            <p:cNvSpPr/>
            <p:nvPr/>
          </p:nvSpPr>
          <p:spPr>
            <a:xfrm>
              <a:off x="762000" y="3935730"/>
              <a:ext cx="57150" cy="57150"/>
            </a:xfrm>
            <a:prstGeom prst="ellipse">
              <a:avLst/>
            </a:prstGeom>
            <a:solidFill>
              <a:srgbClr val="0E7C86"/>
            </a:solidFill>
            <a:ln>
              <a:noFill/>
            </a:ln>
          </p:spPr>
        </p:sp>
        <p:sp>
          <p:nvSpPr>
            <p:cNvPr id="21" name="TextBox 21"/>
            <p:cNvSpPr txBox="1"/>
            <p:nvPr/>
          </p:nvSpPr>
          <p:spPr>
            <a:xfrm>
              <a:off x="917448" y="3883819"/>
              <a:ext cx="102098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训练误差为 0</a:t>
              </a:r>
            </a:p>
          </p:txBody>
        </p:sp>
        <p:sp>
          <p:nvSpPr>
            <p:cNvPr id="22" name="Ellipse 22"/>
            <p:cNvSpPr/>
            <p:nvPr/>
          </p:nvSpPr>
          <p:spPr>
            <a:xfrm>
              <a:off x="762000" y="4220528"/>
              <a:ext cx="57150" cy="57150"/>
            </a:xfrm>
            <a:prstGeom prst="ellipse">
              <a:avLst/>
            </a:prstGeom>
            <a:solidFill>
              <a:srgbClr val="0E7C86"/>
            </a:solidFill>
            <a:ln>
              <a:noFill/>
            </a:ln>
          </p:spPr>
        </p:sp>
        <p:sp>
          <p:nvSpPr>
            <p:cNvPr id="23" name="TextBox 23"/>
            <p:cNvSpPr txBox="1"/>
            <p:nvPr/>
          </p:nvSpPr>
          <p:spPr>
            <a:xfrm>
              <a:off x="917448" y="4168616"/>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测试点大多落在正确一侧</a:t>
              </a:r>
            </a:p>
          </p:txBody>
        </p:sp>
        <p:sp>
          <p:nvSpPr>
            <p:cNvPr id="24" name="Rectangle 24"/>
            <p:cNvSpPr/>
            <p:nvPr/>
          </p:nvSpPr>
          <p:spPr>
            <a:xfrm>
              <a:off x="3556635" y="2852738"/>
              <a:ext cx="2604135" cy="1696402"/>
            </a:xfrm>
            <a:prstGeom prst="roundRect">
              <a:avLst>
                <a:gd name="adj" fmla="val 7861"/>
              </a:avLst>
            </a:prstGeom>
            <a:solidFill>
              <a:srgbClr val="FFFFFF"/>
            </a:solidFill>
            <a:ln w="14288">
              <a:solidFill>
                <a:srgbClr val="D9DFEA"/>
              </a:solidFill>
            </a:ln>
          </p:spPr>
        </p:sp>
        <p:sp>
          <p:nvSpPr>
            <p:cNvPr id="25" name="Rectangle 25"/>
            <p:cNvSpPr/>
            <p:nvPr/>
          </p:nvSpPr>
          <p:spPr>
            <a:xfrm>
              <a:off x="3566160" y="2986088"/>
              <a:ext cx="47625" cy="1429702"/>
            </a:xfrm>
            <a:prstGeom prst="roundRect">
              <a:avLst>
                <a:gd name="adj" fmla="val 50000"/>
              </a:avLst>
            </a:prstGeom>
            <a:solidFill>
              <a:srgbClr val="B42318"/>
            </a:solidFill>
            <a:ln>
              <a:noFill/>
            </a:ln>
          </p:spPr>
        </p:sp>
        <p:sp>
          <p:nvSpPr>
            <p:cNvPr id="26" name="TextBox 26"/>
            <p:cNvSpPr txBox="1"/>
            <p:nvPr/>
          </p:nvSpPr>
          <p:spPr>
            <a:xfrm>
              <a:off x="3769233" y="3054191"/>
              <a:ext cx="193252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坏的泛化 memorization</a:t>
              </a:r>
            </a:p>
          </p:txBody>
        </p:sp>
        <p:sp>
          <p:nvSpPr>
            <p:cNvPr id="27" name="Ellipse 27"/>
            <p:cNvSpPr/>
            <p:nvPr/>
          </p:nvSpPr>
          <p:spPr>
            <a:xfrm>
              <a:off x="3785235" y="3408045"/>
              <a:ext cx="57150" cy="57150"/>
            </a:xfrm>
            <a:prstGeom prst="ellipse">
              <a:avLst/>
            </a:prstGeom>
            <a:solidFill>
              <a:srgbClr val="0E7C86"/>
            </a:solidFill>
            <a:ln>
              <a:noFill/>
            </a:ln>
          </p:spPr>
        </p:sp>
        <p:sp>
          <p:nvSpPr>
            <p:cNvPr id="28" name="TextBox 28"/>
            <p:cNvSpPr txBox="1"/>
            <p:nvPr/>
          </p:nvSpPr>
          <p:spPr>
            <a:xfrm>
              <a:off x="3940683" y="3355181"/>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边界扭曲，为每个训练点</a:t>
              </a:r>
              <a:br/>
              <a:r>
                <a:rPr lang="zh-CN" sz="1280" dirty="0">
                  <a:solidFill>
                    <a:srgbClr val="1F2937"/>
                  </a:solidFill>
                  <a:latin typeface="+mn-lt"/>
                  <a:ea typeface="+mn-ea"/>
                  <a:cs typeface="+mn-cs"/>
                </a:rPr>
                <a:t>单独开口子</a:t>
              </a:r>
            </a:p>
          </p:txBody>
        </p:sp>
        <p:sp>
          <p:nvSpPr>
            <p:cNvPr id="29" name="Ellipse 29"/>
            <p:cNvSpPr/>
            <p:nvPr/>
          </p:nvSpPr>
          <p:spPr>
            <a:xfrm>
              <a:off x="3785235" y="3935730"/>
              <a:ext cx="57150" cy="57150"/>
            </a:xfrm>
            <a:prstGeom prst="ellipse">
              <a:avLst/>
            </a:prstGeom>
            <a:solidFill>
              <a:srgbClr val="0E7C86"/>
            </a:solidFill>
            <a:ln>
              <a:noFill/>
            </a:ln>
          </p:spPr>
        </p:sp>
        <p:sp>
          <p:nvSpPr>
            <p:cNvPr id="30" name="TextBox 30"/>
            <p:cNvSpPr txBox="1"/>
            <p:nvPr/>
          </p:nvSpPr>
          <p:spPr>
            <a:xfrm>
              <a:off x="3940683" y="3883819"/>
              <a:ext cx="136561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训练误差同样为 0</a:t>
              </a:r>
            </a:p>
          </p:txBody>
        </p:sp>
        <p:sp>
          <p:nvSpPr>
            <p:cNvPr id="31" name="Ellipse 31"/>
            <p:cNvSpPr/>
            <p:nvPr/>
          </p:nvSpPr>
          <p:spPr>
            <a:xfrm>
              <a:off x="3785235" y="4220528"/>
              <a:ext cx="57150" cy="57150"/>
            </a:xfrm>
            <a:prstGeom prst="ellipse">
              <a:avLst/>
            </a:prstGeom>
            <a:solidFill>
              <a:srgbClr val="0E7C86"/>
            </a:solidFill>
            <a:ln>
              <a:noFill/>
            </a:ln>
          </p:spPr>
        </p:sp>
        <p:sp>
          <p:nvSpPr>
            <p:cNvPr id="32" name="TextBox 32"/>
            <p:cNvSpPr txBox="1"/>
            <p:nvPr/>
          </p:nvSpPr>
          <p:spPr>
            <a:xfrm>
              <a:off x="3940683" y="4168616"/>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测试点大量落错</a:t>
              </a:r>
            </a:p>
          </p:txBody>
        </p:sp>
        <p:sp>
          <p:nvSpPr>
            <p:cNvPr id="33" name="Ellipse 33"/>
            <p:cNvSpPr/>
            <p:nvPr/>
          </p:nvSpPr>
          <p:spPr>
            <a:xfrm>
              <a:off x="3185160" y="3538538"/>
              <a:ext cx="323850" cy="323850"/>
            </a:xfrm>
            <a:prstGeom prst="ellipse">
              <a:avLst/>
            </a:prstGeom>
            <a:solidFill>
              <a:srgbClr val="F26B3A"/>
            </a:solidFill>
            <a:ln>
              <a:noFill/>
            </a:ln>
          </p:spPr>
        </p:sp>
        <p:sp>
          <p:nvSpPr>
            <p:cNvPr id="34" name="TextBox 34"/>
            <p:cNvSpPr txBox="1"/>
            <p:nvPr/>
          </p:nvSpPr>
          <p:spPr>
            <a:xfrm>
              <a:off x="3268393" y="3644265"/>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41" name="c1-callout-3"/>
          <p:cNvGrpSpPr/>
          <p:nvPr/>
        </p:nvGrpSpPr>
        <p:grpSpPr>
          <a:xfrm>
            <a:off x="533400" y="4712970"/>
            <a:ext cx="5626418" cy="933450"/>
            <a:chOff x="533400" y="4712970"/>
            <a:chExt cx="5626418" cy="933450"/>
          </a:xfrm>
        </p:grpSpPr>
        <p:sp>
          <p:nvSpPr>
            <p:cNvPr id="36" name="Rectangle 36"/>
            <p:cNvSpPr/>
            <p:nvPr/>
          </p:nvSpPr>
          <p:spPr>
            <a:xfrm>
              <a:off x="533400" y="4712970"/>
              <a:ext cx="5626418" cy="933450"/>
            </a:xfrm>
            <a:prstGeom prst="roundRect">
              <a:avLst>
                <a:gd name="adj" fmla="val 12245"/>
              </a:avLst>
            </a:prstGeom>
            <a:solidFill>
              <a:srgbClr val="0E7C86"/>
            </a:solidFill>
            <a:ln>
              <a:noFill/>
            </a:ln>
          </p:spPr>
        </p:sp>
        <p:grpSp>
          <p:nvGrpSpPr>
            <p:cNvPr id="39" name="Group 39"/>
            <p:cNvGrpSpPr/>
            <p:nvPr/>
          </p:nvGrpSpPr>
          <p:grpSpPr>
            <a:xfrm>
              <a:off x="738188" y="5080637"/>
              <a:ext cx="200023" cy="200023"/>
              <a:chOff x="738188" y="5080637"/>
              <a:chExt cx="200023" cy="200023"/>
            </a:xfrm>
          </p:grpSpPr>
          <p:sp>
            <p:nvSpPr>
              <p:cNvPr id="37" name="Freeform 37"/>
              <p:cNvSpPr/>
              <p:nvPr/>
            </p:nvSpPr>
            <p:spPr>
              <a:xfrm>
                <a:off x="738188" y="508063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8" name="Freeform 38"/>
              <p:cNvSpPr/>
              <p:nvPr/>
            </p:nvSpPr>
            <p:spPr>
              <a:xfrm>
                <a:off x="871538" y="514731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0" name="TextBox 40"/>
            <p:cNvSpPr txBox="1"/>
            <p:nvPr/>
          </p:nvSpPr>
          <p:spPr>
            <a:xfrm>
              <a:off x="1041273" y="5091589"/>
              <a:ext cx="463957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两种模型的训练误差都是 0，光看训练误差完全分不出好坏。</a:t>
              </a:r>
            </a:p>
          </p:txBody>
        </p:sp>
      </p:grpSp>
      <p:grpSp>
        <p:nvGrpSpPr>
          <p:cNvPr id="54" name="c2-graph-1"/>
          <p:cNvGrpSpPr/>
          <p:nvPr/>
        </p:nvGrpSpPr>
        <p:grpSpPr>
          <a:xfrm>
            <a:off x="6609499" y="1551146"/>
            <a:ext cx="4699533" cy="1872615"/>
            <a:chOff x="6609499" y="1551146"/>
            <a:chExt cx="4699533" cy="1872615"/>
          </a:xfrm>
        </p:grpSpPr>
        <p:sp>
          <p:nvSpPr>
            <p:cNvPr id="42" name="Freeform 42"/>
            <p:cNvSpPr/>
            <p:nvPr/>
          </p:nvSpPr>
          <p:spPr>
            <a:xfrm>
              <a:off x="7021830" y="3194685"/>
              <a:ext cx="4191952" cy="9525"/>
            </a:xfrm>
            <a:custGeom>
              <a:avLst/>
              <a:gdLst/>
              <a:ahLst/>
              <a:cxnLst/>
              <a:rect l="l" t="t" r="r" b="b"/>
              <a:pathLst>
                <a:path w="4191952" h="9525">
                  <a:moveTo>
                    <a:pt x="0" y="0"/>
                  </a:moveTo>
                  <a:lnTo>
                    <a:pt x="4191952" y="0"/>
                  </a:lnTo>
                </a:path>
              </a:pathLst>
            </a:custGeom>
            <a:noFill/>
            <a:ln w="17145">
              <a:solidFill>
                <a:srgbClr val="1F2937"/>
              </a:solidFill>
            </a:ln>
          </p:spPr>
        </p:sp>
        <p:sp>
          <p:nvSpPr>
            <p:cNvPr id="43" name="Freeform 43"/>
            <p:cNvSpPr/>
            <p:nvPr/>
          </p:nvSpPr>
          <p:spPr>
            <a:xfrm>
              <a:off x="11213782" y="31470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4" name="Freeform 44"/>
            <p:cNvSpPr/>
            <p:nvPr/>
          </p:nvSpPr>
          <p:spPr>
            <a:xfrm>
              <a:off x="6983730" y="1881188"/>
              <a:ext cx="9525" cy="1206818"/>
            </a:xfrm>
            <a:custGeom>
              <a:avLst/>
              <a:gdLst/>
              <a:ahLst/>
              <a:cxnLst/>
              <a:rect l="l" t="t" r="r" b="b"/>
              <a:pathLst>
                <a:path w="9525" h="1206818">
                  <a:moveTo>
                    <a:pt x="0" y="1206818"/>
                  </a:moveTo>
                  <a:lnTo>
                    <a:pt x="0" y="0"/>
                  </a:lnTo>
                </a:path>
              </a:pathLst>
            </a:custGeom>
            <a:noFill/>
            <a:ln w="17145">
              <a:solidFill>
                <a:srgbClr val="1F2937"/>
              </a:solidFill>
            </a:ln>
          </p:spPr>
        </p:sp>
        <p:sp>
          <p:nvSpPr>
            <p:cNvPr id="45" name="Freeform 45"/>
            <p:cNvSpPr/>
            <p:nvPr/>
          </p:nvSpPr>
          <p:spPr>
            <a:xfrm>
              <a:off x="6936105" y="178593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6" name="Freeform 46"/>
            <p:cNvSpPr/>
            <p:nvPr/>
          </p:nvSpPr>
          <p:spPr>
            <a:xfrm>
              <a:off x="7230428" y="1921192"/>
              <a:ext cx="3870960" cy="1027748"/>
            </a:xfrm>
            <a:custGeom>
              <a:avLst/>
              <a:gdLst/>
              <a:ahLst/>
              <a:cxnLst/>
              <a:rect l="l" t="t" r="r" b="b"/>
              <a:pathLst>
                <a:path w="3870960" h="1027748">
                  <a:moveTo>
                    <a:pt x="0" y="1027748"/>
                  </a:moveTo>
                  <a:lnTo>
                    <a:pt x="1000125" y="690562"/>
                  </a:lnTo>
                  <a:lnTo>
                    <a:pt x="2143125" y="419100"/>
                  </a:lnTo>
                  <a:lnTo>
                    <a:pt x="3077528" y="185738"/>
                  </a:lnTo>
                  <a:lnTo>
                    <a:pt x="3870960" y="0"/>
                  </a:lnTo>
                </a:path>
              </a:pathLst>
            </a:custGeom>
            <a:noFill/>
            <a:ln w="17145">
              <a:solidFill>
                <a:srgbClr val="1F2937"/>
              </a:solidFill>
            </a:ln>
          </p:spPr>
        </p:sp>
        <p:sp>
          <p:nvSpPr>
            <p:cNvPr id="47" name="Freeform 47"/>
            <p:cNvSpPr/>
            <p:nvPr/>
          </p:nvSpPr>
          <p:spPr>
            <a:xfrm>
              <a:off x="7230428" y="2119312"/>
              <a:ext cx="3870960" cy="293370"/>
            </a:xfrm>
            <a:custGeom>
              <a:avLst/>
              <a:gdLst/>
              <a:ahLst/>
              <a:cxnLst/>
              <a:rect l="l" t="t" r="r" b="b"/>
              <a:pathLst>
                <a:path w="3870960" h="293370">
                  <a:moveTo>
                    <a:pt x="0" y="0"/>
                  </a:moveTo>
                  <a:lnTo>
                    <a:pt x="792480" y="260033"/>
                  </a:lnTo>
                  <a:lnTo>
                    <a:pt x="1935480" y="142875"/>
                  </a:lnTo>
                  <a:lnTo>
                    <a:pt x="2973705" y="181927"/>
                  </a:lnTo>
                  <a:lnTo>
                    <a:pt x="3870960" y="293370"/>
                  </a:lnTo>
                </a:path>
              </a:pathLst>
            </a:custGeom>
            <a:noFill/>
            <a:ln w="17145">
              <a:solidFill>
                <a:srgbClr val="0E7C86"/>
              </a:solidFill>
            </a:ln>
          </p:spPr>
        </p:sp>
        <p:sp>
          <p:nvSpPr>
            <p:cNvPr id="48" name="Ellipse 48"/>
            <p:cNvSpPr/>
            <p:nvPr/>
          </p:nvSpPr>
          <p:spPr>
            <a:xfrm>
              <a:off x="9099232" y="2195512"/>
              <a:ext cx="133350" cy="133350"/>
            </a:xfrm>
            <a:prstGeom prst="ellipse">
              <a:avLst/>
            </a:prstGeom>
            <a:solidFill>
              <a:srgbClr val="B42318"/>
            </a:solidFill>
            <a:ln>
              <a:noFill/>
            </a:ln>
          </p:spPr>
        </p:sp>
        <p:sp>
          <p:nvSpPr>
            <p:cNvPr id="49" name="TextBox 49"/>
            <p:cNvSpPr txBox="1"/>
            <p:nvPr/>
          </p:nvSpPr>
          <p:spPr>
            <a:xfrm>
              <a:off x="9090059" y="3261836"/>
              <a:ext cx="566986"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迭代步数 m</a:t>
              </a:r>
            </a:p>
          </p:txBody>
        </p:sp>
        <p:sp>
          <p:nvSpPr>
            <p:cNvPr id="50" name="TextBox 50"/>
            <p:cNvSpPr txBox="1"/>
            <p:nvPr/>
          </p:nvSpPr>
          <p:spPr>
            <a:xfrm>
              <a:off x="6609499" y="1551146"/>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误差</a:t>
              </a:r>
            </a:p>
          </p:txBody>
        </p:sp>
        <p:sp>
          <p:nvSpPr>
            <p:cNvPr id="51" name="TextBox 51"/>
            <p:cNvSpPr txBox="1"/>
            <p:nvPr/>
          </p:nvSpPr>
          <p:spPr>
            <a:xfrm>
              <a:off x="10290061" y="174545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训练误差</a:t>
              </a:r>
            </a:p>
          </p:txBody>
        </p:sp>
        <p:sp>
          <p:nvSpPr>
            <p:cNvPr id="52" name="TextBox 52"/>
            <p:cNvSpPr txBox="1"/>
            <p:nvPr/>
          </p:nvSpPr>
          <p:spPr>
            <a:xfrm>
              <a:off x="10393883" y="2445544"/>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测试误差</a:t>
              </a:r>
            </a:p>
          </p:txBody>
        </p:sp>
        <p:sp>
          <p:nvSpPr>
            <p:cNvPr id="53" name="TextBox 53"/>
            <p:cNvSpPr txBox="1"/>
            <p:nvPr/>
          </p:nvSpPr>
          <p:spPr>
            <a:xfrm>
              <a:off x="8943128" y="1939766"/>
              <a:ext cx="445559"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minimum</a:t>
              </a:r>
            </a:p>
          </p:txBody>
        </p:sp>
      </p:grpSp>
      <p:grpSp>
        <p:nvGrpSpPr>
          <p:cNvPr id="67" name="c2-card-2"/>
          <p:cNvGrpSpPr/>
          <p:nvPr/>
        </p:nvGrpSpPr>
        <p:grpSpPr>
          <a:xfrm>
            <a:off x="6464618" y="3631882"/>
            <a:ext cx="5193982" cy="2015490"/>
            <a:chOff x="6464618" y="3631882"/>
            <a:chExt cx="5193982" cy="2015490"/>
          </a:xfrm>
        </p:grpSpPr>
        <p:sp>
          <p:nvSpPr>
            <p:cNvPr id="55" name="Rectangle 55"/>
            <p:cNvSpPr/>
            <p:nvPr/>
          </p:nvSpPr>
          <p:spPr>
            <a:xfrm>
              <a:off x="6464618" y="3631882"/>
              <a:ext cx="5193982" cy="2015490"/>
            </a:xfrm>
            <a:prstGeom prst="roundRect">
              <a:avLst>
                <a:gd name="adj" fmla="val 6616"/>
              </a:avLst>
            </a:prstGeom>
            <a:solidFill>
              <a:srgbClr val="FFFFFF"/>
            </a:solidFill>
            <a:ln w="14288">
              <a:solidFill>
                <a:srgbClr val="D9DFEA"/>
              </a:solidFill>
            </a:ln>
          </p:spPr>
        </p:sp>
        <p:sp>
          <p:nvSpPr>
            <p:cNvPr id="56" name="Rectangle 56"/>
            <p:cNvSpPr/>
            <p:nvPr/>
          </p:nvSpPr>
          <p:spPr>
            <a:xfrm>
              <a:off x="6474142" y="3765232"/>
              <a:ext cx="47625" cy="1748790"/>
            </a:xfrm>
            <a:prstGeom prst="roundRect">
              <a:avLst>
                <a:gd name="adj" fmla="val 50000"/>
              </a:avLst>
            </a:prstGeom>
            <a:solidFill>
              <a:srgbClr val="0E7C86"/>
            </a:solidFill>
            <a:ln>
              <a:noFill/>
            </a:ln>
          </p:spPr>
        </p:sp>
        <p:sp>
          <p:nvSpPr>
            <p:cNvPr id="57" name="Rectangle 57"/>
            <p:cNvSpPr/>
            <p:nvPr/>
          </p:nvSpPr>
          <p:spPr>
            <a:xfrm>
              <a:off x="6683692" y="3812858"/>
              <a:ext cx="707708" cy="238125"/>
            </a:xfrm>
            <a:prstGeom prst="roundRect">
              <a:avLst>
                <a:gd name="adj" fmla="val 50000"/>
              </a:avLst>
            </a:prstGeom>
            <a:solidFill>
              <a:srgbClr val="E2F3F4"/>
            </a:solidFill>
            <a:ln>
              <a:noFill/>
            </a:ln>
          </p:spPr>
        </p:sp>
        <p:sp>
          <p:nvSpPr>
            <p:cNvPr id="58" name="TextBox 58"/>
            <p:cNvSpPr txBox="1"/>
            <p:nvPr/>
          </p:nvSpPr>
          <p:spPr>
            <a:xfrm>
              <a:off x="6769214" y="384571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交叉验证</a:t>
              </a:r>
            </a:p>
          </p:txBody>
        </p:sp>
        <p:sp>
          <p:nvSpPr>
            <p:cNvPr id="59" name="TextBox 59"/>
            <p:cNvSpPr txBox="1"/>
            <p:nvPr/>
          </p:nvSpPr>
          <p:spPr>
            <a:xfrm>
              <a:off x="7499223" y="3852386"/>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用测试误差曲线来选模型</a:t>
              </a:r>
            </a:p>
          </p:txBody>
        </p:sp>
        <p:sp>
          <p:nvSpPr>
            <p:cNvPr id="60" name="TextBox 60"/>
            <p:cNvSpPr txBox="1"/>
            <p:nvPr/>
          </p:nvSpPr>
          <p:spPr>
            <a:xfrm>
              <a:off x="6677216" y="4169569"/>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训练误差单调下降，测试误差先降后升，两条曲线在某一步分</a:t>
              </a:r>
              <a:br/>
              <a:r>
                <a:rPr lang="zh-CN" sz="1280" dirty="0">
                  <a:solidFill>
                    <a:srgbClr val="1F2937"/>
                  </a:solidFill>
                  <a:latin typeface="+mn-lt"/>
                  <a:ea typeface="+mn-ea"/>
                  <a:cs typeface="+mn-cs"/>
                </a:rPr>
                <a:t>开，那一步就是该停下来的位置。</a:t>
              </a:r>
            </a:p>
          </p:txBody>
        </p:sp>
        <p:sp>
          <p:nvSpPr>
            <p:cNvPr id="61" name="Ellipse 61"/>
            <p:cNvSpPr/>
            <p:nvPr/>
          </p:nvSpPr>
          <p:spPr>
            <a:xfrm>
              <a:off x="6693218" y="4749165"/>
              <a:ext cx="57150" cy="57150"/>
            </a:xfrm>
            <a:prstGeom prst="ellipse">
              <a:avLst/>
            </a:prstGeom>
            <a:solidFill>
              <a:srgbClr val="0E7C86"/>
            </a:solidFill>
            <a:ln>
              <a:noFill/>
            </a:ln>
          </p:spPr>
        </p:sp>
        <p:sp>
          <p:nvSpPr>
            <p:cNvPr id="62" name="TextBox 62"/>
            <p:cNvSpPr txBox="1"/>
            <p:nvPr/>
          </p:nvSpPr>
          <p:spPr>
            <a:xfrm>
              <a:off x="6848666" y="4697254"/>
              <a:ext cx="351092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取 </a:t>
              </a:r>
              <a:r>
                <a:rPr lang="zh-CN" sz="1280" b="1" dirty="0">
                  <a:solidFill>
                    <a:srgbClr val="C2410C"/>
                  </a:solidFill>
                  <a:latin typeface="+mn-lt"/>
                  <a:ea typeface="+mn-ea"/>
                  <a:cs typeface="+mn-cs"/>
                </a:rPr>
                <a:t>测试误差的最低点</a:t>
              </a:r>
              <a:r>
                <a:rPr lang="zh-CN" sz="1280" dirty="0">
                  <a:solidFill>
                    <a:srgbClr val="1F2937"/>
                  </a:solidFill>
                  <a:latin typeface="+mn-lt"/>
                  <a:ea typeface="+mn-ea"/>
                  <a:cs typeface="+mn-cs"/>
                </a:rPr>
                <a:t>，不是训练误差的最低点</a:t>
              </a:r>
            </a:p>
          </p:txBody>
        </p:sp>
        <p:sp>
          <p:nvSpPr>
            <p:cNvPr id="63" name="Ellipse 63"/>
            <p:cNvSpPr/>
            <p:nvPr/>
          </p:nvSpPr>
          <p:spPr>
            <a:xfrm>
              <a:off x="6693218" y="5033962"/>
              <a:ext cx="57150" cy="57150"/>
            </a:xfrm>
            <a:prstGeom prst="ellipse">
              <a:avLst/>
            </a:prstGeom>
            <a:solidFill>
              <a:srgbClr val="0E7C86"/>
            </a:solidFill>
            <a:ln>
              <a:noFill/>
            </a:ln>
          </p:spPr>
        </p:sp>
        <p:sp>
          <p:nvSpPr>
            <p:cNvPr id="64" name="TextBox 64"/>
            <p:cNvSpPr txBox="1"/>
            <p:nvPr/>
          </p:nvSpPr>
          <p:spPr>
            <a:xfrm>
              <a:off x="6848666" y="4982051"/>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迭代步数本身就是一个需要调的超参数</a:t>
              </a:r>
            </a:p>
          </p:txBody>
        </p:sp>
        <p:sp>
          <p:nvSpPr>
            <p:cNvPr id="65" name="Ellipse 65"/>
            <p:cNvSpPr/>
            <p:nvPr/>
          </p:nvSpPr>
          <p:spPr>
            <a:xfrm>
              <a:off x="6693218" y="5319712"/>
              <a:ext cx="57150" cy="57150"/>
            </a:xfrm>
            <a:prstGeom prst="ellipse">
              <a:avLst/>
            </a:prstGeom>
            <a:solidFill>
              <a:srgbClr val="0E7C86"/>
            </a:solidFill>
            <a:ln>
              <a:noFill/>
            </a:ln>
          </p:spPr>
        </p:sp>
        <p:sp>
          <p:nvSpPr>
            <p:cNvPr id="66" name="TextBox 66"/>
            <p:cNvSpPr txBox="1"/>
            <p:nvPr/>
          </p:nvSpPr>
          <p:spPr>
            <a:xfrm>
              <a:off x="6848666" y="5266849"/>
              <a:ext cx="466542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想同时选结构和停机点，就把数据切成训练、验证、测试三份</a:t>
              </a:r>
            </a:p>
          </p:txBody>
        </p:sp>
      </p:grpSp>
      <p:grpSp>
        <p:nvGrpSpPr>
          <p:cNvPr id="73" name="takeaway"/>
          <p:cNvGrpSpPr/>
          <p:nvPr/>
        </p:nvGrpSpPr>
        <p:grpSpPr>
          <a:xfrm>
            <a:off x="533400" y="5895022"/>
            <a:ext cx="11125200" cy="467678"/>
            <a:chOff x="533400" y="5895022"/>
            <a:chExt cx="11125200" cy="467678"/>
          </a:xfrm>
        </p:grpSpPr>
        <p:sp>
          <p:nvSpPr>
            <p:cNvPr id="68" name="Rectangle 68"/>
            <p:cNvSpPr/>
            <p:nvPr/>
          </p:nvSpPr>
          <p:spPr>
            <a:xfrm>
              <a:off x="533400" y="5895022"/>
              <a:ext cx="11125200" cy="467678"/>
            </a:xfrm>
            <a:prstGeom prst="roundRect">
              <a:avLst>
                <a:gd name="adj" fmla="val 24440"/>
              </a:avLst>
            </a:prstGeom>
            <a:solidFill>
              <a:srgbClr val="0E7C86"/>
            </a:solidFill>
            <a:ln>
              <a:noFill/>
            </a:ln>
          </p:spPr>
        </p:sp>
        <p:grpSp>
          <p:nvGrpSpPr>
            <p:cNvPr id="71" name="Group 71"/>
            <p:cNvGrpSpPr/>
            <p:nvPr/>
          </p:nvGrpSpPr>
          <p:grpSpPr>
            <a:xfrm>
              <a:off x="738188" y="6028375"/>
              <a:ext cx="200023" cy="200023"/>
              <a:chOff x="738188" y="6028375"/>
              <a:chExt cx="200023" cy="200023"/>
            </a:xfrm>
          </p:grpSpPr>
          <p:sp>
            <p:nvSpPr>
              <p:cNvPr id="69" name="Freeform 69"/>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0" name="Freeform 70"/>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2" name="TextBox 72"/>
            <p:cNvSpPr txBox="1"/>
            <p:nvPr/>
          </p:nvSpPr>
          <p:spPr>
            <a:xfrm>
              <a:off x="1041273" y="6039326"/>
              <a:ext cx="5699303"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判断一个模型好不好，唯一可信的依据是它在没参与训练的数据上的表现。</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27810" cy="909257"/>
            <a:chOff x="520446" y="342900"/>
            <a:chExt cx="3827810"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382781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早停、正则化、Dropout</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1697355"/>
            <a:chOff x="533400" y="1524000"/>
            <a:chExt cx="5410200" cy="1697355"/>
          </a:xfrm>
        </p:grpSpPr>
        <p:sp>
          <p:nvSpPr>
            <p:cNvPr id="7" name="Rectangle 7"/>
            <p:cNvSpPr/>
            <p:nvPr/>
          </p:nvSpPr>
          <p:spPr>
            <a:xfrm>
              <a:off x="533400" y="1524000"/>
              <a:ext cx="5410200" cy="1697355"/>
            </a:xfrm>
            <a:prstGeom prst="roundRect">
              <a:avLst>
                <a:gd name="adj" fmla="val 7856"/>
              </a:avLst>
            </a:prstGeom>
            <a:solidFill>
              <a:srgbClr val="FFFFFF"/>
            </a:solidFill>
            <a:ln w="14288">
              <a:solidFill>
                <a:srgbClr val="D9DFEA"/>
              </a:solidFill>
            </a:ln>
          </p:spPr>
        </p:sp>
        <p:sp>
          <p:nvSpPr>
            <p:cNvPr id="8" name="Rectangle 8"/>
            <p:cNvSpPr/>
            <p:nvPr/>
          </p:nvSpPr>
          <p:spPr>
            <a:xfrm>
              <a:off x="542925" y="1657350"/>
              <a:ext cx="47625" cy="1430655"/>
            </a:xfrm>
            <a:prstGeom prst="roundRect">
              <a:avLst>
                <a:gd name="adj" fmla="val 50000"/>
              </a:avLst>
            </a:prstGeom>
            <a:solidFill>
              <a:srgbClr val="0E7C86"/>
            </a:solidFill>
            <a:ln>
              <a:noFill/>
            </a:ln>
          </p:spPr>
        </p:sp>
        <p:sp>
          <p:nvSpPr>
            <p:cNvPr id="9" name="Rectangle 9"/>
            <p:cNvSpPr/>
            <p:nvPr/>
          </p:nvSpPr>
          <p:spPr>
            <a:xfrm>
              <a:off x="763905" y="1716405"/>
              <a:ext cx="1491615" cy="247650"/>
            </a:xfrm>
            <a:prstGeom prst="roundRect">
              <a:avLst>
                <a:gd name="adj" fmla="val 50000"/>
              </a:avLst>
            </a:prstGeom>
            <a:solidFill>
              <a:srgbClr val="E2F3F4"/>
            </a:solidFill>
            <a:ln>
              <a:noFill/>
            </a:ln>
          </p:spPr>
        </p:sp>
        <p:sp>
          <p:nvSpPr>
            <p:cNvPr id="10" name="TextBox 10"/>
            <p:cNvSpPr txBox="1"/>
            <p:nvPr/>
          </p:nvSpPr>
          <p:spPr>
            <a:xfrm>
              <a:off x="825010" y="1750695"/>
              <a:ext cx="1369404"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早停 early stopping</a:t>
              </a:r>
            </a:p>
          </p:txBody>
        </p:sp>
        <p:sp>
          <p:nvSpPr>
            <p:cNvPr id="11" name="TextBox 11"/>
            <p:cNvSpPr txBox="1"/>
            <p:nvPr/>
          </p:nvSpPr>
          <p:spPr>
            <a:xfrm>
              <a:off x="2362962" y="17564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验证误差一升就停</a:t>
              </a:r>
            </a:p>
          </p:txBody>
        </p:sp>
        <p:sp>
          <p:nvSpPr>
            <p:cNvPr id="12" name="TextBox 12"/>
            <p:cNvSpPr txBox="1"/>
            <p:nvPr/>
          </p:nvSpPr>
          <p:spPr>
            <a:xfrm>
              <a:off x="757047" y="2090738"/>
              <a:ext cx="452285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在训练过程中，若训练误差降低但 </a:t>
              </a:r>
              <a:r>
                <a:rPr lang="zh-CN" sz="1350" b="1" dirty="0">
                  <a:solidFill>
                    <a:srgbClr val="C2410C"/>
                  </a:solidFill>
                  <a:latin typeface="+mn-lt"/>
                  <a:ea typeface="+mn-ea"/>
                  <a:cs typeface="+mn-cs"/>
                </a:rPr>
                <a:t>验证误差升高</a:t>
              </a:r>
              <a:r>
                <a:rPr lang="zh-CN" sz="1350" dirty="0">
                  <a:solidFill>
                    <a:srgbClr val="1F2937"/>
                  </a:solidFill>
                  <a:latin typeface="+mn-lt"/>
                  <a:ea typeface="+mn-ea"/>
                  <a:cs typeface="+mn-cs"/>
                </a:rPr>
                <a:t>，则停止训</a:t>
              </a:r>
              <a:br/>
              <a:r>
                <a:rPr lang="zh-CN" sz="1350" dirty="0">
                  <a:solidFill>
                    <a:srgbClr val="1F2937"/>
                  </a:solidFill>
                  <a:latin typeface="+mn-lt"/>
                  <a:ea typeface="+mn-ea"/>
                  <a:cs typeface="+mn-cs"/>
                </a:rPr>
                <a:t>练，并返回验证误差最低时那组权值。</a:t>
              </a:r>
            </a:p>
          </p:txBody>
        </p:sp>
        <p:sp>
          <p:nvSpPr>
            <p:cNvPr id="13" name="TextBox 13"/>
            <p:cNvSpPr txBox="1"/>
            <p:nvPr/>
          </p:nvSpPr>
          <p:spPr>
            <a:xfrm>
              <a:off x="758190" y="2646521"/>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需要把数据切成训练集、验证集、测试集三份：用验证集决定何时停，用测</a:t>
              </a:r>
              <a:br/>
              <a:r>
                <a:rPr lang="zh-CN" sz="1120" dirty="0">
                  <a:solidFill>
                    <a:srgbClr val="5B6475"/>
                  </a:solidFill>
                  <a:latin typeface="+mn-lt"/>
                  <a:ea typeface="+mn-ea"/>
                  <a:cs typeface="+mn-cs"/>
                </a:rPr>
                <a:t>试集报告最终成绩。</a:t>
              </a:r>
            </a:p>
          </p:txBody>
        </p:sp>
      </p:grpSp>
      <p:grpSp>
        <p:nvGrpSpPr>
          <p:cNvPr id="23" name="c1-card-2"/>
          <p:cNvGrpSpPr/>
          <p:nvPr/>
        </p:nvGrpSpPr>
        <p:grpSpPr>
          <a:xfrm>
            <a:off x="533400" y="3396615"/>
            <a:ext cx="5410200" cy="2301240"/>
            <a:chOff x="533400" y="3396615"/>
            <a:chExt cx="5410200" cy="2301240"/>
          </a:xfrm>
        </p:grpSpPr>
        <p:sp>
          <p:nvSpPr>
            <p:cNvPr id="15" name="Rectangle 15"/>
            <p:cNvSpPr/>
            <p:nvPr/>
          </p:nvSpPr>
          <p:spPr>
            <a:xfrm>
              <a:off x="533400" y="3396615"/>
              <a:ext cx="5410200" cy="2301240"/>
            </a:xfrm>
            <a:prstGeom prst="roundRect">
              <a:avLst>
                <a:gd name="adj" fmla="val 5795"/>
              </a:avLst>
            </a:prstGeom>
            <a:solidFill>
              <a:srgbClr val="FFFFFF"/>
            </a:solidFill>
            <a:ln w="14288">
              <a:solidFill>
                <a:srgbClr val="D9DFEA"/>
              </a:solidFill>
            </a:ln>
          </p:spPr>
        </p:sp>
        <p:sp>
          <p:nvSpPr>
            <p:cNvPr id="16" name="Rectangle 16"/>
            <p:cNvSpPr/>
            <p:nvPr/>
          </p:nvSpPr>
          <p:spPr>
            <a:xfrm>
              <a:off x="542925" y="3529965"/>
              <a:ext cx="47625" cy="2034540"/>
            </a:xfrm>
            <a:prstGeom prst="roundRect">
              <a:avLst>
                <a:gd name="adj" fmla="val 50000"/>
              </a:avLst>
            </a:prstGeom>
            <a:solidFill>
              <a:srgbClr val="0E7C86"/>
            </a:solidFill>
            <a:ln>
              <a:noFill/>
            </a:ln>
          </p:spPr>
        </p:sp>
        <p:sp>
          <p:nvSpPr>
            <p:cNvPr id="17" name="Rectangle 17"/>
            <p:cNvSpPr/>
            <p:nvPr/>
          </p:nvSpPr>
          <p:spPr>
            <a:xfrm>
              <a:off x="763905" y="3589020"/>
              <a:ext cx="1624965" cy="247650"/>
            </a:xfrm>
            <a:prstGeom prst="roundRect">
              <a:avLst>
                <a:gd name="adj" fmla="val 50000"/>
              </a:avLst>
            </a:prstGeom>
            <a:solidFill>
              <a:srgbClr val="E2F3F4"/>
            </a:solidFill>
            <a:ln>
              <a:noFill/>
            </a:ln>
          </p:spPr>
        </p:sp>
        <p:sp>
          <p:nvSpPr>
            <p:cNvPr id="18" name="TextBox 18"/>
            <p:cNvSpPr txBox="1"/>
            <p:nvPr/>
          </p:nvSpPr>
          <p:spPr>
            <a:xfrm>
              <a:off x="821010" y="3623310"/>
              <a:ext cx="1510755"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正则化 regularization</a:t>
              </a:r>
            </a:p>
          </p:txBody>
        </p:sp>
        <p:sp>
          <p:nvSpPr>
            <p:cNvPr id="19" name="TextBox 19"/>
            <p:cNvSpPr txBox="1"/>
            <p:nvPr/>
          </p:nvSpPr>
          <p:spPr>
            <a:xfrm>
              <a:off x="2496312" y="3629025"/>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在目标函数里加一项复杂度</a:t>
              </a:r>
            </a:p>
          </p:txBody>
        </p:sp>
        <p:sp>
          <p:nvSpPr>
            <p:cNvPr id="20" name="TextBox 20"/>
            <p:cNvSpPr txBox="1"/>
            <p:nvPr/>
          </p:nvSpPr>
          <p:spPr>
            <a:xfrm>
              <a:off x="757047" y="3963352"/>
              <a:ext cx="4642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在误差目标函数中增加一项描述网络复杂程度的部分，例如连</a:t>
              </a:r>
              <a:br/>
              <a:r>
                <a:rPr lang="zh-CN" sz="1350" dirty="0">
                  <a:solidFill>
                    <a:srgbClr val="1F2937"/>
                  </a:solidFill>
                  <a:latin typeface="+mn-lt"/>
                  <a:ea typeface="+mn-ea"/>
                  <a:cs typeface="+mn-cs"/>
                </a:rPr>
                <a:t>接权值与阈值的平方和：</a:t>
              </a:r>
            </a:p>
          </p:txBody>
        </p:sp>
        <mc:AlternateContent xmlns:mc="http://schemas.openxmlformats.org/markup-compatibility/2006">
          <mc:Choice xmlns:a14="http://schemas.microsoft.com/office/drawing/2010/main" Requires="a14">
            <p:sp>
              <p:nvSpPr>
                <p:cNvPr id="21" name="formula189"/>
                <p:cNvSpPr txBox="1">
                  <a:spLocks noGrp="1"/>
                </p:cNvSpPr>
                <p:nvPr/>
              </p:nvSpPr>
              <p:spPr>
                <a:xfrm>
                  <a:off x="763905" y="4500562"/>
                  <a:ext cx="498729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80" dirty="0">
                                <a:solidFill>
                                  <a:srgbClr val="1F2937"/>
                                </a:solidFill>
                                <a:latin typeface="Cambria Math"/>
                                <a:ea typeface="Cambria Math"/>
                                <a:cs typeface="Cambria Math"/>
                              </a:rPr>
                              <m:t>E</m:t>
                            </m:r>
                          </m:e>
                          <m:sub>
                            <m:r>
                              <m:rPr>
                                <m:nor m:val="on"/>
                              </m:rPr>
                              <a:rPr lang="zh-CN" sz="1280" dirty="0">
                                <a:solidFill>
                                  <a:srgbClr val="1F2937"/>
                                </a:solidFill>
                                <a:latin typeface="Cambria Math"/>
                                <a:ea typeface="Cambria Math"/>
                                <a:cs typeface="Cambria Math"/>
                              </a:rPr>
                              <m:t>total</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E</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λ</m:t>
                        </m:r>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k</m:t>
                            </m:r>
                          </m:sub>
                          <m:sup/>
                          <m:e>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k</m:t>
                                </m:r>
                              </m:sub>
                              <m:sup>
                                <m:r>
                                  <a:rPr lang="zh-CN" sz="1280" dirty="0">
                                    <a:solidFill>
                                      <a:srgbClr val="1F2937"/>
                                    </a:solidFill>
                                    <a:latin typeface="Cambria Math"/>
                                    <a:ea typeface="Cambria Math"/>
                                    <a:cs typeface="Cambria Math"/>
                                  </a:rPr>
                                  <m:t>2</m:t>
                                </m:r>
                              </m:sup>
                            </m:sSubSup>
                          </m:e>
                        </m:nary>
                      </m:oMath>
                    </m:oMathPara>
                  </a14:m>
                </a:p>
              </p:txBody>
            </p:sp>
          </mc:Choice>
        </mc:AlternateContent>
        <p:sp>
          <p:nvSpPr>
            <p:cNvPr id="22" name="TextBox 22"/>
            <p:cNvSpPr txBox="1"/>
            <p:nvPr/>
          </p:nvSpPr>
          <p:spPr>
            <a:xfrm>
              <a:off x="757047" y="5143500"/>
              <a:ext cx="362119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λ 是正则化系数，越大越倾向于把权值压小。</a:t>
              </a:r>
            </a:p>
          </p:txBody>
        </p:sp>
      </p:grpSp>
      <p:grpSp>
        <p:nvGrpSpPr>
          <p:cNvPr id="32" name="c2-card-1"/>
          <p:cNvGrpSpPr/>
          <p:nvPr/>
        </p:nvGrpSpPr>
        <p:grpSpPr>
          <a:xfrm>
            <a:off x="6248400" y="1524000"/>
            <a:ext cx="5410200" cy="2257425"/>
            <a:chOff x="6248400" y="1524000"/>
            <a:chExt cx="5410200" cy="2257425"/>
          </a:xfrm>
        </p:grpSpPr>
        <p:sp>
          <p:nvSpPr>
            <p:cNvPr id="24" name="Rectangle 24"/>
            <p:cNvSpPr/>
            <p:nvPr/>
          </p:nvSpPr>
          <p:spPr>
            <a:xfrm>
              <a:off x="6248400" y="1524000"/>
              <a:ext cx="5410200" cy="2257425"/>
            </a:xfrm>
            <a:prstGeom prst="roundRect">
              <a:avLst>
                <a:gd name="adj" fmla="val 5907"/>
              </a:avLst>
            </a:prstGeom>
            <a:solidFill>
              <a:srgbClr val="FFFFFF"/>
            </a:solidFill>
            <a:ln w="14288">
              <a:solidFill>
                <a:srgbClr val="D9DFEA"/>
              </a:solidFill>
            </a:ln>
          </p:spPr>
        </p:sp>
        <p:sp>
          <p:nvSpPr>
            <p:cNvPr id="25" name="Rectangle 25"/>
            <p:cNvSpPr/>
            <p:nvPr/>
          </p:nvSpPr>
          <p:spPr>
            <a:xfrm>
              <a:off x="6257925" y="1657350"/>
              <a:ext cx="47625" cy="1990725"/>
            </a:xfrm>
            <a:prstGeom prst="roundRect">
              <a:avLst>
                <a:gd name="adj" fmla="val 50000"/>
              </a:avLst>
            </a:prstGeom>
            <a:solidFill>
              <a:srgbClr val="0E7C86"/>
            </a:solidFill>
            <a:ln>
              <a:noFill/>
            </a:ln>
          </p:spPr>
        </p:sp>
        <p:sp>
          <p:nvSpPr>
            <p:cNvPr id="26" name="Rectangle 26"/>
            <p:cNvSpPr/>
            <p:nvPr/>
          </p:nvSpPr>
          <p:spPr>
            <a:xfrm>
              <a:off x="6478905" y="1716405"/>
              <a:ext cx="748665" cy="247650"/>
            </a:xfrm>
            <a:prstGeom prst="roundRect">
              <a:avLst>
                <a:gd name="adj" fmla="val 50000"/>
              </a:avLst>
            </a:prstGeom>
            <a:solidFill>
              <a:srgbClr val="E2F3F4"/>
            </a:solidFill>
            <a:ln>
              <a:noFill/>
            </a:ln>
          </p:spPr>
        </p:sp>
        <p:sp>
          <p:nvSpPr>
            <p:cNvPr id="27" name="TextBox 27"/>
            <p:cNvSpPr txBox="1"/>
            <p:nvPr/>
          </p:nvSpPr>
          <p:spPr>
            <a:xfrm>
              <a:off x="6559888" y="1750695"/>
              <a:ext cx="586700" cy="205359"/>
            </a:xfrm>
            <a:prstGeom prst="rect">
              <a:avLst/>
            </a:prstGeom>
            <a:noFill/>
            <a:ln>
              <a:noFill/>
            </a:ln>
          </p:spPr>
          <p:txBody>
            <a:bodyPr wrap="none" lIns="0" tIns="0" rIns="0" bIns="0" anchor="t" anchorCtr="0">
              <a:spAutoFit/>
            </a:bodyPr>
            <a:lstStyle/>
            <a:p>
              <a:pPr algn="ctr"/>
              <a:r>
                <a:rPr lang="en-US" sz="1050" b="1" dirty="0">
                  <a:solidFill>
                    <a:srgbClr val="0E7C86"/>
                  </a:solidFill>
                  <a:latin typeface="+mn-lt"/>
                  <a:ea typeface="+mn-ea"/>
                  <a:cs typeface="+mn-cs"/>
                </a:rPr>
                <a:t>Dropout</a:t>
              </a:r>
            </a:p>
          </p:txBody>
        </p:sp>
        <p:sp>
          <p:nvSpPr>
            <p:cNvPr id="28" name="TextBox 28"/>
            <p:cNvSpPr txBox="1"/>
            <p:nvPr/>
          </p:nvSpPr>
          <p:spPr>
            <a:xfrm>
              <a:off x="7335012" y="1756410"/>
              <a:ext cx="255803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训练时随机让一部分神经元休息</a:t>
              </a:r>
            </a:p>
          </p:txBody>
        </p:sp>
        <p:sp>
          <p:nvSpPr>
            <p:cNvPr id="29" name="TextBox 29"/>
            <p:cNvSpPr txBox="1"/>
            <p:nvPr/>
          </p:nvSpPr>
          <p:spPr>
            <a:xfrm>
              <a:off x="6472047" y="2090738"/>
              <a:ext cx="479717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训练</a:t>
              </a:r>
              <a:r>
                <a:rPr lang="zh-CN" sz="1350" dirty="0">
                  <a:solidFill>
                    <a:srgbClr val="1F2937"/>
                  </a:solidFill>
                  <a:latin typeface="+mn-lt"/>
                  <a:ea typeface="+mn-ea"/>
                  <a:cs typeface="+mn-cs"/>
                </a:rPr>
                <a:t>：每次更新参数之前，每个神经元以概率 p% 被丢弃；网络</a:t>
              </a:r>
              <a:br/>
              <a:r>
                <a:rPr lang="zh-CN" sz="1350" dirty="0">
                  <a:solidFill>
                    <a:srgbClr val="1F2937"/>
                  </a:solidFill>
                  <a:latin typeface="+mn-lt"/>
                  <a:ea typeface="+mn-ea"/>
                  <a:cs typeface="+mn-cs"/>
                </a:rPr>
                <a:t>的结构因此改变，变得更薄，用这个新网络做一次训练。对每</a:t>
              </a:r>
              <a:br/>
              <a:r>
                <a:rPr lang="zh-CN" sz="1350" dirty="0">
                  <a:solidFill>
                    <a:srgbClr val="1F2937"/>
                  </a:solidFill>
                  <a:latin typeface="+mn-lt"/>
                  <a:ea typeface="+mn-ea"/>
                  <a:cs typeface="+mn-cs"/>
                </a:rPr>
                <a:t>一个 mini-batch 重新取样被丢弃的神经元。</a:t>
              </a:r>
            </a:p>
          </p:txBody>
        </p:sp>
        <p:sp>
          <p:nvSpPr>
            <p:cNvPr id="30" name="TextBox 30"/>
            <p:cNvSpPr txBox="1"/>
            <p:nvPr/>
          </p:nvSpPr>
          <p:spPr>
            <a:xfrm>
              <a:off x="6472047" y="2907030"/>
              <a:ext cx="411188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测试</a:t>
              </a:r>
              <a:r>
                <a:rPr lang="zh-CN" sz="1350" dirty="0">
                  <a:solidFill>
                    <a:srgbClr val="1F2937"/>
                  </a:solidFill>
                  <a:latin typeface="+mn-lt"/>
                  <a:ea typeface="+mn-ea"/>
                  <a:cs typeface="+mn-cs"/>
                </a:rPr>
                <a:t>：不做 dropout，但所有权值乘以 (1 − p%)。</a:t>
              </a:r>
            </a:p>
          </p:txBody>
        </p:sp>
        <p:sp>
          <p:nvSpPr>
            <p:cNvPr id="31" name="TextBox 31"/>
            <p:cNvSpPr txBox="1"/>
            <p:nvPr/>
          </p:nvSpPr>
          <p:spPr>
            <a:xfrm>
              <a:off x="6473190" y="3205639"/>
              <a:ext cx="44564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例：训练时 dropout 率是 50%，训练得到的权值 w = 1，测试时设 w =</a:t>
              </a:r>
              <a:br/>
              <a:r>
                <a:rPr lang="zh-CN" sz="1120" dirty="0">
                  <a:solidFill>
                    <a:srgbClr val="5B6475"/>
                  </a:solidFill>
                  <a:latin typeface="+mn-lt"/>
                  <a:ea typeface="+mn-ea"/>
                  <a:cs typeface="+mn-cs"/>
                </a:rPr>
                <a:t>0.5。</a:t>
              </a:r>
            </a:p>
          </p:txBody>
        </p:sp>
      </p:grpSp>
      <p:grpSp>
        <p:nvGrpSpPr>
          <p:cNvPr id="39" name="c2-card-2"/>
          <p:cNvGrpSpPr/>
          <p:nvPr/>
        </p:nvGrpSpPr>
        <p:grpSpPr>
          <a:xfrm>
            <a:off x="6248400" y="3956685"/>
            <a:ext cx="5410200" cy="1741170"/>
            <a:chOff x="6248400" y="3956685"/>
            <a:chExt cx="5410200" cy="1741170"/>
          </a:xfrm>
        </p:grpSpPr>
        <p:sp>
          <p:nvSpPr>
            <p:cNvPr id="33" name="Rectangle 33"/>
            <p:cNvSpPr/>
            <p:nvPr/>
          </p:nvSpPr>
          <p:spPr>
            <a:xfrm>
              <a:off x="6248400" y="3956685"/>
              <a:ext cx="5410200" cy="1741170"/>
            </a:xfrm>
            <a:prstGeom prst="roundRect">
              <a:avLst>
                <a:gd name="adj" fmla="val 7659"/>
              </a:avLst>
            </a:prstGeom>
            <a:solidFill>
              <a:srgbClr val="FFFFFF"/>
            </a:solidFill>
            <a:ln w="14288">
              <a:solidFill>
                <a:srgbClr val="D9DFEA"/>
              </a:solidFill>
            </a:ln>
          </p:spPr>
        </p:sp>
        <p:sp>
          <p:nvSpPr>
            <p:cNvPr id="34" name="Rectangle 34"/>
            <p:cNvSpPr/>
            <p:nvPr/>
          </p:nvSpPr>
          <p:spPr>
            <a:xfrm>
              <a:off x="6257925" y="4090035"/>
              <a:ext cx="47625" cy="1474470"/>
            </a:xfrm>
            <a:prstGeom prst="roundRect">
              <a:avLst>
                <a:gd name="adj" fmla="val 50000"/>
              </a:avLst>
            </a:prstGeom>
            <a:solidFill>
              <a:srgbClr val="B42318"/>
            </a:solidFill>
            <a:ln>
              <a:noFill/>
            </a:ln>
          </p:spPr>
        </p:sp>
        <p:sp>
          <p:nvSpPr>
            <p:cNvPr id="35" name="Rectangle 35"/>
            <p:cNvSpPr/>
            <p:nvPr/>
          </p:nvSpPr>
          <p:spPr>
            <a:xfrm>
              <a:off x="6478905" y="4149090"/>
              <a:ext cx="476250" cy="247650"/>
            </a:xfrm>
            <a:prstGeom prst="roundRect">
              <a:avLst>
                <a:gd name="adj" fmla="val 50000"/>
              </a:avLst>
            </a:prstGeom>
            <a:solidFill>
              <a:srgbClr val="FDECEA"/>
            </a:solidFill>
            <a:ln>
              <a:noFill/>
            </a:ln>
          </p:spPr>
        </p:sp>
        <p:sp>
          <p:nvSpPr>
            <p:cNvPr id="36" name="TextBox 36"/>
            <p:cNvSpPr txBox="1"/>
            <p:nvPr/>
          </p:nvSpPr>
          <p:spPr>
            <a:xfrm>
              <a:off x="6570345" y="4183380"/>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更正</a:t>
              </a:r>
            </a:p>
          </p:txBody>
        </p:sp>
        <p:sp>
          <p:nvSpPr>
            <p:cNvPr id="37" name="TextBox 37"/>
            <p:cNvSpPr txBox="1"/>
            <p:nvPr/>
          </p:nvSpPr>
          <p:spPr>
            <a:xfrm>
              <a:off x="7062597" y="4189095"/>
              <a:ext cx="153898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Dropout 不是剪枝</a:t>
              </a:r>
            </a:p>
          </p:txBody>
        </p:sp>
        <p:sp>
          <p:nvSpPr>
            <p:cNvPr id="38" name="TextBox 38"/>
            <p:cNvSpPr txBox="1"/>
            <p:nvPr/>
          </p:nvSpPr>
          <p:spPr>
            <a:xfrm>
              <a:off x="6472047" y="4522470"/>
              <a:ext cx="4720018"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B 版课件写“尽可能地缩减网络规模——剪枝（Droupout）”。两</a:t>
              </a:r>
              <a:br/>
              <a:r>
                <a:rPr lang="zh-CN" sz="1350" dirty="0">
                  <a:solidFill>
                    <a:srgbClr val="1F2937"/>
                  </a:solidFill>
                  <a:latin typeface="+mn-lt"/>
                  <a:ea typeface="+mn-ea"/>
                  <a:cs typeface="+mn-cs"/>
                </a:rPr>
                <a:t xml:space="preserve">处问题：拼写应为 </a:t>
              </a:r>
              <a:r>
                <a:rPr lang="en-US" sz="1350" b="1" dirty="0">
                  <a:solidFill>
                    <a:srgbClr val="0F7A68"/>
                  </a:solidFill>
                  <a:latin typeface="+mn-lt"/>
                  <a:ea typeface="+mn-ea"/>
                  <a:cs typeface="+mn-cs"/>
                </a:rPr>
                <a:t>Dropout</a:t>
              </a:r>
              <a:r>
                <a:rPr lang="zh-CN" sz="1350" dirty="0">
                  <a:solidFill>
                    <a:srgbClr val="1F2937"/>
                  </a:solidFill>
                  <a:latin typeface="+mn-lt"/>
                  <a:ea typeface="+mn-ea"/>
                  <a:cs typeface="+mn-cs"/>
                </a:rPr>
                <a:t xml:space="preserve">；而且 </a:t>
              </a:r>
              <a:r>
                <a:rPr lang="zh-CN" sz="1350" b="1" dirty="0">
                  <a:solidFill>
                    <a:srgbClr val="B42318"/>
                  </a:solidFill>
                  <a:latin typeface="+mn-lt"/>
                  <a:ea typeface="+mn-ea"/>
                  <a:cs typeface="+mn-cs"/>
                </a:rPr>
                <a:t>Dropout 不是剪枝</a:t>
              </a:r>
              <a:r>
                <a:rPr lang="zh-CN" sz="1350" dirty="0">
                  <a:solidFill>
                    <a:srgbClr val="1F2937"/>
                  </a:solidFill>
                  <a:latin typeface="+mn-lt"/>
                  <a:ea typeface="+mn-ea"/>
                  <a:cs typeface="+mn-cs"/>
                </a:rPr>
                <a:t>——剪枝</a:t>
              </a:r>
              <a:br/>
              <a:r>
                <a:rPr lang="zh-CN" sz="1350" dirty="0">
                  <a:solidFill>
                    <a:srgbClr val="1F2937"/>
                  </a:solidFill>
                  <a:latin typeface="+mn-lt"/>
                  <a:ea typeface="+mn-ea"/>
                  <a:cs typeface="+mn-cs"/>
                </a:rPr>
                <a:t>pruning 是永久删掉不重要的连接，Dropout 是训练时临时随</a:t>
              </a:r>
              <a:br/>
              <a:r>
                <a:rPr lang="zh-CN" sz="1350" dirty="0">
                  <a:solidFill>
                    <a:srgbClr val="1F2937"/>
                  </a:solidFill>
                  <a:latin typeface="+mn-lt"/>
                  <a:ea typeface="+mn-ea"/>
                  <a:cs typeface="+mn-cs"/>
                </a:rPr>
                <a:t>机屏蔽，测试时全部神经元都在。</a:t>
              </a:r>
            </a:p>
          </p:txBody>
        </p:sp>
      </p:grpSp>
      <p:grpSp>
        <p:nvGrpSpPr>
          <p:cNvPr id="45" name="takeaway"/>
          <p:cNvGrpSpPr/>
          <p:nvPr/>
        </p:nvGrpSpPr>
        <p:grpSpPr>
          <a:xfrm>
            <a:off x="533400" y="5874068"/>
            <a:ext cx="11125200" cy="488632"/>
            <a:chOff x="533400" y="5874068"/>
            <a:chExt cx="11125200" cy="488632"/>
          </a:xfrm>
        </p:grpSpPr>
        <p:sp>
          <p:nvSpPr>
            <p:cNvPr id="40" name="Rectangle 40"/>
            <p:cNvSpPr/>
            <p:nvPr/>
          </p:nvSpPr>
          <p:spPr>
            <a:xfrm>
              <a:off x="533400" y="5874068"/>
              <a:ext cx="11125200" cy="488632"/>
            </a:xfrm>
            <a:prstGeom prst="roundRect">
              <a:avLst>
                <a:gd name="adj" fmla="val 23392"/>
              </a:avLst>
            </a:prstGeom>
            <a:solidFill>
              <a:srgbClr val="0E7C86"/>
            </a:solidFill>
            <a:ln>
              <a:noFill/>
            </a:ln>
          </p:spPr>
        </p:sp>
        <p:grpSp>
          <p:nvGrpSpPr>
            <p:cNvPr id="43" name="Group 43"/>
            <p:cNvGrpSpPr/>
            <p:nvPr/>
          </p:nvGrpSpPr>
          <p:grpSpPr>
            <a:xfrm>
              <a:off x="738188" y="6017897"/>
              <a:ext cx="200023" cy="200023"/>
              <a:chOff x="738188" y="6017897"/>
              <a:chExt cx="200023" cy="200023"/>
            </a:xfrm>
          </p:grpSpPr>
          <p:sp>
            <p:nvSpPr>
              <p:cNvPr id="41" name="Freeform 41"/>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1040892" y="6023610"/>
              <a:ext cx="895218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三者防的是同一件事的不同侧面：早停限制训练时间，正则化限制权值大小，Dropout 限制神经元之间的依赖。</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表示能力很强，代价也在这里</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2086928"/>
            <a:chOff x="533400" y="1524000"/>
            <a:chExt cx="5626418" cy="2086928"/>
          </a:xfrm>
        </p:grpSpPr>
        <p:sp>
          <p:nvSpPr>
            <p:cNvPr id="7" name="Rectangle 7"/>
            <p:cNvSpPr/>
            <p:nvPr/>
          </p:nvSpPr>
          <p:spPr>
            <a:xfrm>
              <a:off x="533400" y="1524000"/>
              <a:ext cx="5626418" cy="2086928"/>
            </a:xfrm>
            <a:prstGeom prst="roundRect">
              <a:avLst>
                <a:gd name="adj" fmla="val 6390"/>
              </a:avLst>
            </a:prstGeom>
            <a:solidFill>
              <a:srgbClr val="FFFFFF"/>
            </a:solidFill>
            <a:ln w="14288">
              <a:solidFill>
                <a:srgbClr val="D9DFEA"/>
              </a:solidFill>
            </a:ln>
          </p:spPr>
        </p:sp>
        <p:sp>
          <p:nvSpPr>
            <p:cNvPr id="8" name="Rectangle 8"/>
            <p:cNvSpPr/>
            <p:nvPr/>
          </p:nvSpPr>
          <p:spPr>
            <a:xfrm>
              <a:off x="542925" y="1657350"/>
              <a:ext cx="47625" cy="1820228"/>
            </a:xfrm>
            <a:prstGeom prst="roundRect">
              <a:avLst>
                <a:gd name="adj" fmla="val 50000"/>
              </a:avLst>
            </a:prstGeom>
            <a:solidFill>
              <a:srgbClr val="F26B3A"/>
            </a:solidFill>
            <a:ln>
              <a:noFill/>
            </a:ln>
          </p:spPr>
        </p:sp>
        <p:sp>
          <p:nvSpPr>
            <p:cNvPr id="9" name="Rectangle 9"/>
            <p:cNvSpPr/>
            <p:nvPr/>
          </p:nvSpPr>
          <p:spPr>
            <a:xfrm>
              <a:off x="769620" y="1722120"/>
              <a:ext cx="1009650" cy="247650"/>
            </a:xfrm>
            <a:prstGeom prst="roundRect">
              <a:avLst>
                <a:gd name="adj" fmla="val 50000"/>
              </a:avLst>
            </a:prstGeom>
            <a:solidFill>
              <a:srgbClr val="FDEEE7"/>
            </a:solidFill>
            <a:ln>
              <a:noFill/>
            </a:ln>
          </p:spPr>
        </p:sp>
        <p:sp>
          <p:nvSpPr>
            <p:cNvPr id="10" name="TextBox 10"/>
            <p:cNvSpPr txBox="1"/>
            <p:nvPr/>
          </p:nvSpPr>
          <p:spPr>
            <a:xfrm>
              <a:off x="845058" y="1756410"/>
              <a:ext cx="858774"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万能逼近定理</a:t>
              </a:r>
            </a:p>
          </p:txBody>
        </p:sp>
        <p:sp>
          <p:nvSpPr>
            <p:cNvPr id="11" name="TextBox 11"/>
            <p:cNvSpPr txBox="1"/>
            <p:nvPr/>
          </p:nvSpPr>
          <p:spPr>
            <a:xfrm>
              <a:off x="762381" y="2082641"/>
              <a:ext cx="435662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多层前馈网络的表示能力［Hornik et al., 1989］</a:t>
              </a:r>
            </a:p>
          </p:txBody>
        </p:sp>
        <p:sp>
          <p:nvSpPr>
            <p:cNvPr id="12" name="TextBox 12"/>
            <p:cNvSpPr txBox="1"/>
            <p:nvPr/>
          </p:nvSpPr>
          <p:spPr>
            <a:xfrm>
              <a:off x="762381" y="2418874"/>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只需要一个包含足够多神经元的隐层，多层前馈神经网络就能</a:t>
              </a:r>
              <a:br/>
              <a:r>
                <a:rPr lang="zh-CN" sz="1420" dirty="0">
                  <a:solidFill>
                    <a:srgbClr val="1F2937"/>
                  </a:solidFill>
                  <a:latin typeface="+mn-lt"/>
                  <a:ea typeface="+mn-ea"/>
                  <a:cs typeface="+mn-cs"/>
                </a:rPr>
                <a:t xml:space="preserve">以 </a:t>
              </a:r>
              <a:r>
                <a:rPr lang="zh-CN" sz="1420" b="1" dirty="0">
                  <a:solidFill>
                    <a:srgbClr val="C2410C"/>
                  </a:solidFill>
                  <a:latin typeface="+mn-lt"/>
                  <a:ea typeface="+mn-ea"/>
                  <a:cs typeface="+mn-cs"/>
                </a:rPr>
                <a:t>任意精度逼近任意复杂度的连续函数</a:t>
              </a:r>
              <a:r>
                <a:rPr lang="zh-CN" sz="1420" dirty="0">
                  <a:solidFill>
                    <a:srgbClr val="1F2937"/>
                  </a:solidFill>
                  <a:latin typeface="+mn-lt"/>
                  <a:ea typeface="+mn-ea"/>
                  <a:cs typeface="+mn-cs"/>
                </a:rPr>
                <a:t>。</a:t>
              </a:r>
            </a:p>
          </p:txBody>
        </p:sp>
        <p:sp>
          <p:nvSpPr>
            <p:cNvPr id="13" name="TextBox 13"/>
            <p:cNvSpPr txBox="1"/>
            <p:nvPr/>
          </p:nvSpPr>
          <p:spPr>
            <a:xfrm>
              <a:off x="763524" y="3004185"/>
              <a:ext cx="490423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定理只说“存在这样一组权值”，没说怎么找到它，也没说需要多少个神经</a:t>
              </a:r>
              <a:br/>
              <a:r>
                <a:rPr lang="zh-CN" sz="1200" dirty="0">
                  <a:solidFill>
                    <a:srgbClr val="5B6475"/>
                  </a:solidFill>
                  <a:latin typeface="+mn-lt"/>
                  <a:ea typeface="+mn-ea"/>
                  <a:cs typeface="+mn-cs"/>
                </a:rPr>
                <a:t>元。</a:t>
              </a:r>
            </a:p>
          </p:txBody>
        </p:sp>
      </p:grpSp>
      <p:grpSp>
        <p:nvGrpSpPr>
          <p:cNvPr id="26" name="c1-card-2"/>
          <p:cNvGrpSpPr/>
          <p:nvPr/>
        </p:nvGrpSpPr>
        <p:grpSpPr>
          <a:xfrm>
            <a:off x="533400" y="3790950"/>
            <a:ext cx="5626418" cy="1858328"/>
            <a:chOff x="533400" y="3790950"/>
            <a:chExt cx="5626418" cy="1858328"/>
          </a:xfrm>
        </p:grpSpPr>
        <p:sp>
          <p:nvSpPr>
            <p:cNvPr id="15" name="Rectangle 15"/>
            <p:cNvSpPr/>
            <p:nvPr/>
          </p:nvSpPr>
          <p:spPr>
            <a:xfrm>
              <a:off x="533400" y="3790950"/>
              <a:ext cx="5626418" cy="1858328"/>
            </a:xfrm>
            <a:prstGeom prst="roundRect">
              <a:avLst>
                <a:gd name="adj" fmla="val 7176"/>
              </a:avLst>
            </a:prstGeom>
            <a:solidFill>
              <a:srgbClr val="FFFFFF"/>
            </a:solidFill>
            <a:ln w="14288">
              <a:solidFill>
                <a:srgbClr val="D9DFEA"/>
              </a:solidFill>
            </a:ln>
          </p:spPr>
        </p:sp>
        <p:sp>
          <p:nvSpPr>
            <p:cNvPr id="16" name="Rectangle 16"/>
            <p:cNvSpPr/>
            <p:nvPr/>
          </p:nvSpPr>
          <p:spPr>
            <a:xfrm>
              <a:off x="542925" y="3924300"/>
              <a:ext cx="47625" cy="1591628"/>
            </a:xfrm>
            <a:prstGeom prst="roundRect">
              <a:avLst>
                <a:gd name="adj" fmla="val 50000"/>
              </a:avLst>
            </a:prstGeom>
            <a:solidFill>
              <a:srgbClr val="B42318"/>
            </a:solidFill>
            <a:ln>
              <a:noFill/>
            </a:ln>
          </p:spPr>
        </p:sp>
        <p:sp>
          <p:nvSpPr>
            <p:cNvPr id="17" name="Rectangle 17"/>
            <p:cNvSpPr/>
            <p:nvPr/>
          </p:nvSpPr>
          <p:spPr>
            <a:xfrm>
              <a:off x="769620" y="3989070"/>
              <a:ext cx="476250" cy="247650"/>
            </a:xfrm>
            <a:prstGeom prst="roundRect">
              <a:avLst>
                <a:gd name="adj" fmla="val 50000"/>
              </a:avLst>
            </a:prstGeom>
            <a:solidFill>
              <a:srgbClr val="FDECEA"/>
            </a:solidFill>
            <a:ln>
              <a:noFill/>
            </a:ln>
          </p:spPr>
        </p:sp>
        <p:sp>
          <p:nvSpPr>
            <p:cNvPr id="18" name="TextBox 18"/>
            <p:cNvSpPr txBox="1"/>
            <p:nvPr/>
          </p:nvSpPr>
          <p:spPr>
            <a:xfrm>
              <a:off x="861060" y="4023360"/>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局限</a:t>
              </a:r>
            </a:p>
          </p:txBody>
        </p:sp>
        <p:sp>
          <p:nvSpPr>
            <p:cNvPr id="19" name="TextBox 19"/>
            <p:cNvSpPr txBox="1"/>
            <p:nvPr/>
          </p:nvSpPr>
          <p:spPr>
            <a:xfrm>
              <a:off x="1352931" y="4023836"/>
              <a:ext cx="230840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强表示能力带来的两个麻烦</a:t>
              </a:r>
            </a:p>
          </p:txBody>
        </p:sp>
        <p:sp>
          <p:nvSpPr>
            <p:cNvPr id="20" name="Ellipse 20"/>
            <p:cNvSpPr/>
            <p:nvPr/>
          </p:nvSpPr>
          <p:spPr>
            <a:xfrm>
              <a:off x="769620" y="4354830"/>
              <a:ext cx="201930" cy="201930"/>
            </a:xfrm>
            <a:prstGeom prst="ellipse">
              <a:avLst/>
            </a:prstGeom>
            <a:solidFill>
              <a:srgbClr val="0E7C86"/>
            </a:solidFill>
            <a:ln>
              <a:noFill/>
            </a:ln>
          </p:spPr>
        </p:sp>
        <p:sp>
          <p:nvSpPr>
            <p:cNvPr id="21" name="TextBox 21"/>
            <p:cNvSpPr txBox="1"/>
            <p:nvPr/>
          </p:nvSpPr>
          <p:spPr>
            <a:xfrm>
              <a:off x="827965" y="43951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22" name="TextBox 22"/>
            <p:cNvSpPr txBox="1"/>
            <p:nvPr/>
          </p:nvSpPr>
          <p:spPr>
            <a:xfrm>
              <a:off x="1060514" y="4367689"/>
              <a:ext cx="470331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容易过拟合</a:t>
              </a:r>
              <a:r>
                <a:rPr lang="zh-CN" sz="1420" dirty="0">
                  <a:solidFill>
                    <a:srgbClr val="1F2937"/>
                  </a:solidFill>
                  <a:latin typeface="+mn-lt"/>
                  <a:ea typeface="+mn-ea"/>
                  <a:cs typeface="+mn-cs"/>
                </a:rPr>
                <a:t>：表现为训练误差持续降低，但测试误差却可能</a:t>
              </a:r>
              <a:br/>
              <a:r>
                <a:rPr lang="zh-CN" sz="1420" dirty="0">
                  <a:solidFill>
                    <a:srgbClr val="1F2937"/>
                  </a:solidFill>
                  <a:latin typeface="+mn-lt"/>
                  <a:ea typeface="+mn-ea"/>
                  <a:cs typeface="+mn-cs"/>
                </a:rPr>
                <a:t>上升。</a:t>
              </a:r>
            </a:p>
          </p:txBody>
        </p:sp>
        <p:sp>
          <p:nvSpPr>
            <p:cNvPr id="23" name="Ellipse 23"/>
            <p:cNvSpPr/>
            <p:nvPr/>
          </p:nvSpPr>
          <p:spPr>
            <a:xfrm>
              <a:off x="769620" y="4944428"/>
              <a:ext cx="201930" cy="201930"/>
            </a:xfrm>
            <a:prstGeom prst="ellipse">
              <a:avLst/>
            </a:prstGeom>
            <a:solidFill>
              <a:srgbClr val="0E7C86"/>
            </a:solidFill>
            <a:ln>
              <a:noFill/>
            </a:ln>
          </p:spPr>
        </p:sp>
        <p:sp>
          <p:nvSpPr>
            <p:cNvPr id="24" name="TextBox 24"/>
            <p:cNvSpPr txBox="1"/>
            <p:nvPr/>
          </p:nvSpPr>
          <p:spPr>
            <a:xfrm>
              <a:off x="827965" y="498476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25" name="TextBox 25"/>
            <p:cNvSpPr txBox="1"/>
            <p:nvPr/>
          </p:nvSpPr>
          <p:spPr>
            <a:xfrm>
              <a:off x="1060514" y="4956334"/>
              <a:ext cx="470331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隐层神经元个数怎么定仍是未决问题</a:t>
              </a:r>
              <a:r>
                <a:rPr lang="zh-CN" sz="1420" dirty="0">
                  <a:solidFill>
                    <a:srgbClr val="1F2937"/>
                  </a:solidFill>
                  <a:latin typeface="+mn-lt"/>
                  <a:ea typeface="+mn-ea"/>
                  <a:cs typeface="+mn-cs"/>
                </a:rPr>
                <a:t>：实际应用中通常使用</a:t>
              </a:r>
              <a:br/>
              <a:r>
                <a:rPr lang="zh-CN" sz="1420" dirty="0">
                  <a:solidFill>
                    <a:srgbClr val="1F2937"/>
                  </a:solidFill>
                  <a:latin typeface="+mn-lt"/>
                  <a:ea typeface="+mn-ea"/>
                  <a:cs typeface="+mn-cs"/>
                </a:rPr>
                <a:t>“试错法”调整。</a:t>
              </a:r>
            </a:p>
          </p:txBody>
        </p:sp>
      </p:grpSp>
      <p:grpSp>
        <p:nvGrpSpPr>
          <p:cNvPr id="55" name="c2-table-1"/>
          <p:cNvGrpSpPr/>
          <p:nvPr/>
        </p:nvGrpSpPr>
        <p:grpSpPr>
          <a:xfrm>
            <a:off x="6459284" y="1524000"/>
            <a:ext cx="5199316" cy="2404682"/>
            <a:chOff x="6459284" y="1524000"/>
            <a:chExt cx="5199316" cy="2404682"/>
          </a:xfrm>
        </p:grpSpPr>
        <p:sp>
          <p:nvSpPr>
            <p:cNvPr id="27" name="Rectangle 27"/>
            <p:cNvSpPr/>
            <p:nvPr/>
          </p:nvSpPr>
          <p:spPr>
            <a:xfrm>
              <a:off x="6464618" y="1524000"/>
              <a:ext cx="5193982" cy="424815"/>
            </a:xfrm>
            <a:prstGeom prst="rect">
              <a:avLst/>
            </a:prstGeom>
            <a:solidFill>
              <a:srgbClr val="0E7C86"/>
            </a:solidFill>
            <a:ln>
              <a:noFill/>
            </a:ln>
          </p:spPr>
        </p:sp>
        <p:sp>
          <p:nvSpPr>
            <p:cNvPr id="28" name="TextBox 28"/>
            <p:cNvSpPr txBox="1"/>
            <p:nvPr/>
          </p:nvSpPr>
          <p:spPr>
            <a:xfrm>
              <a:off x="6738938"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状态</a:t>
              </a:r>
            </a:p>
          </p:txBody>
        </p:sp>
        <p:sp>
          <p:nvSpPr>
            <p:cNvPr id="29" name="TextBox 29"/>
            <p:cNvSpPr txBox="1"/>
            <p:nvPr/>
          </p:nvSpPr>
          <p:spPr>
            <a:xfrm>
              <a:off x="7460361"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训练误差</a:t>
              </a:r>
            </a:p>
          </p:txBody>
        </p:sp>
        <p:sp>
          <p:nvSpPr>
            <p:cNvPr id="30" name="TextBox 30"/>
            <p:cNvSpPr txBox="1"/>
            <p:nvPr/>
          </p:nvSpPr>
          <p:spPr>
            <a:xfrm>
              <a:off x="8343329"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验证误差</a:t>
              </a:r>
            </a:p>
          </p:txBody>
        </p:sp>
        <p:sp>
          <p:nvSpPr>
            <p:cNvPr id="31" name="TextBox 31"/>
            <p:cNvSpPr txBox="1"/>
            <p:nvPr/>
          </p:nvSpPr>
          <p:spPr>
            <a:xfrm>
              <a:off x="10056876"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该做什么</a:t>
              </a:r>
            </a:p>
          </p:txBody>
        </p:sp>
        <p:sp>
          <p:nvSpPr>
            <p:cNvPr id="32" name="TextBox 32"/>
            <p:cNvSpPr txBox="1"/>
            <p:nvPr/>
          </p:nvSpPr>
          <p:spPr>
            <a:xfrm>
              <a:off x="6567106" y="218313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欠拟合</a:t>
              </a:r>
            </a:p>
          </p:txBody>
        </p:sp>
        <p:sp>
          <p:nvSpPr>
            <p:cNvPr id="33" name="TextBox 33"/>
            <p:cNvSpPr txBox="1"/>
            <p:nvPr/>
          </p:nvSpPr>
          <p:spPr>
            <a:xfrm>
              <a:off x="7450074" y="2183130"/>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高</a:t>
              </a:r>
            </a:p>
          </p:txBody>
        </p:sp>
        <p:sp>
          <p:nvSpPr>
            <p:cNvPr id="34" name="TextBox 34"/>
            <p:cNvSpPr txBox="1"/>
            <p:nvPr/>
          </p:nvSpPr>
          <p:spPr>
            <a:xfrm>
              <a:off x="8333042" y="2183130"/>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高</a:t>
              </a:r>
            </a:p>
          </p:txBody>
        </p:sp>
        <p:sp>
          <p:nvSpPr>
            <p:cNvPr id="35" name="TextBox 35"/>
            <p:cNvSpPr txBox="1"/>
            <p:nvPr/>
          </p:nvSpPr>
          <p:spPr>
            <a:xfrm>
              <a:off x="9216009" y="2076450"/>
              <a:ext cx="2145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加大网络、加训练轮数、换更强</a:t>
              </a:r>
              <a:br/>
              <a:r>
                <a:rPr lang="zh-CN" sz="1200" dirty="0">
                  <a:solidFill>
                    <a:srgbClr val="1F2937"/>
                  </a:solidFill>
                  <a:latin typeface="+mn-lt"/>
                  <a:ea typeface="+mn-ea"/>
                  <a:cs typeface="+mn-cs"/>
                </a:rPr>
                <a:t>的特征</a:t>
              </a:r>
            </a:p>
          </p:txBody>
        </p:sp>
        <p:sp>
          <p:nvSpPr>
            <p:cNvPr id="36" name="Rectangle 36"/>
            <p:cNvSpPr/>
            <p:nvPr/>
          </p:nvSpPr>
          <p:spPr>
            <a:xfrm>
              <a:off x="6464618" y="2581275"/>
              <a:ext cx="5193982" cy="9525"/>
            </a:xfrm>
            <a:prstGeom prst="rect">
              <a:avLst/>
            </a:prstGeom>
            <a:solidFill>
              <a:srgbClr val="D9DFEA"/>
            </a:solidFill>
            <a:ln>
              <a:noFill/>
            </a:ln>
          </p:spPr>
        </p:sp>
        <p:sp>
          <p:nvSpPr>
            <p:cNvPr id="37" name="Rectangle 37"/>
            <p:cNvSpPr/>
            <p:nvPr/>
          </p:nvSpPr>
          <p:spPr>
            <a:xfrm>
              <a:off x="6464618" y="2586038"/>
              <a:ext cx="5193982" cy="424815"/>
            </a:xfrm>
            <a:prstGeom prst="rect">
              <a:avLst/>
            </a:prstGeom>
            <a:solidFill>
              <a:srgbClr val="F4F6FB"/>
            </a:solidFill>
            <a:ln>
              <a:noFill/>
            </a:ln>
          </p:spPr>
        </p:sp>
        <p:sp>
          <p:nvSpPr>
            <p:cNvPr id="38" name="TextBox 38"/>
            <p:cNvSpPr txBox="1"/>
            <p:nvPr/>
          </p:nvSpPr>
          <p:spPr>
            <a:xfrm>
              <a:off x="6567106" y="2714625"/>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恰好</a:t>
              </a:r>
            </a:p>
          </p:txBody>
        </p:sp>
        <p:sp>
          <p:nvSpPr>
            <p:cNvPr id="39" name="Rectangle 39"/>
            <p:cNvSpPr/>
            <p:nvPr/>
          </p:nvSpPr>
          <p:spPr>
            <a:xfrm>
              <a:off x="7357110" y="2595562"/>
              <a:ext cx="863918" cy="405765"/>
            </a:xfrm>
            <a:prstGeom prst="rect">
              <a:avLst/>
            </a:prstGeom>
            <a:solidFill>
              <a:srgbClr val="E3F5F1"/>
            </a:solidFill>
            <a:ln>
              <a:noFill/>
            </a:ln>
          </p:spPr>
        </p:sp>
        <p:sp>
          <p:nvSpPr>
            <p:cNvPr id="40" name="TextBox 40"/>
            <p:cNvSpPr txBox="1"/>
            <p:nvPr/>
          </p:nvSpPr>
          <p:spPr>
            <a:xfrm>
              <a:off x="7450074" y="2714625"/>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低</a:t>
              </a:r>
            </a:p>
          </p:txBody>
        </p:sp>
        <p:sp>
          <p:nvSpPr>
            <p:cNvPr id="41" name="Rectangle 41"/>
            <p:cNvSpPr/>
            <p:nvPr/>
          </p:nvSpPr>
          <p:spPr>
            <a:xfrm>
              <a:off x="8240078" y="2595562"/>
              <a:ext cx="863918" cy="405765"/>
            </a:xfrm>
            <a:prstGeom prst="rect">
              <a:avLst/>
            </a:prstGeom>
            <a:solidFill>
              <a:srgbClr val="E3F5F1"/>
            </a:solidFill>
            <a:ln>
              <a:noFill/>
            </a:ln>
          </p:spPr>
        </p:sp>
        <p:sp>
          <p:nvSpPr>
            <p:cNvPr id="42" name="TextBox 42"/>
            <p:cNvSpPr txBox="1"/>
            <p:nvPr/>
          </p:nvSpPr>
          <p:spPr>
            <a:xfrm>
              <a:off x="8333042" y="2714625"/>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低</a:t>
              </a:r>
            </a:p>
          </p:txBody>
        </p:sp>
        <p:sp>
          <p:nvSpPr>
            <p:cNvPr id="43" name="TextBox 43"/>
            <p:cNvSpPr txBox="1"/>
            <p:nvPr/>
          </p:nvSpPr>
          <p:spPr>
            <a:xfrm>
              <a:off x="9216009" y="2714625"/>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停在这里</a:t>
              </a:r>
            </a:p>
          </p:txBody>
        </p:sp>
        <p:sp>
          <p:nvSpPr>
            <p:cNvPr id="44" name="Rectangle 44"/>
            <p:cNvSpPr/>
            <p:nvPr/>
          </p:nvSpPr>
          <p:spPr>
            <a:xfrm>
              <a:off x="6464618" y="3006090"/>
              <a:ext cx="5193982" cy="9525"/>
            </a:xfrm>
            <a:prstGeom prst="rect">
              <a:avLst/>
            </a:prstGeom>
            <a:solidFill>
              <a:srgbClr val="D9DFEA"/>
            </a:solidFill>
            <a:ln>
              <a:noFill/>
            </a:ln>
          </p:spPr>
        </p:sp>
        <p:sp>
          <p:nvSpPr>
            <p:cNvPr id="45" name="TextBox 45"/>
            <p:cNvSpPr txBox="1"/>
            <p:nvPr/>
          </p:nvSpPr>
          <p:spPr>
            <a:xfrm>
              <a:off x="6567106" y="324612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过拟合</a:t>
              </a:r>
            </a:p>
          </p:txBody>
        </p:sp>
        <p:sp>
          <p:nvSpPr>
            <p:cNvPr id="46" name="TextBox 46"/>
            <p:cNvSpPr txBox="1"/>
            <p:nvPr/>
          </p:nvSpPr>
          <p:spPr>
            <a:xfrm>
              <a:off x="7450074" y="3246120"/>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很低</a:t>
              </a:r>
            </a:p>
          </p:txBody>
        </p:sp>
        <p:sp>
          <p:nvSpPr>
            <p:cNvPr id="47" name="Rectangle 47"/>
            <p:cNvSpPr/>
            <p:nvPr/>
          </p:nvSpPr>
          <p:spPr>
            <a:xfrm>
              <a:off x="8240078" y="3020378"/>
              <a:ext cx="863918" cy="619125"/>
            </a:xfrm>
            <a:prstGeom prst="rect">
              <a:avLst/>
            </a:prstGeom>
            <a:solidFill>
              <a:srgbClr val="FDEEE7"/>
            </a:solidFill>
            <a:ln>
              <a:noFill/>
            </a:ln>
          </p:spPr>
        </p:sp>
        <p:sp>
          <p:nvSpPr>
            <p:cNvPr id="48" name="TextBox 48"/>
            <p:cNvSpPr txBox="1"/>
            <p:nvPr/>
          </p:nvSpPr>
          <p:spPr>
            <a:xfrm>
              <a:off x="8333042" y="3246120"/>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上升</a:t>
              </a:r>
            </a:p>
          </p:txBody>
        </p:sp>
        <p:sp>
          <p:nvSpPr>
            <p:cNvPr id="49" name="TextBox 49"/>
            <p:cNvSpPr txBox="1"/>
            <p:nvPr/>
          </p:nvSpPr>
          <p:spPr>
            <a:xfrm>
              <a:off x="9216009" y="3139440"/>
              <a:ext cx="21229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早停、正则化、Dropout、加数</a:t>
              </a:r>
              <a:br/>
              <a:r>
                <a:rPr lang="zh-CN" sz="1200" dirty="0">
                  <a:solidFill>
                    <a:srgbClr val="1F2937"/>
                  </a:solidFill>
                  <a:latin typeface="+mn-lt"/>
                  <a:ea typeface="+mn-ea"/>
                  <a:cs typeface="+mn-cs"/>
                </a:rPr>
                <a:t>据</a:t>
              </a:r>
            </a:p>
          </p:txBody>
        </p:sp>
        <p:sp>
          <p:nvSpPr>
            <p:cNvPr id="50" name="Rectangle 50"/>
            <p:cNvSpPr/>
            <p:nvPr/>
          </p:nvSpPr>
          <p:spPr>
            <a:xfrm>
              <a:off x="6464618" y="1524000"/>
              <a:ext cx="5193982" cy="2124075"/>
            </a:xfrm>
            <a:prstGeom prst="rect">
              <a:avLst/>
            </a:prstGeom>
            <a:noFill/>
            <a:ln w="14288">
              <a:solidFill>
                <a:srgbClr val="D9DFEA"/>
              </a:solidFill>
            </a:ln>
          </p:spPr>
        </p:sp>
        <p:sp>
          <p:nvSpPr>
            <p:cNvPr id="51" name="Rectangle 51"/>
            <p:cNvSpPr/>
            <p:nvPr/>
          </p:nvSpPr>
          <p:spPr>
            <a:xfrm>
              <a:off x="7342822" y="1524000"/>
              <a:ext cx="9525" cy="2124075"/>
            </a:xfrm>
            <a:prstGeom prst="rect">
              <a:avLst/>
            </a:prstGeom>
            <a:solidFill>
              <a:srgbClr val="D9DFEA"/>
            </a:solidFill>
            <a:ln>
              <a:noFill/>
            </a:ln>
          </p:spPr>
        </p:sp>
        <p:sp>
          <p:nvSpPr>
            <p:cNvPr id="52" name="Rectangle 52"/>
            <p:cNvSpPr/>
            <p:nvPr/>
          </p:nvSpPr>
          <p:spPr>
            <a:xfrm>
              <a:off x="8225790" y="1524000"/>
              <a:ext cx="9525" cy="2124075"/>
            </a:xfrm>
            <a:prstGeom prst="rect">
              <a:avLst/>
            </a:prstGeom>
            <a:solidFill>
              <a:srgbClr val="D9DFEA"/>
            </a:solidFill>
            <a:ln>
              <a:noFill/>
            </a:ln>
          </p:spPr>
        </p:sp>
        <p:sp>
          <p:nvSpPr>
            <p:cNvPr id="53" name="Rectangle 53"/>
            <p:cNvSpPr/>
            <p:nvPr/>
          </p:nvSpPr>
          <p:spPr>
            <a:xfrm>
              <a:off x="9108758" y="1524000"/>
              <a:ext cx="9525" cy="2124075"/>
            </a:xfrm>
            <a:prstGeom prst="rect">
              <a:avLst/>
            </a:prstGeom>
            <a:solidFill>
              <a:srgbClr val="D9DFEA"/>
            </a:solidFill>
            <a:ln>
              <a:noFill/>
            </a:ln>
          </p:spPr>
        </p:sp>
        <p:sp>
          <p:nvSpPr>
            <p:cNvPr id="54" name="TextBox 54"/>
            <p:cNvSpPr txBox="1"/>
            <p:nvPr/>
          </p:nvSpPr>
          <p:spPr>
            <a:xfrm>
              <a:off x="6459284" y="3723323"/>
              <a:ext cx="474592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三种拟合状态的识别（under-fitting / optimal-fitting / over-fitting）</a:t>
              </a:r>
            </a:p>
          </p:txBody>
        </p:sp>
      </p:grpSp>
      <p:grpSp>
        <p:nvGrpSpPr>
          <p:cNvPr id="62" name="c2-callout-2"/>
          <p:cNvGrpSpPr/>
          <p:nvPr/>
        </p:nvGrpSpPr>
        <p:grpSpPr>
          <a:xfrm>
            <a:off x="6464618" y="4067175"/>
            <a:ext cx="5193982" cy="1582102"/>
            <a:chOff x="6464618" y="4067175"/>
            <a:chExt cx="5193982" cy="1582102"/>
          </a:xfrm>
        </p:grpSpPr>
        <p:sp>
          <p:nvSpPr>
            <p:cNvPr id="56" name="Rectangle 56"/>
            <p:cNvSpPr/>
            <p:nvPr/>
          </p:nvSpPr>
          <p:spPr>
            <a:xfrm>
              <a:off x="6464618" y="4067175"/>
              <a:ext cx="5193982" cy="1582102"/>
            </a:xfrm>
            <a:prstGeom prst="roundRect">
              <a:avLst>
                <a:gd name="adj" fmla="val 7225"/>
              </a:avLst>
            </a:prstGeom>
            <a:solidFill>
              <a:srgbClr val="FDEEE7"/>
            </a:solidFill>
            <a:ln>
              <a:noFill/>
            </a:ln>
          </p:spPr>
        </p:sp>
        <p:grpSp>
          <p:nvGrpSpPr>
            <p:cNvPr id="60" name="Group 60"/>
            <p:cNvGrpSpPr/>
            <p:nvPr/>
          </p:nvGrpSpPr>
          <p:grpSpPr>
            <a:xfrm>
              <a:off x="6669405" y="4757738"/>
              <a:ext cx="200026" cy="200025"/>
              <a:chOff x="6669405" y="4757738"/>
              <a:chExt cx="200026" cy="200025"/>
            </a:xfrm>
          </p:grpSpPr>
          <p:sp>
            <p:nvSpPr>
              <p:cNvPr id="57" name="Freeform 57"/>
              <p:cNvSpPr/>
              <p:nvPr/>
            </p:nvSpPr>
            <p:spPr>
              <a:xfrm>
                <a:off x="6669405" y="475773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8" name="Freeform 58"/>
              <p:cNvSpPr/>
              <p:nvPr/>
            </p:nvSpPr>
            <p:spPr>
              <a:xfrm>
                <a:off x="6709144" y="480218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9" name="Freeform 59"/>
              <p:cNvSpPr/>
              <p:nvPr/>
            </p:nvSpPr>
            <p:spPr>
              <a:xfrm>
                <a:off x="6743859" y="491331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1" name="TextBox 61"/>
            <p:cNvSpPr txBox="1"/>
            <p:nvPr/>
          </p:nvSpPr>
          <p:spPr>
            <a:xfrm>
              <a:off x="6971729" y="4627721"/>
              <a:ext cx="416229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深度学习的曲线常见形态：验证误差先降后升再降，</a:t>
              </a:r>
              <a:br/>
              <a:r>
                <a:rPr lang="zh-CN" sz="1420" dirty="0">
                  <a:solidFill>
                    <a:srgbClr val="C2410C"/>
                  </a:solidFill>
                  <a:latin typeface="+mn-lt"/>
                  <a:ea typeface="+mn-ea"/>
                  <a:cs typeface="+mn-cs"/>
                </a:rPr>
                <a:t>所以别只看前几个 epoch 就下结论。</a:t>
              </a:r>
            </a:p>
          </p:txBody>
        </p:sp>
      </p:grpSp>
      <p:grpSp>
        <p:nvGrpSpPr>
          <p:cNvPr id="69" name="takeaway"/>
          <p:cNvGrpSpPr/>
          <p:nvPr/>
        </p:nvGrpSpPr>
        <p:grpSpPr>
          <a:xfrm>
            <a:off x="533400" y="5858828"/>
            <a:ext cx="11125200" cy="503872"/>
            <a:chOff x="533400" y="5858828"/>
            <a:chExt cx="11125200" cy="503872"/>
          </a:xfrm>
        </p:grpSpPr>
        <p:sp>
          <p:nvSpPr>
            <p:cNvPr id="63" name="Rectangle 63"/>
            <p:cNvSpPr/>
            <p:nvPr/>
          </p:nvSpPr>
          <p:spPr>
            <a:xfrm>
              <a:off x="533400" y="5858828"/>
              <a:ext cx="11125200" cy="503872"/>
            </a:xfrm>
            <a:prstGeom prst="roundRect">
              <a:avLst>
                <a:gd name="adj" fmla="val 22684"/>
              </a:avLst>
            </a:prstGeom>
            <a:solidFill>
              <a:srgbClr val="F4F6FB"/>
            </a:solidFill>
            <a:ln>
              <a:noFill/>
            </a:ln>
          </p:spPr>
        </p:sp>
        <p:grpSp>
          <p:nvGrpSpPr>
            <p:cNvPr id="67" name="Group 67"/>
            <p:cNvGrpSpPr/>
            <p:nvPr/>
          </p:nvGrpSpPr>
          <p:grpSpPr>
            <a:xfrm>
              <a:off x="738188" y="6011228"/>
              <a:ext cx="200026" cy="200026"/>
              <a:chOff x="738188" y="6011228"/>
              <a:chExt cx="200026" cy="200026"/>
            </a:xfrm>
          </p:grpSpPr>
          <p:sp>
            <p:nvSpPr>
              <p:cNvPr id="64" name="Freeform 64"/>
              <p:cNvSpPr/>
              <p:nvPr/>
            </p:nvSpPr>
            <p:spPr>
              <a:xfrm>
                <a:off x="738188" y="60112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838200" y="60779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827088" y="61112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1040511" y="6011704"/>
              <a:ext cx="899901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缩减网络规模、用交叉验证、适当选择网络结构，都是在同一个方向上使劲：让模型的容量与数据量匹配。</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4691253" cy="3351847"/>
            <a:chOff x="667512" y="1835468"/>
            <a:chExt cx="4691253"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439826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应用实例与发展脉络</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把前面的东西跑一遍，再看它是怎么走到今天的</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18074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Iris数据集与感知器实践</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多层感知器实践</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三起两落的发展历程</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重要会议与期刊</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503247" cy="909257"/>
            <a:chOff x="520446" y="342900"/>
            <a:chExt cx="3503247"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应用实例与发展脉络</a:t>
              </a:r>
            </a:p>
          </p:txBody>
        </p:sp>
        <p:sp>
          <p:nvSpPr>
            <p:cNvPr id="4" name="TextBox 4"/>
            <p:cNvSpPr txBox="1"/>
            <p:nvPr/>
          </p:nvSpPr>
          <p:spPr>
            <a:xfrm>
              <a:off x="520446" y="753428"/>
              <a:ext cx="3503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应用实例：Iris 三分类</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kv-1"/>
          <p:cNvGrpSpPr/>
          <p:nvPr/>
        </p:nvGrpSpPr>
        <p:grpSpPr>
          <a:xfrm>
            <a:off x="526542" y="1545907"/>
            <a:ext cx="4551236" cy="1313688"/>
            <a:chOff x="526542" y="1545907"/>
            <a:chExt cx="4551236" cy="1313688"/>
          </a:xfrm>
        </p:grpSpPr>
        <p:sp>
          <p:nvSpPr>
            <p:cNvPr id="7" name="TextBox 7"/>
            <p:cNvSpPr txBox="1"/>
            <p:nvPr/>
          </p:nvSpPr>
          <p:spPr>
            <a:xfrm>
              <a:off x="526542" y="1545907"/>
              <a:ext cx="558927"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数据集</a:t>
              </a:r>
            </a:p>
          </p:txBody>
        </p:sp>
        <p:sp>
          <p:nvSpPr>
            <p:cNvPr id="8" name="TextBox 8"/>
            <p:cNvSpPr txBox="1"/>
            <p:nvPr/>
          </p:nvSpPr>
          <p:spPr>
            <a:xfrm>
              <a:off x="1309497" y="1545907"/>
              <a:ext cx="32532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Iris，Fisher 1936 年整理，UCI 编号 53</a:t>
              </a:r>
            </a:p>
          </p:txBody>
        </p:sp>
        <p:sp>
          <p:nvSpPr>
            <p:cNvPr id="9" name="Rectangle 9"/>
            <p:cNvSpPr/>
            <p:nvPr/>
          </p:nvSpPr>
          <p:spPr>
            <a:xfrm>
              <a:off x="533400" y="1835468"/>
              <a:ext cx="4544378" cy="9525"/>
            </a:xfrm>
            <a:prstGeom prst="rect">
              <a:avLst/>
            </a:prstGeom>
            <a:solidFill>
              <a:srgbClr val="D9DFEA"/>
            </a:solidFill>
            <a:ln>
              <a:noFill/>
            </a:ln>
          </p:spPr>
        </p:sp>
        <p:sp>
          <p:nvSpPr>
            <p:cNvPr id="10" name="TextBox 10"/>
            <p:cNvSpPr txBox="1"/>
            <p:nvPr/>
          </p:nvSpPr>
          <p:spPr>
            <a:xfrm>
              <a:off x="526542" y="1944052"/>
              <a:ext cx="377190"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样本</a:t>
              </a:r>
            </a:p>
          </p:txBody>
        </p:sp>
        <p:sp>
          <p:nvSpPr>
            <p:cNvPr id="11" name="TextBox 11"/>
            <p:cNvSpPr txBox="1"/>
            <p:nvPr/>
          </p:nvSpPr>
          <p:spPr>
            <a:xfrm>
              <a:off x="1309497" y="1944052"/>
              <a:ext cx="3434144"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150 个，属鸢尾属下三个亚属：山鸢尾、变色</a:t>
              </a:r>
              <a:br/>
              <a:r>
                <a:rPr lang="zh-CN" sz="1350" dirty="0">
                  <a:solidFill>
                    <a:srgbClr val="1F2937"/>
                  </a:solidFill>
                  <a:latin typeface="+mn-lt"/>
                  <a:ea typeface="+mn-ea"/>
                  <a:cs typeface="+mn-cs"/>
                </a:rPr>
                <a:t>鸢尾、维吉尼亚鸢尾</a:t>
              </a:r>
            </a:p>
          </p:txBody>
        </p:sp>
        <p:sp>
          <p:nvSpPr>
            <p:cNvPr id="12" name="Rectangle 12"/>
            <p:cNvSpPr/>
            <p:nvPr/>
          </p:nvSpPr>
          <p:spPr>
            <a:xfrm>
              <a:off x="533400" y="2486978"/>
              <a:ext cx="4544378" cy="9525"/>
            </a:xfrm>
            <a:prstGeom prst="rect">
              <a:avLst/>
            </a:prstGeom>
            <a:solidFill>
              <a:srgbClr val="D9DFEA"/>
            </a:solidFill>
            <a:ln>
              <a:noFill/>
            </a:ln>
          </p:spPr>
        </p:sp>
        <p:sp>
          <p:nvSpPr>
            <p:cNvPr id="13" name="TextBox 13"/>
            <p:cNvSpPr txBox="1"/>
            <p:nvPr/>
          </p:nvSpPr>
          <p:spPr>
            <a:xfrm>
              <a:off x="526542" y="2595562"/>
              <a:ext cx="377190"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特征</a:t>
              </a:r>
            </a:p>
          </p:txBody>
        </p:sp>
        <p:sp>
          <p:nvSpPr>
            <p:cNvPr id="14" name="TextBox 14"/>
            <p:cNvSpPr txBox="1"/>
            <p:nvPr/>
          </p:nvSpPr>
          <p:spPr>
            <a:xfrm>
              <a:off x="1309497" y="2595562"/>
              <a:ext cx="362119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4 个：花萼的长度和宽度、花瓣的长度和宽度</a:t>
              </a:r>
            </a:p>
          </p:txBody>
        </p:sp>
      </p:grpSp>
      <p:grpSp>
        <p:nvGrpSpPr>
          <p:cNvPr id="27" name="c1-card-2"/>
          <p:cNvGrpSpPr/>
          <p:nvPr/>
        </p:nvGrpSpPr>
        <p:grpSpPr>
          <a:xfrm>
            <a:off x="533400" y="2981325"/>
            <a:ext cx="4544378" cy="1786890"/>
            <a:chOff x="533400" y="2981325"/>
            <a:chExt cx="4544378" cy="1786890"/>
          </a:xfrm>
        </p:grpSpPr>
        <p:sp>
          <p:nvSpPr>
            <p:cNvPr id="16" name="Rectangle 16"/>
            <p:cNvSpPr/>
            <p:nvPr/>
          </p:nvSpPr>
          <p:spPr>
            <a:xfrm>
              <a:off x="533400" y="2981325"/>
              <a:ext cx="4544378" cy="1786890"/>
            </a:xfrm>
            <a:prstGeom prst="roundRect">
              <a:avLst>
                <a:gd name="adj" fmla="val 7463"/>
              </a:avLst>
            </a:prstGeom>
            <a:solidFill>
              <a:srgbClr val="FFFFFF"/>
            </a:solidFill>
            <a:ln w="14288">
              <a:solidFill>
                <a:srgbClr val="D9DFEA"/>
              </a:solidFill>
            </a:ln>
          </p:spPr>
        </p:sp>
        <p:sp>
          <p:nvSpPr>
            <p:cNvPr id="17" name="Rectangle 17"/>
            <p:cNvSpPr/>
            <p:nvPr/>
          </p:nvSpPr>
          <p:spPr>
            <a:xfrm>
              <a:off x="542925" y="3114675"/>
              <a:ext cx="47625" cy="1520190"/>
            </a:xfrm>
            <a:prstGeom prst="roundRect">
              <a:avLst>
                <a:gd name="adj" fmla="val 50000"/>
              </a:avLst>
            </a:prstGeom>
            <a:solidFill>
              <a:srgbClr val="14A38B"/>
            </a:solidFill>
            <a:ln>
              <a:noFill/>
            </a:ln>
          </p:spPr>
        </p:sp>
        <p:sp>
          <p:nvSpPr>
            <p:cNvPr id="18" name="Rectangle 18"/>
            <p:cNvSpPr/>
            <p:nvPr/>
          </p:nvSpPr>
          <p:spPr>
            <a:xfrm>
              <a:off x="763905" y="3173730"/>
              <a:ext cx="742950" cy="247650"/>
            </a:xfrm>
            <a:prstGeom prst="roundRect">
              <a:avLst>
                <a:gd name="adj" fmla="val 50000"/>
              </a:avLst>
            </a:prstGeom>
            <a:solidFill>
              <a:srgbClr val="E3F5F1"/>
            </a:solidFill>
            <a:ln>
              <a:noFill/>
            </a:ln>
          </p:spPr>
        </p:sp>
        <p:sp>
          <p:nvSpPr>
            <p:cNvPr id="19" name="TextBox 19"/>
            <p:cNvSpPr txBox="1"/>
            <p:nvPr/>
          </p:nvSpPr>
          <p:spPr>
            <a:xfrm>
              <a:off x="847344" y="3208020"/>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课后作业</a:t>
              </a:r>
            </a:p>
          </p:txBody>
        </p:sp>
        <p:sp>
          <p:nvSpPr>
            <p:cNvPr id="20" name="TextBox 20"/>
            <p:cNvSpPr txBox="1"/>
            <p:nvPr/>
          </p:nvSpPr>
          <p:spPr>
            <a:xfrm>
              <a:off x="1614297" y="3213735"/>
              <a:ext cx="200246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A 版课件布置的两项对比</a:t>
              </a:r>
            </a:p>
          </p:txBody>
        </p:sp>
        <p:sp>
          <p:nvSpPr>
            <p:cNvPr id="21" name="Ellipse 21"/>
            <p:cNvSpPr/>
            <p:nvPr/>
          </p:nvSpPr>
          <p:spPr>
            <a:xfrm>
              <a:off x="763905" y="3535680"/>
              <a:ext cx="192405" cy="192405"/>
            </a:xfrm>
            <a:prstGeom prst="ellipse">
              <a:avLst/>
            </a:prstGeom>
            <a:solidFill>
              <a:srgbClr val="0E7C86"/>
            </a:solidFill>
            <a:ln>
              <a:noFill/>
            </a:ln>
          </p:spPr>
        </p:sp>
        <p:sp>
          <p:nvSpPr>
            <p:cNvPr id="22" name="TextBox 22"/>
            <p:cNvSpPr txBox="1"/>
            <p:nvPr/>
          </p:nvSpPr>
          <p:spPr>
            <a:xfrm>
              <a:off x="819583" y="357406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3" name="TextBox 23"/>
            <p:cNvSpPr txBox="1"/>
            <p:nvPr/>
          </p:nvSpPr>
          <p:spPr>
            <a:xfrm>
              <a:off x="1044702" y="3548062"/>
              <a:ext cx="36141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对于三层和四层的网络结构、不同的隐层节点数</a:t>
              </a:r>
              <a:br/>
              <a:r>
                <a:rPr lang="zh-CN" sz="1350" dirty="0">
                  <a:solidFill>
                    <a:srgbClr val="1F2937"/>
                  </a:solidFill>
                  <a:latin typeface="+mn-lt"/>
                  <a:ea typeface="+mn-ea"/>
                  <a:cs typeface="+mn-cs"/>
                </a:rPr>
                <a:t>目，比较模型精度，用图或表给出对比结果；</a:t>
              </a:r>
            </a:p>
          </p:txBody>
        </p:sp>
        <p:sp>
          <p:nvSpPr>
            <p:cNvPr id="24" name="Ellipse 24"/>
            <p:cNvSpPr/>
            <p:nvPr/>
          </p:nvSpPr>
          <p:spPr>
            <a:xfrm>
              <a:off x="763905" y="4095750"/>
              <a:ext cx="192405" cy="192405"/>
            </a:xfrm>
            <a:prstGeom prst="ellipse">
              <a:avLst/>
            </a:prstGeom>
            <a:solidFill>
              <a:srgbClr val="0E7C86"/>
            </a:solidFill>
            <a:ln>
              <a:noFill/>
            </a:ln>
          </p:spPr>
        </p:sp>
        <p:sp>
          <p:nvSpPr>
            <p:cNvPr id="25" name="TextBox 25"/>
            <p:cNvSpPr txBox="1"/>
            <p:nvPr/>
          </p:nvSpPr>
          <p:spPr>
            <a:xfrm>
              <a:off x="819583" y="41341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6" name="TextBox 26"/>
            <p:cNvSpPr txBox="1"/>
            <p:nvPr/>
          </p:nvSpPr>
          <p:spPr>
            <a:xfrm>
              <a:off x="1044702" y="4108132"/>
              <a:ext cx="36141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在上一步确定的网络结构基础上，选择不同的激</a:t>
              </a:r>
              <a:br/>
              <a:r>
                <a:rPr lang="zh-CN" sz="1350" dirty="0">
                  <a:solidFill>
                    <a:srgbClr val="1F2937"/>
                  </a:solidFill>
                  <a:latin typeface="+mn-lt"/>
                  <a:ea typeface="+mn-ea"/>
                  <a:cs typeface="+mn-cs"/>
                </a:rPr>
                <a:t>活函数进行比较，同样用图或表给出结果。</a:t>
              </a:r>
            </a:p>
          </p:txBody>
        </p:sp>
      </p:grpSp>
      <p:grpSp>
        <p:nvGrpSpPr>
          <p:cNvPr id="31" name="c2-code-1"/>
          <p:cNvGrpSpPr/>
          <p:nvPr/>
        </p:nvGrpSpPr>
        <p:grpSpPr>
          <a:xfrm>
            <a:off x="5382578" y="1524000"/>
            <a:ext cx="6276022" cy="3228975"/>
            <a:chOff x="5382578" y="1524000"/>
            <a:chExt cx="6276022" cy="3228975"/>
          </a:xfrm>
        </p:grpSpPr>
        <p:sp>
          <p:nvSpPr>
            <p:cNvPr id="28" name="Rectangle 28"/>
            <p:cNvSpPr/>
            <p:nvPr/>
          </p:nvSpPr>
          <p:spPr>
            <a:xfrm>
              <a:off x="5382578" y="1524000"/>
              <a:ext cx="6276022" cy="3228975"/>
            </a:xfrm>
            <a:prstGeom prst="roundRect">
              <a:avLst>
                <a:gd name="adj" fmla="val 2950"/>
              </a:avLst>
            </a:prstGeom>
            <a:solidFill>
              <a:srgbClr val="F6F8FA"/>
            </a:solidFill>
            <a:ln w="11430">
              <a:solidFill>
                <a:srgbClr val="D9DFEA"/>
              </a:solidFill>
            </a:ln>
          </p:spPr>
        </p:sp>
        <p:sp>
          <p:nvSpPr>
            <p:cNvPr id="29" name="TextBox 29"/>
            <p:cNvSpPr txBox="1"/>
            <p:nvPr/>
          </p:nvSpPr>
          <p:spPr>
            <a:xfrm>
              <a:off x="5510974" y="1675924"/>
              <a:ext cx="2120748"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用两个特征训练感知器与多层感知器</a:t>
              </a:r>
            </a:p>
          </p:txBody>
        </p:sp>
        <p:sp>
          <p:nvSpPr>
            <p:cNvPr id="30" name="TextBox 30"/>
            <p:cNvSpPr txBox="1"/>
            <p:nvPr/>
          </p:nvSpPr>
          <p:spPr>
            <a:xfrm>
              <a:off x="5511165" y="1935194"/>
              <a:ext cx="4004945" cy="2733675"/>
            </a:xfrm>
            <a:prstGeom prst="rect">
              <a:avLst/>
            </a:prstGeom>
            <a:noFill/>
            <a:ln>
              <a:noFill/>
            </a:ln>
          </p:spPr>
          <p:txBody>
            <a:bodyPr wrap="none" lIns="0" tIns="0" rIns="0" bIns="0" anchor="t" anchorCtr="0">
              <a:spAutoFit/>
            </a:bodyPr>
            <a:lstStyle/>
            <a:p>
              <a:pPr algn="l">
                <a:lnSpc>
                  <a:spcPts val="1260"/>
                </a:lnSpc>
              </a:pP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sklearn.datasets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load_iris</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sklearn.model_selection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train_test_split</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sklearn.preprocessing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StandardScaler</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sklearn.linear_model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Perceptron</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sklearn.neural_network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MLPClassifier</a:t>
              </a:r>
              <a:br/>
              <a:r>
                <a:rPr lang="zh-CN" sz="880" dirty="0">
                  <a:solidFill>
                    <a:srgbClr val="1F2937"/>
                  </a:solidFill>
                  <a:latin typeface="Consolas"/>
                  <a:ea typeface="Consolas"/>
                  <a:cs typeface="Consolas"/>
                </a:rPr>
                <a:t xml:space="preserve"> </a:t>
              </a:r>
              <a:br/>
              <a:r>
                <a:rPr lang="en-US" sz="880" dirty="0">
                  <a:solidFill>
                    <a:srgbClr val="1F2937"/>
                  </a:solidFill>
                  <a:latin typeface="Consolas"/>
                  <a:ea typeface="Consolas"/>
                  <a:cs typeface="Consolas"/>
                </a:rPr>
                <a:t>X, y = load_iris(return_X_y=</a:t>
              </a:r>
              <a:r>
                <a:rPr lang="en-US" sz="880" b="1" dirty="0">
                  <a:solidFill>
                    <a:srgbClr val="0E7C86"/>
                  </a:solidFill>
                  <a:latin typeface="Consolas"/>
                  <a:ea typeface="Consolas"/>
                  <a:cs typeface="Consolas"/>
                </a:rPr>
                <a:t>True</a:t>
              </a:r>
              <a:r>
                <a:rPr lang="zh-CN" sz="880" dirty="0">
                  <a:solidFill>
                    <a:srgbClr val="1F2937"/>
                  </a:solidFill>
                  <a:latin typeface="Consolas"/>
                  <a:ea typeface="Consolas"/>
                  <a:cs typeface="Consolas"/>
                </a:rPr>
                <a:t>)</a:t>
              </a:r>
              <a:br/>
              <a:r>
                <a:rPr lang="en-US" sz="880" dirty="0">
                  <a:solidFill>
                    <a:srgbClr val="1F2937"/>
                  </a:solidFill>
                  <a:latin typeface="Consolas"/>
                  <a:ea typeface="Consolas"/>
                  <a:cs typeface="Consolas"/>
                </a:rPr>
                <a:t xml:space="preserve">X = X[:, :2]                       </a:t>
              </a:r>
              <a:r>
                <a:rPr lang="zh-CN" sz="880" dirty="0">
                  <a:solidFill>
                    <a:srgbClr val="0F7A68"/>
                  </a:solidFill>
                  <a:latin typeface="Consolas"/>
                  <a:ea typeface="Microsoft YaHei"/>
                  <a:cs typeface="Consolas"/>
                </a:rPr>
                <a:t># 只取花萼长度、花萼宽度</a:t>
              </a:r>
              <a:br/>
              <a:r>
                <a:rPr lang="en-US" sz="880" dirty="0">
                  <a:solidFill>
                    <a:srgbClr val="1F2937"/>
                  </a:solidFill>
                  <a:latin typeface="Consolas"/>
                  <a:ea typeface="Consolas"/>
                  <a:cs typeface="Consolas"/>
                </a:rPr>
                <a:t>Xtr, Xte, ytr, yte = train_test_split(</a:t>
              </a:r>
              <a:br/>
              <a:r>
                <a:rPr lang="en-US" sz="880" dirty="0">
                  <a:solidFill>
                    <a:srgbClr val="1F2937"/>
                  </a:solidFill>
                  <a:latin typeface="Consolas"/>
                  <a:ea typeface="Consolas"/>
                  <a:cs typeface="Consolas"/>
                </a:rPr>
                <a:t xml:space="preserve">    X, y, test_size=0.3, random_state=0)</a:t>
              </a:r>
              <a:br/>
              <a:r>
                <a:rPr lang="en-US" sz="880" dirty="0">
                  <a:solidFill>
                    <a:srgbClr val="1F2937"/>
                  </a:solidFill>
                  <a:latin typeface="Consolas"/>
                  <a:ea typeface="Consolas"/>
                  <a:cs typeface="Consolas"/>
                </a:rPr>
                <a:t xml:space="preserve">sc = StandardScaler().fit(Xtr)     </a:t>
              </a:r>
              <a:r>
                <a:rPr lang="zh-CN" sz="880" dirty="0">
                  <a:solidFill>
                    <a:srgbClr val="0F7A68"/>
                  </a:solidFill>
                  <a:latin typeface="Consolas"/>
                  <a:ea typeface="Microsoft YaHei"/>
                  <a:cs typeface="Consolas"/>
                </a:rPr>
                <a:t># 特征量纲差得多，先标准化</a:t>
              </a:r>
              <a:br/>
              <a:r>
                <a:rPr lang="en-US" sz="880" dirty="0">
                  <a:solidFill>
                    <a:srgbClr val="1F2937"/>
                  </a:solidFill>
                  <a:latin typeface="Consolas"/>
                  <a:ea typeface="Consolas"/>
                  <a:cs typeface="Consolas"/>
                </a:rPr>
                <a:t>Xtr, Xte = sc.transform(Xtr), sc.transform(Xte)</a:t>
              </a:r>
              <a:br/>
              <a:r>
                <a:rPr lang="zh-CN" sz="880" dirty="0">
                  <a:solidFill>
                    <a:srgbClr val="1F2937"/>
                  </a:solidFill>
                  <a:latin typeface="Consolas"/>
                  <a:ea typeface="Consolas"/>
                  <a:cs typeface="Consolas"/>
                </a:rPr>
                <a:t xml:space="preserve"> </a:t>
              </a:r>
              <a:br/>
              <a:r>
                <a:rPr lang="en-US" sz="880" dirty="0">
                  <a:solidFill>
                    <a:srgbClr val="1F2937"/>
                  </a:solidFill>
                  <a:latin typeface="Consolas"/>
                  <a:ea typeface="Consolas"/>
                  <a:cs typeface="Consolas"/>
                </a:rPr>
                <a:t>p = Perceptron(eta0=0.1, max_iter=1000).fit(Xtr, ytr)</a:t>
              </a:r>
              <a:br/>
              <a:r>
                <a:rPr lang="en-US" sz="880" dirty="0">
                  <a:solidFill>
                    <a:srgbClr val="1F2937"/>
                  </a:solidFill>
                  <a:latin typeface="Consolas"/>
                  <a:ea typeface="Consolas"/>
                  <a:cs typeface="Consolas"/>
                </a:rPr>
                <a:t>m = MLPClassifier(hidden_layer_sizes=(10,),</a:t>
              </a:r>
              <a:br/>
              <a:r>
                <a:rPr lang="en-US" sz="880" dirty="0">
                  <a:solidFill>
                    <a:srgbClr val="1F2937"/>
                  </a:solidFill>
                  <a:latin typeface="Consolas"/>
                  <a:ea typeface="Consolas"/>
                  <a:cs typeface="Consolas"/>
                </a:rPr>
                <a:t xml:space="preserve">                  activation=</a:t>
              </a:r>
              <a:r>
                <a:rPr lang="en-US" sz="880" dirty="0">
                  <a:solidFill>
                    <a:srgbClr val="C2410C"/>
                  </a:solidFill>
                  <a:latin typeface="Consolas"/>
                  <a:ea typeface="Consolas"/>
                  <a:cs typeface="Consolas"/>
                </a:rPr>
                <a:t>"relu"</a:t>
              </a:r>
              <a:r>
                <a:rPr lang="en-US" sz="880" dirty="0">
                  <a:solidFill>
                    <a:srgbClr val="1F2937"/>
                  </a:solidFill>
                  <a:latin typeface="Consolas"/>
                  <a:ea typeface="Consolas"/>
                  <a:cs typeface="Consolas"/>
                </a:rPr>
                <a:t>, max_iter=2000).fit(Xtr, ytr)</a:t>
              </a:r>
              <a:br/>
              <a:r>
                <a:rPr lang="en-US" sz="880" dirty="0">
                  <a:solidFill>
                    <a:srgbClr val="1F2937"/>
                  </a:solidFill>
                  <a:latin typeface="Consolas"/>
                  <a:ea typeface="Consolas"/>
                  <a:cs typeface="Consolas"/>
                </a:rPr>
                <a:t>print(p.score(Xte, yte), m.score(Xte, yte))</a:t>
              </a:r>
            </a:p>
          </p:txBody>
        </p:sp>
      </p:grpSp>
      <p:grpSp>
        <p:nvGrpSpPr>
          <p:cNvPr id="38" name="takeaway"/>
          <p:cNvGrpSpPr/>
          <p:nvPr/>
        </p:nvGrpSpPr>
        <p:grpSpPr>
          <a:xfrm>
            <a:off x="533400" y="5633085"/>
            <a:ext cx="11125200" cy="729615"/>
            <a:chOff x="533400" y="5633085"/>
            <a:chExt cx="11125200" cy="729615"/>
          </a:xfrm>
        </p:grpSpPr>
        <p:sp>
          <p:nvSpPr>
            <p:cNvPr id="32" name="Rectangle 32"/>
            <p:cNvSpPr/>
            <p:nvPr/>
          </p:nvSpPr>
          <p:spPr>
            <a:xfrm>
              <a:off x="533400" y="5633085"/>
              <a:ext cx="11125200" cy="729615"/>
            </a:xfrm>
            <a:prstGeom prst="roundRect">
              <a:avLst>
                <a:gd name="adj" fmla="val 15666"/>
              </a:avLst>
            </a:prstGeom>
            <a:solidFill>
              <a:srgbClr val="FDECEA"/>
            </a:solidFill>
            <a:ln>
              <a:noFill/>
            </a:ln>
          </p:spPr>
        </p:sp>
        <p:grpSp>
          <p:nvGrpSpPr>
            <p:cNvPr id="36" name="Group 36"/>
            <p:cNvGrpSpPr/>
            <p:nvPr/>
          </p:nvGrpSpPr>
          <p:grpSpPr>
            <a:xfrm>
              <a:off x="726129" y="5894188"/>
              <a:ext cx="224134" cy="192560"/>
              <a:chOff x="726129" y="5894188"/>
              <a:chExt cx="224134" cy="192560"/>
            </a:xfrm>
          </p:grpSpPr>
          <p:sp>
            <p:nvSpPr>
              <p:cNvPr id="33" name="Freeform 33"/>
              <p:cNvSpPr/>
              <p:nvPr/>
            </p:nvSpPr>
            <p:spPr>
              <a:xfrm>
                <a:off x="838200" y="596455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34" name="Freeform 34"/>
              <p:cNvSpPr/>
              <p:nvPr/>
            </p:nvSpPr>
            <p:spPr>
              <a:xfrm>
                <a:off x="726129" y="589418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5" name="Freeform 35"/>
              <p:cNvSpPr/>
              <p:nvPr/>
            </p:nvSpPr>
            <p:spPr>
              <a:xfrm>
                <a:off x="838200" y="604234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37" name="TextBox 37"/>
            <p:cNvSpPr txBox="1"/>
            <p:nvPr/>
          </p:nvSpPr>
          <p:spPr>
            <a:xfrm>
              <a:off x="1040892" y="5779770"/>
              <a:ext cx="82690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更正：B 版课件“Iris 分类”那两页贴的是 Fashion-MNIST 的代码（num_inputs = 784、num_outputs = 10、</a:t>
              </a:r>
              <a:br/>
              <a:r>
                <a:rPr lang="zh-CN" sz="1350" dirty="0">
                  <a:solidFill>
                    <a:srgbClr val="B42318"/>
                  </a:solidFill>
                  <a:latin typeface="+mn-lt"/>
                  <a:ea typeface="+mn-ea"/>
                  <a:cs typeface="+mn-cs"/>
                </a:rPr>
                <a:t>load_data_fashion_mnist）。Iris 的输入是 4 维、输出是 3 类，照抄会直接报维度错误。</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应用实例与发展脉络</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三起两落：神经网络的发展历程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8" name="c1-table-1"/>
          <p:cNvGrpSpPr/>
          <p:nvPr/>
        </p:nvGrpSpPr>
        <p:grpSpPr>
          <a:xfrm>
            <a:off x="528447" y="1524000"/>
            <a:ext cx="5415153" cy="3299174"/>
            <a:chOff x="528447" y="1524000"/>
            <a:chExt cx="5415153" cy="3299174"/>
          </a:xfrm>
        </p:grpSpPr>
        <p:sp>
          <p:nvSpPr>
            <p:cNvPr id="7" name="Rectangle 7"/>
            <p:cNvSpPr/>
            <p:nvPr/>
          </p:nvSpPr>
          <p:spPr>
            <a:xfrm>
              <a:off x="533400" y="1524000"/>
              <a:ext cx="5410200" cy="381000"/>
            </a:xfrm>
            <a:prstGeom prst="rect">
              <a:avLst/>
            </a:prstGeom>
            <a:solidFill>
              <a:srgbClr val="0E7C86"/>
            </a:solidFill>
            <a:ln>
              <a:noFill/>
            </a:ln>
          </p:spPr>
        </p:sp>
        <p:sp>
          <p:nvSpPr>
            <p:cNvPr id="8" name="TextBox 8"/>
            <p:cNvSpPr txBox="1"/>
            <p:nvPr/>
          </p:nvSpPr>
          <p:spPr>
            <a:xfrm>
              <a:off x="927735"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阶段</a:t>
              </a:r>
            </a:p>
          </p:txBody>
        </p:sp>
        <p:sp>
          <p:nvSpPr>
            <p:cNvPr id="9" name="TextBox 9"/>
            <p:cNvSpPr txBox="1"/>
            <p:nvPr/>
          </p:nvSpPr>
          <p:spPr>
            <a:xfrm>
              <a:off x="1955482"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年份</a:t>
              </a:r>
            </a:p>
          </p:txBody>
        </p:sp>
        <p:sp>
          <p:nvSpPr>
            <p:cNvPr id="10" name="TextBox 10"/>
            <p:cNvSpPr txBox="1"/>
            <p:nvPr/>
          </p:nvSpPr>
          <p:spPr>
            <a:xfrm>
              <a:off x="3907536" y="1641157"/>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标志性事件</a:t>
              </a:r>
            </a:p>
          </p:txBody>
        </p:sp>
        <p:sp>
          <p:nvSpPr>
            <p:cNvPr id="11" name="TextBox 11"/>
            <p:cNvSpPr txBox="1"/>
            <p:nvPr/>
          </p:nvSpPr>
          <p:spPr>
            <a:xfrm>
              <a:off x="628078" y="211645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启蒙</a:t>
              </a:r>
            </a:p>
          </p:txBody>
        </p:sp>
        <p:sp>
          <p:nvSpPr>
            <p:cNvPr id="12" name="TextBox 12"/>
            <p:cNvSpPr txBox="1"/>
            <p:nvPr/>
          </p:nvSpPr>
          <p:spPr>
            <a:xfrm>
              <a:off x="1710118" y="211645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1943–1958</a:t>
              </a:r>
            </a:p>
          </p:txBody>
        </p:sp>
        <p:sp>
          <p:nvSpPr>
            <p:cNvPr id="13" name="TextBox 13"/>
            <p:cNvSpPr txBox="1"/>
            <p:nvPr/>
          </p:nvSpPr>
          <p:spPr>
            <a:xfrm>
              <a:off x="2683574" y="2023110"/>
              <a:ext cx="2630996"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M-P 模型；Hebb 学习规则；达特茅斯会议；</a:t>
              </a:r>
              <a:br/>
              <a:r>
                <a:rPr lang="zh-CN" sz="1050" dirty="0">
                  <a:solidFill>
                    <a:srgbClr val="1F2937"/>
                  </a:solidFill>
                  <a:latin typeface="+mn-lt"/>
                  <a:ea typeface="+mn-ea"/>
                  <a:cs typeface="+mn-cs"/>
                </a:rPr>
                <a:t>Rosenblatt 感知机</a:t>
              </a:r>
            </a:p>
          </p:txBody>
        </p:sp>
        <p:sp>
          <p:nvSpPr>
            <p:cNvPr id="14" name="Rectangle 14"/>
            <p:cNvSpPr/>
            <p:nvPr/>
          </p:nvSpPr>
          <p:spPr>
            <a:xfrm>
              <a:off x="533400" y="2468880"/>
              <a:ext cx="5410200" cy="9525"/>
            </a:xfrm>
            <a:prstGeom prst="rect">
              <a:avLst/>
            </a:prstGeom>
            <a:solidFill>
              <a:srgbClr val="D9DFEA"/>
            </a:solidFill>
            <a:ln>
              <a:noFill/>
            </a:ln>
          </p:spPr>
        </p:sp>
        <p:sp>
          <p:nvSpPr>
            <p:cNvPr id="15" name="Rectangle 15"/>
            <p:cNvSpPr/>
            <p:nvPr/>
          </p:nvSpPr>
          <p:spPr>
            <a:xfrm>
              <a:off x="533400" y="2473642"/>
              <a:ext cx="5410200" cy="567690"/>
            </a:xfrm>
            <a:prstGeom prst="rect">
              <a:avLst/>
            </a:prstGeom>
            <a:solidFill>
              <a:srgbClr val="F4F6FB"/>
            </a:solidFill>
            <a:ln>
              <a:noFill/>
            </a:ln>
          </p:spPr>
        </p:sp>
        <p:sp>
          <p:nvSpPr>
            <p:cNvPr id="16" name="TextBox 16"/>
            <p:cNvSpPr txBox="1"/>
            <p:nvPr/>
          </p:nvSpPr>
          <p:spPr>
            <a:xfrm>
              <a:off x="628078" y="2684145"/>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第一次低潮</a:t>
              </a:r>
            </a:p>
          </p:txBody>
        </p:sp>
        <p:sp>
          <p:nvSpPr>
            <p:cNvPr id="17" name="TextBox 17"/>
            <p:cNvSpPr txBox="1"/>
            <p:nvPr/>
          </p:nvSpPr>
          <p:spPr>
            <a:xfrm>
              <a:off x="1710118" y="268414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1969–1970</a:t>
              </a:r>
            </a:p>
          </p:txBody>
        </p:sp>
        <p:sp>
          <p:nvSpPr>
            <p:cNvPr id="18" name="Rectangle 18"/>
            <p:cNvSpPr/>
            <p:nvPr/>
          </p:nvSpPr>
          <p:spPr>
            <a:xfrm>
              <a:off x="2598420" y="2483168"/>
              <a:ext cx="3335655" cy="548640"/>
            </a:xfrm>
            <a:prstGeom prst="rect">
              <a:avLst/>
            </a:prstGeom>
            <a:solidFill>
              <a:srgbClr val="FDEEE7"/>
            </a:solidFill>
            <a:ln>
              <a:noFill/>
            </a:ln>
          </p:spPr>
        </p:sp>
        <p:sp>
          <p:nvSpPr>
            <p:cNvPr id="19" name="TextBox 19"/>
            <p:cNvSpPr txBox="1"/>
            <p:nvPr/>
          </p:nvSpPr>
          <p:spPr>
            <a:xfrm>
              <a:off x="2683574" y="2590800"/>
              <a:ext cx="29443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Minsky 指出单层感知器连 XOR 都做不到，投资停</a:t>
              </a:r>
              <a:br/>
              <a:r>
                <a:rPr lang="zh-CN" sz="1050" dirty="0">
                  <a:solidFill>
                    <a:srgbClr val="1F2937"/>
                  </a:solidFill>
                  <a:latin typeface="+mn-lt"/>
                  <a:ea typeface="+mn-ea"/>
                  <a:cs typeface="+mn-cs"/>
                </a:rPr>
                <a:t>止</a:t>
              </a:r>
            </a:p>
          </p:txBody>
        </p:sp>
        <p:sp>
          <p:nvSpPr>
            <p:cNvPr id="20" name="Rectangle 20"/>
            <p:cNvSpPr/>
            <p:nvPr/>
          </p:nvSpPr>
          <p:spPr>
            <a:xfrm>
              <a:off x="533400" y="3036570"/>
              <a:ext cx="5410200" cy="9525"/>
            </a:xfrm>
            <a:prstGeom prst="rect">
              <a:avLst/>
            </a:prstGeom>
            <a:solidFill>
              <a:srgbClr val="D9DFEA"/>
            </a:solidFill>
            <a:ln>
              <a:noFill/>
            </a:ln>
          </p:spPr>
        </p:sp>
        <p:sp>
          <p:nvSpPr>
            <p:cNvPr id="21" name="TextBox 21"/>
            <p:cNvSpPr txBox="1"/>
            <p:nvPr/>
          </p:nvSpPr>
          <p:spPr>
            <a:xfrm>
              <a:off x="628078" y="325183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复兴</a:t>
              </a:r>
            </a:p>
          </p:txBody>
        </p:sp>
        <p:sp>
          <p:nvSpPr>
            <p:cNvPr id="22" name="TextBox 22"/>
            <p:cNvSpPr txBox="1"/>
            <p:nvPr/>
          </p:nvSpPr>
          <p:spPr>
            <a:xfrm>
              <a:off x="1710118" y="325183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1982–1986</a:t>
              </a:r>
            </a:p>
          </p:txBody>
        </p:sp>
        <p:sp>
          <p:nvSpPr>
            <p:cNvPr id="23" name="TextBox 23"/>
            <p:cNvSpPr txBox="1"/>
            <p:nvPr/>
          </p:nvSpPr>
          <p:spPr>
            <a:xfrm>
              <a:off x="2683574" y="3158490"/>
              <a:ext cx="302437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Hopfield 网络；Boltzmann 机；Rumelhart 等重提</a:t>
              </a:r>
              <a:br/>
              <a:r>
                <a:rPr lang="zh-CN" sz="1050" dirty="0">
                  <a:solidFill>
                    <a:srgbClr val="1F2937"/>
                  </a:solidFill>
                  <a:latin typeface="+mn-lt"/>
                  <a:ea typeface="+mn-ea"/>
                  <a:cs typeface="+mn-cs"/>
                </a:rPr>
                <a:t>BP 算法</a:t>
              </a:r>
            </a:p>
          </p:txBody>
        </p:sp>
        <p:sp>
          <p:nvSpPr>
            <p:cNvPr id="24" name="Rectangle 24"/>
            <p:cNvSpPr/>
            <p:nvPr/>
          </p:nvSpPr>
          <p:spPr>
            <a:xfrm>
              <a:off x="533400" y="3605212"/>
              <a:ext cx="5410200" cy="9525"/>
            </a:xfrm>
            <a:prstGeom prst="rect">
              <a:avLst/>
            </a:prstGeom>
            <a:solidFill>
              <a:srgbClr val="D9DFEA"/>
            </a:solidFill>
            <a:ln>
              <a:noFill/>
            </a:ln>
          </p:spPr>
        </p:sp>
        <p:sp>
          <p:nvSpPr>
            <p:cNvPr id="25" name="Rectangle 25"/>
            <p:cNvSpPr/>
            <p:nvPr/>
          </p:nvSpPr>
          <p:spPr>
            <a:xfrm>
              <a:off x="533400" y="3609975"/>
              <a:ext cx="5410200" cy="381000"/>
            </a:xfrm>
            <a:prstGeom prst="rect">
              <a:avLst/>
            </a:prstGeom>
            <a:solidFill>
              <a:srgbClr val="F4F6FB"/>
            </a:solidFill>
            <a:ln>
              <a:noFill/>
            </a:ln>
          </p:spPr>
        </p:sp>
        <p:sp>
          <p:nvSpPr>
            <p:cNvPr id="26" name="TextBox 26"/>
            <p:cNvSpPr txBox="1"/>
            <p:nvPr/>
          </p:nvSpPr>
          <p:spPr>
            <a:xfrm>
              <a:off x="628078" y="3727132"/>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遇冷</a:t>
              </a:r>
            </a:p>
          </p:txBody>
        </p:sp>
        <p:sp>
          <p:nvSpPr>
            <p:cNvPr id="27" name="TextBox 27"/>
            <p:cNvSpPr txBox="1"/>
            <p:nvPr/>
          </p:nvSpPr>
          <p:spPr>
            <a:xfrm>
              <a:off x="1710118" y="3727132"/>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1991–2005</a:t>
              </a:r>
            </a:p>
          </p:txBody>
        </p:sp>
        <p:sp>
          <p:nvSpPr>
            <p:cNvPr id="28" name="TextBox 28"/>
            <p:cNvSpPr txBox="1"/>
            <p:nvPr/>
          </p:nvSpPr>
          <p:spPr>
            <a:xfrm>
              <a:off x="2683574" y="3727132"/>
              <a:ext cx="297903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应用面窄、精度与可信度存疑；支持向量机兴起</a:t>
              </a:r>
            </a:p>
          </p:txBody>
        </p:sp>
        <p:sp>
          <p:nvSpPr>
            <p:cNvPr id="29" name="Rectangle 29"/>
            <p:cNvSpPr/>
            <p:nvPr/>
          </p:nvSpPr>
          <p:spPr>
            <a:xfrm>
              <a:off x="533400" y="3986212"/>
              <a:ext cx="5410200" cy="9525"/>
            </a:xfrm>
            <a:prstGeom prst="rect">
              <a:avLst/>
            </a:prstGeom>
            <a:solidFill>
              <a:srgbClr val="D9DFEA"/>
            </a:solidFill>
            <a:ln>
              <a:noFill/>
            </a:ln>
          </p:spPr>
        </p:sp>
        <p:sp>
          <p:nvSpPr>
            <p:cNvPr id="30" name="TextBox 30"/>
            <p:cNvSpPr txBox="1"/>
            <p:nvPr/>
          </p:nvSpPr>
          <p:spPr>
            <a:xfrm>
              <a:off x="628078" y="4201478"/>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快速发展</a:t>
              </a:r>
            </a:p>
          </p:txBody>
        </p:sp>
        <p:sp>
          <p:nvSpPr>
            <p:cNvPr id="31" name="TextBox 31"/>
            <p:cNvSpPr txBox="1"/>
            <p:nvPr/>
          </p:nvSpPr>
          <p:spPr>
            <a:xfrm>
              <a:off x="1710118" y="4201478"/>
              <a:ext cx="64674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2006 至今</a:t>
              </a:r>
            </a:p>
          </p:txBody>
        </p:sp>
        <p:sp>
          <p:nvSpPr>
            <p:cNvPr id="32" name="Rectangle 32"/>
            <p:cNvSpPr/>
            <p:nvPr/>
          </p:nvSpPr>
          <p:spPr>
            <a:xfrm>
              <a:off x="2598420" y="4000500"/>
              <a:ext cx="3335655" cy="548640"/>
            </a:xfrm>
            <a:prstGeom prst="rect">
              <a:avLst/>
            </a:prstGeom>
            <a:solidFill>
              <a:srgbClr val="E3F5F1"/>
            </a:solidFill>
            <a:ln>
              <a:noFill/>
            </a:ln>
          </p:spPr>
        </p:sp>
        <p:sp>
          <p:nvSpPr>
            <p:cNvPr id="33" name="TextBox 33"/>
            <p:cNvSpPr txBox="1"/>
            <p:nvPr/>
          </p:nvSpPr>
          <p:spPr>
            <a:xfrm>
              <a:off x="2683574" y="4108132"/>
              <a:ext cx="293103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深度信念网络；2012 年 ImageNet 错误率 26% 降</a:t>
              </a:r>
              <a:br/>
              <a:r>
                <a:rPr lang="zh-CN" sz="1050" dirty="0">
                  <a:solidFill>
                    <a:srgbClr val="1F2937"/>
                  </a:solidFill>
                  <a:latin typeface="+mn-lt"/>
                  <a:ea typeface="+mn-ea"/>
                  <a:cs typeface="+mn-cs"/>
                </a:rPr>
                <a:t>到 15%</a:t>
              </a:r>
            </a:p>
          </p:txBody>
        </p:sp>
        <p:sp>
          <p:nvSpPr>
            <p:cNvPr id="34" name="Rectangle 34"/>
            <p:cNvSpPr/>
            <p:nvPr/>
          </p:nvSpPr>
          <p:spPr>
            <a:xfrm>
              <a:off x="533400" y="1524000"/>
              <a:ext cx="5410200" cy="3034665"/>
            </a:xfrm>
            <a:prstGeom prst="rect">
              <a:avLst/>
            </a:prstGeom>
            <a:noFill/>
            <a:ln w="14288">
              <a:solidFill>
                <a:srgbClr val="D9DFEA"/>
              </a:solidFill>
            </a:ln>
          </p:spPr>
        </p:sp>
        <p:sp>
          <p:nvSpPr>
            <p:cNvPr id="35" name="Rectangle 35"/>
            <p:cNvSpPr/>
            <p:nvPr/>
          </p:nvSpPr>
          <p:spPr>
            <a:xfrm>
              <a:off x="1610678" y="1524000"/>
              <a:ext cx="9525" cy="3034665"/>
            </a:xfrm>
            <a:prstGeom prst="rect">
              <a:avLst/>
            </a:prstGeom>
            <a:solidFill>
              <a:srgbClr val="D9DFEA"/>
            </a:solidFill>
            <a:ln>
              <a:noFill/>
            </a:ln>
          </p:spPr>
        </p:sp>
        <p:sp>
          <p:nvSpPr>
            <p:cNvPr id="36" name="Rectangle 36"/>
            <p:cNvSpPr/>
            <p:nvPr/>
          </p:nvSpPr>
          <p:spPr>
            <a:xfrm>
              <a:off x="2584132" y="1524000"/>
              <a:ext cx="9525" cy="3034665"/>
            </a:xfrm>
            <a:prstGeom prst="rect">
              <a:avLst/>
            </a:prstGeom>
            <a:solidFill>
              <a:srgbClr val="D9DFEA"/>
            </a:solidFill>
            <a:ln>
              <a:noFill/>
            </a:ln>
          </p:spPr>
        </p:sp>
        <p:sp>
          <p:nvSpPr>
            <p:cNvPr id="37" name="TextBox 37"/>
            <p:cNvSpPr txBox="1"/>
            <p:nvPr/>
          </p:nvSpPr>
          <p:spPr>
            <a:xfrm>
              <a:off x="528447" y="4632484"/>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五个阶段</a:t>
              </a:r>
            </a:p>
          </p:txBody>
        </p:sp>
      </p:grpSp>
      <p:grpSp>
        <p:nvGrpSpPr>
          <p:cNvPr id="44" name="c1-callout-2"/>
          <p:cNvGrpSpPr/>
          <p:nvPr/>
        </p:nvGrpSpPr>
        <p:grpSpPr>
          <a:xfrm>
            <a:off x="533400" y="4949190"/>
            <a:ext cx="5410200" cy="702945"/>
            <a:chOff x="533400" y="4949190"/>
            <a:chExt cx="5410200" cy="702945"/>
          </a:xfrm>
        </p:grpSpPr>
        <p:sp>
          <p:nvSpPr>
            <p:cNvPr id="39" name="Rectangle 39"/>
            <p:cNvSpPr/>
            <p:nvPr/>
          </p:nvSpPr>
          <p:spPr>
            <a:xfrm>
              <a:off x="533400" y="4949190"/>
              <a:ext cx="5410200" cy="702945"/>
            </a:xfrm>
            <a:prstGeom prst="roundRect">
              <a:avLst>
                <a:gd name="adj" fmla="val 16260"/>
              </a:avLst>
            </a:prstGeom>
            <a:solidFill>
              <a:srgbClr val="0E7C86"/>
            </a:solidFill>
            <a:ln>
              <a:noFill/>
            </a:ln>
          </p:spPr>
        </p:sp>
        <p:grpSp>
          <p:nvGrpSpPr>
            <p:cNvPr id="42" name="Group 42"/>
            <p:cNvGrpSpPr/>
            <p:nvPr/>
          </p:nvGrpSpPr>
          <p:grpSpPr>
            <a:xfrm>
              <a:off x="738188" y="5200652"/>
              <a:ext cx="200023" cy="200023"/>
              <a:chOff x="738188" y="5200652"/>
              <a:chExt cx="200023" cy="200023"/>
            </a:xfrm>
          </p:grpSpPr>
          <p:sp>
            <p:nvSpPr>
              <p:cNvPr id="40" name="Freeform 40"/>
              <p:cNvSpPr/>
              <p:nvPr/>
            </p:nvSpPr>
            <p:spPr>
              <a:xfrm>
                <a:off x="738188" y="520065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1" name="Freeform 41"/>
              <p:cNvSpPr/>
              <p:nvPr/>
            </p:nvSpPr>
            <p:spPr>
              <a:xfrm>
                <a:off x="871538" y="526732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3" name="TextBox 43"/>
            <p:cNvSpPr txBox="1"/>
            <p:nvPr/>
          </p:nvSpPr>
          <p:spPr>
            <a:xfrm>
              <a:off x="1041273" y="5094446"/>
              <a:ext cx="44020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两次低潮的共同原因：能力被夸大在先，硬件与数据跟不上在</a:t>
              </a:r>
              <a:br/>
              <a:r>
                <a:rPr lang="zh-CN" sz="1280" dirty="0">
                  <a:solidFill>
                    <a:srgbClr val="FFFFFF"/>
                  </a:solidFill>
                  <a:latin typeface="+mn-lt"/>
                  <a:ea typeface="+mn-ea"/>
                  <a:cs typeface="+mn-cs"/>
                </a:rPr>
                <a:t>后。</a:t>
              </a:r>
            </a:p>
          </p:txBody>
        </p:sp>
      </p:grpSp>
      <p:grpSp>
        <p:nvGrpSpPr>
          <p:cNvPr id="53" name="c2-kv-1"/>
          <p:cNvGrpSpPr/>
          <p:nvPr/>
        </p:nvGrpSpPr>
        <p:grpSpPr>
          <a:xfrm>
            <a:off x="6241923" y="1545431"/>
            <a:ext cx="5416677" cy="1716214"/>
            <a:chOff x="6241923" y="1545431"/>
            <a:chExt cx="5416677" cy="1716214"/>
          </a:xfrm>
        </p:grpSpPr>
        <p:sp>
          <p:nvSpPr>
            <p:cNvPr id="45" name="TextBox 45"/>
            <p:cNvSpPr txBox="1"/>
            <p:nvPr/>
          </p:nvSpPr>
          <p:spPr>
            <a:xfrm>
              <a:off x="6241923" y="1545431"/>
              <a:ext cx="117909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ADALINE 1959</a:t>
              </a:r>
            </a:p>
          </p:txBody>
        </p:sp>
        <p:sp>
          <p:nvSpPr>
            <p:cNvPr id="46" name="TextBox 46"/>
            <p:cNvSpPr txBox="1"/>
            <p:nvPr/>
          </p:nvSpPr>
          <p:spPr>
            <a:xfrm>
              <a:off x="7627811" y="1545431"/>
              <a:ext cx="3759962" cy="729425"/>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Widrow 与 Hoff 的自适应线性单元，用</a:t>
              </a:r>
              <a:br/>
              <a:r>
                <a:rPr lang="zh-CN" sz="1280" dirty="0">
                  <a:solidFill>
                    <a:srgbClr val="1F2937"/>
                  </a:solidFill>
                  <a:latin typeface="+mn-lt"/>
                  <a:ea typeface="+mn-ea"/>
                  <a:cs typeface="+mn-cs"/>
                </a:rPr>
                <a:t>Widrow-Hoff（LMS）算法，是第一个用于实际问题</a:t>
              </a:r>
              <a:br/>
              <a:r>
                <a:rPr lang="zh-CN" sz="1280" dirty="0">
                  <a:solidFill>
                    <a:srgbClr val="1F2937"/>
                  </a:solidFill>
                  <a:latin typeface="+mn-lt"/>
                  <a:ea typeface="+mn-ea"/>
                  <a:cs typeface="+mn-cs"/>
                </a:rPr>
                <a:t>的神经网络</a:t>
              </a:r>
            </a:p>
          </p:txBody>
        </p:sp>
        <p:sp>
          <p:nvSpPr>
            <p:cNvPr id="47" name="Rectangle 47"/>
            <p:cNvSpPr/>
            <p:nvPr/>
          </p:nvSpPr>
          <p:spPr>
            <a:xfrm>
              <a:off x="6248400" y="2296478"/>
              <a:ext cx="5410200" cy="9525"/>
            </a:xfrm>
            <a:prstGeom prst="rect">
              <a:avLst/>
            </a:prstGeom>
            <a:solidFill>
              <a:srgbClr val="D9DFEA"/>
            </a:solidFill>
            <a:ln>
              <a:noFill/>
            </a:ln>
          </p:spPr>
        </p:sp>
        <p:sp>
          <p:nvSpPr>
            <p:cNvPr id="48" name="TextBox 48"/>
            <p:cNvSpPr txBox="1"/>
            <p:nvPr/>
          </p:nvSpPr>
          <p:spPr>
            <a:xfrm>
              <a:off x="6241923" y="2397919"/>
              <a:ext cx="117909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Hopfield 1984</a:t>
              </a:r>
            </a:p>
          </p:txBody>
        </p:sp>
        <p:sp>
          <p:nvSpPr>
            <p:cNvPr id="49" name="TextBox 49"/>
            <p:cNvSpPr txBox="1"/>
            <p:nvPr/>
          </p:nvSpPr>
          <p:spPr>
            <a:xfrm>
              <a:off x="7627811" y="2397919"/>
              <a:ext cx="378820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做出 Hopfield 网的电路，较好地解决了 TSP 问题</a:t>
              </a:r>
            </a:p>
          </p:txBody>
        </p:sp>
        <p:sp>
          <p:nvSpPr>
            <p:cNvPr id="50" name="Rectangle 50"/>
            <p:cNvSpPr/>
            <p:nvPr/>
          </p:nvSpPr>
          <p:spPr>
            <a:xfrm>
              <a:off x="6248400" y="2670810"/>
              <a:ext cx="5410200" cy="9525"/>
            </a:xfrm>
            <a:prstGeom prst="rect">
              <a:avLst/>
            </a:prstGeom>
            <a:solidFill>
              <a:srgbClr val="D9DFEA"/>
            </a:solidFill>
            <a:ln>
              <a:noFill/>
            </a:ln>
          </p:spPr>
        </p:sp>
        <p:sp>
          <p:nvSpPr>
            <p:cNvPr id="51" name="TextBox 51"/>
            <p:cNvSpPr txBox="1"/>
            <p:nvPr/>
          </p:nvSpPr>
          <p:spPr>
            <a:xfrm>
              <a:off x="6241923" y="2772251"/>
              <a:ext cx="809904"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语音 2011</a:t>
              </a:r>
            </a:p>
          </p:txBody>
        </p:sp>
        <p:sp>
          <p:nvSpPr>
            <p:cNvPr id="52" name="TextBox 52"/>
            <p:cNvSpPr txBox="1"/>
            <p:nvPr/>
          </p:nvSpPr>
          <p:spPr>
            <a:xfrm>
              <a:off x="7627811" y="2772251"/>
              <a:ext cx="3686810"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微软与 Google 用 DNN 把语音识别错误率降低 20%–</a:t>
              </a:r>
              <a:br/>
              <a:r>
                <a:rPr lang="zh-CN" sz="1280" dirty="0">
                  <a:solidFill>
                    <a:srgbClr val="1F2937"/>
                  </a:solidFill>
                  <a:latin typeface="+mn-lt"/>
                  <a:ea typeface="+mn-ea"/>
                  <a:cs typeface="+mn-cs"/>
                </a:rPr>
                <a:t>30%</a:t>
              </a:r>
            </a:p>
          </p:txBody>
        </p:sp>
      </p:grpSp>
      <p:grpSp>
        <p:nvGrpSpPr>
          <p:cNvPr id="65" name="c2-card-2"/>
          <p:cNvGrpSpPr/>
          <p:nvPr/>
        </p:nvGrpSpPr>
        <p:grpSpPr>
          <a:xfrm>
            <a:off x="6248400" y="3375660"/>
            <a:ext cx="5410200" cy="2275522"/>
            <a:chOff x="6248400" y="3375660"/>
            <a:chExt cx="5410200" cy="2275522"/>
          </a:xfrm>
        </p:grpSpPr>
        <p:sp>
          <p:nvSpPr>
            <p:cNvPr id="54" name="Rectangle 54"/>
            <p:cNvSpPr/>
            <p:nvPr/>
          </p:nvSpPr>
          <p:spPr>
            <a:xfrm>
              <a:off x="6248400" y="3375660"/>
              <a:ext cx="5410200" cy="2275522"/>
            </a:xfrm>
            <a:prstGeom prst="roundRect">
              <a:avLst>
                <a:gd name="adj" fmla="val 5860"/>
              </a:avLst>
            </a:prstGeom>
            <a:solidFill>
              <a:srgbClr val="FFFFFF"/>
            </a:solidFill>
            <a:ln w="14288">
              <a:solidFill>
                <a:srgbClr val="D9DFEA"/>
              </a:solidFill>
            </a:ln>
          </p:spPr>
        </p:sp>
        <p:sp>
          <p:nvSpPr>
            <p:cNvPr id="55" name="Rectangle 55"/>
            <p:cNvSpPr/>
            <p:nvPr/>
          </p:nvSpPr>
          <p:spPr>
            <a:xfrm>
              <a:off x="6257925" y="3509010"/>
              <a:ext cx="47625" cy="2008822"/>
            </a:xfrm>
            <a:prstGeom prst="roundRect">
              <a:avLst>
                <a:gd name="adj" fmla="val 50000"/>
              </a:avLst>
            </a:prstGeom>
            <a:solidFill>
              <a:srgbClr val="B42318"/>
            </a:solidFill>
            <a:ln>
              <a:noFill/>
            </a:ln>
          </p:spPr>
        </p:sp>
        <p:sp>
          <p:nvSpPr>
            <p:cNvPr id="56" name="Rectangle 56"/>
            <p:cNvSpPr/>
            <p:nvPr/>
          </p:nvSpPr>
          <p:spPr>
            <a:xfrm>
              <a:off x="6467475" y="3556635"/>
              <a:ext cx="458152" cy="238125"/>
            </a:xfrm>
            <a:prstGeom prst="roundRect">
              <a:avLst>
                <a:gd name="adj" fmla="val 50000"/>
              </a:avLst>
            </a:prstGeom>
            <a:solidFill>
              <a:srgbClr val="FDECEA"/>
            </a:solidFill>
            <a:ln>
              <a:noFill/>
            </a:ln>
          </p:spPr>
        </p:sp>
        <p:sp>
          <p:nvSpPr>
            <p:cNvPr id="57" name="TextBox 57"/>
            <p:cNvSpPr txBox="1"/>
            <p:nvPr/>
          </p:nvSpPr>
          <p:spPr>
            <a:xfrm>
              <a:off x="6560147" y="3589496"/>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58" name="TextBox 58"/>
            <p:cNvSpPr txBox="1"/>
            <p:nvPr/>
          </p:nvSpPr>
          <p:spPr>
            <a:xfrm>
              <a:off x="7033451" y="3597116"/>
              <a:ext cx="22432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A 版补充材料里的名称与出处</a:t>
              </a:r>
            </a:p>
          </p:txBody>
        </p:sp>
        <p:sp>
          <p:nvSpPr>
            <p:cNvPr id="59" name="Ellipse 59"/>
            <p:cNvSpPr/>
            <p:nvPr/>
          </p:nvSpPr>
          <p:spPr>
            <a:xfrm>
              <a:off x="6477000" y="3966210"/>
              <a:ext cx="57150" cy="57150"/>
            </a:xfrm>
            <a:prstGeom prst="ellipse">
              <a:avLst/>
            </a:prstGeom>
            <a:solidFill>
              <a:srgbClr val="0E7C86"/>
            </a:solidFill>
            <a:ln>
              <a:noFill/>
            </a:ln>
          </p:spPr>
        </p:sp>
        <p:sp>
          <p:nvSpPr>
            <p:cNvPr id="60" name="TextBox 60"/>
            <p:cNvSpPr txBox="1"/>
            <p:nvPr/>
          </p:nvSpPr>
          <p:spPr>
            <a:xfrm>
              <a:off x="6632448" y="3913346"/>
              <a:ext cx="452440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书名是 </a:t>
              </a:r>
              <a:r>
                <a:rPr lang="en-US" sz="1280" b="1" dirty="0">
                  <a:solidFill>
                    <a:srgbClr val="0F7A68"/>
                  </a:solidFill>
                  <a:latin typeface="+mn-lt"/>
                  <a:ea typeface="+mn-ea"/>
                  <a:cs typeface="+mn-cs"/>
                </a:rPr>
                <a:t>Perceptrons</a:t>
              </a:r>
              <a:r>
                <a:rPr lang="zh-CN" sz="1280" dirty="0">
                  <a:solidFill>
                    <a:srgbClr val="1F2937"/>
                  </a:solidFill>
                  <a:latin typeface="+mn-lt"/>
                  <a:ea typeface="+mn-ea"/>
                  <a:cs typeface="+mn-cs"/>
                </a:rPr>
                <a:t>（课件写 Perception），Minsky 被拼成</a:t>
              </a:r>
              <a:br/>
              <a:r>
                <a:rPr lang="zh-CN" sz="1280" dirty="0">
                  <a:solidFill>
                    <a:srgbClr val="1F2937"/>
                  </a:solidFill>
                  <a:latin typeface="+mn-lt"/>
                  <a:ea typeface="+mn-ea"/>
                  <a:cs typeface="+mn-cs"/>
                </a:rPr>
                <a:t xml:space="preserve">Minskey；Marcian </a:t>
              </a:r>
              <a:r>
                <a:rPr lang="en-US" sz="1280" b="1" dirty="0">
                  <a:solidFill>
                    <a:srgbClr val="1F2937"/>
                  </a:solidFill>
                  <a:latin typeface="+mn-lt"/>
                  <a:ea typeface="+mn-ea"/>
                  <a:cs typeface="+mn-cs"/>
                </a:rPr>
                <a:t>Hoff</a:t>
              </a:r>
              <a:r>
                <a:rPr lang="zh-CN" sz="1280" dirty="0">
                  <a:solidFill>
                    <a:srgbClr val="1F2937"/>
                  </a:solidFill>
                  <a:latin typeface="+mn-lt"/>
                  <a:ea typeface="+mn-ea"/>
                  <a:cs typeface="+mn-cs"/>
                </a:rPr>
                <a:t xml:space="preserve"> 被写成 Haff</a:t>
              </a:r>
            </a:p>
          </p:txBody>
        </p:sp>
        <p:sp>
          <p:nvSpPr>
            <p:cNvPr id="61" name="Ellipse 61"/>
            <p:cNvSpPr/>
            <p:nvPr/>
          </p:nvSpPr>
          <p:spPr>
            <a:xfrm>
              <a:off x="6477000" y="4493895"/>
              <a:ext cx="57150" cy="57150"/>
            </a:xfrm>
            <a:prstGeom prst="ellipse">
              <a:avLst/>
            </a:prstGeom>
            <a:solidFill>
              <a:srgbClr val="0E7C86"/>
            </a:solidFill>
            <a:ln>
              <a:noFill/>
            </a:ln>
          </p:spPr>
        </p:sp>
        <p:sp>
          <p:nvSpPr>
            <p:cNvPr id="62" name="TextBox 62"/>
            <p:cNvSpPr txBox="1"/>
            <p:nvPr/>
          </p:nvSpPr>
          <p:spPr>
            <a:xfrm>
              <a:off x="6632448" y="4441031"/>
              <a:ext cx="4084676" cy="492252"/>
            </a:xfrm>
            <a:prstGeom prst="rect">
              <a:avLst/>
            </a:prstGeom>
            <a:noFill/>
            <a:ln>
              <a:noFill/>
            </a:ln>
          </p:spPr>
          <p:txBody>
            <a:bodyPr wrap="none" lIns="0" tIns="0" rIns="0" bIns="0" anchor="t" anchorCtr="0">
              <a:spAutoFit/>
            </a:bodyPr>
            <a:lstStyle/>
            <a:p>
              <a:pPr algn="l">
                <a:lnSpc>
                  <a:spcPts val="1912"/>
                </a:lnSpc>
              </a:pPr>
              <a:r>
                <a:rPr lang="en-US" sz="1280" dirty="0">
                  <a:solidFill>
                    <a:srgbClr val="1F2937"/>
                  </a:solidFill>
                  <a:latin typeface="+mn-lt"/>
                  <a:ea typeface="+mn-ea"/>
                  <a:cs typeface="+mn-cs"/>
                </a:rPr>
                <a:t xml:space="preserve">Bolziman → </a:t>
              </a:r>
              <a:r>
                <a:rPr lang="en-US" sz="1280" b="1" dirty="0">
                  <a:solidFill>
                    <a:srgbClr val="0F7A68"/>
                  </a:solidFill>
                  <a:latin typeface="+mn-lt"/>
                  <a:ea typeface="+mn-ea"/>
                  <a:cs typeface="+mn-cs"/>
                </a:rPr>
                <a:t>Boltzmann</a:t>
              </a:r>
              <a:r>
                <a:rPr lang="zh-CN" sz="1280" dirty="0">
                  <a:solidFill>
                    <a:srgbClr val="1F2937"/>
                  </a:solidFill>
                  <a:latin typeface="+mn-lt"/>
                  <a:ea typeface="+mn-ea"/>
                  <a:cs typeface="+mn-cs"/>
                </a:rPr>
                <a:t xml:space="preserve">，Donala → </a:t>
              </a:r>
              <a:r>
                <a:rPr lang="en-US" sz="1280" b="1" dirty="0">
                  <a:solidFill>
                    <a:srgbClr val="0F7A68"/>
                  </a:solidFill>
                  <a:latin typeface="+mn-lt"/>
                  <a:ea typeface="+mn-ea"/>
                  <a:cs typeface="+mn-cs"/>
                </a:rPr>
                <a:t>Donald</a:t>
              </a:r>
              <a:r>
                <a:rPr lang="zh-CN" sz="1280" dirty="0">
                  <a:solidFill>
                    <a:srgbClr val="1F2937"/>
                  </a:solidFill>
                  <a:latin typeface="+mn-lt"/>
                  <a:ea typeface="+mn-ea"/>
                  <a:cs typeface="+mn-cs"/>
                </a:rPr>
                <a:t>，Geoffery →</a:t>
              </a:r>
              <a:br/>
              <a:r>
                <a:rPr lang="en-US" sz="1280" b="1" dirty="0">
                  <a:solidFill>
                    <a:srgbClr val="0F7A68"/>
                  </a:solidFill>
                  <a:latin typeface="+mn-lt"/>
                  <a:ea typeface="+mn-ea"/>
                  <a:cs typeface="+mn-cs"/>
                </a:rPr>
                <a:t>Geoffrey</a:t>
              </a:r>
            </a:p>
          </p:txBody>
        </p:sp>
        <p:sp>
          <p:nvSpPr>
            <p:cNvPr id="63" name="Ellipse 63"/>
            <p:cNvSpPr/>
            <p:nvPr/>
          </p:nvSpPr>
          <p:spPr>
            <a:xfrm>
              <a:off x="6477000" y="5021580"/>
              <a:ext cx="57150" cy="57150"/>
            </a:xfrm>
            <a:prstGeom prst="ellipse">
              <a:avLst/>
            </a:prstGeom>
            <a:solidFill>
              <a:srgbClr val="0E7C86"/>
            </a:solidFill>
            <a:ln>
              <a:noFill/>
            </a:ln>
          </p:spPr>
        </p:sp>
        <p:sp>
          <p:nvSpPr>
            <p:cNvPr id="64" name="TextBox 64"/>
            <p:cNvSpPr txBox="1"/>
            <p:nvPr/>
          </p:nvSpPr>
          <p:spPr>
            <a:xfrm>
              <a:off x="6632448" y="4968716"/>
              <a:ext cx="431266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深度信念网络出自 2006 年 Neural Computation；课件引的</a:t>
              </a:r>
              <a:br/>
              <a:r>
                <a:rPr lang="zh-CN" sz="1280" dirty="0">
                  <a:solidFill>
                    <a:srgbClr val="1F2937"/>
                  </a:solidFill>
                  <a:latin typeface="+mn-lt"/>
                  <a:ea typeface="+mn-ea"/>
                  <a:cs typeface="+mn-cs"/>
                </a:rPr>
                <a:t>Science 2006 那篇是用深度自编码器做降维</a:t>
              </a:r>
            </a:p>
          </p:txBody>
        </p:sp>
      </p:grpSp>
      <p:grpSp>
        <p:nvGrpSpPr>
          <p:cNvPr id="72" name="takeaway"/>
          <p:cNvGrpSpPr/>
          <p:nvPr/>
        </p:nvGrpSpPr>
        <p:grpSpPr>
          <a:xfrm>
            <a:off x="533400" y="5895022"/>
            <a:ext cx="11125200" cy="467678"/>
            <a:chOff x="533400" y="5895022"/>
            <a:chExt cx="11125200" cy="467678"/>
          </a:xfrm>
        </p:grpSpPr>
        <p:sp>
          <p:nvSpPr>
            <p:cNvPr id="66" name="Rectangle 66"/>
            <p:cNvSpPr/>
            <p:nvPr/>
          </p:nvSpPr>
          <p:spPr>
            <a:xfrm>
              <a:off x="533400" y="5895022"/>
              <a:ext cx="11125200" cy="467678"/>
            </a:xfrm>
            <a:prstGeom prst="roundRect">
              <a:avLst>
                <a:gd name="adj" fmla="val 24440"/>
              </a:avLst>
            </a:prstGeom>
            <a:solidFill>
              <a:srgbClr val="F4F6FB"/>
            </a:solidFill>
            <a:ln>
              <a:noFill/>
            </a:ln>
          </p:spPr>
        </p:sp>
        <p:grpSp>
          <p:nvGrpSpPr>
            <p:cNvPr id="70" name="Group 70"/>
            <p:cNvGrpSpPr/>
            <p:nvPr/>
          </p:nvGrpSpPr>
          <p:grpSpPr>
            <a:xfrm>
              <a:off x="738188" y="6028373"/>
              <a:ext cx="200026" cy="200026"/>
              <a:chOff x="738188" y="6028373"/>
              <a:chExt cx="200026" cy="200026"/>
            </a:xfrm>
          </p:grpSpPr>
          <p:sp>
            <p:nvSpPr>
              <p:cNvPr id="67" name="Freeform 67"/>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8" name="Freeform 68"/>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9" name="Freeform 69"/>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1" name="TextBox 71"/>
            <p:cNvSpPr txBox="1"/>
            <p:nvPr/>
          </p:nvSpPr>
          <p:spPr>
            <a:xfrm>
              <a:off x="1041273" y="6039326"/>
              <a:ext cx="98685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主流期刊：Neural Computation、Neural Networks、IEEE TNNLS。主要会议：NeurIPS、IJCNN；区域性会议 ICANN、ICONIP。</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自测题（一）概念与推导</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920615" cy="264033"/>
            <a:chOff x="526542" y="1545907"/>
            <a:chExt cx="4920615" cy="264033"/>
          </a:xfrm>
        </p:grpSpPr>
        <p:sp>
          <p:nvSpPr>
            <p:cNvPr id="7" name="TextBox 7"/>
            <p:cNvSpPr txBox="1"/>
            <p:nvPr/>
          </p:nvSpPr>
          <p:spPr>
            <a:xfrm>
              <a:off x="526542" y="1545907"/>
              <a:ext cx="492061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先自己写出答案，再对照。带计算的题请把每一步都写出来。</a:t>
              </a:r>
            </a:p>
          </p:txBody>
        </p:sp>
      </p:grpSp>
      <p:grpSp>
        <p:nvGrpSpPr>
          <p:cNvPr id="14" name="c1-card-1"/>
          <p:cNvGrpSpPr/>
          <p:nvPr/>
        </p:nvGrpSpPr>
        <p:grpSpPr>
          <a:xfrm>
            <a:off x="533400" y="1928812"/>
            <a:ext cx="5410200" cy="1671638"/>
            <a:chOff x="533400" y="1928812"/>
            <a:chExt cx="5410200" cy="1671638"/>
          </a:xfrm>
        </p:grpSpPr>
        <p:sp>
          <p:nvSpPr>
            <p:cNvPr id="9" name="Rectangle 9"/>
            <p:cNvSpPr/>
            <p:nvPr/>
          </p:nvSpPr>
          <p:spPr>
            <a:xfrm>
              <a:off x="533400" y="1928812"/>
              <a:ext cx="5410200" cy="1671638"/>
            </a:xfrm>
            <a:prstGeom prst="roundRect">
              <a:avLst>
                <a:gd name="adj" fmla="val 7977"/>
              </a:avLst>
            </a:prstGeom>
            <a:solidFill>
              <a:srgbClr val="F4F6FB"/>
            </a:solidFill>
            <a:ln>
              <a:noFill/>
            </a:ln>
          </p:spPr>
        </p:sp>
        <p:sp>
          <p:nvSpPr>
            <p:cNvPr id="10" name="Rectangle 10"/>
            <p:cNvSpPr/>
            <p:nvPr/>
          </p:nvSpPr>
          <p:spPr>
            <a:xfrm>
              <a:off x="714375" y="2109788"/>
              <a:ext cx="379095" cy="238125"/>
            </a:xfrm>
            <a:prstGeom prst="roundRect">
              <a:avLst>
                <a:gd name="adj" fmla="val 50000"/>
              </a:avLst>
            </a:prstGeom>
            <a:solidFill>
              <a:srgbClr val="E2F3F4"/>
            </a:solidFill>
            <a:ln>
              <a:noFill/>
            </a:ln>
          </p:spPr>
        </p:sp>
        <p:sp>
          <p:nvSpPr>
            <p:cNvPr id="11" name="TextBox 11"/>
            <p:cNvSpPr txBox="1"/>
            <p:nvPr/>
          </p:nvSpPr>
          <p:spPr>
            <a:xfrm>
              <a:off x="803832" y="214264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2" name="TextBox 12"/>
            <p:cNvSpPr txBox="1"/>
            <p:nvPr/>
          </p:nvSpPr>
          <p:spPr>
            <a:xfrm>
              <a:off x="707898" y="2449354"/>
              <a:ext cx="473181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M-P 模型里兴奋性输入和抑制性输入的作用有什么本质区别？</a:t>
              </a:r>
            </a:p>
          </p:txBody>
        </p:sp>
        <p:sp>
          <p:nvSpPr>
            <p:cNvPr id="13" name="TextBox 13"/>
            <p:cNvSpPr txBox="1"/>
            <p:nvPr/>
          </p:nvSpPr>
          <p:spPr>
            <a:xfrm>
              <a:off x="707898" y="2735104"/>
              <a:ext cx="4865370"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兴奋性输入是“累加后与阈值比较”，需要凑够 θ 才起作用；抑</a:t>
              </a:r>
              <a:br/>
              <a:r>
                <a:rPr lang="zh-CN" sz="1280" dirty="0">
                  <a:solidFill>
                    <a:srgbClr val="1F2937"/>
                  </a:solidFill>
                  <a:latin typeface="+mn-lt"/>
                  <a:ea typeface="+mn-ea"/>
                  <a:cs typeface="+mn-cs"/>
                </a:rPr>
                <a:t>制性输入是一票否决，只要有任何一个抑制性输入为 1，输出立刻为</a:t>
              </a:r>
              <a:br/>
              <a:r>
                <a:rPr lang="zh-CN" sz="1280" dirty="0">
                  <a:solidFill>
                    <a:srgbClr val="1F2937"/>
                  </a:solidFill>
                  <a:latin typeface="+mn-lt"/>
                  <a:ea typeface="+mn-ea"/>
                  <a:cs typeface="+mn-cs"/>
                </a:rPr>
                <a:t>0，与兴奋性输入的和有多大无关。</a:t>
              </a:r>
            </a:p>
          </p:txBody>
        </p:sp>
      </p:grpSp>
      <p:grpSp>
        <p:nvGrpSpPr>
          <p:cNvPr id="20" name="c1-card-2"/>
          <p:cNvGrpSpPr/>
          <p:nvPr/>
        </p:nvGrpSpPr>
        <p:grpSpPr>
          <a:xfrm>
            <a:off x="533400" y="3765232"/>
            <a:ext cx="5410200" cy="1914525"/>
            <a:chOff x="533400" y="3765232"/>
            <a:chExt cx="5410200" cy="1914525"/>
          </a:xfrm>
        </p:grpSpPr>
        <p:sp>
          <p:nvSpPr>
            <p:cNvPr id="15" name="Rectangle 15"/>
            <p:cNvSpPr/>
            <p:nvPr/>
          </p:nvSpPr>
          <p:spPr>
            <a:xfrm>
              <a:off x="533400" y="3765232"/>
              <a:ext cx="5410200" cy="1914525"/>
            </a:xfrm>
            <a:prstGeom prst="roundRect">
              <a:avLst>
                <a:gd name="adj" fmla="val 6965"/>
              </a:avLst>
            </a:prstGeom>
            <a:solidFill>
              <a:srgbClr val="F4F6FB"/>
            </a:solidFill>
            <a:ln>
              <a:noFill/>
            </a:ln>
          </p:spPr>
        </p:sp>
        <p:sp>
          <p:nvSpPr>
            <p:cNvPr id="16" name="Rectangle 16"/>
            <p:cNvSpPr/>
            <p:nvPr/>
          </p:nvSpPr>
          <p:spPr>
            <a:xfrm>
              <a:off x="714375" y="3946208"/>
              <a:ext cx="379095" cy="238125"/>
            </a:xfrm>
            <a:prstGeom prst="roundRect">
              <a:avLst>
                <a:gd name="adj" fmla="val 50000"/>
              </a:avLst>
            </a:prstGeom>
            <a:solidFill>
              <a:srgbClr val="E2F3F4"/>
            </a:solidFill>
            <a:ln>
              <a:noFill/>
            </a:ln>
          </p:spPr>
        </p:sp>
        <p:sp>
          <p:nvSpPr>
            <p:cNvPr id="17" name="TextBox 17"/>
            <p:cNvSpPr txBox="1"/>
            <p:nvPr/>
          </p:nvSpPr>
          <p:spPr>
            <a:xfrm>
              <a:off x="803832" y="397906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8" name="TextBox 18"/>
            <p:cNvSpPr txBox="1"/>
            <p:nvPr/>
          </p:nvSpPr>
          <p:spPr>
            <a:xfrm>
              <a:off x="707898" y="4286726"/>
              <a:ext cx="249173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证明单个感知器无法实现 XOR。</a:t>
              </a:r>
            </a:p>
          </p:txBody>
        </p:sp>
        <p:sp>
          <p:nvSpPr>
            <p:cNvPr id="19" name="TextBox 19"/>
            <p:cNvSpPr txBox="1"/>
            <p:nvPr/>
          </p:nvSpPr>
          <p:spPr>
            <a:xfrm>
              <a:off x="707898" y="4571524"/>
              <a:ext cx="458901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设存在 w₁、w₂、b。(0,0)→0 得 b&lt;0；(1,0)→1 得 w₁ ≥</a:t>
              </a:r>
              <a:br/>
              <a:r>
                <a:rPr lang="zh-CN" sz="1280" dirty="0">
                  <a:solidFill>
                    <a:srgbClr val="1F2937"/>
                  </a:solidFill>
                  <a:latin typeface="+mn-lt"/>
                  <a:ea typeface="+mn-ea"/>
                  <a:cs typeface="+mn-cs"/>
                </a:rPr>
                <a:t>−b&gt;0；(0,1)→1 得 w₂ ≥ −b&gt;0。三式给出 w₁+w₂+b ≥ −b−b+b =</a:t>
              </a:r>
              <a:br/>
              <a:r>
                <a:rPr lang="zh-CN" sz="1280" dirty="0">
                  <a:solidFill>
                    <a:srgbClr val="1F2937"/>
                  </a:solidFill>
                  <a:latin typeface="+mn-lt"/>
                  <a:ea typeface="+mn-ea"/>
                  <a:cs typeface="+mn-cs"/>
                </a:rPr>
                <a:t>−b &gt; 0，与 (1,1)→0 要求的 w₁+w₂+b &lt; 0 矛盾。</a:t>
              </a:r>
            </a:p>
          </p:txBody>
        </p:sp>
      </p:grpSp>
      <p:grpSp>
        <p:nvGrpSpPr>
          <p:cNvPr id="26" name="c2-card-1"/>
          <p:cNvGrpSpPr/>
          <p:nvPr/>
        </p:nvGrpSpPr>
        <p:grpSpPr>
          <a:xfrm>
            <a:off x="6248400" y="1928812"/>
            <a:ext cx="5410200" cy="1914525"/>
            <a:chOff x="6248400" y="1928812"/>
            <a:chExt cx="5410200" cy="1914525"/>
          </a:xfrm>
        </p:grpSpPr>
        <p:sp>
          <p:nvSpPr>
            <p:cNvPr id="21" name="Rectangle 21"/>
            <p:cNvSpPr/>
            <p:nvPr/>
          </p:nvSpPr>
          <p:spPr>
            <a:xfrm>
              <a:off x="6248400" y="1928812"/>
              <a:ext cx="5410200" cy="1914525"/>
            </a:xfrm>
            <a:prstGeom prst="roundRect">
              <a:avLst>
                <a:gd name="adj" fmla="val 6965"/>
              </a:avLst>
            </a:prstGeom>
            <a:solidFill>
              <a:srgbClr val="F4F6FB"/>
            </a:solidFill>
            <a:ln>
              <a:noFill/>
            </a:ln>
          </p:spPr>
        </p:sp>
        <p:sp>
          <p:nvSpPr>
            <p:cNvPr id="22" name="Rectangle 22"/>
            <p:cNvSpPr/>
            <p:nvPr/>
          </p:nvSpPr>
          <p:spPr>
            <a:xfrm>
              <a:off x="6429375" y="2109788"/>
              <a:ext cx="379095" cy="238125"/>
            </a:xfrm>
            <a:prstGeom prst="roundRect">
              <a:avLst>
                <a:gd name="adj" fmla="val 50000"/>
              </a:avLst>
            </a:prstGeom>
            <a:solidFill>
              <a:srgbClr val="E2F3F4"/>
            </a:solidFill>
            <a:ln>
              <a:noFill/>
            </a:ln>
          </p:spPr>
        </p:sp>
        <p:sp>
          <p:nvSpPr>
            <p:cNvPr id="23" name="TextBox 23"/>
            <p:cNvSpPr txBox="1"/>
            <p:nvPr/>
          </p:nvSpPr>
          <p:spPr>
            <a:xfrm>
              <a:off x="6518832" y="214264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4" name="TextBox 24"/>
            <p:cNvSpPr txBox="1"/>
            <p:nvPr/>
          </p:nvSpPr>
          <p:spPr>
            <a:xfrm>
              <a:off x="6422898" y="2449354"/>
              <a:ext cx="383056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为什么感知器的损失函数不用“误分类点的个数”？</a:t>
              </a:r>
            </a:p>
          </p:txBody>
        </p:sp>
        <p:sp>
          <p:nvSpPr>
            <p:cNvPr id="25" name="TextBox 25"/>
            <p:cNvSpPr txBox="1"/>
            <p:nvPr/>
          </p:nvSpPr>
          <p:spPr>
            <a:xfrm>
              <a:off x="6422898" y="2735104"/>
              <a:ext cx="4775962" cy="978027"/>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误分类点个数关于 w、b 是阶梯函数：权值微小变化时它要么</a:t>
              </a:r>
              <a:br/>
              <a:r>
                <a:rPr lang="zh-CN" sz="1280" dirty="0">
                  <a:solidFill>
                    <a:srgbClr val="1F2937"/>
                  </a:solidFill>
                  <a:latin typeface="+mn-lt"/>
                  <a:ea typeface="+mn-ea"/>
                  <a:cs typeface="+mn-cs"/>
                </a:rPr>
                <a:t>不变要么突然跳一格，导数处处为 0，无法用梯度下降优化。改用</a:t>
              </a:r>
              <a:br/>
              <a:r>
                <a:rPr lang="zh-CN" sz="1280" dirty="0">
                  <a:solidFill>
                    <a:srgbClr val="1F2937"/>
                  </a:solidFill>
                  <a:latin typeface="+mn-lt"/>
                  <a:ea typeface="+mn-ea"/>
                  <a:cs typeface="+mn-cs"/>
                </a:rPr>
                <a:t>−Σ yᵢ(w·xᵢ+b) 后，对固定的误分类点集它是 w、b 的线性函数，</a:t>
              </a:r>
              <a:br/>
              <a:r>
                <a:rPr lang="zh-CN" sz="1280" dirty="0">
                  <a:solidFill>
                    <a:srgbClr val="1F2937"/>
                  </a:solidFill>
                  <a:latin typeface="+mn-lt"/>
                  <a:ea typeface="+mn-ea"/>
                  <a:cs typeface="+mn-cs"/>
                </a:rPr>
                <a:t>处处可导。</a:t>
              </a:r>
            </a:p>
          </p:txBody>
        </p:sp>
      </p:grpSp>
      <p:grpSp>
        <p:nvGrpSpPr>
          <p:cNvPr id="32" name="c2-card-2"/>
          <p:cNvGrpSpPr/>
          <p:nvPr/>
        </p:nvGrpSpPr>
        <p:grpSpPr>
          <a:xfrm>
            <a:off x="6248400" y="4008120"/>
            <a:ext cx="5410200" cy="1671638"/>
            <a:chOff x="6248400" y="4008120"/>
            <a:chExt cx="5410200" cy="1671638"/>
          </a:xfrm>
        </p:grpSpPr>
        <p:sp>
          <p:nvSpPr>
            <p:cNvPr id="27" name="Rectangle 27"/>
            <p:cNvSpPr/>
            <p:nvPr/>
          </p:nvSpPr>
          <p:spPr>
            <a:xfrm>
              <a:off x="6248400" y="4008120"/>
              <a:ext cx="5410200" cy="1671638"/>
            </a:xfrm>
            <a:prstGeom prst="roundRect">
              <a:avLst>
                <a:gd name="adj" fmla="val 7977"/>
              </a:avLst>
            </a:prstGeom>
            <a:solidFill>
              <a:srgbClr val="F4F6FB"/>
            </a:solidFill>
            <a:ln>
              <a:noFill/>
            </a:ln>
          </p:spPr>
        </p:sp>
        <p:sp>
          <p:nvSpPr>
            <p:cNvPr id="28" name="Rectangle 28"/>
            <p:cNvSpPr/>
            <p:nvPr/>
          </p:nvSpPr>
          <p:spPr>
            <a:xfrm>
              <a:off x="6429375" y="4189095"/>
              <a:ext cx="379095" cy="238125"/>
            </a:xfrm>
            <a:prstGeom prst="roundRect">
              <a:avLst>
                <a:gd name="adj" fmla="val 50000"/>
              </a:avLst>
            </a:prstGeom>
            <a:solidFill>
              <a:srgbClr val="E2F3F4"/>
            </a:solidFill>
            <a:ln>
              <a:noFill/>
            </a:ln>
          </p:spPr>
        </p:sp>
        <p:sp>
          <p:nvSpPr>
            <p:cNvPr id="29" name="TextBox 29"/>
            <p:cNvSpPr txBox="1"/>
            <p:nvPr/>
          </p:nvSpPr>
          <p:spPr>
            <a:xfrm>
              <a:off x="6518832" y="422195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30" name="TextBox 30"/>
            <p:cNvSpPr txBox="1"/>
            <p:nvPr/>
          </p:nvSpPr>
          <p:spPr>
            <a:xfrm>
              <a:off x="6422898" y="4529614"/>
              <a:ext cx="428774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BP 算法里，为什么隐层神经元的 ∂l/∂z 要对下游求和？</a:t>
              </a:r>
            </a:p>
          </p:txBody>
        </p:sp>
        <p:sp>
          <p:nvSpPr>
            <p:cNvPr id="31" name="TextBox 31"/>
            <p:cNvSpPr txBox="1"/>
            <p:nvPr/>
          </p:nvSpPr>
          <p:spPr>
            <a:xfrm>
              <a:off x="6422898" y="4814411"/>
              <a:ext cx="4727194"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它的输出被送给了下一层每一个神经元，损失对它的依赖有多</a:t>
              </a:r>
              <a:br/>
              <a:r>
                <a:rPr lang="zh-CN" sz="1280" dirty="0">
                  <a:solidFill>
                    <a:srgbClr val="1F2937"/>
                  </a:solidFill>
                  <a:latin typeface="+mn-lt"/>
                  <a:ea typeface="+mn-ea"/>
                  <a:cs typeface="+mn-cs"/>
                </a:rPr>
                <a:t>条路径。按链式法则的第二种情形，总偏导等于各路径贡献之和，</a:t>
              </a:r>
              <a:br/>
              <a:r>
                <a:rPr lang="zh-CN" sz="1280" dirty="0">
                  <a:solidFill>
                    <a:srgbClr val="1F2937"/>
                  </a:solidFill>
                  <a:latin typeface="+mn-lt"/>
                  <a:ea typeface="+mn-ea"/>
                  <a:cs typeface="+mn-cs"/>
                </a:rPr>
                <a:t>故写成 σ′(z)·Σₖ wₖ·(∂l/∂zₖ)。</a:t>
              </a:r>
            </a:p>
          </p:txBody>
        </p:sp>
      </p:grpSp>
      <p:grpSp>
        <p:nvGrpSpPr>
          <p:cNvPr id="39" name="takeaway"/>
          <p:cNvGrpSpPr/>
          <p:nvPr/>
        </p:nvGrpSpPr>
        <p:grpSpPr>
          <a:xfrm>
            <a:off x="533400" y="5895022"/>
            <a:ext cx="11125200" cy="467678"/>
            <a:chOff x="533400" y="5895022"/>
            <a:chExt cx="11125200" cy="467678"/>
          </a:xfrm>
        </p:grpSpPr>
        <p:sp>
          <p:nvSpPr>
            <p:cNvPr id="33" name="Rectangle 33"/>
            <p:cNvSpPr/>
            <p:nvPr/>
          </p:nvSpPr>
          <p:spPr>
            <a:xfrm>
              <a:off x="533400" y="5895022"/>
              <a:ext cx="11125200" cy="467678"/>
            </a:xfrm>
            <a:prstGeom prst="roundRect">
              <a:avLst>
                <a:gd name="adj" fmla="val 24440"/>
              </a:avLst>
            </a:prstGeom>
            <a:solidFill>
              <a:srgbClr val="FDEEE7"/>
            </a:solidFill>
            <a:ln>
              <a:noFill/>
            </a:ln>
          </p:spPr>
        </p:sp>
        <p:grpSp>
          <p:nvGrpSpPr>
            <p:cNvPr id="37" name="Group 37"/>
            <p:cNvGrpSpPr/>
            <p:nvPr/>
          </p:nvGrpSpPr>
          <p:grpSpPr>
            <a:xfrm>
              <a:off x="738188" y="6028373"/>
              <a:ext cx="200026" cy="200025"/>
              <a:chOff x="738188" y="6028373"/>
              <a:chExt cx="200026" cy="200025"/>
            </a:xfrm>
          </p:grpSpPr>
          <p:sp>
            <p:nvSpPr>
              <p:cNvPr id="34" name="Freeform 3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1273" y="6039326"/>
              <a:ext cx="7965227"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第 3 题的反证法套路可以推广：想证明某个布尔函数线性不可分，就把四个样本的不等式列出来找矛盾。</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自测题（二）计算与易错</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2" name="c1-card-1"/>
          <p:cNvGrpSpPr/>
          <p:nvPr/>
        </p:nvGrpSpPr>
        <p:grpSpPr>
          <a:xfrm>
            <a:off x="533400" y="1524000"/>
            <a:ext cx="5410200" cy="1914525"/>
            <a:chOff x="533400" y="1524000"/>
            <a:chExt cx="5410200" cy="1914525"/>
          </a:xfrm>
        </p:grpSpPr>
        <p:sp>
          <p:nvSpPr>
            <p:cNvPr id="7" name="Rectangle 7"/>
            <p:cNvSpPr/>
            <p:nvPr/>
          </p:nvSpPr>
          <p:spPr>
            <a:xfrm>
              <a:off x="533400" y="1524000"/>
              <a:ext cx="5410200" cy="1914525"/>
            </a:xfrm>
            <a:prstGeom prst="roundRect">
              <a:avLst>
                <a:gd name="adj" fmla="val 6965"/>
              </a:avLst>
            </a:prstGeom>
            <a:solidFill>
              <a:srgbClr val="F4F6FB"/>
            </a:solidFill>
            <a:ln>
              <a:noFill/>
            </a:ln>
          </p:spPr>
        </p:sp>
        <p:sp>
          <p:nvSpPr>
            <p:cNvPr id="8" name="Rectangle 8"/>
            <p:cNvSpPr/>
            <p:nvPr/>
          </p:nvSpPr>
          <p:spPr>
            <a:xfrm>
              <a:off x="714375" y="1704975"/>
              <a:ext cx="379095" cy="238125"/>
            </a:xfrm>
            <a:prstGeom prst="roundRect">
              <a:avLst>
                <a:gd name="adj" fmla="val 50000"/>
              </a:avLst>
            </a:prstGeom>
            <a:solidFill>
              <a:srgbClr val="E2F3F4"/>
            </a:solidFill>
            <a:ln>
              <a:noFill/>
            </a:ln>
          </p:spPr>
        </p:sp>
        <p:sp>
          <p:nvSpPr>
            <p:cNvPr id="9" name="TextBox 9"/>
            <p:cNvSpPr txBox="1"/>
            <p:nvPr/>
          </p:nvSpPr>
          <p:spPr>
            <a:xfrm>
              <a:off x="803832" y="173783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0" name="TextBox 10"/>
            <p:cNvSpPr txBox="1"/>
            <p:nvPr/>
          </p:nvSpPr>
          <p:spPr>
            <a:xfrm>
              <a:off x="707898" y="2045494"/>
              <a:ext cx="4858055"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感知器初值 w₁=0.3、w₂=0.2、w₀=−0.8，η=0.1，阶跃输出。送</a:t>
              </a:r>
              <a:br/>
              <a:r>
                <a:rPr lang="zh-CN" sz="1280" b="1" dirty="0">
                  <a:solidFill>
                    <a:srgbClr val="1F2937"/>
                  </a:solidFill>
                  <a:latin typeface="+mn-lt"/>
                  <a:ea typeface="+mn-ea"/>
                  <a:cs typeface="+mn-cs"/>
                </a:rPr>
                <a:t>入 (x,y)=(1,0)，T=1。写出 v、O、Err 和新权值。</a:t>
              </a:r>
            </a:p>
          </p:txBody>
        </p:sp>
        <p:sp>
          <p:nvSpPr>
            <p:cNvPr id="11" name="TextBox 11"/>
            <p:cNvSpPr txBox="1"/>
            <p:nvPr/>
          </p:nvSpPr>
          <p:spPr>
            <a:xfrm>
              <a:off x="707898" y="2573179"/>
              <a:ext cx="4775962"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v = 0.3 + 0 − 0.8 = −0.5，O = step(−0.5) = 0，Err = +1。</a:t>
              </a:r>
              <a:br/>
              <a:r>
                <a:rPr lang="zh-CN" sz="1280" dirty="0">
                  <a:solidFill>
                    <a:srgbClr val="1F2937"/>
                  </a:solidFill>
                  <a:latin typeface="+mn-lt"/>
                  <a:ea typeface="+mn-ea"/>
                  <a:cs typeface="+mn-cs"/>
                </a:rPr>
                <a:t>w₁ = 0.3 + 0.1 = 0.4；w₂ = 0.2（输入为 0，不变）；w₀ = −0.8</a:t>
              </a:r>
              <a:br/>
              <a:r>
                <a:rPr lang="zh-CN" sz="1280" dirty="0">
                  <a:solidFill>
                    <a:srgbClr val="1F2937"/>
                  </a:solidFill>
                  <a:latin typeface="+mn-lt"/>
                  <a:ea typeface="+mn-ea"/>
                  <a:cs typeface="+mn-cs"/>
                </a:rPr>
                <a:t>+ 0.1 = −0.7。</a:t>
              </a:r>
            </a:p>
          </p:txBody>
        </p:sp>
      </p:grpSp>
      <p:grpSp>
        <p:nvGrpSpPr>
          <p:cNvPr id="18" name="c1-card-2"/>
          <p:cNvGrpSpPr/>
          <p:nvPr/>
        </p:nvGrpSpPr>
        <p:grpSpPr>
          <a:xfrm>
            <a:off x="533400" y="3603308"/>
            <a:ext cx="5410200" cy="1914525"/>
            <a:chOff x="533400" y="3603308"/>
            <a:chExt cx="5410200" cy="1914525"/>
          </a:xfrm>
        </p:grpSpPr>
        <p:sp>
          <p:nvSpPr>
            <p:cNvPr id="13" name="Rectangle 13"/>
            <p:cNvSpPr/>
            <p:nvPr/>
          </p:nvSpPr>
          <p:spPr>
            <a:xfrm>
              <a:off x="533400" y="3603308"/>
              <a:ext cx="5410200" cy="1914525"/>
            </a:xfrm>
            <a:prstGeom prst="roundRect">
              <a:avLst>
                <a:gd name="adj" fmla="val 6965"/>
              </a:avLst>
            </a:prstGeom>
            <a:solidFill>
              <a:srgbClr val="F4F6FB"/>
            </a:solidFill>
            <a:ln>
              <a:noFill/>
            </a:ln>
          </p:spPr>
        </p:sp>
        <p:sp>
          <p:nvSpPr>
            <p:cNvPr id="14" name="Rectangle 14"/>
            <p:cNvSpPr/>
            <p:nvPr/>
          </p:nvSpPr>
          <p:spPr>
            <a:xfrm>
              <a:off x="714375" y="3784282"/>
              <a:ext cx="379095" cy="238125"/>
            </a:xfrm>
            <a:prstGeom prst="roundRect">
              <a:avLst>
                <a:gd name="adj" fmla="val 50000"/>
              </a:avLst>
            </a:prstGeom>
            <a:solidFill>
              <a:srgbClr val="E2F3F4"/>
            </a:solidFill>
            <a:ln>
              <a:noFill/>
            </a:ln>
          </p:spPr>
        </p:sp>
        <p:sp>
          <p:nvSpPr>
            <p:cNvPr id="15" name="TextBox 15"/>
            <p:cNvSpPr txBox="1"/>
            <p:nvPr/>
          </p:nvSpPr>
          <p:spPr>
            <a:xfrm>
              <a:off x="803832" y="3817144"/>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6" name="TextBox 16"/>
            <p:cNvSpPr txBox="1"/>
            <p:nvPr/>
          </p:nvSpPr>
          <p:spPr>
            <a:xfrm>
              <a:off x="707898" y="4124801"/>
              <a:ext cx="485480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训练误差一直在降，测试误差却从第 30 轮开始上升。说明什么？三</a:t>
              </a:r>
              <a:br/>
              <a:r>
                <a:rPr lang="zh-CN" sz="1280" b="1" dirty="0">
                  <a:solidFill>
                    <a:srgbClr val="1F2937"/>
                  </a:solidFill>
                  <a:latin typeface="+mn-lt"/>
                  <a:ea typeface="+mn-ea"/>
                  <a:cs typeface="+mn-cs"/>
                </a:rPr>
                <a:t>种常用手段各限制什么？</a:t>
              </a:r>
            </a:p>
          </p:txBody>
        </p:sp>
        <p:sp>
          <p:nvSpPr>
            <p:cNvPr id="17" name="TextBox 17"/>
            <p:cNvSpPr txBox="1"/>
            <p:nvPr/>
          </p:nvSpPr>
          <p:spPr>
            <a:xfrm>
              <a:off x="707898" y="4652486"/>
              <a:ext cx="475157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过拟合，网络在记忆训练集。早停回到验证误差最低那组权</a:t>
              </a:r>
              <a:br/>
              <a:r>
                <a:rPr lang="zh-CN" sz="1280" dirty="0">
                  <a:solidFill>
                    <a:srgbClr val="1F2937"/>
                  </a:solidFill>
                  <a:latin typeface="+mn-lt"/>
                  <a:ea typeface="+mn-ea"/>
                  <a:cs typeface="+mn-cs"/>
                </a:rPr>
                <a:t>值，限制训练时间；正则化在目标函数里加权值平方和，限制权值</a:t>
              </a:r>
              <a:br/>
              <a:r>
                <a:rPr lang="zh-CN" sz="1280" dirty="0">
                  <a:solidFill>
                    <a:srgbClr val="1F2937"/>
                  </a:solidFill>
                  <a:latin typeface="+mn-lt"/>
                  <a:ea typeface="+mn-ea"/>
                  <a:cs typeface="+mn-cs"/>
                </a:rPr>
                <a:t>幅度；Dropout 训练时随机屏蔽神经元，限制单元之间的共适应。</a:t>
              </a:r>
            </a:p>
          </p:txBody>
        </p:sp>
      </p:grpSp>
      <p:grpSp>
        <p:nvGrpSpPr>
          <p:cNvPr id="24" name="c2-card-1"/>
          <p:cNvGrpSpPr/>
          <p:nvPr/>
        </p:nvGrpSpPr>
        <p:grpSpPr>
          <a:xfrm>
            <a:off x="6248400" y="1524000"/>
            <a:ext cx="5410200" cy="1914525"/>
            <a:chOff x="6248400" y="1524000"/>
            <a:chExt cx="5410200" cy="1914525"/>
          </a:xfrm>
        </p:grpSpPr>
        <p:sp>
          <p:nvSpPr>
            <p:cNvPr id="19" name="Rectangle 19"/>
            <p:cNvSpPr/>
            <p:nvPr/>
          </p:nvSpPr>
          <p:spPr>
            <a:xfrm>
              <a:off x="6248400" y="1524000"/>
              <a:ext cx="5410200" cy="1914525"/>
            </a:xfrm>
            <a:prstGeom prst="roundRect">
              <a:avLst>
                <a:gd name="adj" fmla="val 6965"/>
              </a:avLst>
            </a:prstGeom>
            <a:solidFill>
              <a:srgbClr val="F4F6FB"/>
            </a:solidFill>
            <a:ln>
              <a:noFill/>
            </a:ln>
          </p:spPr>
        </p:sp>
        <p:sp>
          <p:nvSpPr>
            <p:cNvPr id="20" name="Rectangle 20"/>
            <p:cNvSpPr/>
            <p:nvPr/>
          </p:nvSpPr>
          <p:spPr>
            <a:xfrm>
              <a:off x="6429375" y="1704975"/>
              <a:ext cx="379095" cy="238125"/>
            </a:xfrm>
            <a:prstGeom prst="roundRect">
              <a:avLst>
                <a:gd name="adj" fmla="val 50000"/>
              </a:avLst>
            </a:prstGeom>
            <a:solidFill>
              <a:srgbClr val="E2F3F4"/>
            </a:solidFill>
            <a:ln>
              <a:noFill/>
            </a:ln>
          </p:spPr>
        </p:sp>
        <p:sp>
          <p:nvSpPr>
            <p:cNvPr id="21" name="TextBox 21"/>
            <p:cNvSpPr txBox="1"/>
            <p:nvPr/>
          </p:nvSpPr>
          <p:spPr>
            <a:xfrm>
              <a:off x="6518832" y="173783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2" name="TextBox 22"/>
            <p:cNvSpPr txBox="1"/>
            <p:nvPr/>
          </p:nvSpPr>
          <p:spPr>
            <a:xfrm>
              <a:off x="6422898" y="2045494"/>
              <a:ext cx="461096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神经元用 Sigmoid，输出 O = 0.8，目标 T = 1，该连接输入 I =</a:t>
              </a:r>
              <a:br/>
              <a:r>
                <a:rPr lang="zh-CN" sz="1280" b="1" dirty="0">
                  <a:solidFill>
                    <a:srgbClr val="1F2937"/>
                  </a:solidFill>
                  <a:latin typeface="+mn-lt"/>
                  <a:ea typeface="+mn-ea"/>
                  <a:cs typeface="+mn-cs"/>
                </a:rPr>
                <a:t>2，η = 0.5。算出权值改变量。</a:t>
              </a:r>
            </a:p>
          </p:txBody>
        </p:sp>
        <p:sp>
          <p:nvSpPr>
            <p:cNvPr id="23" name="TextBox 23"/>
            <p:cNvSpPr txBox="1"/>
            <p:nvPr/>
          </p:nvSpPr>
          <p:spPr>
            <a:xfrm>
              <a:off x="6422898" y="2573179"/>
              <a:ext cx="4483354"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σ′(v) = O(1−O) = 0.16。∂E/∂w = −(T−O)·O(1−O)·I =</a:t>
              </a:r>
              <a:br/>
              <a:r>
                <a:rPr lang="zh-CN" sz="1280" dirty="0">
                  <a:solidFill>
                    <a:srgbClr val="1F2937"/>
                  </a:solidFill>
                  <a:latin typeface="+mn-lt"/>
                  <a:ea typeface="+mn-ea"/>
                  <a:cs typeface="+mn-cs"/>
                </a:rPr>
                <a:t>−0.2×0.16×2 = −0.064。Δw = −η·∂E/∂w = +0.032，权值增</a:t>
              </a:r>
              <a:br/>
              <a:r>
                <a:rPr lang="zh-CN" sz="1280" dirty="0">
                  <a:solidFill>
                    <a:srgbClr val="1F2937"/>
                  </a:solidFill>
                  <a:latin typeface="+mn-lt"/>
                  <a:ea typeface="+mn-ea"/>
                  <a:cs typeface="+mn-cs"/>
                </a:rPr>
                <a:t>大。注意是“加”：输出偏小时应把权调大。</a:t>
              </a:r>
            </a:p>
          </p:txBody>
        </p:sp>
      </p:grpSp>
      <p:grpSp>
        <p:nvGrpSpPr>
          <p:cNvPr id="30" name="c2-card-2"/>
          <p:cNvGrpSpPr/>
          <p:nvPr/>
        </p:nvGrpSpPr>
        <p:grpSpPr>
          <a:xfrm>
            <a:off x="6248400" y="3603308"/>
            <a:ext cx="5410200" cy="1914525"/>
            <a:chOff x="6248400" y="3603308"/>
            <a:chExt cx="5410200" cy="1914525"/>
          </a:xfrm>
        </p:grpSpPr>
        <p:sp>
          <p:nvSpPr>
            <p:cNvPr id="25" name="Rectangle 25"/>
            <p:cNvSpPr/>
            <p:nvPr/>
          </p:nvSpPr>
          <p:spPr>
            <a:xfrm>
              <a:off x="6248400" y="3603308"/>
              <a:ext cx="5410200" cy="1914525"/>
            </a:xfrm>
            <a:prstGeom prst="roundRect">
              <a:avLst>
                <a:gd name="adj" fmla="val 6965"/>
              </a:avLst>
            </a:prstGeom>
            <a:solidFill>
              <a:srgbClr val="F4F6FB"/>
            </a:solidFill>
            <a:ln>
              <a:noFill/>
            </a:ln>
          </p:spPr>
        </p:sp>
        <p:sp>
          <p:nvSpPr>
            <p:cNvPr id="26" name="Rectangle 26"/>
            <p:cNvSpPr/>
            <p:nvPr/>
          </p:nvSpPr>
          <p:spPr>
            <a:xfrm>
              <a:off x="6429375" y="3784282"/>
              <a:ext cx="379095" cy="238125"/>
            </a:xfrm>
            <a:prstGeom prst="roundRect">
              <a:avLst>
                <a:gd name="adj" fmla="val 50000"/>
              </a:avLst>
            </a:prstGeom>
            <a:solidFill>
              <a:srgbClr val="E2F3F4"/>
            </a:solidFill>
            <a:ln>
              <a:noFill/>
            </a:ln>
          </p:spPr>
        </p:sp>
        <p:sp>
          <p:nvSpPr>
            <p:cNvPr id="27" name="TextBox 27"/>
            <p:cNvSpPr txBox="1"/>
            <p:nvPr/>
          </p:nvSpPr>
          <p:spPr>
            <a:xfrm>
              <a:off x="6518832" y="3817144"/>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28" name="TextBox 28"/>
            <p:cNvSpPr txBox="1"/>
            <p:nvPr/>
          </p:nvSpPr>
          <p:spPr>
            <a:xfrm>
              <a:off x="6422898" y="4124801"/>
              <a:ext cx="4715002"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Adagrad 训练到后期几乎不再更新，原因是什么？RMSProp 怎么</a:t>
              </a:r>
              <a:br/>
              <a:r>
                <a:rPr lang="zh-CN" sz="1280" b="1" dirty="0">
                  <a:solidFill>
                    <a:srgbClr val="1F2937"/>
                  </a:solidFill>
                  <a:latin typeface="+mn-lt"/>
                  <a:ea typeface="+mn-ea"/>
                  <a:cs typeface="+mn-cs"/>
                </a:rPr>
                <a:t>解决？</a:t>
              </a:r>
            </a:p>
          </p:txBody>
        </p:sp>
        <p:sp>
          <p:nvSpPr>
            <p:cNvPr id="29" name="TextBox 29"/>
            <p:cNvSpPr txBox="1"/>
            <p:nvPr/>
          </p:nvSpPr>
          <p:spPr>
            <a:xfrm>
              <a:off x="6422898" y="4652486"/>
              <a:ext cx="475157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Adagrad 的分母是历史梯度平方的累加和，只增不减，有效学</a:t>
              </a:r>
              <a:br/>
              <a:r>
                <a:rPr lang="zh-CN" sz="1280" dirty="0">
                  <a:solidFill>
                    <a:srgbClr val="1F2937"/>
                  </a:solidFill>
                  <a:latin typeface="+mn-lt"/>
                  <a:ea typeface="+mn-ea"/>
                  <a:cs typeface="+mn-cs"/>
                </a:rPr>
                <a:t>习率 η/√Σg² 趋近 0，于是提前停住。RMSProp 把累加换成指数衰</a:t>
              </a:r>
              <a:br/>
              <a:r>
                <a:rPr lang="zh-CN" sz="1280" dirty="0">
                  <a:solidFill>
                    <a:srgbClr val="1F2937"/>
                  </a:solidFill>
                  <a:latin typeface="+mn-lt"/>
                  <a:ea typeface="+mn-ea"/>
                  <a:cs typeface="+mn-cs"/>
                </a:rPr>
                <a:t>减平均，旧梯度按 α 衰减，分母不会无限增大。</a:t>
              </a:r>
            </a:p>
          </p:txBody>
        </p:sp>
      </p:grpSp>
      <p:grpSp>
        <p:nvGrpSpPr>
          <p:cNvPr id="36" name="takeaway"/>
          <p:cNvGrpSpPr/>
          <p:nvPr/>
        </p:nvGrpSpPr>
        <p:grpSpPr>
          <a:xfrm>
            <a:off x="533400" y="5895022"/>
            <a:ext cx="11125200" cy="467678"/>
            <a:chOff x="533400" y="5895022"/>
            <a:chExt cx="11125200" cy="467678"/>
          </a:xfrm>
        </p:grpSpPr>
        <p:sp>
          <p:nvSpPr>
            <p:cNvPr id="31" name="Rectangle 31"/>
            <p:cNvSpPr/>
            <p:nvPr/>
          </p:nvSpPr>
          <p:spPr>
            <a:xfrm>
              <a:off x="533400" y="5895022"/>
              <a:ext cx="11125200" cy="467678"/>
            </a:xfrm>
            <a:prstGeom prst="roundRect">
              <a:avLst>
                <a:gd name="adj" fmla="val 24440"/>
              </a:avLst>
            </a:prstGeom>
            <a:solidFill>
              <a:srgbClr val="0E7C86"/>
            </a:solidFill>
            <a:ln>
              <a:noFill/>
            </a:ln>
          </p:spPr>
        </p:sp>
        <p:grpSp>
          <p:nvGrpSpPr>
            <p:cNvPr id="34" name="Group 34"/>
            <p:cNvGrpSpPr/>
            <p:nvPr/>
          </p:nvGrpSpPr>
          <p:grpSpPr>
            <a:xfrm>
              <a:off x="738188" y="6028375"/>
              <a:ext cx="200023" cy="200023"/>
              <a:chOff x="738188" y="6028375"/>
              <a:chExt cx="200023" cy="200023"/>
            </a:xfrm>
          </p:grpSpPr>
          <p:sp>
            <p:nvSpPr>
              <p:cNvPr id="32" name="Freeform 32"/>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3" name="Freeform 33"/>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5" name="TextBox 35"/>
            <p:cNvSpPr txBox="1"/>
            <p:nvPr/>
          </p:nvSpPr>
          <p:spPr>
            <a:xfrm>
              <a:off x="1041273" y="6039326"/>
              <a:ext cx="817943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 3 题是最容易错的一道：符号写反会让误差越训越大，记住“Sigmoid 只是多乘了一个恒正的 O(1−O)”。</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544574" cy="909257"/>
            <a:chOff x="520446" y="342900"/>
            <a:chExt cx="1544574" cy="909257"/>
          </a:xfrm>
        </p:grpSpPr>
        <p:sp>
          <p:nvSpPr>
            <p:cNvPr id="2" name="Rectangle 2"/>
            <p:cNvSpPr/>
            <p:nvPr/>
          </p:nvSpPr>
          <p:spPr>
            <a:xfrm>
              <a:off x="533400" y="342900"/>
              <a:ext cx="1531620" cy="266700"/>
            </a:xfrm>
            <a:prstGeom prst="roundRect">
              <a:avLst>
                <a:gd name="adj" fmla="val 50000"/>
              </a:avLst>
            </a:prstGeom>
            <a:solidFill>
              <a:srgbClr val="E2F3F4"/>
            </a:solidFill>
            <a:ln>
              <a:noFill/>
            </a:ln>
          </p:spPr>
        </p:sp>
        <p:sp>
          <p:nvSpPr>
            <p:cNvPr id="3" name="TextBox 3"/>
            <p:cNvSpPr txBox="1"/>
            <p:nvPr/>
          </p:nvSpPr>
          <p:spPr>
            <a:xfrm>
              <a:off x="623114" y="407194"/>
              <a:ext cx="135219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本讲小结</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bullets-1"/>
          <p:cNvGrpSpPr/>
          <p:nvPr/>
        </p:nvGrpSpPr>
        <p:grpSpPr>
          <a:xfrm>
            <a:off x="533400" y="1533525"/>
            <a:ext cx="5598577" cy="1969103"/>
            <a:chOff x="533400" y="1533525"/>
            <a:chExt cx="5598577" cy="1969103"/>
          </a:xfrm>
        </p:grpSpPr>
        <p:sp>
          <p:nvSpPr>
            <p:cNvPr id="7" name="Ellipse 7"/>
            <p:cNvSpPr/>
            <p:nvPr/>
          </p:nvSpPr>
          <p:spPr>
            <a:xfrm>
              <a:off x="533400" y="1533525"/>
              <a:ext cx="180975" cy="180975"/>
            </a:xfrm>
            <a:prstGeom prst="ellipse">
              <a:avLst/>
            </a:prstGeom>
            <a:solidFill>
              <a:srgbClr val="0E7C86"/>
            </a:solidFill>
            <a:ln>
              <a:noFill/>
            </a:ln>
          </p:spPr>
        </p:sp>
        <p:sp>
          <p:nvSpPr>
            <p:cNvPr id="8" name="TextBox 8"/>
            <p:cNvSpPr txBox="1"/>
            <p:nvPr/>
          </p:nvSpPr>
          <p:spPr>
            <a:xfrm>
              <a:off x="585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9" name="TextBox 9"/>
            <p:cNvSpPr txBox="1"/>
            <p:nvPr/>
          </p:nvSpPr>
          <p:spPr>
            <a:xfrm>
              <a:off x="803148" y="1545431"/>
              <a:ext cx="411401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神经元只做两件事：加权求和，再与阈值比较，b = −θ</a:t>
              </a:r>
            </a:p>
          </p:txBody>
        </p:sp>
        <p:sp>
          <p:nvSpPr>
            <p:cNvPr id="10" name="Ellipse 10"/>
            <p:cNvSpPr/>
            <p:nvPr/>
          </p:nvSpPr>
          <p:spPr>
            <a:xfrm>
              <a:off x="533400" y="1826895"/>
              <a:ext cx="180975" cy="180975"/>
            </a:xfrm>
            <a:prstGeom prst="ellipse">
              <a:avLst/>
            </a:prstGeom>
            <a:solidFill>
              <a:srgbClr val="0E7C86"/>
            </a:solidFill>
            <a:ln>
              <a:noFill/>
            </a:ln>
          </p:spPr>
        </p:sp>
        <p:sp>
          <p:nvSpPr>
            <p:cNvPr id="11" name="TextBox 11"/>
            <p:cNvSpPr txBox="1"/>
            <p:nvPr/>
          </p:nvSpPr>
          <p:spPr>
            <a:xfrm>
              <a:off x="585307" y="1862519"/>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2" name="TextBox 12"/>
            <p:cNvSpPr txBox="1"/>
            <p:nvPr/>
          </p:nvSpPr>
          <p:spPr>
            <a:xfrm>
              <a:off x="803148" y="1837849"/>
              <a:ext cx="488455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M-P 模型靠一票否决的抑制性输入实现布尔逻辑，但权值不可学</a:t>
              </a:r>
            </a:p>
          </p:txBody>
        </p:sp>
        <p:sp>
          <p:nvSpPr>
            <p:cNvPr id="13" name="Ellipse 13"/>
            <p:cNvSpPr/>
            <p:nvPr/>
          </p:nvSpPr>
          <p:spPr>
            <a:xfrm>
              <a:off x="533400" y="2120265"/>
              <a:ext cx="180975" cy="180975"/>
            </a:xfrm>
            <a:prstGeom prst="ellipse">
              <a:avLst/>
            </a:prstGeom>
            <a:solidFill>
              <a:srgbClr val="0E7C86"/>
            </a:solidFill>
            <a:ln>
              <a:noFill/>
            </a:ln>
          </p:spPr>
        </p:sp>
        <p:sp>
          <p:nvSpPr>
            <p:cNvPr id="14" name="TextBox 14"/>
            <p:cNvSpPr txBox="1"/>
            <p:nvPr/>
          </p:nvSpPr>
          <p:spPr>
            <a:xfrm>
              <a:off x="585307" y="21558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15" name="TextBox 15"/>
            <p:cNvSpPr txBox="1"/>
            <p:nvPr/>
          </p:nvSpPr>
          <p:spPr>
            <a:xfrm>
              <a:off x="803148" y="2131219"/>
              <a:ext cx="532882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感知器更新 w ← w + ηyᵢxᵢ，只在犯错时学习，线性可分时有限步收敛</a:t>
              </a:r>
            </a:p>
          </p:txBody>
        </p:sp>
        <p:sp>
          <p:nvSpPr>
            <p:cNvPr id="16" name="Ellipse 16"/>
            <p:cNvSpPr/>
            <p:nvPr/>
          </p:nvSpPr>
          <p:spPr>
            <a:xfrm>
              <a:off x="533400" y="2413635"/>
              <a:ext cx="180975" cy="180975"/>
            </a:xfrm>
            <a:prstGeom prst="ellipse">
              <a:avLst/>
            </a:prstGeom>
            <a:solidFill>
              <a:srgbClr val="0E7C86"/>
            </a:solidFill>
            <a:ln>
              <a:noFill/>
            </a:ln>
          </p:spPr>
        </p:sp>
        <p:sp>
          <p:nvSpPr>
            <p:cNvPr id="17" name="TextBox 17"/>
            <p:cNvSpPr txBox="1"/>
            <p:nvPr/>
          </p:nvSpPr>
          <p:spPr>
            <a:xfrm>
              <a:off x="585307" y="244830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18" name="TextBox 18"/>
            <p:cNvSpPr txBox="1"/>
            <p:nvPr/>
          </p:nvSpPr>
          <p:spPr>
            <a:xfrm>
              <a:off x="803148" y="2424589"/>
              <a:ext cx="36832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层数决定决策区域：半平面 → 凸区域 → 任意形状</a:t>
              </a:r>
            </a:p>
          </p:txBody>
        </p:sp>
        <p:sp>
          <p:nvSpPr>
            <p:cNvPr id="19" name="Ellipse 19"/>
            <p:cNvSpPr/>
            <p:nvPr/>
          </p:nvSpPr>
          <p:spPr>
            <a:xfrm>
              <a:off x="533400" y="2706052"/>
              <a:ext cx="180975" cy="180975"/>
            </a:xfrm>
            <a:prstGeom prst="ellipse">
              <a:avLst/>
            </a:prstGeom>
            <a:solidFill>
              <a:srgbClr val="0E7C86"/>
            </a:solidFill>
            <a:ln>
              <a:noFill/>
            </a:ln>
          </p:spPr>
        </p:sp>
        <p:sp>
          <p:nvSpPr>
            <p:cNvPr id="20" name="TextBox 20"/>
            <p:cNvSpPr txBox="1"/>
            <p:nvPr/>
          </p:nvSpPr>
          <p:spPr>
            <a:xfrm>
              <a:off x="585307" y="27416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21" name="TextBox 21"/>
            <p:cNvSpPr txBox="1"/>
            <p:nvPr/>
          </p:nvSpPr>
          <p:spPr>
            <a:xfrm>
              <a:off x="803148" y="2717006"/>
              <a:ext cx="48978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BP 把 ∂l/∂w 拆成 ∂z/∂w 和 ∂l/∂z，前者是连接上的输入，后者从输</a:t>
              </a:r>
              <a:br/>
              <a:r>
                <a:rPr lang="zh-CN" sz="1280" dirty="0">
                  <a:solidFill>
                    <a:srgbClr val="1F2937"/>
                  </a:solidFill>
                  <a:latin typeface="+mn-lt"/>
                  <a:ea typeface="+mn-ea"/>
                  <a:cs typeface="+mn-cs"/>
                </a:rPr>
                <a:t>出层递推回来</a:t>
              </a:r>
            </a:p>
          </p:txBody>
        </p:sp>
        <p:sp>
          <p:nvSpPr>
            <p:cNvPr id="22" name="Ellipse 22"/>
            <p:cNvSpPr/>
            <p:nvPr/>
          </p:nvSpPr>
          <p:spPr>
            <a:xfrm>
              <a:off x="533400" y="3242310"/>
              <a:ext cx="180975" cy="180975"/>
            </a:xfrm>
            <a:prstGeom prst="ellipse">
              <a:avLst/>
            </a:prstGeom>
            <a:solidFill>
              <a:srgbClr val="0E7C86"/>
            </a:solidFill>
            <a:ln>
              <a:noFill/>
            </a:ln>
          </p:spPr>
        </p:sp>
        <p:sp>
          <p:nvSpPr>
            <p:cNvPr id="23" name="TextBox 23"/>
            <p:cNvSpPr txBox="1"/>
            <p:nvPr/>
          </p:nvSpPr>
          <p:spPr>
            <a:xfrm>
              <a:off x="585307" y="327793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24" name="TextBox 24"/>
            <p:cNvSpPr txBox="1"/>
            <p:nvPr/>
          </p:nvSpPr>
          <p:spPr>
            <a:xfrm>
              <a:off x="803148" y="3253264"/>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训练技巧分两类：让它收敛，以及让它别背答案</a:t>
              </a:r>
            </a:p>
          </p:txBody>
        </p:sp>
      </p:grpSp>
      <p:grpSp>
        <p:nvGrpSpPr>
          <p:cNvPr id="31" name="c1-card-2"/>
          <p:cNvGrpSpPr/>
          <p:nvPr/>
        </p:nvGrpSpPr>
        <p:grpSpPr>
          <a:xfrm>
            <a:off x="533400" y="3617595"/>
            <a:ext cx="5842635" cy="1813560"/>
            <a:chOff x="533400" y="3617595"/>
            <a:chExt cx="5842635" cy="1813560"/>
          </a:xfrm>
        </p:grpSpPr>
        <p:sp>
          <p:nvSpPr>
            <p:cNvPr id="26" name="Rectangle 26"/>
            <p:cNvSpPr/>
            <p:nvPr/>
          </p:nvSpPr>
          <p:spPr>
            <a:xfrm>
              <a:off x="533400" y="3617595"/>
              <a:ext cx="5842635" cy="1813560"/>
            </a:xfrm>
            <a:prstGeom prst="roundRect">
              <a:avLst>
                <a:gd name="adj" fmla="val 7353"/>
              </a:avLst>
            </a:prstGeom>
            <a:solidFill>
              <a:srgbClr val="0E7C86"/>
            </a:solidFill>
            <a:ln>
              <a:noFill/>
            </a:ln>
          </p:spPr>
        </p:sp>
        <p:sp>
          <p:nvSpPr>
            <p:cNvPr id="27" name="Rectangle 27"/>
            <p:cNvSpPr/>
            <p:nvPr/>
          </p:nvSpPr>
          <p:spPr>
            <a:xfrm>
              <a:off x="714375" y="3798570"/>
              <a:ext cx="582930" cy="238125"/>
            </a:xfrm>
            <a:prstGeom prst="roundRect">
              <a:avLst>
                <a:gd name="adj" fmla="val 50000"/>
              </a:avLst>
            </a:prstGeom>
            <a:solidFill>
              <a:srgbClr val="0B5F67"/>
            </a:solidFill>
            <a:ln>
              <a:noFill/>
            </a:ln>
          </p:spPr>
        </p:sp>
        <p:sp>
          <p:nvSpPr>
            <p:cNvPr id="28" name="TextBox 28"/>
            <p:cNvSpPr txBox="1"/>
            <p:nvPr/>
          </p:nvSpPr>
          <p:spPr>
            <a:xfrm>
              <a:off x="802996" y="3831431"/>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接下来</a:t>
              </a:r>
            </a:p>
          </p:txBody>
        </p:sp>
        <p:sp>
          <p:nvSpPr>
            <p:cNvPr id="29" name="TextBox 29"/>
            <p:cNvSpPr txBox="1"/>
            <p:nvPr/>
          </p:nvSpPr>
          <p:spPr>
            <a:xfrm>
              <a:off x="1405128" y="3838099"/>
              <a:ext cx="1635287"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第 4 章后半与第 5 章</a:t>
              </a:r>
            </a:p>
          </p:txBody>
        </p:sp>
        <p:sp>
          <p:nvSpPr>
            <p:cNvPr id="30" name="TextBox 30"/>
            <p:cNvSpPr txBox="1"/>
            <p:nvPr/>
          </p:nvSpPr>
          <p:spPr>
            <a:xfrm>
              <a:off x="707898" y="4154329"/>
              <a:ext cx="5239258"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本讲的网络都是全连接前馈的。接下来会看到为特定结构设计的网络：卷</a:t>
              </a:r>
              <a:br/>
              <a:r>
                <a:rPr lang="zh-CN" sz="1280" dirty="0">
                  <a:solidFill>
                    <a:srgbClr val="FFFFFF"/>
                  </a:solidFill>
                  <a:latin typeface="+mn-lt"/>
                  <a:ea typeface="+mn-ea"/>
                  <a:cs typeface="+mn-cs"/>
                </a:rPr>
                <a:t>积网络处理图像的局部相关性，循环网络处理序列，而第 5 章的径向基网</a:t>
              </a:r>
              <a:br/>
              <a:r>
                <a:rPr lang="zh-CN" sz="1280" dirty="0">
                  <a:solidFill>
                    <a:srgbClr val="FFFFFF"/>
                  </a:solidFill>
                  <a:latin typeface="+mn-lt"/>
                  <a:ea typeface="+mn-ea"/>
                  <a:cs typeface="+mn-cs"/>
                </a:rPr>
                <a:t>络换掉的是隐层神经元的响应方式。</a:t>
              </a:r>
            </a:p>
          </p:txBody>
        </p:sp>
      </p:grpSp>
      <p:grpSp>
        <p:nvGrpSpPr>
          <p:cNvPr id="46" name="c2-table-1"/>
          <p:cNvGrpSpPr/>
          <p:nvPr/>
        </p:nvGrpSpPr>
        <p:grpSpPr>
          <a:xfrm>
            <a:off x="6680835" y="1524000"/>
            <a:ext cx="4977765" cy="1525905"/>
            <a:chOff x="6680835" y="1524000"/>
            <a:chExt cx="4977765" cy="1525905"/>
          </a:xfrm>
        </p:grpSpPr>
        <p:sp>
          <p:nvSpPr>
            <p:cNvPr id="32" name="Rectangle 32"/>
            <p:cNvSpPr/>
            <p:nvPr/>
          </p:nvSpPr>
          <p:spPr>
            <a:xfrm>
              <a:off x="6680835" y="1524000"/>
              <a:ext cx="4977765" cy="381000"/>
            </a:xfrm>
            <a:prstGeom prst="rect">
              <a:avLst/>
            </a:prstGeom>
            <a:solidFill>
              <a:srgbClr val="0E7C86"/>
            </a:solidFill>
            <a:ln>
              <a:noFill/>
            </a:ln>
          </p:spPr>
        </p:sp>
        <p:sp>
          <p:nvSpPr>
            <p:cNvPr id="33" name="TextBox 33"/>
            <p:cNvSpPr txBox="1"/>
            <p:nvPr/>
          </p:nvSpPr>
          <p:spPr>
            <a:xfrm>
              <a:off x="718185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概念</a:t>
              </a:r>
            </a:p>
          </p:txBody>
        </p:sp>
        <p:sp>
          <p:nvSpPr>
            <p:cNvPr id="34" name="TextBox 34"/>
            <p:cNvSpPr txBox="1"/>
            <p:nvPr/>
          </p:nvSpPr>
          <p:spPr>
            <a:xfrm>
              <a:off x="960005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一句话</a:t>
              </a:r>
            </a:p>
          </p:txBody>
        </p:sp>
        <p:sp>
          <p:nvSpPr>
            <p:cNvPr id="35" name="TextBox 35"/>
            <p:cNvSpPr txBox="1"/>
            <p:nvPr/>
          </p:nvSpPr>
          <p:spPr>
            <a:xfrm>
              <a:off x="6775514" y="2023110"/>
              <a:ext cx="419526"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阈值 θ</a:t>
              </a:r>
            </a:p>
          </p:txBody>
        </p:sp>
        <p:sp>
          <p:nvSpPr>
            <p:cNvPr id="36" name="TextBox 36"/>
            <p:cNvSpPr txBox="1"/>
            <p:nvPr/>
          </p:nvSpPr>
          <p:spPr>
            <a:xfrm>
              <a:off x="8069961" y="2023110"/>
              <a:ext cx="267513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需要多少证据才输出 1，等于偏置的相反数</a:t>
              </a:r>
            </a:p>
          </p:txBody>
        </p:sp>
        <p:sp>
          <p:nvSpPr>
            <p:cNvPr id="37" name="Rectangle 37"/>
            <p:cNvSpPr/>
            <p:nvPr/>
          </p:nvSpPr>
          <p:spPr>
            <a:xfrm>
              <a:off x="6680835" y="2282190"/>
              <a:ext cx="4977765" cy="9525"/>
            </a:xfrm>
            <a:prstGeom prst="rect">
              <a:avLst/>
            </a:prstGeom>
            <a:solidFill>
              <a:srgbClr val="D9DFEA"/>
            </a:solidFill>
            <a:ln>
              <a:noFill/>
            </a:ln>
          </p:spPr>
        </p:sp>
        <p:sp>
          <p:nvSpPr>
            <p:cNvPr id="38" name="Rectangle 38"/>
            <p:cNvSpPr/>
            <p:nvPr/>
          </p:nvSpPr>
          <p:spPr>
            <a:xfrm>
              <a:off x="6680835" y="2286952"/>
              <a:ext cx="4977765" cy="381000"/>
            </a:xfrm>
            <a:prstGeom prst="rect">
              <a:avLst/>
            </a:prstGeom>
            <a:solidFill>
              <a:srgbClr val="F4F6FB"/>
            </a:solidFill>
            <a:ln>
              <a:noFill/>
            </a:ln>
          </p:spPr>
        </p:sp>
        <p:sp>
          <p:nvSpPr>
            <p:cNvPr id="39" name="TextBox 39"/>
            <p:cNvSpPr txBox="1"/>
            <p:nvPr/>
          </p:nvSpPr>
          <p:spPr>
            <a:xfrm>
              <a:off x="6775514" y="2404110"/>
              <a:ext cx="18317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BP</a:t>
              </a:r>
            </a:p>
          </p:txBody>
        </p:sp>
        <p:sp>
          <p:nvSpPr>
            <p:cNvPr id="40" name="TextBox 40"/>
            <p:cNvSpPr txBox="1"/>
            <p:nvPr/>
          </p:nvSpPr>
          <p:spPr>
            <a:xfrm>
              <a:off x="8069961" y="2404110"/>
              <a:ext cx="312039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用链式法则一次算出全部偏导，本身不是优化方法</a:t>
              </a:r>
            </a:p>
          </p:txBody>
        </p:sp>
        <p:sp>
          <p:nvSpPr>
            <p:cNvPr id="41" name="Rectangle 41"/>
            <p:cNvSpPr/>
            <p:nvPr/>
          </p:nvSpPr>
          <p:spPr>
            <a:xfrm>
              <a:off x="6680835" y="2663190"/>
              <a:ext cx="4977765" cy="9525"/>
            </a:xfrm>
            <a:prstGeom prst="rect">
              <a:avLst/>
            </a:prstGeom>
            <a:solidFill>
              <a:srgbClr val="D9DFEA"/>
            </a:solidFill>
            <a:ln>
              <a:noFill/>
            </a:ln>
          </p:spPr>
        </p:sp>
        <p:sp>
          <p:nvSpPr>
            <p:cNvPr id="42" name="TextBox 42"/>
            <p:cNvSpPr txBox="1"/>
            <p:nvPr/>
          </p:nvSpPr>
          <p:spPr>
            <a:xfrm>
              <a:off x="6775514" y="2785110"/>
              <a:ext cx="92298"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δ</a:t>
              </a:r>
            </a:p>
          </p:txBody>
        </p:sp>
        <p:sp>
          <p:nvSpPr>
            <p:cNvPr id="43" name="TextBox 43"/>
            <p:cNvSpPr txBox="1"/>
            <p:nvPr/>
          </p:nvSpPr>
          <p:spPr>
            <a:xfrm>
              <a:off x="8069961" y="2785110"/>
              <a:ext cx="326174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损失对某个神经元的偏导，即它该为误差负多少责任</a:t>
              </a:r>
            </a:p>
          </p:txBody>
        </p:sp>
        <p:sp>
          <p:nvSpPr>
            <p:cNvPr id="44" name="Rectangle 44"/>
            <p:cNvSpPr/>
            <p:nvPr/>
          </p:nvSpPr>
          <p:spPr>
            <a:xfrm>
              <a:off x="6680835" y="1524000"/>
              <a:ext cx="4977765" cy="1525905"/>
            </a:xfrm>
            <a:prstGeom prst="rect">
              <a:avLst/>
            </a:prstGeom>
            <a:noFill/>
            <a:ln w="14288">
              <a:solidFill>
                <a:srgbClr val="D9DFEA"/>
              </a:solidFill>
            </a:ln>
          </p:spPr>
        </p:sp>
        <p:sp>
          <p:nvSpPr>
            <p:cNvPr id="45" name="Rectangle 45"/>
            <p:cNvSpPr/>
            <p:nvPr/>
          </p:nvSpPr>
          <p:spPr>
            <a:xfrm>
              <a:off x="7970520" y="1524000"/>
              <a:ext cx="9525" cy="1525905"/>
            </a:xfrm>
            <a:prstGeom prst="rect">
              <a:avLst/>
            </a:prstGeom>
            <a:solidFill>
              <a:srgbClr val="D9DFEA"/>
            </a:solidFill>
            <a:ln>
              <a:noFill/>
            </a:ln>
          </p:spPr>
        </p:sp>
      </p:grpSp>
      <p:grpSp>
        <p:nvGrpSpPr>
          <p:cNvPr id="61" name="c2-card-2"/>
          <p:cNvGrpSpPr/>
          <p:nvPr/>
        </p:nvGrpSpPr>
        <p:grpSpPr>
          <a:xfrm>
            <a:off x="6680835" y="3214688"/>
            <a:ext cx="4977765" cy="2216468"/>
            <a:chOff x="6680835" y="3214688"/>
            <a:chExt cx="4977765" cy="2216468"/>
          </a:xfrm>
        </p:grpSpPr>
        <p:sp>
          <p:nvSpPr>
            <p:cNvPr id="47" name="Rectangle 47"/>
            <p:cNvSpPr/>
            <p:nvPr/>
          </p:nvSpPr>
          <p:spPr>
            <a:xfrm>
              <a:off x="6680835" y="3214688"/>
              <a:ext cx="4977765" cy="2216468"/>
            </a:xfrm>
            <a:prstGeom prst="roundRect">
              <a:avLst>
                <a:gd name="adj" fmla="val 6016"/>
              </a:avLst>
            </a:prstGeom>
            <a:solidFill>
              <a:srgbClr val="FFFFFF"/>
            </a:solidFill>
            <a:ln w="14288">
              <a:solidFill>
                <a:srgbClr val="D9DFEA"/>
              </a:solidFill>
            </a:ln>
          </p:spPr>
        </p:sp>
        <p:sp>
          <p:nvSpPr>
            <p:cNvPr id="48" name="Rectangle 48"/>
            <p:cNvSpPr/>
            <p:nvPr/>
          </p:nvSpPr>
          <p:spPr>
            <a:xfrm>
              <a:off x="6690360" y="3348038"/>
              <a:ext cx="47625" cy="1949768"/>
            </a:xfrm>
            <a:prstGeom prst="roundRect">
              <a:avLst>
                <a:gd name="adj" fmla="val 50000"/>
              </a:avLst>
            </a:prstGeom>
            <a:solidFill>
              <a:srgbClr val="5B6475"/>
            </a:solidFill>
            <a:ln>
              <a:noFill/>
            </a:ln>
          </p:spPr>
        </p:sp>
        <p:sp>
          <p:nvSpPr>
            <p:cNvPr id="49" name="Rectangle 49"/>
            <p:cNvSpPr/>
            <p:nvPr/>
          </p:nvSpPr>
          <p:spPr>
            <a:xfrm>
              <a:off x="6899910" y="3395662"/>
              <a:ext cx="458152" cy="238125"/>
            </a:xfrm>
            <a:prstGeom prst="roundRect">
              <a:avLst>
                <a:gd name="adj" fmla="val 50000"/>
              </a:avLst>
            </a:prstGeom>
            <a:solidFill>
              <a:srgbClr val="F4F6FB"/>
            </a:solidFill>
            <a:ln>
              <a:noFill/>
            </a:ln>
          </p:spPr>
        </p:sp>
        <p:sp>
          <p:nvSpPr>
            <p:cNvPr id="50" name="TextBox 50"/>
            <p:cNvSpPr txBox="1"/>
            <p:nvPr/>
          </p:nvSpPr>
          <p:spPr>
            <a:xfrm>
              <a:off x="6992582" y="342852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51" name="TextBox 51"/>
            <p:cNvSpPr txBox="1"/>
            <p:nvPr/>
          </p:nvSpPr>
          <p:spPr>
            <a:xfrm>
              <a:off x="7466838" y="3435191"/>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本讲义对原课件的更正</a:t>
              </a:r>
            </a:p>
          </p:txBody>
        </p:sp>
        <p:sp>
          <p:nvSpPr>
            <p:cNvPr id="52" name="Ellipse 52"/>
            <p:cNvSpPr/>
            <p:nvPr/>
          </p:nvSpPr>
          <p:spPr>
            <a:xfrm>
              <a:off x="6900862" y="3740468"/>
              <a:ext cx="180975" cy="180975"/>
            </a:xfrm>
            <a:prstGeom prst="ellipse">
              <a:avLst/>
            </a:prstGeom>
            <a:solidFill>
              <a:srgbClr val="0E7C86"/>
            </a:solidFill>
            <a:ln>
              <a:noFill/>
            </a:ln>
          </p:spPr>
        </p:sp>
        <p:sp>
          <p:nvSpPr>
            <p:cNvPr id="53" name="TextBox 53"/>
            <p:cNvSpPr txBox="1"/>
            <p:nvPr/>
          </p:nvSpPr>
          <p:spPr>
            <a:xfrm>
              <a:off x="6952769" y="377609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54" name="TextBox 54"/>
            <p:cNvSpPr txBox="1"/>
            <p:nvPr/>
          </p:nvSpPr>
          <p:spPr>
            <a:xfrm>
              <a:off x="7170611" y="3751421"/>
              <a:ext cx="40850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A 版 σ′(v) 的符号、δ 的定义与更新式符号，两处方向都</a:t>
              </a:r>
              <a:br/>
              <a:r>
                <a:rPr lang="zh-CN" sz="1280" dirty="0">
                  <a:solidFill>
                    <a:srgbClr val="1F2937"/>
                  </a:solidFill>
                  <a:latin typeface="+mn-lt"/>
                  <a:ea typeface="+mn-ea"/>
                  <a:cs typeface="+mn-cs"/>
                </a:rPr>
                <a:t>反了</a:t>
              </a:r>
            </a:p>
          </p:txBody>
        </p:sp>
        <p:sp>
          <p:nvSpPr>
            <p:cNvPr id="55" name="Ellipse 55"/>
            <p:cNvSpPr/>
            <p:nvPr/>
          </p:nvSpPr>
          <p:spPr>
            <a:xfrm>
              <a:off x="6900862" y="4268152"/>
              <a:ext cx="180975" cy="180975"/>
            </a:xfrm>
            <a:prstGeom prst="ellipse">
              <a:avLst/>
            </a:prstGeom>
            <a:solidFill>
              <a:srgbClr val="0E7C86"/>
            </a:solidFill>
            <a:ln>
              <a:noFill/>
            </a:ln>
          </p:spPr>
        </p:sp>
        <p:sp>
          <p:nvSpPr>
            <p:cNvPr id="56" name="TextBox 56"/>
            <p:cNvSpPr txBox="1"/>
            <p:nvPr/>
          </p:nvSpPr>
          <p:spPr>
            <a:xfrm>
              <a:off x="6952769" y="43037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57" name="TextBox 57"/>
            <p:cNvSpPr txBox="1"/>
            <p:nvPr/>
          </p:nvSpPr>
          <p:spPr>
            <a:xfrm>
              <a:off x="7170611" y="4279106"/>
              <a:ext cx="39143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 版例题第 8 步沿用了过期的偏置，且把阶跃函数写成</a:t>
              </a:r>
              <a:br/>
              <a:r>
                <a:rPr lang="en-US" sz="1280" dirty="0">
                  <a:solidFill>
                    <a:srgbClr val="1F2937"/>
                  </a:solidFill>
                  <a:latin typeface="+mn-lt"/>
                  <a:ea typeface="+mn-ea"/>
                  <a:cs typeface="+mn-cs"/>
                </a:rPr>
                <a:t>sign</a:t>
              </a:r>
            </a:p>
          </p:txBody>
        </p:sp>
        <p:sp>
          <p:nvSpPr>
            <p:cNvPr id="58" name="Ellipse 58"/>
            <p:cNvSpPr/>
            <p:nvPr/>
          </p:nvSpPr>
          <p:spPr>
            <a:xfrm>
              <a:off x="6900862" y="4795838"/>
              <a:ext cx="180975" cy="180975"/>
            </a:xfrm>
            <a:prstGeom prst="ellipse">
              <a:avLst/>
            </a:prstGeom>
            <a:solidFill>
              <a:srgbClr val="0E7C86"/>
            </a:solidFill>
            <a:ln>
              <a:noFill/>
            </a:ln>
          </p:spPr>
        </p:sp>
        <p:sp>
          <p:nvSpPr>
            <p:cNvPr id="59" name="TextBox 59"/>
            <p:cNvSpPr txBox="1"/>
            <p:nvPr/>
          </p:nvSpPr>
          <p:spPr>
            <a:xfrm>
              <a:off x="6952769" y="483146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60" name="TextBox 60"/>
            <p:cNvSpPr txBox="1"/>
            <p:nvPr/>
          </p:nvSpPr>
          <p:spPr>
            <a:xfrm>
              <a:off x="7170611" y="4807744"/>
              <a:ext cx="39550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另有 Droupout 拼写、Iris 页的 MNIST 代码、PLA 英文</a:t>
              </a:r>
              <a:br/>
              <a:r>
                <a:rPr lang="zh-CN" sz="1280" dirty="0">
                  <a:solidFill>
                    <a:srgbClr val="1F2937"/>
                  </a:solidFill>
                  <a:latin typeface="+mn-lt"/>
                  <a:ea typeface="+mn-ea"/>
                  <a:cs typeface="+mn-cs"/>
                </a:rPr>
                <a:t>名，见各页 note</a:t>
              </a:r>
            </a:p>
          </p:txBody>
        </p:sp>
      </p:grpSp>
      <p:grpSp>
        <p:nvGrpSpPr>
          <p:cNvPr id="68" name="takeaway"/>
          <p:cNvGrpSpPr/>
          <p:nvPr/>
        </p:nvGrpSpPr>
        <p:grpSpPr>
          <a:xfrm>
            <a:off x="533400" y="5659755"/>
            <a:ext cx="11125200" cy="702945"/>
            <a:chOff x="533400" y="5659755"/>
            <a:chExt cx="11125200" cy="702945"/>
          </a:xfrm>
        </p:grpSpPr>
        <p:sp>
          <p:nvSpPr>
            <p:cNvPr id="62" name="Rectangle 62"/>
            <p:cNvSpPr/>
            <p:nvPr/>
          </p:nvSpPr>
          <p:spPr>
            <a:xfrm>
              <a:off x="533400" y="5659755"/>
              <a:ext cx="11125200" cy="702945"/>
            </a:xfrm>
            <a:prstGeom prst="roundRect">
              <a:avLst>
                <a:gd name="adj" fmla="val 16260"/>
              </a:avLst>
            </a:prstGeom>
            <a:solidFill>
              <a:srgbClr val="FDEEE7"/>
            </a:solidFill>
            <a:ln>
              <a:noFill/>
            </a:ln>
          </p:spPr>
        </p:sp>
        <p:grpSp>
          <p:nvGrpSpPr>
            <p:cNvPr id="66" name="Group 66"/>
            <p:cNvGrpSpPr/>
            <p:nvPr/>
          </p:nvGrpSpPr>
          <p:grpSpPr>
            <a:xfrm>
              <a:off x="738188" y="5911215"/>
              <a:ext cx="200026" cy="200025"/>
              <a:chOff x="738188" y="5911215"/>
              <a:chExt cx="200026" cy="200025"/>
            </a:xfrm>
          </p:grpSpPr>
          <p:sp>
            <p:nvSpPr>
              <p:cNvPr id="63" name="Freeform 63"/>
              <p:cNvSpPr/>
              <p:nvPr/>
            </p:nvSpPr>
            <p:spPr>
              <a:xfrm>
                <a:off x="738188" y="591121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4" name="Freeform 64"/>
              <p:cNvSpPr/>
              <p:nvPr/>
            </p:nvSpPr>
            <p:spPr>
              <a:xfrm>
                <a:off x="777926" y="595566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5" name="Freeform 65"/>
              <p:cNvSpPr/>
              <p:nvPr/>
            </p:nvSpPr>
            <p:spPr>
              <a:xfrm>
                <a:off x="812642" y="606679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7" name="TextBox 67"/>
            <p:cNvSpPr txBox="1"/>
            <p:nvPr/>
          </p:nvSpPr>
          <p:spPr>
            <a:xfrm>
              <a:off x="1041273" y="5805011"/>
              <a:ext cx="996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动手练三件事：把感知器例题的 16 步自己列一遍表；把 BP 例题的每个偏导用数值差分验一次；在 Iris 上把隐层节点数从 2 调到 50，画出</a:t>
              </a:r>
              <a:br/>
              <a:r>
                <a:rPr lang="zh-CN" sz="1280" dirty="0">
                  <a:solidFill>
                    <a:srgbClr val="C2410C"/>
                  </a:solidFill>
                  <a:latin typeface="+mn-lt"/>
                  <a:ea typeface="+mn-ea"/>
                  <a:cs typeface="+mn-cs"/>
                </a:rPr>
                <a:t>训练与测试精度的变化。</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0" name="TextBox 7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l_ch04">
  <a:themeElements>
    <a:clrScheme name="ml_ch0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l_ch04">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l_ch0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2026-09-23T01:09:51Z</dcterms:created>
  <dcterms:modified xsi:type="dcterms:W3CDTF">2026-09-23T01:09:51Z</dcterms:modified>
  <cp:category/>
  <cp:contentStatus/>
</cp:coreProperties>
</file>