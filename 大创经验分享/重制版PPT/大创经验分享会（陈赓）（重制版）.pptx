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achuang_chenge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achuang_chenge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ddb4a9f291eccd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419d2eddad673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27e0d34ea5df570.png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32124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2179" y="1718310"/>
              <a:ext cx="2109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大创经验分享 · 2025.03.25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大创经验分享会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从选题、找老师到立项答辩与结题成果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大创是什么、何时申报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为什么做与该不该做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前期准备与选题立项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结题成果与个人建议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02779" cy="205359"/>
            <a:chOff x="680466" y="6192202"/>
            <a:chExt cx="410277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027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自学复习版｜据软件学院 2022 级陈赓的分享课件整理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915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0127" y="40719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大创是什么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项目类型、组队规则、时间节点、成果形式与论文级别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为什么做大创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学院加分细则、自我评估、科研与工程经历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前期准备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研究方向、基础知识、队友、指导老师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选题与立项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0192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选题来源、文献调研、从论文到 idea、申请书与答辩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结题与建议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成果周期对比、六条个人见解、常见问题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说出大创一个完整周期的时间节点，以及往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年申报窗口有多短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按学院加分细则判断一项成果能加多少分、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有什么前提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用五个问题评估自己现在是否适合做大创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688080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按「读论文 → 复现 → 找问题 → 实验验证」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的路线规划选题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3091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根据剩余时间选择合适的结题成果形式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915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0127" y="40719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这份分享的资料来源和一个真实案例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5632133" cy="3193256"/>
            <a:chOff x="527685" y="1524000"/>
            <a:chExt cx="5632133" cy="31932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61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491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303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侧重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吕帅老师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04263" y="2221706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2022.04.15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67303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科研规范，项目筹备与规划的整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套流程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郎骐玮学长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04263" y="2783681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2023.04.21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67303" y="2783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大量个人经验和资源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3456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张柏荣学长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04263" y="3345656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2024.03.10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67303" y="323230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讲得最细，找老师、读论文都有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76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软件学院官网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04263" y="390763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67303" y="39076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加分细则、立项名单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626418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9167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45471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4297204"/>
              <a:ext cx="52956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三场分享的课件同样收在本仓库的「大创经验分享」目录；原课件第 3 页另附资料网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盘链接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4863465"/>
            <a:ext cx="5626418" cy="782955"/>
            <a:chOff x="533400" y="4863465"/>
            <a:chExt cx="5626418" cy="782955"/>
          </a:xfrm>
        </p:grpSpPr>
        <p:sp>
          <p:nvSpPr>
            <p:cNvPr id="33" name="Rectangle 33"/>
            <p:cNvSpPr/>
            <p:nvPr/>
          </p:nvSpPr>
          <p:spPr>
            <a:xfrm>
              <a:off x="533400" y="486346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154930"/>
              <a:ext cx="200026" cy="200025"/>
              <a:chOff x="738188" y="5154930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1549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51993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53105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01205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本讲每页注明观点出自哪一场分享，想看原始展开时直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接去翻对应课件。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464618" y="1524000"/>
            <a:ext cx="5193982" cy="4122420"/>
            <a:chOff x="6464618" y="1524000"/>
            <a:chExt cx="5193982" cy="4122420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4122420"/>
            </a:xfrm>
            <a:prstGeom prst="roundRect">
              <a:avLst>
                <a:gd name="adj" fmla="val 3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1657350"/>
              <a:ext cx="47625" cy="38557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案例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13295" y="1768792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《基于情景控制的深度强化学习算法研究》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45618" y="225742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712268" y="21145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5891" y="2188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12268" y="27651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5891" y="28389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712268" y="34156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05891" y="34894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23748" y="2148840"/>
              <a:ext cx="1309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 10 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24891" y="244268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进入实验室，学习强化学习相关知识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23748" y="2799398"/>
              <a:ext cx="175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 年 5 月 20 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24891" y="30932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提交立项申请书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23748" y="3449955"/>
              <a:ext cx="175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 年 5 月 29 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24891" y="374380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立项答辩，确定国家级立项，本人为第一负责人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05791" y="4097179"/>
              <a:ext cx="4288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从进实验室到交申请书约 7 个半月，申请书截止前 9 天才交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稿。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大创是什么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先把规则、时间线和成果形式弄清楚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项目类型与组队规则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一个项目周期的时间节点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往年申报窗口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成果形式与论文级别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2261" cy="909257"/>
            <a:chOff x="520446" y="342900"/>
            <a:chExt cx="86422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大创是什么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22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大创的基本规则：3 至 5 人组队，每人只能参加一个项目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kv-1"/>
          <p:cNvGrpSpPr/>
          <p:nvPr/>
        </p:nvGrpSpPr>
        <p:grpSpPr>
          <a:xfrm>
            <a:off x="525780" y="1548765"/>
            <a:ext cx="6283642" cy="3339465"/>
            <a:chOff x="525780" y="1548765"/>
            <a:chExt cx="6283642" cy="333946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全名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大学生创新创业训练计划（常简称「大创」）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项目类型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1988820"/>
              <a:ext cx="4777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创新训练项目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、创业训练项目、创业实践项目；软件学院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 年立项的 17 项全是创新训练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实施范围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71081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主要面向全校在籍二年级本科生，大一也可参与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308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1508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组队方式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6862" y="3150870"/>
              <a:ext cx="496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申请人必须以团队（3 至 5 人）形式申报，鼓励跨学科、跨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学院组队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528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8728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参与限制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66862" y="3872865"/>
              <a:ext cx="496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每个参与人只能参加一个项目；在研项目的参与人必须先完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成在研项目才能再申报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4748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5948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项目周期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66862" y="4594860"/>
              <a:ext cx="1489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基本为 1 至 2 年</a:t>
              </a:r>
            </a:p>
          </p:txBody>
        </p:sp>
      </p:grpSp>
      <p:grpSp>
        <p:nvGrpSpPr>
          <p:cNvPr id="26" name="c1-text-2"/>
          <p:cNvGrpSpPr/>
          <p:nvPr/>
        </p:nvGrpSpPr>
        <p:grpSpPr>
          <a:xfrm>
            <a:off x="526923" y="5041106"/>
            <a:ext cx="1736090" cy="249364"/>
            <a:chOff x="526923" y="5041106"/>
            <a:chExt cx="1736090" cy="249364"/>
          </a:xfrm>
        </p:grpSpPr>
        <p:sp>
          <p:nvSpPr>
            <p:cNvPr id="25" name="TextBox 25"/>
            <p:cNvSpPr txBox="1"/>
            <p:nvPr/>
          </p:nvSpPr>
          <p:spPr>
            <a:xfrm>
              <a:off x="526923" y="50411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参考自吕帅老师的讲座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7114222" y="1524000"/>
            <a:ext cx="4544378" cy="1887855"/>
            <a:chOff x="7114222" y="1524000"/>
            <a:chExt cx="4544378" cy="188785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54252" y="2110740"/>
              <a:ext cx="3825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原课件写作「大学生创业创新训练计划」，正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式名称是「大学生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创新创业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训练计划」，学院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加分细则里也写作「大学生创新创业计划项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目」。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7114222" y="3602355"/>
            <a:ext cx="4544378" cy="1937385"/>
            <a:chOff x="7114222" y="3602355"/>
            <a:chExt cx="4544378" cy="1937385"/>
          </a:xfrm>
        </p:grpSpPr>
        <p:sp>
          <p:nvSpPr>
            <p:cNvPr id="33" name="Rectangle 33"/>
            <p:cNvSpPr/>
            <p:nvPr/>
          </p:nvSpPr>
          <p:spPr>
            <a:xfrm>
              <a:off x="7114222" y="3602355"/>
              <a:ext cx="4544378" cy="1937385"/>
            </a:xfrm>
            <a:prstGeom prst="roundRect">
              <a:avLst>
                <a:gd name="adj" fmla="val 688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23772" y="381190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88377" y="384762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由规则得到的推论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329488" y="425196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87602" y="418909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一个人只有一次「正在做」的名额，选项目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和选队友都要慎重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329488" y="487299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87602" y="4810125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大二立项、周期 1 至 2 年，结题一般落在大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三到大四之间，正好赶上保研材料的准备期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76481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具体规则每年以学校当年的通知为准，本页依据的是吕帅老师 2022 年讲座时的说法。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大创是什么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一个项目的时间线：立项、中期、结题三道关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89610" y="2114550"/>
            <a:ext cx="10813732" cy="629602"/>
            <a:chOff x="689610" y="2114550"/>
            <a:chExt cx="10813732" cy="629602"/>
          </a:xfrm>
        </p:grpSpPr>
        <p:sp>
          <p:nvSpPr>
            <p:cNvPr id="7" name="Freeform 7"/>
            <p:cNvSpPr/>
            <p:nvPr/>
          </p:nvSpPr>
          <p:spPr>
            <a:xfrm>
              <a:off x="2602230" y="242887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2376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242887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2376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242887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2376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242887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2376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9610" y="2114550"/>
              <a:ext cx="191357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4650" y="2114550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39690" y="2114550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4730" y="2114550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89770" y="2114550"/>
              <a:ext cx="191357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22299" y="2230279"/>
              <a:ext cx="104724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第一年 4–5 月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立项评审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71139" y="2230279"/>
              <a:ext cx="119964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确定级别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国家 / 省 / 校级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45811" y="2230279"/>
              <a:ext cx="15003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9–10 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 / 定级评审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851" y="2230279"/>
              <a:ext cx="15003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第二年春或秋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进度检查 / 结题验收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51923" y="2230279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遴选优秀结题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上报学部确定</a:t>
              </a:r>
            </a:p>
          </p:txBody>
        </p:sp>
      </p:grpSp>
      <p:grpSp>
        <p:nvGrpSpPr>
          <p:cNvPr id="51" name="c1-table-2"/>
          <p:cNvGrpSpPr/>
          <p:nvPr/>
        </p:nvGrpSpPr>
        <p:grpSpPr>
          <a:xfrm>
            <a:off x="527685" y="3524250"/>
            <a:ext cx="11130915" cy="2766537"/>
            <a:chOff x="527685" y="3524250"/>
            <a:chExt cx="11130915" cy="2766537"/>
          </a:xfrm>
        </p:grpSpPr>
        <p:sp>
          <p:nvSpPr>
            <p:cNvPr id="26" name="Rectangle 26"/>
            <p:cNvSpPr/>
            <p:nvPr/>
          </p:nvSpPr>
          <p:spPr>
            <a:xfrm>
              <a:off x="533400" y="352425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78572" y="36599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99001" y="36599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要交什么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09952" y="36599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1223" y="41086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89148" y="410860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立项申请书 + 答辩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6708" y="4108609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一般在 5 月中旬前后，评审结果决定项目级别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4167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42150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5572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89148" y="45572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中期检查报告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6708" y="455723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同时可能进行定级评审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8663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5005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结题验收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89148" y="50058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结题材料与成果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6708" y="5005864"/>
              <a:ext cx="4846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第二年 4–5 月或 9–10 月，按项目进度参加进度检查或结题验收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3149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5319712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223" y="55678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优秀结题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89148" y="55678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26708" y="5454491"/>
              <a:ext cx="4727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从结题项目中遴选优秀候选，比例不超过结题数的 20%、10%（取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524250"/>
              <a:ext cx="11125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76562" y="352425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314122" y="352425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7685" y="6070759"/>
              <a:ext cx="6479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参考自吕帅老师的讲座。原课件没有说明 20% 和 10% 分别对应哪一类项目，以当年学部通知为准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47566" cy="909257"/>
            <a:chOff x="520446" y="342900"/>
            <a:chExt cx="7847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大创是什么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475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往年申报窗口：从发通知到交申请书最短只有 13 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able-1"/>
          <p:cNvGrpSpPr/>
          <p:nvPr/>
        </p:nvGrpSpPr>
        <p:grpSpPr>
          <a:xfrm>
            <a:off x="527685" y="1524000"/>
            <a:ext cx="6497955" cy="2993232"/>
            <a:chOff x="527685" y="1524000"/>
            <a:chExt cx="6497955" cy="29932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6567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77708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通知报名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60269" y="17730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申请书截止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52227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70094" y="1659731"/>
              <a:ext cx="59451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通知→截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09271" y="1659731"/>
              <a:ext cx="59451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截止→答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858" y="233505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77708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 8 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12883" y="2335054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 21 日前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32527" y="2335054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 29 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57762" y="2208848"/>
              <a:ext cx="10201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4097" y="233505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40660" y="233505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天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64795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9858" y="289702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0322" y="2897029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 10 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12883" y="2897029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 29 日前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73436" y="2783681"/>
              <a:ext cx="9151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月 10 日左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54097" y="2897029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1270" y="2897029"/>
              <a:ext cx="6505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12 天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9858" y="345900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77708" y="34590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月 2 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60269" y="34590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 9 日前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46370" y="3459004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 30 日前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54097" y="345900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 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0041" y="3459004"/>
              <a:ext cx="5729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21 天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7680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77285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9858" y="39076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30322" y="3907631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月 30 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12883" y="390763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 10 日前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46370" y="390763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 20 日前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54097" y="390763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 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0041" y="3907631"/>
              <a:ext cx="5729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10 天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649224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37255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47650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70998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943475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98170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7685" y="4297204"/>
              <a:ext cx="3961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天数按日历日计算（2024 年 5 月 8 日到 21 日相差 13 天）</a:t>
              </a:r>
            </a:p>
          </p:txBody>
        </p:sp>
      </p:grpSp>
      <p:grpSp>
        <p:nvGrpSpPr>
          <p:cNvPr id="58" name="c1-callout-2"/>
          <p:cNvGrpSpPr/>
          <p:nvPr/>
        </p:nvGrpSpPr>
        <p:grpSpPr>
          <a:xfrm>
            <a:off x="533400" y="4663440"/>
            <a:ext cx="6492240" cy="782955"/>
            <a:chOff x="533400" y="4663440"/>
            <a:chExt cx="6492240" cy="782955"/>
          </a:xfrm>
        </p:grpSpPr>
        <p:sp>
          <p:nvSpPr>
            <p:cNvPr id="52" name="Rectangle 52"/>
            <p:cNvSpPr/>
            <p:nvPr/>
          </p:nvSpPr>
          <p:spPr>
            <a:xfrm>
              <a:off x="533400" y="4663440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26129" y="4951213"/>
              <a:ext cx="224134" cy="192560"/>
              <a:chOff x="726129" y="4951213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8200" y="50215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6129" y="49512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0993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4812030"/>
              <a:ext cx="5263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2023、2024 年通知推迟到 5 月，窗口从 40 天左右缩到 2 至 3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周。等通知出来再找老师、定题目，基本来不及。</a:t>
              </a:r>
            </a:p>
          </p:txBody>
        </p:sp>
      </p:grpSp>
      <p:grpSp>
        <p:nvGrpSpPr>
          <p:cNvPr id="81" name="c2-card-1"/>
          <p:cNvGrpSpPr/>
          <p:nvPr/>
        </p:nvGrpSpPr>
        <p:grpSpPr>
          <a:xfrm>
            <a:off x="7330440" y="1524000"/>
            <a:ext cx="4328160" cy="3922395"/>
            <a:chOff x="7330440" y="1524000"/>
            <a:chExt cx="4328160" cy="3922395"/>
          </a:xfrm>
        </p:grpSpPr>
        <p:sp>
          <p:nvSpPr>
            <p:cNvPr id="59" name="Rectangle 59"/>
            <p:cNvSpPr/>
            <p:nvPr/>
          </p:nvSpPr>
          <p:spPr>
            <a:xfrm>
              <a:off x="7330440" y="1524000"/>
              <a:ext cx="4328160" cy="3922395"/>
            </a:xfrm>
            <a:prstGeom prst="roundRect">
              <a:avLst>
                <a:gd name="adj" fmla="val 34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39965" y="1657350"/>
              <a:ext cx="47625" cy="36556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57809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5549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倒推时间表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05838" y="1768792"/>
              <a:ext cx="1874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5 月中旬截止为例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711440" y="225742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578090" y="21145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671714" y="2188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578090" y="27651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671714" y="28389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578090" y="34156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71714" y="34894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578090" y="40671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671714" y="41409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89570" y="21488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上一年秋季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90713" y="244268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找方向、进实验室、补基础知识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89570" y="27993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寒假前后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990713" y="309324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定队友、定指导老师，开始读论文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989570" y="3449955"/>
              <a:ext cx="630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3–4 月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90713" y="3743801"/>
              <a:ext cx="3149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确定选题，复现 baseline，写申请书初稿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989570" y="41014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通知发出后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90713" y="4394359"/>
              <a:ext cx="3469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按当年模板改格式，反复打磨，准备答辩 PPT</a:t>
              </a:r>
            </a:p>
          </p:txBody>
        </p:sp>
      </p:grpSp>
      <p:grpSp>
        <p:nvGrpSpPr>
          <p:cNvPr id="8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2" name="Rectangle 8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1040130" y="5991225"/>
              <a:ext cx="6911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以后各年的日期以当年通知为准，从每年 3 月起就要留意学院官网和年级群。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大创是什么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成果形式：论文、软著、专利，周期差别很大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7685" y="1524000"/>
            <a:ext cx="6042406" cy="4121944"/>
            <a:chOff x="527685" y="1524000"/>
            <a:chExt cx="6042406" cy="412194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08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424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细分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874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1914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大致周期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74660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83395" y="210835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文章较短，投稿时间固定，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审稿快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63693" y="2108359"/>
              <a:ext cx="6469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按会议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deadline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4660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83395" y="278368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文章较长，全年可投，审稿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63693" y="28970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数月到一年以上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5723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74660" y="3459004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计算机软件著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3395" y="3459004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申请门槛低，材料以代码和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说明书为主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3693" y="357235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1–3 个月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9478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999548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2476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74660" y="42476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实用新型专利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83395" y="4134326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保护产品的形状、构造，不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做实质审查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63693" y="4247674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个月左右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701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9239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74660" y="49239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发明专利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83395" y="481060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保护方法和技术方案，要经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过实质审查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63693" y="492394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一年半左右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951220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362075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670810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051108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5425916"/>
              <a:ext cx="6042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参考自张柏荣、郎骐玮学长的讲座；周期是分享者的经验值，不同年份、不同刊物差别很大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789420" y="1524000"/>
            <a:ext cx="4869180" cy="1847850"/>
            <a:chOff x="6789420" y="1524000"/>
            <a:chExt cx="4869180" cy="1847850"/>
          </a:xfrm>
        </p:grpSpPr>
        <p:sp>
          <p:nvSpPr>
            <p:cNvPr id="44" name="Rectangle 44"/>
            <p:cNvSpPr/>
            <p:nvPr/>
          </p:nvSpPr>
          <p:spPr>
            <a:xfrm>
              <a:off x="6789420" y="1524000"/>
              <a:ext cx="4869180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98945" y="1657350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3707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0657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两页说法的出入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29450" y="2110740"/>
              <a:ext cx="4072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8 页写实用新型 6 个月、发明专利一年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半，第 26 页又写「专利周期基本为一年」。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30593" y="2728436"/>
              <a:ext cx="4190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两处都是粗略估计，第 26 页没区分专利类型。按专利类型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记：实用新型短、发明长。</a:t>
              </a:r>
            </a:p>
          </p:txBody>
        </p:sp>
      </p:grpSp>
      <p:grpSp>
        <p:nvGrpSpPr>
          <p:cNvPr id="71" name="c2-compare-2"/>
          <p:cNvGrpSpPr/>
          <p:nvPr/>
        </p:nvGrpSpPr>
        <p:grpSpPr>
          <a:xfrm>
            <a:off x="6789420" y="3562350"/>
            <a:ext cx="4869180" cy="2040255"/>
            <a:chOff x="6789420" y="3562350"/>
            <a:chExt cx="4869180" cy="2040255"/>
          </a:xfrm>
        </p:grpSpPr>
        <p:sp>
          <p:nvSpPr>
            <p:cNvPr id="51" name="Rectangle 51"/>
            <p:cNvSpPr/>
            <p:nvPr/>
          </p:nvSpPr>
          <p:spPr>
            <a:xfrm>
              <a:off x="6789420" y="3562350"/>
              <a:ext cx="2225040" cy="204025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98945" y="3695700"/>
              <a:ext cx="47625" cy="17735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29450" y="37966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会议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042785" y="42138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00900" y="41509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截稿日固定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042785" y="45491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00900" y="4486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出结果快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042785" y="48844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00900" y="48215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适合赶结题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433560" y="3562350"/>
              <a:ext cx="2225040" cy="204025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443085" y="3695700"/>
              <a:ext cx="47625" cy="17735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673590" y="37966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期刊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9686925" y="42138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845040" y="41509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随时能投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9686925" y="45491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845040" y="44862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篇幅长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9686925" y="48844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845040" y="48215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审稿可能多轮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9062085" y="441960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148000" y="45167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大创是什么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论文级别看哪些「分区」和「检索」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27685" y="1524000"/>
            <a:ext cx="6497955" cy="4570572"/>
            <a:chOff x="527685" y="1524000"/>
            <a:chExt cx="6497955" cy="45705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37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568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237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中科院分区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9513" y="2221706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区 … 4 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87343" y="2108359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中国科学院文献情报中心的期刊分区，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区最好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JCR 分区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9513" y="2897029"/>
              <a:ext cx="695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 … 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7343" y="2783681"/>
              <a:ext cx="28740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按学科内影响因子排名四等分，Q1 为前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72351"/>
              <a:ext cx="1074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推荐目录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9513" y="3572351"/>
              <a:ext cx="959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/ B / C 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87343" y="3459004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中国计算机学会推荐的国际会议和期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刊，计算机方向最常用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134326"/>
              <a:ext cx="115859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推荐中文期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99513" y="4247674"/>
              <a:ext cx="959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/ B / C 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87343" y="424767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同一套思路的中文科技期刊目录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701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810601"/>
              <a:ext cx="1255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 / EI / CPCI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9513" y="481060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是否被收录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87343" y="4810601"/>
              <a:ext cx="30073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三个检索数据库，CPCI 主要收会议论文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11873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5123498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25922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北大核心、科技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99513" y="53725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是否入选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87343" y="537257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国内中文核心期刊目录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492240" cy="4274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086928" y="1524000"/>
              <a:ext cx="9525" cy="4274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774758" y="1524000"/>
              <a:ext cx="9525" cy="4274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685" y="58745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参考自吕帅老师的讲座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7330440" y="1524000"/>
            <a:ext cx="4328160" cy="2272665"/>
            <a:chOff x="7330440" y="1524000"/>
            <a:chExt cx="4328160" cy="2272665"/>
          </a:xfrm>
        </p:grpSpPr>
        <p:sp>
          <p:nvSpPr>
            <p:cNvPr id="42" name="Rectangle 42"/>
            <p:cNvSpPr/>
            <p:nvPr/>
          </p:nvSpPr>
          <p:spPr>
            <a:xfrm>
              <a:off x="7330440" y="1524000"/>
              <a:ext cx="4328160" cy="2272665"/>
            </a:xfrm>
            <a:prstGeom prst="roundRect">
              <a:avLst>
                <a:gd name="adj" fmla="val 586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3999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3019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54570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703820" y="21107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分区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回答「这本刊在学科里排第几档」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54570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03820" y="2446020"/>
              <a:ext cx="3063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检索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只回答「有没有被这个数据库收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录」，收录不代表水平高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545705" y="31299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03820" y="3067050"/>
              <a:ext cx="3491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计算机方向先看 CCF 等级，再看中科院分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7330440" y="3987165"/>
            <a:ext cx="4328160" cy="2152650"/>
            <a:chOff x="7330440" y="3987165"/>
            <a:chExt cx="4328160" cy="2152650"/>
          </a:xfrm>
        </p:grpSpPr>
        <p:sp>
          <p:nvSpPr>
            <p:cNvPr id="52" name="Rectangle 52"/>
            <p:cNvSpPr/>
            <p:nvPr/>
          </p:nvSpPr>
          <p:spPr>
            <a:xfrm>
              <a:off x="7330440" y="3987165"/>
              <a:ext cx="4328160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39965" y="4120515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78090" y="41967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673200" y="42324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36242" y="423195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一篇论文可以同时带好几个标签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70470" y="4592955"/>
              <a:ext cx="3701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一篇 CCF-B 类会议的长文，论文集常常同时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 EI 和 CPCI 收录，所以简历上可以写成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「CCF-B 会议，EI 检索」。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571613" y="5496401"/>
              <a:ext cx="3629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学院加分细则用的是 CCF 目录和中科院分区两套标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准，下一部分细看。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「我」为什么做大创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为了加分、随波逐流还是为了做科研，先问清自己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学院加分细则到底加什么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933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 年学院立项名单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五个自我评估问题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科研经历与工程经历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「我」为什么做大创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学院加分细则：大创只有「国家级优秀结题」才加分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27685" y="1524000"/>
            <a:ext cx="6714173" cy="4788694"/>
            <a:chOff x="527685" y="1524000"/>
            <a:chExt cx="6714173" cy="478869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73118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加分对象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42018" y="1659731"/>
              <a:ext cx="1189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加分值（GPA）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大创国家级优秀结题项目：负责人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641658" y="1982152"/>
              <a:ext cx="159067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88359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41649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21255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1223" y="255698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大创国家级优秀结题项目：排名第二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641658" y="2430780"/>
              <a:ext cx="159067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40973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607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005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业界公认学科综合顶级期刊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88359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1470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454241"/>
              <a:ext cx="48638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CCF-A 期刊、CCF-A 会议长文、CCF-B 会议最佳（学生）论文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88359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6332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903821"/>
              <a:ext cx="4453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CCF-B 期刊、中科院一区、CCF-C 会议最佳（学生）论文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88359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195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216718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352449"/>
              <a:ext cx="463047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CCF-C 期刊、CCF-B 会议长文、中科院二区、计算机学报、软件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40973" y="446579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8727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5027771"/>
              <a:ext cx="464754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影响因子非 0 的 SCI 期刊、CCF-C 会议长文、中国科学：信息科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学等五种中文刊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40973" y="514111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56355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5568315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5703094"/>
              <a:ext cx="922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EI 检索期刊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40973" y="570309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708458" cy="44929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27370" y="1524000"/>
              <a:ext cx="9525" cy="44929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6092666"/>
              <a:ext cx="4489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据软件学院本科生素质类项目加分细则（原课件第 11 页图片）整理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546658" y="1524000"/>
            <a:ext cx="4111942" cy="2558415"/>
            <a:chOff x="7546658" y="1524000"/>
            <a:chExt cx="4111942" cy="2558415"/>
          </a:xfrm>
        </p:grpSpPr>
        <p:sp>
          <p:nvSpPr>
            <p:cNvPr id="43" name="Rectangle 43"/>
            <p:cNvSpPr/>
            <p:nvPr/>
          </p:nvSpPr>
          <p:spPr>
            <a:xfrm>
              <a:off x="7546658" y="1524000"/>
              <a:ext cx="4111942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56182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79430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87661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前提条件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800022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58138" y="211074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大创：学院认定，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排名要与立项、中期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检查、结题环节一致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800022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58138" y="273177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论文：学院认定，必须是第一作者，署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名第一单位必须是吉林大学软件学院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00022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8138" y="335280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论文加分前要答辩，由推免工作小组组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织专家认定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7546658" y="4272915"/>
            <a:ext cx="4111942" cy="1995488"/>
            <a:chOff x="7546658" y="4272915"/>
            <a:chExt cx="4111942" cy="1995488"/>
          </a:xfrm>
        </p:grpSpPr>
        <p:sp>
          <p:nvSpPr>
            <p:cNvPr id="54" name="Rectangle 54"/>
            <p:cNvSpPr/>
            <p:nvPr/>
          </p:nvSpPr>
          <p:spPr>
            <a:xfrm>
              <a:off x="7546658" y="4272915"/>
              <a:ext cx="4111942" cy="1995488"/>
            </a:xfrm>
            <a:prstGeom prst="roundRect">
              <a:avLst>
                <a:gd name="adj" fmla="val 668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756208" y="44824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38516" y="45181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算一笔账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48588" y="4859655"/>
              <a:ext cx="3444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只立项、普通结题不加分。负责人拿到国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家级优秀结题加 0.1；如果同一项目出了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一篇 CCF-B 会议长文且本人一作，再加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0.05。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38652" cy="909257"/>
            <a:chOff x="520446" y="342900"/>
            <a:chExt cx="7338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「我」为什么做大创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38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 年软件学院立项名单：17 项，国家级 4 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27685" y="1524000"/>
            <a:ext cx="4766310" cy="2997994"/>
            <a:chOff x="527685" y="1524000"/>
            <a:chExt cx="4766310" cy="299799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609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93393" y="1659731"/>
              <a:ext cx="175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70873" y="17730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国家级项目名称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2208848"/>
              <a:ext cx="742950" cy="110966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9453" y="267509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国家级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7287" y="26750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74723" y="2335054"/>
              <a:ext cx="2939034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基于大语言模型的多模态融合查询生成研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究；基于情景控制的深度强化学习算法研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究；基于神经符号的零样本域泛化模型研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究；基于计算机视觉的雨量估计方法研究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3232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32803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5609" y="34637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7287" y="346376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4723" y="346376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7728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5609" y="39123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27287" y="39123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4723" y="39123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4760595" cy="27022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90638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862138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7685" y="43019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全部为创新训练项目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668202"/>
            <a:ext cx="4760595" cy="1602105"/>
            <a:chOff x="533400" y="4668202"/>
            <a:chExt cx="4760595" cy="1602105"/>
          </a:xfrm>
        </p:grpSpPr>
        <p:sp>
          <p:nvSpPr>
            <p:cNvPr id="29" name="Rectangle 29"/>
            <p:cNvSpPr/>
            <p:nvPr/>
          </p:nvSpPr>
          <p:spPr>
            <a:xfrm>
              <a:off x="533400" y="4668202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80155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8777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1258" y="49134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430" y="5254942"/>
              <a:ext cx="4149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12 页标题沿用「为了加分：软件学院加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分政策」，图片内容实际是 2024 年软件学院大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创立项名单。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5593080" y="1524000"/>
            <a:ext cx="6065520" cy="4343877"/>
            <a:chOff x="5593080" y="1524000"/>
            <a:chExt cx="6065520" cy="4343877"/>
          </a:xfrm>
        </p:grpSpPr>
        <p:sp>
          <p:nvSpPr>
            <p:cNvPr id="35" name="Rectangle 35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5732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选题方向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83181" y="16597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名单中的项目（按序号）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06618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大模型与生成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24941" y="2108359"/>
              <a:ext cx="36868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多模态查询生成；14 ChatGLM 石油领域大模型；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检索增强的老年医疗对话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598795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6618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学习算法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24941" y="2783681"/>
              <a:ext cx="37193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情景控制强化学习；3 神经符号零样本域泛化；12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演化学习特征选择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6618" y="35723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计算机视觉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4941" y="3459004"/>
              <a:ext cx="38656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雨量估计；6 AI 人脸伪造检测；9 水面漂浮物检测；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巡逻车多目标追踪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39947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98795" y="399954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06618" y="41343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医疗健康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24941" y="4134326"/>
              <a:ext cx="3674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电子鼻糖尿病管理；13 头颈部淋巴结自动分割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44434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06618" y="45839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图与数据库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24941" y="4583906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异质图神经网络；8 学习型索引调优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598795" y="48920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598795" y="4896802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06618" y="51458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24941" y="5032534"/>
              <a:ext cx="37355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扩散模型晶体结构生成；16 无人机灾情分析；17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智能家居手势检索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598795" y="1524000"/>
              <a:ext cx="6059805" cy="40481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412355" y="1524000"/>
              <a:ext cx="9525" cy="4048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593080" y="5647849"/>
              <a:ext cx="4504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方向分类为本讲义所加；序号 1–4 国家级，5–12 省级，13–17 校级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「我」为什么做大创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随波逐流之前，先用五个问题评估自己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949385" cy="308039"/>
            <a:chOff x="525399" y="1550194"/>
            <a:chExt cx="894938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9493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「我」是否需要做大创？「我」是否有做大创的能力？逐条如实回答，否定项多的话先缓一缓。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27685" y="1967865"/>
            <a:ext cx="11130915" cy="3488532"/>
            <a:chOff x="527685" y="1967865"/>
            <a:chExt cx="11130915" cy="348853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02995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84295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65820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具体包括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080" y="27279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97418" y="272796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我能同时扛住课内学业和项目吗？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02680" y="2594610"/>
              <a:ext cx="4968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课内学业、自主学习、英语、建模、编程、信息检索、领导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和团队合作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051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209925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34899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97418" y="334899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我的时间分得过来吗？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2680" y="334899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学业、科研和学生工作之间怎样分配并保持平衡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928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38366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兴趣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7418" y="38366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真正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对科研或工程问题有兴趣吗？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02680" y="383667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尤其是打算考公务员、选调生或考研的同学要认真想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1805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185285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0080" y="43243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方向性兴趣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97418" y="43243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我对某个具体方向有真实的了解吗？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02680" y="43243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知道这个领域在研究什么，而不只是听说它热门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6682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0080" y="48120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目标需求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97418" y="481203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我有保研或出国的明确需求吗？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02680" y="481203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这两条路最看重科研经历和成果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67865"/>
              <a:ext cx="11125200" cy="31927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085975" y="1967865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1238" y="1967865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685" y="52363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参考自郎骐玮学长的讲座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兴趣一栏答「否」却为了随大流去做，大概率变成挂名的「挂件」成员，既拿不到成果也拖累队伍。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「我」为什么做大创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为了做科研：大创能换来两类经历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3469958"/>
            <a:chOff x="533400" y="1524000"/>
            <a:chExt cx="5410200" cy="3469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469958"/>
            </a:xfrm>
            <a:prstGeom prst="roundRect">
              <a:avLst>
                <a:gd name="adj" fmla="val 3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0325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科研经历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练的是进入新领域的速度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快速进入并了解一个陌生领域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快速放下原有知识的框框，把已有的思维方式迁移到新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知识上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0861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快速上手模型代码，调试和训练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341804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功利角度：有成果产出（论文、专利）。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717608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例：分享者 2023 年 10 月进实验室时刚开始学强化学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习，7 个半月后交出了国家级立项的申请书。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1681162"/>
            <a:chOff x="6248400" y="1524000"/>
            <a:chExt cx="5410200" cy="1681162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681162"/>
            </a:xfrm>
            <a:prstGeom prst="roundRect">
              <a:avLst>
                <a:gd name="adj" fmla="val 79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14144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工程经历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80923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练的是做大系统的能力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9880" y="212979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走一遍大型系统的完整开发过程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9880" y="2465070"/>
              <a:ext cx="1883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积累调试 bug 的经验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9573" y="27970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功利角度：软著、专利。</a:t>
              </a:r>
            </a:p>
          </p:txBody>
        </p:sp>
      </p:grpSp>
      <p:grpSp>
        <p:nvGrpSpPr>
          <p:cNvPr id="44" name="c2-table-2"/>
          <p:cNvGrpSpPr/>
          <p:nvPr/>
        </p:nvGrpSpPr>
        <p:grpSpPr>
          <a:xfrm>
            <a:off x="6242685" y="3395662"/>
            <a:ext cx="5415915" cy="1642587"/>
            <a:chOff x="6242685" y="3395662"/>
            <a:chExt cx="5415915" cy="1642587"/>
          </a:xfrm>
        </p:grpSpPr>
        <p:sp>
          <p:nvSpPr>
            <p:cNvPr id="32" name="Rectangle 32"/>
            <p:cNvSpPr/>
            <p:nvPr/>
          </p:nvSpPr>
          <p:spPr>
            <a:xfrm>
              <a:off x="6248400" y="3395662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51649" y="35313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98279" y="35313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适合的成果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6223" y="39800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算法研究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20303" y="398002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论文（会议优先）、发明专利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42891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429387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6223" y="44286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20303" y="442864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软著、实用新型或发明专利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395662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407718" y="339566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42685" y="481822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参考自郎骐玮学长的讲座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选题时就想好项目偏研究还是偏开发，成果形式跟着定，结题时不会手忙脚乱。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前期准备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方向、知识、队友、老师，四件事在申报通知之前做完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研究方向怎么挑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基础知识补什么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队友的时间点与角色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怎样找老师、怎样和老师沟通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前期准备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经营大创的全流程：准备做在通知之前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graph-1"/>
          <p:cNvGrpSpPr/>
          <p:nvPr/>
        </p:nvGrpSpPr>
        <p:grpSpPr>
          <a:xfrm>
            <a:off x="813460" y="1555909"/>
            <a:ext cx="10772750" cy="2386489"/>
            <a:chOff x="813460" y="1555909"/>
            <a:chExt cx="10772750" cy="2386489"/>
          </a:xfrm>
        </p:grpSpPr>
        <p:sp>
          <p:nvSpPr>
            <p:cNvPr id="7" name="Freeform 7"/>
            <p:cNvSpPr/>
            <p:nvPr/>
          </p:nvSpPr>
          <p:spPr>
            <a:xfrm>
              <a:off x="1994535" y="2312670"/>
              <a:ext cx="801052" cy="240983"/>
            </a:xfrm>
            <a:custGeom>
              <a:avLst/>
              <a:gdLst/>
              <a:ahLst/>
              <a:cxnLst/>
              <a:rect l="l" t="t" r="r" b="b"/>
              <a:pathLst>
                <a:path w="801052" h="240983">
                  <a:moveTo>
                    <a:pt x="0" y="0"/>
                  </a:moveTo>
                  <a:lnTo>
                    <a:pt x="801052" y="2409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81300" y="2507932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3342"/>
                  </a:moveTo>
                  <a:lnTo>
                    <a:pt x="0" y="91440"/>
                  </a:lnTo>
                  <a:lnTo>
                    <a:pt x="276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94535" y="2714625"/>
              <a:ext cx="797243" cy="45720"/>
            </a:xfrm>
            <a:custGeom>
              <a:avLst/>
              <a:gdLst/>
              <a:ahLst/>
              <a:cxnLst/>
              <a:rect l="l" t="t" r="r" b="b"/>
              <a:pathLst>
                <a:path w="797243" h="45720">
                  <a:moveTo>
                    <a:pt x="0" y="0"/>
                  </a:moveTo>
                  <a:lnTo>
                    <a:pt x="797243" y="457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88920" y="2712720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53340"/>
                  </a:moveTo>
                  <a:lnTo>
                    <a:pt x="0" y="95250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94535" y="2967990"/>
              <a:ext cx="798195" cy="147638"/>
            </a:xfrm>
            <a:custGeom>
              <a:avLst/>
              <a:gdLst/>
              <a:ahLst/>
              <a:cxnLst/>
              <a:rect l="l" t="t" r="r" b="b"/>
              <a:pathLst>
                <a:path w="798195" h="147638">
                  <a:moveTo>
                    <a:pt x="0" y="147638"/>
                  </a:moveTo>
                  <a:lnTo>
                    <a:pt x="7981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84158" y="2921318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29528"/>
                  </a:moveTo>
                  <a:lnTo>
                    <a:pt x="17145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46898" y="3142298"/>
              <a:ext cx="1023937" cy="438150"/>
            </a:xfrm>
            <a:custGeom>
              <a:avLst/>
              <a:gdLst/>
              <a:ahLst/>
              <a:cxnLst/>
              <a:rect l="l" t="t" r="r" b="b"/>
              <a:pathLst>
                <a:path w="1023937" h="438150">
                  <a:moveTo>
                    <a:pt x="0" y="438150"/>
                  </a:moveTo>
                  <a:lnTo>
                    <a:pt x="102393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51785" y="309848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6667"/>
                  </a:moveTo>
                  <a:lnTo>
                    <a:pt x="37148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410075" y="2809875"/>
              <a:ext cx="383858" cy="9525"/>
            </a:xfrm>
            <a:custGeom>
              <a:avLst/>
              <a:gdLst/>
              <a:ahLst/>
              <a:cxnLst/>
              <a:rect l="l" t="t" r="r" b="b"/>
              <a:pathLst>
                <a:path w="383858" h="9525">
                  <a:moveTo>
                    <a:pt x="0" y="0"/>
                  </a:moveTo>
                  <a:lnTo>
                    <a:pt x="3838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793932" y="2762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413182" y="2809875"/>
              <a:ext cx="430530" cy="9525"/>
            </a:xfrm>
            <a:custGeom>
              <a:avLst/>
              <a:gdLst/>
              <a:ahLst/>
              <a:cxnLst/>
              <a:rect l="l" t="t" r="r" b="b"/>
              <a:pathLst>
                <a:path w="430530" h="9525">
                  <a:moveTo>
                    <a:pt x="0" y="0"/>
                  </a:moveTo>
                  <a:lnTo>
                    <a:pt x="4305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843712" y="2762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367712" y="2809875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702992" y="2762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845992" y="2809875"/>
              <a:ext cx="120968" cy="9525"/>
            </a:xfrm>
            <a:custGeom>
              <a:avLst/>
              <a:gdLst/>
              <a:ahLst/>
              <a:cxnLst/>
              <a:rect l="l" t="t" r="r" b="b"/>
              <a:pathLst>
                <a:path w="120968" h="9525">
                  <a:moveTo>
                    <a:pt x="0" y="0"/>
                  </a:moveTo>
                  <a:lnTo>
                    <a:pt x="1209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966960" y="2762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51535" y="1960245"/>
              <a:ext cx="1143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51535" y="2500312"/>
              <a:ext cx="1143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51535" y="3040380"/>
              <a:ext cx="1143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51535" y="3580448"/>
              <a:ext cx="1143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886075" y="2514600"/>
              <a:ext cx="1524000" cy="590550"/>
            </a:xfrm>
            <a:prstGeom prst="roundRect">
              <a:avLst>
                <a:gd name="adj" fmla="val 1612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889182" y="2514600"/>
              <a:ext cx="1524000" cy="590550"/>
            </a:xfrm>
            <a:prstGeom prst="roundRect">
              <a:avLst>
                <a:gd name="adj" fmla="val 16129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38962" y="2514600"/>
              <a:ext cx="1428750" cy="590550"/>
            </a:xfrm>
            <a:prstGeom prst="roundRect">
              <a:avLst>
                <a:gd name="adj" fmla="val 1612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798242" y="2514600"/>
              <a:ext cx="1047750" cy="590550"/>
            </a:xfrm>
            <a:prstGeom prst="roundRect">
              <a:avLst>
                <a:gd name="adj" fmla="val 16129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062210" y="2514600"/>
              <a:ext cx="1524000" cy="590550"/>
            </a:xfrm>
            <a:prstGeom prst="roundRect">
              <a:avLst>
                <a:gd name="adj" fmla="val 16129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3851" y="20669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研究方向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3851" y="26069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基础知识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55395" y="3147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3851" y="368712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指导老师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80435" y="26403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79043" y="283083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 / 老师课题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79267" y="23521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寒假前后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41226" y="26403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调研与复现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85022" y="2830830"/>
              <a:ext cx="1532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读论文、跑 baseline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51636" y="2352199"/>
              <a:ext cx="3990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3–4 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43382" y="26403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立项申请书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52064" y="283083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立项答辩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76743" y="2352199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第一年 5 月前后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92934" y="27355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68611" y="3142774"/>
              <a:ext cx="9070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第一年 9–10 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95026" y="26403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结题成果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38418" y="2830830"/>
              <a:ext cx="1371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论文 / 软著 / 专利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21366" y="31427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3460" y="15559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前期准备四件事</a:t>
              </a:r>
            </a:p>
          </p:txBody>
        </p:sp>
      </p:grpSp>
      <p:grpSp>
        <p:nvGrpSpPr>
          <p:cNvPr id="76" name="c1-compare-2"/>
          <p:cNvGrpSpPr/>
          <p:nvPr/>
        </p:nvGrpSpPr>
        <p:grpSpPr>
          <a:xfrm>
            <a:off x="533400" y="4286250"/>
            <a:ext cx="11125200" cy="2076450"/>
            <a:chOff x="533400" y="4286250"/>
            <a:chExt cx="11125200" cy="2076450"/>
          </a:xfrm>
        </p:grpSpPr>
        <p:sp>
          <p:nvSpPr>
            <p:cNvPr id="52" name="Rectangle 52"/>
            <p:cNvSpPr/>
            <p:nvPr/>
          </p:nvSpPr>
          <p:spPr>
            <a:xfrm>
              <a:off x="533400" y="4286250"/>
              <a:ext cx="5314950" cy="2076450"/>
            </a:xfrm>
            <a:prstGeom prst="roundRect">
              <a:avLst>
                <a:gd name="adj" fmla="val 6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42925" y="4419600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3430" y="45205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申报通知之前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86765" y="49377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4880" y="48748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定方向、补基础知识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86765" y="52730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44880" y="52101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组好队、找好指导老师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86765" y="56083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4880" y="5545455"/>
              <a:ext cx="26807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定题，读论文并复现 baseline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86765" y="59436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44880" y="588073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申请书写出初稿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343650" y="4286250"/>
              <a:ext cx="5314950" cy="2076450"/>
            </a:xfrm>
            <a:prstGeom prst="roundRect">
              <a:avLst>
                <a:gd name="adj" fmla="val 6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353175" y="4419600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83680" y="45205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申报通知之后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597015" y="49377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55130" y="4874895"/>
              <a:ext cx="3258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按当年模板改申请书、准备答辩 PPT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597015" y="527304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55130" y="52101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立项答辩，确定项目级别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597015" y="56083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55130" y="55454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第一年秋季交中期检查报告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597015" y="59436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55130" y="588073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第二年结题验收，争取优秀结题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5895975" y="512445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949315" y="5258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分界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前期准备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研究方向与基础知识：挑还能做的方向，尽早补体系化理论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card-1"/>
          <p:cNvGrpSpPr/>
          <p:nvPr/>
        </p:nvGrpSpPr>
        <p:grpSpPr>
          <a:xfrm>
            <a:off x="533400" y="1524000"/>
            <a:ext cx="5626418" cy="4829175"/>
            <a:chOff x="533400" y="1524000"/>
            <a:chExt cx="5626418" cy="48291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29175"/>
            </a:xfrm>
            <a:prstGeom prst="roundRect">
              <a:avLst>
                <a:gd name="adj" fmla="val 2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6247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研究方向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自己感兴趣的方向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比较热门，或者还能做、比较好做的方向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9620" y="2694622"/>
              <a:ext cx="5192078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74839" y="2823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尽量避开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32898" y="2823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2109" y="32480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红海方向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40914" y="324802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做的人太多，很难做出差异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9620" y="3538538"/>
              <a:ext cx="51920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3543300"/>
              <a:ext cx="519207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2109" y="36718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太古老的方向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40914" y="3671888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能挖的问题已经不多，评审也难认可新意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9620" y="3963352"/>
              <a:ext cx="51920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2109" y="4203382"/>
              <a:ext cx="1537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Baseline 太高的方向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40914" y="4096702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不要去做纯粹刷指标的研究，本科生算力和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时间都拼不过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9620" y="2694622"/>
              <a:ext cx="5192078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633662" y="2694622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3524" y="47148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参考自郎骐玮学长的讲座。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524000"/>
            <a:ext cx="5193982" cy="1615440"/>
            <a:chOff x="6464618" y="1524000"/>
            <a:chExt cx="5193982" cy="1615440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1657350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00838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84277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基础知识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08458" y="21431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65048" y="208264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数学：线性代数、概率论等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08458" y="246030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65048" y="24007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编程语言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08458" y="27784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65048" y="271795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尽早学习体系化的理论：机器学习、深度学习等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464618" y="3319462"/>
            <a:ext cx="5193982" cy="2097405"/>
            <a:chOff x="6464618" y="3319462"/>
            <a:chExt cx="5193982" cy="2097405"/>
          </a:xfrm>
        </p:grpSpPr>
        <p:sp>
          <p:nvSpPr>
            <p:cNvPr id="42" name="Rectangle 42"/>
            <p:cNvSpPr/>
            <p:nvPr/>
          </p:nvSpPr>
          <p:spPr>
            <a:xfrm>
              <a:off x="6464618" y="3319462"/>
              <a:ext cx="5193982" cy="2097405"/>
            </a:xfrm>
            <a:prstGeom prst="roundRect">
              <a:avLst>
                <a:gd name="adj" fmla="val 63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3452812"/>
              <a:ext cx="47625" cy="1830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00838" y="351758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84277" y="355187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对照课程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93598" y="38781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线性代数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07146" y="3878104"/>
              <a:ext cx="27195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大一上，矩阵运算是读懂模型的前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700838" y="4449128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93598" y="456199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概率论与数理统计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07146" y="456199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大二下，损失函数和采样都要用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00838" y="4865370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93598" y="497824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07146" y="497824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大三上才开课，做大创要提前自学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464618" y="5596890"/>
            <a:ext cx="5193982" cy="756285"/>
            <a:chOff x="6464618" y="5596890"/>
            <a:chExt cx="5193982" cy="756285"/>
          </a:xfrm>
        </p:grpSpPr>
        <p:sp>
          <p:nvSpPr>
            <p:cNvPr id="55" name="Rectangle 55"/>
            <p:cNvSpPr/>
            <p:nvPr/>
          </p:nvSpPr>
          <p:spPr>
            <a:xfrm>
              <a:off x="6464618" y="559689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69405" y="5875020"/>
              <a:ext cx="200026" cy="200026"/>
              <a:chOff x="6669405" y="5875020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69405" y="58750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69418" y="59416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58305" y="59750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1729" y="5745004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学期按本仓库课程目录的安排，以本人培养方案为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准。大二下申报时概率论还没学完，要边做边补。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前期准备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队友：先组队再找老师，负责人要看能力互补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28066" y="1524000"/>
            <a:ext cx="5847969" cy="3041904"/>
            <a:chOff x="528066" y="1524000"/>
            <a:chExt cx="5847969" cy="30419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4206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6337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1831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88489" y="2076450"/>
              <a:ext cx="3669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找老师之前或之后都可以，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推荐之前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：带着完整团队去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找老师更容易被接收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812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86038"/>
              <a:ext cx="584263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8213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我当什么角色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88489" y="2714625"/>
              <a:ext cx="3517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负责人或参与者（本院项目，或给别的学院项目「打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工」）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194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345948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挂件行不行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88489" y="3352800"/>
              <a:ext cx="3669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不可取：挂名不干活，既学不到东西，也可能在中期、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结题时出问题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8566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86143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99002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负责人看什么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88489" y="399002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自己和队友的能力是补充还是互助，各自擅长的方向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2762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81238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8066" y="436054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参考自郎骐玮学长的讲座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4705350"/>
            <a:ext cx="5842635" cy="1615440"/>
            <a:chOff x="533400" y="4705350"/>
            <a:chExt cx="5842635" cy="1615440"/>
          </a:xfrm>
        </p:grpSpPr>
        <p:sp>
          <p:nvSpPr>
            <p:cNvPr id="27" name="Rectangle 27"/>
            <p:cNvSpPr/>
            <p:nvPr/>
          </p:nvSpPr>
          <p:spPr>
            <a:xfrm>
              <a:off x="533400" y="4705350"/>
              <a:ext cx="5842635" cy="1615440"/>
            </a:xfrm>
            <a:prstGeom prst="roundRect">
              <a:avLst>
                <a:gd name="adj" fmla="val 825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1520" y="490347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2958" y="493776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负责人多担的事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39140" y="53235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5731" y="526399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定期和老师沟通，汇报整个团队的进展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39140" y="564165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5731" y="558117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把控进度，按时提交申请书、中期报告和结题材料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39140" y="595979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5731" y="589930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按细则，只有负责人和排名第二的成员能拿到优秀结题加分</a:t>
              </a:r>
            </a:p>
          </p:txBody>
        </p:sp>
      </p:grpSp>
      <p:grpSp>
        <p:nvGrpSpPr>
          <p:cNvPr id="60" name="c2-graph-1"/>
          <p:cNvGrpSpPr/>
          <p:nvPr/>
        </p:nvGrpSpPr>
        <p:grpSpPr>
          <a:xfrm>
            <a:off x="6877622" y="1932622"/>
            <a:ext cx="4584192" cy="4257104"/>
            <a:chOff x="6877622" y="1932622"/>
            <a:chExt cx="4584192" cy="4257104"/>
          </a:xfrm>
        </p:grpSpPr>
        <p:sp>
          <p:nvSpPr>
            <p:cNvPr id="37" name="Freeform 37"/>
            <p:cNvSpPr/>
            <p:nvPr/>
          </p:nvSpPr>
          <p:spPr>
            <a:xfrm>
              <a:off x="7673340" y="2469832"/>
              <a:ext cx="1306830" cy="1847850"/>
            </a:xfrm>
            <a:custGeom>
              <a:avLst/>
              <a:gdLst/>
              <a:ahLst/>
              <a:cxnLst/>
              <a:rect l="l" t="t" r="r" b="b"/>
              <a:pathLst>
                <a:path w="1306830" h="1847850">
                  <a:moveTo>
                    <a:pt x="1306830" y="0"/>
                  </a:moveTo>
                  <a:lnTo>
                    <a:pt x="0" y="18478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169718" y="2469832"/>
              <a:ext cx="9525" cy="1847850"/>
            </a:xfrm>
            <a:custGeom>
              <a:avLst/>
              <a:gdLst/>
              <a:ahLst/>
              <a:cxnLst/>
              <a:rect l="l" t="t" r="r" b="b"/>
              <a:pathLst>
                <a:path w="9525" h="1847850">
                  <a:moveTo>
                    <a:pt x="0" y="0"/>
                  </a:moveTo>
                  <a:lnTo>
                    <a:pt x="0" y="18478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360218" y="2469832"/>
              <a:ext cx="1306830" cy="1847850"/>
            </a:xfrm>
            <a:custGeom>
              <a:avLst/>
              <a:gdLst/>
              <a:ahLst/>
              <a:cxnLst/>
              <a:rect l="l" t="t" r="r" b="b"/>
              <a:pathLst>
                <a:path w="1306830" h="1847850">
                  <a:moveTo>
                    <a:pt x="0" y="0"/>
                  </a:moveTo>
                  <a:lnTo>
                    <a:pt x="1306830" y="18478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160068" y="4524375"/>
              <a:ext cx="377190" cy="9525"/>
            </a:xfrm>
            <a:custGeom>
              <a:avLst/>
              <a:gdLst/>
              <a:ahLst/>
              <a:cxnLst/>
              <a:rect l="l" t="t" r="r" b="b"/>
              <a:pathLst>
                <a:path w="377190" h="9525">
                  <a:moveTo>
                    <a:pt x="0" y="0"/>
                  </a:moveTo>
                  <a:lnTo>
                    <a:pt x="3771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1" name="Freeform 41"/>
            <p:cNvSpPr/>
            <p:nvPr/>
          </p:nvSpPr>
          <p:spPr>
            <a:xfrm>
              <a:off x="8537258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064818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802178" y="4524375"/>
              <a:ext cx="378143" cy="9525"/>
            </a:xfrm>
            <a:custGeom>
              <a:avLst/>
              <a:gdLst/>
              <a:ahLst/>
              <a:cxnLst/>
              <a:rect l="l" t="t" r="r" b="b"/>
              <a:pathLst>
                <a:path w="378143" h="9525">
                  <a:moveTo>
                    <a:pt x="0" y="0"/>
                  </a:moveTo>
                  <a:lnTo>
                    <a:pt x="3781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10180320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706928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542972" y="1932622"/>
              <a:ext cx="1253490" cy="537210"/>
            </a:xfrm>
            <a:prstGeom prst="roundRect">
              <a:avLst>
                <a:gd name="adj" fmla="val 177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90398" y="4317682"/>
              <a:ext cx="107442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632508" y="4317682"/>
              <a:ext cx="107442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275570" y="4317682"/>
              <a:ext cx="107442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37841" y="20416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71424" y="2220754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统筹 + 主线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29314" y="445436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/ 实验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71424" y="445436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 / 系统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14486" y="445436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文献 / 写作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96262" y="4438650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22742" y="447008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互助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838372" y="4438650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864852" y="447008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互助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77622" y="5749290"/>
              <a:ext cx="458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至 5 人按能力分工的一种示例：能力互为补充，同一方向两人时互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相帮带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前期准备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找指导老师：方向一致、对学生负责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1701165"/>
            <a:chOff x="533400" y="1524000"/>
            <a:chExt cx="5951220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如何找老师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途径：自己上过的课、学长学姐推荐、学院官网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方向：尽量和你想做的方向一致或相近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要找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对学生负责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的老师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415665"/>
            <a:ext cx="5951220" cy="1929765"/>
            <a:chOff x="533400" y="3415665"/>
            <a:chExt cx="5951220" cy="1929765"/>
          </a:xfrm>
        </p:grpSpPr>
        <p:sp>
          <p:nvSpPr>
            <p:cNvPr id="18" name="Rectangle 18"/>
            <p:cNvSpPr/>
            <p:nvPr/>
          </p:nvSpPr>
          <p:spPr>
            <a:xfrm>
              <a:off x="533400" y="3415665"/>
              <a:ext cx="5951220" cy="1929765"/>
            </a:xfrm>
            <a:prstGeom prst="roundRect">
              <a:avLst>
                <a:gd name="adj" fmla="val 69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549015"/>
              <a:ext cx="47625" cy="16630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6252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0557" y="36609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如何跟老师沟通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0024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邮件礼仪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4512" y="400240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标题写清来意，称呼、署名、年级专业齐全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" y="4322445"/>
              <a:ext cx="54940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3430" y="44424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信息密度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14512" y="444246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一封邮件说清你是谁、想做什么、已经做了什么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4762500"/>
              <a:ext cx="54940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3430" y="48825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换位思考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14512" y="48825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站在老师角度想：他为什么要带你</a:t>
              </a:r>
            </a:p>
          </p:txBody>
        </p:sp>
      </p:grpSp>
      <p:grpSp>
        <p:nvGrpSpPr>
          <p:cNvPr id="32" name="c1-text-3"/>
          <p:cNvGrpSpPr/>
          <p:nvPr/>
        </p:nvGrpSpPr>
        <p:grpSpPr>
          <a:xfrm>
            <a:off x="526923" y="5557361"/>
            <a:ext cx="1908404" cy="249364"/>
            <a:chOff x="526923" y="5557361"/>
            <a:chExt cx="1908404" cy="249364"/>
          </a:xfrm>
        </p:grpSpPr>
        <p:sp>
          <p:nvSpPr>
            <p:cNvPr id="31" name="TextBox 31"/>
            <p:cNvSpPr txBox="1"/>
            <p:nvPr/>
          </p:nvSpPr>
          <p:spPr>
            <a:xfrm>
              <a:off x="526923" y="55573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参考自张柏荣学长的讲座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789420" y="1524000"/>
            <a:ext cx="4869180" cy="3342322"/>
            <a:chOff x="6789420" y="1524000"/>
            <a:chExt cx="4869180" cy="3342322"/>
          </a:xfrm>
        </p:grpSpPr>
        <p:sp>
          <p:nvSpPr>
            <p:cNvPr id="33" name="Rectangle 33"/>
            <p:cNvSpPr/>
            <p:nvPr/>
          </p:nvSpPr>
          <p:spPr>
            <a:xfrm>
              <a:off x="6789420" y="1524000"/>
              <a:ext cx="4869180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1781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第一封邮件的骨架（示例）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17055" y="1937861"/>
              <a:ext cx="2379726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标题：2023 级软件工程 张三：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申请参与强化学习方向大创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王老师您好：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1. 我是谁：年级、专业、绩点或排名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2. 为什么找您：读过您的哪篇论文、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上过您的哪门课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3. 我已经做了什么：学过的课程、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复现过的代码、团队情况</a:t>
              </a:r>
            </a:p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4. 想请您做什么：担任指导老师，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或推荐合适的课题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附件：简历、已读论文笔记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学生 张三  学号 xxxx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789420" y="5056822"/>
            <a:ext cx="4869180" cy="782955"/>
            <a:chOff x="6789420" y="5056822"/>
            <a:chExt cx="4869180" cy="782955"/>
          </a:xfrm>
        </p:grpSpPr>
        <p:sp>
          <p:nvSpPr>
            <p:cNvPr id="37" name="Rectangle 37"/>
            <p:cNvSpPr/>
            <p:nvPr/>
          </p:nvSpPr>
          <p:spPr>
            <a:xfrm>
              <a:off x="6789420" y="5056822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994208" y="5348288"/>
              <a:ext cx="200026" cy="200025"/>
              <a:chOff x="6994208" y="534828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994208" y="53482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33946" y="53927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68662" y="55038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296150" y="5205412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一周左右没回复，可以礼貌地再发一封简短的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跟进邮件，或者课后当面问。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3263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070" y="40719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前期准备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老师把控方向，不会手把手辅导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6058853" cy="1800225"/>
            <a:chOff x="533400" y="1524000"/>
            <a:chExt cx="6058853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790825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7383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老师的职责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2478" y="21145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8497" y="205835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把控整体方向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4174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3612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提供探索方向的指导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7193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663190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针对立项书和论文给反馈、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指出问题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01428" y="1524000"/>
              <a:ext cx="2790825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10952" y="1657350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25074" y="17383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你要做到的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040505" y="21145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96524" y="205835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老师很忙，主动跟老师交流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040505" y="24174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96524" y="2361248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对老师的时间负责，不做无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谓的沟通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040505" y="297656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96524" y="292036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向老师展现出自驱力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371850" y="2232660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426422" y="23636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3499485"/>
            <a:ext cx="6059805" cy="729615"/>
            <a:chOff x="533400" y="3499485"/>
            <a:chExt cx="6059805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3499485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3760588"/>
              <a:ext cx="224134" cy="192560"/>
              <a:chOff x="726129" y="3760588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38309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37605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39087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3645218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老师的职责里没有「手把手一对一辅导」。等老师来安排每一步，项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目就会停在原地。</a:t>
              </a:r>
            </a:p>
          </p:txBody>
        </p:sp>
      </p:grpSp>
      <p:grpSp>
        <p:nvGrpSpPr>
          <p:cNvPr id="44" name="c1-card-3"/>
          <p:cNvGrpSpPr/>
          <p:nvPr/>
        </p:nvGrpSpPr>
        <p:grpSpPr>
          <a:xfrm>
            <a:off x="533400" y="4403408"/>
            <a:ext cx="6059805" cy="1518285"/>
            <a:chOff x="533400" y="4403408"/>
            <a:chExt cx="6059805" cy="1518285"/>
          </a:xfrm>
        </p:grpSpPr>
        <p:sp>
          <p:nvSpPr>
            <p:cNvPr id="35" name="Rectangle 35"/>
            <p:cNvSpPr/>
            <p:nvPr/>
          </p:nvSpPr>
          <p:spPr>
            <a:xfrm>
              <a:off x="533400" y="4403408"/>
              <a:ext cx="6059805" cy="1518285"/>
            </a:xfrm>
            <a:prstGeom prst="roundRect">
              <a:avLst>
                <a:gd name="adj" fmla="val 87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4536758"/>
              <a:ext cx="47625" cy="12515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3905" y="459581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3343" y="46301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可以这样做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2478" y="50091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497" y="49530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每次汇报前把进展、遇到的问题、打算怎么做写成几行文字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2478" y="53111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8497" y="525494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问问题时带上自己已经试过的办法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8190" y="555355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参考自张柏荣学长的讲座。</a:t>
              </a:r>
            </a:p>
          </p:txBody>
        </p:sp>
      </p:grpSp>
      <p:grpSp>
        <p:nvGrpSpPr>
          <p:cNvPr id="47" name="c2-image-1"/>
          <p:cNvGrpSpPr/>
          <p:nvPr/>
        </p:nvGrpSpPr>
        <p:grpSpPr>
          <a:xfrm>
            <a:off x="6898005" y="1524000"/>
            <a:ext cx="4760595" cy="3869627"/>
            <a:chOff x="6898005" y="1524000"/>
            <a:chExt cx="4760595" cy="3869627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8071485" y="518826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老师站在高处指方向，路要学生自己走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选题与立项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从哪里找题目，怎样把一个想法做成申请书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选题来源：自己想还是老师给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广泛调研：综述、顶会、tutorial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从论文到 idea 的路线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立项申请书与答辩的评审要点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选题与立项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选题来源：自己想的自由度大，老师的课题更容易拿到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ompare-1"/>
          <p:cNvGrpSpPr/>
          <p:nvPr/>
        </p:nvGrpSpPr>
        <p:grpSpPr>
          <a:xfrm>
            <a:off x="533400" y="1524000"/>
            <a:ext cx="6275070" cy="2324100"/>
            <a:chOff x="533400" y="1524000"/>
            <a:chExt cx="6275070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927985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自己想的题目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自由度较大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10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7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老师接收难度也较大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60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32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来源：目前的热点方向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813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11848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来源：自己想做的项目，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如软件开发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80485" y="1524000"/>
              <a:ext cx="2927985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90010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20515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老师的课题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133850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91965" y="2112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自由度较小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133850" y="2510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91965" y="24479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但更容易找到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133850" y="28460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91965" y="278320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常见形式：老师课题的子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课题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509010" y="252412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79350" y="26203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0" name="c1-table-2"/>
          <p:cNvGrpSpPr/>
          <p:nvPr/>
        </p:nvGrpSpPr>
        <p:grpSpPr>
          <a:xfrm>
            <a:off x="527685" y="4038600"/>
            <a:ext cx="6281737" cy="2317909"/>
            <a:chOff x="527685" y="4038600"/>
            <a:chExt cx="6281737" cy="2317909"/>
          </a:xfrm>
        </p:grpSpPr>
        <p:sp>
          <p:nvSpPr>
            <p:cNvPr id="30" name="Rectangle 30"/>
            <p:cNvSpPr/>
            <p:nvPr/>
          </p:nvSpPr>
          <p:spPr>
            <a:xfrm>
              <a:off x="533400" y="40386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46658" y="41743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97010" y="41743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自己想的题目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42496" y="41743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老师的课题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223" y="46229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前期调研量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98586" y="46229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大，要自己证明能做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57916" y="46229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小，老师已有积累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9310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9358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50715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遇到卡点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98586" y="50715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主要靠自己摸索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57916" y="50715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可以问师兄师姐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3806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56335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98586" y="5520214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读过一批论文、有具体想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7916" y="563356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刚入门、方向还不熟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038600"/>
              <a:ext cx="6276022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286000" y="40386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45330" y="40386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613648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参考自郎骐玮学长的讲座；对比表为本讲义所加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7114222" y="1524000"/>
            <a:ext cx="4544378" cy="1937385"/>
            <a:chOff x="7114222" y="1524000"/>
            <a:chExt cx="4544378" cy="1937385"/>
          </a:xfrm>
        </p:grpSpPr>
        <p:sp>
          <p:nvSpPr>
            <p:cNvPr id="51" name="Rectangle 51"/>
            <p:cNvSpPr/>
            <p:nvPr/>
          </p:nvSpPr>
          <p:spPr>
            <a:xfrm>
              <a:off x="7114222" y="1524000"/>
              <a:ext cx="4544378" cy="1937385"/>
            </a:xfrm>
            <a:prstGeom prst="roundRect">
              <a:avLst>
                <a:gd name="adj" fmla="val 688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23772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10031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329488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876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对方向还不熟：先接老师的子课题，边做边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熟悉领域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329488" y="2794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876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已经读过一批论文、有具体想法：可以自己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提题，再找方向一致的老师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7114222" y="3651885"/>
            <a:ext cx="4544378" cy="2660332"/>
            <a:chOff x="7114222" y="3651885"/>
            <a:chExt cx="4544378" cy="2660332"/>
          </a:xfrm>
        </p:grpSpPr>
        <p:sp>
          <p:nvSpPr>
            <p:cNvPr id="59" name="Rectangle 59"/>
            <p:cNvSpPr/>
            <p:nvPr/>
          </p:nvSpPr>
          <p:spPr>
            <a:xfrm>
              <a:off x="7114222" y="3651885"/>
              <a:ext cx="4544378" cy="2660332"/>
            </a:xfrm>
            <a:prstGeom prst="roundRect">
              <a:avLst>
                <a:gd name="adj" fmla="val 50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23748" y="3785235"/>
              <a:ext cx="47625" cy="23936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61872" y="3861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52081" y="3897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54252" y="42386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自己想的题目没做过调研就去找老师，老师很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难判断能不能做成，接收的可能性更低。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选题与立项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自己想选题，第一步是对领域做广泛调研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3892626" cy="2851309"/>
            <a:chOff x="533400" y="1533525"/>
            <a:chExt cx="3892626" cy="28513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31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652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39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读综述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读英文文献，语言是最不重要的因素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4788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读近几年的顶刊顶会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6016"/>
              <a:ext cx="2203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特指 CCF-A 类的顶级期刊和会议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克服畏难心态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99894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差论文并不更容易懂，越好的论文越希望读者能读懂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13748"/>
              <a:ext cx="1665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tutorial 和 talk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8187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在视频网站、资源分享网站看知名学者的讲解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89667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多与人交流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6480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和老师、学长学姐、同方向的同学讨论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4548188"/>
            <a:ext cx="6059805" cy="1803082"/>
            <a:chOff x="533400" y="4548188"/>
            <a:chExt cx="6059805" cy="1803082"/>
          </a:xfrm>
        </p:grpSpPr>
        <p:sp>
          <p:nvSpPr>
            <p:cNvPr id="29" name="Rectangle 29"/>
            <p:cNvSpPr/>
            <p:nvPr/>
          </p:nvSpPr>
          <p:spPr>
            <a:xfrm>
              <a:off x="533400" y="4548188"/>
              <a:ext cx="6059805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681538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8190" y="473487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3961" y="476773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99960" y="477012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以案例中的强化学习方向为例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6762" y="515207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2782" y="5095875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教材：Sutton 与 Barto 的 Reinforcement Learning: An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Introduction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6762" y="570928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2782" y="5653088"/>
              <a:ext cx="3459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课程视频：David Silver 的强化学习公开课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6762" y="601027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2782" y="5954078"/>
              <a:ext cx="4134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再去读近几年 NeurIPS、ICML、ICLR 上的相关论文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893052" y="1524000"/>
            <a:ext cx="4765548" cy="2063781"/>
            <a:chOff x="6893052" y="1524000"/>
            <a:chExt cx="4765548" cy="2063781"/>
          </a:xfrm>
        </p:grpSpPr>
        <p:sp>
          <p:nvSpPr>
            <p:cNvPr id="41" name="Rectangle 41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501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材料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29889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读它为了什么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95160" y="2145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13458" y="2045494"/>
              <a:ext cx="27139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看清领域全貌：有哪些子问题、主流方法怎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么分类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898005" y="251936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98005" y="2524125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95160" y="2645569"/>
              <a:ext cx="823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CCF-A 论文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13458" y="264556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知道当前最好的方法和尚未解决的问题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898005" y="291941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95160" y="3045619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tutorial / talk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13458" y="304561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用最短时间建立直觉，适合入门阶段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98005" y="1524000"/>
              <a:ext cx="4760595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511540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93052" y="3397091"/>
              <a:ext cx="40732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参考自张柏荣学长的讲座（原课件第 22、23 页内容相同，此处合并）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898005" y="3719512"/>
            <a:ext cx="4760595" cy="2631758"/>
            <a:chOff x="6898005" y="3719512"/>
            <a:chExt cx="4760595" cy="2631758"/>
          </a:xfrm>
        </p:grpSpPr>
        <p:sp>
          <p:nvSpPr>
            <p:cNvPr id="57" name="Rectangle 57"/>
            <p:cNvSpPr/>
            <p:nvPr/>
          </p:nvSpPr>
          <p:spPr>
            <a:xfrm>
              <a:off x="6898005" y="3719512"/>
              <a:ext cx="4760595" cy="2631758"/>
            </a:xfrm>
            <a:prstGeom prst="roundRect">
              <a:avLst>
                <a:gd name="adj" fmla="val 5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07530" y="3852862"/>
              <a:ext cx="47625" cy="23650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22795" y="39062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03313" y="39390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读英文文献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5937" y="425100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先看摘要、引言和结论，判断和自己的问题是否相关，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再挑相关章节细读，不必一开始逐字翻译。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17080" y="4803934"/>
              <a:ext cx="41363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边读边记：这篇解决什么问题、用什么方法、在哪个数据集上比了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谁。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15967" cy="909257"/>
            <a:chOff x="520446" y="342900"/>
            <a:chExt cx="70159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选题与立项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159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从论文到 idea：找方法、找问题、用实验说话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flow-1"/>
          <p:cNvGrpSpPr/>
          <p:nvPr/>
        </p:nvGrpSpPr>
        <p:grpSpPr>
          <a:xfrm>
            <a:off x="753428" y="1788795"/>
            <a:ext cx="5835966" cy="4309110"/>
            <a:chOff x="753428" y="1788795"/>
            <a:chExt cx="5835966" cy="4309110"/>
          </a:xfrm>
        </p:grpSpPr>
        <p:sp>
          <p:nvSpPr>
            <p:cNvPr id="7" name="Freeform 7"/>
            <p:cNvSpPr/>
            <p:nvPr/>
          </p:nvSpPr>
          <p:spPr>
            <a:xfrm>
              <a:off x="2102168" y="2226945"/>
              <a:ext cx="1568768" cy="220027"/>
            </a:xfrm>
            <a:custGeom>
              <a:avLst/>
              <a:gdLst/>
              <a:ahLst/>
              <a:cxnLst/>
              <a:rect l="l" t="t" r="r" b="b"/>
              <a:pathLst>
                <a:path w="1568768" h="220027">
                  <a:moveTo>
                    <a:pt x="1568768" y="0"/>
                  </a:moveTo>
                  <a:lnTo>
                    <a:pt x="1568768" y="161925"/>
                  </a:lnTo>
                  <a:lnTo>
                    <a:pt x="0" y="161925"/>
                  </a:lnTo>
                  <a:lnTo>
                    <a:pt x="0" y="2200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49780" y="24469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670935" y="2226945"/>
              <a:ext cx="1569720" cy="329565"/>
            </a:xfrm>
            <a:custGeom>
              <a:avLst/>
              <a:gdLst/>
              <a:ahLst/>
              <a:cxnLst/>
              <a:rect l="l" t="t" r="r" b="b"/>
              <a:pathLst>
                <a:path w="1569720" h="329565">
                  <a:moveTo>
                    <a:pt x="0" y="0"/>
                  </a:moveTo>
                  <a:lnTo>
                    <a:pt x="0" y="217170"/>
                  </a:lnTo>
                  <a:lnTo>
                    <a:pt x="1569720" y="217170"/>
                  </a:lnTo>
                  <a:lnTo>
                    <a:pt x="156972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188268" y="25565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102168" y="3399472"/>
              <a:ext cx="1568768" cy="220028"/>
            </a:xfrm>
            <a:custGeom>
              <a:avLst/>
              <a:gdLst/>
              <a:ahLst/>
              <a:cxnLst/>
              <a:rect l="l" t="t" r="r" b="b"/>
              <a:pathLst>
                <a:path w="1568768" h="220028">
                  <a:moveTo>
                    <a:pt x="0" y="0"/>
                  </a:moveTo>
                  <a:lnTo>
                    <a:pt x="0" y="162878"/>
                  </a:lnTo>
                  <a:lnTo>
                    <a:pt x="1568768" y="162878"/>
                  </a:lnTo>
                  <a:lnTo>
                    <a:pt x="1568768" y="220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18548" y="3619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670935" y="3289935"/>
              <a:ext cx="1569720" cy="329565"/>
            </a:xfrm>
            <a:custGeom>
              <a:avLst/>
              <a:gdLst/>
              <a:ahLst/>
              <a:cxnLst/>
              <a:rect l="l" t="t" r="r" b="b"/>
              <a:pathLst>
                <a:path w="1569720" h="329565">
                  <a:moveTo>
                    <a:pt x="1569720" y="0"/>
                  </a:moveTo>
                  <a:lnTo>
                    <a:pt x="1569720" y="217170"/>
                  </a:lnTo>
                  <a:lnTo>
                    <a:pt x="0" y="217170"/>
                  </a:ln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18548" y="3619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670935" y="4162425"/>
              <a:ext cx="9525" cy="329565"/>
            </a:xfrm>
            <a:custGeom>
              <a:avLst/>
              <a:gdLst/>
              <a:ahLst/>
              <a:cxnLst/>
              <a:rect l="l" t="t" r="r" b="b"/>
              <a:pathLst>
                <a:path w="9525" h="329565">
                  <a:moveTo>
                    <a:pt x="0" y="0"/>
                  </a:move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18548" y="44919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670935" y="5225415"/>
              <a:ext cx="9525" cy="329565"/>
            </a:xfrm>
            <a:custGeom>
              <a:avLst/>
              <a:gdLst/>
              <a:ahLst/>
              <a:cxnLst/>
              <a:rect l="l" t="t" r="r" b="b"/>
              <a:pathLst>
                <a:path w="9525" h="329565">
                  <a:moveTo>
                    <a:pt x="0" y="0"/>
                  </a:move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618548" y="55549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72502" y="1788795"/>
              <a:ext cx="539686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3428" y="2551748"/>
              <a:ext cx="2698432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90962" y="2661285"/>
              <a:ext cx="269843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72502" y="3724275"/>
              <a:ext cx="5396865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972502" y="4596765"/>
              <a:ext cx="539686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72502" y="5659755"/>
              <a:ext cx="539686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85949" y="191881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大量阅读所研究问题的顶刊顶会论文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4986" y="2668429"/>
              <a:ext cx="2134362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找方法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 baseline 或新 idea 的基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58818" y="2777014"/>
              <a:ext cx="19636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找数据集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测试模型性能的常用数据集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30576" y="385429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找开源代码，复现现有方法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07946" y="4712494"/>
              <a:ext cx="31259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发现现有方法的问题，提出 idea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原论文里小修小补 / 综述与同行论文找灵感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72205" y="5789771"/>
              <a:ext cx="21974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大量实验验证 idea 是否正确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8076248" y="1524000"/>
            <a:ext cx="2619375" cy="3458052"/>
            <a:chOff x="8076248" y="1524000"/>
            <a:chExt cx="2619375" cy="3458052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76248" y="1524000"/>
              <a:ext cx="2619375" cy="3143250"/>
            </a:xfrm>
            <a:prstGeom prst="roundRect">
              <a:avLst>
                <a:gd name="adj" fmla="val 5090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8155178" y="4762024"/>
              <a:ext cx="2461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论文一本本垫上去，才够得着新 idea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7114222" y="5147310"/>
            <a:ext cx="4544378" cy="782955"/>
            <a:chOff x="7114222" y="5147310"/>
            <a:chExt cx="4544378" cy="782955"/>
          </a:xfrm>
        </p:grpSpPr>
        <p:sp>
          <p:nvSpPr>
            <p:cNvPr id="35" name="Rectangle 35"/>
            <p:cNvSpPr/>
            <p:nvPr/>
          </p:nvSpPr>
          <p:spPr>
            <a:xfrm>
              <a:off x="7114222" y="5147310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06952" y="5435083"/>
              <a:ext cx="224134" cy="192560"/>
              <a:chOff x="7306952" y="5435083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419023" y="55054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306952" y="54350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419023" y="55832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620952" y="5295900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切忌空对空的想法和讨论，只有实验结果才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能证明想法好不好。</a:t>
              </a:r>
            </a:p>
          </p:txBody>
        </p:sp>
      </p:grpSp>
      <p:grpSp>
        <p:nvGrpSpPr>
          <p:cNvPr id="43" name="c2-text-3"/>
          <p:cNvGrpSpPr/>
          <p:nvPr/>
        </p:nvGrpSpPr>
        <p:grpSpPr>
          <a:xfrm>
            <a:off x="7107746" y="6142196"/>
            <a:ext cx="1908404" cy="249364"/>
            <a:chOff x="7107746" y="6142196"/>
            <a:chExt cx="1908404" cy="249364"/>
          </a:xfrm>
        </p:grpSpPr>
        <p:sp>
          <p:nvSpPr>
            <p:cNvPr id="42" name="TextBox 42"/>
            <p:cNvSpPr txBox="1"/>
            <p:nvPr/>
          </p:nvSpPr>
          <p:spPr>
            <a:xfrm>
              <a:off x="7107746" y="614219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参考自郎骐玮学长的讲座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选题与立项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立项申请书与答辩：评委主要看申请书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1986915"/>
            <a:chOff x="533400" y="1524000"/>
            <a:chExt cx="5626418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86915"/>
            </a:xfrm>
            <a:prstGeom prst="roundRect">
              <a:avLst>
                <a:gd name="adj" fmla="val 671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75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原课件的三条要点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2950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47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3940" y="2110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立项申请书是前期工作的重要呈现，需要反复打磨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2950" y="24326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7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3940" y="244602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申请书需要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格式正确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，预期成果合理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2950" y="27679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4799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3940" y="2781300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立项答辩主要基于申请书提问，也会参考答辩 PPT 的呈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现效果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701415"/>
            <a:ext cx="5626418" cy="2415540"/>
            <a:chOff x="533400" y="3701415"/>
            <a:chExt cx="5626418" cy="2415540"/>
          </a:xfrm>
        </p:grpSpPr>
        <p:sp>
          <p:nvSpPr>
            <p:cNvPr id="20" name="Rectangle 20"/>
            <p:cNvSpPr/>
            <p:nvPr/>
          </p:nvSpPr>
          <p:spPr>
            <a:xfrm>
              <a:off x="533400" y="3701415"/>
              <a:ext cx="5626418" cy="2415540"/>
            </a:xfrm>
            <a:prstGeom prst="roundRect">
              <a:avLst>
                <a:gd name="adj" fmla="val 5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834765"/>
              <a:ext cx="47625" cy="21488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391096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8457" y="39466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常见扣分点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3510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28815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没用当年的模板，或者表格、字数不符合要求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46863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623435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预期成果写得太满，如一年内发 CCF-A，评委一眼看出不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53073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52444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技术路线空泛，看不出已经做过调研和复现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458902" y="1524000"/>
            <a:ext cx="5199698" cy="3663792"/>
            <a:chOff x="6458902" y="1524000"/>
            <a:chExt cx="5199698" cy="3663792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888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申请书部分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4156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自查问题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72441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研究背景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34553" y="2108359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引用的是近几年的文献吗？问题说清楚了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64795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2441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研究内容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34553" y="278368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能拆成两三个具体、可检验的小目标吗？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092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2441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技术路线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34553" y="3232309"/>
              <a:ext cx="26321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用了哪个 baseline、哪个数据集？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5413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354615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2441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前期基础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34553" y="368093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复现结果、已读论文能拿出来吗？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9900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2441" y="41305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34553" y="413051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和项目周期、团队能力匹配吗？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44386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4618" y="444341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2441" y="4579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进度安排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34553" y="457914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和立项、中期、结题的时间点对得上吗？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1524000"/>
              <a:ext cx="5193982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21968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58902" y="496776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申请书的具体栏目以当年学校下发的模板为准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464618" y="5334000"/>
            <a:ext cx="5193982" cy="782955"/>
            <a:chOff x="6464618" y="5334000"/>
            <a:chExt cx="5193982" cy="782955"/>
          </a:xfrm>
        </p:grpSpPr>
        <p:sp>
          <p:nvSpPr>
            <p:cNvPr id="58" name="Rectangle 58"/>
            <p:cNvSpPr/>
            <p:nvPr/>
          </p:nvSpPr>
          <p:spPr>
            <a:xfrm>
              <a:off x="6464618" y="533400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69405" y="5625465"/>
              <a:ext cx="200026" cy="200025"/>
              <a:chOff x="6669405" y="5625465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669405" y="56254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09144" y="56699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43859" y="57810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971348" y="5482590"/>
              <a:ext cx="4253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答辩 PPT 按申请书的顺序组织，评委边看申请书边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听，最容易跟上。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结题成果与个人建议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尽量现实一点，按剩余时间挑成果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软著、论文、专利的周期对比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六条个人见解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常见问题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结题成果与个人建议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结题成果：按剩余时间选，尽量现实一点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27685" y="1524000"/>
            <a:ext cx="6497955" cy="3890487"/>
            <a:chOff x="527685" y="1524000"/>
            <a:chExt cx="6497955" cy="389048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84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672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294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9940" y="23350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到 3 个月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97770" y="2108359"/>
              <a:ext cx="32641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相对容易拿到；申请步骤可在公众号「JLU软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团团」搜索「软著」看教程，细节以当年要求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698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7464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010376"/>
              <a:ext cx="922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EI 水刊水会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9940" y="301037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到 7 天出结果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7770" y="301037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快但含金量低，也要当心掠夺性期刊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4590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常规会议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9940" y="3459004"/>
              <a:ext cx="908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deadline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97770" y="34590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截稿日明确，周期相对短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76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常规期刊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9940" y="39076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数月到一年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97770" y="390763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随时可投，周期相对长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67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357211"/>
              <a:ext cx="911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A/B/C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09940" y="435721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按会议或期刊定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97770" y="435721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难度最高，也是加分细则认可的主体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6653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67010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8058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09940" y="48058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一年左右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97770" y="4805839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发明专利通常更久，见第 8 页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492240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697355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385185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685" y="519445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参考自郎骐玮学长的讲座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7330440" y="1524000"/>
            <a:ext cx="4328160" cy="3846195"/>
            <a:chOff x="7330440" y="1524000"/>
            <a:chExt cx="4328160" cy="3846195"/>
          </a:xfrm>
        </p:grpSpPr>
        <p:sp>
          <p:nvSpPr>
            <p:cNvPr id="42" name="Rectangle 42"/>
            <p:cNvSpPr/>
            <p:nvPr/>
          </p:nvSpPr>
          <p:spPr>
            <a:xfrm>
              <a:off x="7330440" y="1524000"/>
              <a:ext cx="4328160" cy="3846195"/>
            </a:xfrm>
            <a:prstGeom prst="roundRect">
              <a:avLst>
                <a:gd name="adj" fmla="val 3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39965" y="1657350"/>
              <a:ext cx="47625" cy="35794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7809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3479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按离结题的剩余时间挑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711440" y="223837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578090" y="209550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71714" y="2169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578090" y="274605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71714" y="28198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578090" y="36318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71714" y="3705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89570" y="2129790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不到 3 个月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90713" y="242363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软著兜底，论文和专利基本来不及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89570" y="2780348"/>
              <a:ext cx="116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到 12 个月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90713" y="3074194"/>
              <a:ext cx="3182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找截稿日合适的会议，按 deadline 倒排实验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和写作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89570" y="36661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一年以上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90713" y="395906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可以投期刊，或申请发明专利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1613" y="4313396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剩余时间要把审稿、修改和录用通知的时间都算进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去。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130" y="59912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「尽量现实一点」：先保证至少一项能按时拿到的成果，再去争取论文。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结题成果与个人建议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分享者的六条个人见解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335405"/>
            <a:chOff x="533400" y="1524000"/>
            <a:chExt cx="541020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91465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7531" y="17692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9195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不要神话大创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它只是一个本科生训练项目，立项级别不等于能力，也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不等于加分。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049905"/>
            <a:ext cx="5410200" cy="1335405"/>
            <a:chOff x="533400" y="3049905"/>
            <a:chExt cx="5410200" cy="1335405"/>
          </a:xfrm>
        </p:grpSpPr>
        <p:sp>
          <p:nvSpPr>
            <p:cNvPr id="14" name="Rectangle 14"/>
            <p:cNvSpPr/>
            <p:nvPr/>
          </p:nvSpPr>
          <p:spPr>
            <a:xfrm>
              <a:off x="533400" y="3049905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3259455"/>
              <a:ext cx="291465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9431" y="32951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1095" y="329469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搞清楚自己到底想要什么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365569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保研、就业、出国需要的经历各不相同，做不做大创、做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成什么样都跟着目标定。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575810"/>
            <a:ext cx="5410200" cy="1049655"/>
            <a:chOff x="533400" y="4575810"/>
            <a:chExt cx="5410200" cy="1049655"/>
          </a:xfrm>
        </p:grpSpPr>
        <p:sp>
          <p:nvSpPr>
            <p:cNvPr id="20" name="Rectangle 20"/>
            <p:cNvSpPr/>
            <p:nvPr/>
          </p:nvSpPr>
          <p:spPr>
            <a:xfrm>
              <a:off x="533400" y="4575810"/>
              <a:ext cx="5410200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709160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4785360"/>
              <a:ext cx="29146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7531" y="4821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9195" y="482060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不要拘泥于课内的课程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51816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机器学习、深度学习这类理论可以提前自学。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1335405"/>
            <a:chOff x="6248400" y="1524000"/>
            <a:chExt cx="5410200" cy="1335405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1733550"/>
              <a:ext cx="29146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92531" y="17692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4195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尽量将成果放在第一位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8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学院加分和保研材料认的都是成果，过程再辛苦也不计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248400" y="3049905"/>
            <a:ext cx="5410200" cy="1335405"/>
            <a:chOff x="6248400" y="3049905"/>
            <a:chExt cx="5410200" cy="1335405"/>
          </a:xfrm>
        </p:grpSpPr>
        <p:sp>
          <p:nvSpPr>
            <p:cNvPr id="34" name="Rectangle 34"/>
            <p:cNvSpPr/>
            <p:nvPr/>
          </p:nvSpPr>
          <p:spPr>
            <a:xfrm>
              <a:off x="6248400" y="3049905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318325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3259455"/>
              <a:ext cx="29146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92531" y="32951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94195" y="329469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多向学长学姐请教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8430" y="365569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找老师、选方向、投稿，这些经验能让你少走很多弯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路。</a:t>
              </a:r>
            </a:p>
          </p:txBody>
        </p:sp>
      </p:grpSp>
      <p:grpSp>
        <p:nvGrpSpPr>
          <p:cNvPr id="47" name="c2-card-3"/>
          <p:cNvGrpSpPr/>
          <p:nvPr/>
        </p:nvGrpSpPr>
        <p:grpSpPr>
          <a:xfrm>
            <a:off x="6248400" y="4575810"/>
            <a:ext cx="5410200" cy="1049655"/>
            <a:chOff x="6248400" y="4575810"/>
            <a:chExt cx="5410200" cy="1049655"/>
          </a:xfrm>
        </p:grpSpPr>
        <p:sp>
          <p:nvSpPr>
            <p:cNvPr id="41" name="Rectangle 41"/>
            <p:cNvSpPr/>
            <p:nvPr/>
          </p:nvSpPr>
          <p:spPr>
            <a:xfrm>
              <a:off x="6248400" y="4575810"/>
              <a:ext cx="5410200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4709160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6050" y="4785360"/>
              <a:ext cx="29146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92531" y="4821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94195" y="482060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对科研感兴趣就越早开始越好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8430" y="518160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分享者大二上进实验室，大二下拿到国家级立项。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57106" cy="909257"/>
            <a:chOff x="520446" y="342900"/>
            <a:chExt cx="27571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 · 结题成果与个人建议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11125200" cy="4168140"/>
            <a:chOff x="533400" y="1524000"/>
            <a:chExt cx="11125200" cy="4168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9263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4271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3460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详见本讲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大一能参加吗？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77640" y="215074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可以。大创主要面向二年级，大一也可参与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40240" y="215074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6384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能同时参加两个项目吗？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77640" y="26384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不能。每人只能参加一个，在研项目要先完成才能再报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40240" y="26384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12610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立项是国家级就能加分吗？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80485" y="2996565"/>
              <a:ext cx="5543550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77640" y="3126105"/>
              <a:ext cx="5356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不能。细则只给国家级优秀结题的负责人 0.1、第二名 0.05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40240" y="312610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36137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中途能换负责人或调整排名吗？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77640" y="361378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会影响加分：细则要求排名与立项、中期、结题一致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40240" y="361378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57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0080" y="4101465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论文挂在大创名下，我是二作能加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分吗？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77640" y="423481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不能。论文加分要求第一作者、第一单位是软件学院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40240" y="423481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页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7120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7167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0080" y="48558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通知出来再准备来得及吗？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80485" y="4726305"/>
              <a:ext cx="5543550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77640" y="4855845"/>
              <a:ext cx="3488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很紧张。2024 年通知到截止只有 13 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40240" y="485584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页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1996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0080" y="5343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自己想题还是用老师的题？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77640" y="53435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不熟悉方向时接老师子课题更稳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40240" y="534352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22 页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11125200" cy="41681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866198" y="1524000"/>
              <a:ext cx="9525" cy="4168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428798" y="1524000"/>
              <a:ext cx="9525" cy="4168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470" cy="909257"/>
            <a:chOff x="520446" y="342900"/>
            <a:chExt cx="7124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大创团队人数有什么要求？一个人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能同时在两个项目里吗？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至 5 人组队申报；每人只能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参加一个项目，在研项目完成后才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能再申报。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2223135"/>
            <a:chOff x="533400" y="393763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297132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一篇 CCF-B 会议长文、本人一作、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单位是软件学院，能加多少？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2901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 GPA，加分前还要通过推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免工作小组组织的答辩认定。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23135"/>
            <a:chOff x="4343400" y="1524000"/>
            <a:chExt cx="3505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大创一个周期要过哪几道评审？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446020"/>
              <a:ext cx="29679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4–5 月立项评审（定级），9–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月中期检查，第二年 4–5 月或 9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–10 月结题验收，之后遴选优秀结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37635"/>
            <a:ext cx="3505200" cy="2223135"/>
            <a:chOff x="4343400" y="393763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52437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自己想选题时，调研阶段应该读哪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些材料？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967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英文综述、近几年 CCF-A 顶刊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顶会论文、知名学者的 tutorial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talk，再多和人交流。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937385"/>
            <a:chOff x="8153400" y="1524000"/>
            <a:chExt cx="3505200" cy="193738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按学院细则，国家级立项但普通结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题的负责人加多少分？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958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不加分。只有国家级优秀结题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才加，负责人 0.1、第二名 0.05。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51885"/>
            <a:ext cx="3505200" cy="2508885"/>
            <a:chOff x="8153400" y="3651885"/>
            <a:chExt cx="3505200" cy="2508885"/>
          </a:xfrm>
        </p:grpSpPr>
        <p:sp>
          <p:nvSpPr>
            <p:cNvPr id="37" name="Rectangle 37"/>
            <p:cNvSpPr/>
            <p:nvPr/>
          </p:nvSpPr>
          <p:spPr>
            <a:xfrm>
              <a:off x="8153400" y="365188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23862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离结题只剩两个月，还没有任何成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果，优先考虑什么？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4859655"/>
              <a:ext cx="2929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软著，周期 1 到 3 个月；论文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和专利一般来不及。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915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0127" y="40719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陈赓 · 大创经验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5970270" cy="2257425"/>
            <a:chOff x="533400" y="1535430"/>
            <a:chExt cx="5970270" cy="225742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大创是大学生创新创业训练计划，3 至 5 人组队，每人一个项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目，周期 1 至 2 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5406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立项、中期、结题三道关；近年申报窗口只有 2 至 3 周，准备要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做在通知之前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9654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80987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学院只给国家级优秀结题和第一作者论文加分，排名要前后一致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1836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15468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前期准备四件事：方向、基础知识、队友、指导老师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861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5284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499485"/>
              <a:ext cx="3498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选题靠调研和复现，idea 要用实验验证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924300"/>
            <a:ext cx="5951220" cy="1701165"/>
            <a:chOff x="533400" y="3924300"/>
            <a:chExt cx="5951220" cy="1701165"/>
          </a:xfrm>
        </p:grpSpPr>
        <p:sp>
          <p:nvSpPr>
            <p:cNvPr id="23" name="Rectangle 23"/>
            <p:cNvSpPr/>
            <p:nvPr/>
          </p:nvSpPr>
          <p:spPr>
            <a:xfrm>
              <a:off x="533400" y="3924300"/>
              <a:ext cx="595122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0576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1338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5655" y="41695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读完这份讲义之后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5739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511040"/>
              <a:ext cx="31855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 13 页的五个问题给自己打个分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9091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84632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去学院官网看看老师的研究方向，列出两三位候选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52444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51816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挑一篇感兴趣方向的综述，读完摘要和引言</a:t>
              </a:r>
            </a:p>
          </p:txBody>
        </p:sp>
      </p:grpSp>
      <p:grpSp>
        <p:nvGrpSpPr>
          <p:cNvPr id="66" name="c2-tree-1"/>
          <p:cNvGrpSpPr/>
          <p:nvPr/>
        </p:nvGrpSpPr>
        <p:grpSpPr>
          <a:xfrm>
            <a:off x="6789420" y="1632585"/>
            <a:ext cx="4869180" cy="3915728"/>
            <a:chOff x="6789420" y="1632585"/>
            <a:chExt cx="4869180" cy="3915728"/>
          </a:xfrm>
        </p:grpSpPr>
        <p:sp>
          <p:nvSpPr>
            <p:cNvPr id="34" name="Freeform 34"/>
            <p:cNvSpPr/>
            <p:nvPr/>
          </p:nvSpPr>
          <p:spPr>
            <a:xfrm>
              <a:off x="9429750" y="1819275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295275"/>
                  </a:moveTo>
                  <a:lnTo>
                    <a:pt x="209550" y="2952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29750" y="2114550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0"/>
                  </a:moveTo>
                  <a:lnTo>
                    <a:pt x="209550" y="0"/>
                  </a:lnTo>
                  <a:lnTo>
                    <a:pt x="209550" y="295275"/>
                  </a:lnTo>
                  <a:lnTo>
                    <a:pt x="419100" y="2952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429750" y="3000375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295275"/>
                  </a:moveTo>
                  <a:lnTo>
                    <a:pt x="209550" y="2952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29750" y="3295650"/>
              <a:ext cx="419100" cy="295275"/>
            </a:xfrm>
            <a:custGeom>
              <a:avLst/>
              <a:gdLst/>
              <a:ahLst/>
              <a:cxnLst/>
              <a:rect l="l" t="t" r="r" b="b"/>
              <a:pathLst>
                <a:path w="419100" h="295275">
                  <a:moveTo>
                    <a:pt x="0" y="0"/>
                  </a:moveTo>
                  <a:lnTo>
                    <a:pt x="209550" y="0"/>
                  </a:lnTo>
                  <a:lnTo>
                    <a:pt x="209550" y="295275"/>
                  </a:lnTo>
                  <a:lnTo>
                    <a:pt x="419100" y="2952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429750" y="4181475"/>
              <a:ext cx="419100" cy="590550"/>
            </a:xfrm>
            <a:custGeom>
              <a:avLst/>
              <a:gdLst/>
              <a:ahLst/>
              <a:cxnLst/>
              <a:rect l="l" t="t" r="r" b="b"/>
              <a:pathLst>
                <a:path w="419100" h="590550">
                  <a:moveTo>
                    <a:pt x="0" y="590550"/>
                  </a:moveTo>
                  <a:lnTo>
                    <a:pt x="209550" y="5905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429750" y="47720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429750" y="4772025"/>
              <a:ext cx="419100" cy="590550"/>
            </a:xfrm>
            <a:custGeom>
              <a:avLst/>
              <a:gdLst/>
              <a:ahLst/>
              <a:cxnLst/>
              <a:rect l="l" t="t" r="r" b="b"/>
              <a:pathLst>
                <a:path w="419100" h="590550">
                  <a:moveTo>
                    <a:pt x="0" y="0"/>
                  </a:moveTo>
                  <a:lnTo>
                    <a:pt x="209550" y="0"/>
                  </a:lnTo>
                  <a:lnTo>
                    <a:pt x="209550" y="590550"/>
                  </a:lnTo>
                  <a:lnTo>
                    <a:pt x="419100" y="5905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575232" y="2114550"/>
              <a:ext cx="419100" cy="1328738"/>
            </a:xfrm>
            <a:custGeom>
              <a:avLst/>
              <a:gdLst/>
              <a:ahLst/>
              <a:cxnLst/>
              <a:rect l="l" t="t" r="r" b="b"/>
              <a:pathLst>
                <a:path w="419100" h="1328738">
                  <a:moveTo>
                    <a:pt x="0" y="1328738"/>
                  </a:moveTo>
                  <a:lnTo>
                    <a:pt x="209550" y="13287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575232" y="3295650"/>
              <a:ext cx="419100" cy="147638"/>
            </a:xfrm>
            <a:custGeom>
              <a:avLst/>
              <a:gdLst/>
              <a:ahLst/>
              <a:cxnLst/>
              <a:rect l="l" t="t" r="r" b="b"/>
              <a:pathLst>
                <a:path w="419100" h="147638">
                  <a:moveTo>
                    <a:pt x="0" y="147638"/>
                  </a:moveTo>
                  <a:lnTo>
                    <a:pt x="209550" y="1476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575232" y="3443288"/>
              <a:ext cx="419100" cy="1328738"/>
            </a:xfrm>
            <a:custGeom>
              <a:avLst/>
              <a:gdLst/>
              <a:ahLst/>
              <a:cxnLst/>
              <a:rect l="l" t="t" r="r" b="b"/>
              <a:pathLst>
                <a:path w="419100" h="1328738">
                  <a:moveTo>
                    <a:pt x="0" y="0"/>
                  </a:moveTo>
                  <a:lnTo>
                    <a:pt x="209550" y="0"/>
                  </a:lnTo>
                  <a:lnTo>
                    <a:pt x="209550" y="1328738"/>
                  </a:lnTo>
                  <a:lnTo>
                    <a:pt x="419100" y="132873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848850" y="1632585"/>
              <a:ext cx="18097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848850" y="2223135"/>
              <a:ext cx="18097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994332" y="1927860"/>
              <a:ext cx="143541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848850" y="2813685"/>
              <a:ext cx="18097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848850" y="3404235"/>
              <a:ext cx="18097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94332" y="3108960"/>
              <a:ext cx="143541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848850" y="3994785"/>
              <a:ext cx="18097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848850" y="4585335"/>
              <a:ext cx="18097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848850" y="5175885"/>
              <a:ext cx="180975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994332" y="4585335"/>
              <a:ext cx="143541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89420" y="3256598"/>
              <a:ext cx="785812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937623" y="17302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组队与限制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37623" y="2320766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 / 中期 / 结题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83106" y="202549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规则与时间线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37623" y="2911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加分细则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37623" y="35018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自我评估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83106" y="32065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37623" y="40924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前期准备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37623" y="46829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选题立项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37623" y="52735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结题成果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83106" y="46829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经营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78193" y="33542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大创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7" name="Rectangle 6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9912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先想清楚要不要做，再用成果来衡量做得好不好。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大创经验分享会（陈赓）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achuang_chengeng">
  <a:themeElements>
    <a:clrScheme name="dachuang_chenge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achuang_chenge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chuang_chenge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2026-09-23T07:08:16Z</dcterms:created>
  <dcterms:modified xsi:type="dcterms:W3CDTF">2026-09-23T07:08:16Z</dcterms:modified>
  <cp:category/>
  <cp:contentStatus/>
</cp:coreProperties>
</file>