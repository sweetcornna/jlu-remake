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chuang_zhangbairo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chuang_zhangbairo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4852bc81045164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b895743f9c85e75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0f1fc96de6ce4e8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32124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2179" y="1718310"/>
              <a:ext cx="2109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大创经验分享 · 2023.04.21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大创经验分享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从认识大创、决定做大创到把一个项目做完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大创是什么、有哪些节点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该不该做、能得到什么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准备、立项、执行、结项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资源工具与个人经验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44130" cy="205359"/>
            <a:chOff x="680466" y="6192202"/>
            <a:chExt cx="424413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441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自学复习版｜据软件学院 2020 级郎骐玮的分享课件整理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了解大创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项目类型、组队规则、立项到结题的时间节点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决定做大创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是否需要、能否胜任、能得到什么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准备与立项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找方向、队友、老师；项目来源、类型、规划与答辩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执行与结项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开发、工程系统、科学问题三类项目的做法；成果周期与延期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资源与经验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329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论文网站、学习资源、工具，idea 从哪里来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画出一个大创项目从立项评审到优秀结题的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时间线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用「需要吗、能做吗」两组问题判断自己现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在该不该做大创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分清开发、工程系统、科学问题三类项目，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说出各自的执行步骤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说出立项等级可能和哪三方面有关，答辩前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该准备什么展示物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按剩余时间为结题挑一种现实的成果形式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2713" cy="909257"/>
            <a:chOff x="520446" y="342900"/>
            <a:chExt cx="80827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2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分享者的大创：先进老师课题，11 个月后国家级立项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033657" cy="278702"/>
            <a:chOff x="526161" y="1547336"/>
            <a:chExt cx="803365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033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分享者是软件学院数据科学与大数据技术专业 2020 级学生，下面是原课件第 4 页的两段经历。</a:t>
              </a:r>
            </a:p>
          </p:txBody>
        </p:sp>
      </p:grpSp>
      <p:grpSp>
        <p:nvGrpSpPr>
          <p:cNvPr id="43" name="c1-card-1"/>
          <p:cNvGrpSpPr/>
          <p:nvPr/>
        </p:nvGrpSpPr>
        <p:grpSpPr>
          <a:xfrm>
            <a:off x="533400" y="1941195"/>
            <a:ext cx="6059805" cy="4272915"/>
            <a:chOff x="533400" y="1941195"/>
            <a:chExt cx="6059805" cy="427291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272915"/>
            </a:xfrm>
            <a:prstGeom prst="roundRect">
              <a:avLst>
                <a:gd name="adj" fmla="val 3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4006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经历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从参与者到第一负责人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97255" y="2638425"/>
              <a:ext cx="19050" cy="7943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63905" y="24955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7529" y="2569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32889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529" y="3362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6147" y="2526982"/>
              <a:ext cx="2527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 年 6 月（大一下学期末）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7290" y="2794159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进入教育部重点实验室基金项目《基于知识演化的人才网络发现》，参与研究工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6147" y="3321368"/>
              <a:ext cx="2345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5 月（大二下学期）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7290" y="3588544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大创立项《基于学术知识图谱的可定制化学术资源采集方法研究》，国家级，本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人第一负责人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3905" y="4096702"/>
              <a:ext cx="56368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7493" y="42210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57834" y="4221004"/>
              <a:ext cx="890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2021 年 6 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56204" y="4221004"/>
              <a:ext cx="890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2022 年 5 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3918" y="46267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项目性质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04072" y="46267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老师的基金课题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02442" y="46267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大创项目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3905" y="4903470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908232"/>
              <a:ext cx="56368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3918" y="50325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本人角色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04072" y="50325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参与研究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02442" y="50325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第一负责人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3905" y="5309235"/>
              <a:ext cx="56368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918" y="54382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04072" y="543829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知识演化、人才网络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02442" y="543829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学术知识图谱、资源采集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3905" y="4096702"/>
              <a:ext cx="56368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99298" y="40967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197668" y="40967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8190" y="5825014"/>
              <a:ext cx="533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从参与老师课题到自己立项，相隔约 11 个月（2021 年 6 月到 2022 年 5 月）。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898005" y="1941195"/>
            <a:ext cx="4760595" cy="1466850"/>
            <a:chOff x="6898005" y="1941195"/>
            <a:chExt cx="4760595" cy="1466850"/>
          </a:xfrm>
        </p:grpSpPr>
        <p:sp>
          <p:nvSpPr>
            <p:cNvPr id="44" name="Rectangle 44"/>
            <p:cNvSpPr/>
            <p:nvPr/>
          </p:nvSpPr>
          <p:spPr>
            <a:xfrm>
              <a:off x="6898005" y="1941195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207454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851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1995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21652" y="2490788"/>
              <a:ext cx="40685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原课件写作「2022 年 5 月（大二上中旬）」。分享者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 年 9 月入学，大二上是 2021 年 9 月到 2022 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月，2022 年 5 月应为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大二下学期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898005" y="3583305"/>
            <a:ext cx="4760595" cy="2631758"/>
            <a:chOff x="6898005" y="3583305"/>
            <a:chExt cx="4760595" cy="2631758"/>
          </a:xfrm>
        </p:grpSpPr>
        <p:sp>
          <p:nvSpPr>
            <p:cNvPr id="50" name="Rectangle 50"/>
            <p:cNvSpPr/>
            <p:nvPr/>
          </p:nvSpPr>
          <p:spPr>
            <a:xfrm>
              <a:off x="6898005" y="3583305"/>
              <a:ext cx="4760595" cy="2631758"/>
            </a:xfrm>
            <a:prstGeom prst="roundRect">
              <a:avLst>
                <a:gd name="adj" fmla="val 506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90410" y="377571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61848" y="3810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可以借鉴的路径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098982" y="41881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55002" y="413194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先以参与者身份进老师的课题，熟悉方向和做法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98982" y="44910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55002" y="443484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两个题目都围绕学术知识和图结构数据，前一段经历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给立项攒下了前期基础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098982" y="50511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55002" y="499491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大二下正赶上学校集中做立项评审的 4–5 月（见第 6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098982" y="56102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55002" y="555402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在课题里做过的工作，立项答辩时可以当作前期工作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展示（见第 20 页）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了解大创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先弄清规则和一个项目要走过的时间节点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大创的全称与三类项目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组队与参与限制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立项、中期、结题、优秀结题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2261" cy="909257"/>
            <a:chOff x="520446" y="342900"/>
            <a:chExt cx="8642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了解大创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2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大创是什么：3 至 5 人组队，每人同时只能参加一个项目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kv-1"/>
          <p:cNvGrpSpPr/>
          <p:nvPr/>
        </p:nvGrpSpPr>
        <p:grpSpPr>
          <a:xfrm>
            <a:off x="526161" y="1547336"/>
            <a:ext cx="6067044" cy="3043810"/>
            <a:chOff x="526161" y="1547336"/>
            <a:chExt cx="6067044" cy="304381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5334" y="154733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大学生创新创业训练计划，简称「大创」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07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35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5334" y="196357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课外培养计划之一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669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798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5334" y="237982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创新训练项目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、创业训练项目、创业实践项目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83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27960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面向对象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25334" y="279606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主要面向大二本科生，大一也可以参与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994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32123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组队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25334" y="3212306"/>
              <a:ext cx="47033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必须组队申报（3 至 5 人），支持并鼓励跨专业、跨学科组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833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38962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参与限制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25334" y="389620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每人只能同时参加一个项目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1995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161" y="431244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5334" y="4312444"/>
              <a:ext cx="25569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项目完成时间基本为 1 至 2 年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715828"/>
            <a:ext cx="6059805" cy="1250632"/>
            <a:chOff x="533400" y="4715828"/>
            <a:chExt cx="6059805" cy="1250632"/>
          </a:xfrm>
        </p:grpSpPr>
        <p:sp>
          <p:nvSpPr>
            <p:cNvPr id="28" name="Rectangle 28"/>
            <p:cNvSpPr/>
            <p:nvPr/>
          </p:nvSpPr>
          <p:spPr>
            <a:xfrm>
              <a:off x="533400" y="4715828"/>
              <a:ext cx="605980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4917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9620" y="49139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1060" y="49482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381" y="527446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原课件写作「大学生创业创新训练计划」，正式名称是「大学生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新创业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训练计划」。</a:t>
              </a:r>
            </a:p>
          </p:txBody>
        </p:sp>
      </p:grpSp>
      <p:grpSp>
        <p:nvGrpSpPr>
          <p:cNvPr id="35" name="c1-text-3"/>
          <p:cNvGrpSpPr/>
          <p:nvPr/>
        </p:nvGrpSpPr>
        <p:grpSpPr>
          <a:xfrm>
            <a:off x="527304" y="6166485"/>
            <a:ext cx="4050792" cy="234696"/>
            <a:chOff x="527304" y="6166485"/>
            <a:chExt cx="4050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527304" y="616648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原课件注明这一页和下一页的规则引自往年老师的讲座。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898005" y="1524000"/>
            <a:ext cx="4760595" cy="3589020"/>
            <a:chOff x="6898005" y="1524000"/>
            <a:chExt cx="4760595" cy="3589020"/>
          </a:xfrm>
        </p:grpSpPr>
        <p:sp>
          <p:nvSpPr>
            <p:cNvPr id="36" name="Rectangle 36"/>
            <p:cNvSpPr/>
            <p:nvPr/>
          </p:nvSpPr>
          <p:spPr>
            <a:xfrm>
              <a:off x="6898005" y="1524000"/>
              <a:ext cx="4760595" cy="3589020"/>
            </a:xfrm>
            <a:prstGeom prst="roundRect">
              <a:avLst>
                <a:gd name="adj" fmla="val 37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7530" y="1657350"/>
              <a:ext cx="47625" cy="33223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3422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1766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三类项目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134225" y="2059305"/>
              <a:ext cx="432625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15238" y="21878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97593" y="21878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36714" y="2718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创新训练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34019" y="2611755"/>
              <a:ext cx="2602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在导师指导下完成创新性研究：设计方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案、实施研究、撰写报告、交流成果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34225" y="3116580"/>
              <a:ext cx="43262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34225" y="3121342"/>
              <a:ext cx="432625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36714" y="3356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创业训练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34019" y="3249930"/>
              <a:ext cx="2602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团队成员分角色编制商业计划书、做可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行性研究、模拟企业运行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34225" y="3754755"/>
              <a:ext cx="43262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36714" y="39947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创业实践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34019" y="3888105"/>
              <a:ext cx="2602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在学校导师和企业导师指导下，用已有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创新成果开展真实创业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34225" y="2059305"/>
              <a:ext cx="4326255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26768" y="2059305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28129" y="4506278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三类的说明按教育部对大创项目的分类补充；软件学院的项目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绝大多数是创新训练。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6898005" y="5293042"/>
            <a:ext cx="4760595" cy="1061085"/>
            <a:chOff x="6898005" y="5293042"/>
            <a:chExt cx="4760595" cy="1061085"/>
          </a:xfrm>
        </p:grpSpPr>
        <p:sp>
          <p:nvSpPr>
            <p:cNvPr id="56" name="Rectangle 56"/>
            <p:cNvSpPr/>
            <p:nvPr/>
          </p:nvSpPr>
          <p:spPr>
            <a:xfrm>
              <a:off x="6898005" y="5293042"/>
              <a:ext cx="4760595" cy="1061085"/>
            </a:xfrm>
            <a:prstGeom prst="roundRect">
              <a:avLst>
                <a:gd name="adj" fmla="val 107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02793" y="5723573"/>
              <a:ext cx="200026" cy="200025"/>
              <a:chOff x="7102793" y="572357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102793" y="57235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42531" y="57680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77247" y="58791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405116" y="5592604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同时只能参加一个项目，别随手加入一个不感兴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趣的项目占掉名额。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了解大创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时间节点：立项评审定级，中期检查，第二年结题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1790700"/>
            <a:ext cx="10813732" cy="809625"/>
            <a:chOff x="689610" y="1790700"/>
            <a:chExt cx="10813732" cy="809625"/>
          </a:xfrm>
        </p:grpSpPr>
        <p:sp>
          <p:nvSpPr>
            <p:cNvPr id="7" name="Freeform 7"/>
            <p:cNvSpPr/>
            <p:nvPr/>
          </p:nvSpPr>
          <p:spPr>
            <a:xfrm>
              <a:off x="2602230" y="219551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143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19551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143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19551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143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195512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143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1893570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1893570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1893570"/>
              <a:ext cx="19135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790700"/>
              <a:ext cx="1913572" cy="809625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1893570"/>
              <a:ext cx="1913572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5002" y="2008822"/>
              <a:ext cx="981837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第一年 4–5 月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56204" y="2008822"/>
              <a:ext cx="14295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确定级别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国家级 / 省级 / 校级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92674" y="2008822"/>
              <a:ext cx="14066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9–10 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 / 定级评审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7714" y="1905952"/>
              <a:ext cx="1406652" cy="646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月或 9–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进度检查 / 结题验收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2784" y="2008822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遴选优秀候选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上报学部 PK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33400" y="3047048"/>
            <a:ext cx="11125200" cy="2569845"/>
            <a:chOff x="533400" y="3047048"/>
            <a:chExt cx="11125200" cy="2569845"/>
          </a:xfrm>
        </p:grpSpPr>
        <p:sp>
          <p:nvSpPr>
            <p:cNvPr id="26" name="Rectangle 26"/>
            <p:cNvSpPr/>
            <p:nvPr/>
          </p:nvSpPr>
          <p:spPr>
            <a:xfrm>
              <a:off x="533400" y="3047048"/>
              <a:ext cx="11125200" cy="4629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24636" y="31789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72561" y="31789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7625" y="317896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要交或要做的事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746" y="36428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14968" y="3642836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月（一般 5 月中旬前后）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29644" y="364283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交申请书、参加立项答辩，评审确定国家级、省级或校级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690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73830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746" y="41057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4968" y="4105751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29644" y="410575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提交中期检查报告，同时可能进行定级评审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31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746" y="45696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结题验收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14968" y="4569619"/>
              <a:ext cx="21268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月或 9–10 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29644" y="456961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按进度参加进度检查或结题验收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8958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900612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746" y="5159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优秀结题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4968" y="51592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结题之后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29644" y="5032534"/>
              <a:ext cx="57853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从结题项目中遴选优秀候选，不超过结题数的 20%、10%（取整），上报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学部 PK 确定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047048"/>
              <a:ext cx="11125200" cy="25698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308860" y="3047048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423535" y="3047048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11704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立项评审在春季，申请书和前期工作要在寒假前后就开始准备，等通知发出再动手会很赶。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了解大创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例题：用时间节点推一个项目的日程，算优秀候选名额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5410200" cy="3756660"/>
            <a:chOff x="533400" y="1524000"/>
            <a:chExt cx="5410200" cy="37566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5666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899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4285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分享者 2022 年 5 月立项，后面的节点落在哪？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225742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81050" y="21145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4674" y="2188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651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4674" y="2838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4156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4674" y="3489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40671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674" y="41409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92530" y="2148840"/>
              <a:ext cx="1426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4–5 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93673" y="24426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立项评审，定为国家级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2530" y="2799398"/>
              <a:ext cx="1542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9–10 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3673" y="30932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第一年秋季，交中期检查报告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2530" y="3449955"/>
              <a:ext cx="1426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4–5 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3673" y="3743801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最早的结题验收窗口（周期 1 年）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2530" y="4101465"/>
              <a:ext cx="1542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9–10 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93673" y="4394359"/>
              <a:ext cx="3795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第二个窗口；再往后是 2024 年春（周期约 2 年）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573" y="4747736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按第 6 页的节点推算，不是分享者的实际日期。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248400" y="1524000"/>
            <a:ext cx="5410200" cy="3757612"/>
            <a:chOff x="6248400" y="1524000"/>
            <a:chExt cx="5410200" cy="375761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3757612"/>
            </a:xfrm>
            <a:prstGeom prst="roundRect">
              <a:avLst>
                <a:gd name="adj" fmla="val 35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34909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6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1838" y="1768792"/>
              <a:ext cx="2897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 N 项，优秀候选最多几项？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96050" y="2105025"/>
              <a:ext cx="49530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26403" y="22407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结题数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58358" y="2240756"/>
              <a:ext cx="44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×20%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93759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39558" y="2240756"/>
              <a:ext cx="44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×10%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74959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5362" y="268938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33314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486775" y="2563178"/>
              <a:ext cx="9715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18687" y="26893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14514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67975" y="2563178"/>
              <a:ext cx="97155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99887" y="26893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96050" y="299751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6050" y="300228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5362" y="313801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33314" y="31380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18687" y="31380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14514" y="31380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99887" y="313801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96050" y="344709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85362" y="358663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33314" y="358663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18687" y="35866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14514" y="358663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99887" y="358663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96050" y="2105025"/>
              <a:ext cx="49530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481888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472488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463088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53688" y="21050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88430" y="4020502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规则是「不超过」，所以乘出小数时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向下取整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：17 项的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 是 3.4，最多报 3 项。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89573" y="4637246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原课件没有写 20% 和 10% 分别对应哪一类项目，以当年学部通知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为准。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8425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23 项的 20% 是 4.6，按四舍五入会得到 5，超过了上限；带「不超过」的比例一律向下取整。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2459736" cy="2997517"/>
            <a:chOff x="667512" y="1835468"/>
            <a:chExt cx="245973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决定做大创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做之前先问自己三件事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你是否需要大创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你能否做大创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大创能带给你什么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决定做大创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该不该做：先问「需要吗」，再问「做得动吗」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7685" y="1524000"/>
            <a:ext cx="6065520" cy="3895249"/>
            <a:chOff x="527685" y="1524000"/>
            <a:chExt cx="6065520" cy="38952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3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719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7761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具体看什么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47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3416" y="2108359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课内学业压力、自学、英语、建模、编程、资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料搜寻、领导、团队协作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47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3416" y="2783681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学业、科研、学生工作之间的时间怎么分配和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是否需要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4723" y="3572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兴趣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3416" y="3459004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是否真正对科研或工程问题感兴趣（打算考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公、选调、考研的同学尤其要想）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是否需要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4723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3416" y="4134326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是否对某一领域或方向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真正感兴趣或有实际的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了解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810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是否需要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4723" y="4810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3416" y="481060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是否有保研或出国的需求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3599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62138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30830" y="1524000"/>
              <a:ext cx="9525" cy="3599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199221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10 页的五条，按「需要 / 能做」两组重排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5565458"/>
            <a:ext cx="6059805" cy="533400"/>
            <a:chOff x="533400" y="5565458"/>
            <a:chExt cx="6059805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565458"/>
              <a:ext cx="6059805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732145"/>
              <a:ext cx="200026" cy="200026"/>
              <a:chOff x="738188" y="573214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7321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7988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8321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727382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第三个问题「大创能带给你什么」见下一页。</a:t>
              </a:r>
            </a:p>
          </p:txBody>
        </p:sp>
      </p:grpSp>
      <p:grpSp>
        <p:nvGrpSpPr>
          <p:cNvPr id="84" name="c2-flow-1"/>
          <p:cNvGrpSpPr/>
          <p:nvPr/>
        </p:nvGrpSpPr>
        <p:grpSpPr>
          <a:xfrm>
            <a:off x="7064692" y="1667828"/>
            <a:ext cx="4427220" cy="3950017"/>
            <a:chOff x="7064692" y="1667828"/>
            <a:chExt cx="4427220" cy="3950017"/>
          </a:xfrm>
        </p:grpSpPr>
        <p:sp>
          <p:nvSpPr>
            <p:cNvPr id="44" name="Freeform 44"/>
            <p:cNvSpPr/>
            <p:nvPr/>
          </p:nvSpPr>
          <p:spPr>
            <a:xfrm>
              <a:off x="9111615" y="2077402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40215" y="2025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087678" y="2486978"/>
              <a:ext cx="9525" cy="182880"/>
            </a:xfrm>
            <a:custGeom>
              <a:avLst/>
              <a:gdLst/>
              <a:ahLst/>
              <a:cxnLst/>
              <a:rect l="l" t="t" r="r" b="b"/>
              <a:pathLst>
                <a:path w="9525" h="182880">
                  <a:moveTo>
                    <a:pt x="0" y="0"/>
                  </a:moveTo>
                  <a:lnTo>
                    <a:pt x="0" y="182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035290" y="26698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111615" y="3184208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340215" y="31318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087678" y="3594735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035290" y="3776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111615" y="429196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340215" y="4239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087678" y="4701540"/>
              <a:ext cx="1190625" cy="373380"/>
            </a:xfrm>
            <a:custGeom>
              <a:avLst/>
              <a:gdLst/>
              <a:ahLst/>
              <a:cxnLst/>
              <a:rect l="l" t="t" r="r" b="b"/>
              <a:pathLst>
                <a:path w="1190625" h="373380">
                  <a:moveTo>
                    <a:pt x="0" y="0"/>
                  </a:moveTo>
                  <a:lnTo>
                    <a:pt x="0" y="239078"/>
                  </a:lnTo>
                  <a:lnTo>
                    <a:pt x="1190625" y="239078"/>
                  </a:lnTo>
                  <a:lnTo>
                    <a:pt x="1190625" y="373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225915" y="5074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278302" y="4606290"/>
              <a:ext cx="1189672" cy="468630"/>
            </a:xfrm>
            <a:custGeom>
              <a:avLst/>
              <a:gdLst/>
              <a:ahLst/>
              <a:cxnLst/>
              <a:rect l="l" t="t" r="r" b="b"/>
              <a:pathLst>
                <a:path w="1189672" h="468630">
                  <a:moveTo>
                    <a:pt x="1189672" y="0"/>
                  </a:moveTo>
                  <a:lnTo>
                    <a:pt x="1189672" y="286703"/>
                  </a:lnTo>
                  <a:lnTo>
                    <a:pt x="0" y="286703"/>
                  </a:lnTo>
                  <a:lnTo>
                    <a:pt x="0" y="468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25915" y="5074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064692" y="1667828"/>
              <a:ext cx="2046922" cy="819150"/>
            </a:xfrm>
            <a:custGeom>
              <a:avLst/>
              <a:gdLst/>
              <a:ahLst/>
              <a:cxnLst/>
              <a:rect l="l" t="t" r="r" b="b"/>
              <a:pathLst>
                <a:path w="2046922" h="819150">
                  <a:moveTo>
                    <a:pt x="1022985" y="0"/>
                  </a:moveTo>
                  <a:lnTo>
                    <a:pt x="2046922" y="409575"/>
                  </a:lnTo>
                  <a:lnTo>
                    <a:pt x="1022985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444990" y="1763078"/>
              <a:ext cx="204692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064692" y="2774632"/>
              <a:ext cx="2046922" cy="820102"/>
            </a:xfrm>
            <a:custGeom>
              <a:avLst/>
              <a:gdLst/>
              <a:ahLst/>
              <a:cxnLst/>
              <a:rect l="l" t="t" r="r" b="b"/>
              <a:pathLst>
                <a:path w="2046922" h="820102">
                  <a:moveTo>
                    <a:pt x="1022985" y="0"/>
                  </a:moveTo>
                  <a:lnTo>
                    <a:pt x="2046922" y="409575"/>
                  </a:lnTo>
                  <a:lnTo>
                    <a:pt x="1022985" y="820102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444990" y="2869882"/>
              <a:ext cx="204692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064692" y="3881438"/>
              <a:ext cx="2046922" cy="820103"/>
            </a:xfrm>
            <a:custGeom>
              <a:avLst/>
              <a:gdLst/>
              <a:ahLst/>
              <a:cxnLst/>
              <a:rect l="l" t="t" r="r" b="b"/>
              <a:pathLst>
                <a:path w="2046922" h="820103">
                  <a:moveTo>
                    <a:pt x="1022985" y="0"/>
                  </a:moveTo>
                  <a:lnTo>
                    <a:pt x="2046922" y="410528"/>
                  </a:lnTo>
                  <a:lnTo>
                    <a:pt x="1022985" y="820103"/>
                  </a:lnTo>
                  <a:lnTo>
                    <a:pt x="0" y="41052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444990" y="3976688"/>
              <a:ext cx="204692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30428" y="5179695"/>
              <a:ext cx="4094798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12241" y="1878806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有保研出国需求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或真有兴趣？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11258" y="187880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先不急着申报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可跟项目旁听了解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74801" y="298656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能力、精力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跟得上吗？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92538" y="2986564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先补短板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或调整时间分配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93520" y="409336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对某个方向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有实际了解？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98202" y="4093369"/>
              <a:ext cx="9395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先找方向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13 页）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37944" y="530971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开始准备：找队友、找老师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130665" y="186118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68956" y="18878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116252" y="250983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139494" y="25365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30665" y="29679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68956" y="2994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116252" y="361759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139494" y="36442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130665" y="407574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168956" y="410241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449628" y="47244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487918" y="47510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86" name="c2-text-2"/>
          <p:cNvGrpSpPr/>
          <p:nvPr/>
        </p:nvGrpSpPr>
        <p:grpSpPr>
          <a:xfrm>
            <a:off x="6891528" y="6163151"/>
            <a:ext cx="3459226" cy="249364"/>
            <a:chOff x="6891528" y="6163151"/>
            <a:chExt cx="3459226" cy="249364"/>
          </a:xfrm>
        </p:grpSpPr>
        <p:sp>
          <p:nvSpPr>
            <p:cNvPr id="85" name="TextBox 85"/>
            <p:cNvSpPr txBox="1"/>
            <p:nvPr/>
          </p:nvSpPr>
          <p:spPr>
            <a:xfrm>
              <a:off x="6891528" y="61631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判断流程为本讲义按原课件的五条问题整理。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决定做大创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大创能带给你什么：科研经历和工程经历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ompare-1"/>
          <p:cNvGrpSpPr/>
          <p:nvPr/>
        </p:nvGrpSpPr>
        <p:grpSpPr>
          <a:xfrm>
            <a:off x="533400" y="1524000"/>
            <a:ext cx="11125200" cy="2324100"/>
            <a:chOff x="533400" y="1524000"/>
            <a:chExt cx="1112520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14950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科研经历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快速进入、了解一个陌生领域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快速放下原有知识，把原有思维迁移到新知识的学习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上（增量学习）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318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8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快速上手模型代码，调试和训练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671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4042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功利角度：有成果产出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43650" y="1524000"/>
              <a:ext cx="5314950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5317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368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工程经历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701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130" y="21126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走一遍大型系统的开发过程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7015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5130" y="2447925"/>
              <a:ext cx="2488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在调试中积累大量 bug 经验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7015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5130" y="27832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功利角度：软著、专利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95975" y="248602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49315" y="26203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</a:t>
              </a:r>
            </a:p>
          </p:txBody>
        </p:sp>
      </p:grpSp>
      <p:grpSp>
        <p:nvGrpSpPr>
          <p:cNvPr id="50" name="c1-table-2"/>
          <p:cNvGrpSpPr/>
          <p:nvPr/>
        </p:nvGrpSpPr>
        <p:grpSpPr>
          <a:xfrm>
            <a:off x="527685" y="4038600"/>
            <a:ext cx="11130915" cy="1642587"/>
            <a:chOff x="527685" y="4038600"/>
            <a:chExt cx="11130915" cy="1642587"/>
          </a:xfrm>
        </p:grpSpPr>
        <p:sp>
          <p:nvSpPr>
            <p:cNvPr id="30" name="Rectangle 30"/>
            <p:cNvSpPr/>
            <p:nvPr/>
          </p:nvSpPr>
          <p:spPr>
            <a:xfrm>
              <a:off x="533400" y="40386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3754" y="4174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1526" y="4174331"/>
              <a:ext cx="221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对应的项目类型（第 17 页）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4041" y="41743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常见成果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94089" y="41743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对后续去向的帮助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1223" y="46229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科研经历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98560" y="46229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科学问题，或偏研究的工程系统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36120" y="46229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28863" y="46229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保研、出国申请最看重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9310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9358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1223" y="5071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工程经历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98560" y="50715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开发、工程系统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6120" y="50715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软著、专利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28863" y="50715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求职时可以当项目经历讲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038600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085975" y="40386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3535" y="40386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16278" y="40386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546115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后两列为本讲义所加的对照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立项前就想清楚要哪一类经历，项目类型和预期成果跟着定，结题时不会临时抓瞎。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081528" cy="2997517"/>
            <a:chOff x="667512" y="1835468"/>
            <a:chExt cx="3081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准备与立项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运营一个大创的前两步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准备：找方向、找队友、找老师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立项：项目来源、类型、规划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立项等级可能和什么有关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运营时间线：准备、立项、执行、结项四步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flow-1"/>
          <p:cNvGrpSpPr/>
          <p:nvPr/>
        </p:nvGrpSpPr>
        <p:grpSpPr>
          <a:xfrm>
            <a:off x="727710" y="1617345"/>
            <a:ext cx="10736580" cy="1627823"/>
            <a:chOff x="727710" y="1617345"/>
            <a:chExt cx="10736580" cy="1627823"/>
          </a:xfrm>
        </p:grpSpPr>
        <p:sp>
          <p:nvSpPr>
            <p:cNvPr id="7" name="Freeform 7"/>
            <p:cNvSpPr/>
            <p:nvPr/>
          </p:nvSpPr>
          <p:spPr>
            <a:xfrm>
              <a:off x="3120390" y="181070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175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181070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175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82990" y="181070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66835" y="1758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24050" y="199834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05350" y="199834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486650" y="199834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267950" y="199834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924050" y="2767965"/>
              <a:ext cx="9525" cy="100012"/>
            </a:xfrm>
            <a:custGeom>
              <a:avLst/>
              <a:gdLst/>
              <a:ahLst/>
              <a:cxnLst/>
              <a:rect l="l" t="t" r="r" b="b"/>
              <a:pathLst>
                <a:path w="9525" h="100012">
                  <a:moveTo>
                    <a:pt x="0" y="0"/>
                  </a:moveTo>
                  <a:lnTo>
                    <a:pt x="0" y="100012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871662" y="27632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509010" y="2383155"/>
              <a:ext cx="2287905" cy="572453"/>
            </a:xfrm>
            <a:custGeom>
              <a:avLst/>
              <a:gdLst/>
              <a:ahLst/>
              <a:cxnLst/>
              <a:rect l="l" t="t" r="r" b="b"/>
              <a:pathLst>
                <a:path w="2287905" h="572453">
                  <a:moveTo>
                    <a:pt x="0" y="0"/>
                  </a:moveTo>
                  <a:lnTo>
                    <a:pt x="1196340" y="0"/>
                  </a:lnTo>
                  <a:lnTo>
                    <a:pt x="1196340" y="572453"/>
                  </a:lnTo>
                  <a:lnTo>
                    <a:pt x="2287905" y="572453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5796915" y="29032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290310" y="2383155"/>
              <a:ext cx="2287905" cy="572453"/>
            </a:xfrm>
            <a:custGeom>
              <a:avLst/>
              <a:gdLst/>
              <a:ahLst/>
              <a:cxnLst/>
              <a:rect l="l" t="t" r="r" b="b"/>
              <a:pathLst>
                <a:path w="2287905" h="572453">
                  <a:moveTo>
                    <a:pt x="0" y="0"/>
                  </a:moveTo>
                  <a:lnTo>
                    <a:pt x="1196340" y="0"/>
                  </a:lnTo>
                  <a:lnTo>
                    <a:pt x="1196340" y="572453"/>
                  </a:lnTo>
                  <a:lnTo>
                    <a:pt x="2287905" y="572453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8578215" y="29032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071610" y="2383155"/>
              <a:ext cx="2287905" cy="572453"/>
            </a:xfrm>
            <a:custGeom>
              <a:avLst/>
              <a:gdLst/>
              <a:ahLst/>
              <a:cxnLst/>
              <a:rect l="l" t="t" r="r" b="b"/>
              <a:pathLst>
                <a:path w="2287905" h="572453">
                  <a:moveTo>
                    <a:pt x="0" y="0"/>
                  </a:moveTo>
                  <a:lnTo>
                    <a:pt x="1196340" y="0"/>
                  </a:lnTo>
                  <a:lnTo>
                    <a:pt x="1196340" y="572453"/>
                  </a:lnTo>
                  <a:lnTo>
                    <a:pt x="2287905" y="572453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11359515" y="29032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7710" y="1617345"/>
              <a:ext cx="2391728" cy="385762"/>
            </a:xfrm>
            <a:prstGeom prst="roundRect">
              <a:avLst>
                <a:gd name="adj" fmla="val 4987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09010" y="1617345"/>
              <a:ext cx="2391728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90310" y="1617345"/>
              <a:ext cx="2391728" cy="385762"/>
            </a:xfrm>
            <a:prstGeom prst="roundRect">
              <a:avLst>
                <a:gd name="adj" fmla="val 2469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71610" y="1617345"/>
              <a:ext cx="2391728" cy="385762"/>
            </a:xfrm>
            <a:prstGeom prst="roundRect">
              <a:avLst>
                <a:gd name="adj" fmla="val 4987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7710" y="1998345"/>
              <a:ext cx="2391728" cy="770572"/>
            </a:xfrm>
            <a:prstGeom prst="roundRect">
              <a:avLst>
                <a:gd name="adj" fmla="val 1236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09010" y="1998345"/>
              <a:ext cx="2391728" cy="770572"/>
            </a:xfrm>
            <a:prstGeom prst="roundRect">
              <a:avLst>
                <a:gd name="adj" fmla="val 1236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90310" y="1998345"/>
              <a:ext cx="2391728" cy="770572"/>
            </a:xfrm>
            <a:prstGeom prst="roundRect">
              <a:avLst>
                <a:gd name="adj" fmla="val 1236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071610" y="1998345"/>
              <a:ext cx="2391728" cy="770572"/>
            </a:xfrm>
            <a:prstGeom prst="roundRect">
              <a:avLst>
                <a:gd name="adj" fmla="val 1236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7710" y="2763202"/>
              <a:ext cx="2391728" cy="385762"/>
            </a:xfrm>
            <a:prstGeom prst="roundRect">
              <a:avLst>
                <a:gd name="adj" fmla="val 1975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509010" y="2667000"/>
              <a:ext cx="2391728" cy="578168"/>
            </a:xfrm>
            <a:prstGeom prst="roundRect">
              <a:avLst>
                <a:gd name="adj" fmla="val 1318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90310" y="2667000"/>
              <a:ext cx="2391728" cy="578168"/>
            </a:xfrm>
            <a:prstGeom prst="roundRect">
              <a:avLst>
                <a:gd name="adj" fmla="val 1318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071610" y="2667000"/>
              <a:ext cx="2391728" cy="578168"/>
            </a:xfrm>
            <a:prstGeom prst="roundRect">
              <a:avLst>
                <a:gd name="adj" fmla="val 1318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700278" y="173212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准备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4781" y="173212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立项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66081" y="173212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执行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44178" y="173212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结项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04975" y="2111216"/>
              <a:ext cx="438150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找方向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找队友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44035" y="2111216"/>
              <a:ext cx="722630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项目怎么来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项目的类型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项目规划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96455" y="2111216"/>
              <a:ext cx="580390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工程系统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19995" y="2111216"/>
              <a:ext cx="295910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66012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申报通知之前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55135" y="2780824"/>
              <a:ext cx="9004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4–5 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7535" y="2780824"/>
              <a:ext cx="10782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立项后到结题前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月中期检查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78619" y="2780824"/>
              <a:ext cx="97866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9–10 月结题</a:t>
              </a:r>
            </a:p>
          </p:txBody>
        </p:sp>
      </p:grpSp>
      <p:grpSp>
        <p:nvGrpSpPr>
          <p:cNvPr id="75" name="c1-table-2"/>
          <p:cNvGrpSpPr/>
          <p:nvPr/>
        </p:nvGrpSpPr>
        <p:grpSpPr>
          <a:xfrm>
            <a:off x="528447" y="3411855"/>
            <a:ext cx="11130153" cy="2264759"/>
            <a:chOff x="528447" y="3411855"/>
            <a:chExt cx="11130153" cy="2264759"/>
          </a:xfrm>
        </p:grpSpPr>
        <p:sp>
          <p:nvSpPr>
            <p:cNvPr id="50" name="Rectangle 50"/>
            <p:cNvSpPr/>
            <p:nvPr/>
          </p:nvSpPr>
          <p:spPr>
            <a:xfrm>
              <a:off x="533400" y="3411855"/>
              <a:ext cx="11125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56056" y="35332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98809" y="353329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这一步结束时手里应该有什么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12476" y="35332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0555" y="39333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87892" y="3933349"/>
              <a:ext cx="3976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一个大致方向、一支 3 至 5 人的队伍、一位愿意指导的老师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75533" y="3933349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13–15 页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21195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0555" y="43333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87892" y="4333399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申请书、前期工作展示物，以及答辩后确定的立项级别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75533" y="4333399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16–20 页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6072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0555" y="47334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187892" y="4733449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中期检查报告，能演示的系统或能说明问题的实验结果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75533" y="4733449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22–24 页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50072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3400" y="501205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0555" y="51334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187892" y="513349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至少一项成果（软著、论文或专利）和结题材料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75533" y="5133499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25–27 页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3411855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2085975" y="341185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873615" y="341185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28447" y="5485924"/>
              <a:ext cx="26088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四步出自原课件第 13 页，表格为本讲义所加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6" name="Rectangle 7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8373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四步里最容易被压缩的是准备：立项评审只看你拿出来的前期工作，准备不足的项目很难定到高级别。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找方向：挑自己感兴趣、还能做的，避开三类方向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1365885"/>
            <a:chOff x="533400" y="1524000"/>
            <a:chExt cx="6059805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挑什么方向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自己感兴趣的方向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比较热门，或者还能做、比较好做的方向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3080385"/>
            <a:ext cx="6065520" cy="2544604"/>
            <a:chOff x="527685" y="3080385"/>
            <a:chExt cx="6065520" cy="2544604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897" y="32161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尽量不要碰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73540" y="32161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90528" y="32161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" y="3664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红海方向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5690" y="36647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做的人太多，很难做出差别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7883" y="36647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近一两年同类论文扎堆出现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728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7764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267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太古老的方向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5690" y="42267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能挖的问题所剩不多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7883" y="411337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近三到五年的顶刊顶会里很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491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788694"/>
              <a:ext cx="105496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Baseline 太高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95690" y="478869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纯研究刷点，本科生的算力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和时间拼不过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97883" y="478869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榜单上的提升只剩零点几个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080385"/>
              <a:ext cx="605980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83105" y="308038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85298" y="308038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404961"/>
              <a:ext cx="3283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第一列出自原课件第 15 页，后两列为本讲义补充</a:t>
              </a:r>
            </a:p>
          </p:txBody>
        </p:sp>
      </p:grpSp>
      <p:grpSp>
        <p:nvGrpSpPr>
          <p:cNvPr id="54" name="c2-steps-1"/>
          <p:cNvGrpSpPr/>
          <p:nvPr/>
        </p:nvGrpSpPr>
        <p:grpSpPr>
          <a:xfrm>
            <a:off x="6898005" y="1533525"/>
            <a:ext cx="3733998" cy="2529173"/>
            <a:chOff x="6898005" y="1533525"/>
            <a:chExt cx="3733998" cy="2529173"/>
          </a:xfrm>
        </p:grpSpPr>
        <p:sp>
          <p:nvSpPr>
            <p:cNvPr id="37" name="Rectangle 37"/>
            <p:cNvSpPr/>
            <p:nvPr/>
          </p:nvSpPr>
          <p:spPr>
            <a:xfrm>
              <a:off x="703135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8005" y="34861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162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9485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列候选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0628" y="18616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写下两三个感兴趣的方向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09485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查现状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0628" y="251221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各找一篇综述和近三到五年的顶刊顶会论文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948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排除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0628" y="3162776"/>
              <a:ext cx="3321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按左表划掉红海、太古老、baseline 太高的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9485" y="35204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带着方向找人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0628" y="38133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用剩下的方向去找队友和老师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898005" y="4241482"/>
            <a:ext cx="4760595" cy="1339215"/>
            <a:chOff x="6898005" y="4241482"/>
            <a:chExt cx="4760595" cy="1339215"/>
          </a:xfrm>
        </p:grpSpPr>
        <p:sp>
          <p:nvSpPr>
            <p:cNvPr id="55" name="Rectangle 55"/>
            <p:cNvSpPr/>
            <p:nvPr/>
          </p:nvSpPr>
          <p:spPr>
            <a:xfrm>
              <a:off x="6898005" y="4241482"/>
              <a:ext cx="4760595" cy="1339215"/>
            </a:xfrm>
            <a:prstGeom prst="roundRect">
              <a:avLst>
                <a:gd name="adj" fmla="val 85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102793" y="4811078"/>
              <a:ext cx="200026" cy="200025"/>
              <a:chOff x="7102793" y="481107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02793" y="48110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42531" y="48555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77247" y="49666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404735" y="466820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方向定下来之后，队友和老师都按这个方向去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找，后面三步才接得上。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找队友：推荐在找老师之前，负责人要看能力互补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7685" y="1524000"/>
            <a:ext cx="5848350" cy="2993232"/>
            <a:chOff x="527685" y="1524000"/>
            <a:chExt cx="5848350" cy="29932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28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4949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原课件的建议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77618" y="21083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找老师之前或之后都行，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推荐之前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我想当什么角色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7618" y="2556986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负责人，或参与者（本院项目，或给别的学院的项目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「打工」）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当挂件行不行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7618" y="32323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79428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负责人要考虑什么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7618" y="3680936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自己和队友的能力是补充还是互助，以及各自擅长的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6503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685" y="4297204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16 页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663440"/>
            <a:ext cx="5842635" cy="1316355"/>
            <a:chOff x="533400" y="4663440"/>
            <a:chExt cx="5842635" cy="1316355"/>
          </a:xfrm>
        </p:grpSpPr>
        <p:sp>
          <p:nvSpPr>
            <p:cNvPr id="27" name="Rectangle 27"/>
            <p:cNvSpPr/>
            <p:nvPr/>
          </p:nvSpPr>
          <p:spPr>
            <a:xfrm>
              <a:off x="533400" y="466344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79679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487299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5655" y="490870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为什么推荐先组队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525018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带着成形的团队和方向去找老师，老师能直接判断这个组能不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能做成，比一个人去问「能不能带我」更容易被接收。</a:t>
              </a:r>
            </a:p>
          </p:txBody>
        </p:sp>
      </p:grpSp>
      <p:grpSp>
        <p:nvGrpSpPr>
          <p:cNvPr id="54" name="c2-graph-1"/>
          <p:cNvGrpSpPr/>
          <p:nvPr/>
        </p:nvGrpSpPr>
        <p:grpSpPr>
          <a:xfrm>
            <a:off x="7213282" y="1555909"/>
            <a:ext cx="3912870" cy="4578572"/>
            <a:chOff x="7213282" y="1555909"/>
            <a:chExt cx="3912870" cy="4578572"/>
          </a:xfrm>
        </p:grpSpPr>
        <p:sp>
          <p:nvSpPr>
            <p:cNvPr id="33" name="Freeform 33"/>
            <p:cNvSpPr/>
            <p:nvPr/>
          </p:nvSpPr>
          <p:spPr>
            <a:xfrm>
              <a:off x="8142922" y="2584132"/>
              <a:ext cx="859155" cy="1460182"/>
            </a:xfrm>
            <a:custGeom>
              <a:avLst/>
              <a:gdLst/>
              <a:ahLst/>
              <a:cxnLst/>
              <a:rect l="l" t="t" r="r" b="b"/>
              <a:pathLst>
                <a:path w="859155" h="1460182">
                  <a:moveTo>
                    <a:pt x="859155" y="0"/>
                  </a:moveTo>
                  <a:lnTo>
                    <a:pt x="0" y="14601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338310" y="2584132"/>
              <a:ext cx="858203" cy="1460182"/>
            </a:xfrm>
            <a:custGeom>
              <a:avLst/>
              <a:gdLst/>
              <a:ahLst/>
              <a:cxnLst/>
              <a:rect l="l" t="t" r="r" b="b"/>
              <a:pathLst>
                <a:path w="858203" h="1460182">
                  <a:moveTo>
                    <a:pt x="0" y="0"/>
                  </a:moveTo>
                  <a:lnTo>
                    <a:pt x="858203" y="14601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832532" y="4330065"/>
              <a:ext cx="674370" cy="9525"/>
            </a:xfrm>
            <a:custGeom>
              <a:avLst/>
              <a:gdLst/>
              <a:ahLst/>
              <a:cxnLst/>
              <a:rect l="l" t="t" r="r" b="b"/>
              <a:pathLst>
                <a:path w="674370" h="9525">
                  <a:moveTo>
                    <a:pt x="0" y="0"/>
                  </a:moveTo>
                  <a:lnTo>
                    <a:pt x="6743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9506902" y="4282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737282" y="4282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169718" y="2584132"/>
              <a:ext cx="9525" cy="3047048"/>
            </a:xfrm>
            <a:custGeom>
              <a:avLst/>
              <a:gdLst/>
              <a:ahLst/>
              <a:cxnLst/>
              <a:rect l="l" t="t" r="r" b="b"/>
              <a:pathLst>
                <a:path w="9525" h="3047048">
                  <a:moveTo>
                    <a:pt x="0" y="0"/>
                  </a:moveTo>
                  <a:lnTo>
                    <a:pt x="0" y="3047048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8264842" y="2012632"/>
              <a:ext cx="1809750" cy="5715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13282" y="4044315"/>
              <a:ext cx="15240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02152" y="4044315"/>
              <a:ext cx="152400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455342" y="5631180"/>
              <a:ext cx="1428750" cy="495300"/>
            </a:xfrm>
            <a:prstGeom prst="roundRect">
              <a:avLst>
                <a:gd name="adj" fmla="val 19231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21306" y="2127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36674" y="23183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统筹进度、对接老师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6870" y="41605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03782" y="435102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本院或跨院项目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15740" y="41605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11880" y="435102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能力与负责人互补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02078" y="5709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挂件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9762" y="58997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挂名不干活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007792" y="423767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32837" y="42724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互助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57045" y="155590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三种角色，最下面的挂件不可取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找老师：方向尽量一致；老师负责掌舵，路要自己走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1651635"/>
            <a:chOff x="533400" y="1524000"/>
            <a:chExt cx="6059805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找老师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途径：自己上过的课、学长或同学推荐、学院官网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方向：尽量和你想做的方向一致或相近，其余标准和找方向一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366135"/>
            <a:ext cx="6059805" cy="2272665"/>
            <a:chOff x="533400" y="3366135"/>
            <a:chExt cx="6059805" cy="2272665"/>
          </a:xfrm>
        </p:grpSpPr>
        <p:sp>
          <p:nvSpPr>
            <p:cNvPr id="16" name="Rectangle 16"/>
            <p:cNvSpPr/>
            <p:nvPr/>
          </p:nvSpPr>
          <p:spPr>
            <a:xfrm>
              <a:off x="533400" y="3366135"/>
              <a:ext cx="6059805" cy="2272665"/>
            </a:xfrm>
            <a:prstGeom prst="roundRect">
              <a:avLst>
                <a:gd name="adj" fmla="val 586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357568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7555" y="36114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导师对项目的影响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8665" y="40157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780" y="39528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尽可能做什么方向就找什么老师，但实际上很难完全对上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8665" y="43510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0" y="42881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子项目性质的项目：老师带一个大项目组，里面有好多子项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目，老师的方向未必和每个子项目一致，但会共同指导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8665" y="497205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6780" y="490918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老师的作用是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掌舵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：科研怎么做、技术怎么学，大部分还要靠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自己摸索，这也是在培养科研思维</a:t>
              </a:r>
            </a:p>
          </p:txBody>
        </p:sp>
      </p:grpSp>
      <p:grpSp>
        <p:nvGrpSpPr>
          <p:cNvPr id="27" name="c1-text-3"/>
          <p:cNvGrpSpPr/>
          <p:nvPr/>
        </p:nvGrpSpPr>
        <p:grpSpPr>
          <a:xfrm>
            <a:off x="526923" y="5850731"/>
            <a:ext cx="2321956" cy="249364"/>
            <a:chOff x="526923" y="5850731"/>
            <a:chExt cx="2321956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850731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17 页和第 34 页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764843" y="518969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老师把住舵、指方向，划船和看图靠学生自己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项目怎么来：自己想的自由度大，老师的课题更容易找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ompare-1"/>
          <p:cNvGrpSpPr/>
          <p:nvPr/>
        </p:nvGrpSpPr>
        <p:grpSpPr>
          <a:xfrm>
            <a:off x="533400" y="1524000"/>
            <a:ext cx="6059804" cy="2324100"/>
            <a:chOff x="533400" y="1524000"/>
            <a:chExt cx="6059804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820352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自由度较大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老师接收的难度也较大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32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来源：目前的热点方向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813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1848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来源：自己想做的东西，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如开发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72852" y="1524000"/>
              <a:ext cx="2820352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82378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12882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老师的课题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026218" y="2175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84332" y="21126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自由度较小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026218" y="2510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84332" y="2447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更容易找到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026218" y="28460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84332" y="278320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常见形式：老师课题的子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401378" y="25241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71718" y="26203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038600"/>
            <a:ext cx="6059805" cy="1898332"/>
            <a:chOff x="533400" y="4038600"/>
            <a:chExt cx="6059805" cy="1898332"/>
          </a:xfrm>
        </p:grpSpPr>
        <p:sp>
          <p:nvSpPr>
            <p:cNvPr id="30" name="Rectangle 30"/>
            <p:cNvSpPr/>
            <p:nvPr/>
          </p:nvSpPr>
          <p:spPr>
            <a:xfrm>
              <a:off x="533400" y="4038600"/>
              <a:ext cx="6059805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17195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" y="42481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4507" y="42838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子课题是什么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3430" y="4625340"/>
              <a:ext cx="534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老师带着一个大项目组，把大课题拆成若干小方向，其中一个交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给本科生团队做成大创。老师的方向未必和每个子课题完全一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致，但会和组里一起指导（原课件第 34 页）。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573" y="5528786"/>
              <a:ext cx="2373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左右两栏出自原课件第 19 页。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892290" y="1524000"/>
            <a:ext cx="4766310" cy="2771299"/>
            <a:chOff x="6892290" y="1524000"/>
            <a:chExt cx="4766310" cy="2771299"/>
          </a:xfrm>
        </p:grpSpPr>
        <p:sp>
          <p:nvSpPr>
            <p:cNvPr id="37" name="Rectangle 37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9369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你的情况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463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05828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方向还不熟，没读过几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篇论文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0037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接老师的子课题，边做边熟悉领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26431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98005" y="2647950"/>
              <a:ext cx="476059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5828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已有具体想法和一些调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00376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可以自己提题，再找方向一致的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898005" y="33194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05828" y="35723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想做一个应用或系统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00376" y="345900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自己提题较常见，先找找已有的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类似应用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98005" y="1524000"/>
              <a:ext cx="476059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8779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92290" y="407527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本讲义按左侧两种来源的特点整理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898005" y="4441508"/>
            <a:ext cx="4760595" cy="1495425"/>
            <a:chOff x="6898005" y="4441508"/>
            <a:chExt cx="4760595" cy="1495425"/>
          </a:xfrm>
        </p:grpSpPr>
        <p:sp>
          <p:nvSpPr>
            <p:cNvPr id="53" name="Rectangle 53"/>
            <p:cNvSpPr/>
            <p:nvPr/>
          </p:nvSpPr>
          <p:spPr>
            <a:xfrm>
              <a:off x="6898005" y="4441508"/>
              <a:ext cx="4760595" cy="1495425"/>
            </a:xfrm>
            <a:prstGeom prst="roundRect">
              <a:avLst>
                <a:gd name="adj" fmla="val 764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090734" y="5085516"/>
              <a:ext cx="224134" cy="192560"/>
              <a:chOff x="7090734" y="5085516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202805" y="51558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90734" y="50855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02805" y="52336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404735" y="494633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自己想的题目如果没做过调研，老师很难判断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能不能做成，接收的可能性更低。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项目的类型：开发、工程系统、科学问题，难度递增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75809" cy="278702"/>
            <a:chOff x="526161" y="1547336"/>
            <a:chExt cx="51758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这是分享者个人的分法，可能和其他同学或老师的说法不同。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28066" y="1941195"/>
            <a:ext cx="11130534" cy="2779014"/>
            <a:chOff x="528066" y="1941195"/>
            <a:chExt cx="11130534" cy="2779014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395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81288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难度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48834" y="20697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62150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执行要点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87190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常见成果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2270" y="26346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9607" y="263461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easy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46944" y="2634615"/>
              <a:ext cx="1536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简单的 APP 开发等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07389" y="2514600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需求、技术、分工开发测试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21 页）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55314" y="26346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660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070860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3185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工程系统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9607" y="3318510"/>
              <a:ext cx="1249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medium / hard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46944" y="3198495"/>
              <a:ext cx="29283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面向实际问题的复杂系统开发或数据挖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掘，一般是从 0 到 1 的工作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7389" y="3198495"/>
              <a:ext cx="210540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模块、方法、数据、v1.0、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迭代（第 22 页）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55314" y="33185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软著、专利、论文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09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2270" y="40033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89607" y="400335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hard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46944" y="400335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对某种方法或某一问题的深入探究和改进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7389" y="3883342"/>
              <a:ext cx="194252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读论文、提 idea、做实验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23 页）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55314" y="400335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41195"/>
              <a:ext cx="11125200" cy="24984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085975" y="1941195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43312" y="1941195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03758" y="1941195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51682" y="1941195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066" y="4514850"/>
              <a:ext cx="4399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前三列出自原课件第 20 页；后两列为本讲义按原课件第 23–26 页整理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853940"/>
            <a:ext cx="11125200" cy="607695"/>
            <a:chOff x="533400" y="4853940"/>
            <a:chExt cx="11125200" cy="607695"/>
          </a:xfrm>
        </p:grpSpPr>
        <p:sp>
          <p:nvSpPr>
            <p:cNvPr id="40" name="Rectangle 40"/>
            <p:cNvSpPr/>
            <p:nvPr/>
          </p:nvSpPr>
          <p:spPr>
            <a:xfrm>
              <a:off x="533400" y="4853940"/>
              <a:ext cx="11125200" cy="607695"/>
            </a:xfrm>
            <a:prstGeom prst="roundRect">
              <a:avLst>
                <a:gd name="adj" fmla="val 1880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054083"/>
              <a:ext cx="224134" cy="192560"/>
              <a:chOff x="726129" y="5054083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1244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0540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202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063490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实际项目并不一定是三者之一，很可能是其中几类的结合，比如一个工程系统里包着一个要改进的核心算法。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7" name="Rectangle 47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5779770"/>
              <a:ext cx="99235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自己判断：交付物是一个能用的应用，偏开发；要从 0 到 1 搭起系统或挖出数据，偏工程；要在某个方法上比 baseline 更好，偏科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学问题。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项目规划四步：边界、调研、技术路线、成果与节点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625340" cy="2411159"/>
            <a:chOff x="533400" y="1533525"/>
            <a:chExt cx="4625340" cy="241115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明确边界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研究边界、应用场景、项目大小、可完成度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7416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调研现状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7927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领域综述，近三到五年内的顶刊顶会论文（按类型见右表）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808446"/>
              <a:ext cx="13320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确定技术路线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8957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或确定研究和改进的中心，明确创新点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29476"/>
              <a:ext cx="190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预期成果和时间节点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70998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务必切实合理，是一组本科生能完成的水平</a:t>
              </a:r>
            </a:p>
          </p:txBody>
        </p:sp>
      </p:grpSp>
      <p:grpSp>
        <p:nvGrpSpPr>
          <p:cNvPr id="41" name="c1-compare-2"/>
          <p:cNvGrpSpPr/>
          <p:nvPr/>
        </p:nvGrpSpPr>
        <p:grpSpPr>
          <a:xfrm>
            <a:off x="533400" y="4120515"/>
            <a:ext cx="5842636" cy="2172652"/>
            <a:chOff x="533400" y="4120515"/>
            <a:chExt cx="5842636" cy="2172652"/>
          </a:xfrm>
        </p:grpSpPr>
        <p:sp>
          <p:nvSpPr>
            <p:cNvPr id="25" name="Rectangle 25"/>
            <p:cNvSpPr/>
            <p:nvPr/>
          </p:nvSpPr>
          <p:spPr>
            <a:xfrm>
              <a:off x="533400" y="4120515"/>
              <a:ext cx="2673668" cy="2172652"/>
            </a:xfrm>
            <a:prstGeom prst="roundRect">
              <a:avLst>
                <a:gd name="adj" fmla="val 6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253865"/>
              <a:ext cx="47625" cy="19059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096" y="43476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结合现状的创新点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2955" y="4746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9546" y="4686776"/>
              <a:ext cx="19080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 baseline 后发现它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在某类数据上明显掉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点，针对这一点改进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2955" y="56092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546" y="554974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现有系统缺某个功能，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用已发表的方法补上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702368" y="4120515"/>
              <a:ext cx="2673668" cy="2172652"/>
            </a:xfrm>
            <a:prstGeom prst="roundRect">
              <a:avLst>
                <a:gd name="adj" fmla="val 6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711892" y="4253865"/>
              <a:ext cx="47625" cy="19059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37064" y="43476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凭空的创新点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951923" y="4746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08514" y="468677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没读过论文就提出「颠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覆整个领域」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951923" y="533781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08514" y="527827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说不出和现有方法差在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哪里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254692" y="500634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08032" y="51415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680835" y="1524000"/>
            <a:ext cx="4977765" cy="1933575"/>
            <a:chOff x="6680835" y="1524000"/>
            <a:chExt cx="4977765" cy="193357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6088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822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调研什么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8618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81556" y="208502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学技术，找现有的类似应用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2384108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6182" y="262223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81556" y="2515552"/>
              <a:ext cx="3517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过程中可能用到的方法；最新顶刊顶会论文及其开源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实现（不一定和目的完全一致）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302323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6182" y="3159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1556" y="315944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明确「研究链条」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1524000"/>
              <a:ext cx="4977765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771448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680835" y="3643312"/>
            <a:ext cx="4977765" cy="2649855"/>
            <a:chOff x="6680835" y="3643312"/>
            <a:chExt cx="4977765" cy="2649855"/>
          </a:xfrm>
        </p:grpSpPr>
        <p:sp>
          <p:nvSpPr>
            <p:cNvPr id="57" name="Rectangle 57"/>
            <p:cNvSpPr/>
            <p:nvPr/>
          </p:nvSpPr>
          <p:spPr>
            <a:xfrm>
              <a:off x="6680835" y="3643312"/>
              <a:ext cx="4977765" cy="2649855"/>
            </a:xfrm>
            <a:prstGeom prst="roundRect">
              <a:avLst>
                <a:gd name="adj" fmla="val 503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84670" y="384714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70928" y="38828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创新点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7431" y="4220051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一定是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可实现的、结合现状得出的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idea，绝不是凭空想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出来的。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8574" y="480822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出自原课件第 21 页。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77431" y="5092541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研究链条可以这样理解：要解决什么问题 → 现有方法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怎么做 → 不足在哪 → 怎么改进 → 用什么实验验证。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8574" y="5680710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链条的拆法为本讲义的理解，写申请书的技术路线时可以照这个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示例：把预期成果和时间节点对齐到学校的检查点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27685" y="1524000"/>
            <a:ext cx="6497955" cy="4340067"/>
            <a:chOff x="527685" y="1524000"/>
            <a:chExt cx="6497955" cy="43400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89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3770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6349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这段时间要做完的事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上一年秋季到寒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6997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78658" y="222170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定方向、组队、找老师，读综述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109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2–4 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9973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78658" y="27836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调研近三到五年论文，定技术路线，写申请书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1109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4–5 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71675" y="3107055"/>
              <a:ext cx="88963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6997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78658" y="3232309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 + 立项答辩，带上前期工作展示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13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615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680936"/>
              <a:ext cx="891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月到 9 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69973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78658" y="3680936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准备数据、复现方法或做出 v1.0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90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130516"/>
              <a:ext cx="1208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9–10 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71675" y="4004310"/>
              <a:ext cx="88963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69973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78658" y="413051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交中期检查报告，列出已完成和待完成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386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44341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5791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之后到结题前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69973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78658" y="457914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改进与实验，成果投稿或提交申请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8872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5027771"/>
              <a:ext cx="10472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第二年 4–5 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9–10 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71675" y="4901565"/>
              <a:ext cx="88963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69973" y="51411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78658" y="514111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结题验收，争取优秀候选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492240" cy="40443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957388" y="1524000"/>
              <a:ext cx="9525" cy="40443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866072" y="1524000"/>
              <a:ext cx="9525" cy="40443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5644039"/>
              <a:ext cx="4406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本讲义按第 6 页的学校节点整理的示例，具体日期以当年通知为准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7330440" y="1524000"/>
            <a:ext cx="4328160" cy="2558415"/>
            <a:chOff x="7330440" y="1524000"/>
            <a:chExt cx="4328160" cy="2558415"/>
          </a:xfrm>
        </p:grpSpPr>
        <p:sp>
          <p:nvSpPr>
            <p:cNvPr id="49" name="Rectangle 49"/>
            <p:cNvSpPr/>
            <p:nvPr/>
          </p:nvSpPr>
          <p:spPr>
            <a:xfrm>
              <a:off x="7330440" y="1524000"/>
              <a:ext cx="432816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3996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7809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4759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预期成果写多少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58380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41920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原课件要求「切实合理、是一组本科生能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够完成的水平」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58380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41920" y="2731770"/>
              <a:ext cx="3444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成果周期要算进时间表：论文从投稿到出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结果可能要几个月，专利一年左右（第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页）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583805" y="37014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41920" y="363855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写之前问一句：中期检查时拿得出什么？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330440" y="4272915"/>
            <a:ext cx="4328160" cy="1602105"/>
            <a:chOff x="7330440" y="4272915"/>
            <a:chExt cx="4328160" cy="1602105"/>
          </a:xfrm>
        </p:grpSpPr>
        <p:sp>
          <p:nvSpPr>
            <p:cNvPr id="60" name="Rectangle 60"/>
            <p:cNvSpPr/>
            <p:nvPr/>
          </p:nvSpPr>
          <p:spPr>
            <a:xfrm>
              <a:off x="7330440" y="4272915"/>
              <a:ext cx="432816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39965" y="44062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578090" y="44824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68298" y="45181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70470" y="4859655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表中每个检查点前都应该有一件能拿出来给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人看的东西，比如复现结果、数据、界面或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论文初稿。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准备与立项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立项等级可能和什么有关：前期工作、成果、答辩表现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900160" cy="293370"/>
            <a:chOff x="525780" y="1548765"/>
            <a:chExt cx="89001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原课件标注了「可能」，这是分享者作为负责人参加立项答辩的体会，可以当作准备答辩的自查表。</a:t>
              </a:r>
            </a:p>
          </p:txBody>
        </p:sp>
      </p:grpSp>
      <p:grpSp>
        <p:nvGrpSpPr>
          <p:cNvPr id="24" name="c1-table-1"/>
          <p:cNvGrpSpPr/>
          <p:nvPr/>
        </p:nvGrpSpPr>
        <p:grpSpPr>
          <a:xfrm>
            <a:off x="533400" y="1954530"/>
            <a:ext cx="5193982" cy="1720215"/>
            <a:chOff x="533400" y="1954530"/>
            <a:chExt cx="5193982" cy="17202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490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18332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评审会看什么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5155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前期工作度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7037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立项前已经做了多少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1463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成果难度、数量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7037" y="294608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预期成果的级别和数量是否合适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404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254692"/>
              <a:ext cx="153924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33766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立项答辩表现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7037" y="337661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下面三个「是否真正」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954530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086928" y="195453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860482"/>
            <a:ext cx="5193982" cy="2426970"/>
            <a:chOff x="533400" y="3860482"/>
            <a:chExt cx="5193982" cy="2426970"/>
          </a:xfrm>
        </p:grpSpPr>
        <p:sp>
          <p:nvSpPr>
            <p:cNvPr id="25" name="Rectangle 25"/>
            <p:cNvSpPr/>
            <p:nvPr/>
          </p:nvSpPr>
          <p:spPr>
            <a:xfrm>
              <a:off x="533400" y="3860482"/>
              <a:ext cx="5193982" cy="2426970"/>
            </a:xfrm>
            <a:prstGeom prst="roundRect">
              <a:avLst>
                <a:gd name="adj" fmla="val 549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7235" y="4064318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089" y="410003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答辩时评委想确认的三件事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7235" y="442531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5580" y="44647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8128" y="44372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你对项目是否真正了解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7235" y="474535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5580" y="478474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8128" y="475726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你的前期工作是否真正扎实（展示物见右表）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37235" y="506539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5580" y="51047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8128" y="507730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你对领域现状是否真正清晰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139" y="5394008"/>
              <a:ext cx="43174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答辩 PPT 可以各给一页对应：项目要解决什么问题、前期工作展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示、相关工作与现状。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139" y="589597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三件事都要负责人自己讲得清，不能全交给队友。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026467" y="1954530"/>
            <a:ext cx="5632133" cy="2229327"/>
            <a:chOff x="6026467" y="1954530"/>
            <a:chExt cx="5632133" cy="2229327"/>
          </a:xfrm>
        </p:grpSpPr>
        <p:sp>
          <p:nvSpPr>
            <p:cNvPr id="40" name="Rectangle 40"/>
            <p:cNvSpPr/>
            <p:nvPr/>
          </p:nvSpPr>
          <p:spPr>
            <a:xfrm>
              <a:off x="6032182" y="195453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90716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0360" y="208597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前期工作怎么展示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37529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2964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复现结果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2182" y="2814638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37529" y="30527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2964" y="2946082"/>
              <a:ext cx="3669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爬取数据的展示或可视化（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非现成数据集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，一般是现实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数据清洗后的结果）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4537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37529" y="35899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系统开发类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12964" y="3589972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丐版 v0.1 的展示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1954530"/>
              <a:ext cx="5626418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02855" y="195453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26467" y="3963829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33 页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032182" y="4325302"/>
            <a:ext cx="5626418" cy="1962150"/>
            <a:chOff x="6032182" y="4325302"/>
            <a:chExt cx="5626418" cy="1962150"/>
          </a:xfrm>
        </p:grpSpPr>
        <p:sp>
          <p:nvSpPr>
            <p:cNvPr id="56" name="Rectangle 56"/>
            <p:cNvSpPr/>
            <p:nvPr/>
          </p:nvSpPr>
          <p:spPr>
            <a:xfrm>
              <a:off x="6032182" y="4325302"/>
              <a:ext cx="5626418" cy="1962150"/>
            </a:xfrm>
            <a:prstGeom prst="roundRect">
              <a:avLst>
                <a:gd name="adj" fmla="val 67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41708" y="4458652"/>
              <a:ext cx="47625" cy="16954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74118" y="4529138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29870" y="45648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答辩前可以演练的问题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81738" y="49625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38329" y="490204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你的方法和现有最好的方法差在哪？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81738" y="52825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38329" y="522208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复现结果和原论文差多少，为什么？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81738" y="560260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38329" y="554212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一年后拿不到预期成果，退路是什么？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68022" y="585882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问题为本讲义所加，按上面三个「是否真正」设计。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执行与结项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按项目类型分三种做法，按剩余时间挑成果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开发类的三步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工程系统的迭代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科学问题的论文与实验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成果周期、延期、保研出国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执行与结项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执行·开发：需求、技术、分工开发测试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3527222" cy="1878615"/>
            <a:chOff x="533400" y="1533525"/>
            <a:chExt cx="3527222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明确需求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应用要满足什么需求，可能用到哪些技术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学习技术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学习开发这类应用的方法和技术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分工开发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按时间节点分工进行开发、测试</a:t>
              </a:r>
            </a:p>
          </p:txBody>
        </p:sp>
      </p:grpSp>
      <p:grpSp>
        <p:nvGrpSpPr>
          <p:cNvPr id="22" name="c1-text-2"/>
          <p:cNvGrpSpPr/>
          <p:nvPr/>
        </p:nvGrpSpPr>
        <p:grpSpPr>
          <a:xfrm>
            <a:off x="526923" y="3611404"/>
            <a:ext cx="1512082" cy="249364"/>
            <a:chOff x="526923" y="3611404"/>
            <a:chExt cx="1512082" cy="249364"/>
          </a:xfrm>
        </p:grpSpPr>
        <p:sp>
          <p:nvSpPr>
            <p:cNvPr id="21" name="TextBox 21"/>
            <p:cNvSpPr txBox="1"/>
            <p:nvPr/>
          </p:nvSpPr>
          <p:spPr>
            <a:xfrm>
              <a:off x="526923" y="3611404"/>
              <a:ext cx="15120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23 页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001452"/>
            <a:ext cx="5193982" cy="1898332"/>
            <a:chOff x="533400" y="4001452"/>
            <a:chExt cx="5193982" cy="1898332"/>
          </a:xfrm>
        </p:grpSpPr>
        <p:sp>
          <p:nvSpPr>
            <p:cNvPr id="23" name="Rectangle 23"/>
            <p:cNvSpPr/>
            <p:nvPr/>
          </p:nvSpPr>
          <p:spPr>
            <a:xfrm>
              <a:off x="533400" y="4001452"/>
              <a:ext cx="5193982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134802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21100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557" y="424672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开发类分工举例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588192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人小组做一个校园 APP：两人前端，两人后端和数据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库，负责人管需求、测试和进度，每两周对一次时间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573" y="54906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举例为本讲义所加，分工按项目实际调整。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026467" y="1524000"/>
            <a:ext cx="5632133" cy="2317909"/>
            <a:chOff x="6026467" y="1524000"/>
            <a:chExt cx="5632133" cy="2317909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725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7191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从哪一步开始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5263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以什么为准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40006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7730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明确应用需求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28060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功能按时做完并通过测试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2182" y="242125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0006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77303" y="2670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拆出系统的各个模块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28060" y="2556986"/>
              <a:ext cx="1719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v1.0 能给人演示，再迭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代调优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40006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77303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大量读顶刊顶会论文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28060" y="3232309"/>
              <a:ext cx="1830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实验结果证明 idea 有效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1524000"/>
              <a:ext cx="5626418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26471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15475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26467" y="3621881"/>
              <a:ext cx="3381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三类项目执行方式对照，按原课件第 23–25 页整理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032182" y="3988118"/>
            <a:ext cx="5626418" cy="1911668"/>
            <a:chOff x="6032182" y="3988118"/>
            <a:chExt cx="5626418" cy="1911668"/>
          </a:xfrm>
        </p:grpSpPr>
        <p:sp>
          <p:nvSpPr>
            <p:cNvPr id="51" name="Rectangle 51"/>
            <p:cNvSpPr/>
            <p:nvPr/>
          </p:nvSpPr>
          <p:spPr>
            <a:xfrm>
              <a:off x="6032182" y="3988118"/>
              <a:ext cx="5626418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41708" y="4121468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79832" y="4197668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4437" y="423338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开发类容易踩的坑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85548" y="463772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43662" y="4574858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需求一直在变，做到中期还没定下功能清单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85548" y="497300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43662" y="4910138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只顾写功能不留测试时间，结题演示时出 bug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85548" y="530828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43662" y="5245418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成果只有软著，想走科研路线的同学要另做打算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0885" cy="909257"/>
            <a:chOff x="520446" y="342900"/>
            <a:chExt cx="7990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执行与结项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0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执行·工程系统：先做出能演示的 v1.0，再迭代调优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730568" y="1795462"/>
            <a:ext cx="5232082" cy="4594860"/>
            <a:chOff x="730568" y="1795462"/>
            <a:chExt cx="5232082" cy="4594860"/>
          </a:xfrm>
        </p:grpSpPr>
        <p:sp>
          <p:nvSpPr>
            <p:cNvPr id="7" name="Freeform 7"/>
            <p:cNvSpPr/>
            <p:nvPr/>
          </p:nvSpPr>
          <p:spPr>
            <a:xfrm>
              <a:off x="1940242" y="2220278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6584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40242" y="3188018"/>
              <a:ext cx="9525" cy="348615"/>
            </a:xfrm>
            <a:custGeom>
              <a:avLst/>
              <a:gdLst/>
              <a:ahLst/>
              <a:cxnLst/>
              <a:rect l="l" t="t" r="r" b="b"/>
              <a:pathLst>
                <a:path w="9525" h="348615">
                  <a:moveTo>
                    <a:pt x="0" y="0"/>
                  </a:moveTo>
                  <a:lnTo>
                    <a:pt x="0" y="3486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7855" y="35366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4245292"/>
              <a:ext cx="9525" cy="259080"/>
            </a:xfrm>
            <a:custGeom>
              <a:avLst/>
              <a:gdLst/>
              <a:ahLst/>
              <a:cxnLst/>
              <a:rect l="l" t="t" r="r" b="b"/>
              <a:pathLst>
                <a:path w="9525" h="259080">
                  <a:moveTo>
                    <a:pt x="0" y="0"/>
                  </a:moveTo>
                  <a:lnTo>
                    <a:pt x="0" y="2590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45043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0242" y="5213032"/>
              <a:ext cx="9525" cy="259080"/>
            </a:xfrm>
            <a:custGeom>
              <a:avLst/>
              <a:gdLst/>
              <a:ahLst/>
              <a:cxnLst/>
              <a:rect l="l" t="t" r="r" b="b"/>
              <a:pathLst>
                <a:path w="9525" h="259080">
                  <a:moveTo>
                    <a:pt x="0" y="0"/>
                  </a:moveTo>
                  <a:lnTo>
                    <a:pt x="0" y="2590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87855" y="5472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49918" y="5878830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38525" y="58264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84045" y="6180772"/>
              <a:ext cx="2925127" cy="209550"/>
            </a:xfrm>
            <a:custGeom>
              <a:avLst/>
              <a:gdLst/>
              <a:ahLst/>
              <a:cxnLst/>
              <a:rect l="l" t="t" r="r" b="b"/>
              <a:pathLst>
                <a:path w="2925127" h="209550">
                  <a:moveTo>
                    <a:pt x="2868930" y="0"/>
                  </a:moveTo>
                  <a:lnTo>
                    <a:pt x="2868930" y="209550"/>
                  </a:lnTo>
                  <a:lnTo>
                    <a:pt x="2925127" y="209550"/>
                  </a:lnTo>
                  <a:lnTo>
                    <a:pt x="0" y="209550"/>
                  </a:lnTo>
                  <a:lnTo>
                    <a:pt x="56197" y="209550"/>
                  </a:lnTo>
                  <a:lnTo>
                    <a:pt x="56197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887855" y="61807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0568" y="1795462"/>
              <a:ext cx="2419350" cy="4248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0568" y="2763202"/>
              <a:ext cx="2419350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0568" y="3641408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0568" y="4609148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0568" y="5576888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43300" y="5576888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5109" y="1924050"/>
              <a:ext cx="1610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明确系统的各个模块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7770" y="2891790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明确各模块要用的方法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2146" y="3756660"/>
              <a:ext cx="1536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查论文、找开源实现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确认可行性与问题边界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4546" y="4724400"/>
              <a:ext cx="12313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获取数据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需要时建立数据库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48346" y="5692140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实现 v1.0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带界面，能给人演示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37279" y="5692140"/>
              <a:ext cx="12313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 改进或更换方法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迭代调优出下一版</a:t>
              </a:r>
            </a:p>
          </p:txBody>
        </p:sp>
      </p:grpSp>
      <p:grpSp>
        <p:nvGrpSpPr>
          <p:cNvPr id="40" name="c2-kv-1"/>
          <p:cNvGrpSpPr/>
          <p:nvPr/>
        </p:nvGrpSpPr>
        <p:grpSpPr>
          <a:xfrm>
            <a:off x="6457379" y="1547336"/>
            <a:ext cx="5201221" cy="1925575"/>
            <a:chOff x="6457379" y="1547336"/>
            <a:chExt cx="5201221" cy="1925575"/>
          </a:xfrm>
        </p:grpSpPr>
        <p:sp>
          <p:nvSpPr>
            <p:cNvPr id="32" name="TextBox 32"/>
            <p:cNvSpPr txBox="1"/>
            <p:nvPr/>
          </p:nvSpPr>
          <p:spPr>
            <a:xfrm>
              <a:off x="6457379" y="1547336"/>
              <a:ext cx="617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第②③步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7484" y="1547336"/>
              <a:ext cx="408114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准备阶段就应该基本明确；③要确认复现难易、有无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开源实现，以及已有方法和本项目问题边界的区别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1212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57379" y="2236946"/>
              <a:ext cx="507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第④步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7484" y="223694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训练模型需要的数据，或系统面向的数据样例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5431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57379" y="2658904"/>
              <a:ext cx="507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第⑤步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97484" y="2658904"/>
              <a:ext cx="398195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系统往往要有界面展示给人看，才能反映有效性和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准确性，命令行效果过弱；前端要求一般不高、不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必花哨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464618" y="3602355"/>
            <a:ext cx="5193982" cy="756285"/>
            <a:chOff x="6464618" y="3602355"/>
            <a:chExt cx="5193982" cy="756285"/>
          </a:xfrm>
        </p:grpSpPr>
        <p:sp>
          <p:nvSpPr>
            <p:cNvPr id="41" name="Rectangle 41"/>
            <p:cNvSpPr/>
            <p:nvPr/>
          </p:nvSpPr>
          <p:spPr>
            <a:xfrm>
              <a:off x="6464618" y="360235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57347" y="3876793"/>
              <a:ext cx="224134" cy="192560"/>
              <a:chOff x="6657347" y="387679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69418" y="39471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57347" y="38767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9418" y="4024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71729" y="374951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一定基于现有的方向或方法去做，找不到相关论文和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开源实现的方法，工程上风险很大。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464618" y="4544378"/>
            <a:ext cx="5193982" cy="1556385"/>
            <a:chOff x="6464618" y="4544378"/>
            <a:chExt cx="5193982" cy="1556385"/>
          </a:xfrm>
        </p:grpSpPr>
        <p:sp>
          <p:nvSpPr>
            <p:cNvPr id="48" name="Rectangle 48"/>
            <p:cNvSpPr/>
            <p:nvPr/>
          </p:nvSpPr>
          <p:spPr>
            <a:xfrm>
              <a:off x="6464618" y="4544378"/>
              <a:ext cx="5193982" cy="1556385"/>
            </a:xfrm>
            <a:prstGeom prst="roundRect">
              <a:avLst>
                <a:gd name="adj" fmla="val 8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4677728"/>
              <a:ext cx="47625" cy="1289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06552" y="474821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6060" y="47839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每一版留下记录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9314" y="5121116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每次迭代记下用了什么方法、什么数据、效果指标是多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少，中期报告和结题材料直接从这些记录里整理。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00456" y="5708332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这条为本讲义补充；左图和上面三条出自原课件第 24 页。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87336" cy="909257"/>
            <a:chOff x="520446" y="342900"/>
            <a:chExt cx="85873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执行与结项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873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执行·科学问题：读论文找方法，提出 idea，用实验说话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69608" y="1929765"/>
            <a:ext cx="5571172" cy="4028123"/>
            <a:chOff x="669608" y="1929765"/>
            <a:chExt cx="5571172" cy="4028123"/>
          </a:xfrm>
        </p:grpSpPr>
        <p:sp>
          <p:nvSpPr>
            <p:cNvPr id="7" name="Freeform 7"/>
            <p:cNvSpPr/>
            <p:nvPr/>
          </p:nvSpPr>
          <p:spPr>
            <a:xfrm>
              <a:off x="1506855" y="2327910"/>
              <a:ext cx="1947862" cy="617220"/>
            </a:xfrm>
            <a:custGeom>
              <a:avLst/>
              <a:gdLst/>
              <a:ahLst/>
              <a:cxnLst/>
              <a:rect l="l" t="t" r="r" b="b"/>
              <a:pathLst>
                <a:path w="1947862" h="617220">
                  <a:moveTo>
                    <a:pt x="1947862" y="0"/>
                  </a:moveTo>
                  <a:lnTo>
                    <a:pt x="1947862" y="360998"/>
                  </a:lnTo>
                  <a:lnTo>
                    <a:pt x="0" y="360998"/>
                  </a:lnTo>
                  <a:lnTo>
                    <a:pt x="0" y="617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54468" y="2945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54718" y="2327910"/>
              <a:ext cx="9525" cy="617220"/>
            </a:xfrm>
            <a:custGeom>
              <a:avLst/>
              <a:gdLst/>
              <a:ahLst/>
              <a:cxnLst/>
              <a:rect l="l" t="t" r="r" b="b"/>
              <a:pathLst>
                <a:path w="9525" h="617220">
                  <a:moveTo>
                    <a:pt x="0" y="0"/>
                  </a:moveTo>
                  <a:lnTo>
                    <a:pt x="0" y="617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02330" y="2945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4718" y="2327910"/>
              <a:ext cx="1947863" cy="617220"/>
            </a:xfrm>
            <a:custGeom>
              <a:avLst/>
              <a:gdLst/>
              <a:ahLst/>
              <a:cxnLst/>
              <a:rect l="l" t="t" r="r" b="b"/>
              <a:pathLst>
                <a:path w="1947863" h="617220">
                  <a:moveTo>
                    <a:pt x="0" y="0"/>
                  </a:moveTo>
                  <a:lnTo>
                    <a:pt x="0" y="360998"/>
                  </a:lnTo>
                  <a:lnTo>
                    <a:pt x="1947863" y="360998"/>
                  </a:lnTo>
                  <a:lnTo>
                    <a:pt x="1947863" y="617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350192" y="2945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06855" y="3627120"/>
              <a:ext cx="1947862" cy="617220"/>
            </a:xfrm>
            <a:custGeom>
              <a:avLst/>
              <a:gdLst/>
              <a:ahLst/>
              <a:cxnLst/>
              <a:rect l="l" t="t" r="r" b="b"/>
              <a:pathLst>
                <a:path w="1947862" h="617220">
                  <a:moveTo>
                    <a:pt x="0" y="0"/>
                  </a:moveTo>
                  <a:lnTo>
                    <a:pt x="0" y="360997"/>
                  </a:lnTo>
                  <a:lnTo>
                    <a:pt x="1947862" y="360997"/>
                  </a:lnTo>
                  <a:lnTo>
                    <a:pt x="1947862" y="617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02330" y="42443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454718" y="3627120"/>
              <a:ext cx="9525" cy="617220"/>
            </a:xfrm>
            <a:custGeom>
              <a:avLst/>
              <a:gdLst/>
              <a:ahLst/>
              <a:cxnLst/>
              <a:rect l="l" t="t" r="r" b="b"/>
              <a:pathLst>
                <a:path w="9525" h="617220">
                  <a:moveTo>
                    <a:pt x="0" y="0"/>
                  </a:moveTo>
                  <a:lnTo>
                    <a:pt x="0" y="617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02330" y="42443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54718" y="3627120"/>
              <a:ext cx="1947863" cy="617220"/>
            </a:xfrm>
            <a:custGeom>
              <a:avLst/>
              <a:gdLst/>
              <a:ahLst/>
              <a:cxnLst/>
              <a:rect l="l" t="t" r="r" b="b"/>
              <a:pathLst>
                <a:path w="1947863" h="617220">
                  <a:moveTo>
                    <a:pt x="1947863" y="0"/>
                  </a:moveTo>
                  <a:lnTo>
                    <a:pt x="1947863" y="360997"/>
                  </a:lnTo>
                  <a:lnTo>
                    <a:pt x="0" y="360997"/>
                  </a:lnTo>
                  <a:lnTo>
                    <a:pt x="0" y="6172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402330" y="42443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454718" y="4747260"/>
              <a:ext cx="9525" cy="706755"/>
            </a:xfrm>
            <a:custGeom>
              <a:avLst/>
              <a:gdLst/>
              <a:ahLst/>
              <a:cxnLst/>
              <a:rect l="l" t="t" r="r" b="b"/>
              <a:pathLst>
                <a:path w="9525" h="706755">
                  <a:moveTo>
                    <a:pt x="0" y="0"/>
                  </a:moveTo>
                  <a:lnTo>
                    <a:pt x="0" y="7067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402330" y="5454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967412" y="4524375"/>
              <a:ext cx="233362" cy="1257300"/>
            </a:xfrm>
            <a:custGeom>
              <a:avLst/>
              <a:gdLst/>
              <a:ahLst/>
              <a:cxnLst/>
              <a:rect l="l" t="t" r="r" b="b"/>
              <a:pathLst>
                <a:path w="233362" h="1257300">
                  <a:moveTo>
                    <a:pt x="0" y="1233488"/>
                  </a:moveTo>
                  <a:lnTo>
                    <a:pt x="209550" y="1233488"/>
                  </a:lnTo>
                  <a:lnTo>
                    <a:pt x="233362" y="1233488"/>
                  </a:lnTo>
                  <a:lnTo>
                    <a:pt x="233362" y="1257300"/>
                  </a:lnTo>
                  <a:lnTo>
                    <a:pt x="233362" y="0"/>
                  </a:lnTo>
                  <a:lnTo>
                    <a:pt x="233362" y="23812"/>
                  </a:lnTo>
                  <a:lnTo>
                    <a:pt x="209550" y="23812"/>
                  </a:lnTo>
                  <a:lnTo>
                    <a:pt x="104775" y="23812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5967412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42022" y="1929765"/>
              <a:ext cx="5025390" cy="399098"/>
            </a:xfrm>
            <a:prstGeom prst="roundRect">
              <a:avLst>
                <a:gd name="adj" fmla="val 4988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608" y="3049905"/>
              <a:ext cx="167544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17470" y="3049905"/>
              <a:ext cx="167544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65332" y="3049905"/>
              <a:ext cx="167544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42022" y="4349115"/>
              <a:ext cx="5025390" cy="399098"/>
            </a:xfrm>
            <a:prstGeom prst="roundRect">
              <a:avLst>
                <a:gd name="adj" fmla="val 2386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42022" y="5558790"/>
              <a:ext cx="5025390" cy="399098"/>
            </a:xfrm>
            <a:prstGeom prst="roundRect">
              <a:avLst>
                <a:gd name="adj" fmla="val 4988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27847" y="2050256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大量阅读顶刊顶会论文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1316" y="3163729"/>
              <a:ext cx="75107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找方法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 baseline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12046" y="3163729"/>
              <a:ext cx="108534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找数据集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 performance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70145" y="3163729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复现方法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或找开源代码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10656" y="4469606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发现现有方法的问题，提出 idea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5998" y="5679281"/>
              <a:ext cx="2057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大量实验验证 idea 是否正确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79745" y="5067300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0962" y="50925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结果不好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675501" y="1524000"/>
            <a:ext cx="4983099" cy="1496949"/>
            <a:chOff x="6675501" y="1524000"/>
            <a:chExt cx="4983099" cy="1496949"/>
          </a:xfrm>
        </p:grpSpPr>
        <p:sp>
          <p:nvSpPr>
            <p:cNvPr id="38" name="Rectangle 38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17629" y="1648301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idea 从哪来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6000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80848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原论文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3440" y="20540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从原论文中发现问题，进行小修小补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0848" y="24598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综述和同行论文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73440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从中获得灵感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1524000"/>
              <a:ext cx="497776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68665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5501" y="2815590"/>
              <a:ext cx="124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25 页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3154680"/>
            <a:ext cx="4977765" cy="1209675"/>
            <a:chOff x="6680835" y="3154680"/>
            <a:chExt cx="4977765" cy="1209675"/>
          </a:xfrm>
        </p:grpSpPr>
        <p:sp>
          <p:nvSpPr>
            <p:cNvPr id="51" name="Rectangle 51"/>
            <p:cNvSpPr/>
            <p:nvPr/>
          </p:nvSpPr>
          <p:spPr>
            <a:xfrm>
              <a:off x="6680835" y="315468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0360" y="328803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11340" y="334708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0779" y="33813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切忌空对空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04482" y="370427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只停留在想法和讨论上没有用，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只有实验结果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才能证明想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法的效果好坏。</a:t>
              </a:r>
            </a:p>
          </p:txBody>
        </p:sp>
      </p:grpSp>
      <p:grpSp>
        <p:nvGrpSpPr>
          <p:cNvPr id="67" name="c2-card-3"/>
          <p:cNvGrpSpPr/>
          <p:nvPr/>
        </p:nvGrpSpPr>
        <p:grpSpPr>
          <a:xfrm>
            <a:off x="6680835" y="4539615"/>
            <a:ext cx="4977765" cy="1814512"/>
            <a:chOff x="6680835" y="4539615"/>
            <a:chExt cx="4977765" cy="1814512"/>
          </a:xfrm>
        </p:grpSpPr>
        <p:sp>
          <p:nvSpPr>
            <p:cNvPr id="57" name="Rectangle 57"/>
            <p:cNvSpPr/>
            <p:nvPr/>
          </p:nvSpPr>
          <p:spPr>
            <a:xfrm>
              <a:off x="6680835" y="4539615"/>
              <a:ext cx="4977765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0360" y="4672965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11340" y="47320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86778" y="47663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三样要先找齐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19912" y="51444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75932" y="5088255"/>
              <a:ext cx="3784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方法：作为 baseline，也是提出新 idea 的基础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919912" y="54473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75932" y="539115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数据集：该方向常用来测试模型 performance 的数据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19912" y="60064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75932" y="59502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代码：复现现有方法，或找到其开源代码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执行与结项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结项成果：软著最快，论文看渠道，专利一年左右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8066" y="1524000"/>
            <a:ext cx="6281356" cy="3725799"/>
            <a:chOff x="528066" y="1524000"/>
            <a:chExt cx="6281356" cy="37257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4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105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584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4538" y="2154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一到三个月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20440" y="2054066"/>
              <a:ext cx="29984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含金量相对低；申请步骤可搜公众号「软团团」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的「软著」教程，细节可能有变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580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 / SCI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14538" y="2659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看具体刊物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20440" y="26598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两个检索数据库，下面分水刊水会和常规两档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65621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 水刊水会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14538" y="306562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3–7 天出结果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20440" y="306562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快，但后面会讲为什么尽量不投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423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4708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471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常规会议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14538" y="3471386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deadline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20440" y="347138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截稿日明确，周期相对短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480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8771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常规期刊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4538" y="3877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20440" y="387715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随时可投，周期相对长（看实际情况）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38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861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282916"/>
              <a:ext cx="797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A/B/C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14538" y="42829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按会议或期刊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0440" y="428291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难度高，计算机方向认可度最高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596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6886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14538" y="4688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一年左右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20440" y="4688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周期基本为一年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6276022" cy="3446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909762" y="1524000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415665" y="1524000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066" y="5044440"/>
              <a:ext cx="4950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26 页。论文整体周期原课件写 3–7 天、三个月、半年、一年不等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7114222" y="1524000"/>
            <a:ext cx="4544378" cy="2696528"/>
            <a:chOff x="7114222" y="1524000"/>
            <a:chExt cx="4544378" cy="2696528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2696528"/>
            </a:xfrm>
            <a:prstGeom prst="roundRect">
              <a:avLst>
                <a:gd name="adj" fmla="val 49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1657350"/>
              <a:ext cx="47625" cy="24298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44728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12165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按离结题的时间挑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78078" y="2203132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344728" y="206025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38351" y="21340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44728" y="26469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38351" y="2720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344728" y="32337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38351" y="3307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56970" y="2091690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 3 个月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58112" y="2359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软著兜底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56970" y="2679382"/>
              <a:ext cx="112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个月到 1 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58112" y="294655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找截稿日合适的会议投论文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56970" y="3266122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年以上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58112" y="353329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可投期刊，或申请专利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39012" y="385238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按上表周期推出的建议，审稿和修改的时间要一起算进去。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7114222" y="4395788"/>
            <a:ext cx="4544378" cy="1209675"/>
            <a:chOff x="7114222" y="4395788"/>
            <a:chExt cx="4544378" cy="1209675"/>
          </a:xfrm>
        </p:grpSpPr>
        <p:sp>
          <p:nvSpPr>
            <p:cNvPr id="65" name="Rectangle 65"/>
            <p:cNvSpPr/>
            <p:nvPr/>
          </p:nvSpPr>
          <p:spPr>
            <a:xfrm>
              <a:off x="7114222" y="4395788"/>
              <a:ext cx="454437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23748" y="452913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44728" y="4588192"/>
              <a:ext cx="86772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04255" y="4622482"/>
              <a:ext cx="747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CCF A/B/C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37870" y="4944428"/>
              <a:ext cx="39313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中国计算机学会推荐会议和期刊目录的分级，A 类最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1" name="Rectangle 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原课件的第一句是「尽量现实一点」：先确保有一项能按时拿到的成果，再争取更好的论文。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3531" cy="909257"/>
            <a:chOff x="520446" y="342900"/>
            <a:chExt cx="85135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执行与结项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35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成果怎样影响保研和出国：尽早投，瞄准 deadline 倒推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33400" y="1524000"/>
            <a:ext cx="5626418" cy="1720215"/>
            <a:chOff x="533400" y="1524000"/>
            <a:chExt cx="5626418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813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9500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写进申请材料时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42925" y="1964055"/>
              <a:ext cx="166878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6576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已录用，最有说服力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775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review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6576" y="251555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拿到了审稿意见，能说明工作经过同行评审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2824162"/>
              <a:ext cx="166878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26576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还没有任何结果，分量最轻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524000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1646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429952"/>
            <a:ext cx="5626418" cy="2506028"/>
            <a:chOff x="533400" y="3429952"/>
            <a:chExt cx="5626418" cy="2506028"/>
          </a:xfrm>
        </p:grpSpPr>
        <p:sp>
          <p:nvSpPr>
            <p:cNvPr id="24" name="Rectangle 24"/>
            <p:cNvSpPr/>
            <p:nvPr/>
          </p:nvSpPr>
          <p:spPr>
            <a:xfrm>
              <a:off x="533400" y="3429952"/>
              <a:ext cx="5626418" cy="2506028"/>
            </a:xfrm>
            <a:prstGeom prst="roundRect">
              <a:avLst>
                <a:gd name="adj" fmla="val 532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7235" y="3633788"/>
              <a:ext cx="160115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4909" y="3669506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 36 页的建议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7235" y="399478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5580" y="40341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128" y="4006691"/>
              <a:ext cx="4920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尽可能有成果：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accepted 或有 review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，不要是「在投」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7235" y="431482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5580" y="43542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8128" y="432673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尽可能不投水刊水会；但为了夏令营、出国申请或结项能有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成果，有时也要做取舍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7235" y="4906328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5580" y="49457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8128" y="4918234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有成果（论文、软著、专利）尽量早投，瞄准 deadline 倒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推时间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37235" y="549783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5580" y="55372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8128" y="5509736"/>
              <a:ext cx="48986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别拖到 idea 被抢，或都堆到最后没有会议可投、无法结项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464618" y="1524000"/>
            <a:ext cx="5193982" cy="3186112"/>
            <a:chOff x="6464618" y="1524000"/>
            <a:chExt cx="5193982" cy="3186112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3186112"/>
            </a:xfrm>
            <a:prstGeom prst="roundRect">
              <a:avLst>
                <a:gd name="adj" fmla="val 41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1657350"/>
              <a:ext cx="47625" cy="2919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06552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1663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99314" y="2100739"/>
              <a:ext cx="4780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目标会议 2023 年 1 月 15 日截稿，实验最晚哪天开始？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39902" y="256794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706552" y="24250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0176" y="2498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06552" y="304609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0176" y="3119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06552" y="36671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0176" y="37409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18414" y="24588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截稿日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19556" y="273939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 年 1 月 15 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18414" y="3078956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往前 4 周：开始写作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19556" y="3359468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12 月 18 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8414" y="3699986"/>
              <a:ext cx="2156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再往前 8 周：开始补实验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19556" y="3980498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10 月 23 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0456" y="4318635"/>
              <a:ext cx="4089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写作 4 周、实验 8 周是假设值，日期用 Python 复算过。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464618" y="4894898"/>
            <a:ext cx="5193982" cy="1041082"/>
            <a:chOff x="6464618" y="4894898"/>
            <a:chExt cx="5193982" cy="1041082"/>
          </a:xfrm>
        </p:grpSpPr>
        <p:sp>
          <p:nvSpPr>
            <p:cNvPr id="60" name="Rectangle 60"/>
            <p:cNvSpPr/>
            <p:nvPr/>
          </p:nvSpPr>
          <p:spPr>
            <a:xfrm>
              <a:off x="6464618" y="4894898"/>
              <a:ext cx="5193982" cy="1041082"/>
            </a:xfrm>
            <a:prstGeom prst="roundRect">
              <a:avLst>
                <a:gd name="adj" fmla="val 1097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57347" y="5312211"/>
              <a:ext cx="224134" cy="192560"/>
              <a:chOff x="6657347" y="531221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769418" y="53825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657347" y="53122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69418" y="54603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729" y="5184934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保研夏令营多在大三暑假，申请时手里只有「在投」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的稿件，说服力会弱很多。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执行与结项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要不要延期：看实现难度、项目进度、成果进度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7685" y="1524000"/>
            <a:ext cx="4983480" cy="2091214"/>
            <a:chOff x="527685" y="1524000"/>
            <a:chExt cx="4983480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905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考虑因素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902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项目实现难度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34743" y="21083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剩下的部分按现在的速度做得完吗？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项目进度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34743" y="255698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离结题验收还差哪些模块或实验？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成果进度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4743" y="30056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论文、软著、专利走到哪一步了？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2215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7685" y="3395186"/>
              <a:ext cx="3283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三个因素出自原课件第 32 页，自问为本讲义所加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761422"/>
            <a:ext cx="4977765" cy="2223135"/>
            <a:chOff x="533400" y="3761422"/>
            <a:chExt cx="4977765" cy="2223135"/>
          </a:xfrm>
        </p:grpSpPr>
        <p:sp>
          <p:nvSpPr>
            <p:cNvPr id="23" name="Rectangle 23"/>
            <p:cNvSpPr/>
            <p:nvPr/>
          </p:nvSpPr>
          <p:spPr>
            <a:xfrm>
              <a:off x="533400" y="3761422"/>
              <a:ext cx="497776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894772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258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348162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延期怎么申请、能延多久，以学校当年的通知为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4969192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三个因素里只要有一个明显落后，就该在中期检查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前后和老师商量，别等到结题前一个月才发现来不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及。</a:t>
              </a:r>
            </a:p>
          </p:txBody>
        </p:sp>
      </p:grpSp>
      <p:grpSp>
        <p:nvGrpSpPr>
          <p:cNvPr id="60" name="c2-flow-1"/>
          <p:cNvGrpSpPr/>
          <p:nvPr/>
        </p:nvGrpSpPr>
        <p:grpSpPr>
          <a:xfrm>
            <a:off x="6019800" y="1858328"/>
            <a:ext cx="5434965" cy="3854766"/>
            <a:chOff x="6019800" y="1858328"/>
            <a:chExt cx="5434965" cy="3854766"/>
          </a:xfrm>
        </p:grpSpPr>
        <p:sp>
          <p:nvSpPr>
            <p:cNvPr id="30" name="Freeform 30"/>
            <p:cNvSpPr/>
            <p:nvPr/>
          </p:nvSpPr>
          <p:spPr>
            <a:xfrm>
              <a:off x="7276148" y="2296478"/>
              <a:ext cx="9525" cy="373380"/>
            </a:xfrm>
            <a:custGeom>
              <a:avLst/>
              <a:gdLst/>
              <a:ahLst/>
              <a:cxnLst/>
              <a:rect l="l" t="t" r="r" b="b"/>
              <a:pathLst>
                <a:path w="9525" h="373380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23760" y="26698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532495" y="3184208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837295" y="31318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276148" y="3594735"/>
              <a:ext cx="9525" cy="72390"/>
            </a:xfrm>
            <a:custGeom>
              <a:avLst/>
              <a:gdLst/>
              <a:ahLst/>
              <a:cxnLst/>
              <a:rect l="l" t="t" r="r" b="b"/>
              <a:pathLst>
                <a:path w="9525" h="72390">
                  <a:moveTo>
                    <a:pt x="0" y="0"/>
                  </a:moveTo>
                  <a:lnTo>
                    <a:pt x="0" y="723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223760" y="3667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532495" y="4291012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837295" y="4239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76148" y="4811078"/>
              <a:ext cx="9525" cy="167640"/>
            </a:xfrm>
            <a:custGeom>
              <a:avLst/>
              <a:gdLst/>
              <a:ahLst/>
              <a:cxnLst/>
              <a:rect l="l" t="t" r="r" b="b"/>
              <a:pathLst>
                <a:path w="9525" h="167640">
                  <a:moveTo>
                    <a:pt x="0" y="0"/>
                  </a:moveTo>
                  <a:lnTo>
                    <a:pt x="0" y="167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223760" y="49787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19800" y="1858328"/>
              <a:ext cx="251269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019800" y="2774632"/>
              <a:ext cx="2512695" cy="820102"/>
            </a:xfrm>
            <a:custGeom>
              <a:avLst/>
              <a:gdLst/>
              <a:ahLst/>
              <a:cxnLst/>
              <a:rect l="l" t="t" r="r" b="b"/>
              <a:pathLst>
                <a:path w="2512695" h="820102">
                  <a:moveTo>
                    <a:pt x="1256347" y="0"/>
                  </a:moveTo>
                  <a:lnTo>
                    <a:pt x="2512695" y="409575"/>
                  </a:lnTo>
                  <a:lnTo>
                    <a:pt x="1256347" y="820102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42070" y="2965132"/>
              <a:ext cx="251269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019800" y="3771900"/>
              <a:ext cx="2512695" cy="1039178"/>
            </a:xfrm>
            <a:custGeom>
              <a:avLst/>
              <a:gdLst/>
              <a:ahLst/>
              <a:cxnLst/>
              <a:rect l="l" t="t" r="r" b="b"/>
              <a:pathLst>
                <a:path w="2512695" h="1039178">
                  <a:moveTo>
                    <a:pt x="1256347" y="0"/>
                  </a:moveTo>
                  <a:lnTo>
                    <a:pt x="2512695" y="519112"/>
                  </a:lnTo>
                  <a:lnTo>
                    <a:pt x="1256347" y="1039178"/>
                  </a:lnTo>
                  <a:lnTo>
                    <a:pt x="0" y="51911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42070" y="3976688"/>
              <a:ext cx="2512695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19800" y="5083492"/>
              <a:ext cx="251269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52730" y="19883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快到结题窗口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63271" y="298656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已经拿到？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46361" y="30951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按期结题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9430" y="3983831"/>
              <a:ext cx="131343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差一点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（在审、差少量实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验）？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40748" y="409336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考虑延期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到下一个结题窗口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81990" y="520017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调整预期成果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软著兜底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82025" y="29679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20316" y="2994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589645" y="357378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31936" y="36004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582025" y="407479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20316" y="41014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304722" y="482822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27964" y="48548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2" name="c2-text-2"/>
          <p:cNvGrpSpPr/>
          <p:nvPr/>
        </p:nvGrpSpPr>
        <p:grpSpPr>
          <a:xfrm>
            <a:off x="5809488" y="6163151"/>
            <a:ext cx="5906079" cy="249364"/>
            <a:chOff x="5809488" y="6163151"/>
            <a:chExt cx="5906079" cy="249364"/>
          </a:xfrm>
        </p:grpSpPr>
        <p:sp>
          <p:nvSpPr>
            <p:cNvPr id="61" name="TextBox 61"/>
            <p:cNvSpPr txBox="1"/>
            <p:nvPr/>
          </p:nvSpPr>
          <p:spPr>
            <a:xfrm>
              <a:off x="5809488" y="6163151"/>
              <a:ext cx="5906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判断流程为本讲义所加；第 6 页的结题窗口有第二年 4–5 月和 9–10 月两个。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91030" cy="3351847"/>
            <a:chOff x="667512" y="1835468"/>
            <a:chExt cx="51910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资源与经验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81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论文从哪找、课去哪学、工具怎么选，idea 又从哪来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论文网站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入门及深入学习资源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看论文、找代码、租算力的工具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做大创的心路历程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资源与经验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论文网站和工具：按用途挑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8066" y="1524000"/>
            <a:ext cx="4765929" cy="2828544"/>
            <a:chOff x="528066" y="1524000"/>
            <a:chExt cx="4765929" cy="282854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959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论文网站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4143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178117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DBLP、Google Scholar、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AMiner、ResearchGate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25687" y="21831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查论文和作者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12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476059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714625"/>
              <a:ext cx="176593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of Science、知网、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ACM 数据库等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25687" y="28213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通过图书馆访问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194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352800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arXiv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25687" y="33528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预印本，最新工作常先挂在这里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4331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48075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7766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搜索引擎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25687" y="37766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兜底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760595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18435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8066" y="4147185"/>
              <a:ext cx="124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29 页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491990"/>
            <a:ext cx="4760595" cy="1840230"/>
            <a:chOff x="533400" y="4491990"/>
            <a:chExt cx="4760595" cy="1840230"/>
          </a:xfrm>
        </p:grpSpPr>
        <p:sp>
          <p:nvSpPr>
            <p:cNvPr id="27" name="Rectangle 27"/>
            <p:cNvSpPr/>
            <p:nvPr/>
          </p:nvSpPr>
          <p:spPr>
            <a:xfrm>
              <a:off x="533400" y="4491990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62534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469011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7059" y="47244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怎么用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7240" y="51101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3831" y="5050631"/>
              <a:ext cx="38376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DBLP：按会议或作者列出论文清单，查某个会近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几年收了什么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7240" y="569976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831" y="5639276"/>
              <a:ext cx="39729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Scholar：看被引次数，点「被引用」顺藤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摸瓜找新工作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5593461" y="1524000"/>
            <a:ext cx="6065139" cy="2826639"/>
            <a:chOff x="5593461" y="1524000"/>
            <a:chExt cx="6065139" cy="2826639"/>
          </a:xfrm>
        </p:grpSpPr>
        <p:sp>
          <p:nvSpPr>
            <p:cNvPr id="36" name="Rectangle 36"/>
            <p:cNvSpPr/>
            <p:nvPr/>
          </p:nvSpPr>
          <p:spPr>
            <a:xfrm>
              <a:off x="5598795" y="1524000"/>
              <a:ext cx="605980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079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6974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01284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通用助手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19606" y="2076450"/>
              <a:ext cx="654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ChatGPT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598795" y="237267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01284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看论文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19606" y="2501265"/>
              <a:ext cx="3488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知云文献翻译、IcySCI、Zotero、Goodnotes 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27927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1284" y="292608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搜论文、找论文关系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19606" y="2926080"/>
              <a:ext cx="2847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SciHub、Connected Papers、Scite 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3216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98795" y="322135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01284" y="33499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找开源代码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19606" y="3349942"/>
              <a:ext cx="3287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GitHub、Papers with Code、机器之心 SOTA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36414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01284" y="377475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低价靠谱的算力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19606" y="3774757"/>
              <a:ext cx="560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AutoDL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1524000"/>
              <a:ext cx="6059805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412355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593461" y="4145280"/>
              <a:ext cx="124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31 页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5598795" y="4489132"/>
            <a:ext cx="6059805" cy="1842135"/>
            <a:chOff x="5598795" y="4489132"/>
            <a:chExt cx="6059805" cy="1842135"/>
          </a:xfrm>
        </p:grpSpPr>
        <p:sp>
          <p:nvSpPr>
            <p:cNvPr id="59" name="Rectangle 59"/>
            <p:cNvSpPr/>
            <p:nvPr/>
          </p:nvSpPr>
          <p:spPr>
            <a:xfrm>
              <a:off x="5598795" y="4489132"/>
              <a:ext cx="6059805" cy="1842135"/>
            </a:xfrm>
            <a:prstGeom prst="roundRect">
              <a:avLst>
                <a:gd name="adj" fmla="val 620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5803583" y="5310188"/>
              <a:ext cx="200026" cy="200026"/>
              <a:chOff x="5803583" y="5310188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5803583" y="53101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903595" y="5376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892483" y="54102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105906" y="5180171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下载全文优先走图书馆购买的数据库；Zotero 管文献、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Connected Papers 看引用关系，两样入门就够用。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资源与经验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入门及深入学习资源：先打机器学习基础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27685" y="1524000"/>
            <a:ext cx="6281737" cy="3215164"/>
            <a:chOff x="527685" y="1524000"/>
            <a:chExt cx="6281737" cy="321516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689" y="1659731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主讲 / 作者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455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吴恩达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7126" y="2108359"/>
              <a:ext cx="43126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机器学习（Stanford CS229），以及机器学习、深度学习等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Coursera 系列课程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7836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李宏毅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7126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机器学习等系列课程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7126" y="3232309"/>
              <a:ext cx="3070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动手学深度学习（D2L），论文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精读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周志华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7126" y="36809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《机器学习》（西瓜书）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0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1305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国外高校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7126" y="4130516"/>
              <a:ext cx="2837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Stanford、CMU、MIT 等网上公开课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27602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34540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685" y="451913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出自原课件第 30 页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885372"/>
            <a:ext cx="6276022" cy="1316355"/>
            <a:chOff x="533400" y="4885372"/>
            <a:chExt cx="6276022" cy="1316355"/>
          </a:xfrm>
        </p:grpSpPr>
        <p:sp>
          <p:nvSpPr>
            <p:cNvPr id="30" name="Rectangle 30"/>
            <p:cNvSpPr/>
            <p:nvPr/>
          </p:nvSpPr>
          <p:spPr>
            <a:xfrm>
              <a:off x="533400" y="4885372"/>
              <a:ext cx="627602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01872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" y="50949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1258" y="51306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3430" y="5472112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原课件写作「论文精度系列」，李沐的系列视频名称是「论文精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读」。</a:t>
              </a:r>
            </a:p>
          </p:txBody>
        </p:sp>
      </p:grpSp>
      <p:grpSp>
        <p:nvGrpSpPr>
          <p:cNvPr id="49" name="c2-steps-1"/>
          <p:cNvGrpSpPr/>
          <p:nvPr/>
        </p:nvGrpSpPr>
        <p:grpSpPr>
          <a:xfrm>
            <a:off x="7114222" y="1533525"/>
            <a:ext cx="3354909" cy="1878615"/>
            <a:chOff x="7114222" y="1533525"/>
            <a:chExt cx="3354909" cy="1878615"/>
          </a:xfrm>
        </p:grpSpPr>
        <p:sp>
          <p:nvSpPr>
            <p:cNvPr id="36" name="Rectangle 36"/>
            <p:cNvSpPr/>
            <p:nvPr/>
          </p:nvSpPr>
          <p:spPr>
            <a:xfrm>
              <a:off x="7247572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114222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784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14222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784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25702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打基础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26846" y="186166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一门机器学习课或西瓜书，建立概念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5702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能动手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6846" y="2512219"/>
              <a:ext cx="1801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跟着 D2L 把代码跑一遍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5702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读论文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6846" y="316277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看论文精读视频，再读自己方向的论文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114222" y="3590925"/>
            <a:ext cx="4544378" cy="2611755"/>
            <a:chOff x="7114222" y="3590925"/>
            <a:chExt cx="4544378" cy="2611755"/>
          </a:xfrm>
        </p:grpSpPr>
        <p:sp>
          <p:nvSpPr>
            <p:cNvPr id="50" name="Rectangle 50"/>
            <p:cNvSpPr/>
            <p:nvPr/>
          </p:nvSpPr>
          <p:spPr>
            <a:xfrm>
              <a:off x="7114222" y="3590925"/>
              <a:ext cx="4544378" cy="2611755"/>
            </a:xfrm>
            <a:prstGeom prst="roundRect">
              <a:avLst>
                <a:gd name="adj" fmla="val 51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3748" y="3724275"/>
              <a:ext cx="47625" cy="23450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61872" y="38004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52081" y="3836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54252" y="417766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学习顺序为本讲义所加的建议，适合做科学问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题或偏算法的工程系统。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54252" y="479869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做开发类项目的同学按技术栈另找教程，比如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前端框架、后端框架的官方文档。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 · 资源与经验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心路历程：idea 来自积累、讨论和一点运气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030605"/>
            <a:chOff x="533400" y="1524000"/>
            <a:chExt cx="6059805" cy="1030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心态要好，脑子要活，思维要清。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27685" y="2745105"/>
            <a:ext cx="6065520" cy="2317909"/>
            <a:chOff x="527685" y="2745105"/>
            <a:chExt cx="6065520" cy="2317909"/>
          </a:xfrm>
        </p:grpSpPr>
        <p:sp>
          <p:nvSpPr>
            <p:cNvPr id="13" name="Rectangle 13"/>
            <p:cNvSpPr/>
            <p:nvPr/>
          </p:nvSpPr>
          <p:spPr>
            <a:xfrm>
              <a:off x="533400" y="2745105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2625" y="2880836"/>
              <a:ext cx="936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idea 的来源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55289" y="288083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原课件列出的成分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34428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靠积累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16658" y="3329464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大量的论文积累；对方法、技术扎实的理解；个人对领域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的洞见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642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8690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0047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靠碰撞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16658" y="40047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一瞬间的灵感；集思广益；队友合作的讨论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3138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4534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靠验证与运气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16658" y="44534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运气和机缘；实验结果有提升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45105"/>
              <a:ext cx="605980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04072" y="274510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4842986"/>
              <a:ext cx="403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 35 页把这些写成一个加法式，这里按性质分成三组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209222"/>
            <a:ext cx="6059805" cy="782955"/>
            <a:chOff x="533400" y="5209222"/>
            <a:chExt cx="6059805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209222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500690"/>
              <a:ext cx="200023" cy="200023"/>
              <a:chOff x="738188" y="550069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006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5567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357812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运气只占其中一项，前面几项都要靠平时读论文、跑实验、和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队友讨论攒出来。</a:t>
              </a:r>
            </a:p>
          </p:txBody>
        </p:sp>
      </p:grpSp>
      <p:grpSp>
        <p:nvGrpSpPr>
          <p:cNvPr id="37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647993" y="5189696"/>
              <a:ext cx="326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论文、讨论、灵感和一点运气，一起装进 idea 里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11125200" cy="4389120"/>
            <a:chOff x="533400" y="1524000"/>
            <a:chExt cx="11125200" cy="4389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9263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760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6990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大一能做大创吗？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7640" y="21507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可以。主要面向大二，大一也可以参与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7942" y="215074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能同时参加两个项目吗？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7640" y="26384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不能，每人只能同时参加一个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07942" y="2638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1261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立项在什么时候？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77640" y="3126105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月，一般 5 月中旬前后，评审同时确定级别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7942" y="312610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36137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先找队友还是先找老师？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7640" y="36137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都可以，推荐先组队再找老师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07942" y="361378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1014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挂名当「挂件」可以吗？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80485" y="3971925"/>
              <a:ext cx="6211252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77640" y="41014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07942" y="410146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页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453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500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0080" y="45891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自己想题还是做老师课题？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77640" y="458914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自己想的自由度大但难被接收；老师课题更容易找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07942" y="458914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16 页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9329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0080" y="5076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答辩前该准备什么？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77640" y="5076825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按项目类型拿出复现结果、数据可视化或丐版 v0.1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07942" y="507682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20 页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420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42544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0080" y="55645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只剩两三个月没有成果？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77640" y="55645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先用软著兜底，同时评估是否延期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07942" y="5564505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25、27 页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11125200" cy="4389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866198" y="1524000"/>
              <a:ext cx="9525" cy="4389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96500" y="1524000"/>
              <a:ext cx="9525" cy="4389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70" cy="909257"/>
            <a:chOff x="520446" y="342900"/>
            <a:chExt cx="7124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大创的正式全称是什么？组队人数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有什么要求？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929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大学生创新创业训练计划；必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 3 至 5 人组队申报，每人同时只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能参加一个项目。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选研究方向时哪三类尽量不要碰？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2720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红海方向、太古老的方向、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baseline 太高只能刷点的方向。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23135"/>
            <a:chOff x="4343400" y="1524000"/>
            <a:chExt cx="3505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一个项目要经过哪几个节点？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446020"/>
              <a:ext cx="29203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第一年 4–5 月立项评审定级，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月中期检查，第二年 4–5 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9–10 月结题验收，之后遴选优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秀候选上报学部。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37635"/>
            <a:ext cx="3505200" cy="2223135"/>
            <a:chOff x="4343400" y="393763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52437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工程系统类项目为什么要尽早做出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带界面的 v1.0？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系统要展示给人看才能反映有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效性和准确性，命令行效果过弱；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之后在 v1.0 上迭代调优。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94084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 23 项，按不超过 20% 取整，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优秀候选最多几项？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853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× 20% = 4.6，不能超过，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所以最多 4 项。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508885"/>
            <a:chOff x="8153400" y="3651885"/>
            <a:chExt cx="3505200" cy="250888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立项答辩前，数据类项目适合展示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什么前期工作？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爬取数据的展示或可视化，最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好是现实数据清洗后的结果，而不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是现成数据集。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47419" cy="909257"/>
            <a:chOff x="520446" y="342900"/>
            <a:chExt cx="1447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郎骐玮 · 大创经验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6172200" cy="2257425"/>
            <a:chOff x="533400" y="1535430"/>
            <a:chExt cx="6172200" cy="225742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大创是大学生创新创业训练计划，3 至 5 人组队，每人同时一个项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目，周期 1 至 2 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节点：春季立项定级、秋季中期、第二年结题，优秀候选按比例向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下取整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做之前先问需要吗、能做吗、能得到什么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1836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15468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运营四步：准备、立项、执行、结项；准备要做在通知之前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861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528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49948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按开发、工程系统、科学问题选执行方式，成果尽量现实、尽早投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924300"/>
            <a:ext cx="6059805" cy="1701165"/>
            <a:chOff x="533400" y="3924300"/>
            <a:chExt cx="6059805" cy="1701165"/>
          </a:xfrm>
        </p:grpSpPr>
        <p:sp>
          <p:nvSpPr>
            <p:cNvPr id="23" name="Rectangle 23"/>
            <p:cNvSpPr/>
            <p:nvPr/>
          </p:nvSpPr>
          <p:spPr>
            <a:xfrm>
              <a:off x="533400" y="3924300"/>
              <a:ext cx="605980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0576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1338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557" y="41695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读完之后可以做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5739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11040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 9 页的流程给自己过一遍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909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846320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按第 13 页的四步列出两三个候选方向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2444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1816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去学院官网找两三位方向相近的老师</a:t>
              </a:r>
            </a:p>
          </p:txBody>
        </p:sp>
      </p:grpSp>
      <p:grpSp>
        <p:nvGrpSpPr>
          <p:cNvPr id="69" name="c2-tree-1"/>
          <p:cNvGrpSpPr/>
          <p:nvPr/>
        </p:nvGrpSpPr>
        <p:grpSpPr>
          <a:xfrm>
            <a:off x="6898005" y="1596390"/>
            <a:ext cx="4760595" cy="3989070"/>
            <a:chOff x="6898005" y="1596390"/>
            <a:chExt cx="4760595" cy="3989070"/>
          </a:xfrm>
        </p:grpSpPr>
        <p:sp>
          <p:nvSpPr>
            <p:cNvPr id="34" name="Freeform 34"/>
            <p:cNvSpPr/>
            <p:nvPr/>
          </p:nvSpPr>
          <p:spPr>
            <a:xfrm>
              <a:off x="9752648" y="1782128"/>
              <a:ext cx="419100" cy="258127"/>
            </a:xfrm>
            <a:custGeom>
              <a:avLst/>
              <a:gdLst/>
              <a:ahLst/>
              <a:cxnLst/>
              <a:rect l="l" t="t" r="r" b="b"/>
              <a:pathLst>
                <a:path w="419100" h="258127">
                  <a:moveTo>
                    <a:pt x="0" y="258127"/>
                  </a:moveTo>
                  <a:lnTo>
                    <a:pt x="209550" y="25812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752648" y="2040255"/>
              <a:ext cx="419100" cy="259080"/>
            </a:xfrm>
            <a:custGeom>
              <a:avLst/>
              <a:gdLst/>
              <a:ahLst/>
              <a:cxnLst/>
              <a:rect l="l" t="t" r="r" b="b"/>
              <a:pathLst>
                <a:path w="419100" h="259080">
                  <a:moveTo>
                    <a:pt x="0" y="0"/>
                  </a:moveTo>
                  <a:lnTo>
                    <a:pt x="209550" y="0"/>
                  </a:lnTo>
                  <a:lnTo>
                    <a:pt x="209550" y="259080"/>
                  </a:lnTo>
                  <a:lnTo>
                    <a:pt x="419100" y="2590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752648" y="2815590"/>
              <a:ext cx="419100" cy="259080"/>
            </a:xfrm>
            <a:custGeom>
              <a:avLst/>
              <a:gdLst/>
              <a:ahLst/>
              <a:cxnLst/>
              <a:rect l="l" t="t" r="r" b="b"/>
              <a:pathLst>
                <a:path w="419100" h="259080">
                  <a:moveTo>
                    <a:pt x="0" y="259080"/>
                  </a:moveTo>
                  <a:lnTo>
                    <a:pt x="209550" y="2590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752648" y="3074670"/>
              <a:ext cx="419100" cy="258127"/>
            </a:xfrm>
            <a:custGeom>
              <a:avLst/>
              <a:gdLst/>
              <a:ahLst/>
              <a:cxnLst/>
              <a:rect l="l" t="t" r="r" b="b"/>
              <a:pathLst>
                <a:path w="419100" h="258127">
                  <a:moveTo>
                    <a:pt x="0" y="0"/>
                  </a:moveTo>
                  <a:lnTo>
                    <a:pt x="209550" y="0"/>
                  </a:lnTo>
                  <a:lnTo>
                    <a:pt x="209550" y="258127"/>
                  </a:lnTo>
                  <a:lnTo>
                    <a:pt x="419100" y="25812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752648" y="3849052"/>
              <a:ext cx="419100" cy="517207"/>
            </a:xfrm>
            <a:custGeom>
              <a:avLst/>
              <a:gdLst/>
              <a:ahLst/>
              <a:cxnLst/>
              <a:rect l="l" t="t" r="r" b="b"/>
              <a:pathLst>
                <a:path w="419100" h="517207">
                  <a:moveTo>
                    <a:pt x="0" y="517207"/>
                  </a:moveTo>
                  <a:lnTo>
                    <a:pt x="209550" y="5172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752648" y="436626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752648" y="4366260"/>
              <a:ext cx="419100" cy="516255"/>
            </a:xfrm>
            <a:custGeom>
              <a:avLst/>
              <a:gdLst/>
              <a:ahLst/>
              <a:cxnLst/>
              <a:rect l="l" t="t" r="r" b="b"/>
              <a:pathLst>
                <a:path w="419100" h="516255">
                  <a:moveTo>
                    <a:pt x="0" y="0"/>
                  </a:moveTo>
                  <a:lnTo>
                    <a:pt x="209550" y="0"/>
                  </a:lnTo>
                  <a:lnTo>
                    <a:pt x="209550" y="516255"/>
                  </a:lnTo>
                  <a:lnTo>
                    <a:pt x="419100" y="5162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872412" y="2040255"/>
              <a:ext cx="419100" cy="1680210"/>
            </a:xfrm>
            <a:custGeom>
              <a:avLst/>
              <a:gdLst/>
              <a:ahLst/>
              <a:cxnLst/>
              <a:rect l="l" t="t" r="r" b="b"/>
              <a:pathLst>
                <a:path w="419100" h="1680210">
                  <a:moveTo>
                    <a:pt x="0" y="1680210"/>
                  </a:moveTo>
                  <a:lnTo>
                    <a:pt x="209550" y="168021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872412" y="3074670"/>
              <a:ext cx="419100" cy="645795"/>
            </a:xfrm>
            <a:custGeom>
              <a:avLst/>
              <a:gdLst/>
              <a:ahLst/>
              <a:cxnLst/>
              <a:rect l="l" t="t" r="r" b="b"/>
              <a:pathLst>
                <a:path w="419100" h="645795">
                  <a:moveTo>
                    <a:pt x="0" y="645795"/>
                  </a:moveTo>
                  <a:lnTo>
                    <a:pt x="209550" y="64579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872412" y="3720465"/>
              <a:ext cx="419100" cy="645795"/>
            </a:xfrm>
            <a:custGeom>
              <a:avLst/>
              <a:gdLst/>
              <a:ahLst/>
              <a:cxnLst/>
              <a:rect l="l" t="t" r="r" b="b"/>
              <a:pathLst>
                <a:path w="419100" h="645795">
                  <a:moveTo>
                    <a:pt x="0" y="0"/>
                  </a:moveTo>
                  <a:lnTo>
                    <a:pt x="209550" y="0"/>
                  </a:lnTo>
                  <a:lnTo>
                    <a:pt x="209550" y="645795"/>
                  </a:lnTo>
                  <a:lnTo>
                    <a:pt x="419100" y="6457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872412" y="3720465"/>
              <a:ext cx="419100" cy="1679257"/>
            </a:xfrm>
            <a:custGeom>
              <a:avLst/>
              <a:gdLst/>
              <a:ahLst/>
              <a:cxnLst/>
              <a:rect l="l" t="t" r="r" b="b"/>
              <a:pathLst>
                <a:path w="419100" h="1679257">
                  <a:moveTo>
                    <a:pt x="0" y="0"/>
                  </a:moveTo>
                  <a:lnTo>
                    <a:pt x="209550" y="0"/>
                  </a:lnTo>
                  <a:lnTo>
                    <a:pt x="209550" y="1679257"/>
                  </a:lnTo>
                  <a:lnTo>
                    <a:pt x="419100" y="167925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71748" y="1596390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71748" y="2112645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91512" y="1854518"/>
              <a:ext cx="14620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171748" y="2629852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71748" y="3146108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91512" y="2887980"/>
              <a:ext cx="14620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71748" y="3663315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71748" y="4179570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71748" y="4696778"/>
              <a:ext cx="148685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91512" y="4179570"/>
              <a:ext cx="146208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91512" y="5213032"/>
              <a:ext cx="146208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8005" y="3533775"/>
              <a:ext cx="974408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60520" y="16930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60520" y="22102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时间节点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80286" y="19511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了解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60520" y="2726531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 / 能做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60520" y="32437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两类经历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80286" y="29856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决定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60520" y="37599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准备与立项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60520" y="4277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60520" y="47934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80286" y="4277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运营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80286" y="5310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资源与经验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86778" y="36314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大创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9912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立项看前期工作，结题看成果，两头都要提前一个学期准备。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大创经验分享（郎骐玮）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chuang_zhangbairong">
  <a:themeElements>
    <a:clrScheme name="dachuang_zhangbairo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chuang_zhangbairo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chuang_zhangbairo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2026-09-23T11:29:20Z</dcterms:created>
  <dcterms:modified xsi:type="dcterms:W3CDTF">2026-09-23T11:29:20Z</dcterms:modified>
  <cp:category/>
  <cp:contentStatus/>
</cp:coreProperties>
</file>