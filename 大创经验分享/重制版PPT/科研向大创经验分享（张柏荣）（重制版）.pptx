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achuang_langqiwei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achuang_langqiwei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d457b056f725fec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cab45f71b650073.png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044ec591153fde7.png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5556" t="0" r="5555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6035421" cy="3420618"/>
            <a:chOff x="666750" y="1619250"/>
            <a:chExt cx="6035421" cy="3420618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32124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2179" y="1718310"/>
              <a:ext cx="21094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大创经验分享 · 2024.03.10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6968"/>
              <a:ext cx="6035421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大创经验分享（科研向）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29915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49955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从开始之前的准备，到立项、科研过程与结项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5954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042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大创规则、时间节点与加分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5005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19481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做之前想清目的、队友、老师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4056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48532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立项前把前期工作做扎实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3108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7583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结项形式与个人经验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929683" cy="205359"/>
            <a:chOff x="680466" y="6192202"/>
            <a:chExt cx="4929683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9296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自学复习版｜据软件学院张柏荣 2024 年 3 月 10 日的分享课件整理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915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0127" y="407194"/>
              <a:ext cx="1098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大创概述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项目类型、组队规则、时间节点、加分细则、成果形式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做大创之前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目的、第一性原理、自我评估、队友、老师、选题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大创立项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选具体题目、前期准备、评审看什么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立项之后与结项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科研过程的心态、论文状态、结项形式、本科科研时间线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个人杂谈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老师看重的特质、合作、务实表达、完美主义、复用与复现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630930"/>
            <a:chOff x="7114222" y="1524000"/>
            <a:chExt cx="4544378" cy="3630930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630930"/>
            </a:xfrm>
            <a:prstGeom prst="roundRect">
              <a:avLst>
                <a:gd name="adj" fmla="val 3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36423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说出立项、中期、结项三个节点各在几月、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要交什么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按学院加分细则算出一项成果能加多少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GPA，并说出前提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用第一性原理的思路，把一个工程问题拆成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几个可回答的小问题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列出立项前可以拿给评委看的四类前期工作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3719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30911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 arXiv、在投、有审稿意见、中稿四种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论文状态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45810" cy="909257"/>
            <a:chOff x="520446" y="342900"/>
            <a:chExt cx="80458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915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0127" y="407194"/>
              <a:ext cx="1098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458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分享者的大创：从确定方向到国家级立项用了 239 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card-1"/>
          <p:cNvGrpSpPr/>
          <p:nvPr/>
        </p:nvGrpSpPr>
        <p:grpSpPr>
          <a:xfrm>
            <a:off x="533400" y="1524000"/>
            <a:ext cx="5626418" cy="4805362"/>
            <a:chOff x="533400" y="1524000"/>
            <a:chExt cx="5626418" cy="48053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805362"/>
            </a:xfrm>
            <a:prstGeom prst="roundRect">
              <a:avLst>
                <a:gd name="adj" fmla="val 27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5386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案例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《基于策略梯度安全强化学习算法的样本效率研究》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14400" y="259270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781050" y="244983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4674" y="25236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310038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4674" y="31742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375094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4674" y="38247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1050" y="44024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4674" y="4476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92530" y="2484120"/>
              <a:ext cx="175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2022 年 11 月 7 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93673" y="277796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确定开始做这个方向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92530" y="3134678"/>
              <a:ext cx="16387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2023 年 5 月 9 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93673" y="3428524"/>
              <a:ext cx="30801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教务处发布 2023 年度大创立项工作通知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92530" y="3785235"/>
              <a:ext cx="175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2023 年 6 月 12 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93673" y="4079081"/>
              <a:ext cx="19514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立项答辩，距开始 217 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92530" y="4436745"/>
              <a:ext cx="16387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2023 年 7 月 4 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93673" y="4729639"/>
              <a:ext cx="44414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确定国家级立项，本人为第一负责人；答辩后 22 天出结果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4573" y="5083016"/>
              <a:ext cx="48734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天数按日历日用 Python 计算。准备期大半年，通知发出到答辩只有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 天。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6458902" y="1524000"/>
            <a:ext cx="5199698" cy="2771299"/>
            <a:chOff x="6458902" y="1524000"/>
            <a:chExt cx="5199698" cy="2771299"/>
          </a:xfrm>
        </p:grpSpPr>
        <p:sp>
          <p:nvSpPr>
            <p:cNvPr id="31" name="Rectangle 31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6415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参考目录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974516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用来查什么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72441" y="2108359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中国计算机学会推荐国际学术会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议和期刊目录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73730" y="2221706"/>
              <a:ext cx="23564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会议、期刊的 CCF A/B/C 等级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26431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4618" y="2647950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72441" y="2783681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计算领域高质量科技期刊分级目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73730" y="289702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中英文期刊的分级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33194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72441" y="3459004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中国计算机学会推荐中文科技期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刊目录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73730" y="3572351"/>
              <a:ext cx="16288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中文期刊的 CCF 等级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1524000"/>
              <a:ext cx="5193982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9161145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58902" y="4075271"/>
              <a:ext cx="3954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5 页推荐的三份目录，投稿前和写申请书时都要查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464618" y="4441508"/>
            <a:ext cx="5193982" cy="1887855"/>
            <a:chOff x="6464618" y="4441508"/>
            <a:chExt cx="5193982" cy="1887855"/>
          </a:xfrm>
        </p:grpSpPr>
        <p:sp>
          <p:nvSpPr>
            <p:cNvPr id="47" name="Rectangle 47"/>
            <p:cNvSpPr/>
            <p:nvPr/>
          </p:nvSpPr>
          <p:spPr>
            <a:xfrm>
              <a:off x="6464618" y="4441508"/>
              <a:ext cx="5193982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4142" y="4574858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712268" y="465105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94576" y="46867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资料来源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04648" y="5028248"/>
              <a:ext cx="45491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分享者参考了学院老师 2022 年的讲座（侧重科研规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范、项目筹备的整套流程）和往届学长 2023 年的分享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（个人经验与资源）。两场的课件同在本仓库「大创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经验分享」目录，原课件所附网盘链接此处略去。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915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0127" y="407194"/>
              <a:ext cx="1098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开始之前：各家观点有方差，多听多看，再动手验证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graph-1"/>
          <p:cNvGrpSpPr/>
          <p:nvPr/>
        </p:nvGrpSpPr>
        <p:grpSpPr>
          <a:xfrm>
            <a:off x="746760" y="1554480"/>
            <a:ext cx="5415915" cy="2652141"/>
            <a:chOff x="746760" y="1554480"/>
            <a:chExt cx="5415915" cy="2652141"/>
          </a:xfrm>
        </p:grpSpPr>
        <p:sp>
          <p:nvSpPr>
            <p:cNvPr id="7" name="Freeform 7"/>
            <p:cNvSpPr/>
            <p:nvPr/>
          </p:nvSpPr>
          <p:spPr>
            <a:xfrm>
              <a:off x="746760" y="3908108"/>
              <a:ext cx="5320665" cy="9525"/>
            </a:xfrm>
            <a:custGeom>
              <a:avLst/>
              <a:gdLst/>
              <a:ahLst/>
              <a:cxnLst/>
              <a:rect l="l" t="t" r="r" b="b"/>
              <a:pathLst>
                <a:path w="5320665" h="9525">
                  <a:moveTo>
                    <a:pt x="0" y="0"/>
                  </a:moveTo>
                  <a:lnTo>
                    <a:pt x="532066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067425" y="38604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22020" y="2078355"/>
              <a:ext cx="5065395" cy="1829753"/>
            </a:xfrm>
            <a:custGeom>
              <a:avLst/>
              <a:gdLst/>
              <a:ahLst/>
              <a:cxnLst/>
              <a:rect l="l" t="t" r="r" b="b"/>
              <a:pathLst>
                <a:path w="5065395" h="1829753">
                  <a:moveTo>
                    <a:pt x="0" y="1829753"/>
                  </a:moveTo>
                  <a:lnTo>
                    <a:pt x="160973" y="1829753"/>
                  </a:lnTo>
                  <a:lnTo>
                    <a:pt x="359092" y="1829753"/>
                  </a:lnTo>
                  <a:lnTo>
                    <a:pt x="558165" y="1829753"/>
                  </a:lnTo>
                  <a:lnTo>
                    <a:pt x="750570" y="1824038"/>
                  </a:lnTo>
                  <a:lnTo>
                    <a:pt x="949642" y="1812608"/>
                  </a:lnTo>
                  <a:lnTo>
                    <a:pt x="1147763" y="1779270"/>
                  </a:lnTo>
                  <a:lnTo>
                    <a:pt x="1346835" y="1702118"/>
                  </a:lnTo>
                  <a:lnTo>
                    <a:pt x="1544955" y="1541145"/>
                  </a:lnTo>
                  <a:lnTo>
                    <a:pt x="1744027" y="1269682"/>
                  </a:lnTo>
                  <a:lnTo>
                    <a:pt x="1936432" y="889635"/>
                  </a:lnTo>
                  <a:lnTo>
                    <a:pt x="2135505" y="468630"/>
                  </a:lnTo>
                  <a:lnTo>
                    <a:pt x="2334577" y="130493"/>
                  </a:lnTo>
                  <a:lnTo>
                    <a:pt x="2532698" y="0"/>
                  </a:lnTo>
                  <a:lnTo>
                    <a:pt x="2731770" y="130493"/>
                  </a:lnTo>
                  <a:lnTo>
                    <a:pt x="2929890" y="468630"/>
                  </a:lnTo>
                  <a:lnTo>
                    <a:pt x="3128962" y="889635"/>
                  </a:lnTo>
                  <a:lnTo>
                    <a:pt x="3321368" y="1269682"/>
                  </a:lnTo>
                  <a:lnTo>
                    <a:pt x="3520440" y="1541145"/>
                  </a:lnTo>
                  <a:lnTo>
                    <a:pt x="3718560" y="1702118"/>
                  </a:lnTo>
                  <a:lnTo>
                    <a:pt x="3917632" y="1779270"/>
                  </a:lnTo>
                  <a:lnTo>
                    <a:pt x="4116705" y="1812608"/>
                  </a:lnTo>
                  <a:lnTo>
                    <a:pt x="4314825" y="1824038"/>
                  </a:lnTo>
                  <a:lnTo>
                    <a:pt x="4508182" y="1829753"/>
                  </a:lnTo>
                  <a:lnTo>
                    <a:pt x="4706302" y="1829753"/>
                  </a:lnTo>
                  <a:lnTo>
                    <a:pt x="4905375" y="1829753"/>
                  </a:lnTo>
                  <a:lnTo>
                    <a:pt x="5065395" y="1829753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22020" y="2992755"/>
              <a:ext cx="5065395" cy="871538"/>
            </a:xfrm>
            <a:custGeom>
              <a:avLst/>
              <a:gdLst/>
              <a:ahLst/>
              <a:cxnLst/>
              <a:rect l="l" t="t" r="r" b="b"/>
              <a:pathLst>
                <a:path w="5065395" h="871538">
                  <a:moveTo>
                    <a:pt x="0" y="871538"/>
                  </a:moveTo>
                  <a:lnTo>
                    <a:pt x="160973" y="851535"/>
                  </a:lnTo>
                  <a:lnTo>
                    <a:pt x="359092" y="818198"/>
                  </a:lnTo>
                  <a:lnTo>
                    <a:pt x="558165" y="770573"/>
                  </a:lnTo>
                  <a:lnTo>
                    <a:pt x="750570" y="709612"/>
                  </a:lnTo>
                  <a:lnTo>
                    <a:pt x="949642" y="635317"/>
                  </a:lnTo>
                  <a:lnTo>
                    <a:pt x="1147763" y="546735"/>
                  </a:lnTo>
                  <a:lnTo>
                    <a:pt x="1346835" y="443865"/>
                  </a:lnTo>
                  <a:lnTo>
                    <a:pt x="1544955" y="338138"/>
                  </a:lnTo>
                  <a:lnTo>
                    <a:pt x="1744027" y="236220"/>
                  </a:lnTo>
                  <a:lnTo>
                    <a:pt x="1936432" y="141923"/>
                  </a:lnTo>
                  <a:lnTo>
                    <a:pt x="2135505" y="66675"/>
                  </a:lnTo>
                  <a:lnTo>
                    <a:pt x="2334577" y="17145"/>
                  </a:lnTo>
                  <a:lnTo>
                    <a:pt x="2532698" y="0"/>
                  </a:lnTo>
                  <a:lnTo>
                    <a:pt x="2731770" y="17145"/>
                  </a:lnTo>
                  <a:lnTo>
                    <a:pt x="2929890" y="66675"/>
                  </a:lnTo>
                  <a:lnTo>
                    <a:pt x="3128962" y="141923"/>
                  </a:lnTo>
                  <a:lnTo>
                    <a:pt x="3321368" y="236220"/>
                  </a:lnTo>
                  <a:lnTo>
                    <a:pt x="3520440" y="338138"/>
                  </a:lnTo>
                  <a:lnTo>
                    <a:pt x="3718560" y="443865"/>
                  </a:lnTo>
                  <a:lnTo>
                    <a:pt x="3917632" y="546735"/>
                  </a:lnTo>
                  <a:lnTo>
                    <a:pt x="4116705" y="635317"/>
                  </a:lnTo>
                  <a:lnTo>
                    <a:pt x="4314825" y="709612"/>
                  </a:lnTo>
                  <a:lnTo>
                    <a:pt x="4508182" y="770573"/>
                  </a:lnTo>
                  <a:lnTo>
                    <a:pt x="4706302" y="818198"/>
                  </a:lnTo>
                  <a:lnTo>
                    <a:pt x="4905375" y="851535"/>
                  </a:lnTo>
                  <a:lnTo>
                    <a:pt x="5065395" y="871538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916299" y="1782128"/>
              <a:ext cx="16056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N(0,1)：峰高 0.399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83976" y="2780348"/>
              <a:ext cx="16056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N(0,4)：峰高 0.199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04197" y="397192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8975" y="397192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74994" y="397192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9322" y="155448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方差越大，曲线越矮越宽：同一问题上各人的说法越分散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481512"/>
            <a:ext cx="5842635" cy="1564958"/>
            <a:chOff x="533400" y="4481512"/>
            <a:chExt cx="5842635" cy="1564958"/>
          </a:xfrm>
        </p:grpSpPr>
        <p:sp>
          <p:nvSpPr>
            <p:cNvPr id="18" name="Rectangle 18"/>
            <p:cNvSpPr/>
            <p:nvPr/>
          </p:nvSpPr>
          <p:spPr>
            <a:xfrm>
              <a:off x="533400" y="4481512"/>
              <a:ext cx="5842635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614862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75335" y="468534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5543" y="4721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8096" y="5058251"/>
              <a:ext cx="510006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4 页图例写作 N(0,2)。图中蓝线峰高正好是红线的一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半，对应标准差 2，按 N(μ, σ²) 的记法应写作 N(0,4)；方差为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时峰高应是红线的 0.707 倍。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680835" y="1524000"/>
            <a:ext cx="4977765" cy="1564958"/>
            <a:chOff x="6680835" y="1524000"/>
            <a:chExt cx="4977765" cy="1564958"/>
          </a:xfrm>
        </p:grpSpPr>
        <p:sp>
          <p:nvSpPr>
            <p:cNvPr id="24" name="Rectangle 24"/>
            <p:cNvSpPr/>
            <p:nvPr/>
          </p:nvSpPr>
          <p:spPr>
            <a:xfrm>
              <a:off x="6680835" y="1524000"/>
              <a:ext cx="4977765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90360" y="165735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922770" y="1727835"/>
              <a:ext cx="29146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20204" y="17635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22248" y="176736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观点的方差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15531" y="2119789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找老师、选方向、要不要做大创，不同的人会给出差得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很远的建议。本场分享也只是其中一个样本，拿来对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照，不必照搬。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680835" y="3273742"/>
            <a:ext cx="4977765" cy="1293495"/>
            <a:chOff x="6680835" y="3273742"/>
            <a:chExt cx="4977765" cy="1293495"/>
          </a:xfrm>
        </p:grpSpPr>
        <p:sp>
          <p:nvSpPr>
            <p:cNvPr id="31" name="Rectangle 31"/>
            <p:cNvSpPr/>
            <p:nvPr/>
          </p:nvSpPr>
          <p:spPr>
            <a:xfrm>
              <a:off x="6680835" y="3273742"/>
              <a:ext cx="497776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90360" y="3407092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922770" y="3477578"/>
              <a:ext cx="291465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20204" y="35132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22248" y="351805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多听、多看、多问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15531" y="3869531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听几场分享、看往年立项名单、问做过的学长学姐，样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本多了，才分得清哪些是共识、哪些是个人经历。</a:t>
              </a:r>
            </a:p>
          </p:txBody>
        </p:sp>
      </p:grpSp>
      <p:grpSp>
        <p:nvGrpSpPr>
          <p:cNvPr id="43" name="c2-card-3"/>
          <p:cNvGrpSpPr/>
          <p:nvPr/>
        </p:nvGrpSpPr>
        <p:grpSpPr>
          <a:xfrm>
            <a:off x="6680835" y="4752975"/>
            <a:ext cx="4977765" cy="1293495"/>
            <a:chOff x="6680835" y="4752975"/>
            <a:chExt cx="4977765" cy="1293495"/>
          </a:xfrm>
        </p:grpSpPr>
        <p:sp>
          <p:nvSpPr>
            <p:cNvPr id="38" name="Rectangle 38"/>
            <p:cNvSpPr/>
            <p:nvPr/>
          </p:nvSpPr>
          <p:spPr>
            <a:xfrm>
              <a:off x="6680835" y="4752975"/>
              <a:ext cx="4977765" cy="1293495"/>
            </a:xfrm>
            <a:prstGeom prst="roundRect">
              <a:avLst>
                <a:gd name="adj" fmla="val 1030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884670" y="4956810"/>
              <a:ext cx="291465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82104" y="49925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84148" y="499633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知行合一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77431" y="5347811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听来的道理要自己试过才算数：读一篇论文、跑一次开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源代码，比多听一场讲座更能判断自己适不适合。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024884" cy="3351847"/>
            <a:chOff x="667512" y="1835468"/>
            <a:chExt cx="402488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大创概述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先弄清规则、时间节点、加分和成果形式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项目类型与组队规则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7412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2023 年立项通知里的三类项目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立项、中期、结项的时间节点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加分细则与成果形式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98980" cy="909257"/>
            <a:chOff x="520446" y="342900"/>
            <a:chExt cx="82989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3263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070" y="407194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大创概述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989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基本规则：3 至 5 人组队，每人同时只能参加一个项目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kv-1"/>
          <p:cNvGrpSpPr/>
          <p:nvPr/>
        </p:nvGrpSpPr>
        <p:grpSpPr>
          <a:xfrm>
            <a:off x="525780" y="1548765"/>
            <a:ext cx="6283642" cy="3497580"/>
            <a:chOff x="525780" y="1548765"/>
            <a:chExt cx="6283642" cy="349758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全名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66862" y="1548765"/>
              <a:ext cx="4396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大学生创新创业训练计划，教育部在「十二五」期间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（2011–2015 年）开始实施的国家级计划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6862" y="227076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课外培养计划之一，完成后有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课外学分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908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710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项目类型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66862" y="271081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创新训练项目、创业训练项目、创业实践项目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0308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315087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面向对象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66862" y="315087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主要面向大二本科生，其他年级也可以参与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47091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35909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组队方式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66862" y="3590925"/>
              <a:ext cx="4968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必须组队申报（3 至 5 人），支持和鼓励跨专业、跨学科组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19290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5780" y="43129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参与限制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66862" y="431292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每人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同时只能参加一个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63296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5780" y="47529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完成时间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66862" y="4752975"/>
              <a:ext cx="14893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基本为 1 至 2 年</a:t>
              </a:r>
            </a:p>
          </p:txBody>
        </p:sp>
      </p:grpSp>
      <p:grpSp>
        <p:nvGrpSpPr>
          <p:cNvPr id="29" name="c1-text-2"/>
          <p:cNvGrpSpPr/>
          <p:nvPr/>
        </p:nvGrpSpPr>
        <p:grpSpPr>
          <a:xfrm>
            <a:off x="526923" y="5199221"/>
            <a:ext cx="3485073" cy="249364"/>
            <a:chOff x="526923" y="5199221"/>
            <a:chExt cx="3485073" cy="249364"/>
          </a:xfrm>
        </p:grpSpPr>
        <p:sp>
          <p:nvSpPr>
            <p:cNvPr id="28" name="TextBox 28"/>
            <p:cNvSpPr txBox="1"/>
            <p:nvPr/>
          </p:nvSpPr>
          <p:spPr>
            <a:xfrm>
              <a:off x="526923" y="5199221"/>
              <a:ext cx="34850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6 页注明此页参考自往届学长的分享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7114222" y="1524000"/>
            <a:ext cx="4544378" cy="1602105"/>
            <a:chOff x="7114222" y="1524000"/>
            <a:chExt cx="4544378" cy="1602105"/>
          </a:xfrm>
        </p:grpSpPr>
        <p:sp>
          <p:nvSpPr>
            <p:cNvPr id="30" name="Rectangle 30"/>
            <p:cNvSpPr/>
            <p:nvPr/>
          </p:nvSpPr>
          <p:spPr>
            <a:xfrm>
              <a:off x="7114222" y="1524000"/>
              <a:ext cx="454437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123748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36187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5208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54252" y="2110740"/>
              <a:ext cx="3825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原课件写作「大学生创业创新训练计划」，正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式名称是「大学生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创新创业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训练计划」，原课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件第 2 页的教务处通知里就是这样写的。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7114222" y="3316605"/>
            <a:ext cx="4544378" cy="2558415"/>
            <a:chOff x="7114222" y="3316605"/>
            <a:chExt cx="4544378" cy="2558415"/>
          </a:xfrm>
        </p:grpSpPr>
        <p:sp>
          <p:nvSpPr>
            <p:cNvPr id="36" name="Rectangle 36"/>
            <p:cNvSpPr/>
            <p:nvPr/>
          </p:nvSpPr>
          <p:spPr>
            <a:xfrm>
              <a:off x="7114222" y="3316605"/>
              <a:ext cx="4544378" cy="2558415"/>
            </a:xfrm>
            <a:prstGeom prst="roundRect">
              <a:avLst>
                <a:gd name="adj" fmla="val 5212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23772" y="352615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92327" y="356187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由规则推出来的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29488" y="396621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87602" y="3903345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一个人同一时间只有一个名额，选题目、选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队友都要慎重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29488" y="458724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87602" y="4524375"/>
              <a:ext cx="3691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大二立项、周期 1 至 2 年，结项落在大三到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大四之间，和保研材料准备期重叠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29488" y="520827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87602" y="5145405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跨专业组队能补齐能力，比如算法同学配一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位懂应用领域的同学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76236" cy="909257"/>
            <a:chOff x="520446" y="342900"/>
            <a:chExt cx="60762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3263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070" y="407194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大创概述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762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2023 年立项通知：三类项目分别做什么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692765" cy="569595"/>
            <a:chOff x="525780" y="1548765"/>
            <a:chExt cx="10692765" cy="56959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6927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教务处 2023 年 5 月 9 日发布《关于开展 2023 年度吉林大学「大学生创新创业训练计划」立项工作的通知》，原课件第 2 页附</a:t>
              </a:r>
              <a:br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了截图。</a:t>
              </a:r>
            </a:p>
          </p:txBody>
        </p:sp>
      </p:grpSp>
      <p:grpSp>
        <p:nvGrpSpPr>
          <p:cNvPr id="30" name="c1-table-1"/>
          <p:cNvGrpSpPr/>
          <p:nvPr/>
        </p:nvGrpSpPr>
        <p:grpSpPr>
          <a:xfrm>
            <a:off x="527685" y="2230755"/>
            <a:ext cx="6497955" cy="3496151"/>
            <a:chOff x="527685" y="2230755"/>
            <a:chExt cx="6497955" cy="3496151"/>
          </a:xfrm>
        </p:grpSpPr>
        <p:sp>
          <p:nvSpPr>
            <p:cNvPr id="9" name="Rectangle 9"/>
            <p:cNvSpPr/>
            <p:nvPr/>
          </p:nvSpPr>
          <p:spPr>
            <a:xfrm>
              <a:off x="533400" y="2230755"/>
              <a:ext cx="649224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9642" y="23622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27160" y="236220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谁来做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47082" y="23622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要完成的工作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42925" y="2670810"/>
              <a:ext cx="1149668" cy="8382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8746" y="2898457"/>
              <a:ext cx="774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创新训练项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07464" y="2898457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本科生团队，在导师指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55326" y="2791777"/>
              <a:ext cx="29077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自主完成创新性研究项目设计、准备研究条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件和项目实施、撰写研究报告、成果（学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术）与学术交流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51282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3517582"/>
              <a:ext cx="6492240" cy="8572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746" y="3755707"/>
              <a:ext cx="774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创业训练项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07464" y="3649027"/>
              <a:ext cx="15361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本科生团队，在导师指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导下，每人扮演一个或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多个具体角色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55326" y="3755707"/>
              <a:ext cx="2907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完成商业计划书编制、可行性研究、企业模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拟运行、撰写创业报告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37007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4612958"/>
              <a:ext cx="774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创业实践项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07464" y="4612958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学生团队，由学校导师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和企业导师共同指导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55326" y="4506278"/>
              <a:ext cx="29077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以创新训练项目或创新性实验等成果为基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础，提出有市场前景的产品或服务，开展创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业实践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230755"/>
              <a:ext cx="6492240" cy="30003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697355" y="2230755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645218" y="2230755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7685" y="5306854"/>
              <a:ext cx="621309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通知依据《吉林大学大学生创新创业训练计划管理办法》（校发〔2022〕94 号）；实施范围主要是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全校在籍二年级本科生</a:t>
              </a:r>
            </a:p>
          </p:txBody>
        </p:sp>
      </p:grpSp>
      <p:grpSp>
        <p:nvGrpSpPr>
          <p:cNvPr id="52" name="c2-card-1"/>
          <p:cNvGrpSpPr/>
          <p:nvPr/>
        </p:nvGrpSpPr>
        <p:grpSpPr>
          <a:xfrm>
            <a:off x="7330440" y="2230755"/>
            <a:ext cx="4328160" cy="2804160"/>
            <a:chOff x="7330440" y="2230755"/>
            <a:chExt cx="4328160" cy="2804160"/>
          </a:xfrm>
        </p:grpSpPr>
        <p:sp>
          <p:nvSpPr>
            <p:cNvPr id="31" name="Rectangle 31"/>
            <p:cNvSpPr/>
            <p:nvPr/>
          </p:nvSpPr>
          <p:spPr>
            <a:xfrm>
              <a:off x="7330440" y="2230755"/>
              <a:ext cx="4328160" cy="2804160"/>
            </a:xfrm>
            <a:prstGeom prst="roundRect">
              <a:avLst>
                <a:gd name="adj" fmla="val 47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339965" y="2364105"/>
              <a:ext cx="47625" cy="253746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572375" y="243459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9080" y="247030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申请书封面要填的栏目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11068" y="247411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《创新训练项目申请书》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572375" y="2813685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30720" y="285402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63268" y="282654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项目名称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572375" y="3133725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30720" y="317406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63268" y="314658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项目负责人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572375" y="3453765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30720" y="349410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63268" y="346662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所在学院、年级、专业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572375" y="3773805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30720" y="381414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63268" y="378666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联系电话、电子邮箱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572375" y="4093845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630720" y="413418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63268" y="410670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指导教师姓名、职称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66279" y="4422458"/>
              <a:ext cx="36697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封面之后才是研究内容。项目名称和指导老师在通知发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出前就该定下来。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7330440" y="5220652"/>
            <a:ext cx="4328160" cy="756285"/>
            <a:chOff x="7330440" y="5220652"/>
            <a:chExt cx="4328160" cy="756285"/>
          </a:xfrm>
        </p:grpSpPr>
        <p:sp>
          <p:nvSpPr>
            <p:cNvPr id="53" name="Rectangle 53"/>
            <p:cNvSpPr/>
            <p:nvPr/>
          </p:nvSpPr>
          <p:spPr>
            <a:xfrm>
              <a:off x="7330440" y="5220652"/>
              <a:ext cx="432816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535228" y="5498783"/>
              <a:ext cx="200026" cy="200025"/>
              <a:chOff x="7535228" y="5498783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535228" y="54987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574966" y="55432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609682" y="56543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7837551" y="5367814"/>
              <a:ext cx="344093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科研向的大创一般报「创新训练项目」，这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也是软件学院立项最多的类型。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3263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070" y="407194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大创概述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时间节点：立项、中期、结项三道关，级别在立项时就定了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flow-1"/>
          <p:cNvGrpSpPr/>
          <p:nvPr/>
        </p:nvGrpSpPr>
        <p:grpSpPr>
          <a:xfrm>
            <a:off x="689610" y="1950720"/>
            <a:ext cx="10813732" cy="809625"/>
            <a:chOff x="689610" y="1950720"/>
            <a:chExt cx="10813732" cy="809625"/>
          </a:xfrm>
        </p:grpSpPr>
        <p:sp>
          <p:nvSpPr>
            <p:cNvPr id="7" name="Freeform 7"/>
            <p:cNvSpPr/>
            <p:nvPr/>
          </p:nvSpPr>
          <p:spPr>
            <a:xfrm>
              <a:off x="2602230" y="2355532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09875" y="23031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827270" y="2355532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034915" y="23031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052310" y="2355532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259955" y="23031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277350" y="2355532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484995" y="23031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89610" y="2053590"/>
              <a:ext cx="1913572" cy="6038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914650" y="2053590"/>
              <a:ext cx="1913572" cy="603885"/>
            </a:xfrm>
            <a:prstGeom prst="roundRect">
              <a:avLst>
                <a:gd name="adj" fmla="val 15773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139690" y="2053590"/>
              <a:ext cx="1913572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64730" y="1950720"/>
              <a:ext cx="1913572" cy="809625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9589770" y="2053590"/>
              <a:ext cx="1913572" cy="6038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55002" y="2168842"/>
              <a:ext cx="981837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第一年 4–5 月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立项评审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56204" y="2168842"/>
              <a:ext cx="142951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确定级别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国家级 / 省级 / 校级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92674" y="2168842"/>
              <a:ext cx="140665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第一年 9–10 月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中期检查 / 定级评审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17714" y="2065972"/>
              <a:ext cx="1406652" cy="6461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第二年 4–5 月或 9–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月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进度检查 / 结题验收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2784" y="2168842"/>
              <a:ext cx="9265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遴选优秀候选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上报学部评定</a:t>
              </a:r>
            </a:p>
          </p:txBody>
        </p:sp>
      </p:grpSp>
      <p:grpSp>
        <p:nvGrpSpPr>
          <p:cNvPr id="57" name="c1-table-2"/>
          <p:cNvGrpSpPr/>
          <p:nvPr/>
        </p:nvGrpSpPr>
        <p:grpSpPr>
          <a:xfrm>
            <a:off x="527685" y="3372802"/>
            <a:ext cx="11130915" cy="2659857"/>
            <a:chOff x="527685" y="3372802"/>
            <a:chExt cx="11130915" cy="2659857"/>
          </a:xfrm>
        </p:grpSpPr>
        <p:sp>
          <p:nvSpPr>
            <p:cNvPr id="26" name="Rectangle 26"/>
            <p:cNvSpPr/>
            <p:nvPr/>
          </p:nvSpPr>
          <p:spPr>
            <a:xfrm>
              <a:off x="533400" y="3372802"/>
              <a:ext cx="11125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55395" y="350329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69945" y="350329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55374" y="35032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要交什么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65920" y="350329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8746" y="39338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立项评审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18969" y="3933825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第一年 4–5 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65942" y="3933825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立项申请书 + 答辩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13866" y="3933825"/>
              <a:ext cx="40750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一般在 5 月中旬前后；评审结果确定国家级、省级或校级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22814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232910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8746" y="43643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中期检查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18969" y="4364355"/>
              <a:ext cx="1110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第一年 9–10 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65942" y="436435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中期检查报告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13866" y="436435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同时可能进行定级评审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65772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8746" y="4793932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进度检查 / 结题验收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418969" y="4793932"/>
              <a:ext cx="17972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第二年 4–5 月或 9–10 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865942" y="479393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结题材料与成果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13866" y="479393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按项目进度参加其中一次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0882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5093018"/>
              <a:ext cx="11125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8746" y="53311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优秀结题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418969" y="53311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结题之后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865942" y="53311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13866" y="5224462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从结题项目中遴选优秀候选（不超过结题数的 20%、10%，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取整），上报学部比较后确定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3372802"/>
              <a:ext cx="11125200" cy="23641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2308860" y="3372802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4755832" y="3372802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203758" y="3372802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7685" y="5812631"/>
              <a:ext cx="7557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7 页，注明参考自往届学长的分享；原课件没有说明 20% 和 10% 分别对应哪一类项目，以当年通知为准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3263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070" y="407194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大创概述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学院加分细则：大创只认国家级优秀结题，论文只认第一作者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27685" y="1524000"/>
            <a:ext cx="6930390" cy="4793456"/>
            <a:chOff x="527685" y="1524000"/>
            <a:chExt cx="6930390" cy="479345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92467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904554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加分对象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219985" y="1655445"/>
              <a:ext cx="9540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加分（GPA）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8746" y="2085022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大创国家级优秀结题项目：负责人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944552" y="1964055"/>
              <a:ext cx="1503998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557658" y="208502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37934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384108"/>
              <a:ext cx="692467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8746" y="2515552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大创国家级优秀结题项目：第二名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44552" y="2393632"/>
              <a:ext cx="1503998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13233" y="251555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0987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746" y="294608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业界公认学科综合顶级期刊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57658" y="294608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23945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244215"/>
              <a:ext cx="692467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3375660"/>
              <a:ext cx="5239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CCF-A 期刊；CCF-A 会议长文；CCF-B 会议的最佳论文 / 最佳学生论文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57658" y="337566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66998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8746" y="3806190"/>
              <a:ext cx="4982337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CCF-B 期刊；中科院期刊分区一区；CCF-C 会议的最佳论文 / 最佳学生论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57658" y="391287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31387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318635"/>
              <a:ext cx="692467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8746" y="4449128"/>
              <a:ext cx="49825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CCF-C 期刊；CCF-B 会议长文；中科院二区；计算机学报、软件学报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13233" y="4449128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743450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8746" y="4879658"/>
              <a:ext cx="4966716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影响因子非 0 的 SCI 期刊；CCF-C 会议长文；中国科学：信息科学等五种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中文学报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13233" y="4986338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387340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5392102"/>
              <a:ext cx="692467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8746" y="5523548"/>
              <a:ext cx="864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EI 检索期刊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13233" y="5523548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6924675" cy="42976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930265" y="1524000"/>
              <a:ext cx="9525" cy="42976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7685" y="5897404"/>
              <a:ext cx="657580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软件学院本科生素质类项目加分细则（原课件第 8 页截图）；五种中文学报另有计算机研究与发展、计算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机辅助设计与图形学学报、电子学报中文版、自动化学报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7762875" y="1524000"/>
            <a:ext cx="3895725" cy="2457450"/>
            <a:chOff x="7762875" y="1524000"/>
            <a:chExt cx="3895725" cy="2457450"/>
          </a:xfrm>
        </p:grpSpPr>
        <p:sp>
          <p:nvSpPr>
            <p:cNvPr id="43" name="Rectangle 43"/>
            <p:cNvSpPr/>
            <p:nvPr/>
          </p:nvSpPr>
          <p:spPr>
            <a:xfrm>
              <a:off x="7762875" y="1524000"/>
              <a:ext cx="3895725" cy="2457450"/>
            </a:xfrm>
            <a:prstGeom prst="roundRect">
              <a:avLst>
                <a:gd name="adj" fmla="val 54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772400" y="1657350"/>
              <a:ext cx="47625" cy="21907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004810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095971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8012430" y="216122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169021" y="2100739"/>
              <a:ext cx="30802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大创：学院认定，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排名要与立项、中期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检查、结题一致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8012430" y="275272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169021" y="2692241"/>
              <a:ext cx="30802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论文：必须是第一作者，署名第一单位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是吉林大学软件学院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8012430" y="334422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169021" y="3283744"/>
              <a:ext cx="30802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论文加分前要答辩，由推免工作小组组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织专家认定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7762875" y="4167188"/>
            <a:ext cx="3895725" cy="2105978"/>
            <a:chOff x="7762875" y="4167188"/>
            <a:chExt cx="3895725" cy="2105978"/>
          </a:xfrm>
        </p:grpSpPr>
        <p:sp>
          <p:nvSpPr>
            <p:cNvPr id="54" name="Rectangle 54"/>
            <p:cNvSpPr/>
            <p:nvPr/>
          </p:nvSpPr>
          <p:spPr>
            <a:xfrm>
              <a:off x="7762875" y="4167188"/>
              <a:ext cx="3895725" cy="2105978"/>
            </a:xfrm>
            <a:prstGeom prst="roundRect">
              <a:avLst>
                <a:gd name="adj" fmla="val 63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772400" y="4300538"/>
              <a:ext cx="47625" cy="18392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004810" y="437102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091068" y="440674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算一算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997571" y="4743926"/>
              <a:ext cx="332371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负责人拿到国家级优秀结题加 0.1；同一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项目又出了一篇 CCF-B 会议长文、本人一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作，再加 0.05，合计 0.15。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98714" y="5603558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只立项、普通结题，或者排第三名，都不加分。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3263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070" y="407194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大创概述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成果形式：论文、软著、专利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27685" y="1524000"/>
            <a:ext cx="6065520" cy="2877027"/>
            <a:chOff x="527685" y="1524000"/>
            <a:chExt cx="6065520" cy="287702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058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2312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细分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6820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08392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83826" y="2085022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文章较短，投稿时间固定，审稿快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793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84108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08392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期刊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83826" y="2515552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文章较长，全年可投稿，审稿周期长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098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2946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08392" y="294608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计算机软件著作权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83826" y="2946082"/>
              <a:ext cx="25484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周期较短，门槛较低（见第 31 页）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394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4421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3375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专利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08392" y="33756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实用新型专利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83826" y="3375660"/>
              <a:ext cx="795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个月左右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6699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38061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08392" y="38061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发明专利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3826" y="380619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一年半左右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059805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498282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073718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7685" y="4180999"/>
              <a:ext cx="4708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9 页；周期是分享者的经验值，不同年份、不同机构差别很大</a:t>
              </a:r>
            </a:p>
          </p:txBody>
        </p:sp>
      </p:grpSp>
      <p:grpSp>
        <p:nvGrpSpPr>
          <p:cNvPr id="42" name="c1-card-2"/>
          <p:cNvGrpSpPr/>
          <p:nvPr/>
        </p:nvGrpSpPr>
        <p:grpSpPr>
          <a:xfrm>
            <a:off x="533400" y="4541520"/>
            <a:ext cx="6059805" cy="1545908"/>
            <a:chOff x="533400" y="4541520"/>
            <a:chExt cx="6059805" cy="1545908"/>
          </a:xfrm>
        </p:grpSpPr>
        <p:sp>
          <p:nvSpPr>
            <p:cNvPr id="37" name="Rectangle 37"/>
            <p:cNvSpPr/>
            <p:nvPr/>
          </p:nvSpPr>
          <p:spPr>
            <a:xfrm>
              <a:off x="533400" y="4541520"/>
              <a:ext cx="605980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42925" y="467487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75335" y="474535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8792" y="478107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前后说法不一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8096" y="5118259"/>
              <a:ext cx="52443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9 页写实用新型 6 个月、发明专利一年半，第 24 页又写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「专利周期基本为一年」。后者没有区分类型，按类型记：实用新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型短，发明长。</a:t>
              </a:r>
            </a:p>
          </p:txBody>
        </p:sp>
      </p:grpSp>
      <p:grpSp>
        <p:nvGrpSpPr>
          <p:cNvPr id="67" name="c2-compare-1"/>
          <p:cNvGrpSpPr/>
          <p:nvPr/>
        </p:nvGrpSpPr>
        <p:grpSpPr>
          <a:xfrm>
            <a:off x="6898005" y="1524000"/>
            <a:ext cx="4760595" cy="1952625"/>
            <a:chOff x="6898005" y="1524000"/>
            <a:chExt cx="4760595" cy="1952625"/>
          </a:xfrm>
        </p:grpSpPr>
        <p:sp>
          <p:nvSpPr>
            <p:cNvPr id="43" name="Rectangle 43"/>
            <p:cNvSpPr/>
            <p:nvPr/>
          </p:nvSpPr>
          <p:spPr>
            <a:xfrm>
              <a:off x="6898005" y="1524000"/>
              <a:ext cx="2170748" cy="1952625"/>
            </a:xfrm>
            <a:prstGeom prst="roundRect">
              <a:avLst>
                <a:gd name="adj" fmla="val 68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07530" y="1657350"/>
              <a:ext cx="47625" cy="16859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32701" y="175117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会议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147560" y="214979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304151" y="209026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截稿日固定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147560" y="246983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04151" y="241030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出结果快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147560" y="2789873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304151" y="273034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篇幅短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147560" y="310991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04151" y="305038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适合赶结项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487852" y="1524000"/>
              <a:ext cx="2170748" cy="1952625"/>
            </a:xfrm>
            <a:prstGeom prst="roundRect">
              <a:avLst>
                <a:gd name="adj" fmla="val 68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497378" y="1657350"/>
              <a:ext cx="47625" cy="168592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722548" y="175117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期刊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9737408" y="214979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893998" y="209026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全年可投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9737408" y="246983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893998" y="241030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审稿可能多轮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9737408" y="2789873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893998" y="273034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篇幅长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9737408" y="310991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893998" y="305038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适合时间充裕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9116378" y="233838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202293" y="243459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</a:t>
              </a:r>
            </a:p>
          </p:txBody>
        </p:sp>
      </p:grpSp>
      <p:grpSp>
        <p:nvGrpSpPr>
          <p:cNvPr id="73" name="c2-card-2"/>
          <p:cNvGrpSpPr/>
          <p:nvPr/>
        </p:nvGrpSpPr>
        <p:grpSpPr>
          <a:xfrm>
            <a:off x="6898005" y="3661410"/>
            <a:ext cx="4760595" cy="2426018"/>
            <a:chOff x="6898005" y="3661410"/>
            <a:chExt cx="4760595" cy="2426018"/>
          </a:xfrm>
        </p:grpSpPr>
        <p:sp>
          <p:nvSpPr>
            <p:cNvPr id="68" name="Rectangle 68"/>
            <p:cNvSpPr/>
            <p:nvPr/>
          </p:nvSpPr>
          <p:spPr>
            <a:xfrm>
              <a:off x="6898005" y="3661410"/>
              <a:ext cx="4760595" cy="2426018"/>
            </a:xfrm>
            <a:prstGeom prst="roundRect">
              <a:avLst>
                <a:gd name="adj" fmla="val 54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907530" y="3794760"/>
              <a:ext cx="47625" cy="215931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139940" y="386524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204545" y="390096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和加分细则对着看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132701" y="4239101"/>
              <a:ext cx="404507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计算机方向的会议长文从 CCF-C 起就能加分；期刊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 CCF 等级或中科院分区。软著和专利不在上一页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的加分表里，主要用来满足结项要求。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69130" cy="3351847"/>
            <a:chOff x="667512" y="1835468"/>
            <a:chExt cx="446913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做大创之前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想清楚为什么做、自己能不能做、和谁一起做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做大创的目的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第一性原理与一个调参实例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能力与自我评估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队友、老师、选题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做大创之前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为什么做大创：先分清三种动机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33400" y="1524000"/>
            <a:ext cx="11125200" cy="2360295"/>
            <a:chOff x="533400" y="1524000"/>
            <a:chExt cx="11125200" cy="23602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29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24636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79875" y="165592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原课件的说法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48420" y="165592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能换来什么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4746" y="22464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个人成长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14968" y="2119789"/>
              <a:ext cx="43426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快速熟悉新领域、上手新工具；代码能力、工程思维；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掌握第一性原理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09866" y="2119789"/>
              <a:ext cx="39819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进入陌生领域的速度和解决问题的方法，毕业后仍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然有用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993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04148"/>
              <a:ext cx="11125200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4746" y="296275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功利导向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14968" y="2836069"/>
              <a:ext cx="43426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论文；保研加绩点；丰富简历（保研、出国）；课外学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09866" y="2962751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能写进材料的成果；加分要看上一部分的细则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41566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429952"/>
              <a:ext cx="1761172" cy="4438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4746" y="355234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别人都做我也做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14968" y="3552349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（原课件只列出这一条，没有展开）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09866" y="3552349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如果只有这一条，很可能半途而废或挂名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11125200" cy="2360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308860" y="152400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203758" y="152400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compare-2"/>
          <p:cNvGrpSpPr/>
          <p:nvPr/>
        </p:nvGrpSpPr>
        <p:grpSpPr>
          <a:xfrm>
            <a:off x="533400" y="4064318"/>
            <a:ext cx="11125200" cy="1623060"/>
            <a:chOff x="533400" y="4064318"/>
            <a:chExt cx="11125200" cy="1623060"/>
          </a:xfrm>
        </p:grpSpPr>
        <p:sp>
          <p:nvSpPr>
            <p:cNvPr id="28" name="Rectangle 28"/>
            <p:cNvSpPr/>
            <p:nvPr/>
          </p:nvSpPr>
          <p:spPr>
            <a:xfrm>
              <a:off x="533400" y="4064318"/>
              <a:ext cx="5323522" cy="1623060"/>
            </a:xfrm>
            <a:prstGeom prst="roundRect">
              <a:avLst>
                <a:gd name="adj" fmla="val 8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197668"/>
              <a:ext cx="47625" cy="13563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381" y="428577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值得做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77240" y="468153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3831" y="462105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有个人成长或明确的功利目标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77240" y="499967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3831" y="493918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愿意付出时间和精力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77240" y="531685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3831" y="525732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对科研或工程本身有兴趣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335078" y="4064318"/>
              <a:ext cx="5323522" cy="1623060"/>
            </a:xfrm>
            <a:prstGeom prst="roundRect">
              <a:avLst>
                <a:gd name="adj" fmla="val 8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344602" y="4197668"/>
              <a:ext cx="47625" cy="135636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4058" y="428577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先缓一缓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578917" y="468153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35508" y="462105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只因为别人都在做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578917" y="499967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35508" y="493918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课内成绩已经吃紧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578917" y="531685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35508" y="525732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对任何方向都没有了解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5904548" y="4684395"/>
              <a:ext cx="382905" cy="38290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59119" y="4815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9" name="Rectangle 49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511" y="6011704"/>
              <a:ext cx="6705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功利目标本身没有问题，但要对照加分细则算清楚：多数情况下只立项不加分。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做大创之前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第一性原理：项目里的知识只为目标服务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5951220" cy="1800225"/>
            <a:chOff x="533400" y="1524000"/>
            <a:chExt cx="5951220" cy="18002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766060" cy="18002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3352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7047" y="173831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课程学习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72478" y="211455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28497" y="205835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掌握具体的知识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41744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36124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细节要完全准确无误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271938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266319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考的是既定内容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718560" y="1524000"/>
              <a:ext cx="2766060" cy="18002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728085" y="1657350"/>
              <a:ext cx="47625" cy="15335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942207" y="173831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实际项目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957638" y="211455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113657" y="205835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知识细节服务于项目目标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957638" y="241744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13657" y="2361248"/>
              <a:ext cx="20711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只需要了解必要的细节和大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的框架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957638" y="297656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13657" y="292036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要学什么由问题决定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347085" y="226218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423556" y="236362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3499485"/>
            <a:ext cx="5951220" cy="2106930"/>
            <a:chOff x="533400" y="3499485"/>
            <a:chExt cx="5951220" cy="2106930"/>
          </a:xfrm>
        </p:grpSpPr>
        <p:sp>
          <p:nvSpPr>
            <p:cNvPr id="28" name="Rectangle 28"/>
            <p:cNvSpPr/>
            <p:nvPr/>
          </p:nvSpPr>
          <p:spPr>
            <a:xfrm>
              <a:off x="533400" y="3499485"/>
              <a:ext cx="5951220" cy="2106930"/>
            </a:xfrm>
            <a:prstGeom prst="roundRect">
              <a:avLst>
                <a:gd name="adj" fmla="val 632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25805" y="369189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3244" y="372618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8947" y="4048125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遇到问题先回到目标：最后要得到什么？为此必须回答哪几个小问题？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每个小问题最少要知道哪些细节？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0090" y="4603909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后面三页是原课件给的实例：给强化学习实验做自动化调参。</a:t>
              </a:r>
            </a:p>
          </p:txBody>
        </p:sp>
      </p:grpSp>
      <p:grpSp>
        <p:nvGrpSpPr>
          <p:cNvPr id="51" name="c2-steps-1"/>
          <p:cNvGrpSpPr/>
          <p:nvPr/>
        </p:nvGrpSpPr>
        <p:grpSpPr>
          <a:xfrm>
            <a:off x="6789420" y="1533525"/>
            <a:ext cx="4646498" cy="2279809"/>
            <a:chOff x="6789420" y="1533525"/>
            <a:chExt cx="4646498" cy="2279809"/>
          </a:xfrm>
        </p:grpSpPr>
        <p:sp>
          <p:nvSpPr>
            <p:cNvPr id="34" name="Rectangle 34"/>
            <p:cNvSpPr/>
            <p:nvPr/>
          </p:nvSpPr>
          <p:spPr>
            <a:xfrm>
              <a:off x="6922770" y="167640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789420" y="21202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8304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789420" y="270700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8304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789420" y="329469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83044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01662" y="15649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定目标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2805" y="1833086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在多个参数组成的高维空间里，找到相对最好的一组取值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01662" y="215265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拆问题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02805" y="2419826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要自动分析吗？人脑够不够？怎样区分每组实验？怎样看结果？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01662" y="273939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只补必要的知识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02805" y="300656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哈希、组合、画图，用到哪样学哪样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01662" y="332613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做出来再改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02805" y="35933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先能跑，再按使用中的痛点加功能</a:t>
              </a:r>
            </a:p>
          </p:txBody>
        </p:sp>
      </p:grpSp>
      <p:grpSp>
        <p:nvGrpSpPr>
          <p:cNvPr id="66" name="c2-table-2"/>
          <p:cNvGrpSpPr/>
          <p:nvPr/>
        </p:nvGrpSpPr>
        <p:grpSpPr>
          <a:xfrm>
            <a:off x="6789420" y="3982402"/>
            <a:ext cx="4869180" cy="1623060"/>
            <a:chOff x="6789420" y="3982402"/>
            <a:chExt cx="4869180" cy="1623060"/>
          </a:xfrm>
        </p:grpSpPr>
        <p:sp>
          <p:nvSpPr>
            <p:cNvPr id="52" name="Rectangle 52"/>
            <p:cNvSpPr/>
            <p:nvPr/>
          </p:nvSpPr>
          <p:spPr>
            <a:xfrm>
              <a:off x="6789420" y="3982402"/>
              <a:ext cx="486918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889672" y="410670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拆出的小问题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24262" y="410670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在哪一页回答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89432" y="451246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要自动分析吗？人脑够不够？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006012" y="45124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789420" y="478917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789420" y="4793932"/>
              <a:ext cx="486918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889432" y="491823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怎样唯一标识一组实验？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006012" y="49182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789420" y="519493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89432" y="532399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怎样画图才能一眼看出好坏？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06012" y="532399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实例三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789420" y="3982402"/>
              <a:ext cx="486918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901238" y="398240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7" name="Rectangle 6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892" y="6023610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课程学习的细节要求并没有错，考试和打基础都需要；两种模式适用的场合不同。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做大创之前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实例一：用实验网格一次跑完所有参数组合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3495675"/>
            <a:chOff x="533400" y="1524000"/>
            <a:chExt cx="6276022" cy="3495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495675"/>
            </a:xfrm>
            <a:prstGeom prst="roundRect">
              <a:avLst>
                <a:gd name="adj" fmla="val 27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905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12 页截图（OmniSafe 实验网格示例）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5075428" cy="301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__name__ ==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'__main__'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eg = ExperimentGrid(exp_name=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'Example'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Set the algorithms.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example_policy = [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'PPOLag'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'TRPOLag'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]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比较的参数 1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Set the environments.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eg.add(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'env_id'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'SafetyAntVelocity-v1'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eg.add(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'algo'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example_policy)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eg.add(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'train_cfgs:torch_threads'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[1])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eg.add(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'algo_cfgs:batch_size'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[32, 64, 128])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参数 2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eg.add(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'logger_cfgs:use_wandb'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[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])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eg.add(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'seed'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[0])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total experiment num is better to be divisible by num_pool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meanwhile, users should decide this value according to their machine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eg.run(train, num_pool=6, gpu_id=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None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6" name="c1-kv-2"/>
          <p:cNvGrpSpPr/>
          <p:nvPr/>
        </p:nvGrpSpPr>
        <p:grpSpPr>
          <a:xfrm>
            <a:off x="526923" y="5204936"/>
            <a:ext cx="6282499" cy="623697"/>
            <a:chOff x="526923" y="5204936"/>
            <a:chExt cx="6282499" cy="623697"/>
          </a:xfrm>
        </p:grpSpPr>
        <p:sp>
          <p:nvSpPr>
            <p:cNvPr id="11" name="TextBox 11"/>
            <p:cNvSpPr txBox="1"/>
            <p:nvPr/>
          </p:nvSpPr>
          <p:spPr>
            <a:xfrm>
              <a:off x="526923" y="5204936"/>
              <a:ext cx="19967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eg.add(名字, 取值列表)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74823" y="520493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列表里有几个值，这个参数就有几种取值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547687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6923" y="5579269"/>
              <a:ext cx="20484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eg.run(..., num_pool)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74823" y="5579269"/>
              <a:ext cx="3105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生成全部组合，最多 num_pool 组同时跑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7114222" y="1524000"/>
            <a:ext cx="4544378" cy="1291590"/>
            <a:chOff x="7114222" y="1524000"/>
            <a:chExt cx="4544378" cy="1291590"/>
          </a:xfrm>
        </p:grpSpPr>
        <p:sp>
          <p:nvSpPr>
            <p:cNvPr id="17" name="Rectangle 17"/>
            <p:cNvSpPr/>
            <p:nvPr/>
          </p:nvSpPr>
          <p:spPr>
            <a:xfrm>
              <a:off x="7114222" y="1524000"/>
              <a:ext cx="4544378" cy="1291590"/>
            </a:xfrm>
            <a:prstGeom prst="roundRect">
              <a:avLst>
                <a:gd name="adj" fmla="val 103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123748" y="1657350"/>
              <a:ext cx="47625" cy="10248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33298" y="1704975"/>
              <a:ext cx="76581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16391" y="1737836"/>
              <a:ext cx="5996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问题 1、2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26820" y="204549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要自动分析吗？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59380" y="204549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不必，交给人脑分析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333298" y="2317432"/>
              <a:ext cx="414432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26820" y="241887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人脑够分析吗？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59380" y="241887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简单实例下可以</a:t>
              </a:r>
            </a:p>
          </p:txBody>
        </p:sp>
      </p:grpSp>
      <p:grpSp>
        <p:nvGrpSpPr>
          <p:cNvPr id="47" name="c2-table-2"/>
          <p:cNvGrpSpPr/>
          <p:nvPr/>
        </p:nvGrpSpPr>
        <p:grpSpPr>
          <a:xfrm>
            <a:off x="7109270" y="2980372"/>
            <a:ext cx="4549330" cy="2530508"/>
            <a:chOff x="7109270" y="2980372"/>
            <a:chExt cx="4549330" cy="2530508"/>
          </a:xfrm>
        </p:grpSpPr>
        <p:sp>
          <p:nvSpPr>
            <p:cNvPr id="27" name="Rectangle 27"/>
            <p:cNvSpPr/>
            <p:nvPr/>
          </p:nvSpPr>
          <p:spPr>
            <a:xfrm>
              <a:off x="7114222" y="2980372"/>
              <a:ext cx="4544378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30565" y="309753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61879" y="309753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取值个数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08901" y="3478530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algo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705709" y="34785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114222" y="373856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114222" y="3743325"/>
              <a:ext cx="454437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08901" y="3860482"/>
              <a:ext cx="1569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algo_cfgs:batch_size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705709" y="38604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114222" y="411956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08901" y="4241482"/>
              <a:ext cx="1705547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env_id、torch_threads、</a:t>
              </a:r>
              <a:br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use_wandb、seed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13831" y="4334828"/>
              <a:ext cx="272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 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114222" y="468820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114222" y="4692968"/>
              <a:ext cx="454437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08901" y="48101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合计实验组数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850755" y="4702492"/>
              <a:ext cx="179832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465413" y="4810125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× 3 = 6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114222" y="2980372"/>
              <a:ext cx="4544378" cy="2093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836468" y="2980372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09270" y="5146834"/>
              <a:ext cx="4347337" cy="36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num_pool=6 时 6 组正好一轮并行跑完，符合注释「总数最好能被 num_pool 整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除」</a:t>
              </a:r>
            </a:p>
          </p:txBody>
        </p:sp>
      </p:grpSp>
      <p:grpSp>
        <p:nvGrpSpPr>
          <p:cNvPr id="54" name="c2-callout-3"/>
          <p:cNvGrpSpPr/>
          <p:nvPr/>
        </p:nvGrpSpPr>
        <p:grpSpPr>
          <a:xfrm>
            <a:off x="7114222" y="5637848"/>
            <a:ext cx="4544378" cy="702945"/>
            <a:chOff x="7114222" y="5637848"/>
            <a:chExt cx="4544378" cy="702945"/>
          </a:xfrm>
        </p:grpSpPr>
        <p:sp>
          <p:nvSpPr>
            <p:cNvPr id="48" name="Rectangle 48"/>
            <p:cNvSpPr/>
            <p:nvPr/>
          </p:nvSpPr>
          <p:spPr>
            <a:xfrm>
              <a:off x="7114222" y="5637848"/>
              <a:ext cx="4544378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19010" y="5889308"/>
              <a:ext cx="200026" cy="200025"/>
              <a:chOff x="7319010" y="5889308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19010" y="58893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358749" y="59337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393464" y="60448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7622096" y="5782151"/>
              <a:ext cx="35892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只有两个参数在变，人眼对比曲线就够用，不必先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写自动分析程序。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做大创之前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实例二：把参数字符串做哈希，唯一标识一组实验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1640205"/>
            <a:chOff x="533400" y="1524000"/>
            <a:chExt cx="6059805" cy="16402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8555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13 页：实验输出目录（截取前 16 位）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091053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SafetyAntVelocity-v1---1f58ce80fc9540b3...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SafetyAntVelocity-v1---7a451ea3e08cfb6c...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SafetyAntVelocity-v1---7cefb92954e28449...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SafetyAntVelocity-v1---564ef55d6dac0002...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SafetyAntVelocity-v1---9997d3e3b2555d9f...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SafetyAntVelocity-v1---50699a2818176e08...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339465"/>
            <a:ext cx="6059805" cy="2207895"/>
            <a:chOff x="533400" y="3339465"/>
            <a:chExt cx="6059805" cy="2207895"/>
          </a:xfrm>
        </p:grpSpPr>
        <p:sp>
          <p:nvSpPr>
            <p:cNvPr id="11" name="Rectangle 11"/>
            <p:cNvSpPr/>
            <p:nvPr/>
          </p:nvSpPr>
          <p:spPr>
            <a:xfrm>
              <a:off x="533400" y="3339465"/>
              <a:ext cx="6059805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49138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同样的思路，本讲义实跑复核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416" y="3752850"/>
              <a:ext cx="3237738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hashlib, json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cfg = {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"algo"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: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"PPOLag"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"seed"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 0,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"env_id"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: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"SafetyAntVelocity-v1"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"algo_cfgs:batch_size"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 64}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key = json.dumps(cfg, sort_keys=</a:t>
              </a:r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 = hashlib.sha256(key.encode()).hexdigest()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print(len(h), h[:16])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输出：64 af1c7a7105d5abb1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把 seed 改成 1：888806b5ab40b701</a:t>
              </a:r>
            </a:p>
          </p:txBody>
        </p:sp>
      </p:grpSp>
      <p:grpSp>
        <p:nvGrpSpPr>
          <p:cNvPr id="20" name="c2-card-1"/>
          <p:cNvGrpSpPr/>
          <p:nvPr/>
        </p:nvGrpSpPr>
        <p:grpSpPr>
          <a:xfrm>
            <a:off x="6898005" y="1524000"/>
            <a:ext cx="4760595" cy="1226820"/>
            <a:chOff x="6898005" y="1524000"/>
            <a:chExt cx="4760595" cy="1226820"/>
          </a:xfrm>
        </p:grpSpPr>
        <p:sp>
          <p:nvSpPr>
            <p:cNvPr id="15" name="Rectangle 15"/>
            <p:cNvSpPr/>
            <p:nvPr/>
          </p:nvSpPr>
          <p:spPr>
            <a:xfrm>
              <a:off x="6898005" y="1524000"/>
              <a:ext cx="4760595" cy="1226820"/>
            </a:xfrm>
            <a:prstGeom prst="roundRect">
              <a:avLst>
                <a:gd name="adj" fmla="val 1087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090410" y="1716405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77827" y="175069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 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93164" y="175641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如何唯一标识一组实验？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83552" y="2090738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把整组参数拼成字符串再做哈希，哈希值当目录名。参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数有一处不同，目录名就完全不同。</a:t>
              </a:r>
            </a:p>
          </p:txBody>
        </p:sp>
      </p:grpSp>
      <p:grpSp>
        <p:nvGrpSpPr>
          <p:cNvPr id="36" name="c2-table-2"/>
          <p:cNvGrpSpPr/>
          <p:nvPr/>
        </p:nvGrpSpPr>
        <p:grpSpPr>
          <a:xfrm>
            <a:off x="6892671" y="2926080"/>
            <a:ext cx="4765929" cy="1902714"/>
            <a:chOff x="6892671" y="2926080"/>
            <a:chExt cx="4765929" cy="1902714"/>
          </a:xfrm>
        </p:grpSpPr>
        <p:sp>
          <p:nvSpPr>
            <p:cNvPr id="21" name="Rectangle 21"/>
            <p:cNvSpPr/>
            <p:nvPr/>
          </p:nvSpPr>
          <p:spPr>
            <a:xfrm>
              <a:off x="6898005" y="2926080"/>
              <a:ext cx="476059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740688" y="30503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20986" y="30503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98017" y="345614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按时间戳命名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97315" y="345614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看不出是哪组参数，重跑会多出一份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898005" y="373284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98005" y="373761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98017" y="386191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把参数全写进目录名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97315" y="386191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参数一多目录名过长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898005" y="413861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98017" y="426767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参数字符串的哈希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97315" y="426767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定长、唯一、可复算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898005" y="2926080"/>
              <a:ext cx="4760595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892540" y="292608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92671" y="462343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对比表为本讲义所加</a:t>
              </a:r>
            </a:p>
          </p:txBody>
        </p:sp>
      </p:grpSp>
      <p:grpSp>
        <p:nvGrpSpPr>
          <p:cNvPr id="43" name="c2-callout-3"/>
          <p:cNvGrpSpPr/>
          <p:nvPr/>
        </p:nvGrpSpPr>
        <p:grpSpPr>
          <a:xfrm>
            <a:off x="6898005" y="4962525"/>
            <a:ext cx="4760595" cy="1226820"/>
            <a:chOff x="6898005" y="4962525"/>
            <a:chExt cx="4760595" cy="1226820"/>
          </a:xfrm>
        </p:grpSpPr>
        <p:sp>
          <p:nvSpPr>
            <p:cNvPr id="37" name="Rectangle 37"/>
            <p:cNvSpPr/>
            <p:nvPr/>
          </p:nvSpPr>
          <p:spPr>
            <a:xfrm>
              <a:off x="6898005" y="4962525"/>
              <a:ext cx="4760595" cy="1226820"/>
            </a:xfrm>
            <a:prstGeom prst="roundRect">
              <a:avLst>
                <a:gd name="adj" fmla="val 931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102793" y="5475923"/>
              <a:ext cx="200026" cy="200026"/>
              <a:chOff x="7102793" y="5475923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102793" y="54759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202805" y="55425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191693" y="557593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405497" y="5108258"/>
              <a:ext cx="3777044" cy="1009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截图里的哈希串都是 64 位十六进制，正好是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SHA-256 的长度。拼字符串前要固定键的顺序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（sort_keys），否则同一组参数会算出不同的哈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做大创之前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实例三：设计一种让人脑能快速判断的画图方式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616518"/>
            <a:chOff x="533400" y="1524000"/>
            <a:chExt cx="6059805" cy="26165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2243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13 页截图（分析实验结果）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706368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just fill in the path in which experiment grid runs.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PATH =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''</a:t>
              </a:r>
              <a:br/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__name__ ==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'__main__'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 = StatisticsTools()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st.load_source(PATH)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只填参数名：自动生成所有取值组合的图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或者用 values 指定要比较的具体取值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两种方式不能同时用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st.draw_graph(parameter=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'algo_cfgs:batch_size'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values=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None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compare_num=3,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每张图最多几条曲线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cost_limit=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None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2" name="c1-text-2"/>
          <p:cNvGrpSpPr/>
          <p:nvPr/>
        </p:nvGrpSpPr>
        <p:grpSpPr>
          <a:xfrm>
            <a:off x="528066" y="4322445"/>
            <a:ext cx="5947410" cy="205359"/>
            <a:chOff x="528066" y="4322445"/>
            <a:chExt cx="5947410" cy="205359"/>
          </a:xfrm>
        </p:grpSpPr>
        <p:sp>
          <p:nvSpPr>
            <p:cNvPr id="11" name="TextBox 11"/>
            <p:cNvSpPr txBox="1"/>
            <p:nvPr/>
          </p:nvSpPr>
          <p:spPr>
            <a:xfrm>
              <a:off x="528066" y="4322445"/>
              <a:ext cx="5947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原截图中间几行是英文注释，这里译成中文；最后一行在截图里被截断，只保留看得到的参数。</a:t>
              </a:r>
            </a:p>
          </p:txBody>
        </p:sp>
      </p:grpSp>
      <p:grpSp>
        <p:nvGrpSpPr>
          <p:cNvPr id="19" name="c1-card-3"/>
          <p:cNvGrpSpPr/>
          <p:nvPr/>
        </p:nvGrpSpPr>
        <p:grpSpPr>
          <a:xfrm>
            <a:off x="533400" y="4651058"/>
            <a:ext cx="6059805" cy="1584008"/>
            <a:chOff x="533400" y="4651058"/>
            <a:chExt cx="6059805" cy="1584008"/>
          </a:xfrm>
        </p:grpSpPr>
        <p:sp>
          <p:nvSpPr>
            <p:cNvPr id="13" name="Rectangle 13"/>
            <p:cNvSpPr/>
            <p:nvPr/>
          </p:nvSpPr>
          <p:spPr>
            <a:xfrm>
              <a:off x="533400" y="4651058"/>
              <a:ext cx="6059805" cy="1584008"/>
            </a:xfrm>
            <a:prstGeom prst="roundRect">
              <a:avLst>
                <a:gd name="adj" fmla="val 84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784408"/>
              <a:ext cx="47625" cy="13173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2475" y="4832032"/>
              <a:ext cx="157829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1543" y="486489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为什么每次只比一个参数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5998" y="5172551"/>
              <a:ext cx="53774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每张图只变一个参数、其他参数固定，就是控制变量：曲线之间的差别才能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归到这个参数头上。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7141" y="5695950"/>
              <a:ext cx="5418011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例：比较三种学习率时，batch_size 和随机种子都固定；同时变两个参数，就说不清更好的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结果是哪个带来的。</a:t>
              </a:r>
            </a:p>
          </p:txBody>
        </p:sp>
      </p:grpSp>
      <p:grpSp>
        <p:nvGrpSpPr>
          <p:cNvPr id="29" name="c2-steps-1"/>
          <p:cNvGrpSpPr/>
          <p:nvPr/>
        </p:nvGrpSpPr>
        <p:grpSpPr>
          <a:xfrm>
            <a:off x="6898005" y="1533525"/>
            <a:ext cx="4806315" cy="1236916"/>
            <a:chOff x="6898005" y="1533525"/>
            <a:chExt cx="4806315" cy="1236916"/>
          </a:xfrm>
        </p:grpSpPr>
        <p:sp>
          <p:nvSpPr>
            <p:cNvPr id="20" name="Rectangle 20"/>
            <p:cNvSpPr/>
            <p:nvPr/>
          </p:nvSpPr>
          <p:spPr>
            <a:xfrm>
              <a:off x="7031355" y="1676400"/>
              <a:ext cx="19050" cy="746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898005" y="22802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91629" y="23541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10628" y="1564481"/>
              <a:ext cx="15452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每次只比一个参数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11771" y="1818322"/>
              <a:ext cx="413118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例如学习率取 0.1、0.01、0.001，三条曲线画在同一张图上，其他参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数固定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10628" y="2310289"/>
              <a:ext cx="17175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限制每张图的曲线数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11771" y="2565082"/>
              <a:ext cx="4392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学习率有 12 种取值，人脑最多同时看 6 条曲线，就按每张 6 条来组合</a:t>
              </a:r>
            </a:p>
          </p:txBody>
        </p:sp>
      </p:grpSp>
      <p:grpSp>
        <p:nvGrpSpPr>
          <p:cNvPr id="47" name="c2-table-2"/>
          <p:cNvGrpSpPr/>
          <p:nvPr/>
        </p:nvGrpSpPr>
        <p:grpSpPr>
          <a:xfrm>
            <a:off x="6893052" y="2931795"/>
            <a:ext cx="4765548" cy="1789461"/>
            <a:chOff x="6893052" y="2931795"/>
            <a:chExt cx="4765548" cy="1789461"/>
          </a:xfrm>
        </p:grpSpPr>
        <p:sp>
          <p:nvSpPr>
            <p:cNvPr id="30" name="Rectangle 30"/>
            <p:cNvSpPr/>
            <p:nvPr/>
          </p:nvSpPr>
          <p:spPr>
            <a:xfrm>
              <a:off x="6898005" y="2931795"/>
              <a:ext cx="4760595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31756" y="3048952"/>
              <a:ext cx="13785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 种取值、每图 6 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513314" y="3048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图的张数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92684" y="3430905"/>
              <a:ext cx="15948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画出所有 6 条曲线的组合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954578" y="3323272"/>
              <a:ext cx="169449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299421" y="3430905"/>
              <a:ext cx="10038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C(12,6) = 924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898005" y="368998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898005" y="3694748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92684" y="3811905"/>
              <a:ext cx="14535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按顺序分组，每组 6 条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954578" y="3704272"/>
              <a:ext cx="169449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477976" y="3811905"/>
              <a:ext cx="646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÷ 6 = 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898005" y="407098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92684" y="4193858"/>
              <a:ext cx="17948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 1 条基准 + 每图另 5 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400233" y="4193858"/>
              <a:ext cx="8022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⌈11 ÷ 5⌉ = 3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98005" y="2931795"/>
              <a:ext cx="4760595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940290" y="2931795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93052" y="4530566"/>
              <a:ext cx="26401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组合数用 Python 复算；后两行为本讲义补充</a:t>
              </a:r>
            </a:p>
          </p:txBody>
        </p:sp>
      </p:grpSp>
      <p:grpSp>
        <p:nvGrpSpPr>
          <p:cNvPr id="63" name="c2-table-3"/>
          <p:cNvGrpSpPr/>
          <p:nvPr/>
        </p:nvGrpSpPr>
        <p:grpSpPr>
          <a:xfrm>
            <a:off x="6898005" y="4848225"/>
            <a:ext cx="4760595" cy="1330642"/>
            <a:chOff x="6898005" y="4848225"/>
            <a:chExt cx="4760595" cy="1330642"/>
          </a:xfrm>
        </p:grpSpPr>
        <p:sp>
          <p:nvSpPr>
            <p:cNvPr id="48" name="Rectangle 48"/>
            <p:cNvSpPr/>
            <p:nvPr/>
          </p:nvSpPr>
          <p:spPr>
            <a:xfrm>
              <a:off x="6898005" y="4848225"/>
              <a:ext cx="4760595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74242" y="496538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02992" y="496538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559415" y="496538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92684" y="54397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自动组合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39481" y="5346383"/>
              <a:ext cx="105079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values=None，给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compare_num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849231" y="5346383"/>
              <a:ext cx="161753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按每图 compare_num 条自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动组合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898005" y="579215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898005" y="5796915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92684" y="59150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指定取值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39481" y="5915025"/>
              <a:ext cx="118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values=[32, 128]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849231" y="591502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只画这几个取值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898005" y="4848225"/>
              <a:ext cx="4760595" cy="13306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940040" y="4848225"/>
              <a:ext cx="9525" cy="13306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749790" y="4848225"/>
              <a:ext cx="9525" cy="13306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做大创之前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能力与自我评估：准备好付出什么，能不能坚持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27685" y="1524000"/>
            <a:ext cx="11130915" cy="3534252"/>
            <a:chOff x="527685" y="1524000"/>
            <a:chExt cx="11130915" cy="35342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4781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03445" y="16630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原课件的提示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44965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自检方法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28409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准备好付出什么？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88005" y="2150745"/>
              <a:ext cx="4015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时间（占用课业、娱乐时间）；精力（免不了熬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夜、焦虑）；挫败（不一定有成果）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60018" y="228409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列出这学期每周能固定拿出的小时数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61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66060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30384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能持之以恒吗？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88005" y="30384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有没有钻研的热情，是否对科研或工程感兴趣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60018" y="2905125"/>
              <a:ext cx="3634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试读一篇论文或跑通一份开源代码，看能不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能坚持下来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156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65950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准备好持续学习了吗？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88005" y="365950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过去学的每一门课程都可能与大创项目无关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60018" y="365950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列出这个方向要补的课和工具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003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008120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4147185"/>
              <a:ext cx="1920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成绩跟大创有必然联系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吗？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88005" y="4147185"/>
              <a:ext cx="4206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大创更侧重实践，要探索性地解决问题，而不是掌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握既定模式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60018" y="428053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想想自己遇到没有标准答案的问题时怎么办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11125200" cy="3238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976562" y="1524000"/>
              <a:ext cx="9525" cy="3238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48575" y="1524000"/>
              <a:ext cx="9525" cy="3238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7685" y="4838224"/>
              <a:ext cx="32832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前两列据原课件第 14 页；自检方法为本讲义补充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3" name="Rectangle 3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99122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成绩好不代表适合做大创，成绩一般也不代表做不好；两者考的能力不同。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做大创之前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队友：沟通顺畅、能独当一面、能一起讨论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27685" y="1524000"/>
            <a:ext cx="5956935" cy="2779872"/>
            <a:chOff x="527685" y="1524000"/>
            <a:chExt cx="5956935" cy="27798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9541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67162" y="16630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原课件的回答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0080" y="2150745"/>
              <a:ext cx="1539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什么样的队友适合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82252" y="228409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大创能让你更好地认识自己和队友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76129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766060"/>
              <a:ext cx="595122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0080" y="2905125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什么样的队友是合格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82252" y="2905125"/>
              <a:ext cx="3253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沟通顺畅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、能够独当一面、可以一起讨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论、能提供见解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51567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080" y="365950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如何进行团队沟通？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82252" y="365950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多换位思考，目标一致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951220" cy="2484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670810" y="1524000"/>
              <a:ext cx="9525" cy="2484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7685" y="4083844"/>
              <a:ext cx="1021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15 页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450080"/>
            <a:ext cx="5951220" cy="782955"/>
            <a:chOff x="533400" y="4450080"/>
            <a:chExt cx="5951220" cy="782955"/>
          </a:xfrm>
        </p:grpSpPr>
        <p:sp>
          <p:nvSpPr>
            <p:cNvPr id="23" name="Rectangle 23"/>
            <p:cNvSpPr/>
            <p:nvPr/>
          </p:nvSpPr>
          <p:spPr>
            <a:xfrm>
              <a:off x="533400" y="4450080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4741545"/>
              <a:ext cx="200026" cy="200026"/>
              <a:chOff x="738188" y="4741545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741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4808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27088" y="4841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130" y="4598670"/>
              <a:ext cx="4968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「适合」要做过才知道：一起做一个小任务（复现一篇论文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的一张表），比聊天更能看出对方是不是合格队友。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789420" y="1524000"/>
            <a:ext cx="4869180" cy="2084070"/>
            <a:chOff x="6789420" y="1524000"/>
            <a:chExt cx="4869180" cy="2084070"/>
          </a:xfrm>
        </p:grpSpPr>
        <p:sp>
          <p:nvSpPr>
            <p:cNvPr id="30" name="Rectangle 30"/>
            <p:cNvSpPr/>
            <p:nvPr/>
          </p:nvSpPr>
          <p:spPr>
            <a:xfrm>
              <a:off x="6789420" y="1524000"/>
              <a:ext cx="4869180" cy="2084070"/>
            </a:xfrm>
            <a:prstGeom prst="roundRect">
              <a:avLst>
                <a:gd name="adj" fmla="val 63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98945" y="1657350"/>
              <a:ext cx="47625" cy="181737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037070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01675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合格队友自查清单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7037070" y="2142172"/>
              <a:ext cx="143828" cy="117157"/>
            </a:xfrm>
            <a:custGeom>
              <a:avLst/>
              <a:gdLst/>
              <a:ahLst/>
              <a:cxnLst/>
              <a:rect l="l" t="t" r="r" b="b"/>
              <a:pathLst>
                <a:path w="143828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87578" y="211074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约定的事按时交，有问题提前说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7037070" y="2486978"/>
              <a:ext cx="143828" cy="117157"/>
            </a:xfrm>
            <a:custGeom>
              <a:avLst/>
              <a:gdLst/>
              <a:ahLst/>
              <a:cxnLst/>
              <a:rect l="l" t="t" r="r" b="b"/>
              <a:pathLst>
                <a:path w="143828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87578" y="245554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分到一块任务能自己查资料做完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037070" y="2831782"/>
              <a:ext cx="143828" cy="117158"/>
            </a:xfrm>
            <a:custGeom>
              <a:avLst/>
              <a:gdLst/>
              <a:ahLst/>
              <a:cxnLst/>
              <a:rect l="l" t="t" r="r" b="b"/>
              <a:pathLst>
                <a:path w="143828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87578" y="280035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讨论时能提出自己的看法，不只是附和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7037070" y="3176588"/>
              <a:ext cx="143828" cy="117158"/>
            </a:xfrm>
            <a:custGeom>
              <a:avLst/>
              <a:gdLst/>
              <a:ahLst/>
              <a:cxnLst/>
              <a:rect l="l" t="t" r="r" b="b"/>
              <a:pathLst>
                <a:path w="143828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87578" y="314515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知道整个项目的目标，不只盯着自己那一块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789420" y="3798570"/>
            <a:ext cx="4869180" cy="1434465"/>
            <a:chOff x="6789420" y="3798570"/>
            <a:chExt cx="4869180" cy="1434465"/>
          </a:xfrm>
        </p:grpSpPr>
        <p:sp>
          <p:nvSpPr>
            <p:cNvPr id="43" name="Rectangle 43"/>
            <p:cNvSpPr/>
            <p:nvPr/>
          </p:nvSpPr>
          <p:spPr>
            <a:xfrm>
              <a:off x="6789420" y="3798570"/>
              <a:ext cx="4869180" cy="1434465"/>
            </a:xfrm>
            <a:prstGeom prst="roundRect">
              <a:avLst>
                <a:gd name="adj" fmla="val 92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98945" y="3931920"/>
              <a:ext cx="47625" cy="11677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037070" y="40081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27278" y="40438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29450" y="438531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只拉关系好的同学凑人数。人数够了，干活的还是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一两个人，中期和结项时分工说不清。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9" name="Rectangle 4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991225"/>
              <a:ext cx="9334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优秀结题只给负责人和第二名加分，且排名要与立项时一致（第 9 页），组队时就把分工和排名说清楚。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做大创之前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找老师：方向相近、对学生负责；沟通讲礼仪和信息密度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842635" cy="1701165"/>
            <a:chOff x="533400" y="1524000"/>
            <a:chExt cx="5842635" cy="17011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如何找老师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途径：自己上过的课、学长或同学推荐、学院官网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方向：尽量和你想做的方向一致或相近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78130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要找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对学生负责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的老师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415665"/>
            <a:ext cx="5842635" cy="1929765"/>
            <a:chOff x="533400" y="3415665"/>
            <a:chExt cx="5842635" cy="1929765"/>
          </a:xfrm>
        </p:grpSpPr>
        <p:sp>
          <p:nvSpPr>
            <p:cNvPr id="18" name="Rectangle 18"/>
            <p:cNvSpPr/>
            <p:nvPr/>
          </p:nvSpPr>
          <p:spPr>
            <a:xfrm>
              <a:off x="533400" y="3415665"/>
              <a:ext cx="5842635" cy="1929765"/>
            </a:xfrm>
            <a:prstGeom prst="roundRect">
              <a:avLst>
                <a:gd name="adj" fmla="val 69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549015"/>
              <a:ext cx="47625" cy="16630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362521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0557" y="366093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如何跟老师沟通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430" y="40024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邮件礼仪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4512" y="400240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标题写清来意，称呼、署名、年级专业齐全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81050" y="4322445"/>
              <a:ext cx="53854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3430" y="444246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信息密度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14512" y="444246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一封邮件说清你是谁、想做什么、已经做了什么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81050" y="4762500"/>
              <a:ext cx="53854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3430" y="48825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换位思考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14512" y="48825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站在老师角度想：他为什么要带你</a:t>
              </a:r>
            </a:p>
          </p:txBody>
        </p:sp>
      </p:grpSp>
      <p:grpSp>
        <p:nvGrpSpPr>
          <p:cNvPr id="32" name="c1-text-3"/>
          <p:cNvGrpSpPr/>
          <p:nvPr/>
        </p:nvGrpSpPr>
        <p:grpSpPr>
          <a:xfrm>
            <a:off x="526923" y="5557361"/>
            <a:ext cx="4096786" cy="249364"/>
            <a:chOff x="526923" y="5557361"/>
            <a:chExt cx="4096786" cy="249364"/>
          </a:xfrm>
        </p:grpSpPr>
        <p:sp>
          <p:nvSpPr>
            <p:cNvPr id="31" name="TextBox 31"/>
            <p:cNvSpPr txBox="1"/>
            <p:nvPr/>
          </p:nvSpPr>
          <p:spPr>
            <a:xfrm>
              <a:off x="526923" y="5557361"/>
              <a:ext cx="40967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三条沟通原则出自原课件第 16 页，解释为本讲义补充</a:t>
              </a:r>
            </a:p>
          </p:txBody>
        </p:sp>
      </p:grpSp>
      <p:grpSp>
        <p:nvGrpSpPr>
          <p:cNvPr id="36" name="c2-code-1"/>
          <p:cNvGrpSpPr/>
          <p:nvPr/>
        </p:nvGrpSpPr>
        <p:grpSpPr>
          <a:xfrm>
            <a:off x="6680835" y="1524000"/>
            <a:ext cx="4977765" cy="3342322"/>
            <a:chOff x="6680835" y="1524000"/>
            <a:chExt cx="4977765" cy="3342322"/>
          </a:xfrm>
        </p:grpSpPr>
        <p:sp>
          <p:nvSpPr>
            <p:cNvPr id="33" name="Rectangle 33"/>
            <p:cNvSpPr/>
            <p:nvPr/>
          </p:nvSpPr>
          <p:spPr>
            <a:xfrm>
              <a:off x="6680835" y="1524000"/>
              <a:ext cx="4977765" cy="3342322"/>
            </a:xfrm>
            <a:prstGeom prst="roundRect">
              <a:avLst>
                <a:gd name="adj" fmla="val 28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09232" y="16759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第一封邮件的骨架（示例）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08470" y="1937861"/>
              <a:ext cx="2472182" cy="2857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标题：2023 级软件工程 张三：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申请参与安全强化学习方向大创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X 老师您好：</a:t>
              </a:r>
            </a:p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1. 我是谁：年级、专业、绩点或排名</a:t>
              </a:r>
            </a:p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2. 为什么找您：读过您的哪篇论文、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上过您的哪门课</a:t>
              </a:r>
            </a:p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3. 我已经做了什么：学过的课程、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复现过的代码、团队情况</a:t>
              </a:r>
            </a:p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4. 想请您做什么：担任指导老师，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或推荐合适的课题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附件：简历、已读论文笔记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学生 张三  学号 xxxx</a:t>
              </a:r>
            </a:p>
          </p:txBody>
        </p:sp>
      </p:grpSp>
      <p:grpSp>
        <p:nvGrpSpPr>
          <p:cNvPr id="43" name="c2-callout-2"/>
          <p:cNvGrpSpPr/>
          <p:nvPr/>
        </p:nvGrpSpPr>
        <p:grpSpPr>
          <a:xfrm>
            <a:off x="6680835" y="5056822"/>
            <a:ext cx="4977765" cy="782955"/>
            <a:chOff x="6680835" y="5056822"/>
            <a:chExt cx="4977765" cy="782955"/>
          </a:xfrm>
        </p:grpSpPr>
        <p:sp>
          <p:nvSpPr>
            <p:cNvPr id="37" name="Rectangle 37"/>
            <p:cNvSpPr/>
            <p:nvPr/>
          </p:nvSpPr>
          <p:spPr>
            <a:xfrm>
              <a:off x="6680835" y="5056822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885623" y="5348288"/>
              <a:ext cx="200026" cy="200025"/>
              <a:chOff x="6885623" y="5348288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885623" y="53482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925361" y="53927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960077" y="55038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187565" y="5205412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一周左右没回复，可以礼貌地再发一封简短的跟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进邮件，或者课后当面问。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做大创之前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老师把控方向，不会手把手一对一辅导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1997392"/>
            <a:chOff x="533400" y="1524000"/>
            <a:chExt cx="5410200" cy="19973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97392"/>
            </a:xfrm>
            <a:prstGeom prst="roundRect">
              <a:avLst>
                <a:gd name="adj" fmla="val 66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069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老师的职责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把控整体方向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提供探索方向的指导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78130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针对立项书和论文提供反馈，指出问题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573" y="311324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但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绝对不是手把手一对一辅导</a:t>
              </a: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3711892"/>
            <a:ext cx="5410200" cy="1986915"/>
            <a:chOff x="533400" y="3711892"/>
            <a:chExt cx="5410200" cy="1986915"/>
          </a:xfrm>
        </p:grpSpPr>
        <p:sp>
          <p:nvSpPr>
            <p:cNvPr id="19" name="Rectangle 19"/>
            <p:cNvSpPr/>
            <p:nvPr/>
          </p:nvSpPr>
          <p:spPr>
            <a:xfrm>
              <a:off x="533400" y="3711892"/>
              <a:ext cx="5410200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845242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3921442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8457" y="395716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可以这样做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6765" y="436149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4880" y="4298632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每次汇报前把进展、遇到的问题、打算怎么做写成几行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文字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6765" y="498252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4880" y="4919662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提问时带上自己已经试过的办法和结果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6765" y="531780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4880" y="5254942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约定固定的汇报周期，比如两周一次</a:t>
              </a:r>
            </a:p>
          </p:txBody>
        </p:sp>
      </p:grpSp>
      <p:grpSp>
        <p:nvGrpSpPr>
          <p:cNvPr id="45" name="c2-table-1"/>
          <p:cNvGrpSpPr/>
          <p:nvPr/>
        </p:nvGrpSpPr>
        <p:grpSpPr>
          <a:xfrm>
            <a:off x="6242685" y="1524000"/>
            <a:ext cx="5415915" cy="2779872"/>
            <a:chOff x="6242685" y="1524000"/>
            <a:chExt cx="5415915" cy="2779872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87540" y="16630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想象中的老师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91675" y="16630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实际当中的老师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55080" y="228409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会主动找你安排任务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60180" y="2150745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老师很忙，需要你主动去交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2761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2766060"/>
              <a:ext cx="5410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55080" y="30384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随时有空答疑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60180" y="2905125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要对老师的时间负责，不要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无谓的沟通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35156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5080" y="365950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看你态度好就会带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60180" y="365950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要向老师展现出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自驱力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1524000"/>
              <a:ext cx="5410200" cy="2484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948738" y="1524000"/>
              <a:ext cx="9525" cy="2484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42685" y="4083844"/>
              <a:ext cx="1473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右列据原课件第 17 页</a:t>
              </a:r>
            </a:p>
          </p:txBody>
        </p:sp>
      </p:grpSp>
      <p:grpSp>
        <p:nvGrpSpPr>
          <p:cNvPr id="52" name="c2-callout-2"/>
          <p:cNvGrpSpPr/>
          <p:nvPr/>
        </p:nvGrpSpPr>
        <p:grpSpPr>
          <a:xfrm>
            <a:off x="6248400" y="4450080"/>
            <a:ext cx="5410200" cy="1248728"/>
            <a:chOff x="6248400" y="4450080"/>
            <a:chExt cx="5410200" cy="1248728"/>
          </a:xfrm>
        </p:grpSpPr>
        <p:sp>
          <p:nvSpPr>
            <p:cNvPr id="46" name="Rectangle 46"/>
            <p:cNvSpPr/>
            <p:nvPr/>
          </p:nvSpPr>
          <p:spPr>
            <a:xfrm>
              <a:off x="6248400" y="4450080"/>
              <a:ext cx="5410200" cy="1248728"/>
            </a:xfrm>
            <a:prstGeom prst="roundRect">
              <a:avLst>
                <a:gd name="adj" fmla="val 915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441129" y="4971216"/>
              <a:ext cx="224134" cy="192560"/>
              <a:chOff x="6441129" y="4971216"/>
              <a:chExt cx="224134" cy="1925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553200" y="50415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441129" y="49712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553200" y="51193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755130" y="483203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等老师来安排每一步，项目就会停在原地。老师更愿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意带那些自己先动起来、卡住了再来问的学生。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做大创之前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选题：兴趣和挑战都要有，但都别过头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193982" cy="1323022"/>
            <a:chOff x="533400" y="1524000"/>
            <a:chExt cx="5193982" cy="13230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323022"/>
            </a:xfrm>
            <a:prstGeom prst="roundRect">
              <a:avLst>
                <a:gd name="adj" fmla="val 1007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95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两条原则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37235" y="208883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5580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8128" y="2100739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兴趣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，但不完全兴趣：很多「感兴趣」源于不了解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37235" y="240887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5580" y="244825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8128" y="2420779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挑战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，但不完全挑战：难度太大容易放弃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032760"/>
            <a:ext cx="5193982" cy="3200400"/>
            <a:chOff x="533400" y="3032760"/>
            <a:chExt cx="5193982" cy="3200400"/>
          </a:xfrm>
        </p:grpSpPr>
        <p:sp>
          <p:nvSpPr>
            <p:cNvPr id="17" name="Rectangle 17"/>
            <p:cNvSpPr/>
            <p:nvPr/>
          </p:nvSpPr>
          <p:spPr>
            <a:xfrm>
              <a:off x="533400" y="3032760"/>
              <a:ext cx="5193982" cy="32004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166110"/>
              <a:ext cx="47625" cy="29337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75335" y="323659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0445" y="327231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8096" y="3609499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兴趣过头：听说大模型很热就想做大模型训练，了解后才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发现需要的算力本科生拿不到，兴趣很快消失。换成在现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成模型上做检索增强或评测，兴趣和难度都比较合适。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8096" y="4472464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挑战过头：一年内从零学完强化学习再提出全新算法，很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容易半途放弃；先复现一篇论文，再在它的基础上小步改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进，更现实。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9239" y="533209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两例为本讲义补充。</a:t>
              </a:r>
            </a:p>
          </p:txBody>
        </p:sp>
      </p:grpSp>
      <p:grpSp>
        <p:nvGrpSpPr>
          <p:cNvPr id="45" name="c2-table-1"/>
          <p:cNvGrpSpPr/>
          <p:nvPr/>
        </p:nvGrpSpPr>
        <p:grpSpPr>
          <a:xfrm>
            <a:off x="6026467" y="1524000"/>
            <a:ext cx="5632133" cy="2425542"/>
            <a:chOff x="6026467" y="1524000"/>
            <a:chExt cx="5632133" cy="2425542"/>
          </a:xfrm>
        </p:grpSpPr>
        <p:sp>
          <p:nvSpPr>
            <p:cNvPr id="25" name="Rectangle 25"/>
            <p:cNvSpPr/>
            <p:nvPr/>
          </p:nvSpPr>
          <p:spPr>
            <a:xfrm>
              <a:off x="6032182" y="1524000"/>
              <a:ext cx="5626418" cy="4686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3363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99045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创新要求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53358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36386" y="225504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36498" y="225504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49118" y="2128361"/>
              <a:ext cx="23588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相对简单，学习既有模式，经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验驱动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32182" y="271081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32182" y="2715578"/>
              <a:ext cx="5626418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36386" y="285035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36498" y="285035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需要一定创新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49118" y="285035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相比开发更加「独一无二」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32182" y="31794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36386" y="33189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科研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36498" y="33189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必须有创新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49118" y="331898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为社区提供独到的见解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32182" y="1524000"/>
              <a:ext cx="5626418" cy="21297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927532" y="1524000"/>
              <a:ext cx="9525" cy="2129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840152" y="1524000"/>
              <a:ext cx="9525" cy="2129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26467" y="3729514"/>
              <a:ext cx="1021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18 页</a:t>
              </a:r>
            </a:p>
          </p:txBody>
        </p:sp>
      </p:grpSp>
      <p:grpSp>
        <p:nvGrpSpPr>
          <p:cNvPr id="60" name="c2-flow-2"/>
          <p:cNvGrpSpPr/>
          <p:nvPr/>
        </p:nvGrpSpPr>
        <p:grpSpPr>
          <a:xfrm>
            <a:off x="6165532" y="4237672"/>
            <a:ext cx="5359718" cy="665798"/>
            <a:chOff x="6165532" y="4237672"/>
            <a:chExt cx="5359718" cy="665798"/>
          </a:xfrm>
        </p:grpSpPr>
        <p:sp>
          <p:nvSpPr>
            <p:cNvPr id="46" name="Freeform 46"/>
            <p:cNvSpPr/>
            <p:nvPr/>
          </p:nvSpPr>
          <p:spPr>
            <a:xfrm>
              <a:off x="7774305" y="469106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936230" y="46386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9649778" y="469106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811702" y="46386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165532" y="4478655"/>
              <a:ext cx="160877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041005" y="4478655"/>
              <a:ext cx="160877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9916478" y="4478655"/>
              <a:ext cx="1608772" cy="424815"/>
            </a:xfrm>
            <a:prstGeom prst="roundRect">
              <a:avLst>
                <a:gd name="adj" fmla="val 22422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01802" y="46072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7275" y="46072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552747" y="46072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科研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459980" y="4237672"/>
              <a:ext cx="8953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478268" y="426434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创新要求升高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468802" y="4237672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495092" y="426434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难度升高</a:t>
              </a:r>
            </a:p>
          </p:txBody>
        </p:sp>
      </p:grpSp>
      <p:grpSp>
        <p:nvGrpSpPr>
          <p:cNvPr id="67" name="c2-callout-3"/>
          <p:cNvGrpSpPr/>
          <p:nvPr/>
        </p:nvGrpSpPr>
        <p:grpSpPr>
          <a:xfrm>
            <a:off x="6032182" y="5476875"/>
            <a:ext cx="5626418" cy="756285"/>
            <a:chOff x="6032182" y="5476875"/>
            <a:chExt cx="5626418" cy="756285"/>
          </a:xfrm>
        </p:grpSpPr>
        <p:sp>
          <p:nvSpPr>
            <p:cNvPr id="61" name="Rectangle 61"/>
            <p:cNvSpPr/>
            <p:nvPr/>
          </p:nvSpPr>
          <p:spPr>
            <a:xfrm>
              <a:off x="6032182" y="5476875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236970" y="5755005"/>
              <a:ext cx="200026" cy="200026"/>
              <a:chOff x="6236970" y="5755005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236970" y="57550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336983" y="58216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325870" y="585501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539294" y="5624036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科研类题目必须有创新，定题前先用关键词搜一遍近两年的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论文，确认这个问题还没有被人做完。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做大创之前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怎样评价一个方向：兼听则明，再从自己的收获出发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6003468" cy="2279809"/>
            <a:chOff x="533400" y="1533525"/>
            <a:chExt cx="6003468" cy="227980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202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0700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9469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兼听则明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1833086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同一个方向问几个人：老师、做过的学长学姐、同方向的同学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1526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我能学到什么、获得什么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41982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从自身角度出发，想清楚这个过程带来的能力和成果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73939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能不能建立知识壁垒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006566"/>
              <a:ext cx="5590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这个方向的学习资料是不是已经很成熟？资料越成熟，人人都能学会，越难做出差异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32613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应用前景与难度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59330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本科生很难做非常基础（困难）的研究</a:t>
              </a:r>
            </a:p>
          </p:txBody>
        </p:sp>
      </p:grpSp>
      <p:grpSp>
        <p:nvGrpSpPr>
          <p:cNvPr id="35" name="c1-card-2"/>
          <p:cNvGrpSpPr/>
          <p:nvPr/>
        </p:nvGrpSpPr>
        <p:grpSpPr>
          <a:xfrm>
            <a:off x="533400" y="3982402"/>
            <a:ext cx="6059805" cy="2049780"/>
            <a:chOff x="533400" y="3982402"/>
            <a:chExt cx="6059805" cy="2049780"/>
          </a:xfrm>
        </p:grpSpPr>
        <p:sp>
          <p:nvSpPr>
            <p:cNvPr id="25" name="Rectangle 25"/>
            <p:cNvSpPr/>
            <p:nvPr/>
          </p:nvSpPr>
          <p:spPr>
            <a:xfrm>
              <a:off x="533400" y="3982402"/>
              <a:ext cx="6059805" cy="2049780"/>
            </a:xfrm>
            <a:prstGeom prst="roundRect">
              <a:avLst>
                <a:gd name="adj" fmla="val 65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115752"/>
              <a:ext cx="47625" cy="17830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3905" y="4174808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9346" y="420909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14247" y="421481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用四条看分享者选的方向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72478" y="460533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8497" y="4549140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安全强化学习在通用强化学习之上加了安全约束，资料比通用方向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少，容易做出差异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72478" y="516445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8497" y="5108258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研究的是算法的样本效率，用仿真环境就能做实验，本科生的算力够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8190" y="5664994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此例为本讲义按原课件的四条所做的分析。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6892671" y="1524000"/>
            <a:ext cx="4765929" cy="2308479"/>
            <a:chOff x="6892671" y="1524000"/>
            <a:chExt cx="4765929" cy="2308479"/>
          </a:xfrm>
        </p:grpSpPr>
        <p:sp>
          <p:nvSpPr>
            <p:cNvPr id="36" name="Rectangle 36"/>
            <p:cNvSpPr/>
            <p:nvPr/>
          </p:nvSpPr>
          <p:spPr>
            <a:xfrm>
              <a:off x="6898005" y="1524000"/>
              <a:ext cx="476059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05026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看到的现象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16071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可能说明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98017" y="205406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教程、课程多到数不清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78315" y="205406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入门容易，差异化难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898005" y="233076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898005" y="233553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98017" y="245983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只有少量近两年的论文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78315" y="24598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较新，有空间，但资料少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898005" y="273653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98017" y="286559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必须大规模算力才能做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78315" y="28655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本科生难以推进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898005" y="314229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98005" y="314706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98017" y="327136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课题组有现成代码和数据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78315" y="327136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上手快，适合入门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898005" y="1524000"/>
              <a:ext cx="4760595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273540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92671" y="362712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本讲义补充的判断参考</a:t>
              </a:r>
            </a:p>
          </p:txBody>
        </p:sp>
      </p:grpSp>
      <p:grpSp>
        <p:nvGrpSpPr>
          <p:cNvPr id="76" name="c2-table-2"/>
          <p:cNvGrpSpPr/>
          <p:nvPr/>
        </p:nvGrpSpPr>
        <p:grpSpPr>
          <a:xfrm>
            <a:off x="6892671" y="3966210"/>
            <a:ext cx="4765929" cy="2089404"/>
            <a:chOff x="6892671" y="3966210"/>
            <a:chExt cx="4765929" cy="2089404"/>
          </a:xfrm>
        </p:grpSpPr>
        <p:sp>
          <p:nvSpPr>
            <p:cNvPr id="56" name="Rectangle 56"/>
            <p:cNvSpPr/>
            <p:nvPr/>
          </p:nvSpPr>
          <p:spPr>
            <a:xfrm>
              <a:off x="6898005" y="3966210"/>
              <a:ext cx="476059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427176" y="409051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评价项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725014" y="409051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大模型预训练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041763" y="409051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安全强化学习样本效率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98017" y="449627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能学到东西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01950" y="449627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720248" y="449627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898005" y="477297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898005" y="477774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998017" y="490204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能建立知识壁垒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101950" y="490204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720248" y="490204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898005" y="51787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998017" y="53078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本科生做得动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101950" y="53078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720248" y="53078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898005" y="3966210"/>
              <a:ext cx="4760595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8416290" y="396621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9940290" y="396621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892671" y="5663565"/>
              <a:ext cx="45445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两个方向的对比示意，承接上一页的例子。自己打分时写下依据，拿去问老师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更具体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247007" cy="3351847"/>
            <a:chOff x="667512" y="1835468"/>
            <a:chExt cx="424700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大创立项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选定具体题目，把前期工作做到评委看得见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自己想的题目还是老师的课题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前置知识与广泛调研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多做前期工作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立项评审看什么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3263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070" y="407194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大创立项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选具体题目：自己想的自由度大，老师的课题更容易找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compare-1"/>
          <p:cNvGrpSpPr/>
          <p:nvPr/>
        </p:nvGrpSpPr>
        <p:grpSpPr>
          <a:xfrm>
            <a:off x="533400" y="1524000"/>
            <a:ext cx="6059804" cy="2324100"/>
            <a:chOff x="533400" y="1524000"/>
            <a:chExt cx="6059804" cy="23241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820352" cy="2324100"/>
            </a:xfrm>
            <a:prstGeom prst="roundRect">
              <a:avLst>
                <a:gd name="adj" fmla="val 57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574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自己想的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自由度较大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107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479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老师接收难度也较大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460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78320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来源：目前的热点方向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1813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11848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来源：自己想做的东西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（如开发）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772852" y="1524000"/>
              <a:ext cx="2820352" cy="2324100"/>
            </a:xfrm>
            <a:prstGeom prst="roundRect">
              <a:avLst>
                <a:gd name="adj" fmla="val 57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782378" y="1657350"/>
              <a:ext cx="47625" cy="205740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12882" y="17583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老师的课题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4026218" y="21755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84332" y="21126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自由度较小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4026218" y="25107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84332" y="24479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但更容易找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026218" y="28460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184332" y="278320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常见形式：老师课题的子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课题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401378" y="252412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471718" y="26203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1" name="c1-text-2"/>
          <p:cNvGrpSpPr/>
          <p:nvPr/>
        </p:nvGrpSpPr>
        <p:grpSpPr>
          <a:xfrm>
            <a:off x="526923" y="4060031"/>
            <a:ext cx="3407532" cy="249364"/>
            <a:chOff x="526923" y="4060031"/>
            <a:chExt cx="3407532" cy="249364"/>
          </a:xfrm>
        </p:grpSpPr>
        <p:sp>
          <p:nvSpPr>
            <p:cNvPr id="30" name="TextBox 30"/>
            <p:cNvSpPr txBox="1"/>
            <p:nvPr/>
          </p:nvSpPr>
          <p:spPr>
            <a:xfrm>
              <a:off x="526923" y="4060031"/>
              <a:ext cx="3407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20 页，注明参考自往届学长的分享</a:t>
              </a:r>
            </a:p>
          </p:txBody>
        </p:sp>
      </p:grpSp>
      <p:grpSp>
        <p:nvGrpSpPr>
          <p:cNvPr id="37" name="c1-card-3"/>
          <p:cNvGrpSpPr/>
          <p:nvPr/>
        </p:nvGrpSpPr>
        <p:grpSpPr>
          <a:xfrm>
            <a:off x="533400" y="4449128"/>
            <a:ext cx="6059805" cy="1316355"/>
            <a:chOff x="533400" y="4449128"/>
            <a:chExt cx="6059805" cy="1316355"/>
          </a:xfrm>
        </p:grpSpPr>
        <p:sp>
          <p:nvSpPr>
            <p:cNvPr id="32" name="Rectangle 32"/>
            <p:cNvSpPr/>
            <p:nvPr/>
          </p:nvSpPr>
          <p:spPr>
            <a:xfrm>
              <a:off x="533400" y="4449128"/>
              <a:ext cx="605980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582478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81050" y="465867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3359" y="46943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对照案例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3430" y="5035868"/>
              <a:ext cx="534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分享者的题目「策略梯度安全强化学习算法的样本效率」属于具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体的算法问题，范围小，可以在一年左右做出结果。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898005" y="1524000"/>
            <a:ext cx="4760595" cy="1937385"/>
            <a:chOff x="6898005" y="1524000"/>
            <a:chExt cx="4760595" cy="1937385"/>
          </a:xfrm>
        </p:grpSpPr>
        <p:sp>
          <p:nvSpPr>
            <p:cNvPr id="38" name="Rectangle 38"/>
            <p:cNvSpPr/>
            <p:nvPr/>
          </p:nvSpPr>
          <p:spPr>
            <a:xfrm>
              <a:off x="6898005" y="1524000"/>
              <a:ext cx="4760595" cy="1937385"/>
            </a:xfrm>
            <a:prstGeom prst="roundRect">
              <a:avLst>
                <a:gd name="adj" fmla="val 6883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07555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93813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怎么选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113270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71385" y="211074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方向还不熟：先接老师的子课题，边做边熟悉领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域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113270" y="279463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71385" y="273177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已读过一批论文、有具体想法：自己提题，再找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方向相近的老师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898005" y="3651885"/>
            <a:ext cx="4760595" cy="2113598"/>
            <a:chOff x="6898005" y="3651885"/>
            <a:chExt cx="4760595" cy="2113598"/>
          </a:xfrm>
        </p:grpSpPr>
        <p:sp>
          <p:nvSpPr>
            <p:cNvPr id="46" name="Rectangle 46"/>
            <p:cNvSpPr/>
            <p:nvPr/>
          </p:nvSpPr>
          <p:spPr>
            <a:xfrm>
              <a:off x="6898005" y="3651885"/>
              <a:ext cx="4760595" cy="2113598"/>
            </a:xfrm>
            <a:prstGeom prst="roundRect">
              <a:avLst>
                <a:gd name="adj" fmla="val 6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907530" y="3785235"/>
              <a:ext cx="47625" cy="184689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145655" y="38614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35863" y="38971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38035" y="423862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自己想的题目没做过调研就去找老师，老师很难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判断能不能做成，接收的可能更低。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38035" y="485965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老师的子课题也要先读几篇相关论文，弄清它在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整个课题里负责哪一块。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3263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070" y="407194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大创立项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前期准备一：补前置知识，对领域做广泛调研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544378" cy="1897380"/>
            <a:chOff x="533400" y="1524000"/>
            <a:chExt cx="4544378" cy="18973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897380"/>
            </a:xfrm>
            <a:prstGeom prst="roundRect">
              <a:avLst>
                <a:gd name="adj" fmla="val 70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3068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学习前置知识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学科知识，如概率论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编程语言等固定的工具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4573" y="2777966"/>
              <a:ext cx="39143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强化学习方向还要补：马尔可夫决策过程、策略梯度、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PyTorch。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611880"/>
            <a:ext cx="4544378" cy="2063115"/>
            <a:chOff x="533400" y="3611880"/>
            <a:chExt cx="4544378" cy="2063115"/>
          </a:xfrm>
        </p:grpSpPr>
        <p:sp>
          <p:nvSpPr>
            <p:cNvPr id="17" name="Rectangle 17"/>
            <p:cNvSpPr/>
            <p:nvPr/>
          </p:nvSpPr>
          <p:spPr>
            <a:xfrm>
              <a:off x="533400" y="3611880"/>
              <a:ext cx="4544378" cy="2063115"/>
            </a:xfrm>
            <a:prstGeom prst="roundRect">
              <a:avLst>
                <a:gd name="adj" fmla="val 64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745230"/>
              <a:ext cx="47625" cy="17964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382143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8457" y="385714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读英文文献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4198620"/>
              <a:ext cx="3825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先看摘要、引言和结论判断相关性，再挑相关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章节细读。边读边记：解决什么问题、用什么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方法、在哪个数据集上比了谁。</a:t>
              </a:r>
            </a:p>
          </p:txBody>
        </p:sp>
      </p:grpSp>
      <p:grpSp>
        <p:nvGrpSpPr>
          <p:cNvPr id="44" name="c2-steps-1"/>
          <p:cNvGrpSpPr/>
          <p:nvPr/>
        </p:nvGrpSpPr>
        <p:grpSpPr>
          <a:xfrm>
            <a:off x="5382578" y="1533525"/>
            <a:ext cx="5078044" cy="3179730"/>
            <a:chOff x="5382578" y="1533525"/>
            <a:chExt cx="5078044" cy="3179730"/>
          </a:xfrm>
        </p:grpSpPr>
        <p:sp>
          <p:nvSpPr>
            <p:cNvPr id="23" name="Rectangle 23"/>
            <p:cNvSpPr/>
            <p:nvPr/>
          </p:nvSpPr>
          <p:spPr>
            <a:xfrm>
              <a:off x="5515928" y="1676400"/>
              <a:ext cx="19050" cy="26031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382578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47620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382578" y="21840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76201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382578" y="283464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76201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382578" y="34861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76201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382578" y="41367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76201" y="4210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94058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读综述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95201" y="186166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读英文文献，语言是最不重要的因素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94058" y="221837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读近几年的顶刊顶会论文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95201" y="2512219"/>
              <a:ext cx="25183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特指 CCF-A 类的顶级期刊和会议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94058" y="28689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克服畏难心态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795201" y="3162776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并不是更差的论文就更容易懂，越好的论文越希望读者能读懂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94058" y="3520440"/>
              <a:ext cx="18502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 tutorial 与 talk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95201" y="381333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在各大视频网站、资源分享网站看知名学者的讲解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794058" y="417099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多与人交流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795201" y="446389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和老师、学长学姐、同方向的同学讨论</a:t>
              </a:r>
            </a:p>
          </p:txBody>
        </p:sp>
      </p:grpSp>
      <p:grpSp>
        <p:nvGrpSpPr>
          <p:cNvPr id="51" name="c2-callout-2"/>
          <p:cNvGrpSpPr/>
          <p:nvPr/>
        </p:nvGrpSpPr>
        <p:grpSpPr>
          <a:xfrm>
            <a:off x="5382578" y="4892040"/>
            <a:ext cx="6276022" cy="782955"/>
            <a:chOff x="5382578" y="4892040"/>
            <a:chExt cx="6276022" cy="782955"/>
          </a:xfrm>
        </p:grpSpPr>
        <p:sp>
          <p:nvSpPr>
            <p:cNvPr id="45" name="Rectangle 45"/>
            <p:cNvSpPr/>
            <p:nvPr/>
          </p:nvSpPr>
          <p:spPr>
            <a:xfrm>
              <a:off x="5382578" y="4892040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5587365" y="5183505"/>
              <a:ext cx="200026" cy="200026"/>
              <a:chOff x="5587365" y="5183505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5587365" y="51835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5687378" y="52501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5676265" y="528351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5889308" y="5040630"/>
              <a:ext cx="5349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调研告一段落的标志：能说出这个方向有哪几类方法、各自的代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表论文，以及常用的数据集或实验环境。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3263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070" y="407194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大创立项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前期准备二：多做工作，证明你比别人更能完成高质量项目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27685" y="1524000"/>
            <a:ext cx="5415915" cy="2766537"/>
            <a:chOff x="527685" y="1524000"/>
            <a:chExt cx="5415915" cy="276653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5575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前期工作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16224" y="16597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可以拿出来的材料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调研深入程度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89086" y="210835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相关工作梳理、按方法分类的对比表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698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基础的代码实现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89086" y="2556986"/>
              <a:ext cx="28044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复现的 baseline、能跑通的代码仓库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前期实验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89086" y="300561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复现结果与原论文的对比、初步改进的结果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19462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454241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问题建模、理论理解与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89086" y="356758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形式化的问题定义、关键公式推导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410200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476500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7685" y="4070509"/>
              <a:ext cx="2830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左列据原课件第 22 页；右列为本讲义补充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436745"/>
            <a:ext cx="5410200" cy="937260"/>
            <a:chOff x="533400" y="4436745"/>
            <a:chExt cx="5410200" cy="937260"/>
          </a:xfrm>
        </p:grpSpPr>
        <p:sp>
          <p:nvSpPr>
            <p:cNvPr id="27" name="Rectangle 27"/>
            <p:cNvSpPr/>
            <p:nvPr/>
          </p:nvSpPr>
          <p:spPr>
            <a:xfrm>
              <a:off x="533400" y="4436745"/>
              <a:ext cx="5410200" cy="937260"/>
            </a:xfrm>
            <a:prstGeom prst="roundRect">
              <a:avLst>
                <a:gd name="adj" fmla="val 1219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4805363"/>
              <a:ext cx="200026" cy="200026"/>
              <a:chOff x="738188" y="4805363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48053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48720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7088" y="49053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4662488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前期工作写进申请书的「研究基础」一栏，答辩时直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接展示结果图。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248400" y="1524000"/>
            <a:ext cx="5410200" cy="1612582"/>
            <a:chOff x="6248400" y="1524000"/>
            <a:chExt cx="5410200" cy="1612582"/>
          </a:xfrm>
        </p:grpSpPr>
        <p:sp>
          <p:nvSpPr>
            <p:cNvPr id="34" name="Rectangle 34"/>
            <p:cNvSpPr/>
            <p:nvPr/>
          </p:nvSpPr>
          <p:spPr>
            <a:xfrm>
              <a:off x="6248400" y="1524000"/>
              <a:ext cx="5410200" cy="1612582"/>
            </a:xfrm>
            <a:prstGeom prst="roundRect">
              <a:avLst>
                <a:gd name="adj" fmla="val 826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579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314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原课件的结论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50330" y="211074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前期工作的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质量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和项目预期产出的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数量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，是决定项目等级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的关键。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51473" y="272843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预期产出意味着结项难度。</a:t>
              </a:r>
            </a:p>
          </p:txBody>
        </p:sp>
      </p:grpSp>
      <p:grpSp>
        <p:nvGrpSpPr>
          <p:cNvPr id="57" name="c2-table-2"/>
          <p:cNvGrpSpPr/>
          <p:nvPr/>
        </p:nvGrpSpPr>
        <p:grpSpPr>
          <a:xfrm>
            <a:off x="6242685" y="3327082"/>
            <a:ext cx="5415915" cy="2091215"/>
            <a:chOff x="6242685" y="3327082"/>
            <a:chExt cx="5415915" cy="2091215"/>
          </a:xfrm>
        </p:grpSpPr>
        <p:sp>
          <p:nvSpPr>
            <p:cNvPr id="40" name="Rectangle 40"/>
            <p:cNvSpPr/>
            <p:nvPr/>
          </p:nvSpPr>
          <p:spPr>
            <a:xfrm>
              <a:off x="6248400" y="3327082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15607" y="34628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预期产出写法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965334" y="34628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56223" y="391144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写得少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36520" y="391144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评委觉得项目分量不够，级别偏低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42205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422529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56223" y="436006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与前期工作相称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638222" y="4234815"/>
              <a:ext cx="301085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736520" y="436006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评委相信能完成，也能按时结项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46691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56223" y="480869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写得满，前期薄弱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638222" y="4683442"/>
              <a:ext cx="3010852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736520" y="480869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评委难以信服；立项后结项压力大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3327082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623935" y="332708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42685" y="5198269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本讲义按原课件的结论推出的三种情形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3263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070" y="407194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大创立项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立项评审看什么：一张自查清单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table-1"/>
          <p:cNvGrpSpPr/>
          <p:nvPr/>
        </p:nvGrpSpPr>
        <p:grpSpPr>
          <a:xfrm>
            <a:off x="527685" y="1524000"/>
            <a:ext cx="11130915" cy="3709512"/>
            <a:chOff x="527685" y="1524000"/>
            <a:chExt cx="11130915" cy="37095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22998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评审关注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48150" y="16630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评委想知道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09672" y="16630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你要准备的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1507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42235" y="215074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方向有没有价值，本科生能不能做出来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92315" y="215074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说清问题来源，避开过于基础或过于热门的方向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945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9936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26384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前期工作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42235" y="2638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团队是不是已经上手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92315" y="263842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调研、复现代码、前期实验、问题建模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822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1261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预期产出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42235" y="312610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成果数量与难度是否合理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92315" y="312610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与前期工作相称的论文、软著或专利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699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47472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36137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团队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42235" y="36137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分工是否清楚，能否独当一面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92315" y="36137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每人负责哪一块，负责人能统筹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576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0080" y="41014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指导老师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42235" y="41014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方向是否对口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92315" y="410146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老师的研究方向与题目一致或相近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4453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45008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0080" y="45891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申请书与答辩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42235" y="458914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材料是否规范、表达是否准确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92315" y="458914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按当年模板填写，用可核对的数字描述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11125200" cy="34137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530792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980872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7685" y="5013484"/>
              <a:ext cx="3645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由原课件第 2、7、16、19、22、28 页的要点整理成表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2" name="Rectangle 4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130" y="5991225"/>
              <a:ext cx="8496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立项级别在评审时就定了，中期还可能定级调整；想冲国家级，前期工作要在通知发出前做好。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802761" cy="3351847"/>
            <a:chOff x="667512" y="1835468"/>
            <a:chExt cx="380276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立项之后与结项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科研过程不轻松，结项形式按时间来选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立项后的科研过程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论文的四种状态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结项的具体形式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本科生科研的时间线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935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269" y="407194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立项之后与结项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立项之后：永远没有完全准备好的状态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bullets-1"/>
          <p:cNvGrpSpPr/>
          <p:nvPr/>
        </p:nvGrpSpPr>
        <p:grpSpPr>
          <a:xfrm>
            <a:off x="541972" y="1545907"/>
            <a:ext cx="5999036" cy="2334769"/>
            <a:chOff x="541972" y="1545907"/>
            <a:chExt cx="5999036" cy="2334769"/>
          </a:xfrm>
        </p:grpSpPr>
        <p:sp>
          <p:nvSpPr>
            <p:cNvPr id="7" name="Ellipse 7"/>
            <p:cNvSpPr/>
            <p:nvPr/>
          </p:nvSpPr>
          <p:spPr>
            <a:xfrm>
              <a:off x="541972" y="160210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992" y="1545907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永远没有一个完全准备好的状态，随时准备迎接挑战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1972" y="191357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992" y="185737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方向确定好之后，少说，多做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1972" y="222504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992" y="2168842"/>
              <a:ext cx="58430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科研不会让人一直心情激动：挫败感、自我怀疑、长期付出的疲劳感、延迟的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回报（或没有功利性回报）、队友之间的矛盾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1972" y="279273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7992" y="273653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你做的东西很可能看起来没有价值（跟想象中比起来）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41972" y="310419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7992" y="304800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细节决定成败，也决定了暴涨的工作量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41972" y="341566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7992" y="3359468"/>
              <a:ext cx="58430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如果一件事你自己都没有把握「只要花时间一定能做好」，不要期待队友可以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胜任</a:t>
              </a:r>
            </a:p>
          </p:txBody>
        </p:sp>
      </p:grpSp>
      <p:grpSp>
        <p:nvGrpSpPr>
          <p:cNvPr id="21" name="c1-text-2"/>
          <p:cNvGrpSpPr/>
          <p:nvPr/>
        </p:nvGrpSpPr>
        <p:grpSpPr>
          <a:xfrm>
            <a:off x="527685" y="4020979"/>
            <a:ext cx="1021618" cy="220028"/>
            <a:chOff x="527685" y="4020979"/>
            <a:chExt cx="1021618" cy="220028"/>
          </a:xfrm>
        </p:grpSpPr>
        <p:sp>
          <p:nvSpPr>
            <p:cNvPr id="20" name="TextBox 20"/>
            <p:cNvSpPr txBox="1"/>
            <p:nvPr/>
          </p:nvSpPr>
          <p:spPr>
            <a:xfrm>
              <a:off x="527685" y="4020979"/>
              <a:ext cx="1021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23 页</a:t>
              </a:r>
            </a:p>
          </p:txBody>
        </p:sp>
      </p:grpSp>
      <p:grpSp>
        <p:nvGrpSpPr>
          <p:cNvPr id="37" name="c1-table-3"/>
          <p:cNvGrpSpPr/>
          <p:nvPr/>
        </p:nvGrpSpPr>
        <p:grpSpPr>
          <a:xfrm>
            <a:off x="528066" y="4371975"/>
            <a:ext cx="6281356" cy="1902714"/>
            <a:chOff x="528066" y="4371975"/>
            <a:chExt cx="6281356" cy="1902714"/>
          </a:xfrm>
        </p:grpSpPr>
        <p:sp>
          <p:nvSpPr>
            <p:cNvPr id="22" name="Rectangle 22"/>
            <p:cNvSpPr/>
            <p:nvPr/>
          </p:nvSpPr>
          <p:spPr>
            <a:xfrm>
              <a:off x="533400" y="4371975"/>
              <a:ext cx="6276022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91819" y="449627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难受的时候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54919" y="449627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可以先做的事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3412" y="490204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实验结果不好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16505" y="4902041"/>
              <a:ext cx="3509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回到复现的 baseline，确认代码和设置没错再改方法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17874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518350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53078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自我怀疑、疲劳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16505" y="530780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翻看自己的里程碑记录，看已经走了多远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58450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3412" y="571357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队友之间有矛盾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516505" y="571357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对照分工表谈具体任务，对事不对人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371975"/>
              <a:ext cx="6276022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411730" y="437197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8066" y="606933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本讲义补充</a:t>
              </a:r>
            </a:p>
          </p:txBody>
        </p:sp>
      </p:grpSp>
      <p:grpSp>
        <p:nvGrpSpPr>
          <p:cNvPr id="40" name="c2-image-1"/>
          <p:cNvGrpSpPr/>
          <p:nvPr/>
        </p:nvGrpSpPr>
        <p:grpSpPr>
          <a:xfrm>
            <a:off x="7114222" y="1524000"/>
            <a:ext cx="4544378" cy="3707701"/>
            <a:chOff x="7114222" y="1524000"/>
            <a:chExt cx="4544378" cy="3707701"/>
          </a:xfrm>
        </p:grpSpPr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rcRect l="5552" t="0" r="5553" b="0"/>
            <a:stretch>
              <a:fillRect/>
            </a:stretch>
          </p:blipFill>
          <p:spPr>
            <a:xfrm>
              <a:off x="7114222" y="1524000"/>
              <a:ext cx="4544378" cy="3408045"/>
            </a:xfrm>
            <a:prstGeom prst="roundRect">
              <a:avLst>
                <a:gd name="adj" fmla="val 3912"/>
              </a:avLst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8108442" y="502634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路很长，回报来得晚，每一段都要自己走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7114222" y="5633085"/>
            <a:ext cx="4544378" cy="729615"/>
            <a:chOff x="7114222" y="5633085"/>
            <a:chExt cx="4544378" cy="729615"/>
          </a:xfrm>
        </p:grpSpPr>
        <p:sp>
          <p:nvSpPr>
            <p:cNvPr id="41" name="Rectangle 41"/>
            <p:cNvSpPr/>
            <p:nvPr/>
          </p:nvSpPr>
          <p:spPr>
            <a:xfrm>
              <a:off x="7114222" y="5633085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19010" y="5897880"/>
              <a:ext cx="200026" cy="200025"/>
              <a:chOff x="7319010" y="5897880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19010" y="58978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358749" y="59423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393464" y="60534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621714" y="5779770"/>
              <a:ext cx="36141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把大目标拆成两周一个的小里程碑，每完成一个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就记下来。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02842" cy="909257"/>
            <a:chOff x="520446" y="342900"/>
            <a:chExt cx="7802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935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269" y="407194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立项之后与结项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02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论文的四种状态：arXiv、在投、有审稿意见、中稿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204841" cy="293370"/>
            <a:chOff x="525780" y="1548765"/>
            <a:chExt cx="5204841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2048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23 页只提出了问题，下表是本讲义补充的解释。</a:t>
              </a:r>
            </a:p>
          </p:txBody>
        </p:sp>
      </p:grpSp>
      <p:grpSp>
        <p:nvGrpSpPr>
          <p:cNvPr id="29" name="c1-flow-1"/>
          <p:cNvGrpSpPr/>
          <p:nvPr/>
        </p:nvGrpSpPr>
        <p:grpSpPr>
          <a:xfrm>
            <a:off x="727710" y="2055495"/>
            <a:ext cx="10735628" cy="665798"/>
            <a:chOff x="727710" y="2055495"/>
            <a:chExt cx="10735628" cy="665798"/>
          </a:xfrm>
        </p:grpSpPr>
        <p:sp>
          <p:nvSpPr>
            <p:cNvPr id="9" name="Freeform 9"/>
            <p:cNvSpPr/>
            <p:nvPr/>
          </p:nvSpPr>
          <p:spPr>
            <a:xfrm>
              <a:off x="3120390" y="2508885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3404235" y="24564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901690" y="2508885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185535" y="24564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8682990" y="2508885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8966835" y="24564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7710" y="2296478"/>
              <a:ext cx="2391728" cy="424815"/>
            </a:xfrm>
            <a:prstGeom prst="roundRect">
              <a:avLst>
                <a:gd name="adj" fmla="val 22422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509010" y="2296478"/>
              <a:ext cx="2391728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90310" y="2296478"/>
              <a:ext cx="2391728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071610" y="2296478"/>
              <a:ext cx="2391728" cy="42481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46916" y="2425065"/>
              <a:ext cx="954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arXiv 预印本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37710" y="242506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76694" y="242506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有审稿意见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77222" y="242506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中稿（录用）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933700" y="2055495"/>
              <a:ext cx="7620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955988" y="208216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可同时投稿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915025" y="229266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49315" y="23193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审稿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496300" y="2055495"/>
              <a:ext cx="7620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18588" y="208216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修改后接收</a:t>
              </a:r>
            </a:p>
          </p:txBody>
        </p:sp>
      </p:grpSp>
      <p:grpSp>
        <p:nvGrpSpPr>
          <p:cNvPr id="61" name="c1-table-2"/>
          <p:cNvGrpSpPr/>
          <p:nvPr/>
        </p:nvGrpSpPr>
        <p:grpSpPr>
          <a:xfrm>
            <a:off x="533400" y="3248978"/>
            <a:ext cx="11125200" cy="2150745"/>
            <a:chOff x="533400" y="3248978"/>
            <a:chExt cx="11125200" cy="2150745"/>
          </a:xfrm>
        </p:grpSpPr>
        <p:sp>
          <p:nvSpPr>
            <p:cNvPr id="30" name="Rectangle 30"/>
            <p:cNvSpPr/>
            <p:nvPr/>
          </p:nvSpPr>
          <p:spPr>
            <a:xfrm>
              <a:off x="533400" y="3248978"/>
              <a:ext cx="11125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55395" y="337947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71022" y="337947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93280" y="337947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经过同行评审吗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98889" y="337947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能当结项或加分成果吗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8746" y="3810000"/>
              <a:ext cx="441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arXiv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18969" y="381000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作者自行上传的预印本，公开时间戳，谁都能挂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69049" y="381000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71204" y="381000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1043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410908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8746" y="424053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418969" y="424053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已投稿给某会议或期刊，等待审稿结果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69049" y="424053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进行中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71204" y="424053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5339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8746" y="467010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有审稿意见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418969" y="4670108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收到审稿人意见（大修、小修或拒稿），修改后可能录用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69049" y="467010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已审一轮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71204" y="467010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96443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4969192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8746" y="510063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中稿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418969" y="5100638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被录用，等待或已经正式发表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69049" y="510063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775382" y="4978718"/>
              <a:ext cx="2873692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871204" y="5100638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是（以当年要求为准）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3248978"/>
              <a:ext cx="1112520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2308860" y="3248978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758940" y="3248978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761095" y="3248978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2" name="Rectangle 6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511" y="6004084"/>
              <a:ext cx="76867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简历和申请书里写「在投」要写清投给哪里；把 arXiv 论文写成「已发表」属于不实表述。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36708" cy="909257"/>
            <a:chOff x="520446" y="342900"/>
            <a:chExt cx="63367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935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269" y="407194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立项之后与结项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367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结项形式：软著最快，CCF-A 要一年左右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27685" y="1524000"/>
            <a:ext cx="6497955" cy="4090511"/>
            <a:chOff x="527685" y="1524000"/>
            <a:chExt cx="6497955" cy="409051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898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9678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2947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971675" y="1982152"/>
              <a:ext cx="1409700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69973" y="22217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到 3 个月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97770" y="2108359"/>
              <a:ext cx="32641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相对较水；申请步骤可搜索「软团团」的「软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著」教程（基本流程，细节可能不同）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6431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647950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2783681"/>
              <a:ext cx="922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EI 水刊水会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69973" y="278368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到 7 天出结果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97770" y="278368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快，但含金量低，也要当心掠夺性期刊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09276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2323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常规会议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69973" y="3232309"/>
              <a:ext cx="9089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 deadline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97770" y="323230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截稿日明确，周期相对短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54139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546158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6809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常规期刊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69973" y="36809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看实际情况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97770" y="368093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随时可投，周期相对长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9900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4243864"/>
              <a:ext cx="9114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CCF A/B/C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69973" y="4130516"/>
              <a:ext cx="99644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CCF-A 一年左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97770" y="424386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难度最高，也是加分细则认可的主体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66534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670108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480583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专利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069973" y="48058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一年左右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97770" y="4805839"/>
              <a:ext cx="2795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9 页写发明专利一年半左右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6492240" cy="35947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957388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385185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7685" y="5194459"/>
              <a:ext cx="607796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24 页，注明参考自往届学长的分享；论文周期原文写「3–7 天、三个月、半年、一年不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等」</a:t>
              </a:r>
            </a:p>
          </p:txBody>
        </p:sp>
      </p:grpSp>
      <p:grpSp>
        <p:nvGrpSpPr>
          <p:cNvPr id="61" name="c2-card-1"/>
          <p:cNvGrpSpPr/>
          <p:nvPr/>
        </p:nvGrpSpPr>
        <p:grpSpPr>
          <a:xfrm>
            <a:off x="7330440" y="1524000"/>
            <a:ext cx="4328160" cy="4046220"/>
            <a:chOff x="7330440" y="1524000"/>
            <a:chExt cx="4328160" cy="4046220"/>
          </a:xfrm>
        </p:grpSpPr>
        <p:sp>
          <p:nvSpPr>
            <p:cNvPr id="43" name="Rectangle 43"/>
            <p:cNvSpPr/>
            <p:nvPr/>
          </p:nvSpPr>
          <p:spPr>
            <a:xfrm>
              <a:off x="7330440" y="1524000"/>
              <a:ext cx="4328160" cy="4046220"/>
            </a:xfrm>
            <a:prstGeom prst="roundRect">
              <a:avLst>
                <a:gd name="adj" fmla="val 32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339965" y="1657350"/>
              <a:ext cx="47625" cy="37795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578090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34796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按离结项的剩余时间挑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711440" y="2238375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7578090" y="209550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671714" y="21693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578090" y="274605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671714" y="28198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578090" y="36318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671714" y="37057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989570" y="2129790"/>
              <a:ext cx="1066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不到 3 个月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90713" y="242363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软著兜底，论文和专利基本来不及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89570" y="2780348"/>
              <a:ext cx="116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到 12 个月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90713" y="3074194"/>
              <a:ext cx="3182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找截稿日合适的会议，按 deadline 倒排实验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和写作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989570" y="36661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一年以上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90713" y="3959066"/>
              <a:ext cx="24903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可以冲 CCF 期刊或申请发明专利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71613" y="4313396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剩余时间要把审稿、修改和录用通知都算进去。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935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269" y="407194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立项之后与结项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本科生科研的时间线：大三下已经在找保研导师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27685" y="1524000"/>
            <a:ext cx="11130915" cy="3488532"/>
            <a:chOff x="527685" y="1524000"/>
            <a:chExt cx="11130915" cy="34885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7543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1552" y="17964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03220" y="17964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学习内容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63665" y="17964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发展阶段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172575" y="1663065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大创节点（按大二下立项推</a:t>
              </a:r>
              <a:br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0080" y="24174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大一、大二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75485" y="24174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打基础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67275" y="241744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学习课程内容，保证成绩，参加竞赛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5422" y="2417445"/>
              <a:ext cx="1681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大二下 4–5 月立项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61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6606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080" y="29051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大三上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75485" y="29051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对计算机领域有更完整的认知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67275" y="29051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开始了解不同的方向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95422" y="2905125"/>
              <a:ext cx="1529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9–10 月中期检查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2489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0080" y="339280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大三下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75485" y="33928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同上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70120" y="3263265"/>
              <a:ext cx="4208145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67275" y="339280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考研的要开始备考；保研的已经在忙着找老师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95422" y="3392805"/>
              <a:ext cx="1216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4–5 月可结项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366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74142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0080" y="388048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大四上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75485" y="38804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67275" y="38804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考研结束；保研后做老师的项目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95422" y="3880485"/>
              <a:ext cx="1529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9–10 月最晚结项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2243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0080" y="43681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大四下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75485" y="436816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67275" y="436816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考研复试；保研后做老师的项目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95422" y="436816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11125200" cy="31927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864042" y="1524000"/>
              <a:ext cx="9525" cy="31927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755832" y="1524000"/>
              <a:ext cx="9525" cy="31927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983980" y="1524000"/>
              <a:ext cx="9525" cy="31927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7685" y="4792504"/>
              <a:ext cx="5718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前三列据原课件第 25 页；第四列由本讲第 8 页的时间节点推算，具体以当年通知为准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5" name="Rectangle 4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991225"/>
              <a:ext cx="9304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打算保研的话，大创成果要赶在大三下找老师之前拿得出手；大二下立项、第二年春季结项正好对得上。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2914269" cy="3351847"/>
            <a:chOff x="667512" y="1835468"/>
            <a:chExt cx="291426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个人杂谈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分享者做大创之后的几点体会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老师看重什么特质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合作伙伴与口碑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说话写材料要务实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完美主义与复用复现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3263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070" y="407194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个人杂谈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老师看重什么：成绩是敲门砖，解决问题的能力是核心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28066" y="1524000"/>
            <a:ext cx="5199316" cy="2057971"/>
            <a:chOff x="528066" y="1524000"/>
            <a:chExt cx="5199316" cy="205797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4481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99272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95788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2270" y="209645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实际能力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95788" y="209645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088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13635"/>
              <a:ext cx="5193982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2270" y="25412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沟通习惯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14050" y="25412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必要条件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527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2270" y="298608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洞察力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04919" y="298608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加分项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193982" cy="17783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437572" y="1524000"/>
              <a:ext cx="9525" cy="17783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8066" y="3376612"/>
              <a:ext cx="9577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26 页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715702"/>
            <a:ext cx="5193982" cy="618172"/>
            <a:chOff x="533400" y="3715702"/>
            <a:chExt cx="5193982" cy="618172"/>
          </a:xfrm>
        </p:grpSpPr>
        <p:sp>
          <p:nvSpPr>
            <p:cNvPr id="23" name="Rectangle 23"/>
            <p:cNvSpPr/>
            <p:nvPr/>
          </p:nvSpPr>
          <p:spPr>
            <a:xfrm>
              <a:off x="533400" y="3715702"/>
              <a:ext cx="5193982" cy="618172"/>
            </a:xfrm>
            <a:prstGeom prst="roundRect">
              <a:avLst>
                <a:gd name="adj" fmla="val 21572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8947" y="393096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成绩是敲门砖，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解决问题的综合能力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是核心竞争力。</a:t>
              </a:r>
            </a:p>
          </p:txBody>
        </p:sp>
      </p:grpSp>
      <p:grpSp>
        <p:nvGrpSpPr>
          <p:cNvPr id="37" name="c1-card-3"/>
          <p:cNvGrpSpPr/>
          <p:nvPr/>
        </p:nvGrpSpPr>
        <p:grpSpPr>
          <a:xfrm>
            <a:off x="533400" y="4509135"/>
            <a:ext cx="5193982" cy="1821180"/>
            <a:chOff x="533400" y="4509135"/>
            <a:chExt cx="5193982" cy="1821180"/>
          </a:xfrm>
        </p:grpSpPr>
        <p:sp>
          <p:nvSpPr>
            <p:cNvPr id="26" name="Rectangle 26"/>
            <p:cNvSpPr/>
            <p:nvPr/>
          </p:nvSpPr>
          <p:spPr>
            <a:xfrm>
              <a:off x="533400" y="4509135"/>
              <a:ext cx="5193982" cy="1821180"/>
            </a:xfrm>
            <a:prstGeom prst="roundRect">
              <a:avLst>
                <a:gd name="adj" fmla="val 73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642485"/>
              <a:ext cx="47625" cy="155448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3905" y="470154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5342" y="473583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怎样让老师看到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72478" y="511397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8497" y="505777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实际能力：附上复现过的代码仓库和结果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72478" y="5416867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8497" y="536067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沟通习惯：邮件条理清楚，约定的事按时回复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72478" y="571976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8497" y="566356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洞察力：能说出读过的论文有什么不足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8190" y="596217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本讲义补充。</a:t>
              </a:r>
            </a:p>
          </p:txBody>
        </p:sp>
      </p:grpSp>
      <p:grpSp>
        <p:nvGrpSpPr>
          <p:cNvPr id="58" name="c2-compare-1"/>
          <p:cNvGrpSpPr/>
          <p:nvPr/>
        </p:nvGrpSpPr>
        <p:grpSpPr>
          <a:xfrm>
            <a:off x="6032182" y="1524000"/>
            <a:ext cx="5626418" cy="1800225"/>
            <a:chOff x="6032182" y="1524000"/>
            <a:chExt cx="5626418" cy="1800225"/>
          </a:xfrm>
        </p:grpSpPr>
        <p:sp>
          <p:nvSpPr>
            <p:cNvPr id="38" name="Rectangle 38"/>
            <p:cNvSpPr/>
            <p:nvPr/>
          </p:nvSpPr>
          <p:spPr>
            <a:xfrm>
              <a:off x="6032182" y="1524000"/>
              <a:ext cx="2590800" cy="18002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41708" y="1657350"/>
              <a:ext cx="47625" cy="153352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55830" y="173831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做题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271260" y="211455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27280" y="205835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学习一个确定的过程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271260" y="241744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27280" y="236124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有标准答案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71260" y="271938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27280" y="266319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做完就知道对错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067800" y="1524000"/>
              <a:ext cx="2590800" cy="18002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077325" y="1657350"/>
              <a:ext cx="47625" cy="15335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91447" y="173831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科研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9306878" y="211455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462897" y="205835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很可能是从 0 到 1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9306878" y="241744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462897" y="236124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没有标准答案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9306878" y="271938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462897" y="2663190"/>
              <a:ext cx="1899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每个方案都会遭到很多质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疑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8670608" y="2249805"/>
              <a:ext cx="348615" cy="34861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725680" y="236362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gap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032182" y="3499485"/>
            <a:ext cx="5626418" cy="2830830"/>
            <a:chOff x="6032182" y="3499485"/>
            <a:chExt cx="5626418" cy="2830830"/>
          </a:xfrm>
        </p:grpSpPr>
        <p:sp>
          <p:nvSpPr>
            <p:cNvPr id="59" name="Rectangle 59"/>
            <p:cNvSpPr/>
            <p:nvPr/>
          </p:nvSpPr>
          <p:spPr>
            <a:xfrm>
              <a:off x="6032182" y="3499485"/>
              <a:ext cx="5626418" cy="2830830"/>
            </a:xfrm>
            <a:prstGeom prst="roundRect">
              <a:avLst>
                <a:gd name="adj" fmla="val 4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041708" y="3632835"/>
              <a:ext cx="47625" cy="25641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62688" y="3691890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30124" y="372618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选择的局部最优性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55830" y="4048125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当下看起来最好的选择，放到更长的时间里未必最好。办法是多了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解、多积累，让自己看到的选项更多。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3263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070" y="407194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个人杂谈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合作与口碑：把每件小事做好，弱连接里的人会记住你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1643062"/>
            <a:chOff x="533400" y="1524000"/>
            <a:chExt cx="5626418" cy="16430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43062"/>
            </a:xfrm>
            <a:prstGeom prst="roundRect">
              <a:avLst>
                <a:gd name="adj" fmla="val 81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7636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940" y="176355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合作伙伴的重要性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2955" y="216122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546" y="2100739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只有很少的工作不用动脑、照需求就能做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48126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420779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天才的代码也需要一行一行写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280130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2740819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可持续的良好合作关系，对完成项目和未来发展都很重要</a:t>
              </a:r>
            </a:p>
          </p:txBody>
        </p:sp>
      </p:grpSp>
      <p:grpSp>
        <p:nvGrpSpPr>
          <p:cNvPr id="42" name="c1-graph-2"/>
          <p:cNvGrpSpPr/>
          <p:nvPr/>
        </p:nvGrpSpPr>
        <p:grpSpPr>
          <a:xfrm>
            <a:off x="764858" y="3383280"/>
            <a:ext cx="5108258" cy="2190178"/>
            <a:chOff x="764858" y="3383280"/>
            <a:chExt cx="5108258" cy="2190178"/>
          </a:xfrm>
        </p:grpSpPr>
        <p:sp>
          <p:nvSpPr>
            <p:cNvPr id="18" name="Freeform 18"/>
            <p:cNvSpPr/>
            <p:nvPr/>
          </p:nvSpPr>
          <p:spPr>
            <a:xfrm>
              <a:off x="2728912" y="3994785"/>
              <a:ext cx="447675" cy="364808"/>
            </a:xfrm>
            <a:custGeom>
              <a:avLst/>
              <a:gdLst/>
              <a:ahLst/>
              <a:cxnLst/>
              <a:rect l="l" t="t" r="r" b="b"/>
              <a:pathLst>
                <a:path w="447675" h="364808">
                  <a:moveTo>
                    <a:pt x="447675" y="36480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516630" y="3994785"/>
              <a:ext cx="447675" cy="364808"/>
            </a:xfrm>
            <a:custGeom>
              <a:avLst/>
              <a:gdLst/>
              <a:ahLst/>
              <a:cxnLst/>
              <a:rect l="l" t="t" r="r" b="b"/>
              <a:pathLst>
                <a:path w="447675" h="364808">
                  <a:moveTo>
                    <a:pt x="0" y="364808"/>
                  </a:moveTo>
                  <a:lnTo>
                    <a:pt x="447675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596390" y="4122420"/>
              <a:ext cx="1536382" cy="329565"/>
            </a:xfrm>
            <a:custGeom>
              <a:avLst/>
              <a:gdLst/>
              <a:ahLst/>
              <a:cxnLst/>
              <a:rect l="l" t="t" r="r" b="b"/>
              <a:pathLst>
                <a:path w="1536382" h="329565">
                  <a:moveTo>
                    <a:pt x="1536382" y="32956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1" name="Freeform 21"/>
            <p:cNvSpPr/>
            <p:nvPr/>
          </p:nvSpPr>
          <p:spPr>
            <a:xfrm>
              <a:off x="1651635" y="4560570"/>
              <a:ext cx="1484948" cy="445770"/>
            </a:xfrm>
            <a:custGeom>
              <a:avLst/>
              <a:gdLst/>
              <a:ahLst/>
              <a:cxnLst/>
              <a:rect l="l" t="t" r="r" b="b"/>
              <a:pathLst>
                <a:path w="1484948" h="445770">
                  <a:moveTo>
                    <a:pt x="1484948" y="0"/>
                  </a:moveTo>
                  <a:lnTo>
                    <a:pt x="0" y="44577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3560445" y="4122420"/>
              <a:ext cx="1536382" cy="329565"/>
            </a:xfrm>
            <a:custGeom>
              <a:avLst/>
              <a:gdLst/>
              <a:ahLst/>
              <a:cxnLst/>
              <a:rect l="l" t="t" r="r" b="b"/>
              <a:pathLst>
                <a:path w="1536382" h="329565">
                  <a:moveTo>
                    <a:pt x="0" y="329565"/>
                  </a:moveTo>
                  <a:lnTo>
                    <a:pt x="153638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3" name="Freeform 23"/>
            <p:cNvSpPr/>
            <p:nvPr/>
          </p:nvSpPr>
          <p:spPr>
            <a:xfrm>
              <a:off x="3556635" y="4560570"/>
              <a:ext cx="1540193" cy="461962"/>
            </a:xfrm>
            <a:custGeom>
              <a:avLst/>
              <a:gdLst/>
              <a:ahLst/>
              <a:cxnLst/>
              <a:rect l="l" t="t" r="r" b="b"/>
              <a:pathLst>
                <a:path w="1540193" h="461962">
                  <a:moveTo>
                    <a:pt x="0" y="0"/>
                  </a:moveTo>
                  <a:lnTo>
                    <a:pt x="1540193" y="461962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4" name="Freeform 24"/>
            <p:cNvSpPr/>
            <p:nvPr/>
          </p:nvSpPr>
          <p:spPr>
            <a:xfrm>
              <a:off x="3347085" y="4716780"/>
              <a:ext cx="9525" cy="558165"/>
            </a:xfrm>
            <a:custGeom>
              <a:avLst/>
              <a:gdLst/>
              <a:ahLst/>
              <a:cxnLst/>
              <a:rect l="l" t="t" r="r" b="b"/>
              <a:pathLst>
                <a:path w="9525" h="558165">
                  <a:moveTo>
                    <a:pt x="0" y="0"/>
                  </a:moveTo>
                  <a:lnTo>
                    <a:pt x="0" y="55816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5" name="Ellipse 25"/>
            <p:cNvSpPr/>
            <p:nvPr/>
          </p:nvSpPr>
          <p:spPr>
            <a:xfrm>
              <a:off x="3137535" y="4288155"/>
              <a:ext cx="419100" cy="4191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263140" y="3717608"/>
              <a:ext cx="591502" cy="277178"/>
            </a:xfrm>
            <a:prstGeom prst="roundRect">
              <a:avLst>
                <a:gd name="adj" fmla="val 34364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746182" y="3717608"/>
              <a:ext cx="776288" cy="277178"/>
            </a:xfrm>
            <a:prstGeom prst="roundRect">
              <a:avLst>
                <a:gd name="adj" fmla="val 34364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20102" y="3901440"/>
              <a:ext cx="776288" cy="277178"/>
            </a:xfrm>
            <a:prstGeom prst="roundRect">
              <a:avLst>
                <a:gd name="adj" fmla="val 3436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4858" y="5000625"/>
              <a:ext cx="886778" cy="277178"/>
            </a:xfrm>
            <a:prstGeom prst="roundRect">
              <a:avLst>
                <a:gd name="adj" fmla="val 3436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096828" y="3901440"/>
              <a:ext cx="776288" cy="277178"/>
            </a:xfrm>
            <a:prstGeom prst="roundRect">
              <a:avLst>
                <a:gd name="adj" fmla="val 3436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096828" y="5000625"/>
              <a:ext cx="776288" cy="277178"/>
            </a:xfrm>
            <a:prstGeom prst="roundRect">
              <a:avLst>
                <a:gd name="adj" fmla="val 3436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958465" y="5274945"/>
              <a:ext cx="776288" cy="277178"/>
            </a:xfrm>
            <a:prstGeom prst="roundRect">
              <a:avLst>
                <a:gd name="adj" fmla="val 3436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260217" y="44234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91728" y="37814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05618" y="37814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指导老师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9538" y="396525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同届同学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8766" y="506444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别的课题组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55311" y="396525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学长学姐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155311" y="50644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评审老师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17901" y="533876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外院同学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290953" y="338328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实线为强连接，虚线为弱连接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464618" y="1524000"/>
            <a:ext cx="5193982" cy="2658428"/>
            <a:chOff x="6464618" y="1524000"/>
            <a:chExt cx="5193982" cy="2658428"/>
          </a:xfrm>
        </p:grpSpPr>
        <p:sp>
          <p:nvSpPr>
            <p:cNvPr id="43" name="Rectangle 43"/>
            <p:cNvSpPr/>
            <p:nvPr/>
          </p:nvSpPr>
          <p:spPr>
            <a:xfrm>
              <a:off x="6464618" y="1524000"/>
              <a:ext cx="5193982" cy="2658428"/>
            </a:xfrm>
            <a:prstGeom prst="roundRect">
              <a:avLst>
                <a:gd name="adj" fmla="val 50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4142" y="1657350"/>
              <a:ext cx="47625" cy="23917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06552" y="1727835"/>
              <a:ext cx="205835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50456" y="176355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原课件引用的一段话（大意）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72918" y="176736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一位经济学家谈口碑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99314" y="211978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个人声誉的传播，最依靠的是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弱连接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形成的人际网络，所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以只是认识你的人怎么看你最重要。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99314" y="2711291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口碑靠踏踏实实做好每一件事建立：你做事时很多人看在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眼里，小事都做好，就能在弱连接网络里树立口碑，机会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也会随之而来。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00456" y="3569970"/>
              <a:ext cx="44317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弱连接：只是认识、不常来往的人，比如别的课题组的同学、只见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过一次的评审老师。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464618" y="4368165"/>
            <a:ext cx="5193982" cy="1274445"/>
            <a:chOff x="6464618" y="4368165"/>
            <a:chExt cx="5193982" cy="1274445"/>
          </a:xfrm>
        </p:grpSpPr>
        <p:sp>
          <p:nvSpPr>
            <p:cNvPr id="52" name="Rectangle 52"/>
            <p:cNvSpPr/>
            <p:nvPr/>
          </p:nvSpPr>
          <p:spPr>
            <a:xfrm>
              <a:off x="6464618" y="4368165"/>
              <a:ext cx="5193982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74142" y="4501515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706552" y="457200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88861" y="46077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学生思维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99314" y="4944904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觉得努力够一够能做到的事就去尝试。很多事情不知道最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优解是什么，也没办法定义何时算准备好了。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8" name="Rectangle 5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511" y="6004084"/>
              <a:ext cx="74697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放到大创里：按时交的每一份材料、每一次清楚的汇报，都是在老师和同学那里攒口碑。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3263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070" y="407194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个人杂谈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说话、写材料要务实：说不清楚的就不要写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bullets-1"/>
          <p:cNvGrpSpPr/>
          <p:nvPr/>
        </p:nvGrpSpPr>
        <p:grpSpPr>
          <a:xfrm>
            <a:off x="533400" y="1547336"/>
            <a:ext cx="4045839" cy="1537907"/>
            <a:chOff x="533400" y="1547336"/>
            <a:chExt cx="4045839" cy="1537907"/>
          </a:xfrm>
        </p:grpSpPr>
        <p:sp>
          <p:nvSpPr>
            <p:cNvPr id="7" name="Freeform 7"/>
            <p:cNvSpPr/>
            <p:nvPr/>
          </p:nvSpPr>
          <p:spPr>
            <a:xfrm>
              <a:off x="533400" y="1577340"/>
              <a:ext cx="137160" cy="111443"/>
            </a:xfrm>
            <a:custGeom>
              <a:avLst/>
              <a:gdLst/>
              <a:ahLst/>
              <a:cxnLst/>
              <a:rect l="l" t="t" r="r" b="b"/>
              <a:pathLst>
                <a:path w="137160" h="111443">
                  <a:moveTo>
                    <a:pt x="0" y="59055"/>
                  </a:moveTo>
                  <a:lnTo>
                    <a:pt x="52388" y="111443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7621" y="1547336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一件事说不清楚，就不要写上去或说出来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33400" y="1906905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7621" y="1876901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说出来的一定是精确的、能立即听懂的表达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533400" y="223647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7621" y="2206466"/>
              <a:ext cx="38016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学术论文有固定的表达规范，要遵循，不要标新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立异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533400" y="2836545"/>
              <a:ext cx="137160" cy="111442"/>
            </a:xfrm>
            <a:custGeom>
              <a:avLst/>
              <a:gdLst/>
              <a:ahLst/>
              <a:cxnLst/>
              <a:rect l="l" t="t" r="r" b="b"/>
              <a:pathLst>
                <a:path w="137160" h="111442">
                  <a:moveTo>
                    <a:pt x="0" y="59055"/>
                  </a:moveTo>
                  <a:lnTo>
                    <a:pt x="52388" y="111442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7621" y="280654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避免使用假大空的词语和表达方式</a:t>
              </a:r>
            </a:p>
          </p:txBody>
        </p:sp>
      </p:grpSp>
      <p:grpSp>
        <p:nvGrpSpPr>
          <p:cNvPr id="17" name="c1-text-2"/>
          <p:cNvGrpSpPr/>
          <p:nvPr/>
        </p:nvGrpSpPr>
        <p:grpSpPr>
          <a:xfrm>
            <a:off x="527304" y="3234690"/>
            <a:ext cx="4050792" cy="470916"/>
            <a:chOff x="527304" y="3234690"/>
            <a:chExt cx="4050792" cy="470916"/>
          </a:xfrm>
        </p:grpSpPr>
        <p:sp>
          <p:nvSpPr>
            <p:cNvPr id="16" name="TextBox 16"/>
            <p:cNvSpPr txBox="1"/>
            <p:nvPr/>
          </p:nvSpPr>
          <p:spPr>
            <a:xfrm>
              <a:off x="527304" y="3234690"/>
              <a:ext cx="405079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28 页；右表例子原课件注明出自学院老师 2022 年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的讲座</a:t>
              </a:r>
            </a:p>
          </p:txBody>
        </p:sp>
      </p:grpSp>
      <p:grpSp>
        <p:nvGrpSpPr>
          <p:cNvPr id="26" name="c1-card-3"/>
          <p:cNvGrpSpPr/>
          <p:nvPr/>
        </p:nvGrpSpPr>
        <p:grpSpPr>
          <a:xfrm>
            <a:off x="533400" y="3843338"/>
            <a:ext cx="4328160" cy="2437448"/>
            <a:chOff x="533400" y="3843338"/>
            <a:chExt cx="4328160" cy="2437448"/>
          </a:xfrm>
        </p:grpSpPr>
        <p:sp>
          <p:nvSpPr>
            <p:cNvPr id="18" name="Rectangle 18"/>
            <p:cNvSpPr/>
            <p:nvPr/>
          </p:nvSpPr>
          <p:spPr>
            <a:xfrm>
              <a:off x="533400" y="3843338"/>
              <a:ext cx="4328160" cy="2437448"/>
            </a:xfrm>
            <a:prstGeom prst="roundRect">
              <a:avLst>
                <a:gd name="adj" fmla="val 54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976688"/>
              <a:ext cx="47625" cy="21707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75335" y="4047172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0445" y="408289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33869" y="408765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申请书里的一句话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8096" y="4439126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改前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：本项目力争在安全强化学习领域取得突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破性进展。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8096" y="5030629"/>
              <a:ext cx="36212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改后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：本项目在 3 个安全强化学习仿真环境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上，比较两种策略梯度算法达到相同回报所需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的样本数。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9239" y="58902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本讲义补充的示例。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5160645" y="1524000"/>
            <a:ext cx="6497955" cy="3730467"/>
            <a:chOff x="5160645" y="1524000"/>
            <a:chExt cx="6497955" cy="3730467"/>
          </a:xfrm>
        </p:grpSpPr>
        <p:sp>
          <p:nvSpPr>
            <p:cNvPr id="27" name="Rectangle 27"/>
            <p:cNvSpPr/>
            <p:nvPr/>
          </p:nvSpPr>
          <p:spPr>
            <a:xfrm>
              <a:off x="5166360" y="1524000"/>
              <a:ext cx="649224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7217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8480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5747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71706" y="2085022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避免笼统概括，尽可能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量化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19569" y="219170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学习成绩优异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201150" y="1964055"/>
              <a:ext cx="2447925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96972" y="2085022"/>
              <a:ext cx="20619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平均绩点 3.5/4.0 或专业排名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20/380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166360" y="259270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166360" y="2597468"/>
              <a:ext cx="649224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71706" y="2728912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避免常识性表述或冗余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19569" y="2728912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学习过程序设计基础、离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散数学、数据结构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201150" y="2606992"/>
              <a:ext cx="2447925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96972" y="2835592"/>
              <a:ext cx="8394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CSP 300 分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66360" y="323659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71706" y="337280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避免不切实际的形容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19569" y="3372802"/>
              <a:ext cx="991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熟练掌握 C++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201150" y="3250882"/>
              <a:ext cx="2447925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96972" y="3372802"/>
              <a:ext cx="1630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LeetCode 刷题 xxx 道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166360" y="366617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166360" y="3670935"/>
              <a:ext cx="649224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71706" y="39090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去掉与项目无关的表述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19569" y="3802380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某部副部、某班干部；文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体爱好、社交能力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96972" y="39090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删去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166360" y="43100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71706" y="4446270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不用试图、尝试、力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争、尽可能等前缀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19569" y="455295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力争发表高水平论文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96972" y="4552950"/>
              <a:ext cx="18763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投稿一篇 CCF-C 会议长文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166360" y="1524000"/>
              <a:ext cx="6492240" cy="34347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109460" y="1524000"/>
              <a:ext cx="9525" cy="3434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186862" y="1524000"/>
              <a:ext cx="9525" cy="3434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160645" y="5034439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最后一行的改前改后为本讲义补充的示例</a:t>
              </a:r>
            </a:p>
          </p:txBody>
        </p:sp>
      </p:grpSp>
      <p:grpSp>
        <p:nvGrpSpPr>
          <p:cNvPr id="66" name="c2-callout-2"/>
          <p:cNvGrpSpPr/>
          <p:nvPr/>
        </p:nvGrpSpPr>
        <p:grpSpPr>
          <a:xfrm>
            <a:off x="5166360" y="5394960"/>
            <a:ext cx="6492240" cy="885825"/>
            <a:chOff x="5166360" y="5394960"/>
            <a:chExt cx="6492240" cy="885825"/>
          </a:xfrm>
        </p:grpSpPr>
        <p:sp>
          <p:nvSpPr>
            <p:cNvPr id="60" name="Rectangle 60"/>
            <p:cNvSpPr/>
            <p:nvPr/>
          </p:nvSpPr>
          <p:spPr>
            <a:xfrm>
              <a:off x="5166360" y="5394960"/>
              <a:ext cx="6492240" cy="885825"/>
            </a:xfrm>
            <a:prstGeom prst="roundRect">
              <a:avLst>
                <a:gd name="adj" fmla="val 1290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5371148" y="5737860"/>
              <a:ext cx="200026" cy="200025"/>
              <a:chOff x="5371148" y="5737860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5371148" y="57378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5410886" y="57823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5445602" y="58934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5673471" y="5607844"/>
              <a:ext cx="524433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写完一段自己读一遍：每个形容词能不能换成数字或事实？换不了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的，多半可以删掉。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3263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070" y="407194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个人杂谈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别被完美主义困住；想发顶刊顶会，马上开始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651635"/>
            <a:chOff x="533400" y="1524000"/>
            <a:chExt cx="5410200" cy="1651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完美主义？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科研就是在做 trade off（原课件引一位老师的话）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人生也是在做 trade off，能往前走一点就往前走一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点，不要被完美主义束缚手脚</a:t>
              </a:r>
            </a:p>
          </p:txBody>
        </p:sp>
      </p:grpSp>
      <p:grpSp>
        <p:nvGrpSpPr>
          <p:cNvPr id="31" name="c1-table-2"/>
          <p:cNvGrpSpPr/>
          <p:nvPr/>
        </p:nvGrpSpPr>
        <p:grpSpPr>
          <a:xfrm>
            <a:off x="527685" y="3366135"/>
            <a:ext cx="5415915" cy="2091214"/>
            <a:chOff x="527685" y="3366135"/>
            <a:chExt cx="5415915" cy="2091214"/>
          </a:xfrm>
        </p:grpSpPr>
        <p:sp>
          <p:nvSpPr>
            <p:cNvPr id="16" name="Rectangle 16"/>
            <p:cNvSpPr/>
            <p:nvPr/>
          </p:nvSpPr>
          <p:spPr>
            <a:xfrm>
              <a:off x="533400" y="3366135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72921" y="35018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想追求的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78021" y="35018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要付出的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223" y="395049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再多做几组实验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21520" y="395049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投稿截止日来不及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2586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26339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4399121"/>
              <a:ext cx="18067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换一个更新的 baseline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21520" y="439912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前面的对比要全部重跑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7082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484774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把论文每句话都改到满意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21520" y="484774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挤占下一步实验的时间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366135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908935" y="336613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7685" y="523732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trade off 的例子为本讲义补充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248400" y="1524000"/>
            <a:ext cx="5410200" cy="1720215"/>
            <a:chOff x="6248400" y="1524000"/>
            <a:chExt cx="5410200" cy="1720215"/>
          </a:xfrm>
        </p:grpSpPr>
        <p:sp>
          <p:nvSpPr>
            <p:cNvPr id="32" name="Rectangle 32"/>
            <p:cNvSpPr/>
            <p:nvPr/>
          </p:nvSpPr>
          <p:spPr>
            <a:xfrm>
              <a:off x="6248400" y="1524000"/>
              <a:ext cx="5410200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1657350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96050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60655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为什么要马上开始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50518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想发顶刊顶会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501765" y="21926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59880" y="2129790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审稿周期长（3–4 个月）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501765" y="2527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59880" y="246507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中稿难度大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501765" y="28632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59880" y="280035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本科阶段课业繁重，时间线紧张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248400" y="3434715"/>
            <a:ext cx="5410200" cy="1978342"/>
            <a:chOff x="6248400" y="3434715"/>
            <a:chExt cx="5410200" cy="1978342"/>
          </a:xfrm>
        </p:grpSpPr>
        <p:sp>
          <p:nvSpPr>
            <p:cNvPr id="44" name="Rectangle 44"/>
            <p:cNvSpPr/>
            <p:nvPr/>
          </p:nvSpPr>
          <p:spPr>
            <a:xfrm>
              <a:off x="6248400" y="3434715"/>
              <a:ext cx="5410200" cy="1978342"/>
            </a:xfrm>
            <a:prstGeom prst="roundRect">
              <a:avLst>
                <a:gd name="adj" fmla="val 67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57925" y="3568065"/>
              <a:ext cx="47625" cy="17116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96050" y="364426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78359" y="36799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倒推一下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88430" y="4021455"/>
              <a:ext cx="46348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审稿 3–4 个月，还要留出写作和实验的时间。想在大三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下找老师前拿到录用，大约大三上就要投稿，实验要在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大二下到大三上做完。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89573" y="4924901"/>
              <a:ext cx="31404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倒推为本讲义补充，按审稿 4 个月估算。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3263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070" y="407194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个人杂谈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不要重复造轮子；纸上得来终觉浅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6059805" cy="1612582"/>
            <a:chOff x="533400" y="1524000"/>
            <a:chExt cx="6059805" cy="16125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55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不要重复造轮子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377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没有必要从第 0 行代码开始写。高效、可靠地利用前人搭好的工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具和代码，能大幅减小工作量。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728436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前面的调参实例就是这样：实验网格、统计画图都用现成框架。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327082"/>
            <a:ext cx="6059805" cy="1651635"/>
            <a:chOff x="533400" y="3327082"/>
            <a:chExt cx="6059805" cy="1651635"/>
          </a:xfrm>
        </p:grpSpPr>
        <p:sp>
          <p:nvSpPr>
            <p:cNvPr id="14" name="Rectangle 14"/>
            <p:cNvSpPr/>
            <p:nvPr/>
          </p:nvSpPr>
          <p:spPr>
            <a:xfrm>
              <a:off x="533400" y="3327082"/>
              <a:ext cx="6059805" cy="1651635"/>
            </a:xfrm>
            <a:prstGeom prst="roundRect">
              <a:avLst>
                <a:gd name="adj" fmla="val 807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42950" y="3536632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2457" y="357235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纸上得来终觉浅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3913822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光读论文会觉得都是对的，最好动手实操、复现。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5330" y="4249102"/>
              <a:ext cx="534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同时要问：这篇工作为什么这么做？必须这么做吗？搞清楚它存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在的必要性，才能对自己的方法有比较扎实的思考。</a:t>
              </a:r>
            </a:p>
          </p:txBody>
        </p:sp>
      </p:grpSp>
      <p:grpSp>
        <p:nvGrpSpPr>
          <p:cNvPr id="27" name="c1-bullets-3"/>
          <p:cNvGrpSpPr/>
          <p:nvPr/>
        </p:nvGrpSpPr>
        <p:grpSpPr>
          <a:xfrm>
            <a:off x="525780" y="5193982"/>
            <a:ext cx="3617798" cy="1211866"/>
            <a:chOff x="525780" y="5193982"/>
            <a:chExt cx="3617798" cy="1211866"/>
          </a:xfrm>
        </p:grpSpPr>
        <p:sp>
          <p:nvSpPr>
            <p:cNvPr id="20" name="TextBox 20"/>
            <p:cNvSpPr txBox="1"/>
            <p:nvPr/>
          </p:nvSpPr>
          <p:spPr>
            <a:xfrm>
              <a:off x="525780" y="519398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可以直接复用的资源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42925" y="559689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8373" y="554497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论文作者公开的代码仓库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42925" y="590359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8373" y="5850731"/>
              <a:ext cx="3445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成熟的实验框架，如前面实例用的 OmniSafe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42925" y="620934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8373" y="615648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公开数据集和标准评测环境</a:t>
              </a:r>
            </a:p>
          </p:txBody>
        </p:sp>
      </p:grpSp>
      <p:grpSp>
        <p:nvGrpSpPr>
          <p:cNvPr id="30" name="c2-image-1"/>
          <p:cNvGrpSpPr/>
          <p:nvPr/>
        </p:nvGrpSpPr>
        <p:grpSpPr>
          <a:xfrm>
            <a:off x="6898005" y="1524000"/>
            <a:ext cx="4760595" cy="3885724"/>
            <a:chOff x="6898005" y="1524000"/>
            <a:chExt cx="4760595" cy="3885724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rcRect l="5562" t="0" r="5561" b="0"/>
            <a:stretch>
              <a:fillRect/>
            </a:stretch>
          </p:blipFill>
          <p:spPr>
            <a:xfrm>
              <a:off x="6898005" y="1524000"/>
              <a:ext cx="4760595" cy="3570922"/>
            </a:xfrm>
            <a:prstGeom prst="roundRect">
              <a:avLst>
                <a:gd name="adj" fmla="val 3734"/>
              </a:avLst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7991005" y="518969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现成的轮子拿来就用，把力气花在车上</a:t>
              </a:r>
            </a:p>
          </p:txBody>
        </p:sp>
      </p:grpSp>
      <p:grpSp>
        <p:nvGrpSpPr>
          <p:cNvPr id="37" name="c2-callout-2"/>
          <p:cNvGrpSpPr/>
          <p:nvPr/>
        </p:nvGrpSpPr>
        <p:grpSpPr>
          <a:xfrm>
            <a:off x="6898005" y="5579745"/>
            <a:ext cx="4760595" cy="782955"/>
            <a:chOff x="6898005" y="5579745"/>
            <a:chExt cx="4760595" cy="782955"/>
          </a:xfrm>
        </p:grpSpPr>
        <p:sp>
          <p:nvSpPr>
            <p:cNvPr id="31" name="Rectangle 31"/>
            <p:cNvSpPr/>
            <p:nvPr/>
          </p:nvSpPr>
          <p:spPr>
            <a:xfrm>
              <a:off x="6898005" y="5579745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102793" y="5871210"/>
              <a:ext cx="200026" cy="200026"/>
              <a:chOff x="7102793" y="5871210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102793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202805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191693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7404735" y="5728335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复用代码要看许可证，论文里写明用了谁的实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45589" cy="909257"/>
            <a:chOff x="520446" y="342900"/>
            <a:chExt cx="20455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3263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070" y="407194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 · 个人杂谈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table-1"/>
          <p:cNvGrpSpPr/>
          <p:nvPr/>
        </p:nvGrpSpPr>
        <p:grpSpPr>
          <a:xfrm>
            <a:off x="533400" y="1524000"/>
            <a:ext cx="11125200" cy="4168140"/>
            <a:chOff x="533400" y="1524000"/>
            <a:chExt cx="11125200" cy="41681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9263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55415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46042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详见本讲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1507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大一能做大创吗？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77640" y="215074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可以。大创主要面向大二，其他年级也可以参与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63125" y="215074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6 页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945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9936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26384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能同时参加两个项目吗？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77640" y="26384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不能，每人同时只能参加一个项目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63125" y="26384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6 页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822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12610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立项是国家级就能加分吗？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880485" y="2996565"/>
              <a:ext cx="5766435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977640" y="3126105"/>
              <a:ext cx="5356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不能。只有国家级优秀结题才加，负责人 0.1、第二名 0.05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63125" y="312610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9 页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4699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47472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0080" y="3613785"/>
              <a:ext cx="22954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挂在 arXiv 上算发表吗？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880485" y="3484245"/>
              <a:ext cx="5766435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977640" y="3613785"/>
              <a:ext cx="3817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不算。arXiv 是预印本，没有经过同行评审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63125" y="3613785"/>
              <a:ext cx="7623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30 页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9576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0080" y="4101465"/>
              <a:ext cx="2872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预期成果写多一点更容易拿高级别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吗？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77640" y="423481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预期产出越多，结项越难；要和前期工作相称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63125" y="4234815"/>
              <a:ext cx="7623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26 页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7120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71678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0080" y="48558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成绩一般能做大创吗？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977640" y="485584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能。大创更侧重实践和探索性地解决问题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63125" y="4855845"/>
              <a:ext cx="7623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17 页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51996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0080" y="53435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离结项只剩两个月怎么办？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77640" y="5343525"/>
              <a:ext cx="2498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软著兜底，周期 1 到 3 个月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63125" y="5343525"/>
              <a:ext cx="7623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31 页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1524000"/>
              <a:ext cx="11125200" cy="41681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3866198" y="1524000"/>
              <a:ext cx="9525" cy="41681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651682" y="1524000"/>
              <a:ext cx="9525" cy="41681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2470" cy="909257"/>
            <a:chOff x="520446" y="342900"/>
            <a:chExt cx="7124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24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223135"/>
            <a:chOff x="533400" y="1524000"/>
            <a:chExt cx="350520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按学院细则，国家级优秀结题项目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排名第三的成员加多少分？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28632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不加分。只有负责人 0.1、第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二名 0.05，且排名要与立项、中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期、结题一致。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37635"/>
            <a:ext cx="3505200" cy="2223135"/>
            <a:chOff x="533400" y="3937635"/>
            <a:chExt cx="3505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93763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52437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为什么用参数字符串的哈希给实验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目录命名？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5145405"/>
              <a:ext cx="2872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定长、唯一、可复算；参数一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处不同目录名就不同。拼字符串前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要固定键的顺序。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508885"/>
            <a:chOff x="4343400" y="1524000"/>
            <a:chExt cx="3505200" cy="250888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5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4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45330" y="2110740"/>
              <a:ext cx="2819876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实验网格有 2 个算法、3 个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batch_size、1 个种子，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num_pool=6，要跑几组、几轮？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45330" y="3017520"/>
              <a:ext cx="28060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× 3 × 1 = 6 组，一轮并行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跑完，符合「总数能被 num_pool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整除」。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4223385"/>
            <a:ext cx="3505200" cy="1937385"/>
            <a:chOff x="4343400" y="4223385"/>
            <a:chExt cx="3505200" cy="1937385"/>
          </a:xfrm>
        </p:grpSpPr>
        <p:sp>
          <p:nvSpPr>
            <p:cNvPr id="25" name="Rectangle 25"/>
            <p:cNvSpPr/>
            <p:nvPr/>
          </p:nvSpPr>
          <p:spPr>
            <a:xfrm>
              <a:off x="4343400" y="4223385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52950" y="44329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40437" y="44686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45330" y="481012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立项评审里决定项目等级的两个关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键是什么？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45330" y="543115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前期工作的质量和预期产出的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数量；预期产出越多，结项越难。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223135"/>
            <a:chOff x="8153400" y="1524000"/>
            <a:chExt cx="3505200" cy="222313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6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5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5330" y="2110740"/>
              <a:ext cx="2831782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学习率有 12 种取值，每张图最多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条曲线，画出所有组合要几张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5330" y="3017520"/>
              <a:ext cx="2863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C(12,6) = 924 张，太多；按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顺序每 6 条一组只要 2 张。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937635"/>
            <a:ext cx="3505200" cy="2223135"/>
            <a:chOff x="8153400" y="3937635"/>
            <a:chExt cx="3505200" cy="2223135"/>
          </a:xfrm>
        </p:grpSpPr>
        <p:sp>
          <p:nvSpPr>
            <p:cNvPr id="37" name="Rectangle 37"/>
            <p:cNvSpPr/>
            <p:nvPr/>
          </p:nvSpPr>
          <p:spPr>
            <a:xfrm>
              <a:off x="8153400" y="393763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6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5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5330" y="452437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申请书里「学习成绩优异」应该怎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么改？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55330" y="5145405"/>
              <a:ext cx="2872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换成可核对的数字，例如平均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绩点 3.5/4.0 或专业排名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20/380。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915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0127" y="407194"/>
              <a:ext cx="1098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张柏荣 · 科研向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5430"/>
            <a:ext cx="6091428" cy="2257425"/>
            <a:chOff x="533400" y="1535430"/>
            <a:chExt cx="6091428" cy="2257425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57904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 3 至 5 人组队，每人同时只能参加一个项目，周期 1 至 2 年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802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1922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1893570"/>
              <a:ext cx="5492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 4–5 月定级，9–10 月中期，第二年春或秋结项；加分只认国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家级优秀结题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51079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5530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524125"/>
              <a:ext cx="553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做之前想清目的、评估自己，找沟通顺畅的队友和对学生负责的老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师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14134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31836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315468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前期工作的质量和预期产出的数量决定项目等级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48615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35284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349948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结项按剩余时间选形式；复用前人的代码，复现别人的论文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3924300"/>
            <a:ext cx="6059805" cy="1701165"/>
            <a:chOff x="533400" y="3924300"/>
            <a:chExt cx="6059805" cy="1701165"/>
          </a:xfrm>
        </p:grpSpPr>
        <p:sp>
          <p:nvSpPr>
            <p:cNvPr id="23" name="Rectangle 23"/>
            <p:cNvSpPr/>
            <p:nvPr/>
          </p:nvSpPr>
          <p:spPr>
            <a:xfrm>
              <a:off x="533400" y="3924300"/>
              <a:ext cx="6059805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057650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413385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1705" y="416956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读完之后可以做的事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6765" y="45739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4880" y="4511040"/>
              <a:ext cx="29836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用第 17 页的四个问题给自己打分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86765" y="49091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4880" y="4846320"/>
              <a:ext cx="35894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挑一个候选方向，按第 22 页的四条评价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86765" y="52444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4880" y="518160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找一个开源实验框架，把一组参数跑一遍</a:t>
              </a:r>
            </a:p>
          </p:txBody>
        </p:sp>
      </p:grpSp>
      <p:grpSp>
        <p:nvGrpSpPr>
          <p:cNvPr id="69" name="c2-tree-1"/>
          <p:cNvGrpSpPr/>
          <p:nvPr/>
        </p:nvGrpSpPr>
        <p:grpSpPr>
          <a:xfrm>
            <a:off x="6898005" y="1632585"/>
            <a:ext cx="4760595" cy="3915728"/>
            <a:chOff x="6898005" y="1632585"/>
            <a:chExt cx="4760595" cy="3915728"/>
          </a:xfrm>
        </p:grpSpPr>
        <p:sp>
          <p:nvSpPr>
            <p:cNvPr id="34" name="Freeform 34"/>
            <p:cNvSpPr/>
            <p:nvPr/>
          </p:nvSpPr>
          <p:spPr>
            <a:xfrm>
              <a:off x="9498330" y="1819275"/>
              <a:ext cx="419100" cy="295275"/>
            </a:xfrm>
            <a:custGeom>
              <a:avLst/>
              <a:gdLst/>
              <a:ahLst/>
              <a:cxnLst/>
              <a:rect l="l" t="t" r="r" b="b"/>
              <a:pathLst>
                <a:path w="419100" h="295275">
                  <a:moveTo>
                    <a:pt x="0" y="295275"/>
                  </a:moveTo>
                  <a:lnTo>
                    <a:pt x="209550" y="29527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498330" y="2114550"/>
              <a:ext cx="419100" cy="295275"/>
            </a:xfrm>
            <a:custGeom>
              <a:avLst/>
              <a:gdLst/>
              <a:ahLst/>
              <a:cxnLst/>
              <a:rect l="l" t="t" r="r" b="b"/>
              <a:pathLst>
                <a:path w="419100" h="295275">
                  <a:moveTo>
                    <a:pt x="0" y="0"/>
                  </a:moveTo>
                  <a:lnTo>
                    <a:pt x="209550" y="0"/>
                  </a:lnTo>
                  <a:lnTo>
                    <a:pt x="209550" y="295275"/>
                  </a:lnTo>
                  <a:lnTo>
                    <a:pt x="419100" y="2952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498330" y="3000375"/>
              <a:ext cx="419100" cy="295275"/>
            </a:xfrm>
            <a:custGeom>
              <a:avLst/>
              <a:gdLst/>
              <a:ahLst/>
              <a:cxnLst/>
              <a:rect l="l" t="t" r="r" b="b"/>
              <a:pathLst>
                <a:path w="419100" h="295275">
                  <a:moveTo>
                    <a:pt x="0" y="295275"/>
                  </a:moveTo>
                  <a:lnTo>
                    <a:pt x="209550" y="29527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498330" y="3295650"/>
              <a:ext cx="419100" cy="295275"/>
            </a:xfrm>
            <a:custGeom>
              <a:avLst/>
              <a:gdLst/>
              <a:ahLst/>
              <a:cxnLst/>
              <a:rect l="l" t="t" r="r" b="b"/>
              <a:pathLst>
                <a:path w="419100" h="295275">
                  <a:moveTo>
                    <a:pt x="0" y="0"/>
                  </a:moveTo>
                  <a:lnTo>
                    <a:pt x="209550" y="0"/>
                  </a:lnTo>
                  <a:lnTo>
                    <a:pt x="209550" y="295275"/>
                  </a:lnTo>
                  <a:lnTo>
                    <a:pt x="419100" y="2952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498330" y="41814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498330" y="4772025"/>
              <a:ext cx="419100" cy="295275"/>
            </a:xfrm>
            <a:custGeom>
              <a:avLst/>
              <a:gdLst/>
              <a:ahLst/>
              <a:cxnLst/>
              <a:rect l="l" t="t" r="r" b="b"/>
              <a:pathLst>
                <a:path w="419100" h="295275">
                  <a:moveTo>
                    <a:pt x="0" y="295275"/>
                  </a:moveTo>
                  <a:lnTo>
                    <a:pt x="209550" y="29527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498330" y="5067300"/>
              <a:ext cx="419100" cy="295275"/>
            </a:xfrm>
            <a:custGeom>
              <a:avLst/>
              <a:gdLst/>
              <a:ahLst/>
              <a:cxnLst/>
              <a:rect l="l" t="t" r="r" b="b"/>
              <a:pathLst>
                <a:path w="419100" h="295275">
                  <a:moveTo>
                    <a:pt x="0" y="0"/>
                  </a:moveTo>
                  <a:lnTo>
                    <a:pt x="209550" y="0"/>
                  </a:lnTo>
                  <a:lnTo>
                    <a:pt x="209550" y="295275"/>
                  </a:lnTo>
                  <a:lnTo>
                    <a:pt x="419100" y="2952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151495" y="2114550"/>
              <a:ext cx="419100" cy="1476375"/>
            </a:xfrm>
            <a:custGeom>
              <a:avLst/>
              <a:gdLst/>
              <a:ahLst/>
              <a:cxnLst/>
              <a:rect l="l" t="t" r="r" b="b"/>
              <a:pathLst>
                <a:path w="419100" h="1476375">
                  <a:moveTo>
                    <a:pt x="0" y="1476375"/>
                  </a:moveTo>
                  <a:lnTo>
                    <a:pt x="209550" y="147637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151495" y="3295650"/>
              <a:ext cx="419100" cy="295275"/>
            </a:xfrm>
            <a:custGeom>
              <a:avLst/>
              <a:gdLst/>
              <a:ahLst/>
              <a:cxnLst/>
              <a:rect l="l" t="t" r="r" b="b"/>
              <a:pathLst>
                <a:path w="419100" h="295275">
                  <a:moveTo>
                    <a:pt x="0" y="295275"/>
                  </a:moveTo>
                  <a:lnTo>
                    <a:pt x="209550" y="29527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151495" y="3590925"/>
              <a:ext cx="419100" cy="590550"/>
            </a:xfrm>
            <a:custGeom>
              <a:avLst/>
              <a:gdLst/>
              <a:ahLst/>
              <a:cxnLst/>
              <a:rect l="l" t="t" r="r" b="b"/>
              <a:pathLst>
                <a:path w="419100" h="590550">
                  <a:moveTo>
                    <a:pt x="0" y="0"/>
                  </a:moveTo>
                  <a:lnTo>
                    <a:pt x="209550" y="0"/>
                  </a:lnTo>
                  <a:lnTo>
                    <a:pt x="209550" y="590550"/>
                  </a:lnTo>
                  <a:lnTo>
                    <a:pt x="419100" y="59055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151495" y="3590925"/>
              <a:ext cx="419100" cy="1476375"/>
            </a:xfrm>
            <a:custGeom>
              <a:avLst/>
              <a:gdLst/>
              <a:ahLst/>
              <a:cxnLst/>
              <a:rect l="l" t="t" r="r" b="b"/>
              <a:pathLst>
                <a:path w="419100" h="1476375">
                  <a:moveTo>
                    <a:pt x="0" y="0"/>
                  </a:moveTo>
                  <a:lnTo>
                    <a:pt x="209550" y="0"/>
                  </a:lnTo>
                  <a:lnTo>
                    <a:pt x="209550" y="1476375"/>
                  </a:lnTo>
                  <a:lnTo>
                    <a:pt x="419100" y="14763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917430" y="1632585"/>
              <a:ext cx="174117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917430" y="2223135"/>
              <a:ext cx="174117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570595" y="1927860"/>
              <a:ext cx="928688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917430" y="2813685"/>
              <a:ext cx="174117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917430" y="3404235"/>
              <a:ext cx="174117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570595" y="3108960"/>
              <a:ext cx="928688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917430" y="3994785"/>
              <a:ext cx="174117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570595" y="3994785"/>
              <a:ext cx="928688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917430" y="4585335"/>
              <a:ext cx="174117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9917430" y="5175885"/>
              <a:ext cx="174117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570595" y="4880610"/>
              <a:ext cx="928688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898005" y="3404235"/>
              <a:ext cx="1253490" cy="372428"/>
            </a:xfrm>
            <a:prstGeom prst="roundRect">
              <a:avLst>
                <a:gd name="adj" fmla="val 2557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006203" y="173021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规则与时间节点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006203" y="232076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加分与成果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659368" y="20254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概述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006203" y="291131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目的与自评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006203" y="350186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队友、老师、选题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59368" y="320659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做之前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06203" y="409241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调研与前期工作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659368" y="40924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立项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006203" y="46829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论文状态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006203" y="52735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结项形式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659368" y="497824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立项后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986778" y="350186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科研向大创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0" name="Rectangle 7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130" y="5991225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前期工作要在通知发出前做完，评委看的是已经拿得出手的东西。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科研向大创经验分享（张柏荣）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achuang_langqiwei">
  <a:themeElements>
    <a:clrScheme name="dachuang_langqiwei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achuang_langqiwei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chuang_langqiwe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2026-09-23T11:28:44Z</dcterms:created>
  <dcterms:modified xsi:type="dcterms:W3CDTF">2026-09-23T11:28:44Z</dcterms:modified>
  <cp:category/>
  <cp:contentStatus/>
</cp:coreProperties>
</file>