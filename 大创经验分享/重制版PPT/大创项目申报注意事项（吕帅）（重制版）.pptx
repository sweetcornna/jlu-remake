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chuang_lvshua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chuang_lvshua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34a9696ae99f6f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c11f119d6282a6a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314bc26d20f4f08.png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692140" cy="3437763"/>
            <a:chOff x="666750" y="1619250"/>
            <a:chExt cx="569214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32124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2179" y="1718310"/>
              <a:ext cx="2109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大创经验分享 · 2022.04.15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大创项目申报注意事项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项目评审与论文规范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申报规则与评审流程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申请书各部分怎么写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立项前后的几点建议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学术论文规范与学术不端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96454" cy="205359"/>
            <a:chOff x="680466" y="6192202"/>
            <a:chExt cx="469645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96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自学复习版｜据计算机科学与技术学院吕帅老师的讲座课件整理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330480" cy="3689317"/>
            <a:chOff x="521970" y="1515428"/>
            <a:chExt cx="6330480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项目要求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项目类型、组队与参与限制、运行时间、指导教师名额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评审流程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785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立项、中期、结题三道评审，级别怎样确定和调整；2021 年国家级项目清单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申请书写法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研究现状、研究内容与创新点、申请理由、实施方案、预期成果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评审原则与建议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评委看什么；立项之前怎样组队、预研，立项之后怎样执行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学术论文规范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期刊与会议评审流程、论文级别、模板、署名、致谢与基金、学术不端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说出大创从立项到结题的评审节点，以及每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一次级别调整的上限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对照评审原则，检查一份申请书的研究内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容、申请理由和预期成果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把「学习成绩优异」这类笼统描述改写成可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量化的表述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用正确的动词写预期成果：发表论文、授权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专利、登记软著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读懂期刊投稿系统里的状态，分清常见的审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稿结论和学术不端行为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项目要求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谁能报、怎么组队、要做多久、找几位老师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项目类型与组队规则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每人只能参加一个项目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运行时间与毕业前完成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指导教师名额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2418" cy="909257"/>
            <a:chOff x="520446" y="342900"/>
            <a:chExt cx="7612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项目要求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2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基本规则：3 至 5 人组队，每人只能参加一个项目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6161" y="1547336"/>
            <a:ext cx="6174677" cy="3344800"/>
            <a:chOff x="526161" y="1547336"/>
            <a:chExt cx="6174677" cy="334480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全名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5334" y="154733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吉林大学大学生创新创业训练计划项目（简称大创）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管理部门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5334" y="19692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教务处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5334" y="239125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创新训练项目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、创业训练项目、创业实践项目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9652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8122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实施范围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25334" y="281225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主要面向全校在籍二年级本科生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1848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23421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组队方式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25334" y="3234214"/>
              <a:ext cx="48836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申请人必须以团队（3 至 5 人）形式申报，鼓励跨学科、跨学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院组队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0809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39238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参与限制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25334" y="3923824"/>
              <a:ext cx="488365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每个参与人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只能参加一个项目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；在研项目的参与人必须完成在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研项目，方可再申报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9770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46134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项目总数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25334" y="46134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暂不限制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5021580"/>
            <a:ext cx="6167438" cy="1323022"/>
            <a:chOff x="533400" y="5021580"/>
            <a:chExt cx="6167438" cy="1323022"/>
          </a:xfrm>
        </p:grpSpPr>
        <p:sp>
          <p:nvSpPr>
            <p:cNvPr id="28" name="Rectangle 28"/>
            <p:cNvSpPr/>
            <p:nvPr/>
          </p:nvSpPr>
          <p:spPr>
            <a:xfrm>
              <a:off x="533400" y="5021580"/>
              <a:ext cx="6167438" cy="1323022"/>
            </a:xfrm>
            <a:prstGeom prst="roundRect">
              <a:avLst>
                <a:gd name="adj" fmla="val 10079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7235" y="5225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7443" y="5261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44855" y="565785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1446" y="559831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每人同一时间只有一个项目名额，选题和选队友都要慎重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44855" y="597789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1446" y="5918359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二年级立项、做 1 至 2 年，结题一般落在大三到大四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7005638" y="1524000"/>
            <a:ext cx="4652962" cy="4820602"/>
            <a:chOff x="7005638" y="1524000"/>
            <a:chExt cx="4652962" cy="4820602"/>
          </a:xfrm>
        </p:grpSpPr>
        <p:sp>
          <p:nvSpPr>
            <p:cNvPr id="36" name="Rectangle 36"/>
            <p:cNvSpPr/>
            <p:nvPr/>
          </p:nvSpPr>
          <p:spPr>
            <a:xfrm>
              <a:off x="7005638" y="1524000"/>
              <a:ext cx="4652962" cy="4820602"/>
            </a:xfrm>
            <a:prstGeom prst="roundRect">
              <a:avLst>
                <a:gd name="adj" fmla="val 28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15162" y="1657350"/>
              <a:ext cx="47625" cy="4553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4757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3873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自查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48981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这几支队伍能不能申报？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247572" y="2095500"/>
              <a:ext cx="4207192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41995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46067" y="22269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52919" y="2657475"/>
              <a:ext cx="1287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名同学组成一队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77044" y="2657475"/>
              <a:ext cx="892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超过 5 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247572" y="2951798"/>
              <a:ext cx="42071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47572" y="2956560"/>
              <a:ext cx="420719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52919" y="30870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张三一人申报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77044" y="3087052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必须团队申报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47572" y="3381375"/>
              <a:ext cx="42071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52919" y="35175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李四的在研项目还没结题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7044" y="3517582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先完成在研项目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47572" y="3811905"/>
              <a:ext cx="42071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247572" y="3816668"/>
              <a:ext cx="420719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52919" y="394811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王五同时报两个新项目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77044" y="3948112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每人限一项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47572" y="4241482"/>
              <a:ext cx="42071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52919" y="437769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所找老师已带 2 个在研项目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77044" y="437769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换一位老师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47572" y="4672012"/>
              <a:ext cx="420719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47572" y="4676775"/>
              <a:ext cx="420719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52919" y="4808220"/>
              <a:ext cx="2212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软件学院 3 人 + 数学学院 1 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77044" y="480822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鼓励跨学院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247572" y="2095500"/>
              <a:ext cx="4207192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766935" y="20955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41476" y="5218748"/>
              <a:ext cx="3966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依据吕帅老师 2022 年 4 月讲座时的规定，具体以学校当年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通知为准。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项目要求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运行时间与指导教师：创业实践项目的要求最特殊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276022" cy="2750820"/>
            <a:chOff x="533400" y="1524000"/>
            <a:chExt cx="6276022" cy="2750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5347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035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5413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指导教师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创新训练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5982" y="2150745"/>
              <a:ext cx="1977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 1 至 2 年；成员本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科毕业前必须完成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1042" y="228409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每个项目 1 至 2 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创业训练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5982" y="2905125"/>
              <a:ext cx="1977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 1 至 2 年；成员本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科毕业前必须完成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1042" y="303847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每个项目 1 至 2 名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7928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创业实践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5982" y="37928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可适当延长至毕业以后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1042" y="3659505"/>
              <a:ext cx="1948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双导师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：专业领域 1 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企业运营 1 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276022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3454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1960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rd-2"/>
          <p:cNvGrpSpPr/>
          <p:nvPr/>
        </p:nvGrpSpPr>
        <p:grpSpPr>
          <a:xfrm>
            <a:off x="533400" y="4465320"/>
            <a:ext cx="6276022" cy="1316355"/>
            <a:chOff x="533400" y="4465320"/>
            <a:chExt cx="6276022" cy="1316355"/>
          </a:xfrm>
        </p:grpSpPr>
        <p:sp>
          <p:nvSpPr>
            <p:cNvPr id="27" name="Rectangle 27"/>
            <p:cNvSpPr/>
            <p:nvPr/>
          </p:nvSpPr>
          <p:spPr>
            <a:xfrm>
              <a:off x="533400" y="4465320"/>
              <a:ext cx="627602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9867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467487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1705" y="471058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企业运营导师从哪来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05206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创业实践项目的企业运营指导教师，学校可以帮助项目负责人联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114222" y="1524000"/>
            <a:ext cx="4544378" cy="3226118"/>
            <a:chOff x="7114222" y="1524000"/>
            <a:chExt cx="4544378" cy="3226118"/>
          </a:xfrm>
        </p:grpSpPr>
        <p:sp>
          <p:nvSpPr>
            <p:cNvPr id="33" name="Rectangle 33"/>
            <p:cNvSpPr/>
            <p:nvPr/>
          </p:nvSpPr>
          <p:spPr>
            <a:xfrm>
              <a:off x="7114222" y="1524000"/>
              <a:ext cx="4544378" cy="3226118"/>
            </a:xfrm>
            <a:prstGeom prst="roundRect">
              <a:avLst>
                <a:gd name="adj" fmla="val 41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1657350"/>
              <a:ext cx="47625" cy="29594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导师名额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46745" y="1768792"/>
              <a:ext cx="308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每名指导教师同时指导不超过 2 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4252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这个上限原则上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包括在研项目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，热门老师的名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额可能在申报前就满了。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61872" y="2726055"/>
              <a:ext cx="40871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05852" y="28617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老师已有的在研项目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94544" y="28617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今年还能接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69696" y="3310414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22383" y="33104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2 项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61872" y="361854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61872" y="3623310"/>
              <a:ext cx="40871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69696" y="37590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22383" y="3759041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1 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61872" y="4068128"/>
              <a:ext cx="40871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69696" y="4207669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22383" y="42076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不能再接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61872" y="2726055"/>
              <a:ext cx="40871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809798" y="27260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7114222" y="4940618"/>
            <a:ext cx="4544378" cy="841058"/>
            <a:chOff x="7114222" y="4940618"/>
            <a:chExt cx="4544378" cy="841058"/>
          </a:xfrm>
        </p:grpSpPr>
        <p:sp>
          <p:nvSpPr>
            <p:cNvPr id="54" name="Rectangle 54"/>
            <p:cNvSpPr/>
            <p:nvPr/>
          </p:nvSpPr>
          <p:spPr>
            <a:xfrm>
              <a:off x="7114222" y="4940618"/>
              <a:ext cx="4544378" cy="841058"/>
            </a:xfrm>
            <a:prstGeom prst="roundRect">
              <a:avLst>
                <a:gd name="adj" fmla="val 1359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19010" y="5260658"/>
              <a:ext cx="200026" cy="200025"/>
              <a:chOff x="7319010" y="526065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19010" y="5260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358749" y="5305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393464" y="5416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620952" y="5117782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找指导老师要趁早，先问清老师手里还有没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有名额。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评审流程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级别在立项时确定，之后每次检查都可能调整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立项、中期、结题三道评审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位专家独立评分取平均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级别调整与优秀遴选的比例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 年软件学院国家级项目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评审时间线：立项定级，中期和结题都可能调级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727710" y="1924050"/>
            <a:ext cx="10735628" cy="629602"/>
            <a:chOff x="727710" y="1924050"/>
            <a:chExt cx="10735628" cy="629602"/>
          </a:xfrm>
        </p:grpSpPr>
        <p:sp>
          <p:nvSpPr>
            <p:cNvPr id="7" name="Freeform 7"/>
            <p:cNvSpPr/>
            <p:nvPr/>
          </p:nvSpPr>
          <p:spPr>
            <a:xfrm>
              <a:off x="3120390" y="223837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223837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2238375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6835" y="2185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7710" y="1924050"/>
              <a:ext cx="2391728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509010" y="1924050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90310" y="1924050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071610" y="1924050"/>
              <a:ext cx="2391728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92453" y="2039779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4–5 月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55161" y="2039779"/>
              <a:ext cx="15003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 / 定级评审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12077" y="2039779"/>
              <a:ext cx="154914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之后的 4–5、9–10 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73793" y="2039779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结题项目中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遴选优秀候选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27685" y="3143250"/>
            <a:ext cx="11130915" cy="2539842"/>
            <a:chOff x="527685" y="3143250"/>
            <a:chExt cx="11130915" cy="2539842"/>
          </a:xfrm>
        </p:grpSpPr>
        <p:sp>
          <p:nvSpPr>
            <p:cNvPr id="22" name="Rectangle 22"/>
            <p:cNvSpPr/>
            <p:nvPr/>
          </p:nvSpPr>
          <p:spPr>
            <a:xfrm>
              <a:off x="533400" y="314325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00504" y="32789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93247" y="32789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65325" y="32789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对级别的影响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1223" y="37276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立项评审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33966" y="3727609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6708" y="372760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确定初始级别：国家级、省级、校级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0357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0405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4176236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中期检查 / 定级评审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3966" y="417623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6708" y="4176236"/>
              <a:ext cx="2469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级别调整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不超过 10%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，四舍五入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853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624864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进度检查 / 结题验收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33966" y="4624864"/>
              <a:ext cx="186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之后的 4–5 月、9–10 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6708" y="4624864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级别调整不超过 10%，四舍五入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9339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9387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50734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遴选优秀候选项目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33966" y="50734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结题之后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6708" y="50734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不超过结题数的 20%、10%，取整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143250"/>
              <a:ext cx="11125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421380" y="31432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314122" y="314325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7685" y="5463064"/>
              <a:ext cx="4368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原课件没有说明 20% 和 10% 各对应哪一类项目，以当年通知为准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8" name="Rectangle 4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5093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每一次评审都是 5 位专家独立评分，取平均分进行排序。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85089" cy="909257"/>
            <a:chOff x="520446" y="342900"/>
            <a:chExt cx="46850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850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平均分排序和 10% 上限怎么算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card-1"/>
          <p:cNvGrpSpPr/>
          <p:nvPr/>
        </p:nvGrpSpPr>
        <p:grpSpPr>
          <a:xfrm>
            <a:off x="533400" y="1524000"/>
            <a:ext cx="5951220" cy="4315778"/>
            <a:chOff x="533400" y="1524000"/>
            <a:chExt cx="5951220" cy="4315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15778"/>
            </a:xfrm>
            <a:prstGeom prst="roundRect">
              <a:avLst>
                <a:gd name="adj" fmla="val 30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0490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3022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位专家独立评分，取平均分排序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549402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1362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89332" y="224075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57999" y="224075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 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27619" y="224075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 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96287" y="224075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 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5907" y="224075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专家 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11469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1104" y="268938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3768" y="26893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12436" y="26893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82056" y="26893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50723" y="26893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0343" y="26893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514975" y="2563178"/>
              <a:ext cx="75057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4238" y="268938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84.0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" y="2997518"/>
              <a:ext cx="54940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3002280"/>
              <a:ext cx="54940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61104" y="313801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43768" y="31380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2436" y="31380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08020" y="3011805"/>
              <a:ext cx="75057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82056" y="31380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723" y="31380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0343" y="31380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94238" y="313801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83.2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81050" y="2105025"/>
              <a:ext cx="549402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55445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424112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93732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962400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32020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00688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4573" y="35675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分数为虚构示例。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3430" y="3868102"/>
              <a:ext cx="5273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有 4 位专家给分高于 84，一个 70 分却把平均拉到 83.2，排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 之后。每位专家的分都计入平均，没有去掉最低分这一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6765" y="483774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80" y="477488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评委未必都熟悉你的方向，研究现状和技术路线要写到外行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也能跟上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6765" y="545877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4880" y="5395912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答辩时每位评委都要照顾到，别只对着一位老师讲</a:t>
              </a:r>
            </a:p>
          </p:txBody>
        </p:sp>
      </p:grpSp>
      <p:grpSp>
        <p:nvGrpSpPr>
          <p:cNvPr id="73" name="c2-card-1"/>
          <p:cNvGrpSpPr/>
          <p:nvPr/>
        </p:nvGrpSpPr>
        <p:grpSpPr>
          <a:xfrm>
            <a:off x="6789420" y="1524000"/>
            <a:ext cx="4869180" cy="2452688"/>
            <a:chOff x="6789420" y="1524000"/>
            <a:chExt cx="4869180" cy="2452688"/>
          </a:xfrm>
        </p:grpSpPr>
        <p:sp>
          <p:nvSpPr>
            <p:cNvPr id="52" name="Rectangle 52"/>
            <p:cNvSpPr/>
            <p:nvPr/>
          </p:nvSpPr>
          <p:spPr>
            <a:xfrm>
              <a:off x="6789420" y="1524000"/>
              <a:ext cx="4869180" cy="2452688"/>
            </a:xfrm>
            <a:prstGeom prst="roundRect">
              <a:avLst>
                <a:gd name="adj" fmla="val 5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98945" y="1657350"/>
              <a:ext cx="47625" cy="2185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3707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2776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2858" y="1768792"/>
              <a:ext cx="32981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级别调整「不超过 10%，四舍五入」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37070" y="2105025"/>
              <a:ext cx="44119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20267" y="22407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34947" y="2240756"/>
              <a:ext cx="574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 10%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15931" y="22407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最多调整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79773" y="2689384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 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3444" y="26893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01168" y="268938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项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037070" y="2997518"/>
              <a:ext cx="44119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37070" y="3002280"/>
              <a:ext cx="44119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79773" y="3138011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73444" y="31380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01168" y="313801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项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037070" y="2105025"/>
              <a:ext cx="441198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56282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679305" y="21050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30593" y="356758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基数只是示意，按哪一批项目计算以当年通知为准。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789420" y="4167188"/>
            <a:ext cx="4869180" cy="1672590"/>
            <a:chOff x="6789420" y="4167188"/>
            <a:chExt cx="4869180" cy="1672590"/>
          </a:xfrm>
        </p:grpSpPr>
        <p:sp>
          <p:nvSpPr>
            <p:cNvPr id="74" name="Rectangle 74"/>
            <p:cNvSpPr/>
            <p:nvPr/>
          </p:nvSpPr>
          <p:spPr>
            <a:xfrm>
              <a:off x="6789420" y="4167188"/>
              <a:ext cx="4869180" cy="1672590"/>
            </a:xfrm>
            <a:prstGeom prst="roundRect">
              <a:avLst>
                <a:gd name="adj" fmla="val 79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798945" y="4300538"/>
              <a:ext cx="47625" cy="14058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037070" y="43767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27278" y="4412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29450" y="4753928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立项时拿到的级别并不保险，中期检查和结题验收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都可能被调整，每次检查都要按申请书准备。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02430" cy="909257"/>
            <a:chOff x="520446" y="342900"/>
            <a:chExt cx="60024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024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 年软件学院国家级项目：共 16 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able-1"/>
          <p:cNvGrpSpPr/>
          <p:nvPr/>
        </p:nvGrpSpPr>
        <p:grpSpPr>
          <a:xfrm>
            <a:off x="533400" y="1524000"/>
            <a:ext cx="5410200" cy="4039553"/>
            <a:chOff x="533400" y="1524000"/>
            <a:chExt cx="5410200" cy="403955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460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12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100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7950" y="210835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综合混合、包裹式方法对特征选择算法的改进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100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7950" y="25569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基于对抗迁移学习的中文命名实体识别研究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100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7950" y="300561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基于探索与利用机制优化的进化强化学习方法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100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7950" y="3454241"/>
              <a:ext cx="33272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Tabular 表达式的软件测试方法的研究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100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7950" y="3903821"/>
              <a:ext cx="283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UCT 算法的二次过滤粒子群算法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100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7950" y="435244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策略梯度方法中基于奖励平衡的内在奖励机制优化方法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660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100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7950" y="480107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基于深度学习的唇语识别及实时字幕生成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101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11492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1007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7950" y="52497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个性化高考志愿推荐系统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41020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1536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table-1"/>
          <p:cNvGrpSpPr/>
          <p:nvPr/>
        </p:nvGrpSpPr>
        <p:grpSpPr>
          <a:xfrm>
            <a:off x="6248400" y="1524000"/>
            <a:ext cx="5410200" cy="4039553"/>
            <a:chOff x="6248400" y="1524000"/>
            <a:chExt cx="5410200" cy="4039553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9960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462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项目名称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600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2951" y="21083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基于多模态的系统联合标定在智能车领域的应用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6252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42951" y="255698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不良坐姿警示和纠正系统的研究与设计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86252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42951" y="3005614"/>
              <a:ext cx="4522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基于深度学习的视觉 SLAM 融合算法在智能机器人中的应用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86252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42951" y="34542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基于半监督学习的腹腔小器官肿瘤分割算法研究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86252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42951" y="390382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钻井实时监控与智能决策系统的开发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86252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42951" y="435244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基于差分自编码网络的生物组学特征工程算法研究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248400" y="46605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86252" y="480107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42951" y="480107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基于混合式教学数据的学生成绩分析与预测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51101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511492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86252" y="52497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42951" y="524970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基于三维神经网络的视频监控下宠物危险行为识别方法研究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524000"/>
              <a:ext cx="541020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73036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3" name="Rectangle 7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130" y="5991225"/>
              <a:ext cx="58106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项目名称照原课件第 6、7 页；原表的负责人一栏本讲义不列出。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90847" cy="909257"/>
            <a:chOff x="520446" y="342900"/>
            <a:chExt cx="81908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908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16 个题目看选题：方法加问题，一眼看清技术路线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7685" y="1524000"/>
            <a:ext cx="5415915" cy="2988469"/>
            <a:chOff x="527685" y="1524000"/>
            <a:chExt cx="541591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85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216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27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机器学习与优化算法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56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87343" y="2108359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1、3、5、6、14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视觉与感知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56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7343" y="2556986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7、9、11、12、16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应用系统与数据分析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656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7343" y="3005614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8、10、13、15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5424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自然语言处理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4656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7343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软件测试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4656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87343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1752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7475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429244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方向分类为本讲义所加，一个题目只归入一类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658678"/>
            <a:ext cx="5410200" cy="930592"/>
            <a:chOff x="533400" y="4658678"/>
            <a:chExt cx="5410200" cy="930592"/>
          </a:xfrm>
        </p:grpSpPr>
        <p:sp>
          <p:nvSpPr>
            <p:cNvPr id="37" name="Rectangle 37"/>
            <p:cNvSpPr/>
            <p:nvPr/>
          </p:nvSpPr>
          <p:spPr>
            <a:xfrm>
              <a:off x="533400" y="4658678"/>
              <a:ext cx="5410200" cy="930592"/>
            </a:xfrm>
            <a:prstGeom prst="roundRect">
              <a:avLst>
                <a:gd name="adj" fmla="val 1228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024438"/>
              <a:ext cx="200026" cy="200026"/>
              <a:chOff x="738188" y="5024438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0244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091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51244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4881562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算法研究和系统开发都能拿到国家级，16 项里有 4 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是面向具体场景的系统。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248400" y="1524000"/>
            <a:ext cx="5410200" cy="2558415"/>
            <a:chOff x="6248400" y="1524000"/>
            <a:chExt cx="5410200" cy="2558415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579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3535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题目的写法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21780" y="211074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 项里有 11 项用「基于 X 的 Y」：X 是方法，Y 是问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题或应用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63665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178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算法类题目点明改进对象，如「对特征选择算法的改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进」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3665" y="34156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21780" y="33528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系统类题目点明使用场景，如高考志愿、不良坐姿、钻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井监控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4272915"/>
            <a:ext cx="5410200" cy="1316355"/>
            <a:chOff x="6248400" y="4272915"/>
            <a:chExt cx="5410200" cy="1316355"/>
          </a:xfrm>
        </p:grpSpPr>
        <p:sp>
          <p:nvSpPr>
            <p:cNvPr id="54" name="Rectangle 54"/>
            <p:cNvSpPr/>
            <p:nvPr/>
          </p:nvSpPr>
          <p:spPr>
            <a:xfrm>
              <a:off x="6248400" y="4272915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40626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6050" y="44824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78359" y="45181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拟题自查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8430" y="48596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只看题目，评委能不能说出你用什么方法、解决什么问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题、用在什么场景？答不出来就再改。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申请书写法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每一部分的主旨和最容易写错的细节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申请书的组成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研究现状、研究内容与创新点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申请理由：团队条件与前期基础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实施方案与预期成果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申请书的组成：本讲细讲其中六个栏目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5847588" cy="3463956"/>
            <a:chOff x="528447" y="1524000"/>
            <a:chExt cx="5847588" cy="346395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12924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申请书栏目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0962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本讲对应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一、国内外研究现状分析与评价（含参考文献）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53952" y="20454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二、研究内容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53952" y="244554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三、特色和创新点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53952" y="28455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四、申请理由（团队条件；前期准备基础等）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53952" y="324564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3.1、3.2 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6456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五、实施方案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3952" y="36456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六至八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53952" y="40457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原课件略去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3195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4457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九、预期成果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3952" y="444579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842635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85203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4797266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六至八栏以当年学校下发的申请书模板为准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5119688"/>
            <a:ext cx="5842635" cy="1185862"/>
            <a:chOff x="533400" y="5119688"/>
            <a:chExt cx="5842635" cy="1185862"/>
          </a:xfrm>
        </p:grpSpPr>
        <p:sp>
          <p:nvSpPr>
            <p:cNvPr id="37" name="Rectangle 37"/>
            <p:cNvSpPr/>
            <p:nvPr/>
          </p:nvSpPr>
          <p:spPr>
            <a:xfrm>
              <a:off x="533400" y="511968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525303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8190" y="530637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2759" y="53392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用词统一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332" y="5651183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14 页标题写作「预期结果」，申请书的栏目名是「预期成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果」，本讲统一写「预期成果」。</a:t>
              </a:r>
            </a:p>
          </p:txBody>
        </p:sp>
      </p:grpSp>
      <p:grpSp>
        <p:nvGrpSpPr>
          <p:cNvPr id="61" name="c2-flow-1"/>
          <p:cNvGrpSpPr/>
          <p:nvPr/>
        </p:nvGrpSpPr>
        <p:grpSpPr>
          <a:xfrm>
            <a:off x="6855142" y="1840230"/>
            <a:ext cx="4629151" cy="4207193"/>
            <a:chOff x="6855142" y="1840230"/>
            <a:chExt cx="4629151" cy="4207193"/>
          </a:xfrm>
        </p:grpSpPr>
        <p:sp>
          <p:nvSpPr>
            <p:cNvPr id="43" name="Freeform 43"/>
            <p:cNvSpPr/>
            <p:nvPr/>
          </p:nvSpPr>
          <p:spPr>
            <a:xfrm>
              <a:off x="7925752" y="2417445"/>
              <a:ext cx="9525" cy="527685"/>
            </a:xfrm>
            <a:custGeom>
              <a:avLst/>
              <a:gdLst/>
              <a:ahLst/>
              <a:cxnLst/>
              <a:rect l="l" t="t" r="r" b="b"/>
              <a:pathLst>
                <a:path w="9525" h="527685">
                  <a:moveTo>
                    <a:pt x="0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73365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100185" y="3338512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24384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8995410" y="32861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925752" y="3627120"/>
              <a:ext cx="9525" cy="527685"/>
            </a:xfrm>
            <a:custGeom>
              <a:avLst/>
              <a:gdLst/>
              <a:ahLst/>
              <a:cxnLst/>
              <a:rect l="l" t="t" r="r" b="b"/>
              <a:pathLst>
                <a:path w="9525" h="527685">
                  <a:moveTo>
                    <a:pt x="0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873365" y="4154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925752" y="4836795"/>
              <a:ext cx="9525" cy="527685"/>
            </a:xfrm>
            <a:custGeom>
              <a:avLst/>
              <a:gdLst/>
              <a:ahLst/>
              <a:cxnLst/>
              <a:rect l="l" t="t" r="r" b="b"/>
              <a:pathLst>
                <a:path w="9525" h="527685">
                  <a:moveTo>
                    <a:pt x="0" y="0"/>
                  </a:moveTo>
                  <a:lnTo>
                    <a:pt x="0" y="527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7873365" y="53644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5142" y="1840230"/>
              <a:ext cx="2140268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55142" y="3049905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344025" y="3049905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855142" y="4259580"/>
              <a:ext cx="214026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55142" y="5469255"/>
              <a:ext cx="2140268" cy="578168"/>
            </a:xfrm>
            <a:prstGeom prst="roundRect">
              <a:avLst>
                <a:gd name="adj" fmla="val 49918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79958" y="1954054"/>
              <a:ext cx="12915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研究现状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现有方法有什么问题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51078" y="3163729"/>
              <a:ext cx="11493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研究内容与创新点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本项目要解决什么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82200" y="3163729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申请理由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凭什么能做成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22198" y="4373404"/>
              <a:ext cx="1007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实施方案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怎么做、谁来做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51078" y="5583079"/>
              <a:ext cx="11493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预期成果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交出什么、交几个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3027" cy="909257"/>
            <a:chOff x="520446" y="342900"/>
            <a:chExt cx="60230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30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研究现状：从现有方法里归纳出问题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688580" cy="293370"/>
            <a:chOff x="525780" y="1548765"/>
            <a:chExt cx="76885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主旨：总结相关方法或技术的现状，归纳存在的问题，提出研究内容，阐明研究意义。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64055"/>
            <a:ext cx="3494532" cy="2411159"/>
            <a:chOff x="533400" y="1964055"/>
            <a:chExt cx="3494532" cy="2411159"/>
          </a:xfrm>
        </p:grpSpPr>
        <p:sp>
          <p:nvSpPr>
            <p:cNvPr id="9" name="Rectangle 9"/>
            <p:cNvSpPr/>
            <p:nvPr/>
          </p:nvSpPr>
          <p:spPr>
            <a:xfrm>
              <a:off x="666750" y="210693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640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8508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58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0611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79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2619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000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19969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总结现状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277428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现有方法分哪几类，每类的代表工作是什么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617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898457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这些方法在什么条件下效果不好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23897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提出研究内容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51948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本项目针对其中哪一个问题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86000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阐明研究意义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14051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解决之后对理论或应用有什么用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551045"/>
            <a:ext cx="4977765" cy="1679258"/>
            <a:chOff x="533400" y="4551045"/>
            <a:chExt cx="4977765" cy="1679258"/>
          </a:xfrm>
        </p:grpSpPr>
        <p:sp>
          <p:nvSpPr>
            <p:cNvPr id="27" name="Rectangle 27"/>
            <p:cNvSpPr/>
            <p:nvPr/>
          </p:nvSpPr>
          <p:spPr>
            <a:xfrm>
              <a:off x="533400" y="4551045"/>
              <a:ext cx="4977765" cy="1679258"/>
            </a:xfrm>
            <a:prstGeom prst="roundRect">
              <a:avLst>
                <a:gd name="adj" fmla="val 79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684395"/>
              <a:ext cx="47625" cy="14125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75335" y="475488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8792" y="479059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参考文献三性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2955" y="518826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9546" y="512778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权威：顶刊顶会论文、经典教材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2955" y="5508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546" y="544782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前瞻：一般看近三五年的文献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2955" y="58283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546" y="5767864"/>
              <a:ext cx="4274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规范：著录格式统一，中文申请书常按 GB/T 7714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5815965" y="1954530"/>
            <a:ext cx="5842635" cy="1914525"/>
            <a:chOff x="5815965" y="1954530"/>
            <a:chExt cx="5842635" cy="1914525"/>
          </a:xfrm>
        </p:grpSpPr>
        <p:sp>
          <p:nvSpPr>
            <p:cNvPr id="38" name="Rectangle 38"/>
            <p:cNvSpPr/>
            <p:nvPr/>
          </p:nvSpPr>
          <p:spPr>
            <a:xfrm>
              <a:off x="5815965" y="1954530"/>
              <a:ext cx="5842635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208788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57900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39256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65520" y="259175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22111" y="253126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综合评述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：按方法归类，边述边评，避免逐篇罗列摘要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65520" y="29117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22111" y="285130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依据可靠：引用权威、前瞻的正规参考文献，注意参考文献的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权威性、前瞻性和规范性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65520" y="35032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22111" y="344281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避免假大空的用词</a:t>
              </a:r>
            </a:p>
          </p:txBody>
        </p:sp>
      </p:grpSp>
      <p:grpSp>
        <p:nvGrpSpPr>
          <p:cNvPr id="69" name="c2-compare-2"/>
          <p:cNvGrpSpPr/>
          <p:nvPr/>
        </p:nvGrpSpPr>
        <p:grpSpPr>
          <a:xfrm>
            <a:off x="5815965" y="4054792"/>
            <a:ext cx="5842635" cy="2175510"/>
            <a:chOff x="5815965" y="4054792"/>
            <a:chExt cx="5842635" cy="2175510"/>
          </a:xfrm>
        </p:grpSpPr>
        <p:sp>
          <p:nvSpPr>
            <p:cNvPr id="49" name="Rectangle 49"/>
            <p:cNvSpPr/>
            <p:nvPr/>
          </p:nvSpPr>
          <p:spPr>
            <a:xfrm>
              <a:off x="5815965" y="4054792"/>
              <a:ext cx="2711768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188142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50661" y="42819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假大空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065520" y="46805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22111" y="4621054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该领域意义重大、前景广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阔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065520" y="527208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22111" y="521255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国内外学者做了大量研究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65520" y="559212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22111" y="553259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现有方法仍存在诸多不足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46832" y="4054792"/>
              <a:ext cx="2711768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56358" y="4188142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81528" y="428196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196388" y="468058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52978" y="4621054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文献[3][5]用 xx 方法处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 xx 问题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9196388" y="527208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52978" y="5212556"/>
              <a:ext cx="19441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xx 条件下准确率明显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下降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9196388" y="586359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352978" y="580405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本项目针对这一缺陷展开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575358" y="49806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61273" y="50768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39432" cy="909257"/>
            <a:chOff x="520446" y="342900"/>
            <a:chExt cx="7739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39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研究内容与创新点：写要研究的，别写已完成的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74511" cy="264033"/>
            <a:chOff x="526542" y="1545907"/>
            <a:chExt cx="63745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主旨：提炼主要研究内容，点明项目的关键问题、重点、难点、特色、创新点。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28812"/>
            <a:ext cx="5626418" cy="1471612"/>
            <a:chOff x="533400" y="1928812"/>
            <a:chExt cx="5626418" cy="14716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04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50221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44935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研究内容之间要贯通，形成一个整体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7870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7351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重点体现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创新性和工作量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07181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01990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写的是对即将研究内容的展望；已经完成的工作放进「前期基础」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3564255"/>
            <a:ext cx="5627370" cy="1411605"/>
            <a:chOff x="533400" y="3564255"/>
            <a:chExt cx="5627370" cy="1411605"/>
          </a:xfrm>
        </p:grpSpPr>
        <p:sp>
          <p:nvSpPr>
            <p:cNvPr id="20" name="Rectangle 20"/>
            <p:cNvSpPr/>
            <p:nvPr/>
          </p:nvSpPr>
          <p:spPr>
            <a:xfrm>
              <a:off x="533400" y="3564255"/>
              <a:ext cx="2604135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697605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5998" y="37666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41205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067651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我们实现了一个 xx 模型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440531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43524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实验取得了较好效果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56635" y="3564255"/>
              <a:ext cx="2604135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66160" y="3697605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69233" y="37666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展望式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785235" y="412051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40683" y="4067651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本项目将设计 xx 模型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785235" y="440531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40683" y="4352449"/>
              <a:ext cx="1866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xx 数据集上与 xx 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185160" y="410813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281743" y="421386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</a:t>
              </a:r>
            </a:p>
          </p:txBody>
        </p:sp>
      </p:grpSp>
      <p:grpSp>
        <p:nvGrpSpPr>
          <p:cNvPr id="42" name="c1-card-3"/>
          <p:cNvGrpSpPr/>
          <p:nvPr/>
        </p:nvGrpSpPr>
        <p:grpSpPr>
          <a:xfrm>
            <a:off x="533400" y="5140642"/>
            <a:ext cx="5626418" cy="901065"/>
            <a:chOff x="533400" y="5140642"/>
            <a:chExt cx="5626418" cy="901065"/>
          </a:xfrm>
        </p:grpSpPr>
        <p:sp>
          <p:nvSpPr>
            <p:cNvPr id="37" name="Rectangle 37"/>
            <p:cNvSpPr/>
            <p:nvPr/>
          </p:nvSpPr>
          <p:spPr>
            <a:xfrm>
              <a:off x="533400" y="5140642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5273992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2475" y="53216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147" y="53544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5998" y="5662136"/>
              <a:ext cx="4786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10 页写作「点名项目的关键问题」，应为「点明」。</a:t>
              </a:r>
            </a:p>
          </p:txBody>
        </p:sp>
      </p:grpSp>
      <p:grpSp>
        <p:nvGrpSpPr>
          <p:cNvPr id="57" name="c2-flow-1"/>
          <p:cNvGrpSpPr/>
          <p:nvPr/>
        </p:nvGrpSpPr>
        <p:grpSpPr>
          <a:xfrm>
            <a:off x="6828472" y="2137410"/>
            <a:ext cx="4466272" cy="3463290"/>
            <a:chOff x="6828472" y="2137410"/>
            <a:chExt cx="4466272" cy="3463290"/>
          </a:xfrm>
        </p:grpSpPr>
        <p:sp>
          <p:nvSpPr>
            <p:cNvPr id="43" name="Freeform 43"/>
            <p:cNvSpPr/>
            <p:nvPr/>
          </p:nvSpPr>
          <p:spPr>
            <a:xfrm>
              <a:off x="9062085" y="2689860"/>
              <a:ext cx="9525" cy="313373"/>
            </a:xfrm>
            <a:custGeom>
              <a:avLst/>
              <a:gdLst/>
              <a:ahLst/>
              <a:cxnLst/>
              <a:rect l="l" t="t" r="r" b="b"/>
              <a:pathLst>
                <a:path w="9525" h="313373">
                  <a:moveTo>
                    <a:pt x="0" y="0"/>
                  </a:moveTo>
                  <a:lnTo>
                    <a:pt x="0" y="3133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09698" y="30032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062085" y="3660458"/>
              <a:ext cx="9525" cy="313372"/>
            </a:xfrm>
            <a:custGeom>
              <a:avLst/>
              <a:gdLst/>
              <a:ahLst/>
              <a:cxnLst/>
              <a:rect l="l" t="t" r="r" b="b"/>
              <a:pathLst>
                <a:path w="9525" h="313372">
                  <a:moveTo>
                    <a:pt x="0" y="0"/>
                  </a:moveTo>
                  <a:lnTo>
                    <a:pt x="0" y="3133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009698" y="39738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062085" y="4630102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009698" y="49444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28472" y="2137410"/>
              <a:ext cx="4466272" cy="5514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28472" y="3108008"/>
              <a:ext cx="446627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28472" y="4078605"/>
              <a:ext cx="4466272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28472" y="5049202"/>
              <a:ext cx="446627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23326" y="2250758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总目标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解决现状中归纳出的问题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90026" y="3220402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问题分析与建模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56676" y="4191000"/>
              <a:ext cx="12108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改进方法（创新点）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56676" y="5161598"/>
              <a:ext cx="12108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内容三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实验验证或系统实现</a:t>
              </a:r>
            </a:p>
          </p:txBody>
        </p:sp>
      </p:grpSp>
      <p:grpSp>
        <p:nvGrpSpPr>
          <p:cNvPr id="59" name="c2-text-2"/>
          <p:cNvGrpSpPr/>
          <p:nvPr/>
        </p:nvGrpSpPr>
        <p:grpSpPr>
          <a:xfrm>
            <a:off x="6459284" y="5992178"/>
            <a:ext cx="4811268" cy="412052"/>
            <a:chOff x="6459284" y="5992178"/>
            <a:chExt cx="4811268" cy="412052"/>
          </a:xfrm>
        </p:grpSpPr>
        <p:sp>
          <p:nvSpPr>
            <p:cNvPr id="58" name="TextBox 58"/>
            <p:cNvSpPr txBox="1"/>
            <p:nvPr/>
          </p:nvSpPr>
          <p:spPr>
            <a:xfrm>
              <a:off x="6459284" y="5992178"/>
              <a:ext cx="481126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示意：内容一的模型交给内容二改进，内容二的方法交给内容三验证。拿掉任何一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项，另外两项都接不上，这就是「贯通」。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 申请理由之团队条件：能量化就量化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团队条件：自身或团队具备的知识、素质、能力、特长、兴趣。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67865"/>
            <a:ext cx="11125200" cy="2705100"/>
            <a:chOff x="533400" y="1967865"/>
            <a:chExt cx="11125200" cy="27051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79257" y="2106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2110" y="2106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57385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59461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避免笼统概括，尽可能量化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54755" y="25946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学习成绩优异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885748" y="2465070"/>
              <a:ext cx="376332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82902" y="2594610"/>
              <a:ext cx="3458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平均绩点 3.5/4.0 或专业排名 20/380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9384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943225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0080" y="30822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避免常识性表述或冗余内容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4755" y="30822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学习过程序设计基础、离散数学、数据结构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85748" y="2952750"/>
              <a:ext cx="376332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82902" y="3082290"/>
              <a:ext cx="1491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CSP 认证 300 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0080" y="35699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避免不切实际的形容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54755" y="3569970"/>
              <a:ext cx="1239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熟练掌握 C++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85748" y="3440430"/>
              <a:ext cx="3763328" cy="4686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982902" y="3569970"/>
              <a:ext cx="2037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LeetCode 刷题 xxx 道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38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918585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41910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去掉与项目无关的表述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54755" y="4057650"/>
              <a:ext cx="37299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xx 部副部长、xx 班 xx 干部；与项目无关的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文体爱好、社交能力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85748" y="3928110"/>
              <a:ext cx="3763328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82902" y="41910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67865"/>
              <a:ext cx="1112520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43312" y="1967865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71460" y="1967865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kv-2"/>
          <p:cNvGrpSpPr/>
          <p:nvPr/>
        </p:nvGrpSpPr>
        <p:grpSpPr>
          <a:xfrm>
            <a:off x="525780" y="4888230"/>
            <a:ext cx="11132820" cy="733425"/>
            <a:chOff x="525780" y="4888230"/>
            <a:chExt cx="11132820" cy="733425"/>
          </a:xfrm>
        </p:grpSpPr>
        <p:sp>
          <p:nvSpPr>
            <p:cNvPr id="38" name="TextBox 38"/>
            <p:cNvSpPr txBox="1"/>
            <p:nvPr/>
          </p:nvSpPr>
          <p:spPr>
            <a:xfrm>
              <a:off x="525780" y="4888230"/>
              <a:ext cx="542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「V」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84922" y="4888230"/>
              <a:ext cx="78440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原课件用「3.5/4.0 V 20/380」连接两种量化方式，表示「或」，两项都有时可以都写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2082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5780" y="532828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CSP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84922" y="5328285"/>
              <a:ext cx="73473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计算机软件能力认证，满分 500 分；课程名谁都学过，认证分数才看得出水平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写完逐句问：这句话换到别的团队身上是否同样成立？成立就说明太笼统，换成数字或具体经历。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申请理由之前期基础：为这个项目已经做了什么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98587" cy="308039"/>
            <a:chOff x="525399" y="1550194"/>
            <a:chExt cx="80985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985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前期准备基础：从自拟组队申报（甚至大一入学）至今，完成的与本项目相关的准备。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27685" y="1967865"/>
            <a:ext cx="6281737" cy="3219927"/>
            <a:chOff x="527685" y="1967865"/>
            <a:chExt cx="6281737" cy="321992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4909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0047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可以写什么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6646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知识积累、技术提升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74823" y="2551271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编程、英语、建模：自学的课程、完成的练习、竞赛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870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9181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22754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方法调研、重要方法的复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现和分析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74823" y="3227546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读过哪些关键论文，复现了哪个方法，结果和原文差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多少、为什么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623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9028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数据获取、数据预处理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74823" y="390286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拿到了哪些数据集，清洗、标注做到了哪一步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211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21576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35149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团队合作模式、前期合作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74823" y="446484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怎样分工、多久开一次组会，已经合作做出了什么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6276022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62238" y="196786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7685" y="496776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右列为本讲义补充的写法示例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5334000"/>
            <a:ext cx="6276022" cy="961072"/>
            <a:chOff x="533400" y="5334000"/>
            <a:chExt cx="6276022" cy="961072"/>
          </a:xfrm>
        </p:grpSpPr>
        <p:sp>
          <p:nvSpPr>
            <p:cNvPr id="29" name="Rectangle 29"/>
            <p:cNvSpPr/>
            <p:nvPr/>
          </p:nvSpPr>
          <p:spPr>
            <a:xfrm>
              <a:off x="533400" y="5334000"/>
              <a:ext cx="6276022" cy="961072"/>
            </a:xfrm>
            <a:prstGeom prst="roundRect">
              <a:avLst>
                <a:gd name="adj" fmla="val 1189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710356"/>
              <a:ext cx="224134" cy="192560"/>
              <a:chOff x="726129" y="5710356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7807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7103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8585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571172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只写和本项目相关的准备。与项目方向无关的竞赛、学生工作，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放进前期基础反而冲淡重点。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7114222" y="1967865"/>
            <a:ext cx="4544378" cy="2248852"/>
            <a:chOff x="7114222" y="1967865"/>
            <a:chExt cx="4544378" cy="2248852"/>
          </a:xfrm>
        </p:grpSpPr>
        <p:sp>
          <p:nvSpPr>
            <p:cNvPr id="36" name="Rectangle 36"/>
            <p:cNvSpPr/>
            <p:nvPr/>
          </p:nvSpPr>
          <p:spPr>
            <a:xfrm>
              <a:off x="7114222" y="1967865"/>
              <a:ext cx="454437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35494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4906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团队条件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2167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前期基础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2046" y="25512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1218" y="25512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我们是谁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93820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已经做了什么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114222" y="286035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14222" y="2865120"/>
              <a:ext cx="454437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22046" y="311419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21218" y="300085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知识、素质、能力、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特长、兴趣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993820" y="300085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与本项目直接相关的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353568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22046" y="37895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21218" y="367617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绩点、排名、认证分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3820" y="367617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复现结果、数据、合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作成果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1967865"/>
              <a:ext cx="454437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08632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881235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7114222" y="4406265"/>
            <a:ext cx="4544378" cy="1887855"/>
            <a:chOff x="7114222" y="4406265"/>
            <a:chExt cx="4544378" cy="1887855"/>
          </a:xfrm>
        </p:grpSpPr>
        <p:sp>
          <p:nvSpPr>
            <p:cNvPr id="56" name="Rectangle 56"/>
            <p:cNvSpPr/>
            <p:nvPr/>
          </p:nvSpPr>
          <p:spPr>
            <a:xfrm>
              <a:off x="7114222" y="4406265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23772" y="46158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01179" y="46515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为什么重要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6152" y="4993005"/>
              <a:ext cx="39585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评委靠这两部分判断学生的学习能力和研究水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平（见第 20 页）。复现结果、预处理好的数据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都是能拿出来的证据，比「我们对该方向很感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兴趣」有说服力。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6151" cy="909257"/>
            <a:chOff x="520446" y="342900"/>
            <a:chExt cx="7396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6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实施方案：每项内容各有方法，还要想好退路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主旨：详细阐述研究思路和方法、实施计划、技术路线、人员分工等。</a:t>
              </a:r>
            </a:p>
          </p:txBody>
        </p:sp>
      </p:grpSp>
      <p:grpSp>
        <p:nvGrpSpPr>
          <p:cNvPr id="25" name="c1-card-1"/>
          <p:cNvGrpSpPr/>
          <p:nvPr/>
        </p:nvGrpSpPr>
        <p:grpSpPr>
          <a:xfrm>
            <a:off x="533400" y="1941195"/>
            <a:ext cx="5410200" cy="1860232"/>
            <a:chOff x="533400" y="1941195"/>
            <a:chExt cx="5410200" cy="186023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3905" y="2478405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83" y="25167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4702" y="249078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应该有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流程图或技术路线图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3905" y="2781300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83" y="28196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4702" y="279273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每个研究内容对应独立的研究思路和方法，避免通用方法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3905" y="3083242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9583" y="31216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4702" y="30956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研究内容之间体现承接关系，且要有风险意识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3905" y="3386138"/>
              <a:ext cx="192405" cy="19240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9583" y="34245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4702" y="339852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人员分工应体现出不同成员的特点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28066" y="3976688"/>
            <a:ext cx="5415534" cy="2308479"/>
            <a:chOff x="528066" y="3976688"/>
            <a:chExt cx="5415534" cy="2308479"/>
          </a:xfrm>
        </p:grpSpPr>
        <p:sp>
          <p:nvSpPr>
            <p:cNvPr id="26" name="Rectangle 26"/>
            <p:cNvSpPr/>
            <p:nvPr/>
          </p:nvSpPr>
          <p:spPr>
            <a:xfrm>
              <a:off x="533400" y="3976688"/>
              <a:ext cx="5410200" cy="40576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34148" y="41009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11501" y="41009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9363" y="41009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3412" y="45067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张三（负责人）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47888" y="45067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读过较多相关论文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88118" y="45067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统筹进度、方法设计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7834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78821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9125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7888" y="49125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编程和调参经验多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8118" y="4912519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 baseline、跑实验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189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53182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王五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47888" y="53182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数学基础好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88118" y="531828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理论分析与推导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594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59974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57240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47888" y="57240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英文写作好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88118" y="572404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文献整理、论文撰写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976688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043112" y="39766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883342" y="39766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066" y="607980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人员分工示例（虚构）</a:t>
              </a:r>
            </a:p>
          </p:txBody>
        </p:sp>
      </p:grpSp>
      <p:grpSp>
        <p:nvGrpSpPr>
          <p:cNvPr id="80" name="c2-flow-1"/>
          <p:cNvGrpSpPr/>
          <p:nvPr/>
        </p:nvGrpSpPr>
        <p:grpSpPr>
          <a:xfrm>
            <a:off x="6437948" y="2146935"/>
            <a:ext cx="5031105" cy="3641408"/>
            <a:chOff x="6437948" y="2146935"/>
            <a:chExt cx="5031105" cy="3641408"/>
          </a:xfrm>
        </p:grpSpPr>
        <p:sp>
          <p:nvSpPr>
            <p:cNvPr id="52" name="Freeform 52"/>
            <p:cNvSpPr/>
            <p:nvPr/>
          </p:nvSpPr>
          <p:spPr>
            <a:xfrm>
              <a:off x="7600950" y="2546032"/>
              <a:ext cx="9525" cy="306705"/>
            </a:xfrm>
            <a:custGeom>
              <a:avLst/>
              <a:gdLst/>
              <a:ahLst/>
              <a:cxnLst/>
              <a:rect l="l" t="t" r="r" b="b"/>
              <a:pathLst>
                <a:path w="9525" h="306705">
                  <a:moveTo>
                    <a:pt x="0" y="0"/>
                  </a:moveTo>
                  <a:lnTo>
                    <a:pt x="0" y="3067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548562" y="2852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7600950" y="3356610"/>
              <a:ext cx="9525" cy="306705"/>
            </a:xfrm>
            <a:custGeom>
              <a:avLst/>
              <a:gdLst/>
              <a:ahLst/>
              <a:cxnLst/>
              <a:rect l="l" t="t" r="r" b="b"/>
              <a:pathLst>
                <a:path w="9525" h="306705">
                  <a:moveTo>
                    <a:pt x="0" y="0"/>
                  </a:moveTo>
                  <a:lnTo>
                    <a:pt x="0" y="3067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548562" y="36633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7600950" y="4167188"/>
              <a:ext cx="9525" cy="218122"/>
            </a:xfrm>
            <a:custGeom>
              <a:avLst/>
              <a:gdLst/>
              <a:ahLst/>
              <a:cxnLst/>
              <a:rect l="l" t="t" r="r" b="b"/>
              <a:pathLst>
                <a:path w="9525" h="218122">
                  <a:moveTo>
                    <a:pt x="0" y="0"/>
                  </a:moveTo>
                  <a:lnTo>
                    <a:pt x="0" y="2181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548562" y="43853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7600950" y="506539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548562" y="52844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8763952" y="4361498"/>
              <a:ext cx="1542097" cy="416243"/>
            </a:xfrm>
            <a:custGeom>
              <a:avLst/>
              <a:gdLst/>
              <a:ahLst/>
              <a:cxnLst/>
              <a:rect l="l" t="t" r="r" b="b"/>
              <a:pathLst>
                <a:path w="1542097" h="416243">
                  <a:moveTo>
                    <a:pt x="0" y="416243"/>
                  </a:moveTo>
                  <a:lnTo>
                    <a:pt x="209550" y="416243"/>
                  </a:lnTo>
                  <a:lnTo>
                    <a:pt x="1542097" y="416243"/>
                  </a:lnTo>
                  <a:lnTo>
                    <a:pt x="1542097" y="104775"/>
                  </a:lnTo>
                  <a:lnTo>
                    <a:pt x="154209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253662" y="42567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8868728" y="3967162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64770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763952" y="39147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37948" y="2146935"/>
              <a:ext cx="2326005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37948" y="2957512"/>
              <a:ext cx="232600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37948" y="3768090"/>
              <a:ext cx="2326005" cy="399098"/>
            </a:xfrm>
            <a:prstGeom prst="roundRect">
              <a:avLst>
                <a:gd name="adj" fmla="val 23866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437948" y="4490085"/>
              <a:ext cx="2326005" cy="575310"/>
            </a:xfrm>
            <a:custGeom>
              <a:avLst/>
              <a:gdLst/>
              <a:ahLst/>
              <a:cxnLst/>
              <a:rect l="l" t="t" r="r" b="b"/>
              <a:pathLst>
                <a:path w="2326005" h="575310">
                  <a:moveTo>
                    <a:pt x="1163003" y="0"/>
                  </a:moveTo>
                  <a:lnTo>
                    <a:pt x="2326005" y="287655"/>
                  </a:lnTo>
                  <a:lnTo>
                    <a:pt x="116300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143048" y="3678555"/>
              <a:ext cx="2326005" cy="578168"/>
            </a:xfrm>
            <a:prstGeom prst="roundRect">
              <a:avLst>
                <a:gd name="adj" fmla="val 1318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37948" y="5389245"/>
              <a:ext cx="2326005" cy="399098"/>
            </a:xfrm>
            <a:prstGeom prst="roundRect">
              <a:avLst>
                <a:gd name="adj" fmla="val 4988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85841" y="2268379"/>
              <a:ext cx="1430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调研与复现 baseline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92137" y="30789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内容一：问题建模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92137" y="38885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内容二：改进方法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218299" y="46991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效果达标？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02495" y="3792379"/>
              <a:ext cx="1007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备选方案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换特征或换模型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16750" y="550973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内容三：实验与总结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9525" y="514159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653147" y="5166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264015" y="457200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02636" y="459628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82" name="c2-text-2"/>
          <p:cNvGrpSpPr/>
          <p:nvPr/>
        </p:nvGrpSpPr>
        <p:grpSpPr>
          <a:xfrm>
            <a:off x="6242685" y="6186964"/>
            <a:ext cx="4685436" cy="220028"/>
            <a:chOff x="6242685" y="6186964"/>
            <a:chExt cx="4685436" cy="220028"/>
          </a:xfrm>
        </p:grpSpPr>
        <p:sp>
          <p:nvSpPr>
            <p:cNvPr id="81" name="TextBox 81"/>
            <p:cNvSpPr txBox="1"/>
            <p:nvPr/>
          </p:nvSpPr>
          <p:spPr>
            <a:xfrm>
              <a:off x="6242685" y="6186964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技术路线图示例：判断节点和备选方案就是申请书里的「风险意识」。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6308" cy="909257"/>
            <a:chOff x="520446" y="342900"/>
            <a:chExt cx="6366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申请书写法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6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 预期成果：用对动词，写了就不能降低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主旨：明确研究成果的形式和个数。以申请书为准，后期不能降低标准。</a:t>
              </a:r>
            </a:p>
          </p:txBody>
        </p:sp>
      </p:grpSp>
      <p:grpSp>
        <p:nvGrpSpPr>
          <p:cNvPr id="36" name="c1-table-1"/>
          <p:cNvGrpSpPr/>
          <p:nvPr/>
        </p:nvGrpSpPr>
        <p:grpSpPr>
          <a:xfrm>
            <a:off x="533400" y="1967865"/>
            <a:ext cx="5951220" cy="2705100"/>
            <a:chOff x="533400" y="1967865"/>
            <a:chExt cx="5951220" cy="270510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92592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6640" y="2106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99647" y="2106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不能用的字样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5946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研究报告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77565" y="25946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9128" y="25946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38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43225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0822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学术论文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80410" y="2952750"/>
              <a:ext cx="105251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77565" y="30822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49128" y="308229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撰写、投稿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26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569970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发明专利、实用新型专利、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外观设计专利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80410" y="3440430"/>
              <a:ext cx="1052512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77565" y="37033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授权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9128" y="370332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提交、申请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1805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185285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324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软件著作权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80410" y="4194810"/>
              <a:ext cx="105251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77565" y="43243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49128" y="4324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提交、申请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67865"/>
              <a:ext cx="595122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66122" y="1967865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37685" y="1967865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863465"/>
            <a:ext cx="5951220" cy="1316355"/>
            <a:chOff x="533400" y="4863465"/>
            <a:chExt cx="5951220" cy="1316355"/>
          </a:xfrm>
        </p:grpSpPr>
        <p:sp>
          <p:nvSpPr>
            <p:cNvPr id="37" name="Rectangle 37"/>
            <p:cNvSpPr/>
            <p:nvPr/>
          </p:nvSpPr>
          <p:spPr>
            <a:xfrm>
              <a:off x="533400" y="4863465"/>
              <a:ext cx="595122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42925" y="499681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1050" y="50730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1258" y="51087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3430" y="5450205"/>
              <a:ext cx="5292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14 页写作「外观专利」，《专利法》中的名称是「外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观设计专利」。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789420" y="1967865"/>
            <a:ext cx="4869180" cy="1795462"/>
            <a:chOff x="6789420" y="1967865"/>
            <a:chExt cx="4869180" cy="1795462"/>
          </a:xfrm>
        </p:grpSpPr>
        <p:sp>
          <p:nvSpPr>
            <p:cNvPr id="43" name="Rectangle 43"/>
            <p:cNvSpPr/>
            <p:nvPr/>
          </p:nvSpPr>
          <p:spPr>
            <a:xfrm>
              <a:off x="6789420" y="1967865"/>
              <a:ext cx="48691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18032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不合格写法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1109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98945" y="2426018"/>
              <a:ext cx="25126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97243" y="2551271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力争撰写学术论文 1 篇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330690" y="2426018"/>
              <a:ext cx="23183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28988" y="2551271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发表学术论文 1 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286035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89420" y="286512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798945" y="2874645"/>
              <a:ext cx="25126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97243" y="3000851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尝试申请发明专利 1 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30690" y="2874645"/>
              <a:ext cx="23183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28988" y="3000851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授权发明专利 1 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789420" y="33089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98945" y="3323272"/>
              <a:ext cx="251269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7243" y="3449479"/>
              <a:ext cx="1944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提交软件著作权申请 1 项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330690" y="3323272"/>
              <a:ext cx="231838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28988" y="344947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登记软件著作权 1 项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89420" y="1967865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31640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2"/>
          <p:cNvGrpSpPr/>
          <p:nvPr/>
        </p:nvGrpSpPr>
        <p:grpSpPr>
          <a:xfrm>
            <a:off x="6789420" y="3952875"/>
            <a:ext cx="4869180" cy="2225992"/>
            <a:chOff x="6789420" y="3952875"/>
            <a:chExt cx="4869180" cy="2225992"/>
          </a:xfrm>
        </p:grpSpPr>
        <p:sp>
          <p:nvSpPr>
            <p:cNvPr id="64" name="Rectangle 64"/>
            <p:cNvSpPr/>
            <p:nvPr/>
          </p:nvSpPr>
          <p:spPr>
            <a:xfrm>
              <a:off x="6789420" y="3952875"/>
              <a:ext cx="4869180" cy="2225992"/>
            </a:xfrm>
            <a:prstGeom prst="roundRect">
              <a:avLst>
                <a:gd name="adj" fmla="val 513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982149" y="4962643"/>
              <a:ext cx="224134" cy="192560"/>
              <a:chOff x="6982149" y="4962643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094220" y="5033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982149" y="4962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094220" y="5110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296150" y="4547235"/>
              <a:ext cx="38252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试图、尝试、力争、尽可能这类前缀都不要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用。写进去的个数就是结题的考核标准，发明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专利从申请到授权通常超过一年，要按项目周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期估计。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评审原则与建议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评委看什么，立项前后各该做什么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评审原则（吕帅老师的个人观点）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立项之前：组队、选题、预研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预研的两条路线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立项之后：项目执行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012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319" y="407194"/>
              <a:ext cx="2486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评审原则与建议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评审原则：创新性、工作量、能力和可考核的成果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22389" cy="308039"/>
            <a:chOff x="525399" y="1550194"/>
            <a:chExt cx="68223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以下是吕帅老师的个人观点，可以当作写申请书和准备答辩时的对照表。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6276022" cy="2248852"/>
            <a:chOff x="533400" y="1967865"/>
            <a:chExt cx="6276022" cy="2248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8118" y="21026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5500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19205" y="210264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申请书里对应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项目的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创新性和工作量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00553" y="255127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综合申请书和答辩情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83646" y="255127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研究内容、创新点、实施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2754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学生的学习能力和研究水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00553" y="322754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综合团队条件和前期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646" y="33408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申请理由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7623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9028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0553" y="390286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可量化、可考核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3646" y="39028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6276022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87968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71060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406265"/>
            <a:ext cx="6276022" cy="1701165"/>
            <a:chOff x="533400" y="4406265"/>
            <a:chExt cx="6276022" cy="1701165"/>
          </a:xfrm>
        </p:grpSpPr>
        <p:sp>
          <p:nvSpPr>
            <p:cNvPr id="29" name="Rectangle 29"/>
            <p:cNvSpPr/>
            <p:nvPr/>
          </p:nvSpPr>
          <p:spPr>
            <a:xfrm>
              <a:off x="533400" y="4406265"/>
              <a:ext cx="627602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3961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6158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3359" y="46515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注意细节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50558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9930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立项答辩的陈述逻辑思路清晰，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无学术不端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53911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5328285"/>
              <a:ext cx="231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申请书、答辩 PPT 要规范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57264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56635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答辩时间控制合理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7114222" y="1967865"/>
            <a:ext cx="4544378" cy="3722847"/>
            <a:chOff x="7114222" y="1967865"/>
            <a:chExt cx="4544378" cy="3722847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5552" t="0" r="5553" b="0"/>
            <a:stretch>
              <a:fillRect/>
            </a:stretch>
          </p:blipFill>
          <p:spPr>
            <a:xfrm>
              <a:off x="7114222" y="1967865"/>
              <a:ext cx="4544378" cy="3408045"/>
            </a:xfrm>
            <a:prstGeom prst="roundRect">
              <a:avLst>
                <a:gd name="adj" fmla="val 3912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8023250" y="547068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评委同时看申请书和答辩，每人独立打分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012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319" y="407194"/>
              <a:ext cx="2486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评审原则与建议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立项之前：组队宁缺毋滥，选题之后先预研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701165"/>
            <a:chOff x="533400" y="1524000"/>
            <a:chExt cx="5410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组队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宁缺毋滥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：凑人数不如少一个人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志同道合：兴趣点相同，彼此有默契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优势互补：取长补短，团队整体实力最大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15665"/>
            <a:ext cx="5410200" cy="2929890"/>
            <a:chOff x="533400" y="3415665"/>
            <a:chExt cx="5410200" cy="2929890"/>
          </a:xfrm>
        </p:grpSpPr>
        <p:sp>
          <p:nvSpPr>
            <p:cNvPr id="18" name="Rectangle 18"/>
            <p:cNvSpPr/>
            <p:nvPr/>
          </p:nvSpPr>
          <p:spPr>
            <a:xfrm>
              <a:off x="533400" y="3415665"/>
              <a:ext cx="5410200" cy="2929890"/>
            </a:xfrm>
            <a:prstGeom prst="roundRect">
              <a:avLst>
                <a:gd name="adj" fmla="val 4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49015"/>
              <a:ext cx="47625" cy="2663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25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258" y="3660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选题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00240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自主选题和导师推荐相结合：自己有想法时带着想法和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老师讨论，没有时请老师推荐方向。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2685" y="1524000"/>
            <a:ext cx="5415915" cy="2091214"/>
            <a:chOff x="6242685" y="1524000"/>
            <a:chExt cx="5415915" cy="2091214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822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组队时问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73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对应原则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6223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大家都想做这个方向吗？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27146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兴趣点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6223" y="255698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以前一起做过作业或比赛吗？沟通顺不顺？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27146" y="255698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默契度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6223" y="300561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编程、数学、写作是不是各有人擅长？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27146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优势互补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1456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2685" y="339518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自查问题为本讲义补充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248400" y="3761422"/>
            <a:ext cx="5410200" cy="2585085"/>
            <a:chOff x="6248400" y="3761422"/>
            <a:chExt cx="5410200" cy="2585085"/>
          </a:xfrm>
        </p:grpSpPr>
        <p:sp>
          <p:nvSpPr>
            <p:cNvPr id="40" name="Rectangle 40"/>
            <p:cNvSpPr/>
            <p:nvPr/>
          </p:nvSpPr>
          <p:spPr>
            <a:xfrm>
              <a:off x="6248400" y="3761422"/>
              <a:ext cx="5410200" cy="2585085"/>
            </a:xfrm>
            <a:prstGeom prst="roundRect">
              <a:avLst>
                <a:gd name="adj" fmla="val 5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894772"/>
              <a:ext cx="47625" cy="23183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625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预研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434816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最新成果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29512" y="4348162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国内外最新的研究情况：近两三年的顶会顶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刊论文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96050" y="495014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88430" y="50701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研究基础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29512" y="5070158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国内外经典、主流的处理方法：综述、教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材、代表性论文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9573" y="570214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预研是申请书里「研究现状」和「前期基础」的素材来源。按什么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顺序推进，下一页给出两条路线。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012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319" y="407194"/>
              <a:ext cx="2486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评审原则与建议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预研的两条路线：先出理论还是先出实验结论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727710" y="1709738"/>
            <a:ext cx="10735628" cy="1629726"/>
            <a:chOff x="727710" y="1709738"/>
            <a:chExt cx="10735628" cy="1629726"/>
          </a:xfrm>
        </p:grpSpPr>
        <p:sp>
          <p:nvSpPr>
            <p:cNvPr id="7" name="Freeform 7"/>
            <p:cNvSpPr/>
            <p:nvPr/>
          </p:nvSpPr>
          <p:spPr>
            <a:xfrm>
              <a:off x="3120390" y="202406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04235" y="1971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901690" y="202406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185535" y="1971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82990" y="2024062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66835" y="1971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0390" y="302418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04235" y="2971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901690" y="302418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185535" y="2971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8682990" y="302418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966835" y="2971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7710" y="1709738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09010" y="1709738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90310" y="1709738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071610" y="1709738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7710" y="2709862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09010" y="2709862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90310" y="2709862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71610" y="2709862"/>
              <a:ext cx="239172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92453" y="182546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【理论】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理解思想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73753" y="182546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【实验】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复现算法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5053" y="182546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【理论】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理论成果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36353" y="182546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【实验】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92453" y="282559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【理论】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理解思想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3753" y="282559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【实验】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复现算法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55053" y="282559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【实验】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36353" y="282559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【理论】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理论成果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27685" y="3714750"/>
            <a:ext cx="11130915" cy="1642587"/>
            <a:chOff x="527685" y="3714750"/>
            <a:chExt cx="11130915" cy="1642587"/>
          </a:xfrm>
        </p:grpSpPr>
        <p:sp>
          <p:nvSpPr>
            <p:cNvPr id="36" name="Rectangle 36"/>
            <p:cNvSpPr/>
            <p:nvPr/>
          </p:nvSpPr>
          <p:spPr>
            <a:xfrm>
              <a:off x="533400" y="371475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55687" y="3850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72638" y="3850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9364" y="3850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1223" y="42991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路线一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43378" y="42991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理论成果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6486" y="42991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复现后先推导出新的理论结果，再用实验验证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6072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6120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47477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路线二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43378" y="47477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46486" y="474773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复现后先在实验中发现现象、得出结论，再总结成理论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714750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2530792" y="37147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533900" y="371475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685" y="5137309"/>
              <a:ext cx="55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两条路线的前两步相同，都是先理解思想、再动手复现；原课件把路线二标成了红色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两条路线都要求先复现已有方法；跳过复现直接提想法，最容易空对空。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012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319" y="407194"/>
              <a:ext cx="2486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评审原则与建议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立项之后：按申请书执行，定期汇报和自查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388790" cy="3179730"/>
            <a:chOff x="533400" y="1533525"/>
            <a:chExt cx="4388790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按部就班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按照申请书的计划执行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联系指导教师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定期汇报进度、请教问题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组长组织组会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定期开组会，协调组员分工协作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自查进度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定期对照申请书检查进度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关注通知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看学校、学院通知，提前准备中期检查、经费报销等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892040"/>
            <a:ext cx="4977765" cy="1467802"/>
            <a:chOff x="533400" y="4892040"/>
            <a:chExt cx="4977765" cy="1467802"/>
          </a:xfrm>
        </p:grpSpPr>
        <p:sp>
          <p:nvSpPr>
            <p:cNvPr id="29" name="Rectangle 29"/>
            <p:cNvSpPr/>
            <p:nvPr/>
          </p:nvSpPr>
          <p:spPr>
            <a:xfrm>
              <a:off x="533400" y="4892040"/>
              <a:ext cx="4977765" cy="1467802"/>
            </a:xfrm>
            <a:prstGeom prst="roundRect">
              <a:avLst>
                <a:gd name="adj" fmla="val 778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522713"/>
              <a:ext cx="224134" cy="192560"/>
              <a:chOff x="726129" y="5522713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5930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5227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670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538353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执行中如果要偏离申请书的计划，尽早和指导教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师商量；预期成果不能降低。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810250" y="1524000"/>
            <a:ext cx="5848350" cy="2988469"/>
            <a:chOff x="5810250" y="1524000"/>
            <a:chExt cx="5848350" cy="2988469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65316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181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1403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频率示例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23788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组长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08711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组织组会、分派任务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79508" y="2108359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1 至 2 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23788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08711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向指导教师汇报进度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79508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每月或有阶段结果时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23788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8711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对照申请书的进度安排自查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79508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每月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23788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8711" y="345424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准备中期检查、结题材料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79508" y="3454241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月、4–5 月之前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23788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经手人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08711" y="39038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经费报销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79508" y="390382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按学校财务要求随时办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1524000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9612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66692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810250" y="429244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原课件只写「定期」，频率为本讲义给的示例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5815965" y="4658678"/>
            <a:ext cx="5842635" cy="1701165"/>
            <a:chOff x="5815965" y="4658678"/>
            <a:chExt cx="5842635" cy="1701165"/>
          </a:xfrm>
        </p:grpSpPr>
        <p:sp>
          <p:nvSpPr>
            <p:cNvPr id="66" name="Rectangle 66"/>
            <p:cNvSpPr/>
            <p:nvPr/>
          </p:nvSpPr>
          <p:spPr>
            <a:xfrm>
              <a:off x="5815965" y="4658678"/>
              <a:ext cx="584263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5490" y="4792028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63615" y="486822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32170" y="490394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中期检查前自查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069330" y="530828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27445" y="5245418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申请书里的几项研究内容，各完成到哪一步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069330" y="56435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27445" y="5580698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预期成果的进度：论文投出去没有，软著材料齐不齐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69330" y="59788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227445" y="591597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经费支出的票据是否保存完整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学术论文规范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论文怎么被评审，写的时候要守哪些规矩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期刊与会议论文的评审流程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论文级别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论文模板、署名、致谢与基金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学术不端行为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期刊论文评审：投稿系统里的状态依次是什么意思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805815" y="1714500"/>
            <a:ext cx="3349942" cy="4457700"/>
            <a:chOff x="805815" y="1714500"/>
            <a:chExt cx="3349942" cy="4457700"/>
          </a:xfrm>
        </p:grpSpPr>
        <p:sp>
          <p:nvSpPr>
            <p:cNvPr id="7" name="Freeform 7"/>
            <p:cNvSpPr/>
            <p:nvPr/>
          </p:nvSpPr>
          <p:spPr>
            <a:xfrm>
              <a:off x="2481262" y="2139315"/>
              <a:ext cx="9525" cy="277177"/>
            </a:xfrm>
            <a:custGeom>
              <a:avLst/>
              <a:gdLst/>
              <a:ahLst/>
              <a:cxnLst/>
              <a:rect l="l" t="t" r="r" b="b"/>
              <a:pathLst>
                <a:path w="9525" h="277177">
                  <a:moveTo>
                    <a:pt x="0" y="0"/>
                  </a:moveTo>
                  <a:lnTo>
                    <a:pt x="0" y="2771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28875" y="24164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81262" y="2946082"/>
              <a:ext cx="9525" cy="277177"/>
            </a:xfrm>
            <a:custGeom>
              <a:avLst/>
              <a:gdLst/>
              <a:ahLst/>
              <a:cxnLst/>
              <a:rect l="l" t="t" r="r" b="b"/>
              <a:pathLst>
                <a:path w="9525" h="277177">
                  <a:moveTo>
                    <a:pt x="0" y="0"/>
                  </a:moveTo>
                  <a:lnTo>
                    <a:pt x="0" y="2771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28875" y="3223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81262" y="375285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28875" y="4029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1262" y="4558665"/>
              <a:ext cx="9525" cy="277177"/>
            </a:xfrm>
            <a:custGeom>
              <a:avLst/>
              <a:gdLst/>
              <a:ahLst/>
              <a:cxnLst/>
              <a:rect l="l" t="t" r="r" b="b"/>
              <a:pathLst>
                <a:path w="9525" h="277177">
                  <a:moveTo>
                    <a:pt x="0" y="0"/>
                  </a:moveTo>
                  <a:lnTo>
                    <a:pt x="0" y="2771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28875" y="48358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81262" y="5365432"/>
              <a:ext cx="9525" cy="277178"/>
            </a:xfrm>
            <a:custGeom>
              <a:avLst/>
              <a:gdLst/>
              <a:ahLst/>
              <a:cxnLst/>
              <a:rect l="l" t="t" r="r" b="b"/>
              <a:pathLst>
                <a:path w="9525" h="277178">
                  <a:moveTo>
                    <a:pt x="0" y="0"/>
                  </a:moveTo>
                  <a:lnTo>
                    <a:pt x="0" y="2771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28875" y="56426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5815" y="1714500"/>
              <a:ext cx="3349942" cy="4248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5815" y="2521268"/>
              <a:ext cx="334994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5815" y="3328035"/>
              <a:ext cx="334994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5815" y="4133850"/>
              <a:ext cx="3349942" cy="424815"/>
            </a:xfrm>
            <a:prstGeom prst="roundRect">
              <a:avLst>
                <a:gd name="adj" fmla="val 22422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5815" y="4940618"/>
              <a:ext cx="334994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5815" y="5747385"/>
              <a:ext cx="3349942" cy="42481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04658" y="1843088"/>
              <a:ext cx="1753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Submitted to Journal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28406" y="2649855"/>
              <a:ext cx="905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 editor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82123" y="3456622"/>
              <a:ext cx="1398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Reviewers invited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63684" y="4262438"/>
              <a:ext cx="1035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Under review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1096" y="5069205"/>
              <a:ext cx="2200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Required Reviews Completed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89713" y="5875972"/>
              <a:ext cx="158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Decision in Process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4733925" y="1524000"/>
            <a:ext cx="6924675" cy="4728210"/>
            <a:chOff x="4733925" y="1524000"/>
            <a:chExt cx="6924675" cy="4728210"/>
          </a:xfrm>
        </p:grpSpPr>
        <p:sp>
          <p:nvSpPr>
            <p:cNvPr id="30" name="Rectangle 30"/>
            <p:cNvSpPr/>
            <p:nvPr/>
          </p:nvSpPr>
          <p:spPr>
            <a:xfrm>
              <a:off x="4733925" y="1524000"/>
              <a:ext cx="6924675" cy="4305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4357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63596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在发生什么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39272" y="2085022"/>
              <a:ext cx="1753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Submitted to Journal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93852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已投稿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33925" y="237934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33925" y="2384108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39272" y="2515552"/>
              <a:ext cx="950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With editor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93852" y="2515552"/>
              <a:ext cx="2929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主编（Editor in Chief）或执行编辑收稿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33925" y="280987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39272" y="2946082"/>
              <a:ext cx="120434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Awaiting Editor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Assignment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93852" y="3052762"/>
              <a:ext cx="3745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等待分配给副主编（Associate Editor）或其他编辑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733925" y="345281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733925" y="345757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839272" y="3589020"/>
              <a:ext cx="1289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Editor assigned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93852" y="358902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编辑已同意邀请，由他处理这篇稿件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733925" y="388334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839272" y="4019550"/>
              <a:ext cx="2113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Editor Declined Invitation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93852" y="40195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编辑取消了邀请，需要另找编辑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733925" y="431387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733925" y="4318635"/>
              <a:ext cx="692467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39272" y="4449128"/>
              <a:ext cx="1467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Reviewers invited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93852" y="444912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正在邀请审稿专家，类似邀请编辑（这一状态很可能看不到）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733925" y="474345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39272" y="4879658"/>
              <a:ext cx="1086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Under review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93852" y="4879658"/>
              <a:ext cx="3688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外审中，2~N 位审稿专家；吕帅老师见过最多 N = 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733925" y="517398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733925" y="5178742"/>
              <a:ext cx="692467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839272" y="5310188"/>
              <a:ext cx="133235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Required Reviews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Completed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93852" y="541686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所需外审完毕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733925" y="581691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39272" y="5953125"/>
              <a:ext cx="158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Decision in Process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93852" y="595312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编辑和主编在汇总意见、形成结论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33925" y="1524000"/>
              <a:ext cx="6924675" cy="47282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083742" y="1524000"/>
              <a:ext cx="9525" cy="4728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外审意见回来之后：一致就汇总，不一致可以再找人审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143952"/>
            <a:chOff x="533400" y="1524000"/>
            <a:chExt cx="6059805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评审意见包括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评语、结论；还可能包含评分，以及单独发给编辑的陈述（如发现学术不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端）。</a:t>
              </a:r>
            </a:p>
          </p:txBody>
        </p:sp>
      </p:grpSp>
      <p:grpSp>
        <p:nvGrpSpPr>
          <p:cNvPr id="33" name="c1-flow-2"/>
          <p:cNvGrpSpPr/>
          <p:nvPr/>
        </p:nvGrpSpPr>
        <p:grpSpPr>
          <a:xfrm>
            <a:off x="745808" y="3038475"/>
            <a:ext cx="5844539" cy="2478405"/>
            <a:chOff x="745808" y="3038475"/>
            <a:chExt cx="5844539" cy="2478405"/>
          </a:xfrm>
        </p:grpSpPr>
        <p:sp>
          <p:nvSpPr>
            <p:cNvPr id="13" name="Freeform 13"/>
            <p:cNvSpPr/>
            <p:nvPr/>
          </p:nvSpPr>
          <p:spPr>
            <a:xfrm>
              <a:off x="3563302" y="3590925"/>
              <a:ext cx="9525" cy="300990"/>
            </a:xfrm>
            <a:custGeom>
              <a:avLst/>
              <a:gdLst/>
              <a:ahLst/>
              <a:cxnLst/>
              <a:rect l="l" t="t" r="r" b="b"/>
              <a:pathLst>
                <a:path w="9525" h="300990">
                  <a:moveTo>
                    <a:pt x="0" y="0"/>
                  </a:moveTo>
                  <a:lnTo>
                    <a:pt x="0" y="3009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10915" y="38919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047875" y="4559618"/>
              <a:ext cx="1515428" cy="300990"/>
            </a:xfrm>
            <a:custGeom>
              <a:avLst/>
              <a:gdLst/>
              <a:ahLst/>
              <a:cxnLst/>
              <a:rect l="l" t="t" r="r" b="b"/>
              <a:pathLst>
                <a:path w="1515428" h="300990">
                  <a:moveTo>
                    <a:pt x="1515428" y="0"/>
                  </a:moveTo>
                  <a:lnTo>
                    <a:pt x="1515428" y="202883"/>
                  </a:lnTo>
                  <a:lnTo>
                    <a:pt x="0" y="202883"/>
                  </a:lnTo>
                  <a:lnTo>
                    <a:pt x="0" y="3009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95488" y="4860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563302" y="4559618"/>
              <a:ext cx="1514475" cy="300990"/>
            </a:xfrm>
            <a:custGeom>
              <a:avLst/>
              <a:gdLst/>
              <a:ahLst/>
              <a:cxnLst/>
              <a:rect l="l" t="t" r="r" b="b"/>
              <a:pathLst>
                <a:path w="1514475" h="300990">
                  <a:moveTo>
                    <a:pt x="0" y="0"/>
                  </a:moveTo>
                  <a:lnTo>
                    <a:pt x="0" y="202883"/>
                  </a:lnTo>
                  <a:lnTo>
                    <a:pt x="1514475" y="202883"/>
                  </a:lnTo>
                  <a:lnTo>
                    <a:pt x="1514475" y="3009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25390" y="4860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273165" y="3179445"/>
              <a:ext cx="317182" cy="2062162"/>
            </a:xfrm>
            <a:custGeom>
              <a:avLst/>
              <a:gdLst/>
              <a:ahLst/>
              <a:cxnLst/>
              <a:rect l="l" t="t" r="r" b="b"/>
              <a:pathLst>
                <a:path w="317182" h="2062162">
                  <a:moveTo>
                    <a:pt x="107632" y="2062162"/>
                  </a:moveTo>
                  <a:lnTo>
                    <a:pt x="317182" y="2062162"/>
                  </a:lnTo>
                  <a:lnTo>
                    <a:pt x="317182" y="1965960"/>
                  </a:lnTo>
                  <a:lnTo>
                    <a:pt x="198120" y="1965960"/>
                  </a:lnTo>
                  <a:lnTo>
                    <a:pt x="198120" y="0"/>
                  </a:lnTo>
                  <a:lnTo>
                    <a:pt x="198120" y="135255"/>
                  </a:lnTo>
                  <a:lnTo>
                    <a:pt x="104775" y="135255"/>
                  </a:lnTo>
                  <a:lnTo>
                    <a:pt x="0" y="13525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6168390" y="3262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7262" y="3038475"/>
              <a:ext cx="5211128" cy="5514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57262" y="3996690"/>
              <a:ext cx="5211128" cy="562927"/>
            </a:xfrm>
            <a:custGeom>
              <a:avLst/>
              <a:gdLst/>
              <a:ahLst/>
              <a:cxnLst/>
              <a:rect l="l" t="t" r="r" b="b"/>
              <a:pathLst>
                <a:path w="5211128" h="562927">
                  <a:moveTo>
                    <a:pt x="2606040" y="0"/>
                  </a:moveTo>
                  <a:lnTo>
                    <a:pt x="5211128" y="280988"/>
                  </a:lnTo>
                  <a:lnTo>
                    <a:pt x="2606040" y="562927"/>
                  </a:lnTo>
                  <a:lnTo>
                    <a:pt x="0" y="28098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5808" y="4965382"/>
              <a:ext cx="2605088" cy="55149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74758" y="4965382"/>
              <a:ext cx="2605088" cy="551498"/>
            </a:xfrm>
            <a:prstGeom prst="roundRect">
              <a:avLst>
                <a:gd name="adj" fmla="val 17271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824544" y="3150870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收到最小数目的外审意见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通常 2–3 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04591" y="420528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意见一致？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9116" y="5078730"/>
              <a:ext cx="14775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编辑汇总意见和初步结论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提交给主编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5725" y="5078730"/>
              <a:ext cx="844106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再邀请 1–2 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新的审稿专家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15540" y="4566285"/>
              <a:ext cx="7810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37828" y="45891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是或直接汇总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215765" y="456628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55198" y="458914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7888110" y="1524000"/>
            <a:ext cx="2780386" cy="2306669"/>
            <a:chOff x="7888110" y="1524000"/>
            <a:chExt cx="2780386" cy="230666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5561" t="0" r="5561" b="0"/>
            <a:stretch>
              <a:fillRect/>
            </a:stretch>
          </p:blipFill>
          <p:spPr>
            <a:xfrm>
              <a:off x="7928610" y="1524000"/>
              <a:ext cx="2698432" cy="2024062"/>
            </a:xfrm>
            <a:prstGeom prst="roundRect">
              <a:avLst>
                <a:gd name="adj" fmla="val 6588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8110" y="363997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编辑把稿件分给几位审稿人，再汇总他们的意见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898005" y="3976688"/>
            <a:ext cx="4760595" cy="1629728"/>
            <a:chOff x="6898005" y="3976688"/>
            <a:chExt cx="4760595" cy="1629728"/>
          </a:xfrm>
        </p:grpSpPr>
        <p:sp>
          <p:nvSpPr>
            <p:cNvPr id="37" name="Rectangle 37"/>
            <p:cNvSpPr/>
            <p:nvPr/>
          </p:nvSpPr>
          <p:spPr>
            <a:xfrm>
              <a:off x="6898005" y="3976688"/>
              <a:ext cx="4760595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07530" y="4110038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17080" y="4157662"/>
              <a:ext cx="141160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6476" y="4190524"/>
              <a:ext cx="12928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Decision in Process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0603" y="4497229"/>
              <a:ext cx="412572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Associate Editor 或 Editor，以及 Editor in Chief 在汇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总意见和初步结论；部分期刊还会邀请其他相关的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Associate Editor，或中间请示 Area Editor 给出评审结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有的外审意见不充分，或几份意见彼此冲突，这时编辑可以直接汇总提交主编，也可以邀请新的审稿专家。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期刊审稿结论的六种写法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11130915" cy="4085749"/>
            <a:chOff x="527685" y="1524000"/>
            <a:chExt cx="11130915" cy="40857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2666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6422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52840" y="16587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接下来做什么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2002155"/>
              <a:ext cx="3763328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683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19981" y="212836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12724" y="212836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按要求准备终稿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62212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04" y="2596991"/>
              <a:ext cx="299730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Revise Minor（Accept with Minor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Revision）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9981" y="27236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2724" y="2596991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逐条修改并写回复信，可能由编辑复核，也可能再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送审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1794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3318986"/>
              <a:ext cx="632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9981" y="33189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2724" y="33189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按意见修改后提交修改稿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490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653790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3788569"/>
              <a:ext cx="299730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Revise Major（Accept with Major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Revision）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9981" y="39152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2724" y="391525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较大修改并逐条回复，一般会再次送审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04" y="4510564"/>
              <a:ext cx="1964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Reject and Resubmit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19981" y="451056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拒稿，允许重投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12724" y="451056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大幅修改后作为新稿件重新投稿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8396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84441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853940"/>
              <a:ext cx="3763328" cy="4495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7604" y="4980146"/>
              <a:ext cx="632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Reject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9981" y="49801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12724" y="49801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根据意见修改后改投其他期刊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37899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11015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03758" y="1524000"/>
              <a:ext cx="9525" cy="37899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389721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含义与后续做法为本讲义补充，各期刊的具体流程以投稿系统说明为准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6004084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回复信要对每条意见说明改了哪里；不同意审稿人时给出理由，不要跳过不答。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投稿要准备什么：期刊与会议对照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943226"/>
            <a:chOff x="533400" y="1524000"/>
            <a:chExt cx="11125200" cy="294322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8344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56408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216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论文文本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2492" y="2096452"/>
              <a:ext cx="465143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是否提供模板（一般为 LaTeX 或 Word）、论文首页、论文创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新点（Highlights）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0274" y="2096452"/>
              <a:ext cx="379418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是否提供模板（一般为 LaTeX 或 Word）、限制页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89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5366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781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涉及材料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2492" y="27813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源图、数据、方法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0274" y="27813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附录、数据、源代码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33461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作者信息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2492" y="3226118"/>
              <a:ext cx="44714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作者简介、作者身份标识、作者贡献、全部作者（或授权投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稿）知情同意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0274" y="33461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是否匿名、是否需要所有作者均注册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776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82378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270" y="40309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编辑交流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2492" y="3910965"/>
              <a:ext cx="466001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投稿信（cover letter）、希望推荐或回避的审稿人、稿件原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创声明、利益声明（Declaration of interests）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0274" y="403098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2943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08860" y="1524000"/>
              <a:ext cx="9525" cy="2943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6642" y="1524000"/>
              <a:ext cx="9525" cy="2943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kv-2"/>
          <p:cNvGrpSpPr/>
          <p:nvPr/>
        </p:nvGrpSpPr>
        <p:grpSpPr>
          <a:xfrm>
            <a:off x="526542" y="4664392"/>
            <a:ext cx="11132058" cy="1060324"/>
            <a:chOff x="526542" y="4664392"/>
            <a:chExt cx="11132058" cy="1060324"/>
          </a:xfrm>
        </p:grpSpPr>
        <p:sp>
          <p:nvSpPr>
            <p:cNvPr id="32" name="TextBox 32"/>
            <p:cNvSpPr txBox="1"/>
            <p:nvPr/>
          </p:nvSpPr>
          <p:spPr>
            <a:xfrm>
              <a:off x="526542" y="4664392"/>
              <a:ext cx="925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Highlights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18144" y="4664392"/>
              <a:ext cx="7198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用几条短句列出论文的主要创新点，放在投稿系统里单独提交，常见于 Elsevier 旗下期刊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530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6542" y="5062538"/>
              <a:ext cx="1183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Cover letter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18144" y="506253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写给编辑的信：论文题目、主要贡献、为什么适合投这本刊，并声明没有一稿多投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3511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542" y="5460683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利益声明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18144" y="5460683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说明作者与研究结论之间有没有经济或其他利益关系，没有也要写明「无」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1" name="Rectangle 4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6023610"/>
              <a:ext cx="7314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作者身份标识常用 ORCID；会议匿名评审时，正文和源代码里都不能留下作者和单位信息。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会议论文评审：结论只有录用或拒稿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730568" y="1763078"/>
            <a:ext cx="5232082" cy="3188970"/>
            <a:chOff x="730568" y="1763078"/>
            <a:chExt cx="5232082" cy="3188970"/>
          </a:xfrm>
        </p:grpSpPr>
        <p:sp>
          <p:nvSpPr>
            <p:cNvPr id="7" name="Freeform 7"/>
            <p:cNvSpPr/>
            <p:nvPr/>
          </p:nvSpPr>
          <p:spPr>
            <a:xfrm>
              <a:off x="1940242" y="2201228"/>
              <a:ext cx="9525" cy="278130"/>
            </a:xfrm>
            <a:custGeom>
              <a:avLst/>
              <a:gdLst/>
              <a:ahLst/>
              <a:cxnLst/>
              <a:rect l="l" t="t" r="r" b="b"/>
              <a:pathLst>
                <a:path w="9525" h="278130">
                  <a:moveTo>
                    <a:pt x="0" y="0"/>
                  </a:moveTo>
                  <a:lnTo>
                    <a:pt x="0" y="278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24793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40242" y="3213735"/>
              <a:ext cx="9525" cy="182880"/>
            </a:xfrm>
            <a:custGeom>
              <a:avLst/>
              <a:gdLst/>
              <a:ahLst/>
              <a:cxnLst/>
              <a:rect l="l" t="t" r="r" b="b"/>
              <a:pathLst>
                <a:path w="9525" h="182880">
                  <a:moveTo>
                    <a:pt x="0" y="0"/>
                  </a:moveTo>
                  <a:lnTo>
                    <a:pt x="0" y="182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7855" y="33966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49918" y="3815715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438525" y="37633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254692" y="4130992"/>
              <a:ext cx="1498282" cy="601980"/>
            </a:xfrm>
            <a:custGeom>
              <a:avLst/>
              <a:gdLst/>
              <a:ahLst/>
              <a:cxnLst/>
              <a:rect l="l" t="t" r="r" b="b"/>
              <a:pathLst>
                <a:path w="1498282" h="601980">
                  <a:moveTo>
                    <a:pt x="1498282" y="0"/>
                  </a:moveTo>
                  <a:lnTo>
                    <a:pt x="1498282" y="209550"/>
                  </a:lnTo>
                  <a:lnTo>
                    <a:pt x="1498282" y="601980"/>
                  </a:lnTo>
                  <a:lnTo>
                    <a:pt x="104775" y="601980"/>
                  </a:lnTo>
                  <a:lnTo>
                    <a:pt x="0" y="60198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149918" y="4680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40242" y="4130992"/>
              <a:ext cx="9525" cy="278130"/>
            </a:xfrm>
            <a:custGeom>
              <a:avLst/>
              <a:gdLst/>
              <a:ahLst/>
              <a:cxnLst/>
              <a:rect l="l" t="t" r="r" b="b"/>
              <a:pathLst>
                <a:path w="9525" h="278130">
                  <a:moveTo>
                    <a:pt x="0" y="0"/>
                  </a:moveTo>
                  <a:lnTo>
                    <a:pt x="0" y="2781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87855" y="44091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0568" y="1763078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0568" y="2584132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0568" y="3501390"/>
              <a:ext cx="2419350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43300" y="3501390"/>
              <a:ext cx="2419350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0568" y="4513898"/>
              <a:ext cx="241935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37273" y="1893094"/>
              <a:ext cx="10059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投稿 Submit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4805" y="2700814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绑定论文并分配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 / Reviewer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0325" y="3617119"/>
              <a:ext cx="17198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外审 Under review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2~N 人，见过最多 N = 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96258" y="361711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作者反驳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Author Response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8880" y="4643914"/>
              <a:ext cx="1382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Accept / Reject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32760" y="326040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59049" y="3287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部分顶会</a:t>
              </a:r>
            </a:p>
          </p:txBody>
        </p:sp>
      </p:grpSp>
      <p:grpSp>
        <p:nvGrpSpPr>
          <p:cNvPr id="35" name="c1-kv-2"/>
          <p:cNvGrpSpPr/>
          <p:nvPr/>
        </p:nvGrpSpPr>
        <p:grpSpPr>
          <a:xfrm>
            <a:off x="525780" y="5406390"/>
            <a:ext cx="5634038" cy="1015365"/>
            <a:chOff x="525780" y="5406390"/>
            <a:chExt cx="5634038" cy="1015365"/>
          </a:xfrm>
        </p:grpSpPr>
        <p:sp>
          <p:nvSpPr>
            <p:cNvPr id="30" name="TextBox 30"/>
            <p:cNvSpPr txBox="1"/>
            <p:nvPr/>
          </p:nvSpPr>
          <p:spPr>
            <a:xfrm>
              <a:off x="525780" y="540639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PC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80210" y="5406390"/>
              <a:ext cx="39109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Program Committee Member，程序委员会成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员；前面可加 Area、Senior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60083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5780" y="6128385"/>
              <a:ext cx="9440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Reviewer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80210" y="6128385"/>
              <a:ext cx="3734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评审专家；负责汇总的称 Meta Reviewer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6464618" y="1524000"/>
            <a:ext cx="5193982" cy="2248852"/>
            <a:chOff x="6464618" y="1524000"/>
            <a:chExt cx="5193982" cy="2248852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135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746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444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244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审稿结论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26908" y="2108359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种，可多轮修改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96666" y="2108359"/>
              <a:ext cx="1662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Accept、Reject 2 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2441" y="255698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审稿人数（见过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6908" y="267033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96666" y="2670334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72441" y="33456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与审稿人交流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26908" y="334565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修改稿 + 回复信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96666" y="3232309"/>
              <a:ext cx="15003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部分顶会 1 轮作者反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驳，一般 5–7 天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91432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8408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464618" y="3963352"/>
            <a:ext cx="5193982" cy="1612582"/>
            <a:chOff x="6464618" y="3963352"/>
            <a:chExt cx="5193982" cy="1612582"/>
          </a:xfrm>
        </p:grpSpPr>
        <p:sp>
          <p:nvSpPr>
            <p:cNvPr id="56" name="Rectangle 56"/>
            <p:cNvSpPr/>
            <p:nvPr/>
          </p:nvSpPr>
          <p:spPr>
            <a:xfrm>
              <a:off x="6464618" y="3963352"/>
              <a:ext cx="519398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4096702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12268" y="4172902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2520" y="4208621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两轮外审 + 一轮反驳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4648" y="4550092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部分顶会采用 2 轮外审加 1 轮作者反驳，用来减少评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审误解；两轮可能是不同的审稿专家。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5791" y="516683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反驳周期短，要在几天内针对每条误解给出证据。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论文级别：分区、推荐目录、检索与核心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533400" y="1741170"/>
            <a:ext cx="4761547" cy="4404360"/>
            <a:chOff x="533400" y="1741170"/>
            <a:chExt cx="4761547" cy="4404360"/>
          </a:xfrm>
        </p:grpSpPr>
        <p:sp>
          <p:nvSpPr>
            <p:cNvPr id="7" name="Freeform 7"/>
            <p:cNvSpPr/>
            <p:nvPr/>
          </p:nvSpPr>
          <p:spPr>
            <a:xfrm>
              <a:off x="3080385" y="1926908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403860"/>
                  </a:moveTo>
                  <a:lnTo>
                    <a:pt x="209550" y="4038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80385" y="2330768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0"/>
                  </a:moveTo>
                  <a:lnTo>
                    <a:pt x="209550" y="0"/>
                  </a:lnTo>
                  <a:lnTo>
                    <a:pt x="209550" y="402908"/>
                  </a:lnTo>
                  <a:lnTo>
                    <a:pt x="419100" y="4029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80385" y="3540442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402908"/>
                  </a:moveTo>
                  <a:lnTo>
                    <a:pt x="209550" y="4029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80385" y="3943350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0"/>
                  </a:moveTo>
                  <a:lnTo>
                    <a:pt x="209550" y="0"/>
                  </a:lnTo>
                  <a:lnTo>
                    <a:pt x="209550" y="402908"/>
                  </a:lnTo>
                  <a:lnTo>
                    <a:pt x="419100" y="40290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80385" y="5153025"/>
              <a:ext cx="419100" cy="402907"/>
            </a:xfrm>
            <a:custGeom>
              <a:avLst/>
              <a:gdLst/>
              <a:ahLst/>
              <a:cxnLst/>
              <a:rect l="l" t="t" r="r" b="b"/>
              <a:pathLst>
                <a:path w="419100" h="402907">
                  <a:moveTo>
                    <a:pt x="0" y="402907"/>
                  </a:moveTo>
                  <a:lnTo>
                    <a:pt x="209550" y="4029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80385" y="555593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15428" y="2330768"/>
              <a:ext cx="419100" cy="1612582"/>
            </a:xfrm>
            <a:custGeom>
              <a:avLst/>
              <a:gdLst/>
              <a:ahLst/>
              <a:cxnLst/>
              <a:rect l="l" t="t" r="r" b="b"/>
              <a:pathLst>
                <a:path w="419100" h="1612582">
                  <a:moveTo>
                    <a:pt x="0" y="1612582"/>
                  </a:moveTo>
                  <a:lnTo>
                    <a:pt x="209550" y="161258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15428" y="39433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15428" y="3943350"/>
              <a:ext cx="419100" cy="1612582"/>
            </a:xfrm>
            <a:custGeom>
              <a:avLst/>
              <a:gdLst/>
              <a:ahLst/>
              <a:cxnLst/>
              <a:rect l="l" t="t" r="r" b="b"/>
              <a:pathLst>
                <a:path w="419100" h="1612582">
                  <a:moveTo>
                    <a:pt x="0" y="0"/>
                  </a:moveTo>
                  <a:lnTo>
                    <a:pt x="209550" y="0"/>
                  </a:lnTo>
                  <a:lnTo>
                    <a:pt x="209550" y="1612582"/>
                  </a:lnTo>
                  <a:lnTo>
                    <a:pt x="419100" y="161258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99485" y="1741170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99485" y="2546985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34528" y="2144078"/>
              <a:ext cx="1144905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99485" y="3353752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499485" y="4160520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934528" y="3756660"/>
              <a:ext cx="1144905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99485" y="4966335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99485" y="5773102"/>
              <a:ext cx="179546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34528" y="5370195"/>
              <a:ext cx="1144905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756660"/>
              <a:ext cx="982028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88258" y="1837849"/>
              <a:ext cx="10899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中科院 1–4 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88258" y="2644616"/>
              <a:ext cx="941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JCR Q1–Q4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23300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分区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88258" y="3451384"/>
              <a:ext cx="1267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推荐 A/B/C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88258" y="4257199"/>
              <a:ext cx="1267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中文 A/B/C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23300" y="3854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推荐目录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88258" y="5063966"/>
              <a:ext cx="11222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SCI、EI、CPCI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88258" y="58707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北大核心、科技核心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23300" y="54668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检索与核心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173" y="3854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论文级别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593080" y="1524000"/>
            <a:ext cx="6065520" cy="3890487"/>
            <a:chOff x="5593080" y="1524000"/>
            <a:chExt cx="6065520" cy="3890487"/>
          </a:xfrm>
        </p:grpSpPr>
        <p:sp>
          <p:nvSpPr>
            <p:cNvPr id="37" name="Rectangle 37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296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体系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507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66871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回答的问题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06618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中科院分区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4941" y="210835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区 … 4 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57488" y="2108359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期刊在学科里排第几档，1 区最好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6618" y="2670334"/>
              <a:ext cx="730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JCR 分区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4941" y="2670334"/>
              <a:ext cx="695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Q1 … Q4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57488" y="2556986"/>
              <a:ext cx="25488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按学科内影响因子四等分，Q1 为前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25%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6618" y="3232309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推荐分类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24941" y="3232309"/>
              <a:ext cx="959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 / C 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57488" y="323230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计算机领域认可的国际会议和期刊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598795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598795" y="354615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706618" y="3680936"/>
              <a:ext cx="14196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CCF 推荐中文分类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24941" y="3680936"/>
              <a:ext cx="959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/ B / C 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57488" y="36809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同一思路的中文科技期刊目录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598795" y="39900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06618" y="4243864"/>
              <a:ext cx="1160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SCI、EI、CPCI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24941" y="4243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收录与否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57488" y="4130516"/>
              <a:ext cx="2491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是否被检索数据库收录，CPCI 主要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收会议论文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598795" y="4665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598795" y="467010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06618" y="48058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北大核心、科技核心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24941" y="48058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入选与否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57488" y="48058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国内中文核心期刊目录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1524000"/>
              <a:ext cx="6059805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41235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744902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93080" y="519445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右两列说明为本讲义补充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5598795" y="5560695"/>
            <a:ext cx="6059805" cy="782955"/>
            <a:chOff x="5598795" y="5560695"/>
            <a:chExt cx="6059805" cy="782955"/>
          </a:xfrm>
        </p:grpSpPr>
        <p:sp>
          <p:nvSpPr>
            <p:cNvPr id="72" name="Rectangle 72"/>
            <p:cNvSpPr/>
            <p:nvPr/>
          </p:nvSpPr>
          <p:spPr>
            <a:xfrm>
              <a:off x="5598795" y="556069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803583" y="5852162"/>
              <a:ext cx="200023" cy="200023"/>
              <a:chOff x="5803583" y="5852162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803583" y="58521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936933" y="59188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105525" y="5709285"/>
              <a:ext cx="515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分区和目录说明档次；检索只说明被收录，不代表水平。计算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机方向先看 CCF 等级。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60866" cy="909257"/>
            <a:chOff x="520446" y="342900"/>
            <a:chExt cx="56608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608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论文模板：创新点落在正文 2 至 4 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33400" y="1524000"/>
            <a:ext cx="5410200" cy="4800600"/>
            <a:chOff x="533400" y="1524000"/>
            <a:chExt cx="5410200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93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144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9346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6378" y="204549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论文名、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作者名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作者单位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、作者简介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9346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96378" y="2445544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摘要与关键词、分类号与文献标识码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346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96378" y="28455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研究背景与意义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658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6378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658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08748" y="3533775"/>
              <a:ext cx="452532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96378" y="364569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相关框架与概念（创新 1）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584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408748" y="3933825"/>
              <a:ext cx="452532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96378" y="404574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相关算法或方法（创新 2）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658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408748" y="4333875"/>
              <a:ext cx="452532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96378" y="4445794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相关结论与性质（创新 3）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7196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7244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6584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96378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1196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9346" y="52458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96378" y="52458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结论与展望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519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5245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9346" y="56459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96378" y="56459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致谢与基金资助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9197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9346" y="60459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96378" y="60459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附录与参考文献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5410200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39446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1"/>
          <p:cNvGrpSpPr/>
          <p:nvPr/>
        </p:nvGrpSpPr>
        <p:grpSpPr>
          <a:xfrm>
            <a:off x="6248400" y="1524000"/>
            <a:ext cx="5410200" cy="1785938"/>
            <a:chOff x="6248400" y="1524000"/>
            <a:chExt cx="5410200" cy="1785938"/>
          </a:xfrm>
        </p:grpSpPr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1785938"/>
            </a:xfrm>
            <a:prstGeom prst="roundRect">
              <a:avLst>
                <a:gd name="adj" fmla="val 746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350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237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读模板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43662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99682" y="2054542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正文 2、3、4 节各对应一个创新点：框架与概念、算法或方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法、结论与性质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43662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99682" y="261270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节「基础」交代后文要用的定义和已有方法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43662" y="29689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99682" y="2912745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5 节的实验用来支撑前面三个创新点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248400" y="3480435"/>
            <a:ext cx="5410200" cy="1185862"/>
            <a:chOff x="6248400" y="3480435"/>
            <a:chExt cx="5410200" cy="1185862"/>
          </a:xfrm>
        </p:grpSpPr>
        <p:sp>
          <p:nvSpPr>
            <p:cNvPr id="63" name="Rectangle 63"/>
            <p:cNvSpPr/>
            <p:nvPr/>
          </p:nvSpPr>
          <p:spPr>
            <a:xfrm>
              <a:off x="6248400" y="348043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7925" y="361378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3190" y="366712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43459" y="369998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原课件标红的三处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6332" y="4010977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作者名、作者单位、致谢与基金资助。它们涉及署名权和经费来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源，写错会引出纠纷，接下来三页分别展开。</a:t>
              </a:r>
            </a:p>
          </p:txBody>
        </p:sp>
      </p:grpSp>
      <p:grpSp>
        <p:nvGrpSpPr>
          <p:cNvPr id="74" name="c2-card-3"/>
          <p:cNvGrpSpPr/>
          <p:nvPr/>
        </p:nvGrpSpPr>
        <p:grpSpPr>
          <a:xfrm>
            <a:off x="6248400" y="4835842"/>
            <a:ext cx="5410200" cy="1488758"/>
            <a:chOff x="6248400" y="4835842"/>
            <a:chExt cx="5410200" cy="1488758"/>
          </a:xfrm>
        </p:grpSpPr>
        <p:sp>
          <p:nvSpPr>
            <p:cNvPr id="69" name="Rectangle 69"/>
            <p:cNvSpPr/>
            <p:nvPr/>
          </p:nvSpPr>
          <p:spPr>
            <a:xfrm>
              <a:off x="6248400" y="4835842"/>
              <a:ext cx="5410200" cy="1488758"/>
            </a:xfrm>
            <a:prstGeom prst="roundRect">
              <a:avLst>
                <a:gd name="adj" fmla="val 89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57925" y="4969192"/>
              <a:ext cx="47625" cy="12220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73190" y="50225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65862" y="50553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66332" y="5366385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分类号指中图分类号；文献标识码常见 A（理论与应用研究论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文）。这两项多见于中文期刊，英文期刊一般不要求。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作者署名：按贡献排序，改动要全体同意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951220" cy="2607945"/>
            <a:chOff x="533400" y="1524000"/>
            <a:chExt cx="5951220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作者顺序和人数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严格按对本文的贡献（创新点和工作量）大小排序，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建议不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超过 4 人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，其他人在致谢中说明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署名的每位作者在投稿前都审阅过文章，并明确同意署名和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33946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3528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工作量较分散、成员较多时，保证作者之间顺序合理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6747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717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68808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投稿到发表之间要改作者名称或次序，须其他作者明确同意</a:t>
              </a:r>
            </a:p>
          </p:txBody>
        </p:sp>
      </p:grpSp>
      <p:grpSp>
        <p:nvGrpSpPr>
          <p:cNvPr id="29" name="c1-kv-2"/>
          <p:cNvGrpSpPr/>
          <p:nvPr/>
        </p:nvGrpSpPr>
        <p:grpSpPr>
          <a:xfrm>
            <a:off x="525780" y="4347210"/>
            <a:ext cx="5958840" cy="1297305"/>
            <a:chOff x="525780" y="4347210"/>
            <a:chExt cx="5958840" cy="1297305"/>
          </a:xfrm>
        </p:grpSpPr>
        <p:sp>
          <p:nvSpPr>
            <p:cNvPr id="24" name="TextBox 24"/>
            <p:cNvSpPr txBox="1"/>
            <p:nvPr/>
          </p:nvSpPr>
          <p:spPr>
            <a:xfrm>
              <a:off x="525780" y="43472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作者类型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66862" y="4347210"/>
              <a:ext cx="4644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作者，通讯作者（通信作者），第 2 作者，指导教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师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49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5780" y="50692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投稿声明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66862" y="5069205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版权承诺、原创性声明会限制作者，签署后改动要走流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789420" y="1524000"/>
            <a:ext cx="4869180" cy="1621155"/>
            <a:chOff x="6789420" y="1524000"/>
            <a:chExt cx="4869180" cy="1621155"/>
          </a:xfrm>
        </p:grpSpPr>
        <p:sp>
          <p:nvSpPr>
            <p:cNvPr id="30" name="Rectangle 30"/>
            <p:cNvSpPr/>
            <p:nvPr/>
          </p:nvSpPr>
          <p:spPr>
            <a:xfrm>
              <a:off x="6789420" y="1524000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894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3707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3218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5223" y="1768792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人大创团队写一篇论文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29450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按贡献排出前 4 位作为作者，第 5 位同学在致谢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中说明其工作；指导教师通常为通讯作者。排序和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人数在投稿前全体确认。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789420" y="3335655"/>
            <a:ext cx="4869180" cy="2249805"/>
            <a:chOff x="6789420" y="3335655"/>
            <a:chExt cx="4869180" cy="2249805"/>
          </a:xfrm>
        </p:grpSpPr>
        <p:sp>
          <p:nvSpPr>
            <p:cNvPr id="37" name="Rectangle 37"/>
            <p:cNvSpPr/>
            <p:nvPr/>
          </p:nvSpPr>
          <p:spPr>
            <a:xfrm>
              <a:off x="6789420" y="3335655"/>
              <a:ext cx="4869180" cy="2249805"/>
            </a:xfrm>
            <a:prstGeom prst="roundRect">
              <a:avLst>
                <a:gd name="adj" fmla="val 59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98945" y="3469005"/>
              <a:ext cx="47625" cy="19831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37070" y="3545205"/>
              <a:ext cx="25974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4238" y="3580924"/>
              <a:ext cx="2542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吉林大学的规定 vs 国内、国外的约定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9450" y="3922395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学校、学院认定成果时有自己的要求。例如软件学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院加分细则只认第一作者、第一署名单位为吉林大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学软件学院的论文（见本系列另一份大创经验分享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讲义）。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991225"/>
              <a:ext cx="7688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作者名单和顺序最好在动笔前就商量好；投稿后再改，要全体作者同意并走期刊流程。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致谢：简明扼要，无关者不提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951220" cy="2484120"/>
            <a:chOff x="533400" y="1524000"/>
            <a:chExt cx="5951220" cy="2484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35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致谢内容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5940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中文论文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6158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英文论文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4174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人和团队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6940" y="2150745"/>
              <a:ext cx="19202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对某某人、某某课题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组、某某科研团队的感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8190" y="24174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同中文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279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3032760"/>
              <a:ext cx="595122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171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资料提供者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6940" y="3171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对资料提供者的感谢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8190" y="31718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同中文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6595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基金资助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86940" y="36595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原课件未列入致谢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8190" y="365950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写在致谢里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951220" cy="2484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75498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56748" y="1524000"/>
              <a:ext cx="9525" cy="2484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rd-2"/>
          <p:cNvGrpSpPr/>
          <p:nvPr/>
        </p:nvGrpSpPr>
        <p:grpSpPr>
          <a:xfrm>
            <a:off x="533400" y="4198620"/>
            <a:ext cx="5951220" cy="1997392"/>
            <a:chOff x="533400" y="4198620"/>
            <a:chExt cx="5951220" cy="1997392"/>
          </a:xfrm>
        </p:grpSpPr>
        <p:sp>
          <p:nvSpPr>
            <p:cNvPr id="27" name="Rectangle 27"/>
            <p:cNvSpPr/>
            <p:nvPr/>
          </p:nvSpPr>
          <p:spPr>
            <a:xfrm>
              <a:off x="533400" y="4198620"/>
              <a:ext cx="5951220" cy="1997392"/>
            </a:xfrm>
            <a:prstGeom prst="roundRect">
              <a:avLst>
                <a:gd name="adj" fmla="val 667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2950" y="44081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158" y="44438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42950" y="477202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799" y="48143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3940" y="47853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简明扼要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42950" y="51073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4799" y="51495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3940" y="51206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无关者不提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42950" y="54425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4799" y="54848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3940" y="54559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按照重要程度顺序提及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473" y="578786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帮过忙但够不上作者的同学，在致谢中写明其工作（见上一页的例子）。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6789420" y="1524000"/>
            <a:ext cx="4869180" cy="2530792"/>
            <a:chOff x="6789420" y="1524000"/>
            <a:chExt cx="4869180" cy="2530792"/>
          </a:xfrm>
        </p:grpSpPr>
        <p:sp>
          <p:nvSpPr>
            <p:cNvPr id="41" name="Rectangle 41"/>
            <p:cNvSpPr/>
            <p:nvPr/>
          </p:nvSpPr>
          <p:spPr>
            <a:xfrm>
              <a:off x="6789420" y="1524000"/>
              <a:ext cx="486918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1781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致谢写法示例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7055" y="1937861"/>
              <a:ext cx="2201926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致谢  感谢 xx 课题组提供的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实验数据；感谢张三在实验中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给予的帮助。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Acknowledgments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This work was supported by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the xxxx Program of Jilin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University (Grant No. xxxx).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We thank the xx group for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providing the dataset.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789420" y="4245292"/>
            <a:ext cx="4869180" cy="1950720"/>
            <a:chOff x="6789420" y="4245292"/>
            <a:chExt cx="4869180" cy="1950720"/>
          </a:xfrm>
        </p:grpSpPr>
        <p:sp>
          <p:nvSpPr>
            <p:cNvPr id="45" name="Rectangle 45"/>
            <p:cNvSpPr/>
            <p:nvPr/>
          </p:nvSpPr>
          <p:spPr>
            <a:xfrm>
              <a:off x="6789420" y="4245292"/>
              <a:ext cx="4869180" cy="1950720"/>
            </a:xfrm>
            <a:prstGeom prst="roundRect">
              <a:avLst>
                <a:gd name="adj" fmla="val 6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98945" y="4378642"/>
              <a:ext cx="47625" cy="16840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37070" y="445484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14476" y="44905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基金写在哪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29450" y="4832032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中文期刊的基金项目常写在首页脚注；英文论文一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般在致谢里写基金名称和编号（Grant No.）。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30593" y="54497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写基金前向指导教师要准确的项目名称和编号。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基金资助：分清纵向与横向，知道常见基金的名字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58" y="1756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为什么要标基金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基金项目对论文和项目负责人都重要：论文标注基金说明研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究有经费支持，论文也是基金项目负责人结题考核的成果。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8066" y="2955608"/>
            <a:ext cx="5415534" cy="1977009"/>
            <a:chOff x="528066" y="2955608"/>
            <a:chExt cx="5415534" cy="1977009"/>
          </a:xfrm>
        </p:grpSpPr>
        <p:sp>
          <p:nvSpPr>
            <p:cNvPr id="13" name="Rectangle 13"/>
            <p:cNvSpPr/>
            <p:nvPr/>
          </p:nvSpPr>
          <p:spPr>
            <a:xfrm>
              <a:off x="533400" y="2955608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56766" y="30832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一种分法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42638" y="30832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889" y="35080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纵向项目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0989" y="35080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横向项目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799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042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9328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科学研究项目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0989" y="393287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工程实践项目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2233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科研论文项目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0989" y="43567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平台、系统、软件项目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55608"/>
              <a:ext cx="541020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33738" y="2955608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066" y="4727258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纵向项目由政府部门或基金委下达，横向项目由企事业单位委托（本讲义补充）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5072062"/>
            <a:ext cx="5410200" cy="1250632"/>
            <a:chOff x="533400" y="5072062"/>
            <a:chExt cx="5410200" cy="1250632"/>
          </a:xfrm>
        </p:grpSpPr>
        <p:sp>
          <p:nvSpPr>
            <p:cNvPr id="29" name="Rectangle 29"/>
            <p:cNvSpPr/>
            <p:nvPr/>
          </p:nvSpPr>
          <p:spPr>
            <a:xfrm>
              <a:off x="533400" y="507206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520541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9620" y="527018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3059" y="530447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大创论文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381" y="563070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大创项目本身也是资助来源，论文里按期刊格式写明项目名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称和编号（编号见立项文件）。</a:t>
              </a:r>
            </a:p>
          </p:txBody>
        </p:sp>
      </p:grpSp>
      <p:grpSp>
        <p:nvGrpSpPr>
          <p:cNvPr id="70" name="c2-tree-1"/>
          <p:cNvGrpSpPr/>
          <p:nvPr/>
        </p:nvGrpSpPr>
        <p:grpSpPr>
          <a:xfrm>
            <a:off x="6248400" y="1546860"/>
            <a:ext cx="5410200" cy="3594735"/>
            <a:chOff x="6248400" y="1546860"/>
            <a:chExt cx="5410200" cy="3594735"/>
          </a:xfrm>
        </p:grpSpPr>
        <p:sp>
          <p:nvSpPr>
            <p:cNvPr id="35" name="Freeform 35"/>
            <p:cNvSpPr/>
            <p:nvPr/>
          </p:nvSpPr>
          <p:spPr>
            <a:xfrm>
              <a:off x="9003982" y="1725930"/>
              <a:ext cx="419100" cy="809625"/>
            </a:xfrm>
            <a:custGeom>
              <a:avLst/>
              <a:gdLst/>
              <a:ahLst/>
              <a:cxnLst/>
              <a:rect l="l" t="t" r="r" b="b"/>
              <a:pathLst>
                <a:path w="419100" h="809625">
                  <a:moveTo>
                    <a:pt x="0" y="809625"/>
                  </a:moveTo>
                  <a:lnTo>
                    <a:pt x="209550" y="8096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03982" y="2130742"/>
              <a:ext cx="419100" cy="404812"/>
            </a:xfrm>
            <a:custGeom>
              <a:avLst/>
              <a:gdLst/>
              <a:ahLst/>
              <a:cxnLst/>
              <a:rect l="l" t="t" r="r" b="b"/>
              <a:pathLst>
                <a:path w="419100" h="404812">
                  <a:moveTo>
                    <a:pt x="0" y="404812"/>
                  </a:moveTo>
                  <a:lnTo>
                    <a:pt x="209550" y="4048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003982" y="253555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03982" y="2535555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003982" y="2535555"/>
              <a:ext cx="419100" cy="808673"/>
            </a:xfrm>
            <a:custGeom>
              <a:avLst/>
              <a:gdLst/>
              <a:ahLst/>
              <a:cxnLst/>
              <a:rect l="l" t="t" r="r" b="b"/>
              <a:pathLst>
                <a:path w="419100" h="808673">
                  <a:moveTo>
                    <a:pt x="0" y="0"/>
                  </a:moveTo>
                  <a:lnTo>
                    <a:pt x="209550" y="0"/>
                  </a:lnTo>
                  <a:lnTo>
                    <a:pt x="209550" y="808673"/>
                  </a:lnTo>
                  <a:lnTo>
                    <a:pt x="419100" y="8086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03982" y="3748088"/>
              <a:ext cx="419100" cy="606742"/>
            </a:xfrm>
            <a:custGeom>
              <a:avLst/>
              <a:gdLst/>
              <a:ahLst/>
              <a:cxnLst/>
              <a:rect l="l" t="t" r="r" b="b"/>
              <a:pathLst>
                <a:path w="419100" h="606742">
                  <a:moveTo>
                    <a:pt x="0" y="606742"/>
                  </a:moveTo>
                  <a:lnTo>
                    <a:pt x="209550" y="6067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003982" y="4152900"/>
              <a:ext cx="419100" cy="201930"/>
            </a:xfrm>
            <a:custGeom>
              <a:avLst/>
              <a:gdLst/>
              <a:ahLst/>
              <a:cxnLst/>
              <a:rect l="l" t="t" r="r" b="b"/>
              <a:pathLst>
                <a:path w="419100" h="201930">
                  <a:moveTo>
                    <a:pt x="0" y="201930"/>
                  </a:moveTo>
                  <a:lnTo>
                    <a:pt x="209550" y="20193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003982" y="4354830"/>
              <a:ext cx="419100" cy="202883"/>
            </a:xfrm>
            <a:custGeom>
              <a:avLst/>
              <a:gdLst/>
              <a:ahLst/>
              <a:cxnLst/>
              <a:rect l="l" t="t" r="r" b="b"/>
              <a:pathLst>
                <a:path w="419100" h="202883">
                  <a:moveTo>
                    <a:pt x="0" y="0"/>
                  </a:moveTo>
                  <a:lnTo>
                    <a:pt x="209550" y="0"/>
                  </a:lnTo>
                  <a:lnTo>
                    <a:pt x="209550" y="202883"/>
                  </a:lnTo>
                  <a:lnTo>
                    <a:pt x="419100" y="20288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003982" y="4354830"/>
              <a:ext cx="419100" cy="606742"/>
            </a:xfrm>
            <a:custGeom>
              <a:avLst/>
              <a:gdLst/>
              <a:ahLst/>
              <a:cxnLst/>
              <a:rect l="l" t="t" r="r" b="b"/>
              <a:pathLst>
                <a:path w="419100" h="606742">
                  <a:moveTo>
                    <a:pt x="0" y="0"/>
                  </a:moveTo>
                  <a:lnTo>
                    <a:pt x="209550" y="0"/>
                  </a:lnTo>
                  <a:lnTo>
                    <a:pt x="209550" y="606742"/>
                  </a:lnTo>
                  <a:lnTo>
                    <a:pt x="419100" y="6067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417118" y="2535555"/>
              <a:ext cx="419100" cy="909638"/>
            </a:xfrm>
            <a:custGeom>
              <a:avLst/>
              <a:gdLst/>
              <a:ahLst/>
              <a:cxnLst/>
              <a:rect l="l" t="t" r="r" b="b"/>
              <a:pathLst>
                <a:path w="419100" h="909638">
                  <a:moveTo>
                    <a:pt x="0" y="909638"/>
                  </a:moveTo>
                  <a:lnTo>
                    <a:pt x="209550" y="9096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417118" y="3445192"/>
              <a:ext cx="419100" cy="909638"/>
            </a:xfrm>
            <a:custGeom>
              <a:avLst/>
              <a:gdLst/>
              <a:ahLst/>
              <a:cxnLst/>
              <a:rect l="l" t="t" r="r" b="b"/>
              <a:pathLst>
                <a:path w="419100" h="909638">
                  <a:moveTo>
                    <a:pt x="0" y="0"/>
                  </a:moveTo>
                  <a:lnTo>
                    <a:pt x="209550" y="0"/>
                  </a:lnTo>
                  <a:lnTo>
                    <a:pt x="209550" y="909638"/>
                  </a:lnTo>
                  <a:lnTo>
                    <a:pt x="419100" y="9096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23082" y="1546860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23082" y="1950720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23082" y="2355532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23082" y="2759392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23082" y="3164205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36218" y="2355532"/>
              <a:ext cx="116871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23082" y="3569018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23082" y="3972878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23082" y="4377690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423082" y="4781550"/>
              <a:ext cx="2235518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36218" y="4174808"/>
              <a:ext cx="1168718" cy="360045"/>
            </a:xfrm>
            <a:prstGeom prst="roundRect">
              <a:avLst>
                <a:gd name="adj" fmla="val 2645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3265170"/>
              <a:ext cx="1168718" cy="360045"/>
            </a:xfrm>
            <a:prstGeom prst="roundRect">
              <a:avLst>
                <a:gd name="adj" fmla="val 2645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512236" y="164211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973 计划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12236" y="20469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863 计划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12236" y="24517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国家自然科学基金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12236" y="285559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重点实验室开放基金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12236" y="3260407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部、厅级科研基金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25372" y="2451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纵向项目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12236" y="3664268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985 工程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12236" y="406908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211 工程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12236" y="447389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中央高校基本科研业务费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12236" y="48777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双一流建设经费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25372" y="4271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综合项目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37554" y="33613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常见资助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248400" y="5344478"/>
            <a:ext cx="5410200" cy="1018222"/>
            <a:chOff x="6248400" y="5344478"/>
            <a:chExt cx="5410200" cy="1018222"/>
          </a:xfrm>
        </p:grpSpPr>
        <p:sp>
          <p:nvSpPr>
            <p:cNvPr id="71" name="Rectangle 71"/>
            <p:cNvSpPr/>
            <p:nvPr/>
          </p:nvSpPr>
          <p:spPr>
            <a:xfrm>
              <a:off x="6248400" y="534447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453188" y="5753100"/>
              <a:ext cx="200026" cy="200026"/>
              <a:chOff x="6453188" y="5753100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453188" y="57531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553200" y="581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542088" y="58531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755511" y="5491639"/>
              <a:ext cx="450494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973 即国家重点基础研究发展计划，863 即国家高技术研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究发展计划，现已整合进国家重点研发计划；985、211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工程已统筹为「双一流」建设。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学术不端行为：七类，申请书和答辩同样适用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5430"/>
            <a:ext cx="3547110" cy="2375535"/>
            <a:chOff x="533400" y="1535430"/>
            <a:chExt cx="3547110" cy="237553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抄袭、剽窃、侵吞他人学术成果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篡改他人学术成果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2504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2383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伪造或者篡改数据、文献，捏造事实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698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612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583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伪造注释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9146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2956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29279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未参加创作，在他人学术成果上署名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25945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301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272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未经他人许可，不当使用他人署名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60426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36465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36175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其他学术不端行为</a:t>
              </a:r>
            </a:p>
          </p:txBody>
        </p:sp>
      </p:grpSp>
      <p:grpSp>
        <p:nvGrpSpPr>
          <p:cNvPr id="45" name="c1-compare-2"/>
          <p:cNvGrpSpPr/>
          <p:nvPr/>
        </p:nvGrpSpPr>
        <p:grpSpPr>
          <a:xfrm>
            <a:off x="533400" y="4042410"/>
            <a:ext cx="5627370" cy="1653540"/>
            <a:chOff x="533400" y="4042410"/>
            <a:chExt cx="5627370" cy="1653540"/>
          </a:xfrm>
        </p:grpSpPr>
        <p:sp>
          <p:nvSpPr>
            <p:cNvPr id="29" name="Rectangle 29"/>
            <p:cNvSpPr/>
            <p:nvPr/>
          </p:nvSpPr>
          <p:spPr>
            <a:xfrm>
              <a:off x="533400" y="4042410"/>
              <a:ext cx="260413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7576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430" y="42767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抄袭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46939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6310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把别人的文字不加修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改地移入自己的论著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3149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2520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当作自己的成果发表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556635" y="4042410"/>
              <a:ext cx="2604135" cy="1653540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3566160" y="4175760"/>
              <a:ext cx="47625" cy="13868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96665" y="42767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剽窃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810000" y="46939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68115" y="463105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把别人的文字或学术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观点改造后移入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810000" y="53149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68115" y="52520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当作自己的成果发表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185160" y="47072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71075" y="48034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辨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458902" y="1524000"/>
            <a:ext cx="5199698" cy="3215164"/>
            <a:chOff x="6458902" y="1524000"/>
            <a:chExt cx="5199698" cy="3215164"/>
          </a:xfrm>
        </p:grpSpPr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30999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大创里容易踩的线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5444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72441" y="21083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研究现状大段照搬别人的综述，不标引用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96666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抄袭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2441" y="2556986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把论文里的方法换个说法，写成自己的创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96666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剽窃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2441" y="323230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实验结果不理想，改几个数字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896666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篡改数据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72441" y="36809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没干活的组员也挂上论文作者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96666" y="36809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未参加创作而署名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9900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72441" y="413051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没问过老师就把老师列为作者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896666" y="41305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不当使用他人署名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29194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84080" y="1524000"/>
              <a:ext cx="9525" cy="29194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58902" y="451913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场景为本讲义补充的示例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464618" y="4885372"/>
            <a:ext cx="5193982" cy="810578"/>
            <a:chOff x="6464618" y="4885372"/>
            <a:chExt cx="5193982" cy="810578"/>
          </a:xfrm>
        </p:grpSpPr>
        <p:sp>
          <p:nvSpPr>
            <p:cNvPr id="69" name="Rectangle 69"/>
            <p:cNvSpPr/>
            <p:nvPr/>
          </p:nvSpPr>
          <p:spPr>
            <a:xfrm>
              <a:off x="6464618" y="4885372"/>
              <a:ext cx="5193982" cy="810578"/>
            </a:xfrm>
            <a:prstGeom prst="roundRect">
              <a:avLst>
                <a:gd name="adj" fmla="val 141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657347" y="5187433"/>
              <a:ext cx="224134" cy="192560"/>
              <a:chOff x="6657347" y="5187433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769418" y="52578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657347" y="51874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769418" y="53355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971348" y="5048250"/>
              <a:ext cx="4149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立项评审要求答辩「无学术不端」（第 20 页），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申请书同样会被查。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72309" cy="909257"/>
            <a:chOff x="520446" y="342900"/>
            <a:chExt cx="2472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 · 学术论文规范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11125200" cy="4434840"/>
            <a:chOff x="533400" y="1524000"/>
            <a:chExt cx="11125200" cy="4434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10407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8752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6990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详见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在研项目没结题，能再报新项目吗？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00525" y="21507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不能，必须先完成在研项目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7942" y="215074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6384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一位老师最多同时带几个项目？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00525" y="263842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原则上不超过 2 项，包括在研项目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7942" y="2638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2594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毕业时项目还没做完怎么办？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00525" y="3126105"/>
              <a:ext cx="553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创新、创业训练项目须在毕业前完成；只有创业实践项目可延长到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毕业后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7942" y="325945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414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88048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立项是国家级，以后一定是国家级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0525" y="401383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不一定。中期和结题每次都可能调整，比例不超过 10%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07942" y="401383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4910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634865"/>
              <a:ext cx="3288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预期成果写「投稿论文 1 篇」行吗？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103370" y="4505325"/>
              <a:ext cx="59883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00525" y="4634865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不行，要写「发表学术论文 1 篇」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07942" y="463486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页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78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834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0080" y="51225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立项后发现成果写多了，能改少吗？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103370" y="4993005"/>
              <a:ext cx="5988368" cy="4686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00525" y="51225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不能，以申请书为准，后期不能降低标准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07942" y="512254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4663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080" y="5610225"/>
              <a:ext cx="3022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人团队写论文，都要当作者吗？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00525" y="561022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建议作者不超过 4 人，其余在致谢中说明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7942" y="5610225"/>
              <a:ext cx="7623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32 页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11125200" cy="44348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089082" y="1524000"/>
              <a:ext cx="9525" cy="44348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96500" y="1524000"/>
              <a:ext cx="9525" cy="44348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470" cy="909257"/>
            <a:chOff x="520446" y="342900"/>
            <a:chExt cx="7124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540318"/>
            <a:chOff x="533400" y="1524000"/>
            <a:chExt cx="3505200" cy="25403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大创一共要过哪几道评审？每次评审怎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样打分？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632710"/>
              <a:ext cx="2954084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4–5 月立项评审定初始级别，9–10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月中期检查或定级评审，之后的 4–5、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9–10 月进度检查或结题验收，最后遴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选优秀候选；每次都是 5 位专家独立评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分，取平均分排序。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39578"/>
            <a:ext cx="3505200" cy="2025968"/>
            <a:chOff x="533400" y="4239578"/>
            <a:chExt cx="3505200" cy="2025968"/>
          </a:xfrm>
        </p:grpSpPr>
        <p:sp>
          <p:nvSpPr>
            <p:cNvPr id="13" name="Rectangle 13"/>
            <p:cNvSpPr/>
            <p:nvPr/>
          </p:nvSpPr>
          <p:spPr>
            <a:xfrm>
              <a:off x="533400" y="4239578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43198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446627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4789170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「力争撰写学术论文 1 篇，申请软件著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作权 1 项」错在哪？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5348288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去掉「力争」；论文用「发表」，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软著用「登记」：发表学术论文 1 篇，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登记软件著作权 1 项。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68792"/>
            <a:chOff x="4343400" y="1524000"/>
            <a:chExt cx="3505200" cy="1768792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2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8947" y="2072640"/>
              <a:ext cx="28915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某批项目按 26 项计算级别调整上限，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最多能调整几项？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8947" y="2632710"/>
              <a:ext cx="27140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× 10% = 2.6，四舍五入为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68052"/>
            <a:ext cx="3505200" cy="2797492"/>
            <a:chOff x="4343400" y="3468052"/>
            <a:chExt cx="3505200" cy="2797492"/>
          </a:xfrm>
        </p:grpSpPr>
        <p:sp>
          <p:nvSpPr>
            <p:cNvPr id="25" name="Rectangle 25"/>
            <p:cNvSpPr/>
            <p:nvPr/>
          </p:nvSpPr>
          <p:spPr>
            <a:xfrm>
              <a:off x="4343400" y="3468052"/>
              <a:ext cx="3505200" cy="2797492"/>
            </a:xfrm>
            <a:prstGeom prst="roundRect">
              <a:avLst>
                <a:gd name="adj" fmla="val 47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5805" y="366045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24753" y="369474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8947" y="4017645"/>
              <a:ext cx="2953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投稿系统显示 Required Reviews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Completed，接下来一般是什么状态？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8947" y="4576762"/>
              <a:ext cx="29626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Decision in Process：编辑和主编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汇总意见、形成结论。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25968"/>
            <a:chOff x="8153400" y="1524000"/>
            <a:chExt cx="3505200" cy="202596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2072640"/>
              <a:ext cx="29365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把「熟练掌握 C++，学习成绩优异」改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写成申请书里的团队条件。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8947" y="2632710"/>
              <a:ext cx="27483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改成可量化的事实，如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「LeetCode 刷题 xxx 道；平均绩点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3.5/4.0，专业排名 20/380」。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725228"/>
            <a:ext cx="3505200" cy="2540318"/>
            <a:chOff x="8153400" y="3725228"/>
            <a:chExt cx="3505200" cy="2540318"/>
          </a:xfrm>
        </p:grpSpPr>
        <p:sp>
          <p:nvSpPr>
            <p:cNvPr id="37" name="Rectangle 37"/>
            <p:cNvSpPr/>
            <p:nvPr/>
          </p:nvSpPr>
          <p:spPr>
            <a:xfrm>
              <a:off x="8153400" y="3725228"/>
              <a:ext cx="3505200" cy="2540318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5805" y="391763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34753" y="3951923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8947" y="4274820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把别人论文中的观点改写后写进自己的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文章，且未注明出处，属于哪种学术不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8947" y="509111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剽窃。不加修改地照搬文字才叫抄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袭。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47419" cy="909257"/>
            <a:chOff x="520446" y="342900"/>
            <a:chExt cx="1447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3446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177" y="407194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吕帅 · 申报与论文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5840730" cy="2257425"/>
            <a:chOff x="533400" y="1535430"/>
            <a:chExt cx="5840730" cy="22574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295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至 5 人组队，每人一个项目；每位老师同时带不超过 2 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5406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立项定级，中期和结题各可调整不超过 10%；每次 5 位专家取平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1079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53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2412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申请书各部分：现状归纳问题，内容写展望，理由要量化，方案有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路线图和退路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1836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15468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预期成果用发表、授权、登记，写了就不能降低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86150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528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49948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论文按贡献署名，致谢简明，远离七类学术不端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924300"/>
            <a:ext cx="6059805" cy="1365885"/>
            <a:chOff x="533400" y="3924300"/>
            <a:chExt cx="6059805" cy="1365885"/>
          </a:xfrm>
        </p:grpSpPr>
        <p:sp>
          <p:nvSpPr>
            <p:cNvPr id="23" name="Rectangle 23"/>
            <p:cNvSpPr/>
            <p:nvPr/>
          </p:nvSpPr>
          <p:spPr>
            <a:xfrm>
              <a:off x="533400" y="3924300"/>
              <a:ext cx="6059805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0576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1338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557" y="41695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读完之后可以做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5739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511040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按第 15 页的表格改写自己的团队条件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909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4632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给自己的选题画一张带判断节点的技术路线图</a:t>
              </a:r>
            </a:p>
          </p:txBody>
        </p:sp>
      </p:grpSp>
      <p:grpSp>
        <p:nvGrpSpPr>
          <p:cNvPr id="70" name="c2-tree-1"/>
          <p:cNvGrpSpPr/>
          <p:nvPr/>
        </p:nvGrpSpPr>
        <p:grpSpPr>
          <a:xfrm>
            <a:off x="6898005" y="1567815"/>
            <a:ext cx="4760595" cy="4046221"/>
            <a:chOff x="6898005" y="1567815"/>
            <a:chExt cx="4760595" cy="4046221"/>
          </a:xfrm>
        </p:grpSpPr>
        <p:sp>
          <p:nvSpPr>
            <p:cNvPr id="32" name="Freeform 32"/>
            <p:cNvSpPr/>
            <p:nvPr/>
          </p:nvSpPr>
          <p:spPr>
            <a:xfrm>
              <a:off x="9877425" y="1753552"/>
              <a:ext cx="419100" cy="459105"/>
            </a:xfrm>
            <a:custGeom>
              <a:avLst/>
              <a:gdLst/>
              <a:ahLst/>
              <a:cxnLst/>
              <a:rect l="l" t="t" r="r" b="b"/>
              <a:pathLst>
                <a:path w="419100" h="459105">
                  <a:moveTo>
                    <a:pt x="0" y="459105"/>
                  </a:moveTo>
                  <a:lnTo>
                    <a:pt x="209550" y="4591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877425" y="221265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77425" y="2212658"/>
              <a:ext cx="419100" cy="460058"/>
            </a:xfrm>
            <a:custGeom>
              <a:avLst/>
              <a:gdLst/>
              <a:ahLst/>
              <a:cxnLst/>
              <a:rect l="l" t="t" r="r" b="b"/>
              <a:pathLst>
                <a:path w="419100" h="460058">
                  <a:moveTo>
                    <a:pt x="0" y="0"/>
                  </a:moveTo>
                  <a:lnTo>
                    <a:pt x="209550" y="0"/>
                  </a:lnTo>
                  <a:lnTo>
                    <a:pt x="209550" y="460058"/>
                  </a:lnTo>
                  <a:lnTo>
                    <a:pt x="419100" y="46005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77425" y="3131820"/>
              <a:ext cx="419100" cy="459105"/>
            </a:xfrm>
            <a:custGeom>
              <a:avLst/>
              <a:gdLst/>
              <a:ahLst/>
              <a:cxnLst/>
              <a:rect l="l" t="t" r="r" b="b"/>
              <a:pathLst>
                <a:path w="419100" h="459105">
                  <a:moveTo>
                    <a:pt x="0" y="459105"/>
                  </a:moveTo>
                  <a:lnTo>
                    <a:pt x="209550" y="45910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877425" y="35909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877425" y="3590925"/>
              <a:ext cx="419100" cy="459105"/>
            </a:xfrm>
            <a:custGeom>
              <a:avLst/>
              <a:gdLst/>
              <a:ahLst/>
              <a:cxnLst/>
              <a:rect l="l" t="t" r="r" b="b"/>
              <a:pathLst>
                <a:path w="419100" h="459105">
                  <a:moveTo>
                    <a:pt x="0" y="0"/>
                  </a:moveTo>
                  <a:lnTo>
                    <a:pt x="209550" y="0"/>
                  </a:lnTo>
                  <a:lnTo>
                    <a:pt x="209550" y="459105"/>
                  </a:lnTo>
                  <a:lnTo>
                    <a:pt x="419100" y="4591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877425" y="4509135"/>
              <a:ext cx="419100" cy="460058"/>
            </a:xfrm>
            <a:custGeom>
              <a:avLst/>
              <a:gdLst/>
              <a:ahLst/>
              <a:cxnLst/>
              <a:rect l="l" t="t" r="r" b="b"/>
              <a:pathLst>
                <a:path w="419100" h="460058">
                  <a:moveTo>
                    <a:pt x="0" y="460058"/>
                  </a:moveTo>
                  <a:lnTo>
                    <a:pt x="209550" y="46005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877425" y="496919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77425" y="4969192"/>
              <a:ext cx="419100" cy="459105"/>
            </a:xfrm>
            <a:custGeom>
              <a:avLst/>
              <a:gdLst/>
              <a:ahLst/>
              <a:cxnLst/>
              <a:rect l="l" t="t" r="r" b="b"/>
              <a:pathLst>
                <a:path w="419100" h="459105">
                  <a:moveTo>
                    <a:pt x="0" y="0"/>
                  </a:moveTo>
                  <a:lnTo>
                    <a:pt x="209550" y="0"/>
                  </a:lnTo>
                  <a:lnTo>
                    <a:pt x="209550" y="459105"/>
                  </a:lnTo>
                  <a:lnTo>
                    <a:pt x="419100" y="45910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259128" y="2212658"/>
              <a:ext cx="419100" cy="1378268"/>
            </a:xfrm>
            <a:custGeom>
              <a:avLst/>
              <a:gdLst/>
              <a:ahLst/>
              <a:cxnLst/>
              <a:rect l="l" t="t" r="r" b="b"/>
              <a:pathLst>
                <a:path w="419100" h="1378268">
                  <a:moveTo>
                    <a:pt x="0" y="1378268"/>
                  </a:moveTo>
                  <a:lnTo>
                    <a:pt x="209550" y="137826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259128" y="35909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259128" y="3590925"/>
              <a:ext cx="419100" cy="1378268"/>
            </a:xfrm>
            <a:custGeom>
              <a:avLst/>
              <a:gdLst/>
              <a:ahLst/>
              <a:cxnLst/>
              <a:rect l="l" t="t" r="r" b="b"/>
              <a:pathLst>
                <a:path w="419100" h="1378268">
                  <a:moveTo>
                    <a:pt x="0" y="0"/>
                  </a:moveTo>
                  <a:lnTo>
                    <a:pt x="209550" y="0"/>
                  </a:lnTo>
                  <a:lnTo>
                    <a:pt x="209550" y="1378268"/>
                  </a:lnTo>
                  <a:lnTo>
                    <a:pt x="419100" y="137826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296525" y="1567815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296525" y="2026920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296525" y="2486025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678228" y="2026920"/>
              <a:ext cx="119919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96525" y="2945130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96525" y="3404235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96525" y="3864292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78228" y="3404235"/>
              <a:ext cx="119919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96525" y="4323398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296525" y="4782502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96525" y="5241608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78228" y="4782502"/>
              <a:ext cx="1199198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98005" y="3404235"/>
              <a:ext cx="1362075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5298" y="16644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规则与名额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85298" y="21235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流程与定级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85298" y="2583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评审原则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67000" y="21235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项目评审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85298" y="30427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现状与内容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85298" y="35018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理由与方案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385298" y="39609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预期成果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67000" y="35018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申请书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85298" y="44200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评审流程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85298" y="48801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级别与模板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85298" y="53392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署名与不端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767000" y="48801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论文规范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86778" y="35018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申报与论文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1" name="Rectangle 7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申请书里写下的内容和个数就是之后每次检查的标准，写之前按周期和团队能力估计清楚。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800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大创经验分享 · 大创项目申报注意事项（吕帅）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chuang_lvshuai">
  <a:themeElements>
    <a:clrScheme name="dachuang_lvshuai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chuang_lvshuai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chuang_lvshu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2026-09-23T11:14:46Z</dcterms:created>
  <dcterms:modified xsi:type="dcterms:W3CDTF">2026-09-23T11:14:46Z</dcterms:modified>
  <cp:category/>
  <cp:contentStatus/>
</cp:coreProperties>
</file>